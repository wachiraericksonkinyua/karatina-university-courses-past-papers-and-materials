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3" r:id="rId6"/>
    <p:sldId id="280" r:id="rId7"/>
    <p:sldId id="281" r:id="rId8"/>
    <p:sldId id="282" r:id="rId9"/>
    <p:sldId id="283" r:id="rId10"/>
    <p:sldId id="284" r:id="rId11"/>
    <p:sldId id="285" r:id="rId12"/>
    <p:sldId id="286" r:id="rId13"/>
    <p:sldId id="287" r:id="rId14"/>
    <p:sldId id="264" r:id="rId15"/>
    <p:sldId id="265" r:id="rId16"/>
    <p:sldId id="260" r:id="rId17"/>
    <p:sldId id="261"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6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03" autoAdjust="0"/>
    <p:restoredTop sz="94660"/>
  </p:normalViewPr>
  <p:slideViewPr>
    <p:cSldViewPr snapToGrid="0">
      <p:cViewPr varScale="1">
        <p:scale>
          <a:sx n="93" d="100"/>
          <a:sy n="93" d="100"/>
        </p:scale>
        <p:origin x="72"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C87F5-1C4A-4D9C-7F84-CBC32B4FFD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A3CDC5-4151-75C7-0549-95A9E2FE55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3B742E3-7E6C-1333-A836-13A0AF4BB053}"/>
              </a:ext>
            </a:extLst>
          </p:cNvPr>
          <p:cNvSpPr>
            <a:spLocks noGrp="1"/>
          </p:cNvSpPr>
          <p:nvPr>
            <p:ph type="dt" sz="half" idx="10"/>
          </p:nvPr>
        </p:nvSpPr>
        <p:spPr/>
        <p:txBody>
          <a:bodyPr/>
          <a:lstStyle/>
          <a:p>
            <a:fld id="{C72384C7-5AB7-4604-AA24-C5E7ACFA903E}" type="datetimeFigureOut">
              <a:rPr lang="en-US" smtClean="0"/>
              <a:t>9/8/2025</a:t>
            </a:fld>
            <a:endParaRPr lang="en-US"/>
          </a:p>
        </p:txBody>
      </p:sp>
      <p:sp>
        <p:nvSpPr>
          <p:cNvPr id="5" name="Footer Placeholder 4">
            <a:extLst>
              <a:ext uri="{FF2B5EF4-FFF2-40B4-BE49-F238E27FC236}">
                <a16:creationId xmlns:a16="http://schemas.microsoft.com/office/drawing/2014/main" id="{D7AB0228-F083-19D3-6917-5A3D10CAA4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8AF65C-3D12-A792-3D48-51717A973408}"/>
              </a:ext>
            </a:extLst>
          </p:cNvPr>
          <p:cNvSpPr>
            <a:spLocks noGrp="1"/>
          </p:cNvSpPr>
          <p:nvPr>
            <p:ph type="sldNum" sz="quarter" idx="12"/>
          </p:nvPr>
        </p:nvSpPr>
        <p:spPr/>
        <p:txBody>
          <a:bodyPr/>
          <a:lstStyle/>
          <a:p>
            <a:fld id="{09177AA1-6334-4933-8EA9-7F49A432BA74}" type="slidenum">
              <a:rPr lang="en-US" smtClean="0"/>
              <a:t>‹#›</a:t>
            </a:fld>
            <a:endParaRPr lang="en-US"/>
          </a:p>
        </p:txBody>
      </p:sp>
    </p:spTree>
    <p:extLst>
      <p:ext uri="{BB962C8B-B14F-4D97-AF65-F5344CB8AC3E}">
        <p14:creationId xmlns:p14="http://schemas.microsoft.com/office/powerpoint/2010/main" val="1919810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1729D-1302-1F3F-0CA3-A087A472CF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B1372B-203B-8154-A4E4-E03A377F36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07FD16-84C6-F402-C9DF-13BE93D6C061}"/>
              </a:ext>
            </a:extLst>
          </p:cNvPr>
          <p:cNvSpPr>
            <a:spLocks noGrp="1"/>
          </p:cNvSpPr>
          <p:nvPr>
            <p:ph type="dt" sz="half" idx="10"/>
          </p:nvPr>
        </p:nvSpPr>
        <p:spPr/>
        <p:txBody>
          <a:bodyPr/>
          <a:lstStyle/>
          <a:p>
            <a:fld id="{C72384C7-5AB7-4604-AA24-C5E7ACFA903E}" type="datetimeFigureOut">
              <a:rPr lang="en-US" smtClean="0"/>
              <a:t>9/8/2025</a:t>
            </a:fld>
            <a:endParaRPr lang="en-US"/>
          </a:p>
        </p:txBody>
      </p:sp>
      <p:sp>
        <p:nvSpPr>
          <p:cNvPr id="5" name="Footer Placeholder 4">
            <a:extLst>
              <a:ext uri="{FF2B5EF4-FFF2-40B4-BE49-F238E27FC236}">
                <a16:creationId xmlns:a16="http://schemas.microsoft.com/office/drawing/2014/main" id="{05D7ECAC-C770-9C6D-6FA0-2F1E095ABF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508034-51FD-DA38-1B3F-88B69B50ED16}"/>
              </a:ext>
            </a:extLst>
          </p:cNvPr>
          <p:cNvSpPr>
            <a:spLocks noGrp="1"/>
          </p:cNvSpPr>
          <p:nvPr>
            <p:ph type="sldNum" sz="quarter" idx="12"/>
          </p:nvPr>
        </p:nvSpPr>
        <p:spPr/>
        <p:txBody>
          <a:bodyPr/>
          <a:lstStyle/>
          <a:p>
            <a:fld id="{09177AA1-6334-4933-8EA9-7F49A432BA74}" type="slidenum">
              <a:rPr lang="en-US" smtClean="0"/>
              <a:t>‹#›</a:t>
            </a:fld>
            <a:endParaRPr lang="en-US"/>
          </a:p>
        </p:txBody>
      </p:sp>
    </p:spTree>
    <p:extLst>
      <p:ext uri="{BB962C8B-B14F-4D97-AF65-F5344CB8AC3E}">
        <p14:creationId xmlns:p14="http://schemas.microsoft.com/office/powerpoint/2010/main" val="2946047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872D8-D37D-EA4E-3815-771CDADAA4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F6124DB-8028-667F-94AC-B4C768EC10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D96EAE-EC5B-70EF-A60C-986371108C36}"/>
              </a:ext>
            </a:extLst>
          </p:cNvPr>
          <p:cNvSpPr>
            <a:spLocks noGrp="1"/>
          </p:cNvSpPr>
          <p:nvPr>
            <p:ph type="dt" sz="half" idx="10"/>
          </p:nvPr>
        </p:nvSpPr>
        <p:spPr/>
        <p:txBody>
          <a:bodyPr/>
          <a:lstStyle/>
          <a:p>
            <a:fld id="{C72384C7-5AB7-4604-AA24-C5E7ACFA903E}" type="datetimeFigureOut">
              <a:rPr lang="en-US" smtClean="0"/>
              <a:t>9/8/2025</a:t>
            </a:fld>
            <a:endParaRPr lang="en-US"/>
          </a:p>
        </p:txBody>
      </p:sp>
      <p:sp>
        <p:nvSpPr>
          <p:cNvPr id="5" name="Footer Placeholder 4">
            <a:extLst>
              <a:ext uri="{FF2B5EF4-FFF2-40B4-BE49-F238E27FC236}">
                <a16:creationId xmlns:a16="http://schemas.microsoft.com/office/drawing/2014/main" id="{202D5EC8-6C14-AA38-295F-DF5F3A4B30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69BD9B-CED8-61EE-485D-43F2EC721F08}"/>
              </a:ext>
            </a:extLst>
          </p:cNvPr>
          <p:cNvSpPr>
            <a:spLocks noGrp="1"/>
          </p:cNvSpPr>
          <p:nvPr>
            <p:ph type="sldNum" sz="quarter" idx="12"/>
          </p:nvPr>
        </p:nvSpPr>
        <p:spPr/>
        <p:txBody>
          <a:bodyPr/>
          <a:lstStyle/>
          <a:p>
            <a:fld id="{09177AA1-6334-4933-8EA9-7F49A432BA74}" type="slidenum">
              <a:rPr lang="en-US" smtClean="0"/>
              <a:t>‹#›</a:t>
            </a:fld>
            <a:endParaRPr lang="en-US"/>
          </a:p>
        </p:txBody>
      </p:sp>
    </p:spTree>
    <p:extLst>
      <p:ext uri="{BB962C8B-B14F-4D97-AF65-F5344CB8AC3E}">
        <p14:creationId xmlns:p14="http://schemas.microsoft.com/office/powerpoint/2010/main" val="470296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47BE0-CC27-9A98-747B-904F4C55DB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40F825-6E97-C5C0-F24A-6163A79A87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D50D4F-5ECE-9F88-9AC4-1FB9CA090E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AD1736-07B7-2AA1-3948-4CC956668363}"/>
              </a:ext>
            </a:extLst>
          </p:cNvPr>
          <p:cNvSpPr>
            <a:spLocks noGrp="1"/>
          </p:cNvSpPr>
          <p:nvPr>
            <p:ph type="dt" sz="half" idx="10"/>
          </p:nvPr>
        </p:nvSpPr>
        <p:spPr/>
        <p:txBody>
          <a:bodyPr/>
          <a:lstStyle/>
          <a:p>
            <a:fld id="{C72384C7-5AB7-4604-AA24-C5E7ACFA903E}" type="datetimeFigureOut">
              <a:rPr lang="en-US" smtClean="0"/>
              <a:t>9/8/2025</a:t>
            </a:fld>
            <a:endParaRPr lang="en-US"/>
          </a:p>
        </p:txBody>
      </p:sp>
      <p:sp>
        <p:nvSpPr>
          <p:cNvPr id="6" name="Footer Placeholder 5">
            <a:extLst>
              <a:ext uri="{FF2B5EF4-FFF2-40B4-BE49-F238E27FC236}">
                <a16:creationId xmlns:a16="http://schemas.microsoft.com/office/drawing/2014/main" id="{8607B302-575A-64D5-AB3D-074D5A5924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BE0E91-EBCE-0B41-6009-0CC0E96061C4}"/>
              </a:ext>
            </a:extLst>
          </p:cNvPr>
          <p:cNvSpPr>
            <a:spLocks noGrp="1"/>
          </p:cNvSpPr>
          <p:nvPr>
            <p:ph type="sldNum" sz="quarter" idx="12"/>
          </p:nvPr>
        </p:nvSpPr>
        <p:spPr/>
        <p:txBody>
          <a:bodyPr/>
          <a:lstStyle/>
          <a:p>
            <a:fld id="{09177AA1-6334-4933-8EA9-7F49A432BA74}" type="slidenum">
              <a:rPr lang="en-US" smtClean="0"/>
              <a:t>‹#›</a:t>
            </a:fld>
            <a:endParaRPr lang="en-US"/>
          </a:p>
        </p:txBody>
      </p:sp>
    </p:spTree>
    <p:extLst>
      <p:ext uri="{BB962C8B-B14F-4D97-AF65-F5344CB8AC3E}">
        <p14:creationId xmlns:p14="http://schemas.microsoft.com/office/powerpoint/2010/main" val="52823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F923D-BC9F-28A3-2465-830F4D2F53E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8BCA7CB-9B5D-3B03-E13B-5863C04A77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58A025-2862-33F9-6A49-B46CDD87B1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5D56B8-CF47-034D-DA57-7C4694A016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24AB96-5022-27F2-1043-0348E352C4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F0DFA6-B515-E310-202A-611FF1893592}"/>
              </a:ext>
            </a:extLst>
          </p:cNvPr>
          <p:cNvSpPr>
            <a:spLocks noGrp="1"/>
          </p:cNvSpPr>
          <p:nvPr>
            <p:ph type="dt" sz="half" idx="10"/>
          </p:nvPr>
        </p:nvSpPr>
        <p:spPr/>
        <p:txBody>
          <a:bodyPr/>
          <a:lstStyle/>
          <a:p>
            <a:fld id="{C72384C7-5AB7-4604-AA24-C5E7ACFA903E}" type="datetimeFigureOut">
              <a:rPr lang="en-US" smtClean="0"/>
              <a:t>9/8/2025</a:t>
            </a:fld>
            <a:endParaRPr lang="en-US"/>
          </a:p>
        </p:txBody>
      </p:sp>
      <p:sp>
        <p:nvSpPr>
          <p:cNvPr id="8" name="Footer Placeholder 7">
            <a:extLst>
              <a:ext uri="{FF2B5EF4-FFF2-40B4-BE49-F238E27FC236}">
                <a16:creationId xmlns:a16="http://schemas.microsoft.com/office/drawing/2014/main" id="{43CAF3E8-ED6F-8D1A-7F51-E9DF0F4075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568D3C-2F2F-8CD3-3C95-D32370C11CCE}"/>
              </a:ext>
            </a:extLst>
          </p:cNvPr>
          <p:cNvSpPr>
            <a:spLocks noGrp="1"/>
          </p:cNvSpPr>
          <p:nvPr>
            <p:ph type="sldNum" sz="quarter" idx="12"/>
          </p:nvPr>
        </p:nvSpPr>
        <p:spPr/>
        <p:txBody>
          <a:bodyPr/>
          <a:lstStyle/>
          <a:p>
            <a:fld id="{09177AA1-6334-4933-8EA9-7F49A432BA74}" type="slidenum">
              <a:rPr lang="en-US" smtClean="0"/>
              <a:t>‹#›</a:t>
            </a:fld>
            <a:endParaRPr lang="en-US"/>
          </a:p>
        </p:txBody>
      </p:sp>
    </p:spTree>
    <p:extLst>
      <p:ext uri="{BB962C8B-B14F-4D97-AF65-F5344CB8AC3E}">
        <p14:creationId xmlns:p14="http://schemas.microsoft.com/office/powerpoint/2010/main" val="1532724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FBC80-C0EF-E4DD-2612-6228C50CA45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503E9B6-A17A-E75C-3488-9C1412946517}"/>
              </a:ext>
            </a:extLst>
          </p:cNvPr>
          <p:cNvSpPr>
            <a:spLocks noGrp="1"/>
          </p:cNvSpPr>
          <p:nvPr>
            <p:ph type="dt" sz="half" idx="10"/>
          </p:nvPr>
        </p:nvSpPr>
        <p:spPr/>
        <p:txBody>
          <a:bodyPr/>
          <a:lstStyle/>
          <a:p>
            <a:fld id="{C72384C7-5AB7-4604-AA24-C5E7ACFA903E}" type="datetimeFigureOut">
              <a:rPr lang="en-US" smtClean="0"/>
              <a:t>9/8/2025</a:t>
            </a:fld>
            <a:endParaRPr lang="en-US"/>
          </a:p>
        </p:txBody>
      </p:sp>
      <p:sp>
        <p:nvSpPr>
          <p:cNvPr id="4" name="Footer Placeholder 3">
            <a:extLst>
              <a:ext uri="{FF2B5EF4-FFF2-40B4-BE49-F238E27FC236}">
                <a16:creationId xmlns:a16="http://schemas.microsoft.com/office/drawing/2014/main" id="{3E103B5A-A96A-A0F6-E482-486FF47C63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8F911-9B00-A0F0-EFDB-90E892CA900C}"/>
              </a:ext>
            </a:extLst>
          </p:cNvPr>
          <p:cNvSpPr>
            <a:spLocks noGrp="1"/>
          </p:cNvSpPr>
          <p:nvPr>
            <p:ph type="sldNum" sz="quarter" idx="12"/>
          </p:nvPr>
        </p:nvSpPr>
        <p:spPr/>
        <p:txBody>
          <a:bodyPr/>
          <a:lstStyle/>
          <a:p>
            <a:fld id="{09177AA1-6334-4933-8EA9-7F49A432BA74}" type="slidenum">
              <a:rPr lang="en-US" smtClean="0"/>
              <a:t>‹#›</a:t>
            </a:fld>
            <a:endParaRPr lang="en-US"/>
          </a:p>
        </p:txBody>
      </p:sp>
    </p:spTree>
    <p:extLst>
      <p:ext uri="{BB962C8B-B14F-4D97-AF65-F5344CB8AC3E}">
        <p14:creationId xmlns:p14="http://schemas.microsoft.com/office/powerpoint/2010/main" val="3242627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1AD6FB-016F-01DF-265C-876B80DF2233}"/>
              </a:ext>
            </a:extLst>
          </p:cNvPr>
          <p:cNvSpPr>
            <a:spLocks noGrp="1"/>
          </p:cNvSpPr>
          <p:nvPr>
            <p:ph type="dt" sz="half" idx="10"/>
          </p:nvPr>
        </p:nvSpPr>
        <p:spPr/>
        <p:txBody>
          <a:bodyPr/>
          <a:lstStyle/>
          <a:p>
            <a:fld id="{C72384C7-5AB7-4604-AA24-C5E7ACFA903E}" type="datetimeFigureOut">
              <a:rPr lang="en-US" smtClean="0"/>
              <a:t>9/8/2025</a:t>
            </a:fld>
            <a:endParaRPr lang="en-US"/>
          </a:p>
        </p:txBody>
      </p:sp>
      <p:sp>
        <p:nvSpPr>
          <p:cNvPr id="3" name="Footer Placeholder 2">
            <a:extLst>
              <a:ext uri="{FF2B5EF4-FFF2-40B4-BE49-F238E27FC236}">
                <a16:creationId xmlns:a16="http://schemas.microsoft.com/office/drawing/2014/main" id="{1C963A34-445E-F04D-82EB-83D33A7862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56FC0D2-4C00-2558-34C7-FF2E038EACEB}"/>
              </a:ext>
            </a:extLst>
          </p:cNvPr>
          <p:cNvSpPr>
            <a:spLocks noGrp="1"/>
          </p:cNvSpPr>
          <p:nvPr>
            <p:ph type="sldNum" sz="quarter" idx="12"/>
          </p:nvPr>
        </p:nvSpPr>
        <p:spPr/>
        <p:txBody>
          <a:bodyPr/>
          <a:lstStyle/>
          <a:p>
            <a:fld id="{09177AA1-6334-4933-8EA9-7F49A432BA74}" type="slidenum">
              <a:rPr lang="en-US" smtClean="0"/>
              <a:t>‹#›</a:t>
            </a:fld>
            <a:endParaRPr lang="en-US"/>
          </a:p>
        </p:txBody>
      </p:sp>
    </p:spTree>
    <p:extLst>
      <p:ext uri="{BB962C8B-B14F-4D97-AF65-F5344CB8AC3E}">
        <p14:creationId xmlns:p14="http://schemas.microsoft.com/office/powerpoint/2010/main" val="1505125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AB484-D1DD-7E8E-BF18-6B2A51B12F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56B3FEE-08EE-54A1-F492-B356D623BE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235B5F0-B360-17A9-38B1-4FD7E32B4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D78789-A47A-0652-620C-D7B256D8FBF5}"/>
              </a:ext>
            </a:extLst>
          </p:cNvPr>
          <p:cNvSpPr>
            <a:spLocks noGrp="1"/>
          </p:cNvSpPr>
          <p:nvPr>
            <p:ph type="dt" sz="half" idx="10"/>
          </p:nvPr>
        </p:nvSpPr>
        <p:spPr/>
        <p:txBody>
          <a:bodyPr/>
          <a:lstStyle/>
          <a:p>
            <a:fld id="{C72384C7-5AB7-4604-AA24-C5E7ACFA903E}" type="datetimeFigureOut">
              <a:rPr lang="en-US" smtClean="0"/>
              <a:t>9/8/2025</a:t>
            </a:fld>
            <a:endParaRPr lang="en-US"/>
          </a:p>
        </p:txBody>
      </p:sp>
      <p:sp>
        <p:nvSpPr>
          <p:cNvPr id="6" name="Footer Placeholder 5">
            <a:extLst>
              <a:ext uri="{FF2B5EF4-FFF2-40B4-BE49-F238E27FC236}">
                <a16:creationId xmlns:a16="http://schemas.microsoft.com/office/drawing/2014/main" id="{3D515BD2-8AC4-08A2-88B6-5AAA14FEA3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34B5BD-AE03-90E0-02EA-120F07FC5B02}"/>
              </a:ext>
            </a:extLst>
          </p:cNvPr>
          <p:cNvSpPr>
            <a:spLocks noGrp="1"/>
          </p:cNvSpPr>
          <p:nvPr>
            <p:ph type="sldNum" sz="quarter" idx="12"/>
          </p:nvPr>
        </p:nvSpPr>
        <p:spPr/>
        <p:txBody>
          <a:bodyPr/>
          <a:lstStyle/>
          <a:p>
            <a:fld id="{09177AA1-6334-4933-8EA9-7F49A432BA74}" type="slidenum">
              <a:rPr lang="en-US" smtClean="0"/>
              <a:t>‹#›</a:t>
            </a:fld>
            <a:endParaRPr lang="en-US"/>
          </a:p>
        </p:txBody>
      </p:sp>
    </p:spTree>
    <p:extLst>
      <p:ext uri="{BB962C8B-B14F-4D97-AF65-F5344CB8AC3E}">
        <p14:creationId xmlns:p14="http://schemas.microsoft.com/office/powerpoint/2010/main" val="1486253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A9203-8B5E-2551-7B2A-5668B9A96F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AB2B4A-A5AE-16E4-B9AC-B3B9E28BA5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2F99AF-593E-C0DC-C399-58BB4FBB81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AFDCB5-C458-D58E-F212-D370575655E0}"/>
              </a:ext>
            </a:extLst>
          </p:cNvPr>
          <p:cNvSpPr>
            <a:spLocks noGrp="1"/>
          </p:cNvSpPr>
          <p:nvPr>
            <p:ph type="dt" sz="half" idx="10"/>
          </p:nvPr>
        </p:nvSpPr>
        <p:spPr/>
        <p:txBody>
          <a:bodyPr/>
          <a:lstStyle/>
          <a:p>
            <a:fld id="{C72384C7-5AB7-4604-AA24-C5E7ACFA903E}" type="datetimeFigureOut">
              <a:rPr lang="en-US" smtClean="0"/>
              <a:t>9/8/2025</a:t>
            </a:fld>
            <a:endParaRPr lang="en-US"/>
          </a:p>
        </p:txBody>
      </p:sp>
      <p:sp>
        <p:nvSpPr>
          <p:cNvPr id="6" name="Footer Placeholder 5">
            <a:extLst>
              <a:ext uri="{FF2B5EF4-FFF2-40B4-BE49-F238E27FC236}">
                <a16:creationId xmlns:a16="http://schemas.microsoft.com/office/drawing/2014/main" id="{9E367CEF-3E35-6728-D8C9-112F1B3A2E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A9B009-BC96-0A55-FBED-B39E8D85D785}"/>
              </a:ext>
            </a:extLst>
          </p:cNvPr>
          <p:cNvSpPr>
            <a:spLocks noGrp="1"/>
          </p:cNvSpPr>
          <p:nvPr>
            <p:ph type="sldNum" sz="quarter" idx="12"/>
          </p:nvPr>
        </p:nvSpPr>
        <p:spPr/>
        <p:txBody>
          <a:bodyPr/>
          <a:lstStyle/>
          <a:p>
            <a:fld id="{09177AA1-6334-4933-8EA9-7F49A432BA74}" type="slidenum">
              <a:rPr lang="en-US" smtClean="0"/>
              <a:t>‹#›</a:t>
            </a:fld>
            <a:endParaRPr lang="en-US"/>
          </a:p>
        </p:txBody>
      </p:sp>
    </p:spTree>
    <p:extLst>
      <p:ext uri="{BB962C8B-B14F-4D97-AF65-F5344CB8AC3E}">
        <p14:creationId xmlns:p14="http://schemas.microsoft.com/office/powerpoint/2010/main" val="1339222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92718-5B36-CCBF-38EC-C2EA423206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0A0F83E-F9F0-B98C-B1EE-6B9C2E9B7E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016A0C-A0ED-083F-B934-32831A6349AE}"/>
              </a:ext>
            </a:extLst>
          </p:cNvPr>
          <p:cNvSpPr>
            <a:spLocks noGrp="1"/>
          </p:cNvSpPr>
          <p:nvPr>
            <p:ph type="dt" sz="half" idx="10"/>
          </p:nvPr>
        </p:nvSpPr>
        <p:spPr/>
        <p:txBody>
          <a:bodyPr/>
          <a:lstStyle/>
          <a:p>
            <a:fld id="{C72384C7-5AB7-4604-AA24-C5E7ACFA903E}" type="datetimeFigureOut">
              <a:rPr lang="en-US" smtClean="0"/>
              <a:t>9/8/2025</a:t>
            </a:fld>
            <a:endParaRPr lang="en-US"/>
          </a:p>
        </p:txBody>
      </p:sp>
      <p:sp>
        <p:nvSpPr>
          <p:cNvPr id="5" name="Footer Placeholder 4">
            <a:extLst>
              <a:ext uri="{FF2B5EF4-FFF2-40B4-BE49-F238E27FC236}">
                <a16:creationId xmlns:a16="http://schemas.microsoft.com/office/drawing/2014/main" id="{817649D5-908E-E164-8BFC-9599FD9F78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D4083D-62CB-9C29-D2D4-44802BBD3F21}"/>
              </a:ext>
            </a:extLst>
          </p:cNvPr>
          <p:cNvSpPr>
            <a:spLocks noGrp="1"/>
          </p:cNvSpPr>
          <p:nvPr>
            <p:ph type="sldNum" sz="quarter" idx="12"/>
          </p:nvPr>
        </p:nvSpPr>
        <p:spPr/>
        <p:txBody>
          <a:bodyPr/>
          <a:lstStyle/>
          <a:p>
            <a:fld id="{09177AA1-6334-4933-8EA9-7F49A432BA74}" type="slidenum">
              <a:rPr lang="en-US" smtClean="0"/>
              <a:t>‹#›</a:t>
            </a:fld>
            <a:endParaRPr lang="en-US"/>
          </a:p>
        </p:txBody>
      </p:sp>
    </p:spTree>
    <p:extLst>
      <p:ext uri="{BB962C8B-B14F-4D97-AF65-F5344CB8AC3E}">
        <p14:creationId xmlns:p14="http://schemas.microsoft.com/office/powerpoint/2010/main" val="930638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7B3DAC-8E26-85D8-1123-45B04D94C10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B7BFCA7-2E93-26F8-CCFA-2FA2AACEEA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1485C8-4D6C-6655-3BAE-632F3B63994E}"/>
              </a:ext>
            </a:extLst>
          </p:cNvPr>
          <p:cNvSpPr>
            <a:spLocks noGrp="1"/>
          </p:cNvSpPr>
          <p:nvPr>
            <p:ph type="dt" sz="half" idx="10"/>
          </p:nvPr>
        </p:nvSpPr>
        <p:spPr/>
        <p:txBody>
          <a:bodyPr/>
          <a:lstStyle/>
          <a:p>
            <a:fld id="{C72384C7-5AB7-4604-AA24-C5E7ACFA903E}" type="datetimeFigureOut">
              <a:rPr lang="en-US" smtClean="0"/>
              <a:t>9/8/2025</a:t>
            </a:fld>
            <a:endParaRPr lang="en-US"/>
          </a:p>
        </p:txBody>
      </p:sp>
      <p:sp>
        <p:nvSpPr>
          <p:cNvPr id="5" name="Footer Placeholder 4">
            <a:extLst>
              <a:ext uri="{FF2B5EF4-FFF2-40B4-BE49-F238E27FC236}">
                <a16:creationId xmlns:a16="http://schemas.microsoft.com/office/drawing/2014/main" id="{70439209-087D-DE98-BC89-D5C38206B4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BC96E4-A594-AC5D-4ACF-580994669632}"/>
              </a:ext>
            </a:extLst>
          </p:cNvPr>
          <p:cNvSpPr>
            <a:spLocks noGrp="1"/>
          </p:cNvSpPr>
          <p:nvPr>
            <p:ph type="sldNum" sz="quarter" idx="12"/>
          </p:nvPr>
        </p:nvSpPr>
        <p:spPr/>
        <p:txBody>
          <a:bodyPr/>
          <a:lstStyle/>
          <a:p>
            <a:fld id="{09177AA1-6334-4933-8EA9-7F49A432BA74}" type="slidenum">
              <a:rPr lang="en-US" smtClean="0"/>
              <a:t>‹#›</a:t>
            </a:fld>
            <a:endParaRPr lang="en-US"/>
          </a:p>
        </p:txBody>
      </p:sp>
    </p:spTree>
    <p:extLst>
      <p:ext uri="{BB962C8B-B14F-4D97-AF65-F5344CB8AC3E}">
        <p14:creationId xmlns:p14="http://schemas.microsoft.com/office/powerpoint/2010/main" val="3513609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23099B-3577-D6D0-B4F2-98C7FE295B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675D30-B1F4-5BC1-0C1D-7C2E366F0C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7273A8-B5F5-D2C8-B48C-39272C04AA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2384C7-5AB7-4604-AA24-C5E7ACFA903E}" type="datetimeFigureOut">
              <a:rPr lang="en-US" smtClean="0"/>
              <a:t>9/8/2025</a:t>
            </a:fld>
            <a:endParaRPr lang="en-US"/>
          </a:p>
        </p:txBody>
      </p:sp>
      <p:sp>
        <p:nvSpPr>
          <p:cNvPr id="5" name="Footer Placeholder 4">
            <a:extLst>
              <a:ext uri="{FF2B5EF4-FFF2-40B4-BE49-F238E27FC236}">
                <a16:creationId xmlns:a16="http://schemas.microsoft.com/office/drawing/2014/main" id="{FF861EBB-AFA6-0600-AEB5-5E93C5507D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5D8FE65-CF8B-5FF3-939B-DB46A56231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177AA1-6334-4933-8EA9-7F49A432BA74}" type="slidenum">
              <a:rPr lang="en-US" smtClean="0"/>
              <a:t>‹#›</a:t>
            </a:fld>
            <a:endParaRPr lang="en-US"/>
          </a:p>
        </p:txBody>
      </p:sp>
    </p:spTree>
    <p:extLst>
      <p:ext uri="{BB962C8B-B14F-4D97-AF65-F5344CB8AC3E}">
        <p14:creationId xmlns:p14="http://schemas.microsoft.com/office/powerpoint/2010/main" val="1617599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7AA3E-C530-25AF-B926-F8F3DA425A02}"/>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1554F23-A48D-29DA-49AD-4E6C2C9E8EE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4897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Management Information Systems (MIS)</a:t>
            </a:r>
          </a:p>
        </p:txBody>
      </p:sp>
      <p:sp>
        <p:nvSpPr>
          <p:cNvPr id="3" name="Subtitle 2"/>
          <p:cNvSpPr>
            <a:spLocks noGrp="1"/>
          </p:cNvSpPr>
          <p:nvPr>
            <p:ph type="subTitle" idx="1"/>
          </p:nvPr>
        </p:nvSpPr>
        <p:spPr/>
        <p:txBody>
          <a:bodyPr/>
          <a:lstStyle/>
          <a:p>
            <a:r>
              <a:rPr lang="en-US" b="1" dirty="0"/>
              <a:t>Dr. Mwai</a:t>
            </a:r>
            <a:endParaRPr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Week 1: Introduction to MIS - Learning Objectives</a:t>
            </a:r>
          </a:p>
        </p:txBody>
      </p:sp>
      <p:sp>
        <p:nvSpPr>
          <p:cNvPr id="3" name="Content Placeholder 2"/>
          <p:cNvSpPr>
            <a:spLocks noGrp="1"/>
          </p:cNvSpPr>
          <p:nvPr>
            <p:ph idx="1"/>
          </p:nvPr>
        </p:nvSpPr>
        <p:spPr/>
        <p:txBody>
          <a:bodyPr/>
          <a:lstStyle/>
          <a:p>
            <a:r>
              <a:rPr dirty="0"/>
              <a:t>By the end of this week, students should be able to:</a:t>
            </a:r>
          </a:p>
          <a:p>
            <a:r>
              <a:rPr dirty="0"/>
              <a:t>• Define MIS and explain its importance.</a:t>
            </a:r>
          </a:p>
          <a:p>
            <a:r>
              <a:rPr dirty="0"/>
              <a:t>• Describe the role of MIS in organizations.</a:t>
            </a:r>
          </a:p>
          <a:p>
            <a:r>
              <a:rPr dirty="0"/>
              <a:t>• Identify components of MIS: people, technology, processes.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Definition and Importance of MIS</a:t>
            </a:r>
          </a:p>
        </p:txBody>
      </p:sp>
      <p:sp>
        <p:nvSpPr>
          <p:cNvPr id="3" name="Content Placeholder 2"/>
          <p:cNvSpPr>
            <a:spLocks noGrp="1"/>
          </p:cNvSpPr>
          <p:nvPr>
            <p:ph idx="1"/>
          </p:nvPr>
        </p:nvSpPr>
        <p:spPr/>
        <p:txBody>
          <a:bodyPr/>
          <a:lstStyle/>
          <a:p>
            <a:r>
              <a:rPr b="1" dirty="0"/>
              <a:t>MIS: </a:t>
            </a:r>
            <a:r>
              <a:rPr dirty="0"/>
              <a:t>A system combining people, technology, and processes to provide information for decision-making.</a:t>
            </a:r>
          </a:p>
          <a:p>
            <a:endParaRPr dirty="0"/>
          </a:p>
          <a:p>
            <a:r>
              <a:rPr b="1" dirty="0"/>
              <a:t>Importance:</a:t>
            </a:r>
            <a:endParaRPr lang="en-US" b="1" dirty="0"/>
          </a:p>
          <a:p>
            <a:r>
              <a:rPr dirty="0"/>
              <a:t>Enhances decision-making.</a:t>
            </a:r>
            <a:endParaRPr lang="en-US" dirty="0"/>
          </a:p>
          <a:p>
            <a:r>
              <a:rPr dirty="0"/>
              <a:t>Improves efficiency and productivity.</a:t>
            </a:r>
            <a:endParaRPr lang="en-US" dirty="0"/>
          </a:p>
          <a:p>
            <a:r>
              <a:rPr dirty="0"/>
              <a:t>Supports planning, controlling, and organizing.</a:t>
            </a:r>
            <a:endParaRPr lang="en-US" dirty="0"/>
          </a:p>
          <a:p>
            <a:r>
              <a:rPr dirty="0"/>
              <a:t>Provides competitive advantage.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33600" y="457201"/>
            <a:ext cx="7772400" cy="384175"/>
          </a:xfrm>
        </p:spPr>
        <p:txBody>
          <a:bodyPr>
            <a:normAutofit fontScale="90000"/>
          </a:bodyPr>
          <a:lstStyle/>
          <a:p>
            <a:r>
              <a:rPr lang="en-US" sz="3200" b="1" u="heavy" dirty="0"/>
              <a:t>Information Systems in Global </a:t>
            </a:r>
            <a:r>
              <a:rPr lang="en-US" sz="3200" b="1" dirty="0"/>
              <a:t>organizations/</a:t>
            </a:r>
            <a:r>
              <a:rPr lang="en-US" sz="3200" dirty="0"/>
              <a:t> </a:t>
            </a:r>
            <a:r>
              <a:rPr lang="en-US" sz="3200" b="1" u="heavy" dirty="0"/>
              <a:t>Business Today</a:t>
            </a:r>
            <a:br>
              <a:rPr lang="en-US" sz="3200" b="1" dirty="0"/>
            </a:br>
            <a:endParaRPr lang="en-US" sz="3200" dirty="0"/>
          </a:p>
        </p:txBody>
      </p:sp>
      <p:sp>
        <p:nvSpPr>
          <p:cNvPr id="3" name="Subtitle 2"/>
          <p:cNvSpPr>
            <a:spLocks noGrp="1"/>
          </p:cNvSpPr>
          <p:nvPr>
            <p:ph type="subTitle" idx="1"/>
          </p:nvPr>
        </p:nvSpPr>
        <p:spPr>
          <a:xfrm>
            <a:off x="1752600" y="841375"/>
            <a:ext cx="8915400" cy="6016625"/>
          </a:xfrm>
        </p:spPr>
        <p:txBody>
          <a:bodyPr>
            <a:normAutofit/>
          </a:bodyPr>
          <a:lstStyle/>
          <a:p>
            <a:r>
              <a:rPr lang="en-US" b="1" dirty="0">
                <a:solidFill>
                  <a:schemeClr val="tx1"/>
                </a:solidFill>
              </a:rPr>
              <a:t>The Role of Information Systems in organizations/</a:t>
            </a:r>
            <a:r>
              <a:rPr lang="en-US" dirty="0"/>
              <a:t> </a:t>
            </a:r>
            <a:r>
              <a:rPr lang="en-US" b="1" dirty="0">
                <a:solidFill>
                  <a:schemeClr val="tx1"/>
                </a:solidFill>
              </a:rPr>
              <a:t>Business Today</a:t>
            </a:r>
            <a:endParaRPr lang="en-US" dirty="0">
              <a:solidFill>
                <a:schemeClr val="tx1"/>
              </a:solidFill>
            </a:endParaRPr>
          </a:p>
          <a:p>
            <a:pPr algn="l"/>
            <a:r>
              <a:rPr lang="en-US" dirty="0">
                <a:solidFill>
                  <a:schemeClr val="tx1"/>
                </a:solidFill>
              </a:rPr>
              <a:t>Information technology and systems have revolutionized firms and industries, becoming the largest component of capital investment in most countries and many industrialized societies. Investment in information technology accounts for approximately 50 percent of all capital invested. </a:t>
            </a:r>
          </a:p>
          <a:p>
            <a:pPr algn="l"/>
            <a:r>
              <a:rPr lang="en-US" b="1" dirty="0">
                <a:solidFill>
                  <a:schemeClr val="tx1"/>
                </a:solidFill>
              </a:rPr>
              <a:t>Information technology capital investment</a:t>
            </a:r>
            <a:r>
              <a:rPr lang="en-US" dirty="0">
                <a:solidFill>
                  <a:schemeClr val="tx1"/>
                </a:solidFill>
              </a:rPr>
              <a:t>, defined as </a:t>
            </a:r>
            <a:r>
              <a:rPr lang="en-US" b="1" dirty="0">
                <a:solidFill>
                  <a:schemeClr val="tx1"/>
                </a:solidFill>
              </a:rPr>
              <a:t>hardware, software, and communications equipment,      </a:t>
            </a:r>
            <a:r>
              <a:rPr lang="en-US" dirty="0">
                <a:solidFill>
                  <a:schemeClr val="tx1"/>
                </a:solidFill>
              </a:rPr>
              <a:t>grew      from      34%      to      50%      between       1980       and       2004. Source: Based on data in U.S. Department of Commerce, Bureau of Economic Analysis, National Income and Product Accounts, 2006.</a:t>
            </a:r>
          </a:p>
          <a:p>
            <a:pPr algn="l"/>
            <a:endParaRPr lang="en-US" dirty="0"/>
          </a:p>
        </p:txBody>
      </p:sp>
    </p:spTree>
    <p:extLst>
      <p:ext uri="{BB962C8B-B14F-4D97-AF65-F5344CB8AC3E}">
        <p14:creationId xmlns:p14="http://schemas.microsoft.com/office/powerpoint/2010/main" val="2236533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Discussion points </a:t>
            </a:r>
          </a:p>
        </p:txBody>
      </p:sp>
      <p:sp>
        <p:nvSpPr>
          <p:cNvPr id="3" name="Content Placeholder 2"/>
          <p:cNvSpPr>
            <a:spLocks noGrp="1"/>
          </p:cNvSpPr>
          <p:nvPr>
            <p:ph idx="1"/>
          </p:nvPr>
        </p:nvSpPr>
        <p:spPr/>
        <p:txBody>
          <a:bodyPr>
            <a:normAutofit/>
          </a:bodyPr>
          <a:lstStyle/>
          <a:p>
            <a:r>
              <a:rPr lang="en-US" dirty="0"/>
              <a:t>Why this change and why are organizations  increasingly investing more and more in information systems ?</a:t>
            </a:r>
          </a:p>
          <a:p>
            <a:r>
              <a:rPr lang="en-US" dirty="0"/>
              <a:t>What are some of the factors that are leading organizations to invest in information systems? </a:t>
            </a:r>
          </a:p>
          <a:p>
            <a:r>
              <a:rPr lang="en-US" dirty="0"/>
              <a:t>What are some of the results(advantages ) of this investment  in formation systems to organizations?</a:t>
            </a:r>
          </a:p>
        </p:txBody>
      </p:sp>
    </p:spTree>
    <p:extLst>
      <p:ext uri="{BB962C8B-B14F-4D97-AF65-F5344CB8AC3E}">
        <p14:creationId xmlns:p14="http://schemas.microsoft.com/office/powerpoint/2010/main" val="708180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tx1"/>
                </a:solidFill>
              </a:rPr>
              <a:t>The Role of Information Systems in O</a:t>
            </a:r>
            <a:r>
              <a:rPr lang="en-US" b="1" dirty="0"/>
              <a:t>rganizations/</a:t>
            </a:r>
            <a:r>
              <a:rPr lang="en-US" b="1" dirty="0">
                <a:solidFill>
                  <a:schemeClr val="tx1"/>
                </a:solidFill>
              </a:rPr>
              <a:t>Business Today…</a:t>
            </a:r>
            <a:br>
              <a:rPr lang="en-US" dirty="0">
                <a:solidFill>
                  <a:schemeClr val="tx1"/>
                </a:solidFill>
              </a:rPr>
            </a:br>
            <a:endParaRPr lang="en-US" dirty="0"/>
          </a:p>
        </p:txBody>
      </p:sp>
      <p:sp>
        <p:nvSpPr>
          <p:cNvPr id="3" name="Content Placeholder 2"/>
          <p:cNvSpPr>
            <a:spLocks noGrp="1"/>
          </p:cNvSpPr>
          <p:nvPr>
            <p:ph idx="1"/>
          </p:nvPr>
        </p:nvSpPr>
        <p:spPr/>
        <p:txBody>
          <a:bodyPr>
            <a:normAutofit/>
          </a:bodyPr>
          <a:lstStyle/>
          <a:p>
            <a:r>
              <a:rPr lang="en-US" dirty="0"/>
              <a:t>Information systems are transforming business and the visible results of this include the </a:t>
            </a:r>
            <a:r>
              <a:rPr lang="en-US" b="1" dirty="0"/>
              <a:t>increased use of cell phones and wireless telecommunications devices, a massive shift toward online news and information, booming e-commerce and Internet advertising</a:t>
            </a:r>
            <a:r>
              <a:rPr lang="en-US" dirty="0"/>
              <a:t>, </a:t>
            </a:r>
          </a:p>
          <a:p>
            <a:r>
              <a:rPr lang="en-US" b="1" dirty="0"/>
              <a:t>The Internet has also drastically reduced the costs of businesses operating on a global scale. </a:t>
            </a:r>
          </a:p>
        </p:txBody>
      </p:sp>
    </p:spTree>
    <p:extLst>
      <p:ext uri="{BB962C8B-B14F-4D97-AF65-F5344CB8AC3E}">
        <p14:creationId xmlns:p14="http://schemas.microsoft.com/office/powerpoint/2010/main" val="4044543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These changes have led to the emergence of the digital firm, a firm in which:</a:t>
            </a:r>
          </a:p>
          <a:p>
            <a:pPr lvl="0">
              <a:buFont typeface="Wingdings" pitchFamily="2" charset="2"/>
              <a:buChar char="Ø"/>
            </a:pPr>
            <a:r>
              <a:rPr lang="en-US" dirty="0"/>
              <a:t>Most of the firm's significant </a:t>
            </a:r>
            <a:r>
              <a:rPr lang="en-US" b="1" dirty="0"/>
              <a:t>business relationships </a:t>
            </a:r>
            <a:r>
              <a:rPr lang="en-US" dirty="0"/>
              <a:t>with customers, suppliers, and employees </a:t>
            </a:r>
            <a:r>
              <a:rPr lang="en-US" b="1" dirty="0"/>
              <a:t>are digitally enabled and mediated</a:t>
            </a:r>
            <a:r>
              <a:rPr lang="en-US" dirty="0"/>
              <a:t>.</a:t>
            </a:r>
          </a:p>
          <a:p>
            <a:pPr lvl="0">
              <a:buFont typeface="Wingdings" pitchFamily="2" charset="2"/>
              <a:buChar char="Ø"/>
            </a:pPr>
            <a:r>
              <a:rPr lang="en-US" b="1" dirty="0"/>
              <a:t>Core business processes</a:t>
            </a:r>
            <a:r>
              <a:rPr lang="en-US" dirty="0"/>
              <a:t>, or logically related business tasks, are accomplished through </a:t>
            </a:r>
            <a:r>
              <a:rPr lang="en-US" b="1" dirty="0"/>
              <a:t>digital networks.</a:t>
            </a:r>
          </a:p>
          <a:p>
            <a:pPr lvl="0">
              <a:buFont typeface="Wingdings" pitchFamily="2" charset="2"/>
              <a:buChar char="Ø"/>
            </a:pPr>
            <a:r>
              <a:rPr lang="en-US" dirty="0"/>
              <a:t>Key </a:t>
            </a:r>
            <a:r>
              <a:rPr lang="en-US" b="1" dirty="0"/>
              <a:t>corporate assets </a:t>
            </a:r>
            <a:r>
              <a:rPr lang="en-US" dirty="0"/>
              <a:t>(intellectual property, core competencies, and financial and human assets) are </a:t>
            </a:r>
            <a:r>
              <a:rPr lang="en-US" b="1" dirty="0"/>
              <a:t>managed through digital means</a:t>
            </a:r>
          </a:p>
          <a:p>
            <a:pPr lvl="0">
              <a:buFont typeface="Wingdings" pitchFamily="2" charset="2"/>
              <a:buChar char="Ø"/>
            </a:pPr>
            <a:r>
              <a:rPr lang="en-US" b="1" dirty="0"/>
              <a:t>Business responses to changes </a:t>
            </a:r>
            <a:r>
              <a:rPr lang="en-US" dirty="0"/>
              <a:t>in their environment </a:t>
            </a:r>
            <a:r>
              <a:rPr lang="en-US" b="1" dirty="0"/>
              <a:t>are enhanced through digital communications</a:t>
            </a:r>
            <a:r>
              <a:rPr lang="en-US" dirty="0"/>
              <a:t>, allowing for time shifting (business being conducted 24x7) and space shifting (business being conducted globally or beyond traditional geographic boundaries).</a:t>
            </a:r>
          </a:p>
          <a:p>
            <a:pPr marL="0" indent="0">
              <a:buNone/>
            </a:pPr>
            <a:r>
              <a:rPr lang="en-US" dirty="0"/>
              <a:t>The ability of a firm to use IT is becoming intertwined with the firm's ability to implement corporate strategy. Figure 1-2 below</a:t>
            </a:r>
          </a:p>
          <a:p>
            <a:pPr marL="0" indent="0">
              <a:buNone/>
            </a:pPr>
            <a:endParaRPr lang="en-US" dirty="0"/>
          </a:p>
          <a:p>
            <a:endParaRPr lang="en-US" dirty="0"/>
          </a:p>
        </p:txBody>
      </p:sp>
    </p:spTree>
    <p:extLst>
      <p:ext uri="{BB962C8B-B14F-4D97-AF65-F5344CB8AC3E}">
        <p14:creationId xmlns:p14="http://schemas.microsoft.com/office/powerpoint/2010/main" val="499984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FIGURE 1-2 THE INTERDEPENDENCE BETWEEN ORGANIZATIONS AND INFORMATION	SYSTEMS</a:t>
            </a:r>
          </a:p>
        </p:txBody>
      </p:sp>
      <p:pic>
        <p:nvPicPr>
          <p:cNvPr id="4" name="image3.jpeg" descr="C:\Users\jreuben\Dropbox\2.PNG"/>
          <p:cNvPicPr>
            <a:picLocks noGrp="1"/>
          </p:cNvPicPr>
          <p:nvPr>
            <p:ph idx="1"/>
          </p:nvPr>
        </p:nvPicPr>
        <p:blipFill>
          <a:blip r:embed="rId2" cstate="print"/>
          <a:stretch>
            <a:fillRect/>
          </a:stretch>
        </p:blipFill>
        <p:spPr>
          <a:xfrm>
            <a:off x="2362201" y="1401763"/>
            <a:ext cx="7467598" cy="4922838"/>
          </a:xfrm>
          <a:prstGeom prst="rect">
            <a:avLst/>
          </a:prstGeom>
        </p:spPr>
      </p:pic>
    </p:spTree>
    <p:extLst>
      <p:ext uri="{BB962C8B-B14F-4D97-AF65-F5344CB8AC3E}">
        <p14:creationId xmlns:p14="http://schemas.microsoft.com/office/powerpoint/2010/main" val="3478869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0"/>
            <a:ext cx="8229600" cy="6781800"/>
          </a:xfrm>
        </p:spPr>
        <p:txBody>
          <a:bodyPr>
            <a:normAutofit fontScale="70000" lnSpcReduction="20000"/>
          </a:bodyPr>
          <a:lstStyle/>
          <a:p>
            <a:r>
              <a:rPr lang="en-US" dirty="0">
                <a:solidFill>
                  <a:srgbClr val="FF0000"/>
                </a:solidFill>
              </a:rPr>
              <a:t>Organizations/Business firms invest heavily in</a:t>
            </a:r>
            <a:r>
              <a:rPr lang="en-US" b="1" dirty="0">
                <a:solidFill>
                  <a:srgbClr val="FF0000"/>
                </a:solidFill>
              </a:rPr>
              <a:t> information systems </a:t>
            </a:r>
            <a:r>
              <a:rPr lang="en-US" dirty="0">
                <a:solidFill>
                  <a:srgbClr val="FF0000"/>
                </a:solidFill>
              </a:rPr>
              <a:t>to achieve six strategic business objectives:</a:t>
            </a:r>
          </a:p>
          <a:p>
            <a:pPr marL="0" indent="0">
              <a:buNone/>
            </a:pPr>
            <a:r>
              <a:rPr lang="en-US" dirty="0"/>
              <a:t> </a:t>
            </a:r>
          </a:p>
          <a:p>
            <a:pPr marL="514350" indent="-514350">
              <a:buFont typeface="+mj-lt"/>
              <a:buAutoNum type="arabicPeriod"/>
            </a:pPr>
            <a:r>
              <a:rPr lang="en-US" b="1" dirty="0"/>
              <a:t>Operational excellence: </a:t>
            </a:r>
            <a:r>
              <a:rPr lang="en-US" dirty="0"/>
              <a:t>Efficiency, productivity, and improved changes in business practices and management behavior</a:t>
            </a:r>
          </a:p>
          <a:p>
            <a:pPr marL="514350" indent="-514350">
              <a:buFont typeface="+mj-lt"/>
              <a:buAutoNum type="arabicPeriod"/>
            </a:pPr>
            <a:r>
              <a:rPr lang="en-US" b="1" dirty="0"/>
              <a:t>New products, services, and business models: </a:t>
            </a:r>
            <a:r>
              <a:rPr lang="en-US" dirty="0"/>
              <a:t>A business model describes how a company produces, delivers, and sells a product or service to create wealth. Information systems and technologies create opportunities for products, services, and new ways to engage in business.</a:t>
            </a:r>
          </a:p>
          <a:p>
            <a:pPr marL="514350" indent="-514350">
              <a:buFont typeface="+mj-lt"/>
              <a:buAutoNum type="arabicPeriod"/>
            </a:pPr>
            <a:r>
              <a:rPr lang="en-US" b="1" dirty="0"/>
              <a:t>Customer and supplier intimacy: </a:t>
            </a:r>
            <a:r>
              <a:rPr lang="en-US" dirty="0"/>
              <a:t>Improved communication with and service to customers raises revenues, and improved communication with suppliers lowers costs.</a:t>
            </a:r>
          </a:p>
          <a:p>
            <a:pPr marL="514350" indent="-514350">
              <a:buFont typeface="+mj-lt"/>
              <a:buAutoNum type="arabicPeriod"/>
            </a:pPr>
            <a:r>
              <a:rPr lang="en-US" b="1" dirty="0"/>
              <a:t>Improved decision making: </a:t>
            </a:r>
            <a:r>
              <a:rPr lang="en-US" dirty="0"/>
              <a:t>Without accurate and timely information, business managers must make decisions based on forecasts, best guesses, and luck, a process that results in over and under-production of goods, raising costs, and the loss of customers.</a:t>
            </a:r>
          </a:p>
          <a:p>
            <a:pPr marL="514350" indent="-514350">
              <a:buFont typeface="+mj-lt"/>
              <a:buAutoNum type="arabicPeriod"/>
            </a:pPr>
            <a:r>
              <a:rPr lang="en-US" b="1" dirty="0"/>
              <a:t>Competitive advantage: </a:t>
            </a:r>
            <a:r>
              <a:rPr lang="en-US" dirty="0"/>
              <a:t>Implementing effective and efficient information systems can allow a company to charge less for superior products, adding up to higher sales and profits than their competitors.</a:t>
            </a:r>
          </a:p>
          <a:p>
            <a:pPr marL="514350" indent="-514350">
              <a:buFont typeface="+mj-lt"/>
              <a:buAutoNum type="arabicPeriod"/>
            </a:pPr>
            <a:r>
              <a:rPr lang="en-US" b="1" dirty="0"/>
              <a:t>Survival: </a:t>
            </a:r>
            <a:r>
              <a:rPr lang="en-US" dirty="0"/>
              <a:t>Information systems can also be a necessity of doing business. A necessity may be driven by industry-level changes, as in the implementation of ATMs in the retail banking industry. A necessity may also be driven by governmental regulations, such as National or County statutes requiring a business to retain data and report specific information.</a:t>
            </a:r>
          </a:p>
          <a:p>
            <a:endParaRPr lang="en-US" dirty="0"/>
          </a:p>
        </p:txBody>
      </p:sp>
    </p:spTree>
    <p:extLst>
      <p:ext uri="{BB962C8B-B14F-4D97-AF65-F5344CB8AC3E}">
        <p14:creationId xmlns:p14="http://schemas.microsoft.com/office/powerpoint/2010/main" val="2825769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87362"/>
          </a:xfrm>
        </p:spPr>
        <p:txBody>
          <a:bodyPr>
            <a:normAutofit fontScale="90000"/>
          </a:bodyPr>
          <a:lstStyle/>
          <a:p>
            <a:br>
              <a:rPr lang="en-US" b="1" dirty="0"/>
            </a:br>
            <a:r>
              <a:rPr lang="en-US" b="1" dirty="0"/>
              <a:t>Perspectives on Information Systems</a:t>
            </a:r>
            <a:br>
              <a:rPr lang="en-US" dirty="0"/>
            </a:br>
            <a:endParaRPr lang="en-US" dirty="0"/>
          </a:p>
        </p:txBody>
      </p:sp>
      <p:sp>
        <p:nvSpPr>
          <p:cNvPr id="3" name="Content Placeholder 2"/>
          <p:cNvSpPr>
            <a:spLocks noGrp="1"/>
          </p:cNvSpPr>
          <p:nvPr>
            <p:ph idx="1"/>
          </p:nvPr>
        </p:nvSpPr>
        <p:spPr>
          <a:xfrm>
            <a:off x="1756024" y="1384444"/>
            <a:ext cx="8229600" cy="4525963"/>
          </a:xfrm>
        </p:spPr>
        <p:txBody>
          <a:bodyPr>
            <a:normAutofit/>
          </a:bodyPr>
          <a:lstStyle/>
          <a:p>
            <a:r>
              <a:rPr lang="en-US" dirty="0"/>
              <a:t>An </a:t>
            </a:r>
            <a:r>
              <a:rPr lang="en-US" b="1" dirty="0"/>
              <a:t>information system </a:t>
            </a:r>
            <a:r>
              <a:rPr lang="en-US" dirty="0"/>
              <a:t>is a set of interrelated components that </a:t>
            </a:r>
            <a:r>
              <a:rPr lang="en-US" b="1" dirty="0"/>
              <a:t>collect or retrieve, process, store, and distribute information to support decision making and control in an organization.</a:t>
            </a:r>
            <a:r>
              <a:rPr lang="en-US" dirty="0"/>
              <a:t> </a:t>
            </a:r>
          </a:p>
          <a:p>
            <a:r>
              <a:rPr lang="en-US" dirty="0"/>
              <a:t>Information systems can also be used to </a:t>
            </a:r>
            <a:r>
              <a:rPr lang="en-US" b="1" dirty="0"/>
              <a:t>analyze problems, visualize complex subjects, and create new products. </a:t>
            </a:r>
          </a:p>
          <a:p>
            <a:r>
              <a:rPr lang="en-US" dirty="0"/>
              <a:t>Information is data, or raw facts, shaped into useful form for humans. Figure 1-3</a:t>
            </a:r>
          </a:p>
          <a:p>
            <a:endParaRPr lang="en-US" dirty="0"/>
          </a:p>
        </p:txBody>
      </p:sp>
    </p:spTree>
    <p:extLst>
      <p:ext uri="{BB962C8B-B14F-4D97-AF65-F5344CB8AC3E}">
        <p14:creationId xmlns:p14="http://schemas.microsoft.com/office/powerpoint/2010/main" val="870463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FIGURE 1-3 DATA AND INFORMATION</a:t>
            </a:r>
            <a:br>
              <a:rPr lang="en-US" dirty="0"/>
            </a:br>
            <a:endParaRPr lang="en-US" dirty="0"/>
          </a:p>
        </p:txBody>
      </p:sp>
      <p:pic>
        <p:nvPicPr>
          <p:cNvPr id="4" name="image4.jpeg" descr="C:\Users\jreuben\Dropbox\3.PNG"/>
          <p:cNvPicPr>
            <a:picLocks noGrp="1"/>
          </p:cNvPicPr>
          <p:nvPr>
            <p:ph idx="1"/>
          </p:nvPr>
        </p:nvPicPr>
        <p:blipFill>
          <a:blip r:embed="rId2" cstate="print"/>
          <a:stretch>
            <a:fillRect/>
          </a:stretch>
        </p:blipFill>
        <p:spPr>
          <a:xfrm>
            <a:off x="2057400" y="1676401"/>
            <a:ext cx="8382000" cy="4495799"/>
          </a:xfrm>
          <a:prstGeom prst="rect">
            <a:avLst/>
          </a:prstGeom>
        </p:spPr>
      </p:pic>
    </p:spTree>
    <p:extLst>
      <p:ext uri="{BB962C8B-B14F-4D97-AF65-F5344CB8AC3E}">
        <p14:creationId xmlns:p14="http://schemas.microsoft.com/office/powerpoint/2010/main" val="4041880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57200"/>
            <a:ext cx="8229600" cy="6172200"/>
          </a:xfrm>
        </p:spPr>
        <p:txBody>
          <a:bodyPr>
            <a:normAutofit fontScale="92500" lnSpcReduction="20000"/>
          </a:bodyPr>
          <a:lstStyle/>
          <a:p>
            <a:r>
              <a:rPr lang="en-US" dirty="0"/>
              <a:t>Raw data from a supermarket checkout counter can be processed and organized to produce meaningful information, such as the total unit sales of dish detergent or the total sales revenue from dish detergent for a specific store or sales territory. </a:t>
            </a:r>
          </a:p>
          <a:p>
            <a:r>
              <a:rPr lang="en-US" b="1" dirty="0"/>
              <a:t>Input, processing, and output are the three activities in an information system that produce the information an organization needs. </a:t>
            </a:r>
          </a:p>
          <a:p>
            <a:endParaRPr lang="en-US" dirty="0"/>
          </a:p>
          <a:p>
            <a:r>
              <a:rPr lang="en-US" b="1" dirty="0"/>
              <a:t>Input</a:t>
            </a:r>
            <a:r>
              <a:rPr lang="en-US" dirty="0"/>
              <a:t> captures or collects raw data from within the organization or from its external environment. </a:t>
            </a:r>
          </a:p>
          <a:p>
            <a:r>
              <a:rPr lang="en-US" b="1" dirty="0"/>
              <a:t>Processing</a:t>
            </a:r>
            <a:r>
              <a:rPr lang="en-US" dirty="0"/>
              <a:t> converts this raw input into a meaningful form. </a:t>
            </a:r>
          </a:p>
          <a:p>
            <a:r>
              <a:rPr lang="en-US" b="1" dirty="0"/>
              <a:t>Output</a:t>
            </a:r>
            <a:r>
              <a:rPr lang="en-US" dirty="0"/>
              <a:t> transfers the processed information to the people who will use it or to the activities for which it will be used. </a:t>
            </a:r>
          </a:p>
          <a:p>
            <a:r>
              <a:rPr lang="en-US" dirty="0">
                <a:solidFill>
                  <a:srgbClr val="FF0000"/>
                </a:solidFill>
              </a:rPr>
              <a:t>Information systems also require feedback, which is output that is returned to appropriate members of the organization to help them evaluate or correct the input stage.</a:t>
            </a:r>
          </a:p>
          <a:p>
            <a:endParaRPr lang="en-US" dirty="0"/>
          </a:p>
        </p:txBody>
      </p:sp>
    </p:spTree>
    <p:extLst>
      <p:ext uri="{BB962C8B-B14F-4D97-AF65-F5344CB8AC3E}">
        <p14:creationId xmlns:p14="http://schemas.microsoft.com/office/powerpoint/2010/main" val="3568607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100" dirty="0"/>
              <a:t>FIGURE 1-4 FUNCTIONS OF AN INFORMATION SYSTEM</a:t>
            </a:r>
            <a:br>
              <a:rPr lang="en-US" dirty="0"/>
            </a:br>
            <a:endParaRPr lang="en-US" dirty="0"/>
          </a:p>
        </p:txBody>
      </p:sp>
      <p:pic>
        <p:nvPicPr>
          <p:cNvPr id="4" name="image5.jpeg" descr="C:\Users\jreuben\Dropbox\4.PNG"/>
          <p:cNvPicPr>
            <a:picLocks noGrp="1"/>
          </p:cNvPicPr>
          <p:nvPr>
            <p:ph idx="1"/>
          </p:nvPr>
        </p:nvPicPr>
        <p:blipFill>
          <a:blip r:embed="rId2" cstate="print"/>
          <a:stretch>
            <a:fillRect/>
          </a:stretch>
        </p:blipFill>
        <p:spPr>
          <a:xfrm>
            <a:off x="2133600" y="1173163"/>
            <a:ext cx="7924800" cy="5380038"/>
          </a:xfrm>
          <a:prstGeom prst="rect">
            <a:avLst/>
          </a:prstGeom>
        </p:spPr>
      </p:pic>
    </p:spTree>
    <p:extLst>
      <p:ext uri="{BB962C8B-B14F-4D97-AF65-F5344CB8AC3E}">
        <p14:creationId xmlns:p14="http://schemas.microsoft.com/office/powerpoint/2010/main" val="1435479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52400"/>
            <a:ext cx="8229600" cy="6705600"/>
          </a:xfrm>
        </p:spPr>
        <p:txBody>
          <a:bodyPr>
            <a:normAutofit fontScale="77500" lnSpcReduction="20000"/>
          </a:bodyPr>
          <a:lstStyle/>
          <a:p>
            <a:r>
              <a:rPr lang="en-US" dirty="0"/>
              <a:t>An information system contains information about an organization and its surrounding environment. Three basic activities—input, processing, and output—produce the information organizations need. </a:t>
            </a:r>
          </a:p>
          <a:p>
            <a:r>
              <a:rPr lang="en-US" b="1" dirty="0"/>
              <a:t>Feedback</a:t>
            </a:r>
            <a:r>
              <a:rPr lang="en-US" dirty="0"/>
              <a:t> is output returned to appropriate people or activities in the organization to evaluate and refine the input. </a:t>
            </a:r>
          </a:p>
          <a:p>
            <a:r>
              <a:rPr lang="en-US" b="1" dirty="0"/>
              <a:t>Environmental actors</a:t>
            </a:r>
            <a:r>
              <a:rPr lang="en-US" dirty="0"/>
              <a:t>, such as customers, suppliers, competitors, stockholders, and regulatory agencies, interact with the organization and its information systems.</a:t>
            </a:r>
          </a:p>
          <a:p>
            <a:r>
              <a:rPr lang="en-US" dirty="0"/>
              <a:t> It is important to distinguish </a:t>
            </a:r>
            <a:r>
              <a:rPr lang="en-US" b="1" dirty="0"/>
              <a:t>information systems</a:t>
            </a:r>
            <a:r>
              <a:rPr lang="en-US" dirty="0"/>
              <a:t>, which are designed to produce information and solve organizational problems, from the </a:t>
            </a:r>
            <a:r>
              <a:rPr lang="en-US" b="1" dirty="0"/>
              <a:t>computer technology and software </a:t>
            </a:r>
            <a:r>
              <a:rPr lang="en-US" dirty="0"/>
              <a:t>that is typically used to create and manage information systems. </a:t>
            </a:r>
          </a:p>
          <a:p>
            <a:r>
              <a:rPr lang="en-US" b="1" dirty="0"/>
              <a:t>Computer literacy focuses </a:t>
            </a:r>
            <a:r>
              <a:rPr lang="en-US" dirty="0"/>
              <a:t>primarily on knowledge of information technology. </a:t>
            </a:r>
          </a:p>
          <a:p>
            <a:r>
              <a:rPr lang="en-US" b="1" dirty="0"/>
              <a:t>Information systems literacy</a:t>
            </a:r>
            <a:r>
              <a:rPr lang="en-US" dirty="0"/>
              <a:t>, the understanding of information systems, includes a behavioral and technical approach to understanding the broader organization, management, and information technology dimension of systems and their power to provide solutions. </a:t>
            </a:r>
          </a:p>
          <a:p>
            <a:r>
              <a:rPr lang="en-US" dirty="0">
                <a:solidFill>
                  <a:srgbClr val="FF0000"/>
                </a:solidFill>
              </a:rPr>
              <a:t>The field of management information systems (MIS) tries to achieve this broader information systems literacy. Figure 1-5 below</a:t>
            </a:r>
          </a:p>
          <a:p>
            <a:endParaRPr lang="en-US" dirty="0"/>
          </a:p>
        </p:txBody>
      </p:sp>
    </p:spTree>
    <p:extLst>
      <p:ext uri="{BB962C8B-B14F-4D97-AF65-F5344CB8AC3E}">
        <p14:creationId xmlns:p14="http://schemas.microsoft.com/office/powerpoint/2010/main" val="1669721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Role of MIS in Organizations</a:t>
            </a:r>
          </a:p>
        </p:txBody>
      </p:sp>
      <p:sp>
        <p:nvSpPr>
          <p:cNvPr id="3" name="Content Placeholder 2"/>
          <p:cNvSpPr>
            <a:spLocks noGrp="1"/>
          </p:cNvSpPr>
          <p:nvPr>
            <p:ph idx="1"/>
          </p:nvPr>
        </p:nvSpPr>
        <p:spPr/>
        <p:txBody>
          <a:bodyPr/>
          <a:lstStyle/>
          <a:p>
            <a:r>
              <a:rPr dirty="0"/>
              <a:t>Operational: Automates routine tasks (payroll, inventory).</a:t>
            </a:r>
          </a:p>
          <a:p>
            <a:r>
              <a:rPr dirty="0"/>
              <a:t>Managerial: Summarizes reports for middle management.</a:t>
            </a:r>
          </a:p>
          <a:p>
            <a:r>
              <a:rPr dirty="0"/>
              <a:t>Strategic: Supports long-term planning.</a:t>
            </a:r>
          </a:p>
          <a:p>
            <a:r>
              <a:rPr dirty="0"/>
              <a:t>Communication: Enhances information flow.</a:t>
            </a:r>
          </a:p>
          <a:p>
            <a:r>
              <a:rPr dirty="0"/>
              <a:t>Decision Support: Reduces uncertainty.</a:t>
            </a:r>
          </a:p>
          <a:p>
            <a:endParaRPr dirty="0"/>
          </a:p>
          <a:p>
            <a:r>
              <a:rPr dirty="0"/>
              <a:t>Case: Banks using MIS for transaction monitoring.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Components of MIS</a:t>
            </a:r>
          </a:p>
        </p:txBody>
      </p:sp>
      <p:sp>
        <p:nvSpPr>
          <p:cNvPr id="3" name="Content Placeholder 2"/>
          <p:cNvSpPr>
            <a:spLocks noGrp="1"/>
          </p:cNvSpPr>
          <p:nvPr>
            <p:ph idx="1"/>
          </p:nvPr>
        </p:nvSpPr>
        <p:spPr/>
        <p:txBody>
          <a:bodyPr/>
          <a:lstStyle/>
          <a:p>
            <a:r>
              <a:t>• People – Managers, staff, IT specialists.</a:t>
            </a:r>
          </a:p>
          <a:p>
            <a:r>
              <a:t>• Technology – Hardware, software, networks.</a:t>
            </a:r>
          </a:p>
          <a:p>
            <a:r>
              <a:t>• Processes – Workflows, policies, procedures.</a:t>
            </a:r>
          </a:p>
          <a:p>
            <a:endParaRPr/>
          </a:p>
          <a:p>
            <a:r>
              <a:t>All three must align for effective MIS.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br>
              <a:rPr lang="en-US" sz="2400" dirty="0"/>
            </a:br>
            <a:br>
              <a:rPr lang="en-US" sz="2400" dirty="0"/>
            </a:br>
            <a:br>
              <a:rPr lang="en-US" sz="2400" dirty="0"/>
            </a:br>
            <a:br>
              <a:rPr lang="en-US" sz="2400" dirty="0"/>
            </a:br>
            <a:r>
              <a:rPr lang="en-US" sz="2400" dirty="0"/>
              <a:t>Using information systems effectively requires an understanding of the </a:t>
            </a:r>
            <a:r>
              <a:rPr lang="en-US" sz="2400" dirty="0">
                <a:solidFill>
                  <a:srgbClr val="FF0000"/>
                </a:solidFill>
              </a:rPr>
              <a:t>organization</a:t>
            </a:r>
            <a:r>
              <a:rPr lang="en-US" sz="2400" dirty="0"/>
              <a:t>, </a:t>
            </a:r>
            <a:r>
              <a:rPr lang="en-US" sz="2400" dirty="0">
                <a:solidFill>
                  <a:srgbClr val="FF0000"/>
                </a:solidFill>
              </a:rPr>
              <a:t>management</a:t>
            </a:r>
            <a:r>
              <a:rPr lang="en-US" sz="2400" dirty="0"/>
              <a:t>, and </a:t>
            </a:r>
            <a:r>
              <a:rPr lang="en-US" sz="2400" dirty="0">
                <a:solidFill>
                  <a:srgbClr val="FF0000"/>
                </a:solidFill>
              </a:rPr>
              <a:t>information technology </a:t>
            </a:r>
            <a:r>
              <a:rPr lang="en-US" sz="2400" dirty="0"/>
              <a:t>shaping the systems. </a:t>
            </a:r>
            <a:r>
              <a:rPr lang="en-US" sz="2400" dirty="0">
                <a:solidFill>
                  <a:srgbClr val="00B050"/>
                </a:solidFill>
              </a:rPr>
              <a:t>An information system creates value for the organization  as an organizational and management solution to challenges posed by the environment. </a:t>
            </a:r>
            <a:r>
              <a:rPr lang="en-US" sz="2400" dirty="0"/>
              <a:t>The dimensions of information systems include organizations, management, and information technology. </a:t>
            </a:r>
          </a:p>
        </p:txBody>
      </p:sp>
      <p:pic>
        <p:nvPicPr>
          <p:cNvPr id="4" name="image6.jpeg" descr="C:\Users\jreuben\Dropbox\5.PNG"/>
          <p:cNvPicPr>
            <a:picLocks noGrp="1"/>
          </p:cNvPicPr>
          <p:nvPr>
            <p:ph idx="1"/>
          </p:nvPr>
        </p:nvPicPr>
        <p:blipFill>
          <a:blip r:embed="rId2" cstate="print"/>
          <a:stretch>
            <a:fillRect/>
          </a:stretch>
        </p:blipFill>
        <p:spPr>
          <a:xfrm>
            <a:off x="3524250" y="3438525"/>
            <a:ext cx="4552950" cy="2962276"/>
          </a:xfrm>
          <a:prstGeom prst="rect">
            <a:avLst/>
          </a:prstGeom>
        </p:spPr>
      </p:pic>
    </p:spTree>
    <p:extLst>
      <p:ext uri="{BB962C8B-B14F-4D97-AF65-F5344CB8AC3E}">
        <p14:creationId xmlns:p14="http://schemas.microsoft.com/office/powerpoint/2010/main" val="7364163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sz="2800" dirty="0"/>
            </a:br>
            <a:br>
              <a:rPr lang="en-US" sz="2800" dirty="0"/>
            </a:br>
            <a:br>
              <a:rPr lang="en-US" sz="2800" dirty="0"/>
            </a:br>
            <a:br>
              <a:rPr lang="en-US" sz="2800" dirty="0"/>
            </a:br>
            <a:br>
              <a:rPr lang="en-US" sz="2800" dirty="0"/>
            </a:br>
            <a:r>
              <a:rPr lang="en-US" sz="2800" dirty="0"/>
              <a:t>The key elements of an organization are its people, structure, business processes, politics, and culture.</a:t>
            </a:r>
            <a:br>
              <a:rPr lang="en-US" sz="2800" dirty="0"/>
            </a:br>
            <a:r>
              <a:rPr lang="en-US" sz="2800" dirty="0"/>
              <a:t> An organization coordinates work through a structured hierarchy and formal standard operating procedures. Managerial, professional, and technical employees form the upper levels of the organization's hierarchy while lower levels consist of operational personnel.</a:t>
            </a:r>
            <a:br>
              <a:rPr lang="en-US" sz="2800" dirty="0"/>
            </a:br>
            <a:r>
              <a:rPr lang="en-US" sz="2800" dirty="0"/>
              <a:t>Figure 1-6</a:t>
            </a:r>
            <a:br>
              <a:rPr lang="en-US" sz="2800" dirty="0"/>
            </a:br>
            <a:endParaRPr lang="en-US" sz="2800" dirty="0"/>
          </a:p>
        </p:txBody>
      </p:sp>
      <p:pic>
        <p:nvPicPr>
          <p:cNvPr id="4" name="image7.jpeg" descr="C:\Users\jreuben\Dropbox\6.PNG"/>
          <p:cNvPicPr>
            <a:picLocks noGrp="1"/>
          </p:cNvPicPr>
          <p:nvPr>
            <p:ph idx="1"/>
          </p:nvPr>
        </p:nvPicPr>
        <p:blipFill>
          <a:blip r:embed="rId2" cstate="print"/>
          <a:stretch>
            <a:fillRect/>
          </a:stretch>
        </p:blipFill>
        <p:spPr>
          <a:xfrm>
            <a:off x="4191000" y="2895600"/>
            <a:ext cx="5486400" cy="3703638"/>
          </a:xfrm>
          <a:prstGeom prst="rect">
            <a:avLst/>
          </a:prstGeom>
        </p:spPr>
      </p:pic>
    </p:spTree>
    <p:extLst>
      <p:ext uri="{BB962C8B-B14F-4D97-AF65-F5344CB8AC3E}">
        <p14:creationId xmlns:p14="http://schemas.microsoft.com/office/powerpoint/2010/main" val="992296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8229600" cy="715962"/>
          </a:xfrm>
        </p:spPr>
        <p:txBody>
          <a:bodyPr>
            <a:normAutofit/>
          </a:bodyPr>
          <a:lstStyle/>
          <a:p>
            <a:r>
              <a:rPr lang="en-US" dirty="0"/>
              <a:t>LEVELS IN A FIRM</a:t>
            </a:r>
          </a:p>
        </p:txBody>
      </p:sp>
      <p:sp>
        <p:nvSpPr>
          <p:cNvPr id="3" name="Content Placeholder 2"/>
          <p:cNvSpPr>
            <a:spLocks noGrp="1"/>
          </p:cNvSpPr>
          <p:nvPr>
            <p:ph idx="1"/>
          </p:nvPr>
        </p:nvSpPr>
        <p:spPr>
          <a:xfrm>
            <a:off x="1981200" y="886692"/>
            <a:ext cx="8229600" cy="6123708"/>
          </a:xfrm>
        </p:spPr>
        <p:txBody>
          <a:bodyPr>
            <a:normAutofit fontScale="77500" lnSpcReduction="20000"/>
          </a:bodyPr>
          <a:lstStyle/>
          <a:p>
            <a:r>
              <a:rPr lang="en-US" dirty="0"/>
              <a:t>Business organizations are hierarchies consisting of three principal levels: </a:t>
            </a:r>
            <a:r>
              <a:rPr lang="en-US" b="1" dirty="0"/>
              <a:t>senior management, middle management, and operational management</a:t>
            </a:r>
            <a:r>
              <a:rPr lang="en-US" dirty="0"/>
              <a:t>. </a:t>
            </a:r>
            <a:r>
              <a:rPr lang="en-US" dirty="0">
                <a:solidFill>
                  <a:srgbClr val="FF0000"/>
                </a:solidFill>
              </a:rPr>
              <a:t>Information systems serve each of these levels. </a:t>
            </a:r>
          </a:p>
          <a:p>
            <a:r>
              <a:rPr lang="en-US" b="1" dirty="0"/>
              <a:t>Scientists and knowledge </a:t>
            </a:r>
            <a:r>
              <a:rPr lang="en-US" dirty="0"/>
              <a:t>workers often work with middle management. </a:t>
            </a:r>
          </a:p>
          <a:p>
            <a:r>
              <a:rPr lang="en-US" b="1" dirty="0"/>
              <a:t>Senior management </a:t>
            </a:r>
            <a:r>
              <a:rPr lang="en-US" dirty="0"/>
              <a:t>makes long-range strategic decisions and ensures the firm's financial performance.</a:t>
            </a:r>
          </a:p>
          <a:p>
            <a:r>
              <a:rPr lang="en-US" dirty="0"/>
              <a:t> </a:t>
            </a:r>
            <a:r>
              <a:rPr lang="en-US" b="1" dirty="0"/>
              <a:t>Middle management </a:t>
            </a:r>
            <a:r>
              <a:rPr lang="en-US" dirty="0"/>
              <a:t>carries out the plans of senior management and </a:t>
            </a:r>
            <a:r>
              <a:rPr lang="en-US" b="1" dirty="0"/>
              <a:t>operational management </a:t>
            </a:r>
            <a:r>
              <a:rPr lang="en-US" dirty="0"/>
              <a:t>monitors the firm's daily activities. </a:t>
            </a:r>
            <a:r>
              <a:rPr lang="en-US" b="1" dirty="0"/>
              <a:t>Knowledge workers </a:t>
            </a:r>
            <a:r>
              <a:rPr lang="en-US" dirty="0"/>
              <a:t>such as engineers and scientists design products and create and distribute new knowledge for the organization. </a:t>
            </a:r>
          </a:p>
          <a:p>
            <a:r>
              <a:rPr lang="en-US" b="1" dirty="0"/>
              <a:t>Data</a:t>
            </a:r>
            <a:r>
              <a:rPr lang="en-US" dirty="0"/>
              <a:t> </a:t>
            </a:r>
            <a:r>
              <a:rPr lang="en-US" b="1" dirty="0"/>
              <a:t>workers</a:t>
            </a:r>
            <a:r>
              <a:rPr lang="en-US" dirty="0"/>
              <a:t> such as secretaries process the organization's paperwork. </a:t>
            </a:r>
          </a:p>
          <a:p>
            <a:r>
              <a:rPr lang="en-US" b="1" dirty="0"/>
              <a:t>Production or service workers </a:t>
            </a:r>
            <a:r>
              <a:rPr lang="en-US" dirty="0"/>
              <a:t>produce the products or services. </a:t>
            </a:r>
          </a:p>
          <a:p>
            <a:r>
              <a:rPr lang="en-US" b="1" dirty="0"/>
              <a:t>Experts</a:t>
            </a:r>
            <a:r>
              <a:rPr lang="en-US" dirty="0"/>
              <a:t> are employed for the major business functions: the specialized tasks performed by organizations, which consist of sales and marketing, manufacturing and production, finance and accounting, and human resources.</a:t>
            </a:r>
          </a:p>
          <a:p>
            <a:endParaRPr lang="en-US" dirty="0"/>
          </a:p>
        </p:txBody>
      </p:sp>
    </p:spTree>
    <p:extLst>
      <p:ext uri="{BB962C8B-B14F-4D97-AF65-F5344CB8AC3E}">
        <p14:creationId xmlns:p14="http://schemas.microsoft.com/office/powerpoint/2010/main" val="4063227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228600"/>
            <a:ext cx="8229600" cy="6477000"/>
          </a:xfrm>
        </p:spPr>
        <p:txBody>
          <a:bodyPr>
            <a:normAutofit fontScale="92500" lnSpcReduction="20000"/>
          </a:bodyPr>
          <a:lstStyle/>
          <a:p>
            <a:r>
              <a:rPr lang="en-US" dirty="0"/>
              <a:t>Each organization has a unique culture, or fundamental set of assumptions, values, and ways of doing things, that are accepted by most of its members.</a:t>
            </a:r>
          </a:p>
          <a:p>
            <a:r>
              <a:rPr lang="en-US" dirty="0"/>
              <a:t> Parts of an organization's culture can be found in its information systems. For example, UPS's organizational f</a:t>
            </a:r>
            <a:r>
              <a:rPr lang="en-US" dirty="0">
                <a:solidFill>
                  <a:srgbClr val="FF0000"/>
                </a:solidFill>
              </a:rPr>
              <a:t>ocus on customer service </a:t>
            </a:r>
            <a:r>
              <a:rPr lang="en-US" dirty="0"/>
              <a:t>can be found in the package </a:t>
            </a:r>
            <a:r>
              <a:rPr lang="en-US" dirty="0">
                <a:solidFill>
                  <a:srgbClr val="FF0000"/>
                </a:solidFill>
              </a:rPr>
              <a:t>tracking system available to customers. </a:t>
            </a:r>
          </a:p>
          <a:p>
            <a:r>
              <a:rPr lang="en-US" dirty="0"/>
              <a:t>Information systems may also reflect the organizational politics or conflicts that result from differing views and opinions in an organization. Information systems are also a key component in the ability of management to make sense of the challenges facing a company and in management's ability to create new products and services, manage the company, and even re-create the organization from time to time. </a:t>
            </a:r>
            <a:r>
              <a:rPr lang="en-US" dirty="0">
                <a:solidFill>
                  <a:srgbClr val="FF0000"/>
                </a:solidFill>
              </a:rPr>
              <a:t>Information technology is one of the many tools used by management to cope with change.</a:t>
            </a:r>
          </a:p>
          <a:p>
            <a:r>
              <a:rPr lang="en-US" dirty="0"/>
              <a:t> </a:t>
            </a:r>
            <a:r>
              <a:rPr lang="en-US" b="1" dirty="0"/>
              <a:t>A firm's information technology (IT) infrastructure is a technology platform or foundation on which a firm can build its information systems. IT infrastructure consists of:</a:t>
            </a:r>
          </a:p>
          <a:p>
            <a:endParaRPr lang="en-US" dirty="0"/>
          </a:p>
        </p:txBody>
      </p:sp>
    </p:spTree>
    <p:extLst>
      <p:ext uri="{BB962C8B-B14F-4D97-AF65-F5344CB8AC3E}">
        <p14:creationId xmlns:p14="http://schemas.microsoft.com/office/powerpoint/2010/main" val="2572861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52400"/>
            <a:ext cx="8229600" cy="6553200"/>
          </a:xfrm>
        </p:spPr>
        <p:txBody>
          <a:bodyPr>
            <a:normAutofit fontScale="62500" lnSpcReduction="20000"/>
          </a:bodyPr>
          <a:lstStyle/>
          <a:p>
            <a:r>
              <a:rPr lang="en-US" b="1" dirty="0"/>
              <a:t>Computer hardware: </a:t>
            </a:r>
            <a:r>
              <a:rPr lang="en-US" dirty="0"/>
              <a:t>The physical equipment and computing devices used for input, storage, processing, output, and telecommunications</a:t>
            </a:r>
          </a:p>
          <a:p>
            <a:br>
              <a:rPr lang="en-US" dirty="0"/>
            </a:br>
            <a:r>
              <a:rPr lang="en-US" b="1" dirty="0"/>
              <a:t>Computer software: </a:t>
            </a:r>
            <a:r>
              <a:rPr lang="en-US" dirty="0"/>
              <a:t>The detailed, preprogrammed instructions that control and coordinate the computer hardware components</a:t>
            </a:r>
          </a:p>
          <a:p>
            <a:r>
              <a:rPr lang="en-US" b="1" dirty="0"/>
              <a:t>Data management software: </a:t>
            </a:r>
            <a:r>
              <a:rPr lang="en-US" dirty="0"/>
              <a:t>The software governing the organization of data on physical storage media</a:t>
            </a:r>
          </a:p>
          <a:p>
            <a:r>
              <a:rPr lang="en-US" b="1" dirty="0"/>
              <a:t>Networking and telecommunications technology</a:t>
            </a:r>
            <a:r>
              <a:rPr lang="en-US" dirty="0"/>
              <a:t>: Hardware and software used to link the various pieces of hardware and transfer data from one physical location to another; a computer network links two or more computers together to share data, such as files, images, sounds, video, or share resources, such as a printer.</a:t>
            </a:r>
          </a:p>
          <a:p>
            <a:endParaRPr lang="en-US" dirty="0"/>
          </a:p>
          <a:p>
            <a:r>
              <a:rPr lang="en-US" dirty="0"/>
              <a:t>T</a:t>
            </a:r>
            <a:r>
              <a:rPr lang="en-US" b="1" dirty="0"/>
              <a:t>he Internet is the world's largest and most widely used network. </a:t>
            </a:r>
            <a:r>
              <a:rPr lang="en-US" dirty="0"/>
              <a:t>The Internet is a global network that uses universal technology standards to connect many private and public networks. The universal standards and technologies used in the Internet are also used in systems and networks within the firm. </a:t>
            </a:r>
          </a:p>
          <a:p>
            <a:r>
              <a:rPr lang="en-US" b="1" dirty="0">
                <a:solidFill>
                  <a:srgbClr val="FF0000"/>
                </a:solidFill>
              </a:rPr>
              <a:t>Intranets</a:t>
            </a:r>
            <a:r>
              <a:rPr lang="en-US" dirty="0">
                <a:solidFill>
                  <a:srgbClr val="FF0000"/>
                </a:solidFill>
              </a:rPr>
              <a:t> </a:t>
            </a:r>
            <a:r>
              <a:rPr lang="en-US" dirty="0"/>
              <a:t>are internal corporate networks based on Internet technology, and </a:t>
            </a:r>
            <a:r>
              <a:rPr lang="en-US" b="1" dirty="0">
                <a:solidFill>
                  <a:srgbClr val="FF0000"/>
                </a:solidFill>
              </a:rPr>
              <a:t>extranets</a:t>
            </a:r>
            <a:r>
              <a:rPr lang="en-US" dirty="0">
                <a:solidFill>
                  <a:srgbClr val="FF0000"/>
                </a:solidFill>
              </a:rPr>
              <a:t> </a:t>
            </a:r>
            <a:r>
              <a:rPr lang="en-US" dirty="0"/>
              <a:t>are corporate networks extended to authorized users outside of the firm</a:t>
            </a:r>
            <a:r>
              <a:rPr lang="en-US" b="1" dirty="0"/>
              <a:t>.</a:t>
            </a:r>
          </a:p>
          <a:p>
            <a:r>
              <a:rPr lang="en-US" b="1" dirty="0"/>
              <a:t>The World Wide Web </a:t>
            </a:r>
            <a:r>
              <a:rPr lang="en-US" dirty="0"/>
              <a:t>is a service provided by the Internet that uses universally accepted standards for storing, retrieving, formatting, and displaying information in a page format on the Internet. Web pages contain text, graphics, animations, sound, and video and are linked to other Web pages. The Web can serve as the foundation for new kinds of information systems such as UPS's Web-based package tracking system</a:t>
            </a:r>
          </a:p>
          <a:p>
            <a:endParaRPr lang="en-US" dirty="0"/>
          </a:p>
          <a:p>
            <a:endParaRPr lang="en-US" dirty="0"/>
          </a:p>
        </p:txBody>
      </p:sp>
    </p:spTree>
    <p:extLst>
      <p:ext uri="{BB962C8B-B14F-4D97-AF65-F5344CB8AC3E}">
        <p14:creationId xmlns:p14="http://schemas.microsoft.com/office/powerpoint/2010/main" val="13215449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76201"/>
            <a:ext cx="8229600" cy="6049963"/>
          </a:xfrm>
        </p:spPr>
        <p:txBody>
          <a:bodyPr>
            <a:normAutofit fontScale="92500"/>
          </a:bodyPr>
          <a:lstStyle/>
          <a:p>
            <a:r>
              <a:rPr lang="en-US" dirty="0">
                <a:solidFill>
                  <a:srgbClr val="FF0000"/>
                </a:solidFill>
              </a:rPr>
              <a:t>From a business perspective, an information system is an important instrument for creating value for the firm.</a:t>
            </a:r>
          </a:p>
          <a:p>
            <a:r>
              <a:rPr lang="en-US" dirty="0"/>
              <a:t> Information systems enable the firm to increase its </a:t>
            </a:r>
            <a:r>
              <a:rPr lang="en-US" b="1" dirty="0"/>
              <a:t>revenue or decrease its costs </a:t>
            </a:r>
            <a:r>
              <a:rPr lang="en-US" dirty="0"/>
              <a:t>by providing information that helps managers make better decisions or that improves the execution of business processes.</a:t>
            </a:r>
          </a:p>
          <a:p>
            <a:r>
              <a:rPr lang="en-US" dirty="0"/>
              <a:t>Every business has an information value chain in which raw data is systematically acquired and then transformed through various stages that add value to that information.</a:t>
            </a:r>
          </a:p>
          <a:p>
            <a:r>
              <a:rPr lang="en-US" dirty="0"/>
              <a:t> </a:t>
            </a:r>
            <a:r>
              <a:rPr lang="en-US" b="1" dirty="0"/>
              <a:t>The value of an information system to a business, as well as the decision to invest in any new information system, is, in large part, determined by the extent to which the system will lead to better management decisions, more efficient business processes, and higher firm profitability</a:t>
            </a:r>
          </a:p>
        </p:txBody>
      </p:sp>
    </p:spTree>
    <p:extLst>
      <p:ext uri="{BB962C8B-B14F-4D97-AF65-F5344CB8AC3E}">
        <p14:creationId xmlns:p14="http://schemas.microsoft.com/office/powerpoint/2010/main" val="1410351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THE BUSINESS INFORMATION VALUE CHAIN</a:t>
            </a:r>
          </a:p>
        </p:txBody>
      </p:sp>
      <p:pic>
        <p:nvPicPr>
          <p:cNvPr id="4" name="image8.jpeg" descr="C:\Users\jreuben\Dropbox\7.PNG"/>
          <p:cNvPicPr>
            <a:picLocks noGrp="1"/>
          </p:cNvPicPr>
          <p:nvPr>
            <p:ph idx="1"/>
          </p:nvPr>
        </p:nvPicPr>
        <p:blipFill>
          <a:blip r:embed="rId2" cstate="print"/>
          <a:stretch>
            <a:fillRect/>
          </a:stretch>
        </p:blipFill>
        <p:spPr>
          <a:xfrm>
            <a:off x="1905000" y="2011362"/>
            <a:ext cx="8382000" cy="3703638"/>
          </a:xfrm>
          <a:prstGeom prst="rect">
            <a:avLst/>
          </a:prstGeom>
        </p:spPr>
      </p:pic>
    </p:spTree>
    <p:extLst>
      <p:ext uri="{BB962C8B-B14F-4D97-AF65-F5344CB8AC3E}">
        <p14:creationId xmlns:p14="http://schemas.microsoft.com/office/powerpoint/2010/main" val="2911248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04801"/>
            <a:ext cx="8229600" cy="5821363"/>
          </a:xfrm>
        </p:spPr>
        <p:txBody>
          <a:bodyPr>
            <a:normAutofit fontScale="85000" lnSpcReduction="10000"/>
          </a:bodyPr>
          <a:lstStyle/>
          <a:p>
            <a:r>
              <a:rPr lang="en-US" dirty="0">
                <a:solidFill>
                  <a:srgbClr val="FF0000"/>
                </a:solidFill>
              </a:rPr>
              <a:t>From a business perspective, information systems are part of a series of value-adding activities for acquiring, transforming, and distributing information that managers can use to improve decision making, enhance organizational performance, and ultimately increase firm profitability.</a:t>
            </a:r>
          </a:p>
          <a:p>
            <a:r>
              <a:rPr lang="en-US" b="1" dirty="0"/>
              <a:t>The business perspective calls attention to the organizational and managerial nature of information systems. </a:t>
            </a:r>
            <a:r>
              <a:rPr lang="en-US" b="1" dirty="0">
                <a:solidFill>
                  <a:srgbClr val="FF0000"/>
                </a:solidFill>
              </a:rPr>
              <a:t>An information system represents an </a:t>
            </a:r>
            <a:r>
              <a:rPr lang="en-US" b="1" dirty="0">
                <a:solidFill>
                  <a:srgbClr val="92D050"/>
                </a:solidFill>
              </a:rPr>
              <a:t>organizational</a:t>
            </a:r>
            <a:r>
              <a:rPr lang="en-US" b="1" dirty="0">
                <a:solidFill>
                  <a:srgbClr val="FF0000"/>
                </a:solidFill>
              </a:rPr>
              <a:t> and </a:t>
            </a:r>
            <a:r>
              <a:rPr lang="en-US" b="1" dirty="0">
                <a:solidFill>
                  <a:srgbClr val="92D050"/>
                </a:solidFill>
              </a:rPr>
              <a:t>management</a:t>
            </a:r>
            <a:r>
              <a:rPr lang="en-US" b="1" dirty="0">
                <a:solidFill>
                  <a:srgbClr val="FF0000"/>
                </a:solidFill>
              </a:rPr>
              <a:t> solution based on information technology to a challenge or problem posed by the environment.</a:t>
            </a:r>
          </a:p>
          <a:p>
            <a:r>
              <a:rPr lang="en-US" dirty="0"/>
              <a:t>Some firms achieve better results from their information systems than others. </a:t>
            </a:r>
            <a:r>
              <a:rPr lang="en-US" dirty="0">
                <a:solidFill>
                  <a:srgbClr val="FF0000"/>
                </a:solidFill>
              </a:rPr>
              <a:t>Studies of returns from information technology investments show that there is considerable variation in the returns firms receive. </a:t>
            </a:r>
            <a:r>
              <a:rPr lang="en-US" dirty="0"/>
              <a:t>Reasons for lower return on investment include failure to adopt the right business model that suits the new technology or seeking to preserve an old business model that is doomed by new technology.</a:t>
            </a:r>
          </a:p>
          <a:p>
            <a:pPr marL="0" indent="0">
              <a:buNone/>
            </a:pPr>
            <a:endParaRPr lang="en-US" dirty="0"/>
          </a:p>
        </p:txBody>
      </p:sp>
    </p:spTree>
    <p:extLst>
      <p:ext uri="{BB962C8B-B14F-4D97-AF65-F5344CB8AC3E}">
        <p14:creationId xmlns:p14="http://schemas.microsoft.com/office/powerpoint/2010/main" val="3055239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Although, on average, investments in information technology produce returns far above those returned by other investments, there is considerable variation across firms.</a:t>
            </a:r>
          </a:p>
          <a:p>
            <a:r>
              <a:rPr lang="en-US" dirty="0">
                <a:solidFill>
                  <a:srgbClr val="FF0000"/>
                </a:solidFill>
              </a:rPr>
              <a:t>Information technology investments cannot make organizations and managers more effective unless they are accompanied by complementary assets: assets required to derive value from a primary investment. </a:t>
            </a:r>
            <a:r>
              <a:rPr lang="en-US" dirty="0"/>
              <a:t>For instance, to realize value from automobiles requires complementary investments in highways, roads, gasoline stations, repair facilities, and a legal regulatory structure to set standards and control drivers.</a:t>
            </a:r>
          </a:p>
          <a:p>
            <a:endParaRPr lang="en-US" dirty="0"/>
          </a:p>
        </p:txBody>
      </p:sp>
    </p:spTree>
    <p:extLst>
      <p:ext uri="{BB962C8B-B14F-4D97-AF65-F5344CB8AC3E}">
        <p14:creationId xmlns:p14="http://schemas.microsoft.com/office/powerpoint/2010/main" val="20151674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228600"/>
            <a:ext cx="8229600" cy="6781800"/>
          </a:xfrm>
        </p:spPr>
        <p:txBody>
          <a:bodyPr>
            <a:normAutofit fontScale="85000" lnSpcReduction="10000"/>
          </a:bodyPr>
          <a:lstStyle/>
          <a:p>
            <a:r>
              <a:rPr lang="en-US" b="1" dirty="0">
                <a:solidFill>
                  <a:srgbClr val="FF0000"/>
                </a:solidFill>
              </a:rPr>
              <a:t>Complementary investments include: </a:t>
            </a:r>
          </a:p>
          <a:p>
            <a:r>
              <a:rPr lang="en-US" b="1" dirty="0"/>
              <a:t>Organizational assets: </a:t>
            </a:r>
            <a:r>
              <a:rPr lang="en-US" dirty="0"/>
              <a:t>These include a supportive business culture that values efficiency and effectiveness, an appropriate business model, efficient business processes, decentralization of authority, highly distributed decision rights, and a strong information system (IS) development team.</a:t>
            </a:r>
          </a:p>
          <a:p>
            <a:r>
              <a:rPr lang="en-US" b="1" dirty="0"/>
              <a:t>Managerial assets</a:t>
            </a:r>
            <a:r>
              <a:rPr lang="en-US" dirty="0"/>
              <a:t>: These include strong senior management support for change, incentive systems that monitor and reward individual innovation, an emphasis on teamwork and collaboration, training programs, and a management culture that values flexibility and knowledge.</a:t>
            </a:r>
          </a:p>
          <a:p>
            <a:r>
              <a:rPr lang="en-US" b="1" dirty="0"/>
              <a:t>Social assets: </a:t>
            </a:r>
            <a:r>
              <a:rPr lang="en-US" dirty="0"/>
              <a:t>These are not made by the firm but by the society at large, other firms, governments, and other key market actors, such as the Internet, educational systems, network and computing standards, regulations and laws, and the presence of technology and service firms.</a:t>
            </a:r>
          </a:p>
          <a:p>
            <a:r>
              <a:rPr lang="en-US" dirty="0">
                <a:solidFill>
                  <a:srgbClr val="FF0000"/>
                </a:solidFill>
              </a:rPr>
              <a:t>Research indicates that firms that support their technology investments with investments in complementary assets, such as new business processes or training, receive superior returns. </a:t>
            </a:r>
            <a:r>
              <a:rPr lang="en-US" dirty="0"/>
              <a:t>These investments in organization and management are also known as organizational and management capital.</a:t>
            </a:r>
          </a:p>
          <a:p>
            <a:endParaRPr lang="en-US" dirty="0"/>
          </a:p>
        </p:txBody>
      </p:sp>
    </p:spTree>
    <p:extLst>
      <p:ext uri="{BB962C8B-B14F-4D97-AF65-F5344CB8AC3E}">
        <p14:creationId xmlns:p14="http://schemas.microsoft.com/office/powerpoint/2010/main" val="36864581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11162"/>
          </a:xfrm>
        </p:spPr>
        <p:txBody>
          <a:bodyPr>
            <a:normAutofit fontScale="90000"/>
          </a:bodyPr>
          <a:lstStyle/>
          <a:p>
            <a:r>
              <a:rPr lang="en-US" sz="3200" b="1" u="heavy" dirty="0"/>
              <a:t>Contemporary Approaches to Information Systems</a:t>
            </a:r>
            <a:br>
              <a:rPr lang="en-US" sz="3200" dirty="0"/>
            </a:br>
            <a:endParaRPr lang="en-US" sz="3200" dirty="0"/>
          </a:p>
        </p:txBody>
      </p:sp>
      <p:sp>
        <p:nvSpPr>
          <p:cNvPr id="3" name="Content Placeholder 2"/>
          <p:cNvSpPr>
            <a:spLocks noGrp="1"/>
          </p:cNvSpPr>
          <p:nvPr>
            <p:ph idx="1"/>
          </p:nvPr>
        </p:nvSpPr>
        <p:spPr>
          <a:xfrm>
            <a:off x="1981200" y="609600"/>
            <a:ext cx="8915400" cy="6248400"/>
          </a:xfrm>
        </p:spPr>
        <p:txBody>
          <a:bodyPr>
            <a:normAutofit/>
          </a:bodyPr>
          <a:lstStyle/>
          <a:p>
            <a:r>
              <a:rPr lang="en-US" dirty="0"/>
              <a:t>Information systems are sociotechnical systems. Although they are composed of machines, devices, and "hard" physical technology, they require substantial social, organizational, and intellectual investments to make them work properly. </a:t>
            </a:r>
          </a:p>
          <a:p>
            <a:r>
              <a:rPr lang="en-US" dirty="0"/>
              <a:t>Since problems with information systems—and their solutions—are rarely all technical or behavioral, a multidisciplinary approach is	needed.</a:t>
            </a:r>
          </a:p>
          <a:p>
            <a:r>
              <a:rPr lang="en-US" dirty="0"/>
              <a:t>Figure 1-9 below </a:t>
            </a:r>
          </a:p>
          <a:p>
            <a:endParaRPr lang="en-US" dirty="0"/>
          </a:p>
        </p:txBody>
      </p:sp>
    </p:spTree>
    <p:extLst>
      <p:ext uri="{BB962C8B-B14F-4D97-AF65-F5344CB8AC3E}">
        <p14:creationId xmlns:p14="http://schemas.microsoft.com/office/powerpoint/2010/main" val="33578834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dirty="0"/>
              <a:t>FIGURE 1-9 CONTEMPORARY APPROACHES TO INFORMATION SYSTEMS</a:t>
            </a:r>
            <a:br>
              <a:rPr lang="en-US" dirty="0"/>
            </a:br>
            <a:endParaRPr lang="en-US" dirty="0"/>
          </a:p>
        </p:txBody>
      </p:sp>
      <p:pic>
        <p:nvPicPr>
          <p:cNvPr id="4" name="image10.jpeg" descr="C:\Users\jreuben\Dropbox\1.PNG"/>
          <p:cNvPicPr>
            <a:picLocks noGrp="1"/>
          </p:cNvPicPr>
          <p:nvPr>
            <p:ph idx="1"/>
          </p:nvPr>
        </p:nvPicPr>
        <p:blipFill>
          <a:blip r:embed="rId2" cstate="print"/>
          <a:stretch>
            <a:fillRect/>
          </a:stretch>
        </p:blipFill>
        <p:spPr>
          <a:xfrm>
            <a:off x="2286000" y="1630363"/>
            <a:ext cx="7620000" cy="4465638"/>
          </a:xfrm>
          <a:prstGeom prst="rect">
            <a:avLst/>
          </a:prstGeom>
        </p:spPr>
      </p:pic>
    </p:spTree>
    <p:extLst>
      <p:ext uri="{BB962C8B-B14F-4D97-AF65-F5344CB8AC3E}">
        <p14:creationId xmlns:p14="http://schemas.microsoft.com/office/powerpoint/2010/main" val="26336707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0"/>
            <a:ext cx="8229600" cy="6858000"/>
          </a:xfrm>
        </p:spPr>
        <p:txBody>
          <a:bodyPr>
            <a:normAutofit fontScale="70000" lnSpcReduction="20000"/>
          </a:bodyPr>
          <a:lstStyle/>
          <a:p>
            <a:r>
              <a:rPr lang="en-US" dirty="0">
                <a:solidFill>
                  <a:srgbClr val="FF0000"/>
                </a:solidFill>
              </a:rPr>
              <a:t>The study of information systems deals </a:t>
            </a:r>
            <a:r>
              <a:rPr lang="en-US" dirty="0"/>
              <a:t>with issues and insights contributed from </a:t>
            </a:r>
            <a:r>
              <a:rPr lang="en-US" dirty="0">
                <a:solidFill>
                  <a:srgbClr val="FF0000"/>
                </a:solidFill>
              </a:rPr>
              <a:t>technical</a:t>
            </a:r>
            <a:r>
              <a:rPr lang="en-US" dirty="0"/>
              <a:t> and </a:t>
            </a:r>
            <a:r>
              <a:rPr lang="en-US" dirty="0">
                <a:solidFill>
                  <a:srgbClr val="FF0000"/>
                </a:solidFill>
              </a:rPr>
              <a:t>behavioral</a:t>
            </a:r>
            <a:r>
              <a:rPr lang="en-US" dirty="0"/>
              <a:t> disciplines.</a:t>
            </a:r>
          </a:p>
          <a:p>
            <a:r>
              <a:rPr lang="en-US" b="1" dirty="0"/>
              <a:t>The technical approach </a:t>
            </a:r>
            <a:r>
              <a:rPr lang="en-US" dirty="0"/>
              <a:t>emphasizes mathematically based, normative models to study information systems, as well as the physical technology and formal capabilities of these systems. </a:t>
            </a:r>
          </a:p>
          <a:p>
            <a:r>
              <a:rPr lang="en-US" b="1" dirty="0"/>
              <a:t>The behavioral approach, </a:t>
            </a:r>
            <a:r>
              <a:rPr lang="en-US" dirty="0"/>
              <a:t>a growing part of the information systems field, does not ignore technology, but tends to focus on non-technical solutions concentrating instead on changes in attitudes, management and organizational policy, and behavior.</a:t>
            </a:r>
          </a:p>
          <a:p>
            <a:r>
              <a:rPr lang="en-US" b="1" dirty="0">
                <a:solidFill>
                  <a:srgbClr val="FF0000"/>
                </a:solidFill>
              </a:rPr>
              <a:t> MIS </a:t>
            </a:r>
            <a:r>
              <a:rPr lang="en-US" dirty="0">
                <a:solidFill>
                  <a:srgbClr val="FF0000"/>
                </a:solidFill>
              </a:rPr>
              <a:t>combines the work of computer science, management science, and operations research with a practical orientation toward developing system solutions to real-world problems and managing information technology resources.</a:t>
            </a:r>
          </a:p>
          <a:p>
            <a:r>
              <a:rPr lang="en-US" dirty="0"/>
              <a:t> It is also concerned with behavioral issues surrounding the development, use, and impact of information systems, which are typically discussed in the fields of sociology, economics, and psychology. </a:t>
            </a:r>
          </a:p>
          <a:p>
            <a:r>
              <a:rPr lang="en-US" dirty="0"/>
              <a:t>In the sociotechnical view of systems, optimal organizational performance is achieved by jointly optimizing both the social and technical systems used in production. Adopting a sociotechnical systems perspective helps to avoid a purely technological approach to information systems. </a:t>
            </a:r>
          </a:p>
          <a:p>
            <a:r>
              <a:rPr lang="en-US" b="1" dirty="0"/>
              <a:t>Technology must be changed and designed, sometimes even "de-optimized," to fit organizational and individual needs. Organizations and individuals must also be changed through training, learning, and planned organizational change to allow technology to operate and prosper.</a:t>
            </a:r>
          </a:p>
          <a:p>
            <a:endParaRPr lang="en-US" dirty="0"/>
          </a:p>
        </p:txBody>
      </p:sp>
    </p:spTree>
    <p:extLst>
      <p:ext uri="{BB962C8B-B14F-4D97-AF65-F5344CB8AC3E}">
        <p14:creationId xmlns:p14="http://schemas.microsoft.com/office/powerpoint/2010/main" val="14747056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US" sz="2800" dirty="0"/>
            </a:br>
            <a:br>
              <a:rPr lang="en-US" sz="2800" dirty="0"/>
            </a:br>
            <a:br>
              <a:rPr lang="en-US" sz="2800" dirty="0"/>
            </a:br>
            <a:r>
              <a:rPr lang="en-US" sz="2800" dirty="0"/>
              <a:t>In a sociotechnical perspective, the performance of a system is optimized when both the technology and the organization mutually adjust to one another until a satisfactory fit is obtained.</a:t>
            </a:r>
            <a:br>
              <a:rPr lang="en-US" sz="2800" dirty="0"/>
            </a:br>
            <a:endParaRPr lang="en-US" sz="2800" dirty="0"/>
          </a:p>
        </p:txBody>
      </p:sp>
      <p:pic>
        <p:nvPicPr>
          <p:cNvPr id="4" name="image11.jpeg" descr="C:\Users\jreuben\Dropbox\2.PNG"/>
          <p:cNvPicPr>
            <a:picLocks noGrp="1"/>
          </p:cNvPicPr>
          <p:nvPr>
            <p:ph idx="1"/>
          </p:nvPr>
        </p:nvPicPr>
        <p:blipFill>
          <a:blip r:embed="rId2" cstate="print"/>
          <a:stretch>
            <a:fillRect/>
          </a:stretch>
        </p:blipFill>
        <p:spPr>
          <a:xfrm>
            <a:off x="2133600" y="2667000"/>
            <a:ext cx="8077200" cy="3398838"/>
          </a:xfrm>
          <a:prstGeom prst="rect">
            <a:avLst/>
          </a:prstGeom>
        </p:spPr>
      </p:pic>
    </p:spTree>
    <p:extLst>
      <p:ext uri="{BB962C8B-B14F-4D97-AF65-F5344CB8AC3E}">
        <p14:creationId xmlns:p14="http://schemas.microsoft.com/office/powerpoint/2010/main" val="6276378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Week 1 Activities &amp; Questions</a:t>
            </a:r>
          </a:p>
        </p:txBody>
      </p:sp>
      <p:sp>
        <p:nvSpPr>
          <p:cNvPr id="3" name="Content Placeholder 2"/>
          <p:cNvSpPr>
            <a:spLocks noGrp="1"/>
          </p:cNvSpPr>
          <p:nvPr>
            <p:ph idx="1"/>
          </p:nvPr>
        </p:nvSpPr>
        <p:spPr/>
        <p:txBody>
          <a:bodyPr>
            <a:normAutofit fontScale="92500" lnSpcReduction="10000"/>
          </a:bodyPr>
          <a:lstStyle/>
          <a:p>
            <a:r>
              <a:rPr dirty="0"/>
              <a:t>Activity</a:t>
            </a:r>
            <a:r>
              <a:rPr lang="en-US" dirty="0"/>
              <a:t> 1</a:t>
            </a:r>
            <a:r>
              <a:rPr dirty="0"/>
              <a:t>: Groups identify MIS in banks, hospitals, universities.</a:t>
            </a:r>
          </a:p>
          <a:p>
            <a:endParaRPr dirty="0"/>
          </a:p>
          <a:p>
            <a:r>
              <a:rPr dirty="0"/>
              <a:t>Discussion:</a:t>
            </a:r>
          </a:p>
          <a:p>
            <a:r>
              <a:rPr dirty="0"/>
              <a:t>1. Why is MIS vital for managers today?</a:t>
            </a:r>
          </a:p>
          <a:p>
            <a:r>
              <a:rPr dirty="0"/>
              <a:t>2. How is MIS different from raw data systems?</a:t>
            </a:r>
          </a:p>
          <a:p>
            <a:r>
              <a:rPr dirty="0"/>
              <a:t>3. Which MIS component is most critical?</a:t>
            </a:r>
            <a:endParaRPr lang="en-US" dirty="0"/>
          </a:p>
          <a:p>
            <a:endParaRPr lang="en-US" dirty="0"/>
          </a:p>
          <a:p>
            <a:r>
              <a:rPr lang="en-US" dirty="0"/>
              <a:t>Group Activity 2: Discuss a local company (e.g., Safaricom, Kenya Power). Analyze how MIS supports its operations. Output: 5-minute group presentation.</a:t>
            </a:r>
          </a:p>
          <a:p>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TotalTime>
  <Words>2916</Words>
  <Application>Microsoft Office PowerPoint</Application>
  <PresentationFormat>Widescreen</PresentationFormat>
  <Paragraphs>134</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Calibri Light</vt:lpstr>
      <vt:lpstr>Wingdings</vt:lpstr>
      <vt:lpstr>Office Theme</vt:lpstr>
      <vt:lpstr>PowerPoint Presentation</vt:lpstr>
      <vt:lpstr>Management Information Systems (MIS)</vt:lpstr>
      <vt:lpstr>Week 1: Introduction to MIS - Learning Objectives</vt:lpstr>
      <vt:lpstr>Definition and Importance of MIS</vt:lpstr>
      <vt:lpstr>Information Systems in Global organizations/ Business Today </vt:lpstr>
      <vt:lpstr>Discussion points </vt:lpstr>
      <vt:lpstr>The Role of Information Systems in Organizations/Business Today… </vt:lpstr>
      <vt:lpstr>PowerPoint Presentation</vt:lpstr>
      <vt:lpstr>FIGURE 1-2 THE INTERDEPENDENCE BETWEEN ORGANIZATIONS AND INFORMATION SYSTEMS</vt:lpstr>
      <vt:lpstr>PowerPoint Presentation</vt:lpstr>
      <vt:lpstr> Perspectives on Information Systems </vt:lpstr>
      <vt:lpstr>FIGURE 1-3 DATA AND INFORMATION </vt:lpstr>
      <vt:lpstr>PowerPoint Presentation</vt:lpstr>
      <vt:lpstr>FIGURE 1-4 FUNCTIONS OF AN INFORMATION SYSTEM </vt:lpstr>
      <vt:lpstr>PowerPoint Presentation</vt:lpstr>
      <vt:lpstr>Role of MIS in Organizations</vt:lpstr>
      <vt:lpstr>Components of MIS</vt:lpstr>
      <vt:lpstr>    Using information systems effectively requires an understanding of the organization, management, and information technology shaping the systems. An information system creates value for the organization  as an organizational and management solution to challenges posed by the environment. The dimensions of information systems include organizations, management, and information technology. </vt:lpstr>
      <vt:lpstr>     The key elements of an organization are its people, structure, business processes, politics, and culture.  An organization coordinates work through a structured hierarchy and formal standard operating procedures. Managerial, professional, and technical employees form the upper levels of the organization's hierarchy while lower levels consist of operational personnel. Figure 1-6 </vt:lpstr>
      <vt:lpstr>LEVELS IN A FIRM</vt:lpstr>
      <vt:lpstr>PowerPoint Presentation</vt:lpstr>
      <vt:lpstr>PowerPoint Presentation</vt:lpstr>
      <vt:lpstr>PowerPoint Presentation</vt:lpstr>
      <vt:lpstr>THE BUSINESS INFORMATION VALUE CHAIN</vt:lpstr>
      <vt:lpstr>PowerPoint Presentation</vt:lpstr>
      <vt:lpstr>PowerPoint Presentation</vt:lpstr>
      <vt:lpstr>PowerPoint Presentation</vt:lpstr>
      <vt:lpstr>Contemporary Approaches to Information Systems </vt:lpstr>
      <vt:lpstr>FIGURE 1-9 CONTEMPORARY APPROACHES TO INFORMATION SYSTEMS </vt:lpstr>
      <vt:lpstr>PowerPoint Presentation</vt:lpstr>
      <vt:lpstr>   In a sociotechnical perspective, the performance of a system is optimized when both the technology and the organization mutually adjust to one another until a satisfactory fit is obtained. </vt:lpstr>
      <vt:lpstr>Week 1 Activities &amp;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4</cp:revision>
  <dcterms:created xsi:type="dcterms:W3CDTF">2025-09-01T05:11:05Z</dcterms:created>
  <dcterms:modified xsi:type="dcterms:W3CDTF">2025-09-08T19:12:24Z</dcterms:modified>
</cp:coreProperties>
</file>