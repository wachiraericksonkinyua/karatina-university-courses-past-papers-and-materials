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4"/>
  </p:notesMasterIdLst>
  <p:sldIdLst>
    <p:sldId id="256" r:id="rId2"/>
    <p:sldId id="257" r:id="rId3"/>
    <p:sldId id="272" r:id="rId4"/>
    <p:sldId id="271" r:id="rId5"/>
    <p:sldId id="273" r:id="rId6"/>
    <p:sldId id="258" r:id="rId7"/>
    <p:sldId id="259" r:id="rId8"/>
    <p:sldId id="274" r:id="rId9"/>
    <p:sldId id="260" r:id="rId10"/>
    <p:sldId id="261" r:id="rId11"/>
    <p:sldId id="262" r:id="rId12"/>
    <p:sldId id="263" r:id="rId13"/>
    <p:sldId id="280" r:id="rId14"/>
    <p:sldId id="264" r:id="rId15"/>
    <p:sldId id="265" r:id="rId16"/>
    <p:sldId id="266" r:id="rId17"/>
    <p:sldId id="267" r:id="rId18"/>
    <p:sldId id="268" r:id="rId19"/>
    <p:sldId id="281" r:id="rId20"/>
    <p:sldId id="282" r:id="rId21"/>
    <p:sldId id="283" r:id="rId22"/>
    <p:sldId id="284" r:id="rId23"/>
    <p:sldId id="285" r:id="rId24"/>
    <p:sldId id="286" r:id="rId25"/>
    <p:sldId id="287" r:id="rId26"/>
    <p:sldId id="288" r:id="rId27"/>
    <p:sldId id="289" r:id="rId28"/>
    <p:sldId id="290" r:id="rId29"/>
    <p:sldId id="291" r:id="rId30"/>
    <p:sldId id="292" r:id="rId31"/>
    <p:sldId id="269" r:id="rId32"/>
    <p:sldId id="270" r:id="rId3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92" d="100"/>
          <a:sy n="92" d="100"/>
        </p:scale>
        <p:origin x="1098" y="6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61DED72-B404-43FE-9A50-9425201F8319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2BB677-E73A-4F43-951A-0A5C96D935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90463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2BB677-E73A-4F43-951A-0A5C96D9354F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80814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/>
              <a:t>MIS &amp; E‑Business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b="1" dirty="0"/>
              <a:t>E‑Commerce Systems · Digital Platforms · Mobile MIS Applications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Learning Outcomes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t>Explain the role of MIS in supporting e‑business and e‑commerce.</a:t>
            </a:r>
          </a:p>
          <a:p>
            <a:r>
              <a:t>Describe components and architecture of e‑commerce systems.</a:t>
            </a:r>
          </a:p>
          <a:p>
            <a:r>
              <a:t>Analyse how digital platforms create and capture value.</a:t>
            </a:r>
          </a:p>
          <a:p>
            <a:r>
              <a:t>Evaluate mobile MIS applications in Kenyan organizations.</a:t>
            </a:r>
          </a:p>
          <a:p>
            <a:r>
              <a:t>Apply concepts using local examples (e.g., M‑Pesa, Jumia, KRA iTax).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40E5334B-0C04-E249-A8A0-51C194612BA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04800" y="381000"/>
            <a:ext cx="8534400" cy="990600"/>
          </a:xfrm>
        </p:spPr>
        <p:txBody>
          <a:bodyPr/>
          <a:lstStyle/>
          <a:p>
            <a:r>
              <a:rPr lang="en-US" altLang="en-US"/>
              <a:t>Definition: Electronic Commerce</a:t>
            </a:r>
          </a:p>
        </p:txBody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D8E97AED-5573-D408-FF93-86B89E5B412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905000"/>
            <a:ext cx="8382000" cy="4267200"/>
          </a:xfrm>
        </p:spPr>
        <p:txBody>
          <a:bodyPr/>
          <a:lstStyle/>
          <a:p>
            <a:pPr>
              <a:lnSpc>
                <a:spcPct val="130000"/>
              </a:lnSpc>
            </a:pPr>
            <a:r>
              <a:rPr lang="en-US" altLang="en-US" sz="3200"/>
              <a:t>Any </a:t>
            </a:r>
            <a:r>
              <a:rPr lang="en-US" altLang="en-US" sz="3200">
                <a:solidFill>
                  <a:srgbClr val="CC0000"/>
                </a:solidFill>
              </a:rPr>
              <a:t>transaction</a:t>
            </a:r>
            <a:r>
              <a:rPr lang="en-US" altLang="en-US" sz="3200"/>
              <a:t> completed over a computer-mediated network that involves the </a:t>
            </a:r>
            <a:r>
              <a:rPr lang="en-US" altLang="en-US" sz="3200">
                <a:solidFill>
                  <a:srgbClr val="CC0000"/>
                </a:solidFill>
              </a:rPr>
              <a:t>transfer of ownership</a:t>
            </a:r>
            <a:r>
              <a:rPr lang="en-US" altLang="en-US" sz="3200"/>
              <a:t> </a:t>
            </a:r>
            <a:r>
              <a:rPr lang="en-US" altLang="en-US" sz="3200">
                <a:solidFill>
                  <a:srgbClr val="CC0000"/>
                </a:solidFill>
              </a:rPr>
              <a:t>or rights</a:t>
            </a:r>
            <a:r>
              <a:rPr lang="en-US" altLang="en-US" sz="3200"/>
              <a:t> </a:t>
            </a:r>
            <a:r>
              <a:rPr lang="en-US" altLang="en-US" sz="3200">
                <a:solidFill>
                  <a:srgbClr val="CC0000"/>
                </a:solidFill>
              </a:rPr>
              <a:t>to use</a:t>
            </a:r>
            <a:r>
              <a:rPr lang="en-US" altLang="en-US" sz="3200"/>
              <a:t> </a:t>
            </a:r>
            <a:r>
              <a:rPr lang="en-US" altLang="en-US" sz="3200">
                <a:solidFill>
                  <a:srgbClr val="CC0000"/>
                </a:solidFill>
              </a:rPr>
              <a:t>goods or services</a:t>
            </a:r>
            <a:r>
              <a:rPr lang="en-US" altLang="en-US" sz="3200"/>
              <a:t>.  </a:t>
            </a:r>
          </a:p>
          <a:p>
            <a:pPr>
              <a:lnSpc>
                <a:spcPct val="130000"/>
              </a:lnSpc>
            </a:pPr>
            <a:r>
              <a:rPr lang="en-US" altLang="en-US" sz="3200"/>
              <a:t>Completed transactions may have a zero price.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07E88C27-39E2-CB88-972E-DE440738A21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81000" y="381000"/>
            <a:ext cx="8229600" cy="1219200"/>
          </a:xfrm>
        </p:spPr>
        <p:txBody>
          <a:bodyPr/>
          <a:lstStyle/>
          <a:p>
            <a:r>
              <a:rPr lang="en-US" altLang="en-US" dirty="0"/>
              <a:t>Definition: Electronic Business</a:t>
            </a:r>
            <a:r>
              <a:rPr lang="en-US" altLang="en-US" sz="3200" dirty="0"/>
              <a:t> </a:t>
            </a:r>
            <a:endParaRPr lang="en-US" altLang="en-US" sz="2800" dirty="0"/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44E12F31-A224-CDDC-E916-2647BC451FD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66700" y="1662547"/>
            <a:ext cx="8458200" cy="44196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3200" dirty="0"/>
              <a:t>An</a:t>
            </a:r>
            <a:r>
              <a:rPr lang="en-US" altLang="en-US" dirty="0"/>
              <a:t>y</a:t>
            </a:r>
            <a:r>
              <a:rPr lang="en-US" altLang="en-US" sz="3200" dirty="0"/>
              <a:t> </a:t>
            </a:r>
            <a:r>
              <a:rPr lang="en-US" altLang="en-US" sz="3200" dirty="0">
                <a:solidFill>
                  <a:srgbClr val="CC0000"/>
                </a:solidFill>
              </a:rPr>
              <a:t>process </a:t>
            </a:r>
            <a:r>
              <a:rPr lang="en-US" altLang="en-US" sz="3200" dirty="0"/>
              <a:t>that an organization conducts over a </a:t>
            </a:r>
            <a:r>
              <a:rPr lang="en-US" altLang="en-US" sz="3200" dirty="0">
                <a:solidFill>
                  <a:srgbClr val="CC0000"/>
                </a:solidFill>
              </a:rPr>
              <a:t>computer-mediated network</a:t>
            </a:r>
          </a:p>
          <a:p>
            <a:pPr lvl="1">
              <a:lnSpc>
                <a:spcPct val="90000"/>
              </a:lnSpc>
            </a:pPr>
            <a:r>
              <a:rPr lang="en-US" altLang="en-US" sz="2800" dirty="0">
                <a:solidFill>
                  <a:srgbClr val="CC0000"/>
                </a:solidFill>
              </a:rPr>
              <a:t>Production</a:t>
            </a:r>
            <a:r>
              <a:rPr lang="en-US" altLang="en-US" sz="2800" dirty="0"/>
              <a:t> – procurement, ordering, stock replenishment, payment processing, production control, etc.</a:t>
            </a:r>
          </a:p>
          <a:p>
            <a:pPr lvl="1">
              <a:lnSpc>
                <a:spcPct val="90000"/>
              </a:lnSpc>
            </a:pPr>
            <a:r>
              <a:rPr lang="en-US" altLang="en-US" sz="2800" dirty="0">
                <a:solidFill>
                  <a:srgbClr val="CC0000"/>
                </a:solidFill>
              </a:rPr>
              <a:t>Customer-focused </a:t>
            </a:r>
            <a:r>
              <a:rPr lang="en-US" altLang="en-US" sz="2800" dirty="0"/>
              <a:t>– marketing, selling, customer order processing, etc.</a:t>
            </a:r>
          </a:p>
          <a:p>
            <a:pPr lvl="1">
              <a:lnSpc>
                <a:spcPct val="90000"/>
              </a:lnSpc>
            </a:pPr>
            <a:r>
              <a:rPr lang="en-US" altLang="en-US" sz="2800" dirty="0">
                <a:solidFill>
                  <a:srgbClr val="CC0000"/>
                </a:solidFill>
              </a:rPr>
              <a:t>Internal or management-focused</a:t>
            </a:r>
            <a:r>
              <a:rPr lang="en-US" altLang="en-US" sz="2800" dirty="0"/>
              <a:t> – employee service, training, recruiting, information sharing, etc.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118F261B-8067-6803-3954-2A6AC261204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2000" y="381000"/>
            <a:ext cx="7696200" cy="1219200"/>
          </a:xfrm>
        </p:spPr>
        <p:txBody>
          <a:bodyPr>
            <a:normAutofit fontScale="90000"/>
          </a:bodyPr>
          <a:lstStyle/>
          <a:p>
            <a:r>
              <a:rPr lang="en-US" altLang="en-US"/>
              <a:t>Definition: Electronic-Business Infrastructure</a:t>
            </a:r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C8B17744-4D9B-B51B-B61F-95AB8A003F7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33400" y="1828800"/>
            <a:ext cx="8305800" cy="4343400"/>
          </a:xfrm>
        </p:spPr>
        <p:txBody>
          <a:bodyPr/>
          <a:lstStyle/>
          <a:p>
            <a:pPr>
              <a:lnSpc>
                <a:spcPct val="105000"/>
              </a:lnSpc>
            </a:pPr>
            <a:r>
              <a:rPr lang="en-US" altLang="en-US" sz="3200"/>
              <a:t>The share of total </a:t>
            </a:r>
            <a:r>
              <a:rPr lang="en-US" altLang="en-US" sz="3200">
                <a:solidFill>
                  <a:srgbClr val="CC0000"/>
                </a:solidFill>
              </a:rPr>
              <a:t>economic infrastructure</a:t>
            </a:r>
            <a:r>
              <a:rPr lang="en-US" altLang="en-US" sz="3200"/>
              <a:t> used to support e-business processes and conduct e-commerce transactions.</a:t>
            </a:r>
          </a:p>
          <a:p>
            <a:pPr lvl="1">
              <a:lnSpc>
                <a:spcPct val="105000"/>
              </a:lnSpc>
            </a:pPr>
            <a:r>
              <a:rPr lang="en-US" altLang="en-US" sz="2800"/>
              <a:t>Hardware</a:t>
            </a:r>
          </a:p>
          <a:p>
            <a:pPr lvl="1">
              <a:lnSpc>
                <a:spcPct val="105000"/>
              </a:lnSpc>
            </a:pPr>
            <a:r>
              <a:rPr lang="en-US" altLang="en-US" sz="2800"/>
              <a:t>Software</a:t>
            </a:r>
          </a:p>
          <a:p>
            <a:pPr lvl="1">
              <a:lnSpc>
                <a:spcPct val="105000"/>
              </a:lnSpc>
            </a:pPr>
            <a:r>
              <a:rPr lang="en-US" altLang="en-US" sz="2800"/>
              <a:t>Telecommunication networks</a:t>
            </a:r>
          </a:p>
          <a:p>
            <a:pPr lvl="1">
              <a:lnSpc>
                <a:spcPct val="105000"/>
              </a:lnSpc>
            </a:pPr>
            <a:r>
              <a:rPr lang="en-US" altLang="en-US" sz="2800"/>
              <a:t>Support services</a:t>
            </a:r>
          </a:p>
          <a:p>
            <a:pPr lvl="1">
              <a:lnSpc>
                <a:spcPct val="105000"/>
              </a:lnSpc>
            </a:pPr>
            <a:r>
              <a:rPr lang="en-US" altLang="en-US" sz="2800"/>
              <a:t>Human resources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 Recap: MIS and E‑Business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dirty="0">
                <a:solidFill>
                  <a:srgbClr val="FF0000"/>
                </a:solidFill>
              </a:rPr>
              <a:t>Management Information Systems (MIS)</a:t>
            </a:r>
            <a:r>
              <a:rPr dirty="0"/>
              <a:t> = people + processes + data + technology to support decision‑making.</a:t>
            </a:r>
          </a:p>
          <a:p>
            <a:r>
              <a:rPr dirty="0">
                <a:solidFill>
                  <a:srgbClr val="FF0000"/>
                </a:solidFill>
              </a:rPr>
              <a:t>E‑Business </a:t>
            </a:r>
            <a:r>
              <a:rPr dirty="0"/>
              <a:t>= use of ICT to support all business processes (internal and external).</a:t>
            </a:r>
          </a:p>
          <a:p>
            <a:r>
              <a:rPr dirty="0">
                <a:solidFill>
                  <a:srgbClr val="FF0000"/>
                </a:solidFill>
              </a:rPr>
              <a:t>E‑Commerce </a:t>
            </a:r>
            <a:r>
              <a:rPr dirty="0"/>
              <a:t>= online buying and selling (subset of e‑business).</a:t>
            </a:r>
          </a:p>
          <a:p>
            <a:r>
              <a:rPr b="1" dirty="0"/>
              <a:t>MIS provides the data, reports, and integration that make e‑business work.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E‑Commerce Systems: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b="1" dirty="0"/>
              <a:t>Support online transactions</a:t>
            </a:r>
            <a:r>
              <a:rPr dirty="0"/>
              <a:t>: browsing, ordering, payment, delivery, support.</a:t>
            </a:r>
          </a:p>
          <a:p>
            <a:r>
              <a:rPr b="1" dirty="0"/>
              <a:t>Front‑end: </a:t>
            </a:r>
            <a:r>
              <a:rPr dirty="0"/>
              <a:t>website/app UI, search, product catalogue, shopping cart.</a:t>
            </a:r>
          </a:p>
          <a:p>
            <a:r>
              <a:rPr b="1" dirty="0"/>
              <a:t>Back‑end: </a:t>
            </a:r>
            <a:r>
              <a:rPr dirty="0"/>
              <a:t>databases, inventory, pricing, order processing, integration with ERP.</a:t>
            </a:r>
          </a:p>
          <a:p>
            <a:r>
              <a:rPr b="1" dirty="0"/>
              <a:t>Payment integration</a:t>
            </a:r>
            <a:r>
              <a:rPr dirty="0"/>
              <a:t>: card payments, mobile money (M‑Pesa, Airtel Money), bank interfaces.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D7F5EFC9-F3F7-68A1-6376-5D1BDF9C477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2000" y="304800"/>
            <a:ext cx="7696200" cy="1295400"/>
          </a:xfrm>
        </p:spPr>
        <p:txBody>
          <a:bodyPr>
            <a:normAutofit fontScale="90000"/>
          </a:bodyPr>
          <a:lstStyle/>
          <a:p>
            <a:r>
              <a:rPr lang="en-US" altLang="en-US"/>
              <a:t>New Business Rules from </a:t>
            </a:r>
            <a:br>
              <a:rPr lang="en-US" altLang="en-US"/>
            </a:br>
            <a:r>
              <a:rPr lang="en-US" altLang="en-US"/>
              <a:t>E-Business</a:t>
            </a:r>
          </a:p>
        </p:txBody>
      </p:sp>
      <p:sp>
        <p:nvSpPr>
          <p:cNvPr id="26627" name="Rectangle 3">
            <a:extLst>
              <a:ext uri="{FF2B5EF4-FFF2-40B4-BE49-F238E27FC236}">
                <a16:creationId xmlns:a16="http://schemas.microsoft.com/office/drawing/2014/main" id="{10548527-EE9C-FEAF-3018-CF9E2F5F1CE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04800" y="1828800"/>
            <a:ext cx="8458200" cy="4419600"/>
          </a:xfrm>
        </p:spPr>
        <p:txBody>
          <a:bodyPr/>
          <a:lstStyle/>
          <a:p>
            <a:pPr>
              <a:lnSpc>
                <a:spcPct val="105000"/>
              </a:lnSpc>
            </a:pPr>
            <a:r>
              <a:rPr lang="en-US" altLang="en-US" sz="3000" b="1" dirty="0"/>
              <a:t>Customers determine </a:t>
            </a:r>
            <a:r>
              <a:rPr lang="en-US" altLang="en-US" sz="3000" dirty="0"/>
              <a:t>everything.</a:t>
            </a:r>
          </a:p>
          <a:p>
            <a:pPr>
              <a:lnSpc>
                <a:spcPct val="105000"/>
              </a:lnSpc>
            </a:pPr>
            <a:r>
              <a:rPr lang="en-US" altLang="en-US" sz="3000" b="1" dirty="0"/>
              <a:t>Knowledge and information </a:t>
            </a:r>
            <a:r>
              <a:rPr lang="en-US" altLang="en-US" sz="3000" dirty="0"/>
              <a:t>become </a:t>
            </a:r>
            <a:r>
              <a:rPr lang="en-US" altLang="en-US" sz="3000" b="1" dirty="0"/>
              <a:t>more valuable</a:t>
            </a:r>
            <a:r>
              <a:rPr lang="en-US" altLang="en-US" sz="3000" dirty="0"/>
              <a:t> than physical assets.</a:t>
            </a:r>
          </a:p>
          <a:p>
            <a:pPr>
              <a:lnSpc>
                <a:spcPct val="105000"/>
              </a:lnSpc>
            </a:pPr>
            <a:r>
              <a:rPr lang="en-US" altLang="en-US" sz="3000" b="1" dirty="0"/>
              <a:t>People</a:t>
            </a:r>
            <a:r>
              <a:rPr lang="en-US" altLang="en-US" sz="3000" dirty="0"/>
              <a:t> want </a:t>
            </a:r>
            <a:r>
              <a:rPr lang="en-US" altLang="en-US" sz="3000" b="1" dirty="0"/>
              <a:t>more choices </a:t>
            </a:r>
            <a:r>
              <a:rPr lang="en-US" altLang="en-US" sz="3000" dirty="0"/>
              <a:t>of products and services.</a:t>
            </a:r>
          </a:p>
          <a:p>
            <a:pPr>
              <a:lnSpc>
                <a:spcPct val="105000"/>
              </a:lnSpc>
            </a:pPr>
            <a:r>
              <a:rPr lang="en-US" altLang="en-US" sz="3000" dirty="0"/>
              <a:t>Time is present time, distance is zero.</a:t>
            </a:r>
          </a:p>
          <a:p>
            <a:pPr>
              <a:lnSpc>
                <a:spcPct val="105000"/>
              </a:lnSpc>
            </a:pPr>
            <a:r>
              <a:rPr lang="en-US" altLang="en-US" sz="3000" b="1" dirty="0"/>
              <a:t>Technology</a:t>
            </a:r>
            <a:r>
              <a:rPr lang="en-US" altLang="en-US" sz="3000" dirty="0"/>
              <a:t> and </a:t>
            </a:r>
            <a:r>
              <a:rPr lang="en-US" altLang="en-US" sz="3000" b="1" dirty="0"/>
              <a:t>network</a:t>
            </a:r>
            <a:r>
              <a:rPr lang="en-US" altLang="en-US" sz="3000" dirty="0"/>
              <a:t> determine how the business is conducted.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b="1" dirty="0"/>
              <a:t>E‑Commerce</a:t>
            </a:r>
            <a:r>
              <a:rPr lang="en-US" b="1" dirty="0"/>
              <a:t> System</a:t>
            </a:r>
            <a:r>
              <a:rPr b="1" dirty="0"/>
              <a:t> Architecture (Logical View)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 dirty="0"/>
              <a:t>Presentation layer</a:t>
            </a:r>
            <a:r>
              <a:rPr dirty="0"/>
              <a:t>: web/mobile interface (HTML/CSS/JS, mobile apps).</a:t>
            </a:r>
          </a:p>
          <a:p>
            <a:r>
              <a:rPr b="1" dirty="0"/>
              <a:t>Application layer</a:t>
            </a:r>
            <a:r>
              <a:rPr dirty="0"/>
              <a:t>: business logic (pricing rules, discounts, workflows).</a:t>
            </a:r>
          </a:p>
          <a:p>
            <a:r>
              <a:rPr b="1" dirty="0"/>
              <a:t>Data layer</a:t>
            </a:r>
            <a:r>
              <a:rPr dirty="0"/>
              <a:t>: product, customer, order, and payment databases.</a:t>
            </a:r>
          </a:p>
          <a:p>
            <a:r>
              <a:rPr b="1" dirty="0"/>
              <a:t>Integration layer</a:t>
            </a:r>
            <a:r>
              <a:rPr dirty="0"/>
              <a:t>: APIs to logistics providers, payment gateways, CRM/ERP systems.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E‑Commerce in the Kenyan Context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 dirty="0"/>
              <a:t>Jumia / </a:t>
            </a:r>
            <a:r>
              <a:rPr b="1" dirty="0" err="1"/>
              <a:t>Kilimall</a:t>
            </a:r>
            <a:r>
              <a:rPr dirty="0"/>
              <a:t>: marketplace model connecting many sellers and buyers.</a:t>
            </a:r>
          </a:p>
          <a:p>
            <a:r>
              <a:rPr b="1" dirty="0" err="1"/>
              <a:t>Naivas</a:t>
            </a:r>
            <a:r>
              <a:rPr b="1" dirty="0"/>
              <a:t> / Carrefour online</a:t>
            </a:r>
            <a:r>
              <a:rPr dirty="0"/>
              <a:t>: traditional retailers extending to e‑commerce channels.</a:t>
            </a:r>
          </a:p>
          <a:p>
            <a:r>
              <a:rPr b="1" dirty="0"/>
              <a:t>Safaricom online shop</a:t>
            </a:r>
            <a:r>
              <a:rPr dirty="0"/>
              <a:t>: devices, airtime, bundles purchased fully online.</a:t>
            </a:r>
          </a:p>
          <a:p>
            <a:r>
              <a:rPr b="1" dirty="0"/>
              <a:t>Small businesses selling via WhatsApp</a:t>
            </a:r>
            <a:r>
              <a:rPr dirty="0"/>
              <a:t>, Instagram + M‑Pesa (informal e‑commerce).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Digital Platforms: Key Concepts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b="1" dirty="0"/>
              <a:t>Digital platform </a:t>
            </a:r>
            <a:r>
              <a:rPr dirty="0"/>
              <a:t>= online infrastructure enabling interactions between multiple groups (e.g., buyers &amp; sellers).</a:t>
            </a:r>
          </a:p>
          <a:p>
            <a:r>
              <a:rPr b="1" dirty="0"/>
              <a:t>Multi‑sided markets</a:t>
            </a:r>
            <a:r>
              <a:rPr dirty="0"/>
              <a:t>: each side’s value increases as more users join (network effects).</a:t>
            </a:r>
          </a:p>
          <a:p>
            <a:r>
              <a:rPr b="1" dirty="0"/>
              <a:t>Data‑driven: </a:t>
            </a:r>
            <a:r>
              <a:rPr dirty="0"/>
              <a:t>platforms collect data to personalize offers and optimize operations.</a:t>
            </a:r>
          </a:p>
          <a:p>
            <a:r>
              <a:rPr b="1" dirty="0"/>
              <a:t>Openness via APIs: </a:t>
            </a:r>
            <a:r>
              <a:rPr dirty="0"/>
              <a:t>third‑party apps and services can plug into the platform.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Types of Digital Platforms (Examples)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Commerce platforms: Jumia, Amazon, Alibaba.</a:t>
            </a:r>
          </a:p>
          <a:p>
            <a:r>
              <a:t>Service platforms: Uber, Bolt, Airbnb.</a:t>
            </a:r>
          </a:p>
          <a:p>
            <a:r>
              <a:t>Content platforms: YouTube, Netflix, Showmax.</a:t>
            </a:r>
          </a:p>
          <a:p>
            <a:r>
              <a:t>Payment platforms: M‑Pesa, PayPal, Stripe.</a:t>
            </a:r>
          </a:p>
          <a:p>
            <a:r>
              <a:t>Enterprise platforms: Office 365, Google Workspace, Salesforce.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>
            <a:extLst>
              <a:ext uri="{FF2B5EF4-FFF2-40B4-BE49-F238E27FC236}">
                <a16:creationId xmlns:a16="http://schemas.microsoft.com/office/drawing/2014/main" id="{3B971C32-E215-634C-9D54-2AFDB2190E9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533400"/>
            <a:ext cx="8229600" cy="914400"/>
          </a:xfrm>
        </p:spPr>
        <p:txBody>
          <a:bodyPr/>
          <a:lstStyle/>
          <a:p>
            <a:r>
              <a:rPr lang="en-US" altLang="en-US"/>
              <a:t>Potential Benefits of E-Business</a:t>
            </a:r>
          </a:p>
        </p:txBody>
      </p:sp>
      <p:sp>
        <p:nvSpPr>
          <p:cNvPr id="36867" name="Rectangle 3">
            <a:extLst>
              <a:ext uri="{FF2B5EF4-FFF2-40B4-BE49-F238E27FC236}">
                <a16:creationId xmlns:a16="http://schemas.microsoft.com/office/drawing/2014/main" id="{22B1EDED-1F0F-584C-2B13-A8A7105A904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33400" y="1828800"/>
            <a:ext cx="8077200" cy="4495800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lang="en-US" altLang="en-US" sz="3200" dirty="0"/>
              <a:t>More product/service selections</a:t>
            </a:r>
          </a:p>
          <a:p>
            <a:pPr>
              <a:lnSpc>
                <a:spcPct val="110000"/>
              </a:lnSpc>
            </a:pPr>
            <a:r>
              <a:rPr lang="en-US" altLang="en-US" sz="3200" dirty="0"/>
              <a:t>Higher Productivity</a:t>
            </a:r>
          </a:p>
          <a:p>
            <a:pPr>
              <a:lnSpc>
                <a:spcPct val="110000"/>
              </a:lnSpc>
            </a:pPr>
            <a:r>
              <a:rPr lang="en-US" altLang="en-US" sz="3200" dirty="0"/>
              <a:t>Improved accessibility and convenience</a:t>
            </a:r>
          </a:p>
          <a:p>
            <a:pPr>
              <a:lnSpc>
                <a:spcPct val="110000"/>
              </a:lnSpc>
            </a:pPr>
            <a:r>
              <a:rPr lang="en-US" altLang="en-US" sz="3200" dirty="0"/>
              <a:t>Better availability of information</a:t>
            </a:r>
          </a:p>
          <a:p>
            <a:pPr>
              <a:lnSpc>
                <a:spcPct val="110000"/>
              </a:lnSpc>
            </a:pPr>
            <a:r>
              <a:rPr lang="en-US" altLang="en-US" sz="3200" dirty="0"/>
              <a:t>Shorter lead time</a:t>
            </a:r>
          </a:p>
          <a:p>
            <a:pPr>
              <a:lnSpc>
                <a:spcPct val="110000"/>
              </a:lnSpc>
            </a:pPr>
            <a:r>
              <a:rPr lang="en-US" altLang="en-US" sz="3200" dirty="0"/>
              <a:t>Improved communication</a:t>
            </a:r>
          </a:p>
          <a:p>
            <a:pPr>
              <a:lnSpc>
                <a:spcPct val="110000"/>
              </a:lnSpc>
            </a:pPr>
            <a:r>
              <a:rPr lang="en-US" altLang="en-US" sz="3200" dirty="0"/>
              <a:t>Stronger competitive position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Strategic Role and Risks of Platforms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 dirty="0"/>
              <a:t>Advantages</a:t>
            </a:r>
            <a:r>
              <a:rPr dirty="0"/>
              <a:t>: rapid scaling, lower marginal cost, access to large user bases.</a:t>
            </a:r>
          </a:p>
          <a:p>
            <a:r>
              <a:rPr dirty="0"/>
              <a:t>Strategic use of data for targeted marketing and product innovation.</a:t>
            </a:r>
          </a:p>
          <a:p>
            <a:r>
              <a:rPr b="1" dirty="0"/>
              <a:t>Risks: </a:t>
            </a:r>
            <a:r>
              <a:rPr dirty="0"/>
              <a:t>dependency on dominant platforms, lock‑in and high switching costs.</a:t>
            </a:r>
          </a:p>
          <a:p>
            <a:r>
              <a:rPr dirty="0"/>
              <a:t>Data privacy, cybersecurity, and regulatory risks (e.g., data protection laws).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Mobile MIS 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MIS functionality delivered via smartphones and tablets.</a:t>
            </a:r>
          </a:p>
          <a:p>
            <a:r>
              <a:rPr b="1" dirty="0"/>
              <a:t>Enable anytime, anywhere access </a:t>
            </a:r>
            <a:r>
              <a:rPr dirty="0"/>
              <a:t>to operational and strategic information.</a:t>
            </a:r>
          </a:p>
          <a:p>
            <a:r>
              <a:rPr b="1" dirty="0"/>
              <a:t>Real‑time data capture </a:t>
            </a:r>
            <a:r>
              <a:rPr dirty="0"/>
              <a:t>in the field (sales, inventory, service requests).</a:t>
            </a:r>
          </a:p>
          <a:p>
            <a:r>
              <a:rPr dirty="0"/>
              <a:t>Often built as mobile apps connected to </a:t>
            </a:r>
            <a:r>
              <a:rPr b="1" dirty="0"/>
              <a:t>cloud‑based back</a:t>
            </a:r>
            <a:r>
              <a:rPr dirty="0"/>
              <a:t>‑end systems.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Mobile MIS in the Kenyan Context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6834" y="1517072"/>
            <a:ext cx="7850332" cy="5382491"/>
          </a:xfrm>
        </p:spPr>
        <p:txBody>
          <a:bodyPr>
            <a:normAutofit/>
          </a:bodyPr>
          <a:lstStyle/>
          <a:p>
            <a:r>
              <a:rPr b="1" dirty="0"/>
              <a:t>Mobile banking apps </a:t>
            </a:r>
            <a:r>
              <a:rPr dirty="0"/>
              <a:t>(KCB, Equity, Co‑operative Bank) for account management and payments.</a:t>
            </a:r>
          </a:p>
          <a:p>
            <a:r>
              <a:rPr b="1" dirty="0"/>
              <a:t>M‑Pesa app </a:t>
            </a:r>
            <a:r>
              <a:rPr dirty="0"/>
              <a:t>as a financial platform (payments, savings, loans, mini‑apps).</a:t>
            </a:r>
          </a:p>
          <a:p>
            <a:r>
              <a:rPr b="1" dirty="0"/>
              <a:t>Field sales and inventory apps </a:t>
            </a:r>
            <a:r>
              <a:rPr dirty="0"/>
              <a:t>used </a:t>
            </a:r>
            <a:r>
              <a:rPr b="1" dirty="0"/>
              <a:t>by </a:t>
            </a:r>
            <a:r>
              <a:rPr lang="en-US" b="1" dirty="0"/>
              <a:t>Fast Moving Customer Goods</a:t>
            </a:r>
            <a:r>
              <a:rPr lang="en-US" dirty="0"/>
              <a:t> </a:t>
            </a:r>
            <a:r>
              <a:rPr dirty="0"/>
              <a:t>FMCG companies for route‑to‑market.</a:t>
            </a:r>
          </a:p>
          <a:p>
            <a:r>
              <a:rPr b="1" dirty="0"/>
              <a:t>Government e‑services via mobile </a:t>
            </a:r>
            <a:r>
              <a:rPr dirty="0"/>
              <a:t>(eCitizen access, Huduma‑linked services).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Benefits and Challenges of Mobile MIS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 dirty="0">
                <a:solidFill>
                  <a:srgbClr val="FF0000"/>
                </a:solidFill>
              </a:rPr>
              <a:t>Benefits: </a:t>
            </a:r>
            <a:r>
              <a:rPr dirty="0"/>
              <a:t>improved responsiveness, real‑time decision‑making, better customer experience.</a:t>
            </a:r>
          </a:p>
          <a:p>
            <a:r>
              <a:rPr b="1" dirty="0"/>
              <a:t>Improved data quality </a:t>
            </a:r>
            <a:r>
              <a:rPr dirty="0"/>
              <a:t>through on‑the‑spot capture with validation.</a:t>
            </a:r>
          </a:p>
          <a:p>
            <a:r>
              <a:rPr b="1" dirty="0">
                <a:solidFill>
                  <a:srgbClr val="FF0000"/>
                </a:solidFill>
              </a:rPr>
              <a:t>Challenges: </a:t>
            </a:r>
            <a:r>
              <a:rPr dirty="0"/>
              <a:t>device theft and malware, authentication and access control.</a:t>
            </a:r>
          </a:p>
          <a:p>
            <a:r>
              <a:rPr dirty="0"/>
              <a:t>Connectivity issues in rural areas, device fragmentation and app maintenance.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Integrating MIS, E‑Commerce and Mobile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605394"/>
            <a:ext cx="7834745" cy="4358987"/>
          </a:xfrm>
        </p:spPr>
        <p:txBody>
          <a:bodyPr>
            <a:normAutofit fontScale="92500" lnSpcReduction="10000"/>
          </a:bodyPr>
          <a:lstStyle/>
          <a:p>
            <a:r>
              <a:rPr b="1" dirty="0"/>
              <a:t>Core MIS </a:t>
            </a:r>
            <a:r>
              <a:rPr dirty="0"/>
              <a:t>↔ </a:t>
            </a:r>
            <a:r>
              <a:rPr b="1" dirty="0"/>
              <a:t>E‑commerce platform </a:t>
            </a:r>
            <a:r>
              <a:rPr dirty="0"/>
              <a:t>↔ </a:t>
            </a:r>
            <a:r>
              <a:rPr b="1" dirty="0"/>
              <a:t>Mobile apps and APIs.</a:t>
            </a:r>
          </a:p>
          <a:p>
            <a:r>
              <a:rPr dirty="0">
                <a:solidFill>
                  <a:srgbClr val="FF0000"/>
                </a:solidFill>
              </a:rPr>
              <a:t>Example: Online order placed via mobile app → updates inventory MIS → triggers logistics workflow.</a:t>
            </a:r>
          </a:p>
          <a:p>
            <a:r>
              <a:rPr dirty="0"/>
              <a:t>Management dashboards combine data from web and mobile channels in real time.</a:t>
            </a:r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Students should</a:t>
            </a:r>
            <a:r>
              <a:rPr b="1" dirty="0">
                <a:solidFill>
                  <a:srgbClr val="FF0000"/>
                </a:solidFill>
              </a:rPr>
              <a:t> focus</a:t>
            </a:r>
            <a:r>
              <a:rPr dirty="0">
                <a:solidFill>
                  <a:srgbClr val="FF0000"/>
                </a:solidFill>
              </a:rPr>
              <a:t>: understanding data flows, integration points, and control measures.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/>
              <a:t>Role of MIS in E-Commerce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Learning Outcomes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Explain how MIS supports e-commerce operations.</a:t>
            </a:r>
          </a:p>
          <a:p>
            <a:r>
              <a:t>Describe system components and data flows.</a:t>
            </a:r>
          </a:p>
          <a:p>
            <a:r>
              <a:t>Analyse security and integration requirements.</a:t>
            </a:r>
          </a:p>
          <a:p>
            <a:r>
              <a:t>Apply MIS concepts to Kenyan e-commerce platforms.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Role of MIS in E-Commerce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Backbone of online business operations.</a:t>
            </a:r>
          </a:p>
          <a:p>
            <a:r>
              <a:rPr dirty="0"/>
              <a:t>Supports </a:t>
            </a:r>
            <a:r>
              <a:rPr dirty="0">
                <a:solidFill>
                  <a:srgbClr val="FF0000"/>
                </a:solidFill>
              </a:rPr>
              <a:t>transactions, data flows, </a:t>
            </a:r>
            <a:r>
              <a:rPr dirty="0"/>
              <a:t>and</a:t>
            </a:r>
            <a:r>
              <a:rPr dirty="0">
                <a:solidFill>
                  <a:srgbClr val="FF0000"/>
                </a:solidFill>
              </a:rPr>
              <a:t> decision-making.</a:t>
            </a:r>
          </a:p>
          <a:p>
            <a:r>
              <a:rPr dirty="0"/>
              <a:t>Ensures system integration across business functions.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 </a:t>
            </a:r>
            <a:r>
              <a:rPr dirty="0"/>
              <a:t>Transaction Support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Product search and catalog management.</a:t>
            </a:r>
          </a:p>
          <a:p>
            <a:r>
              <a:t>Shopping cart and checkout systems.</a:t>
            </a:r>
          </a:p>
          <a:p>
            <a:r>
              <a:t>Payment processing (M-Pesa, Visa, PayPay).</a:t>
            </a:r>
          </a:p>
          <a:p>
            <a:r>
              <a:t>Order confirmation and tracking.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</a:t>
            </a:r>
            <a:r>
              <a:rPr dirty="0"/>
              <a:t>Data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Customer records and profiles.</a:t>
            </a:r>
          </a:p>
          <a:p>
            <a:r>
              <a:t>Product and inventory data.</a:t>
            </a:r>
          </a:p>
          <a:p>
            <a:r>
              <a:t>Sales and transaction histories.</a:t>
            </a:r>
          </a:p>
          <a:p>
            <a:r>
              <a:t>Use of SQL, NoSQL and cloud databases.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</a:t>
            </a:r>
            <a:r>
              <a:rPr dirty="0"/>
              <a:t>Business Intelligence &amp; Analytics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Pricing and promotion analysis.</a:t>
            </a:r>
          </a:p>
          <a:p>
            <a:r>
              <a:t>Customer segmentation and behavior analysis.</a:t>
            </a:r>
          </a:p>
          <a:p>
            <a:r>
              <a:t>Recommendation systems.</a:t>
            </a:r>
          </a:p>
          <a:p>
            <a:r>
              <a:t>Fraud detection and anomaly monitoring.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4. </a:t>
            </a:r>
            <a:r>
              <a:rPr dirty="0"/>
              <a:t>System Integration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CRM, ERP, Inventory Management Systems.</a:t>
            </a:r>
          </a:p>
          <a:p>
            <a:r>
              <a:rPr dirty="0"/>
              <a:t>Payment gateways (Daraja API, card processors).</a:t>
            </a:r>
          </a:p>
          <a:p>
            <a:r>
              <a:rPr dirty="0"/>
              <a:t>Logistics integration (Sendy, G4S, Fargo).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5. </a:t>
            </a:r>
            <a:r>
              <a:rPr dirty="0"/>
              <a:t>Security Role of MIS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Encryption (SSL/TLS).</a:t>
            </a:r>
          </a:p>
          <a:p>
            <a:r>
              <a:rPr dirty="0"/>
              <a:t>Authentication &amp; authorization.</a:t>
            </a:r>
          </a:p>
          <a:p>
            <a:r>
              <a:rPr dirty="0"/>
              <a:t>Access control systems.</a:t>
            </a:r>
          </a:p>
          <a:p>
            <a:r>
              <a:rPr dirty="0"/>
              <a:t>Cyber threat monitoring and mitigation.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6.</a:t>
            </a:r>
            <a:r>
              <a:rPr dirty="0"/>
              <a:t>Mobile E-Commerce Support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Mobile apps for transactions.</a:t>
            </a:r>
          </a:p>
          <a:p>
            <a:r>
              <a:t>Push notifications and alerts.</a:t>
            </a:r>
          </a:p>
          <a:p>
            <a:r>
              <a:t>Mobile payments (M-Pesa, Airtel Money).</a:t>
            </a:r>
          </a:p>
          <a:p>
            <a:r>
              <a:t>Real-time analytics and tracking.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Kenyan E-Commerce 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Jumia – marketplace with integrated MIS dashboards.</a:t>
            </a:r>
          </a:p>
          <a:p>
            <a:r>
              <a:t>Naivas Online – inventory and order management.</a:t>
            </a:r>
          </a:p>
          <a:p>
            <a:r>
              <a:t>M-Pesa – supports payments and integrations (Daraja API).</a:t>
            </a:r>
          </a:p>
          <a:p>
            <a:r>
              <a:t>Safaricom App – unified digital service platform.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Importance to BSc IT Students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Builds enterprise system skills.</a:t>
            </a:r>
          </a:p>
          <a:p>
            <a:r>
              <a:t>Enhances system design and analysis ability.</a:t>
            </a:r>
          </a:p>
          <a:p>
            <a:r>
              <a:t>Supports entrepreneurship in digital platforms.</a:t>
            </a:r>
          </a:p>
          <a:p>
            <a:r>
              <a:t>Aligns with Kenya’s digital transformation agenda.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MIS is central to all e-commerce operations.</a:t>
            </a:r>
          </a:p>
          <a:p>
            <a:r>
              <a:t>Enables data, security, transactions, and customer experience.</a:t>
            </a:r>
          </a:p>
          <a:p>
            <a:r>
              <a:t>Essential for IT careers in Kenya’s growing digital economy.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Class Activity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45623"/>
            <a:ext cx="8229600" cy="4525963"/>
          </a:xfrm>
        </p:spPr>
        <p:txBody>
          <a:bodyPr>
            <a:normAutofit/>
          </a:bodyPr>
          <a:lstStyle/>
          <a:p>
            <a:r>
              <a:rPr dirty="0"/>
              <a:t>Form groups of 5–7 students.</a:t>
            </a:r>
          </a:p>
          <a:p>
            <a:r>
              <a:rPr dirty="0"/>
              <a:t>Pick ONE Kenyan organization using e‑commerce and/or digital platforms.</a:t>
            </a:r>
          </a:p>
          <a:p>
            <a:r>
              <a:rPr dirty="0"/>
              <a:t>Map its system: front‑end, back‑end, data, and integration with mobile apps.</a:t>
            </a:r>
          </a:p>
          <a:p>
            <a:r>
              <a:rPr dirty="0"/>
              <a:t>Identify at least 3 benefits and 3 risks related to its MIS/e‑business setup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 &amp; Take‑Aways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t>MIS underpins e‑business by providing integrated, reliable information.</a:t>
            </a:r>
          </a:p>
          <a:p>
            <a:r>
              <a:t>E‑commerce systems consist of front‑end, back‑end, data and integration layers.</a:t>
            </a:r>
          </a:p>
          <a:p>
            <a:r>
              <a:t>Digital platforms leverage network effects and data for value creation.</a:t>
            </a:r>
          </a:p>
          <a:p>
            <a:r>
              <a:t>Mobile MIS extends access and data capture to the field, but adds security and connectivity challenges.</a:t>
            </a:r>
          </a:p>
          <a:p>
            <a:r>
              <a:t>As Year 3 students, focus on architecture, data flows, and real‑world application in the Kenyan context.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172</TotalTime>
  <Words>1477</Words>
  <Application>Microsoft Office PowerPoint</Application>
  <PresentationFormat>On-screen Show (4:3)</PresentationFormat>
  <Paragraphs>158</Paragraphs>
  <Slides>32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5" baseType="lpstr">
      <vt:lpstr>Arial</vt:lpstr>
      <vt:lpstr>Calibri</vt:lpstr>
      <vt:lpstr>Office Theme</vt:lpstr>
      <vt:lpstr>MIS &amp; E‑Business </vt:lpstr>
      <vt:lpstr>Learning Outcomes</vt:lpstr>
      <vt:lpstr>Definition: Electronic Commerce</vt:lpstr>
      <vt:lpstr>Definition: Electronic Business </vt:lpstr>
      <vt:lpstr>Definition: Electronic-Business Infrastructure</vt:lpstr>
      <vt:lpstr> Recap: MIS and E‑Business</vt:lpstr>
      <vt:lpstr>E‑Commerce Systems: Overview</vt:lpstr>
      <vt:lpstr>New Business Rules from  E-Business</vt:lpstr>
      <vt:lpstr>E‑Commerce System Architecture (Logical View)</vt:lpstr>
      <vt:lpstr>E‑Commerce in the Kenyan Context</vt:lpstr>
      <vt:lpstr>Digital Platforms: Key Concepts</vt:lpstr>
      <vt:lpstr>Types of Digital Platforms (Examples)</vt:lpstr>
      <vt:lpstr>Potential Benefits of E-Business</vt:lpstr>
      <vt:lpstr>Strategic Role and Risks of Platforms</vt:lpstr>
      <vt:lpstr>Mobile MIS Applications</vt:lpstr>
      <vt:lpstr>Mobile MIS in the Kenyan Context</vt:lpstr>
      <vt:lpstr>Benefits and Challenges of Mobile MIS</vt:lpstr>
      <vt:lpstr>Integrating MIS, E‑Commerce and Mobile</vt:lpstr>
      <vt:lpstr>Role of MIS in E-Commerce</vt:lpstr>
      <vt:lpstr>Learning Outcomes</vt:lpstr>
      <vt:lpstr>Role of MIS in E-Commerce</vt:lpstr>
      <vt:lpstr>1. Transaction Support</vt:lpstr>
      <vt:lpstr>2. Data Management</vt:lpstr>
      <vt:lpstr>3.Business Intelligence &amp; Analytics</vt:lpstr>
      <vt:lpstr>4. System Integration</vt:lpstr>
      <vt:lpstr>5. Security Role of MIS</vt:lpstr>
      <vt:lpstr>6.Mobile E-Commerce Support</vt:lpstr>
      <vt:lpstr>Kenyan E-Commerce Examples</vt:lpstr>
      <vt:lpstr>Importance to BSc IT Students</vt:lpstr>
      <vt:lpstr>Summary</vt:lpstr>
      <vt:lpstr>Class Activity </vt:lpstr>
      <vt:lpstr>Summary &amp; Take‑Aways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USER</dc:creator>
  <cp:keywords/>
  <dc:description>generated using python-pptx</dc:description>
  <cp:lastModifiedBy>USER</cp:lastModifiedBy>
  <cp:revision>7</cp:revision>
  <dcterms:created xsi:type="dcterms:W3CDTF">2013-01-27T09:14:16Z</dcterms:created>
  <dcterms:modified xsi:type="dcterms:W3CDTF">2025-11-20T09:57:28Z</dcterms:modified>
  <cp:category/>
</cp:coreProperties>
</file>