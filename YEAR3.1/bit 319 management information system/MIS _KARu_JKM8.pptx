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64" r:id="rId2"/>
    <p:sldId id="265" r:id="rId3"/>
    <p:sldId id="266" r:id="rId4"/>
    <p:sldId id="267" r:id="rId5"/>
    <p:sldId id="268" r:id="rId6"/>
    <p:sldId id="269" r:id="rId7"/>
    <p:sldId id="270" r:id="rId8"/>
    <p:sldId id="261" r:id="rId9"/>
    <p:sldId id="262" r:id="rId10"/>
    <p:sldId id="263" r:id="rId11"/>
    <p:sldId id="272" r:id="rId12"/>
    <p:sldId id="273" r:id="rId13"/>
    <p:sldId id="271" r:id="rId14"/>
    <p:sldId id="274" r:id="rId15"/>
    <p:sldId id="27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96" d="100"/>
          <a:sy n="96" d="100"/>
        </p:scale>
        <p:origin x="978" y="5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SDLC Methodologies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algn="just"/>
            <a:r>
              <a:rPr lang="en-US" b="1" dirty="0"/>
              <a:t>What is the </a:t>
            </a:r>
            <a:r>
              <a:rPr lang="en-US" b="1" dirty="0">
                <a:solidFill>
                  <a:srgbClr val="FF0000"/>
                </a:solidFill>
              </a:rPr>
              <a:t>S</a:t>
            </a:r>
            <a:r>
              <a:rPr lang="en-US" b="1" dirty="0"/>
              <a:t>YSTEM </a:t>
            </a:r>
            <a:r>
              <a:rPr lang="en-US" b="1" dirty="0">
                <a:solidFill>
                  <a:srgbClr val="FF0000"/>
                </a:solidFill>
              </a:rPr>
              <a:t>D</a:t>
            </a:r>
            <a:r>
              <a:rPr lang="en-US" b="1" dirty="0"/>
              <a:t>EVELOPMENT </a:t>
            </a:r>
            <a:r>
              <a:rPr lang="en-US" b="1" dirty="0">
                <a:solidFill>
                  <a:srgbClr val="FF0000"/>
                </a:solidFill>
              </a:rPr>
              <a:t>L</a:t>
            </a:r>
            <a:r>
              <a:rPr lang="en-US" b="1" dirty="0"/>
              <a:t>IFE </a:t>
            </a:r>
            <a:r>
              <a:rPr lang="en-US" b="1" dirty="0">
                <a:solidFill>
                  <a:srgbClr val="FF0000"/>
                </a:solidFill>
              </a:rPr>
              <a:t>C</a:t>
            </a:r>
            <a:r>
              <a:rPr lang="en-US" b="1" dirty="0"/>
              <a:t>YCLE?</a:t>
            </a:r>
            <a:endParaRPr lang="en-US" dirty="0"/>
          </a:p>
          <a:p>
            <a:pPr algn="just"/>
            <a:r>
              <a:rPr lang="en-US" i="1" dirty="0"/>
              <a:t>The </a:t>
            </a:r>
            <a:r>
              <a:rPr lang="en-US" sz="3300" b="1" i="1" dirty="0"/>
              <a:t>System Development Life Cycle or SDLC </a:t>
            </a:r>
            <a:r>
              <a:rPr lang="en-US" i="1" dirty="0"/>
              <a:t>is a software project management model used to </a:t>
            </a:r>
            <a:r>
              <a:rPr lang="en-US" b="1" i="1" dirty="0"/>
              <a:t>outline, design, develop, test, and deploy an information system or software product</a:t>
            </a:r>
            <a:r>
              <a:rPr lang="en-US" i="1" dirty="0"/>
              <a:t>. In other words, it defines the </a:t>
            </a:r>
            <a:r>
              <a:rPr lang="en-US" i="1" dirty="0">
                <a:solidFill>
                  <a:srgbClr val="FF0000"/>
                </a:solidFill>
              </a:rPr>
              <a:t>necessary steps </a:t>
            </a:r>
            <a:r>
              <a:rPr lang="en-US" i="1" dirty="0"/>
              <a:t>needed to take a project from the idea or concept stage to the actual deployment and further maintenance.</a:t>
            </a:r>
            <a:endParaRPr lang="en-US" dirty="0"/>
          </a:p>
          <a:p>
            <a:pPr algn="just"/>
            <a:r>
              <a:rPr lang="en-US" dirty="0"/>
              <a:t>SDLC represents a multitude of complex models used in software development. </a:t>
            </a:r>
            <a:r>
              <a:rPr lang="en-US" dirty="0">
                <a:solidFill>
                  <a:srgbClr val="FF0000"/>
                </a:solidFill>
              </a:rPr>
              <a:t>On a practical level, SDLC is a general methodology that covers different step-by-step processes needed to create a high-quality software product. 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239A86-565A-2555-0D05-7DAD0203758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66530" y="430835"/>
            <a:ext cx="7772400" cy="627684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SDLC Steps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FF2013A-1D04-ED55-CF91-7F58DA43ECF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4" name="Picture 3" descr="7 stages of SDLC in the form of a pie chart">
            <a:extLst>
              <a:ext uri="{FF2B5EF4-FFF2-40B4-BE49-F238E27FC236}">
                <a16:creationId xmlns:a16="http://schemas.microsoft.com/office/drawing/2014/main" id="{6F8C0BC7-8990-63A7-A996-1472770E4230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0746" y="1351721"/>
            <a:ext cx="7989890" cy="4432854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82984390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A232CB32-E58A-D176-0A7A-46BB18BDDDC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6043" y="700709"/>
            <a:ext cx="7961244" cy="5347252"/>
          </a:xfrm>
        </p:spPr>
        <p:txBody>
          <a:bodyPr>
            <a:normAutofit/>
          </a:bodyPr>
          <a:lstStyle/>
          <a:p>
            <a:pPr algn="l"/>
            <a:r>
              <a:rPr lang="en-US" dirty="0">
                <a:solidFill>
                  <a:schemeClr val="tx1"/>
                </a:solidFill>
              </a:rPr>
              <a:t>Let’s take a look at the core tasks associated with each of the different phases of the development life cycle.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438544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A3DC21-216C-C7C4-7707-8B915EA9682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96348" y="440773"/>
            <a:ext cx="7772400" cy="702227"/>
          </a:xfrm>
        </p:spPr>
        <p:txBody>
          <a:bodyPr>
            <a:normAutofit fontScale="90000"/>
          </a:bodyPr>
          <a:lstStyle/>
          <a:p>
            <a:r>
              <a:rPr lang="en-US" sz="2800" b="1" dirty="0"/>
              <a:t>1. Planning Stage – What Are the Existing Problems?</a:t>
            </a:r>
            <a:endParaRPr lang="en-US" sz="28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6AD4D30-D0B0-20F0-01F9-47A6082E9F1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6775" y="1093304"/>
            <a:ext cx="8314082" cy="5039139"/>
          </a:xfrm>
        </p:spPr>
        <p:txBody>
          <a:bodyPr>
            <a:normAutofit fontScale="55000" lnSpcReduction="20000"/>
          </a:bodyPr>
          <a:lstStyle/>
          <a:p>
            <a:pPr algn="just"/>
            <a:endParaRPr lang="en-US" b="1" dirty="0">
              <a:solidFill>
                <a:schemeClr val="tx1"/>
              </a:solidFill>
            </a:endParaRPr>
          </a:p>
          <a:p>
            <a:pPr algn="just"/>
            <a:r>
              <a:rPr lang="en-US" b="1" dirty="0">
                <a:solidFill>
                  <a:schemeClr val="tx1"/>
                </a:solidFill>
              </a:rPr>
              <a:t>Planning </a:t>
            </a:r>
            <a:r>
              <a:rPr lang="en-US" dirty="0">
                <a:solidFill>
                  <a:schemeClr val="tx1"/>
                </a:solidFill>
              </a:rPr>
              <a:t>is one of the core phases of SDLC. </a:t>
            </a:r>
            <a:r>
              <a:rPr lang="en-US" dirty="0">
                <a:solidFill>
                  <a:srgbClr val="FF0000"/>
                </a:solidFill>
              </a:rPr>
              <a:t>It acts as the foundation of the whole SDLC scheme and paves the way for the successful execution of upcoming steps and, ultimately, a successful project launch</a:t>
            </a:r>
            <a:r>
              <a:rPr lang="en-US" dirty="0">
                <a:solidFill>
                  <a:schemeClr val="tx1"/>
                </a:solidFill>
              </a:rPr>
              <a:t>.</a:t>
            </a:r>
          </a:p>
          <a:p>
            <a:pPr algn="just"/>
            <a:r>
              <a:rPr lang="en-US" dirty="0">
                <a:solidFill>
                  <a:schemeClr val="tx1"/>
                </a:solidFill>
              </a:rPr>
              <a:t>In this stage, the </a:t>
            </a:r>
            <a:r>
              <a:rPr lang="en-US" dirty="0">
                <a:solidFill>
                  <a:srgbClr val="FF0000"/>
                </a:solidFill>
              </a:rPr>
              <a:t>problem</a:t>
            </a:r>
            <a:r>
              <a:rPr lang="en-US" dirty="0">
                <a:solidFill>
                  <a:schemeClr val="tx1"/>
                </a:solidFill>
              </a:rPr>
              <a:t> or pain the software targets is clearly </a:t>
            </a:r>
            <a:r>
              <a:rPr lang="en-US" dirty="0">
                <a:solidFill>
                  <a:srgbClr val="FF0000"/>
                </a:solidFill>
              </a:rPr>
              <a:t>defined</a:t>
            </a:r>
            <a:r>
              <a:rPr lang="en-US" dirty="0">
                <a:solidFill>
                  <a:schemeClr val="tx1"/>
                </a:solidFill>
              </a:rPr>
              <a:t>. </a:t>
            </a:r>
          </a:p>
          <a:p>
            <a:pPr algn="just"/>
            <a:r>
              <a:rPr lang="en-US" dirty="0">
                <a:solidFill>
                  <a:schemeClr val="tx1"/>
                </a:solidFill>
              </a:rPr>
              <a:t>First, developers and other team members </a:t>
            </a:r>
            <a:r>
              <a:rPr lang="en-US" dirty="0">
                <a:solidFill>
                  <a:srgbClr val="FF0000"/>
                </a:solidFill>
              </a:rPr>
              <a:t>outline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>
                <a:solidFill>
                  <a:srgbClr val="FF0000"/>
                </a:solidFill>
              </a:rPr>
              <a:t>objectives</a:t>
            </a:r>
            <a:r>
              <a:rPr lang="en-US" dirty="0">
                <a:solidFill>
                  <a:schemeClr val="tx1"/>
                </a:solidFill>
              </a:rPr>
              <a:t> for the system and draw a rough plan of how the system will work. </a:t>
            </a:r>
          </a:p>
          <a:p>
            <a:pPr algn="just"/>
            <a:r>
              <a:rPr lang="en-US" dirty="0">
                <a:solidFill>
                  <a:schemeClr val="tx1"/>
                </a:solidFill>
              </a:rPr>
              <a:t>Then, they may make use of predictive analysis and AI simulation tools at this stage to test the early-stage </a:t>
            </a:r>
            <a:r>
              <a:rPr lang="en-US" dirty="0">
                <a:solidFill>
                  <a:srgbClr val="FF0000"/>
                </a:solidFill>
              </a:rPr>
              <a:t>validity of an idea.</a:t>
            </a:r>
          </a:p>
          <a:p>
            <a:pPr algn="just"/>
            <a:r>
              <a:rPr lang="en-US" dirty="0">
                <a:solidFill>
                  <a:schemeClr val="tx1"/>
                </a:solidFill>
              </a:rPr>
              <a:t> This analysis helps project managers build a picture of the long-term resources required to develop a solution, potential market uptake, and which obstacles might arise. </a:t>
            </a:r>
          </a:p>
          <a:p>
            <a:pPr algn="just"/>
            <a:r>
              <a:rPr lang="en-US" dirty="0">
                <a:solidFill>
                  <a:srgbClr val="FF0000"/>
                </a:solidFill>
              </a:rPr>
              <a:t>At its core, the planning process helps identify how a specific problem can be solved with a certain software solution</a:t>
            </a:r>
            <a:r>
              <a:rPr lang="en-US" dirty="0">
                <a:solidFill>
                  <a:schemeClr val="tx1"/>
                </a:solidFill>
              </a:rPr>
              <a:t>. </a:t>
            </a:r>
          </a:p>
          <a:p>
            <a:pPr algn="just"/>
            <a:r>
              <a:rPr lang="en-US" dirty="0">
                <a:solidFill>
                  <a:schemeClr val="tx1"/>
                </a:solidFill>
              </a:rPr>
              <a:t>Crucially, the planning stage </a:t>
            </a:r>
            <a:r>
              <a:rPr lang="en-US" dirty="0">
                <a:solidFill>
                  <a:srgbClr val="FF0000"/>
                </a:solidFill>
              </a:rPr>
              <a:t>involves analysis </a:t>
            </a:r>
            <a:r>
              <a:rPr lang="en-US" dirty="0">
                <a:solidFill>
                  <a:schemeClr val="tx1"/>
                </a:solidFill>
              </a:rPr>
              <a:t>of the </a:t>
            </a:r>
            <a:r>
              <a:rPr lang="en-US" b="1" dirty="0">
                <a:solidFill>
                  <a:schemeClr val="tx1"/>
                </a:solidFill>
                <a:highlight>
                  <a:srgbClr val="FFFF00"/>
                </a:highlight>
              </a:rPr>
              <a:t>resources</a:t>
            </a:r>
            <a:r>
              <a:rPr lang="en-US" b="1" dirty="0">
                <a:solidFill>
                  <a:schemeClr val="tx1"/>
                </a:solidFill>
              </a:rPr>
              <a:t> and </a:t>
            </a:r>
            <a:r>
              <a:rPr lang="en-US" b="1" dirty="0">
                <a:solidFill>
                  <a:schemeClr val="tx1"/>
                </a:solidFill>
                <a:highlight>
                  <a:srgbClr val="FFFF00"/>
                </a:highlight>
              </a:rPr>
              <a:t>costs</a:t>
            </a:r>
            <a:r>
              <a:rPr lang="en-US" b="1" dirty="0">
                <a:solidFill>
                  <a:schemeClr val="tx1"/>
                </a:solidFill>
              </a:rPr>
              <a:t> needed to complete the project, as well as estimating the overall price of the software developed</a:t>
            </a:r>
            <a:r>
              <a:rPr lang="en-US" dirty="0">
                <a:solidFill>
                  <a:schemeClr val="tx1"/>
                </a:solidFill>
              </a:rPr>
              <a:t>.</a:t>
            </a:r>
          </a:p>
          <a:p>
            <a:pPr algn="just"/>
            <a:r>
              <a:rPr lang="en-US" dirty="0">
                <a:solidFill>
                  <a:schemeClr val="tx1"/>
                </a:solidFill>
              </a:rPr>
              <a:t>Finally, the planning process clearly defines the </a:t>
            </a:r>
            <a:r>
              <a:rPr lang="en-US" b="1" dirty="0">
                <a:solidFill>
                  <a:srgbClr val="FF0000"/>
                </a:solidFill>
                <a:highlight>
                  <a:srgbClr val="FFFF00"/>
                </a:highlight>
              </a:rPr>
              <a:t>outline of system development</a:t>
            </a:r>
            <a:r>
              <a:rPr lang="en-US" b="1" dirty="0">
                <a:solidFill>
                  <a:srgbClr val="FF0000"/>
                </a:solidFill>
              </a:rPr>
              <a:t>. </a:t>
            </a:r>
            <a:r>
              <a:rPr lang="en-US" dirty="0">
                <a:solidFill>
                  <a:schemeClr val="tx1"/>
                </a:solidFill>
              </a:rPr>
              <a:t>The project manager will </a:t>
            </a:r>
            <a:r>
              <a:rPr lang="en-US" dirty="0">
                <a:solidFill>
                  <a:srgbClr val="FF0000"/>
                </a:solidFill>
              </a:rPr>
              <a:t>set deadlines and time frames </a:t>
            </a:r>
            <a:r>
              <a:rPr lang="en-US" dirty="0">
                <a:solidFill>
                  <a:schemeClr val="tx1"/>
                </a:solidFill>
              </a:rPr>
              <a:t>for each phase of the software development life cycle, ensuring the product</a:t>
            </a:r>
            <a:r>
              <a:rPr lang="en-US" dirty="0">
                <a:solidFill>
                  <a:srgbClr val="FF0000"/>
                </a:solidFill>
              </a:rPr>
              <a:t> is presented to the market in time</a:t>
            </a:r>
            <a:r>
              <a:rPr lang="en-US" dirty="0">
                <a:solidFill>
                  <a:schemeClr val="tx1"/>
                </a:solidFill>
              </a:rPr>
              <a:t>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579259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B666FA-068D-C40C-4F12-A92320CED5F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35496" y="192294"/>
            <a:ext cx="7772400" cy="712167"/>
          </a:xfrm>
        </p:spPr>
        <p:txBody>
          <a:bodyPr>
            <a:noAutofit/>
          </a:bodyPr>
          <a:lstStyle/>
          <a:p>
            <a:r>
              <a:rPr lang="en-US" sz="2800" b="1" dirty="0"/>
              <a:t>2. Analysis Stage – What Do We Want?</a:t>
            </a:r>
            <a:br>
              <a:rPr lang="en-US" sz="2800" dirty="0"/>
            </a:br>
            <a:endParaRPr lang="en-US" sz="28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987C45B-FD60-92B2-404D-8738B508487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77078" y="1093303"/>
            <a:ext cx="8184874" cy="5223013"/>
          </a:xfrm>
        </p:spPr>
        <p:txBody>
          <a:bodyPr>
            <a:normAutofit fontScale="55000" lnSpcReduction="20000"/>
          </a:bodyPr>
          <a:lstStyle/>
          <a:p>
            <a:pPr algn="just"/>
            <a:r>
              <a:rPr lang="en-US" dirty="0">
                <a:solidFill>
                  <a:schemeClr val="tx1"/>
                </a:solidFill>
              </a:rPr>
              <a:t>Once the planning is done, it’s time to switch to the research and analysis stage. </a:t>
            </a:r>
          </a:p>
          <a:p>
            <a:pPr algn="just"/>
            <a:r>
              <a:rPr lang="en-US" dirty="0">
                <a:solidFill>
                  <a:schemeClr val="tx1"/>
                </a:solidFill>
              </a:rPr>
              <a:t>In this step, you </a:t>
            </a:r>
            <a:r>
              <a:rPr lang="en-US" b="1" dirty="0">
                <a:solidFill>
                  <a:schemeClr val="tx1"/>
                </a:solidFill>
              </a:rPr>
              <a:t>incorporate more specific data for your new system</a:t>
            </a:r>
            <a:r>
              <a:rPr lang="en-US" dirty="0">
                <a:solidFill>
                  <a:schemeClr val="tx1"/>
                </a:solidFill>
              </a:rPr>
              <a:t>. This includes the first system </a:t>
            </a:r>
            <a:r>
              <a:rPr lang="en-US" dirty="0">
                <a:solidFill>
                  <a:srgbClr val="FF0000"/>
                </a:solidFill>
              </a:rPr>
              <a:t>prototype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>
                <a:solidFill>
                  <a:srgbClr val="FF0000"/>
                </a:solidFill>
              </a:rPr>
              <a:t>drafts</a:t>
            </a:r>
            <a:r>
              <a:rPr lang="en-US" dirty="0">
                <a:solidFill>
                  <a:schemeClr val="tx1"/>
                </a:solidFill>
              </a:rPr>
              <a:t>, </a:t>
            </a:r>
            <a:r>
              <a:rPr lang="en-US" dirty="0">
                <a:solidFill>
                  <a:srgbClr val="FF0000"/>
                </a:solidFill>
              </a:rPr>
              <a:t>market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>
                <a:solidFill>
                  <a:srgbClr val="FF0000"/>
                </a:solidFill>
              </a:rPr>
              <a:t>research</a:t>
            </a:r>
            <a:r>
              <a:rPr lang="en-US" dirty="0">
                <a:solidFill>
                  <a:schemeClr val="tx1"/>
                </a:solidFill>
              </a:rPr>
              <a:t>, and an </a:t>
            </a:r>
            <a:r>
              <a:rPr lang="en-US" dirty="0">
                <a:solidFill>
                  <a:srgbClr val="FF0000"/>
                </a:solidFill>
              </a:rPr>
              <a:t>evaluation</a:t>
            </a:r>
            <a:r>
              <a:rPr lang="en-US" dirty="0">
                <a:solidFill>
                  <a:schemeClr val="tx1"/>
                </a:solidFill>
              </a:rPr>
              <a:t> of </a:t>
            </a:r>
            <a:r>
              <a:rPr lang="en-US" dirty="0">
                <a:solidFill>
                  <a:srgbClr val="FF0000"/>
                </a:solidFill>
              </a:rPr>
              <a:t>competitors</a:t>
            </a:r>
            <a:r>
              <a:rPr lang="en-US" dirty="0">
                <a:solidFill>
                  <a:schemeClr val="tx1"/>
                </a:solidFill>
              </a:rPr>
              <a:t>. </a:t>
            </a:r>
          </a:p>
          <a:p>
            <a:pPr algn="just"/>
            <a:r>
              <a:rPr lang="en-US" dirty="0">
                <a:solidFill>
                  <a:schemeClr val="tx1"/>
                </a:solidFill>
              </a:rPr>
              <a:t>To successfully complete the analysis and put together all the critical information for a certain project, developers should do the following:</a:t>
            </a:r>
          </a:p>
          <a:p>
            <a:pPr lvl="0" algn="just"/>
            <a:r>
              <a:rPr lang="en-US" b="1" dirty="0">
                <a:solidFill>
                  <a:schemeClr val="tx1"/>
                </a:solidFill>
              </a:rPr>
              <a:t>Generate the system requirements. </a:t>
            </a:r>
            <a:r>
              <a:rPr lang="en-US" dirty="0">
                <a:solidFill>
                  <a:srgbClr val="FF0000"/>
                </a:solidFill>
              </a:rPr>
              <a:t>A </a:t>
            </a:r>
            <a:r>
              <a:rPr lang="en-US" b="1" i="1" dirty="0">
                <a:solidFill>
                  <a:srgbClr val="FF0000"/>
                </a:solidFill>
              </a:rPr>
              <a:t>Software Requirement Specification </a:t>
            </a:r>
            <a:r>
              <a:rPr lang="en-US" i="1" dirty="0">
                <a:solidFill>
                  <a:srgbClr val="FF0000"/>
                </a:solidFill>
              </a:rPr>
              <a:t>(SRS) </a:t>
            </a:r>
            <a:r>
              <a:rPr lang="en-US" b="1" dirty="0">
                <a:solidFill>
                  <a:srgbClr val="FF0000"/>
                </a:solidFill>
              </a:rPr>
              <a:t>document</a:t>
            </a:r>
            <a:r>
              <a:rPr lang="en-US" dirty="0">
                <a:solidFill>
                  <a:schemeClr val="tx1"/>
                </a:solidFill>
              </a:rPr>
              <a:t> will be created at this stage. Your DevOps team should have a high degree of input in determining the functional and network requirements of the upcoming project.</a:t>
            </a:r>
          </a:p>
          <a:p>
            <a:pPr lvl="0" algn="just"/>
            <a:r>
              <a:rPr lang="en-US" b="1" dirty="0">
                <a:solidFill>
                  <a:schemeClr val="tx1"/>
                </a:solidFill>
              </a:rPr>
              <a:t>Evaluate existing prototypes.</a:t>
            </a:r>
            <a:r>
              <a:rPr lang="en-US" dirty="0">
                <a:solidFill>
                  <a:schemeClr val="tx1"/>
                </a:solidFill>
              </a:rPr>
              <a:t> Different prototypes should be evaluated to </a:t>
            </a:r>
            <a:r>
              <a:rPr lang="en-US" dirty="0">
                <a:solidFill>
                  <a:srgbClr val="FF0000"/>
                </a:solidFill>
              </a:rPr>
              <a:t>identify those with the greatest potential. </a:t>
            </a:r>
          </a:p>
          <a:p>
            <a:pPr lvl="0" algn="just"/>
            <a:r>
              <a:rPr lang="en-US" b="1" dirty="0">
                <a:solidFill>
                  <a:schemeClr val="tx1"/>
                </a:solidFill>
              </a:rPr>
              <a:t>Conduct market research. </a:t>
            </a:r>
            <a:r>
              <a:rPr lang="en-US" dirty="0">
                <a:solidFill>
                  <a:schemeClr val="tx1"/>
                </a:solidFill>
              </a:rPr>
              <a:t>Market research is essential to </a:t>
            </a:r>
            <a:r>
              <a:rPr lang="en-US" dirty="0">
                <a:solidFill>
                  <a:srgbClr val="FF0000"/>
                </a:solidFill>
              </a:rPr>
              <a:t>define the pains and needs of end-consumers. </a:t>
            </a:r>
            <a:r>
              <a:rPr lang="en-US" dirty="0">
                <a:solidFill>
                  <a:schemeClr val="tx1"/>
                </a:solidFill>
              </a:rPr>
              <a:t>In recent years, automated NLP (natural language processing) research has been undertaken to glean insights from customer reviews and feedback at scale. </a:t>
            </a:r>
          </a:p>
          <a:p>
            <a:pPr lvl="0" algn="just"/>
            <a:r>
              <a:rPr lang="en-US" b="1" dirty="0">
                <a:solidFill>
                  <a:schemeClr val="tx1"/>
                </a:solidFill>
              </a:rPr>
              <a:t>Set concrete goals. </a:t>
            </a:r>
            <a:r>
              <a:rPr lang="en-US" dirty="0">
                <a:solidFill>
                  <a:schemeClr val="tx1"/>
                </a:solidFill>
              </a:rPr>
              <a:t>Goals are set and allocated to the stages of the system development life cycle. </a:t>
            </a:r>
            <a:r>
              <a:rPr lang="en-US" dirty="0">
                <a:solidFill>
                  <a:srgbClr val="FF0000"/>
                </a:solidFill>
              </a:rPr>
              <a:t>Often, these will correspond to the implementation of specific features.</a:t>
            </a:r>
          </a:p>
          <a:p>
            <a:pPr algn="just"/>
            <a:r>
              <a:rPr lang="en-US" dirty="0">
                <a:solidFill>
                  <a:srgbClr val="FF0000"/>
                </a:solidFill>
              </a:rPr>
              <a:t>Most of the information </a:t>
            </a:r>
            <a:r>
              <a:rPr lang="en-US" dirty="0">
                <a:solidFill>
                  <a:schemeClr val="tx1"/>
                </a:solidFill>
              </a:rPr>
              <a:t>generated at this stage will be </a:t>
            </a:r>
            <a:r>
              <a:rPr lang="en-US" dirty="0">
                <a:solidFill>
                  <a:srgbClr val="FF0000"/>
                </a:solidFill>
              </a:rPr>
              <a:t>contained in the SRS</a:t>
            </a:r>
            <a:r>
              <a:rPr lang="en-US" dirty="0">
                <a:solidFill>
                  <a:schemeClr val="tx1"/>
                </a:solidFill>
                <a:highlight>
                  <a:srgbClr val="FFFF00"/>
                </a:highlight>
              </a:rPr>
              <a:t>. This document shapes the strict regulations for the project and specifies the exact software model you will eventually implement.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1076947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DA6F88-4ED6-71E2-5086-A61EC0F0FDB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5800" y="540165"/>
            <a:ext cx="7772400" cy="483566"/>
          </a:xfrm>
        </p:spPr>
        <p:txBody>
          <a:bodyPr>
            <a:normAutofit fontScale="90000"/>
          </a:bodyPr>
          <a:lstStyle/>
          <a:p>
            <a:r>
              <a:rPr lang="en-US" sz="2800" b="1" dirty="0"/>
              <a:t>3. Design Stage – What Will the Finished Project Look Like?</a:t>
            </a:r>
            <a:br>
              <a:rPr lang="en-US" sz="2800" dirty="0"/>
            </a:br>
            <a:endParaRPr lang="en-US" sz="28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1A1DEA4-3C8F-021F-B3A6-098473395DA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55375" y="1023731"/>
            <a:ext cx="7896638" cy="5294104"/>
          </a:xfrm>
        </p:spPr>
        <p:txBody>
          <a:bodyPr>
            <a:normAutofit fontScale="62500" lnSpcReduction="20000"/>
          </a:bodyPr>
          <a:lstStyle/>
          <a:p>
            <a:pPr algn="just"/>
            <a:r>
              <a:rPr lang="en-US" dirty="0">
                <a:solidFill>
                  <a:schemeClr val="tx1"/>
                </a:solidFill>
              </a:rPr>
              <a:t>The </a:t>
            </a:r>
            <a:r>
              <a:rPr lang="en-US" dirty="0">
                <a:solidFill>
                  <a:srgbClr val="FF0000"/>
                </a:solidFill>
              </a:rPr>
              <a:t>next stage </a:t>
            </a:r>
            <a:r>
              <a:rPr lang="en-US" dirty="0">
                <a:solidFill>
                  <a:schemeClr val="tx1"/>
                </a:solidFill>
              </a:rPr>
              <a:t>of a system development project is </a:t>
            </a:r>
            <a:r>
              <a:rPr lang="en-US" dirty="0">
                <a:solidFill>
                  <a:srgbClr val="FF0000"/>
                </a:solidFill>
              </a:rPr>
              <a:t>design</a:t>
            </a:r>
            <a:r>
              <a:rPr lang="en-US" dirty="0">
                <a:solidFill>
                  <a:schemeClr val="tx1"/>
                </a:solidFill>
              </a:rPr>
              <a:t> and </a:t>
            </a:r>
            <a:r>
              <a:rPr lang="en-US" dirty="0">
                <a:solidFill>
                  <a:srgbClr val="FF0000"/>
                </a:solidFill>
              </a:rPr>
              <a:t>prototyping. </a:t>
            </a:r>
          </a:p>
          <a:p>
            <a:pPr algn="just"/>
            <a:r>
              <a:rPr lang="en-US" dirty="0">
                <a:solidFill>
                  <a:srgbClr val="FF0000"/>
                </a:solidFill>
              </a:rPr>
              <a:t>This process is an essential precursor to development. </a:t>
            </a:r>
            <a:r>
              <a:rPr lang="en-US" dirty="0">
                <a:solidFill>
                  <a:schemeClr val="tx1"/>
                </a:solidFill>
              </a:rPr>
              <a:t>It is often incorrectly equated with the actual development process but is rather an extensive prototyping stage. </a:t>
            </a:r>
          </a:p>
          <a:p>
            <a:pPr algn="just"/>
            <a:r>
              <a:rPr lang="en-US" dirty="0">
                <a:solidFill>
                  <a:schemeClr val="tx1"/>
                </a:solidFill>
              </a:rPr>
              <a:t>This step of the system development life cycle can significantly eliminate the time needed to develop the software. It involves outlining the following: </a:t>
            </a:r>
          </a:p>
          <a:p>
            <a:pPr lvl="0" algn="just"/>
            <a:r>
              <a:rPr lang="en-US" dirty="0">
                <a:solidFill>
                  <a:schemeClr val="tx1"/>
                </a:solidFill>
              </a:rPr>
              <a:t>The </a:t>
            </a:r>
            <a:r>
              <a:rPr lang="en-US" b="1" dirty="0">
                <a:solidFill>
                  <a:schemeClr val="tx1"/>
                </a:solidFill>
              </a:rPr>
              <a:t>system interface; </a:t>
            </a:r>
            <a:r>
              <a:rPr lang="en-US" dirty="0">
                <a:solidFill>
                  <a:schemeClr val="tx1"/>
                </a:solidFill>
              </a:rPr>
              <a:t>Databases, Core software features (including architecture like microservices) </a:t>
            </a:r>
          </a:p>
          <a:p>
            <a:pPr lvl="0" algn="just"/>
            <a:r>
              <a:rPr lang="en-US" b="1" dirty="0">
                <a:solidFill>
                  <a:schemeClr val="tx1"/>
                </a:solidFill>
              </a:rPr>
              <a:t>User interface and usability;</a:t>
            </a:r>
          </a:p>
          <a:p>
            <a:pPr lvl="0" algn="just"/>
            <a:r>
              <a:rPr lang="en-US" b="1" dirty="0">
                <a:solidFill>
                  <a:schemeClr val="tx1"/>
                </a:solidFill>
              </a:rPr>
              <a:t>Network and its requirement;</a:t>
            </a:r>
          </a:p>
          <a:p>
            <a:pPr algn="just"/>
            <a:r>
              <a:rPr lang="en-US" dirty="0">
                <a:solidFill>
                  <a:schemeClr val="tx1"/>
                </a:solidFill>
              </a:rPr>
              <a:t>As a rule, these features help to finalize the SRS document as well as create the first prototype of the software to get the overall idea of how it should look like.</a:t>
            </a:r>
          </a:p>
          <a:p>
            <a:pPr algn="just"/>
            <a:r>
              <a:rPr lang="en-US" dirty="0">
                <a:solidFill>
                  <a:schemeClr val="tx1"/>
                </a:solidFill>
              </a:rPr>
              <a:t>Prototyping tools, which now offer extensive automation and AI features, significantly streamline this stage. They are used for the fast creation of multiple early-stage working prototypes, which can then be evaluated. AI monitoring tools ensure that best practices are rigorously adhered to.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1979835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9A8D80-AA4A-3EB6-7E84-EAD93C07B34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9026" y="644526"/>
            <a:ext cx="7772400" cy="423932"/>
          </a:xfrm>
        </p:spPr>
        <p:txBody>
          <a:bodyPr>
            <a:normAutofit fontScale="90000"/>
          </a:bodyPr>
          <a:lstStyle/>
          <a:p>
            <a:r>
              <a:rPr lang="en-US" sz="3100" b="1" dirty="0"/>
              <a:t>4. Development Stage – Let’s Create the System</a:t>
            </a:r>
            <a:br>
              <a:rPr lang="en-US" dirty="0"/>
            </a:b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85ED004-AF5A-1A8E-C6D8-9ED0E0F8D4E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23022" y="1068458"/>
            <a:ext cx="8254448" cy="4691268"/>
          </a:xfrm>
        </p:spPr>
        <p:txBody>
          <a:bodyPr>
            <a:normAutofit fontScale="70000" lnSpcReduction="20000"/>
          </a:bodyPr>
          <a:lstStyle/>
          <a:p>
            <a:pPr algn="just"/>
            <a:r>
              <a:rPr lang="en-US" dirty="0">
                <a:solidFill>
                  <a:schemeClr val="tx1"/>
                </a:solidFill>
              </a:rPr>
              <a:t>In the </a:t>
            </a:r>
            <a:r>
              <a:rPr lang="en-US" dirty="0">
                <a:solidFill>
                  <a:srgbClr val="FF0000"/>
                </a:solidFill>
              </a:rPr>
              <a:t>development stage </a:t>
            </a:r>
            <a:r>
              <a:rPr lang="en-US" dirty="0">
                <a:solidFill>
                  <a:schemeClr val="tx1"/>
                </a:solidFill>
              </a:rPr>
              <a:t>of SDLC, the system creation process </a:t>
            </a:r>
            <a:r>
              <a:rPr lang="en-US" dirty="0">
                <a:solidFill>
                  <a:srgbClr val="FF0000"/>
                </a:solidFill>
              </a:rPr>
              <a:t>produces a working solution</a:t>
            </a:r>
            <a:r>
              <a:rPr lang="en-US" dirty="0">
                <a:solidFill>
                  <a:schemeClr val="tx1"/>
                </a:solidFill>
              </a:rPr>
              <a:t>. </a:t>
            </a:r>
            <a:r>
              <a:rPr lang="en-US" b="1" dirty="0">
                <a:solidFill>
                  <a:schemeClr val="tx1"/>
                </a:solidFill>
              </a:rPr>
              <a:t>Developers write code and build the app according to the finalized requirements and specification documents.</a:t>
            </a:r>
          </a:p>
          <a:p>
            <a:pPr algn="just"/>
            <a:r>
              <a:rPr lang="en-US" b="1" dirty="0">
                <a:solidFill>
                  <a:schemeClr val="tx1"/>
                </a:solidFill>
              </a:rPr>
              <a:t>This stage includes both front and back-end development</a:t>
            </a:r>
            <a:r>
              <a:rPr lang="en-US" dirty="0">
                <a:solidFill>
                  <a:schemeClr val="tx1"/>
                </a:solidFill>
              </a:rPr>
              <a:t>. DevOps engineers are essential for allocating self-service resources to developers to streamline the process of testing and rollout, for which CI/CD is typically employed. </a:t>
            </a:r>
          </a:p>
          <a:p>
            <a:pPr algn="just"/>
            <a:r>
              <a:rPr lang="en-US" dirty="0">
                <a:solidFill>
                  <a:schemeClr val="tx1"/>
                </a:solidFill>
              </a:rPr>
              <a:t>This phase of the system development life cycle is often split into different sub-stages, especially if a </a:t>
            </a:r>
            <a:r>
              <a:rPr lang="en-US" b="1" dirty="0">
                <a:solidFill>
                  <a:schemeClr val="tx1"/>
                </a:solidFill>
              </a:rPr>
              <a:t>microservice or </a:t>
            </a:r>
            <a:r>
              <a:rPr lang="en-US" b="1" dirty="0" err="1">
                <a:solidFill>
                  <a:schemeClr val="tx1"/>
                </a:solidFill>
              </a:rPr>
              <a:t>miniservice</a:t>
            </a:r>
            <a:r>
              <a:rPr lang="en-US" b="1" dirty="0">
                <a:solidFill>
                  <a:schemeClr val="tx1"/>
                </a:solidFill>
              </a:rPr>
              <a:t> architecture</a:t>
            </a:r>
            <a:r>
              <a:rPr lang="en-US" dirty="0">
                <a:solidFill>
                  <a:schemeClr val="tx1"/>
                </a:solidFill>
              </a:rPr>
              <a:t>, in which development is broken into separate modules, is chosen. </a:t>
            </a:r>
          </a:p>
          <a:p>
            <a:pPr algn="just"/>
            <a:r>
              <a:rPr lang="en-US" dirty="0">
                <a:solidFill>
                  <a:schemeClr val="tx1"/>
                </a:solidFill>
              </a:rPr>
              <a:t>Developers will typically use multiple tools, programming environments, and languages (C++, PHP, Python, and others), all of which will comply with the project specifications and requirements outlined in the SRS document. 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887511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2700" b="1" dirty="0"/>
              <a:t>5. Testing Stage – Is It the Exact One We Needed?</a:t>
            </a:r>
            <a:br>
              <a:rPr lang="en-US" dirty="0"/>
            </a:b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dirty="0"/>
              <a:t>The testing stage ensures the </a:t>
            </a:r>
            <a:r>
              <a:rPr lang="en-US" dirty="0">
                <a:solidFill>
                  <a:srgbClr val="FF0000"/>
                </a:solidFill>
              </a:rPr>
              <a:t>application’s features work correctly and coherently and fulfill user objectives and expectations. </a:t>
            </a:r>
          </a:p>
          <a:p>
            <a:r>
              <a:rPr lang="en-US" dirty="0"/>
              <a:t>This process involves detecting the possible bugs, defects, and errors, searching for vulnerabilities, etc., and can sometimes take up even more time compared to the app-building stage.</a:t>
            </a:r>
          </a:p>
          <a:p>
            <a:r>
              <a:rPr lang="en-US" dirty="0"/>
              <a:t>There </a:t>
            </a:r>
            <a:r>
              <a:rPr lang="en-US" b="1" dirty="0"/>
              <a:t>are various approaches to testing</a:t>
            </a:r>
            <a:r>
              <a:rPr lang="en-US" dirty="0"/>
              <a:t>, and you will likely adopt a mix of methods during this phase. Behavior-driven development, which uses testing outcomes based on plain language to include non-developers in the process, has become increasingly popular. </a:t>
            </a:r>
          </a:p>
          <a:p>
            <a:r>
              <a:rPr lang="en-US" dirty="0"/>
              <a:t>Similarly, automated and cloud-based platforms, which simulate testing environments, take a significant amount of manual time out of this stage of the system development life cycle. Selenium, a browser testing tool, is one popular example of such a platform. 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2700" b="1" dirty="0"/>
              <a:t>6. Integration and Implementation Stage – How Will We Use It?</a:t>
            </a:r>
            <a:br>
              <a:rPr lang="en-US" sz="2700" dirty="0"/>
            </a:br>
            <a:r>
              <a:rPr dirty="0"/>
              <a:t>.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dirty="0"/>
              <a:t>Once the product is ready to go, it’s time to make it </a:t>
            </a:r>
            <a:r>
              <a:rPr lang="en-US" dirty="0">
                <a:solidFill>
                  <a:srgbClr val="FF0000"/>
                </a:solidFill>
              </a:rPr>
              <a:t>available to its end users and deploy it to the production environment.</a:t>
            </a:r>
            <a:r>
              <a:rPr lang="en-US" dirty="0"/>
              <a:t> </a:t>
            </a:r>
          </a:p>
          <a:p>
            <a:r>
              <a:rPr lang="en-US" dirty="0"/>
              <a:t>At this stage, the software undergoes final testing through the training or pre-production environment, after which it’s ready for presentation on the market.</a:t>
            </a:r>
          </a:p>
          <a:p>
            <a:r>
              <a:rPr lang="en-US" dirty="0"/>
              <a:t>It is important that you have contingencies in place when the product is first released to market should any unforeseen issues arise. </a:t>
            </a:r>
            <a:r>
              <a:rPr lang="en-US" b="1" dirty="0"/>
              <a:t>Consider the different deployment methods and select the most appropriate for each case.</a:t>
            </a:r>
          </a:p>
          <a:p>
            <a:r>
              <a:rPr lang="en-US" dirty="0"/>
              <a:t>Microservices architecture, for example, makes it easy to toggle features on and off. And you will likely have multiple rollback protocols. A canary release (to a limited number of users) may be utilized if necessary. 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b="1" dirty="0"/>
              <a:t>7. Maintenance Stage – Let’s Make the Improvements</a:t>
            </a:r>
            <a:endParaRPr lang="en-US" sz="28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dirty="0"/>
              <a:t>The last but not least important stage of the SDLC process is the maintenance stage</a:t>
            </a:r>
            <a:r>
              <a:rPr lang="en-US" b="1" dirty="0"/>
              <a:t>, where the software is already being used by end-users.</a:t>
            </a:r>
          </a:p>
          <a:p>
            <a:r>
              <a:rPr lang="en-US" dirty="0"/>
              <a:t>During the first couple of months, developers </a:t>
            </a:r>
            <a:r>
              <a:rPr lang="en-US" dirty="0">
                <a:solidFill>
                  <a:srgbClr val="FF0000"/>
                </a:solidFill>
              </a:rPr>
              <a:t>might face problems that weren’t detected during initial testing, s</a:t>
            </a:r>
            <a:r>
              <a:rPr lang="en-US" dirty="0"/>
              <a:t>o they should immediately react to the reported issues and implement the changes needed for the software’s stable and convenient usage.</a:t>
            </a:r>
          </a:p>
          <a:p>
            <a:r>
              <a:rPr lang="en-US" b="1" dirty="0"/>
              <a:t>This is particularly important for large systems, which usually are more difficult to test in the debugging stage.</a:t>
            </a:r>
          </a:p>
          <a:p>
            <a:r>
              <a:rPr lang="en-US" dirty="0">
                <a:solidFill>
                  <a:srgbClr val="FF0000"/>
                </a:solidFill>
              </a:rPr>
              <a:t>Automated monitoring tools, which continuously evaluate performance and uptime and detect errors, can assist developers with ongoing quality assurance</a:t>
            </a:r>
            <a:r>
              <a:rPr lang="en-US" dirty="0"/>
              <a:t>. This is also known as “instrumentation.”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03D9EC-4AA6-6AC2-E787-390151226C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Benefits of SDLC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348F25-6FA8-3A17-99DA-AB24105DF4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dirty="0"/>
              <a:t>Having covered the major SDLC methodologies offered by software development companies, let’s now review whether they are actually worth employing. </a:t>
            </a:r>
          </a:p>
          <a:p>
            <a:r>
              <a:rPr lang="en-US" dirty="0">
                <a:solidFill>
                  <a:srgbClr val="FF0000"/>
                </a:solidFill>
              </a:rPr>
              <a:t>Here are the benefits that the system development life cycle provides:</a:t>
            </a:r>
          </a:p>
          <a:p>
            <a:pPr lvl="0">
              <a:buFont typeface="Wingdings" panose="05000000000000000000" pitchFamily="2" charset="2"/>
              <a:buChar char="Ø"/>
            </a:pPr>
            <a:r>
              <a:rPr lang="en-US" dirty="0"/>
              <a:t>Comprehensive overview of system specifications, resources, timeline, and the project goals</a:t>
            </a:r>
          </a:p>
          <a:p>
            <a:pPr lvl="0">
              <a:buFont typeface="Wingdings" panose="05000000000000000000" pitchFamily="2" charset="2"/>
              <a:buChar char="Ø"/>
            </a:pPr>
            <a:r>
              <a:rPr lang="en-US" dirty="0"/>
              <a:t>Clear guidelines for developers</a:t>
            </a:r>
          </a:p>
          <a:p>
            <a:pPr lvl="0">
              <a:buFont typeface="Wingdings" panose="05000000000000000000" pitchFamily="2" charset="2"/>
              <a:buChar char="Ø"/>
            </a:pPr>
            <a:r>
              <a:rPr lang="en-US" dirty="0"/>
              <a:t>Each stage of the development process is tested and monitored</a:t>
            </a:r>
          </a:p>
          <a:p>
            <a:pPr lvl="0">
              <a:buFont typeface="Wingdings" panose="05000000000000000000" pitchFamily="2" charset="2"/>
              <a:buChar char="Ø"/>
            </a:pPr>
            <a:r>
              <a:rPr lang="en-US" dirty="0"/>
              <a:t>Control over large and complex projects</a:t>
            </a:r>
          </a:p>
          <a:p>
            <a:pPr lvl="0">
              <a:buFont typeface="Wingdings" panose="05000000000000000000" pitchFamily="2" charset="2"/>
              <a:buChar char="Ø"/>
            </a:pPr>
            <a:r>
              <a:rPr lang="en-US" dirty="0"/>
              <a:t>Detailed software testing</a:t>
            </a:r>
          </a:p>
          <a:p>
            <a:pPr lvl="0">
              <a:buFont typeface="Wingdings" panose="05000000000000000000" pitchFamily="2" charset="2"/>
              <a:buChar char="Ø"/>
            </a:pPr>
            <a:r>
              <a:rPr lang="en-US" dirty="0"/>
              <a:t>Process flexibility</a:t>
            </a:r>
          </a:p>
          <a:p>
            <a:pPr lvl="0">
              <a:buFont typeface="Wingdings" panose="05000000000000000000" pitchFamily="2" charset="2"/>
              <a:buChar char="Ø"/>
            </a:pPr>
            <a:r>
              <a:rPr lang="en-US" dirty="0"/>
              <a:t>Lower costs and strict time frames for product delivery</a:t>
            </a:r>
          </a:p>
          <a:p>
            <a:pPr lvl="0">
              <a:buFont typeface="Wingdings" panose="05000000000000000000" pitchFamily="2" charset="2"/>
              <a:buChar char="Ø"/>
            </a:pPr>
            <a:r>
              <a:rPr lang="en-US" dirty="0"/>
              <a:t>Enhanced teamwork, collaboration, and shared understanding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7249767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4A9EC0-701E-9BC3-7C06-52B98B0251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Possible Drawbacks of SDLC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9E7BB8-B9AF-FF73-5FFC-6D7D0E8BC3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dirty="0">
                <a:solidFill>
                  <a:srgbClr val="FF0000"/>
                </a:solidFill>
              </a:rPr>
              <a:t>Just like any other software development approach, each SDLC model has its drawbacks:</a:t>
            </a:r>
          </a:p>
          <a:p>
            <a:pPr lvl="0">
              <a:buFont typeface="Wingdings" panose="05000000000000000000" pitchFamily="2" charset="2"/>
              <a:buChar char="Ø"/>
            </a:pPr>
            <a:r>
              <a:rPr lang="en-US" dirty="0"/>
              <a:t>Increased time and costs for the project development if a complex model is required</a:t>
            </a:r>
          </a:p>
          <a:p>
            <a:pPr lvl="0">
              <a:buFont typeface="Wingdings" panose="05000000000000000000" pitchFamily="2" charset="2"/>
              <a:buChar char="Ø"/>
            </a:pPr>
            <a:r>
              <a:rPr lang="en-US" dirty="0"/>
              <a:t>All details need to be specified in advance</a:t>
            </a:r>
          </a:p>
          <a:p>
            <a:pPr lvl="0">
              <a:buFont typeface="Wingdings" panose="05000000000000000000" pitchFamily="2" charset="2"/>
              <a:buChar char="Ø"/>
            </a:pPr>
            <a:r>
              <a:rPr lang="en-US" dirty="0"/>
              <a:t>SDLC models can be restrictive</a:t>
            </a:r>
          </a:p>
          <a:p>
            <a:pPr lvl="0">
              <a:buFont typeface="Wingdings" panose="05000000000000000000" pitchFamily="2" charset="2"/>
              <a:buChar char="Ø"/>
            </a:pPr>
            <a:r>
              <a:rPr lang="en-US" dirty="0"/>
              <a:t>A high volume of documentation which can slow down projects</a:t>
            </a:r>
          </a:p>
          <a:p>
            <a:pPr lvl="0">
              <a:buFont typeface="Wingdings" panose="05000000000000000000" pitchFamily="2" charset="2"/>
              <a:buChar char="Ø"/>
            </a:pPr>
            <a:r>
              <a:rPr lang="en-US" dirty="0"/>
              <a:t>Requires many different specialists</a:t>
            </a:r>
          </a:p>
          <a:p>
            <a:pPr lvl="0">
              <a:buFont typeface="Wingdings" panose="05000000000000000000" pitchFamily="2" charset="2"/>
              <a:buChar char="Ø"/>
            </a:pPr>
            <a:r>
              <a:rPr lang="en-US" dirty="0"/>
              <a:t>Client involvement is usually high</a:t>
            </a:r>
          </a:p>
          <a:p>
            <a:pPr lvl="0">
              <a:buFont typeface="Wingdings" panose="05000000000000000000" pitchFamily="2" charset="2"/>
              <a:buChar char="Ø"/>
            </a:pPr>
            <a:r>
              <a:rPr lang="en-US" dirty="0"/>
              <a:t>Testing might be too complicated for certain development teams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6793560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FACE8B-C4C5-0A8C-EEE4-E314B2C8CCC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10039" y="122721"/>
            <a:ext cx="7772400" cy="1470025"/>
          </a:xfrm>
        </p:spPr>
        <p:txBody>
          <a:bodyPr/>
          <a:lstStyle/>
          <a:p>
            <a:r>
              <a:rPr lang="en-US" dirty="0"/>
              <a:t>Basic 6 SDLC Methodologies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0F24463-3923-C8E4-A6B3-B455853283C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38539" y="1356691"/>
            <a:ext cx="7533861" cy="4282109"/>
          </a:xfrm>
        </p:spPr>
        <p:txBody>
          <a:bodyPr>
            <a:normAutofit fontScale="85000" lnSpcReduction="20000"/>
          </a:bodyPr>
          <a:lstStyle/>
          <a:p>
            <a:pPr algn="just"/>
            <a:r>
              <a:rPr lang="en-US" dirty="0">
                <a:solidFill>
                  <a:schemeClr val="tx1"/>
                </a:solidFill>
              </a:rPr>
              <a:t>Now that you know the basic SDLC phases and why each of them is important, it’s time to dive into the core methodologies of the system development life cycle.</a:t>
            </a:r>
          </a:p>
          <a:p>
            <a:pPr algn="just"/>
            <a:r>
              <a:rPr lang="en-US" dirty="0">
                <a:solidFill>
                  <a:schemeClr val="tx1"/>
                </a:solidFill>
              </a:rPr>
              <a:t>These are the approaches that can help you to deliver a specific software model with unique characteristics and features. Most developers and project managers opt for one of these 6 approaches. Hybrid models are also popular.</a:t>
            </a:r>
          </a:p>
          <a:p>
            <a:pPr algn="just"/>
            <a:r>
              <a:rPr lang="en-US" dirty="0">
                <a:solidFill>
                  <a:schemeClr val="tx1"/>
                </a:solidFill>
              </a:rPr>
              <a:t>Let’s discuss the major </a:t>
            </a:r>
            <a:r>
              <a:rPr lang="en-US" dirty="0">
                <a:solidFill>
                  <a:srgbClr val="FF0000"/>
                </a:solidFill>
              </a:rPr>
              <a:t>differences</a:t>
            </a:r>
            <a:r>
              <a:rPr lang="en-US" dirty="0">
                <a:solidFill>
                  <a:schemeClr val="tx1"/>
                </a:solidFill>
              </a:rPr>
              <a:t> and </a:t>
            </a:r>
            <a:r>
              <a:rPr lang="en-US" dirty="0">
                <a:solidFill>
                  <a:srgbClr val="FF0000"/>
                </a:solidFill>
              </a:rPr>
              <a:t>similarities</a:t>
            </a:r>
            <a:r>
              <a:rPr lang="en-US" dirty="0">
                <a:solidFill>
                  <a:schemeClr val="tx1"/>
                </a:solidFill>
              </a:rPr>
              <a:t> of each.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0070148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C99143-5BD7-0B71-4808-C30FF3B6D32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5800" y="624647"/>
            <a:ext cx="7772400" cy="1470025"/>
          </a:xfrm>
        </p:spPr>
        <p:txBody>
          <a:bodyPr/>
          <a:lstStyle/>
          <a:p>
            <a:r>
              <a:rPr lang="en-US" dirty="0"/>
              <a:t>Read on the SDLC Methodologies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F169AB5-EF16-270D-17AC-943FAE66753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71600" y="1744317"/>
            <a:ext cx="6400800" cy="3894483"/>
          </a:xfrm>
        </p:spPr>
        <p:txBody>
          <a:bodyPr>
            <a:normAutofit/>
          </a:bodyPr>
          <a:lstStyle/>
          <a:p>
            <a:pPr marL="514350" indent="-514350" algn="just">
              <a:buFont typeface="+mj-lt"/>
              <a:buAutoNum type="arabicPeriod"/>
            </a:pPr>
            <a:r>
              <a:rPr lang="en-US" b="1" dirty="0">
                <a:solidFill>
                  <a:schemeClr val="tx1"/>
                </a:solidFill>
              </a:rPr>
              <a:t>Waterfall Model</a:t>
            </a:r>
            <a:endParaRPr lang="en-US" dirty="0">
              <a:solidFill>
                <a:schemeClr val="tx1"/>
              </a:solidFill>
            </a:endParaRPr>
          </a:p>
          <a:p>
            <a:pPr marL="514350" indent="-514350" algn="just">
              <a:buFont typeface="+mj-lt"/>
              <a:buAutoNum type="arabicPeriod"/>
            </a:pPr>
            <a:r>
              <a:rPr lang="en-US" b="1" dirty="0">
                <a:solidFill>
                  <a:schemeClr val="tx1"/>
                </a:solidFill>
              </a:rPr>
              <a:t>Iterative Model</a:t>
            </a:r>
          </a:p>
          <a:p>
            <a:pPr marL="514350" indent="-514350" algn="just">
              <a:buFont typeface="+mj-lt"/>
              <a:buAutoNum type="arabicPeriod"/>
            </a:pPr>
            <a:r>
              <a:rPr lang="en-US" b="1" dirty="0">
                <a:solidFill>
                  <a:schemeClr val="tx1"/>
                </a:solidFill>
              </a:rPr>
              <a:t>Spiral Model</a:t>
            </a:r>
          </a:p>
          <a:p>
            <a:pPr marL="514350" indent="-514350" algn="just">
              <a:buFont typeface="+mj-lt"/>
              <a:buAutoNum type="arabicPeriod"/>
            </a:pPr>
            <a:r>
              <a:rPr lang="en-US" b="1" dirty="0">
                <a:solidFill>
                  <a:schemeClr val="tx1"/>
                </a:solidFill>
              </a:rPr>
              <a:t>V-Model</a:t>
            </a:r>
          </a:p>
          <a:p>
            <a:pPr marL="514350" indent="-514350" algn="just">
              <a:buFont typeface="+mj-lt"/>
              <a:buAutoNum type="arabicPeriod"/>
            </a:pPr>
            <a:r>
              <a:rPr lang="en-US" b="1" dirty="0">
                <a:solidFill>
                  <a:schemeClr val="tx1"/>
                </a:solidFill>
              </a:rPr>
              <a:t>The Big Bang Model</a:t>
            </a:r>
          </a:p>
          <a:p>
            <a:pPr marL="514350" indent="-514350" algn="just">
              <a:buFont typeface="+mj-lt"/>
              <a:buAutoNum type="arabicPeriod"/>
            </a:pPr>
            <a:r>
              <a:rPr lang="en-US" b="1" dirty="0">
                <a:solidFill>
                  <a:schemeClr val="tx1"/>
                </a:solidFill>
              </a:rPr>
              <a:t>Agile Model</a:t>
            </a:r>
            <a:endParaRPr lang="en-US" dirty="0">
              <a:solidFill>
                <a:schemeClr val="tx1"/>
              </a:solidFill>
            </a:endParaRPr>
          </a:p>
          <a:p>
            <a:endParaRPr lang="en-US" dirty="0"/>
          </a:p>
          <a:p>
            <a:endParaRPr lang="en-US" dirty="0"/>
          </a:p>
          <a:p>
            <a:endParaRPr lang="en-US" b="1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0993086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99201B-2146-05BE-A6E2-619BFD36754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13182" y="-71092"/>
            <a:ext cx="7772400" cy="786709"/>
          </a:xfrm>
        </p:spPr>
        <p:txBody>
          <a:bodyPr/>
          <a:lstStyle/>
          <a:p>
            <a:r>
              <a:rPr lang="en-US" dirty="0"/>
              <a:t>Revision Questions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34C85F7-77BE-5508-0359-FD22AA51B9D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81439" y="1038639"/>
            <a:ext cx="7593495" cy="5218044"/>
          </a:xfrm>
        </p:spPr>
        <p:txBody>
          <a:bodyPr>
            <a:normAutofit fontScale="62500" lnSpcReduction="20000"/>
          </a:bodyPr>
          <a:lstStyle/>
          <a:p>
            <a:pPr lvl="0" algn="just"/>
            <a:r>
              <a:rPr lang="en-US" dirty="0">
                <a:solidFill>
                  <a:schemeClr val="tx1"/>
                </a:solidFill>
              </a:rPr>
              <a:t>1. Your university wants to digitize the </a:t>
            </a:r>
            <a:r>
              <a:rPr lang="en-US" b="1" dirty="0">
                <a:solidFill>
                  <a:schemeClr val="tx1"/>
                </a:solidFill>
              </a:rPr>
              <a:t>student clearance and graduation process</a:t>
            </a:r>
            <a:r>
              <a:rPr lang="en-US" dirty="0">
                <a:solidFill>
                  <a:schemeClr val="tx1"/>
                </a:solidFill>
              </a:rPr>
              <a:t>, but requirements are not yet fully understood.</a:t>
            </a:r>
          </a:p>
          <a:p>
            <a:pPr lvl="1" algn="just"/>
            <a:r>
              <a:rPr lang="en-US" dirty="0">
                <a:solidFill>
                  <a:schemeClr val="tx1"/>
                </a:solidFill>
              </a:rPr>
              <a:t>Which SDLC model would you recommend?</a:t>
            </a:r>
          </a:p>
          <a:p>
            <a:pPr lvl="1" algn="just"/>
            <a:r>
              <a:rPr lang="en-US" dirty="0">
                <a:solidFill>
                  <a:schemeClr val="tx1"/>
                </a:solidFill>
              </a:rPr>
              <a:t>Justify your answer with </a:t>
            </a:r>
            <a:r>
              <a:rPr lang="en-US" b="1" dirty="0">
                <a:solidFill>
                  <a:schemeClr val="tx1"/>
                </a:solidFill>
              </a:rPr>
              <a:t>at least three reasons</a:t>
            </a:r>
            <a:r>
              <a:rPr lang="en-US" dirty="0">
                <a:solidFill>
                  <a:schemeClr val="tx1"/>
                </a:solidFill>
              </a:rPr>
              <a:t>.</a:t>
            </a:r>
          </a:p>
          <a:p>
            <a:pPr lvl="1" algn="just"/>
            <a:endParaRPr lang="en-US" dirty="0">
              <a:solidFill>
                <a:schemeClr val="tx1"/>
              </a:solidFill>
            </a:endParaRPr>
          </a:p>
          <a:p>
            <a:pPr lvl="0" algn="just"/>
            <a:r>
              <a:rPr lang="en-US" dirty="0">
                <a:solidFill>
                  <a:schemeClr val="tx1"/>
                </a:solidFill>
              </a:rPr>
              <a:t>2. A national hospital is developing a </a:t>
            </a:r>
            <a:r>
              <a:rPr lang="en-US" b="1" dirty="0">
                <a:solidFill>
                  <a:schemeClr val="tx1"/>
                </a:solidFill>
              </a:rPr>
              <a:t>critical patient-records system</a:t>
            </a:r>
            <a:r>
              <a:rPr lang="en-US" dirty="0">
                <a:solidFill>
                  <a:schemeClr val="tx1"/>
                </a:solidFill>
              </a:rPr>
              <a:t> where </a:t>
            </a:r>
            <a:r>
              <a:rPr lang="en-US" b="1" dirty="0">
                <a:solidFill>
                  <a:schemeClr val="tx1"/>
                </a:solidFill>
              </a:rPr>
              <a:t>accuracy and testing</a:t>
            </a:r>
            <a:r>
              <a:rPr lang="en-US" dirty="0">
                <a:solidFill>
                  <a:schemeClr val="tx1"/>
                </a:solidFill>
              </a:rPr>
              <a:t> are essential.</a:t>
            </a:r>
          </a:p>
          <a:p>
            <a:pPr lvl="1" algn="just"/>
            <a:r>
              <a:rPr lang="en-US" dirty="0">
                <a:solidFill>
                  <a:schemeClr val="tx1"/>
                </a:solidFill>
              </a:rPr>
              <a:t>Which SDLC model best fits this context?</a:t>
            </a:r>
          </a:p>
          <a:p>
            <a:pPr lvl="1" algn="just"/>
            <a:r>
              <a:rPr lang="en-US" dirty="0">
                <a:solidFill>
                  <a:schemeClr val="tx1"/>
                </a:solidFill>
              </a:rPr>
              <a:t>Explain how it ensures safety and reliability.</a:t>
            </a:r>
          </a:p>
          <a:p>
            <a:pPr lvl="1" algn="just"/>
            <a:endParaRPr lang="en-US" dirty="0">
              <a:solidFill>
                <a:schemeClr val="tx1"/>
              </a:solidFill>
            </a:endParaRPr>
          </a:p>
          <a:p>
            <a:pPr lvl="0" algn="just"/>
            <a:r>
              <a:rPr lang="en-US" dirty="0">
                <a:solidFill>
                  <a:schemeClr val="tx1"/>
                </a:solidFill>
              </a:rPr>
              <a:t>3. A software startup is building a </a:t>
            </a:r>
            <a:r>
              <a:rPr lang="en-US" b="1" dirty="0">
                <a:solidFill>
                  <a:schemeClr val="tx1"/>
                </a:solidFill>
              </a:rPr>
              <a:t>new mobile-payment application</a:t>
            </a:r>
            <a:r>
              <a:rPr lang="en-US" dirty="0">
                <a:solidFill>
                  <a:schemeClr val="tx1"/>
                </a:solidFill>
              </a:rPr>
              <a:t> and needs to </a:t>
            </a:r>
            <a:r>
              <a:rPr lang="en-US" b="1" dirty="0">
                <a:solidFill>
                  <a:schemeClr val="tx1"/>
                </a:solidFill>
              </a:rPr>
              <a:t>release improvements rapidly</a:t>
            </a:r>
            <a:r>
              <a:rPr lang="en-US" dirty="0">
                <a:solidFill>
                  <a:schemeClr val="tx1"/>
                </a:solidFill>
              </a:rPr>
              <a:t>.</a:t>
            </a:r>
          </a:p>
          <a:p>
            <a:pPr lvl="1" algn="just"/>
            <a:r>
              <a:rPr lang="en-US" dirty="0">
                <a:solidFill>
                  <a:schemeClr val="tx1"/>
                </a:solidFill>
              </a:rPr>
              <a:t>Which SDLC approach should be adopted?</a:t>
            </a:r>
          </a:p>
          <a:p>
            <a:pPr lvl="1" algn="just"/>
            <a:endParaRPr lang="en-US" dirty="0">
              <a:solidFill>
                <a:schemeClr val="tx1"/>
              </a:solidFill>
            </a:endParaRPr>
          </a:p>
          <a:p>
            <a:pPr lvl="1" algn="just"/>
            <a:r>
              <a:rPr lang="en-US" dirty="0">
                <a:solidFill>
                  <a:schemeClr val="tx1"/>
                </a:solidFill>
              </a:rPr>
              <a:t>Describe how the approach supports continuous enhancement.</a:t>
            </a:r>
          </a:p>
          <a:p>
            <a:pPr lvl="0" algn="just"/>
            <a:r>
              <a:rPr lang="en-US" dirty="0">
                <a:solidFill>
                  <a:schemeClr val="tx1"/>
                </a:solidFill>
              </a:rPr>
              <a:t>4. A government agency plans a complex system involving </a:t>
            </a:r>
            <a:r>
              <a:rPr lang="en-US" b="1" dirty="0">
                <a:solidFill>
                  <a:schemeClr val="tx1"/>
                </a:solidFill>
              </a:rPr>
              <a:t>multiple vendor integrations</a:t>
            </a:r>
            <a:r>
              <a:rPr lang="en-US" dirty="0">
                <a:solidFill>
                  <a:schemeClr val="tx1"/>
                </a:solidFill>
              </a:rPr>
              <a:t> and </a:t>
            </a:r>
            <a:r>
              <a:rPr lang="en-US" b="1" dirty="0">
                <a:solidFill>
                  <a:schemeClr val="tx1"/>
                </a:solidFill>
              </a:rPr>
              <a:t>high uncertainty</a:t>
            </a:r>
            <a:r>
              <a:rPr lang="en-US" dirty="0">
                <a:solidFill>
                  <a:schemeClr val="tx1"/>
                </a:solidFill>
              </a:rPr>
              <a:t> in requirements.</a:t>
            </a:r>
          </a:p>
          <a:p>
            <a:pPr lvl="1" algn="just"/>
            <a:r>
              <a:rPr lang="en-US" dirty="0">
                <a:solidFill>
                  <a:schemeClr val="tx1"/>
                </a:solidFill>
              </a:rPr>
              <a:t>Explain why the </a:t>
            </a:r>
            <a:r>
              <a:rPr lang="en-US" b="1" dirty="0">
                <a:solidFill>
                  <a:schemeClr val="tx1"/>
                </a:solidFill>
              </a:rPr>
              <a:t>Spiral model</a:t>
            </a:r>
            <a:r>
              <a:rPr lang="en-US" dirty="0">
                <a:solidFill>
                  <a:schemeClr val="tx1"/>
                </a:solidFill>
              </a:rPr>
              <a:t> or a </a:t>
            </a:r>
            <a:r>
              <a:rPr lang="en-US" b="1" dirty="0">
                <a:solidFill>
                  <a:schemeClr val="tx1"/>
                </a:solidFill>
              </a:rPr>
              <a:t>Hybrid Agile–Waterfall model</a:t>
            </a:r>
            <a:r>
              <a:rPr lang="en-US" dirty="0">
                <a:solidFill>
                  <a:schemeClr val="tx1"/>
                </a:solidFill>
              </a:rPr>
              <a:t> might be ideal.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8664027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1252</TotalTime>
  <Words>1794</Words>
  <Application>Microsoft Office PowerPoint</Application>
  <PresentationFormat>On-screen Show (4:3)</PresentationFormat>
  <Paragraphs>104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Arial</vt:lpstr>
      <vt:lpstr>Calibri</vt:lpstr>
      <vt:lpstr>Wingdings</vt:lpstr>
      <vt:lpstr>Office Theme</vt:lpstr>
      <vt:lpstr>SDLC Methodologies</vt:lpstr>
      <vt:lpstr>SDLC Steps</vt:lpstr>
      <vt:lpstr>PowerPoint Presentation</vt:lpstr>
      <vt:lpstr>1. Planning Stage – What Are the Existing Problems?</vt:lpstr>
      <vt:lpstr>2. Analysis Stage – What Do We Want? </vt:lpstr>
      <vt:lpstr>3. Design Stage – What Will the Finished Project Look Like? </vt:lpstr>
      <vt:lpstr>4. Development Stage – Let’s Create the System </vt:lpstr>
      <vt:lpstr>5. Testing Stage – Is It the Exact One We Needed? </vt:lpstr>
      <vt:lpstr>6. Integration and Implementation Stage – How Will We Use It? . </vt:lpstr>
      <vt:lpstr>7. Maintenance Stage – Let’s Make the Improvements</vt:lpstr>
      <vt:lpstr>Benefits of SDLC </vt:lpstr>
      <vt:lpstr>Possible Drawbacks of SDLC </vt:lpstr>
      <vt:lpstr>Basic 6 SDLC Methodologies</vt:lpstr>
      <vt:lpstr>Read on the SDLC Methodologies </vt:lpstr>
      <vt:lpstr>Revision Questions 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USER</dc:creator>
  <cp:keywords/>
  <dc:description>generated using python-pptx</dc:description>
  <cp:lastModifiedBy>USER</cp:lastModifiedBy>
  <cp:revision>12</cp:revision>
  <dcterms:created xsi:type="dcterms:W3CDTF">2013-01-27T09:14:16Z</dcterms:created>
  <dcterms:modified xsi:type="dcterms:W3CDTF">2025-10-28T06:07:14Z</dcterms:modified>
  <cp:category/>
</cp:coreProperties>
</file>