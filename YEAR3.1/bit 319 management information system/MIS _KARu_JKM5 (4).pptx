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autoAdjust="0"/>
    <p:restoredTop sz="94660"/>
  </p:normalViewPr>
  <p:slideViewPr>
    <p:cSldViewPr>
      <p:cViewPr varScale="1">
        <p:scale>
          <a:sx n="89" d="100"/>
          <a:sy n="89" d="100"/>
        </p:scale>
        <p:origin x="1125" y="4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E0EC1E-36BD-471E-91D4-A7B0D9FA6618}" type="datetimeFigureOut">
              <a:rPr lang="en-US" smtClean="0"/>
              <a:t>10/3/2025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420283-1543-4D3B-A016-6485A0440289}" type="slidenum">
              <a:rPr lang="en-US" smtClean="0"/>
              <a:t>‹#›</a:t>
            </a:fld>
            <a:endParaRPr lang="en-US"/>
          </a:p>
        </p:txBody>
      </p:sp>
    </p:spTree>
    <p:extLst>
      <p:ext uri="{BB962C8B-B14F-4D97-AF65-F5344CB8AC3E}">
        <p14:creationId xmlns:p14="http://schemas.microsoft.com/office/powerpoint/2010/main" val="2933448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420283-1543-4D3B-A016-6485A0440289}" type="slidenum">
              <a:rPr lang="en-US" smtClean="0"/>
              <a:t>10</a:t>
            </a:fld>
            <a:endParaRPr lang="en-US"/>
          </a:p>
        </p:txBody>
      </p:sp>
    </p:spTree>
    <p:extLst>
      <p:ext uri="{BB962C8B-B14F-4D97-AF65-F5344CB8AC3E}">
        <p14:creationId xmlns:p14="http://schemas.microsoft.com/office/powerpoint/2010/main" val="1782524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4B1D099-F2A2-40DB-A2EE-E82824E62818}"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51961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B1D099-F2A2-40DB-A2EE-E82824E62818}"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841126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B1D099-F2A2-40DB-A2EE-E82824E62818}"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702581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B1D099-F2A2-40DB-A2EE-E82824E62818}"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3953527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4B1D099-F2A2-40DB-A2EE-E82824E62818}" type="datetimeFigureOut">
              <a:rPr lang="en-US" smtClean="0"/>
              <a:t>10/3/2025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1289906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4B1D099-F2A2-40DB-A2EE-E82824E62818}" type="datetimeFigureOut">
              <a:rPr lang="en-US" smtClean="0"/>
              <a:t>10/3/2025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1109961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1D099-F2A2-40DB-A2EE-E82824E62818}" type="datetimeFigureOut">
              <a:rPr lang="en-US" smtClean="0"/>
              <a:t>10/3/2025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193958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B1D099-F2A2-40DB-A2EE-E82824E62818}"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2346412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B1D099-F2A2-40DB-A2EE-E82824E62818}"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3245269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B1D099-F2A2-40DB-A2EE-E82824E62818}"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4182313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B1D099-F2A2-40DB-A2EE-E82824E62818}"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D4BBAC-A4DD-4E42-BB60-D6C457C1B68C}" type="slidenum">
              <a:rPr lang="en-US" smtClean="0"/>
              <a:t>‹#›</a:t>
            </a:fld>
            <a:endParaRPr lang="en-US"/>
          </a:p>
        </p:txBody>
      </p:sp>
    </p:spTree>
    <p:extLst>
      <p:ext uri="{BB962C8B-B14F-4D97-AF65-F5344CB8AC3E}">
        <p14:creationId xmlns:p14="http://schemas.microsoft.com/office/powerpoint/2010/main" val="3764144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1D099-F2A2-40DB-A2EE-E82824E62818}" type="datetimeFigureOut">
              <a:rPr lang="en-US" smtClean="0"/>
              <a:t>10/3/2025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D4BBAC-A4DD-4E42-BB60-D6C457C1B68C}" type="slidenum">
              <a:rPr lang="en-US" smtClean="0"/>
              <a:t>‹#›</a:t>
            </a:fld>
            <a:endParaRPr lang="en-US"/>
          </a:p>
        </p:txBody>
      </p:sp>
    </p:spTree>
    <p:extLst>
      <p:ext uri="{BB962C8B-B14F-4D97-AF65-F5344CB8AC3E}">
        <p14:creationId xmlns:p14="http://schemas.microsoft.com/office/powerpoint/2010/main" val="934929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09600"/>
            <a:ext cx="7772400" cy="688975"/>
          </a:xfrm>
        </p:spPr>
        <p:txBody>
          <a:bodyPr>
            <a:normAutofit fontScale="90000"/>
          </a:bodyPr>
          <a:lstStyle/>
          <a:p>
            <a:r>
              <a:rPr lang="en-US" sz="3600" b="1" u="heavy" dirty="0"/>
              <a:t>ETHICAL AND SOCIAL ISSUES IN INFORMATION SYSTEMS</a:t>
            </a:r>
            <a:br>
              <a:rPr lang="en-US" dirty="0"/>
            </a:br>
            <a:endParaRPr lang="en-US" dirty="0"/>
          </a:p>
        </p:txBody>
      </p:sp>
      <p:sp>
        <p:nvSpPr>
          <p:cNvPr id="3" name="Subtitle 2"/>
          <p:cNvSpPr>
            <a:spLocks noGrp="1"/>
          </p:cNvSpPr>
          <p:nvPr>
            <p:ph type="subTitle" idx="1"/>
          </p:nvPr>
        </p:nvSpPr>
        <p:spPr>
          <a:xfrm>
            <a:off x="304800" y="1295400"/>
            <a:ext cx="8686800" cy="5486400"/>
          </a:xfrm>
        </p:spPr>
        <p:txBody>
          <a:bodyPr>
            <a:normAutofit fontScale="85000" lnSpcReduction="20000"/>
          </a:bodyPr>
          <a:lstStyle/>
          <a:p>
            <a:pPr algn="l"/>
            <a:r>
              <a:rPr lang="en-US" b="1" dirty="0">
                <a:solidFill>
                  <a:schemeClr val="tx1"/>
                </a:solidFill>
              </a:rPr>
              <a:t>Understanding Ethical and Social Issues Related to Systems</a:t>
            </a:r>
          </a:p>
          <a:p>
            <a:pPr algn="l"/>
            <a:r>
              <a:rPr lang="en-US" b="1" dirty="0">
                <a:solidFill>
                  <a:schemeClr val="tx1"/>
                </a:solidFill>
              </a:rPr>
              <a:t> </a:t>
            </a:r>
            <a:endParaRPr lang="en-US" dirty="0">
              <a:solidFill>
                <a:schemeClr val="tx1"/>
              </a:solidFill>
            </a:endParaRPr>
          </a:p>
          <a:p>
            <a:pPr algn="l"/>
            <a:r>
              <a:rPr lang="en-US" b="1" dirty="0">
                <a:solidFill>
                  <a:schemeClr val="tx1"/>
                </a:solidFill>
              </a:rPr>
              <a:t>Ethics are the principles of right and wrong, individuals acting as free moral agents, use to make choices to guide their behavior. </a:t>
            </a:r>
          </a:p>
          <a:p>
            <a:pPr algn="l"/>
            <a:r>
              <a:rPr lang="en-US" b="1" dirty="0">
                <a:solidFill>
                  <a:schemeClr val="tx1"/>
                </a:solidFill>
              </a:rPr>
              <a:t>Information systems raise new ethical questions </a:t>
            </a:r>
            <a:r>
              <a:rPr lang="en-US" dirty="0">
                <a:solidFill>
                  <a:schemeClr val="tx1"/>
                </a:solidFill>
              </a:rPr>
              <a:t>for both individuals and societies because they create opportunities for intense social change. </a:t>
            </a:r>
          </a:p>
          <a:p>
            <a:pPr algn="l"/>
            <a:r>
              <a:rPr lang="en-US" b="1" dirty="0">
                <a:solidFill>
                  <a:schemeClr val="tx1"/>
                </a:solidFill>
              </a:rPr>
              <a:t>Ethical, social, and political issues are closely linked</a:t>
            </a:r>
            <a:r>
              <a:rPr lang="en-US" dirty="0">
                <a:solidFill>
                  <a:schemeClr val="tx1"/>
                </a:solidFill>
              </a:rPr>
              <a:t>. Introduction of new technology has a ripple effect in the current equilibrium, </a:t>
            </a:r>
            <a:r>
              <a:rPr lang="en-US" b="1" dirty="0">
                <a:solidFill>
                  <a:schemeClr val="tx1"/>
                </a:solidFill>
              </a:rPr>
              <a:t>creating new ethical, social, and political issues </a:t>
            </a:r>
            <a:r>
              <a:rPr lang="en-US" dirty="0">
                <a:solidFill>
                  <a:schemeClr val="tx1"/>
                </a:solidFill>
              </a:rPr>
              <a:t>that must be dealt with on individual, social, and political levels. </a:t>
            </a:r>
          </a:p>
          <a:p>
            <a:br>
              <a:rPr lang="en-US" dirty="0"/>
            </a:br>
            <a:endParaRPr lang="en-US" dirty="0"/>
          </a:p>
        </p:txBody>
      </p:sp>
    </p:spTree>
    <p:extLst>
      <p:ext uri="{BB962C8B-B14F-4D97-AF65-F5344CB8AC3E}">
        <p14:creationId xmlns:p14="http://schemas.microsoft.com/office/powerpoint/2010/main" val="1111096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3100" b="1" dirty="0"/>
            </a:br>
            <a:r>
              <a:rPr lang="en-US" sz="3100" b="1" dirty="0"/>
              <a:t>FIGURE 4-1 THE RELATIONSHIP BETWEEN ETHICAL, SOCIAL, AND POLITICAL ISSUES IN AN INFORMATION SOCIETY</a:t>
            </a:r>
            <a:br>
              <a:rPr lang="en-US" b="1" dirty="0"/>
            </a:br>
            <a:endParaRPr lang="en-US" b="1"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1" y="1618644"/>
            <a:ext cx="8534398" cy="4489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934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a:bodyPr>
          <a:lstStyle/>
          <a:p>
            <a:r>
              <a:rPr lang="en-US" sz="2800" dirty="0"/>
              <a:t>The introduction of new information technology has a ripple effect, raising new ethical, social, and political issues that must be dealt with on the individual, social, and political levels. These issues have five moral dimensions: </a:t>
            </a:r>
            <a:r>
              <a:rPr lang="en-US" sz="2800" b="1" dirty="0"/>
              <a:t>information rights and obligations, property rights and obligations, system quality, quality of life, and accountability and control</a:t>
            </a:r>
            <a:r>
              <a:rPr lang="en-US" sz="2800" dirty="0"/>
              <a:t>.</a:t>
            </a:r>
          </a:p>
          <a:p>
            <a:r>
              <a:rPr lang="en-US" sz="2800" dirty="0"/>
              <a:t>There are five </a:t>
            </a:r>
            <a:r>
              <a:rPr lang="en-US" sz="2800" dirty="0">
                <a:solidFill>
                  <a:srgbClr val="FF0000"/>
                </a:solidFill>
              </a:rPr>
              <a:t>main moral dimensions that </a:t>
            </a:r>
            <a:r>
              <a:rPr lang="en-US" sz="2800" dirty="0"/>
              <a:t>tie together ethical, social, and political issues in an information society. These moral dimensions are:</a:t>
            </a:r>
          </a:p>
          <a:p>
            <a:endParaRPr lang="en-US" dirty="0"/>
          </a:p>
        </p:txBody>
      </p:sp>
    </p:spTree>
    <p:extLst>
      <p:ext uri="{BB962C8B-B14F-4D97-AF65-F5344CB8AC3E}">
        <p14:creationId xmlns:p14="http://schemas.microsoft.com/office/powerpoint/2010/main" val="3767700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7500" lnSpcReduction="20000"/>
          </a:bodyPr>
          <a:lstStyle/>
          <a:p>
            <a:pPr marL="514350" indent="-514350">
              <a:buFont typeface="+mj-lt"/>
              <a:buAutoNum type="arabicPeriod"/>
            </a:pPr>
            <a:r>
              <a:rPr lang="en-US" b="1" dirty="0"/>
              <a:t>Information rights and obligations. </a:t>
            </a:r>
            <a:r>
              <a:rPr lang="en-US" dirty="0"/>
              <a:t>What information rights do individuals and organizations possess with respect to themselves? What can they protect?</a:t>
            </a:r>
          </a:p>
          <a:p>
            <a:pPr marL="514350" indent="-514350">
              <a:buFont typeface="+mj-lt"/>
              <a:buAutoNum type="arabicPeriod"/>
            </a:pPr>
            <a:r>
              <a:rPr lang="en-US" b="1" dirty="0"/>
              <a:t>Property rights and obligations. </a:t>
            </a:r>
            <a:r>
              <a:rPr lang="en-US" dirty="0"/>
              <a:t>How will traditional intellectual property rights be protected in a digital society in which tracing and accounting for ownership are difficult and ignoring such property rights is so easy?</a:t>
            </a:r>
          </a:p>
          <a:p>
            <a:pPr marL="514350" indent="-514350">
              <a:buFont typeface="+mj-lt"/>
              <a:buAutoNum type="arabicPeriod"/>
            </a:pPr>
            <a:r>
              <a:rPr lang="en-US" b="1" dirty="0"/>
              <a:t>Accountability and control.  </a:t>
            </a:r>
            <a:r>
              <a:rPr lang="en-US" dirty="0"/>
              <a:t>Who can and will be held accountable and liable for the harm done to individual and collective information and property rights?</a:t>
            </a:r>
          </a:p>
          <a:p>
            <a:pPr marL="514350" indent="-514350">
              <a:buFont typeface="+mj-lt"/>
              <a:buAutoNum type="arabicPeriod"/>
            </a:pPr>
            <a:r>
              <a:rPr lang="en-US" b="1" dirty="0"/>
              <a:t>System quality.  </a:t>
            </a:r>
            <a:r>
              <a:rPr lang="en-US" dirty="0"/>
              <a:t>What standards of data and system quality should we demand to protect individual rights and the safety of society?</a:t>
            </a:r>
          </a:p>
          <a:p>
            <a:pPr marL="514350" indent="-514350">
              <a:buFont typeface="+mj-lt"/>
              <a:buAutoNum type="arabicPeriod"/>
            </a:pPr>
            <a:r>
              <a:rPr lang="en-US" b="1" dirty="0"/>
              <a:t>Quality of Life</a:t>
            </a:r>
            <a:r>
              <a:rPr lang="en-US" dirty="0"/>
              <a:t>. What values should be preserved in an information- and knowledge-based society?</a:t>
            </a:r>
          </a:p>
          <a:p>
            <a:pPr marL="514350" indent="-514350">
              <a:buFont typeface="+mj-lt"/>
              <a:buAutoNum type="arabicPeriod"/>
            </a:pPr>
            <a:endParaRPr lang="en-US" dirty="0"/>
          </a:p>
        </p:txBody>
      </p:sp>
    </p:spTree>
    <p:extLst>
      <p:ext uri="{BB962C8B-B14F-4D97-AF65-F5344CB8AC3E}">
        <p14:creationId xmlns:p14="http://schemas.microsoft.com/office/powerpoint/2010/main" val="483649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629400"/>
          </a:xfrm>
        </p:spPr>
        <p:txBody>
          <a:bodyPr>
            <a:normAutofit fontScale="70000" lnSpcReduction="20000"/>
          </a:bodyPr>
          <a:lstStyle/>
          <a:p>
            <a:r>
              <a:rPr lang="en-US" dirty="0"/>
              <a:t>Four key technology trends have heightened the ethical stresses on existing social arrangements and laws.</a:t>
            </a:r>
          </a:p>
          <a:p>
            <a:pPr lvl="0"/>
            <a:r>
              <a:rPr lang="en-US" b="1" dirty="0"/>
              <a:t>Computing power has doubled every 18 months </a:t>
            </a:r>
            <a:r>
              <a:rPr lang="en-US" dirty="0"/>
              <a:t>allowing growing numbers of organizations to use information systems in their core business processes. This growing dependence on critical systems increases vulnerability to system errors and poor data quality.</a:t>
            </a:r>
          </a:p>
          <a:p>
            <a:pPr lvl="0"/>
            <a:r>
              <a:rPr lang="en-US" b="1" dirty="0"/>
              <a:t>Advances in data storage techniques </a:t>
            </a:r>
            <a:r>
              <a:rPr lang="en-US" dirty="0"/>
              <a:t>have enabled for the multiplying databases on individuals maintained by private and public organizations - making the violation of individual privacy both cheap and effective.</a:t>
            </a:r>
          </a:p>
          <a:p>
            <a:pPr lvl="0"/>
            <a:r>
              <a:rPr lang="en-US" b="1" dirty="0"/>
              <a:t>Advances in data analysis techniques </a:t>
            </a:r>
            <a:r>
              <a:rPr lang="en-US" dirty="0"/>
              <a:t>enable companies and government agencies use profiling to determine detailed information about individual's habits and tastes and create dossiers of detailed information. Nonobvious relationship awareness (NORA) is a new data analysis technology that can take data about people from many sources and correlate relationships to find hidden connections to identify potential criminals and terrorists. Figure 4-2</a:t>
            </a:r>
          </a:p>
          <a:p>
            <a:r>
              <a:rPr lang="en-US" dirty="0"/>
              <a:t> </a:t>
            </a:r>
          </a:p>
        </p:txBody>
      </p:sp>
    </p:spTree>
    <p:extLst>
      <p:ext uri="{BB962C8B-B14F-4D97-AF65-F5344CB8AC3E}">
        <p14:creationId xmlns:p14="http://schemas.microsoft.com/office/powerpoint/2010/main" val="725706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FIGURE 4-2 NONOBVIOUS RELATIONSHIP AWARENESS (NORA)</a:t>
            </a:r>
            <a:br>
              <a:rPr lang="en-US" sz="2800" b="1" dirty="0"/>
            </a:br>
            <a:endParaRPr lang="en-US" sz="2800" b="1" dirty="0"/>
          </a:p>
        </p:txBody>
      </p:sp>
      <p:pic>
        <p:nvPicPr>
          <p:cNvPr id="4" name="image42.jpeg"/>
          <p:cNvPicPr>
            <a:picLocks noGrp="1"/>
          </p:cNvPicPr>
          <p:nvPr>
            <p:ph idx="1"/>
          </p:nvPr>
        </p:nvPicPr>
        <p:blipFill>
          <a:blip r:embed="rId2" cstate="print"/>
          <a:stretch>
            <a:fillRect/>
          </a:stretch>
        </p:blipFill>
        <p:spPr>
          <a:xfrm>
            <a:off x="990600" y="1173163"/>
            <a:ext cx="7162800" cy="5380038"/>
          </a:xfrm>
          <a:prstGeom prst="rect">
            <a:avLst/>
          </a:prstGeom>
        </p:spPr>
      </p:pic>
    </p:spTree>
    <p:extLst>
      <p:ext uri="{BB962C8B-B14F-4D97-AF65-F5344CB8AC3E}">
        <p14:creationId xmlns:p14="http://schemas.microsoft.com/office/powerpoint/2010/main" val="1801767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NORA technology can take information about people from disparate sources and find obscure, nonobvious relationships. It might discover, for example, that an applicant for a job at a casino shares a telephone number with a known criminal and issue an alert to the hiring manager.</a:t>
            </a:r>
          </a:p>
          <a:p>
            <a:pPr marL="0" lvl="0" indent="0">
              <a:buNone/>
            </a:pPr>
            <a:br>
              <a:rPr lang="en-US" dirty="0"/>
            </a:br>
            <a:r>
              <a:rPr lang="en-US" b="1" dirty="0"/>
              <a:t>4. Advances in networking </a:t>
            </a:r>
            <a:r>
              <a:rPr lang="en-US" dirty="0"/>
              <a:t>reduce the costs of moving and accessing data, permitting privacy invasions on a vast scale.</a:t>
            </a:r>
          </a:p>
          <a:p>
            <a:endParaRPr lang="en-US" dirty="0"/>
          </a:p>
        </p:txBody>
      </p:sp>
    </p:spTree>
    <p:extLst>
      <p:ext uri="{BB962C8B-B14F-4D97-AF65-F5344CB8AC3E}">
        <p14:creationId xmlns:p14="http://schemas.microsoft.com/office/powerpoint/2010/main" val="3700140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491" y="122238"/>
            <a:ext cx="8229600" cy="715962"/>
          </a:xfrm>
        </p:spPr>
        <p:txBody>
          <a:bodyPr>
            <a:normAutofit fontScale="90000"/>
          </a:bodyPr>
          <a:lstStyle/>
          <a:p>
            <a:r>
              <a:rPr lang="en-US" sz="2800" b="1" u="heavy" dirty="0"/>
              <a:t>Ethics in an Information Society</a:t>
            </a:r>
            <a:br>
              <a:rPr lang="en-US" sz="2800" b="1" dirty="0"/>
            </a:br>
            <a:endParaRPr lang="en-US" sz="2800" dirty="0"/>
          </a:p>
        </p:txBody>
      </p:sp>
      <p:sp>
        <p:nvSpPr>
          <p:cNvPr id="3" name="Content Placeholder 2"/>
          <p:cNvSpPr>
            <a:spLocks noGrp="1"/>
          </p:cNvSpPr>
          <p:nvPr>
            <p:ph idx="1"/>
          </p:nvPr>
        </p:nvSpPr>
        <p:spPr>
          <a:xfrm>
            <a:off x="533400" y="533400"/>
            <a:ext cx="8229600" cy="6324600"/>
          </a:xfrm>
        </p:spPr>
        <p:txBody>
          <a:bodyPr>
            <a:normAutofit fontScale="70000" lnSpcReduction="20000"/>
          </a:bodyPr>
          <a:lstStyle/>
          <a:p>
            <a:r>
              <a:rPr lang="en-US" b="1" dirty="0"/>
              <a:t>Ethical decisions draw on the concepts of:</a:t>
            </a:r>
          </a:p>
          <a:p>
            <a:pPr marL="0" indent="0">
              <a:buNone/>
            </a:pPr>
            <a:r>
              <a:rPr lang="en-US" dirty="0"/>
              <a:t> </a:t>
            </a:r>
          </a:p>
          <a:p>
            <a:r>
              <a:rPr lang="en-US" b="1" dirty="0"/>
              <a:t>Responsibility: </a:t>
            </a:r>
            <a:r>
              <a:rPr lang="en-US" dirty="0"/>
              <a:t>Accepting the potential costs, duties, and obligations of one's decisions accountability</a:t>
            </a:r>
          </a:p>
          <a:p>
            <a:r>
              <a:rPr lang="en-US" b="1" dirty="0"/>
              <a:t>Accountability: </a:t>
            </a:r>
            <a:r>
              <a:rPr lang="en-US" dirty="0"/>
              <a:t>A feature of systems and social institutions, accountability means that mechanisms are in place to determine who took responsible action and who is responsible for an action.</a:t>
            </a:r>
          </a:p>
          <a:p>
            <a:r>
              <a:rPr lang="en-US" b="1" dirty="0"/>
              <a:t>Liability: </a:t>
            </a:r>
            <a:r>
              <a:rPr lang="en-US" dirty="0"/>
              <a:t>Refers to the existence of laws that permit individuals to recover the damages done to them by other actors, systems, or organizations</a:t>
            </a:r>
          </a:p>
          <a:p>
            <a:r>
              <a:rPr lang="en-US" b="1" dirty="0"/>
              <a:t>Due process: </a:t>
            </a:r>
            <a:r>
              <a:rPr lang="en-US" dirty="0"/>
              <a:t>Requires that laws are known and understood by all, and that individuals can appeal to higher authorities to ensure laws were properly applied</a:t>
            </a:r>
          </a:p>
          <a:p>
            <a:r>
              <a:rPr lang="en-US" dirty="0"/>
              <a:t>A five-step process can help analyze ethical issues: </a:t>
            </a:r>
          </a:p>
          <a:p>
            <a:pPr marL="514350" indent="-514350">
              <a:buAutoNum type="arabicParenBoth"/>
            </a:pPr>
            <a:r>
              <a:rPr lang="en-US" dirty="0"/>
              <a:t>Identifying the facts,</a:t>
            </a:r>
          </a:p>
          <a:p>
            <a:pPr marL="514350" indent="-514350">
              <a:buAutoNum type="arabicParenBoth"/>
            </a:pPr>
            <a:r>
              <a:rPr lang="en-US" dirty="0"/>
              <a:t>Defining the conflict or dilemma and identifying the values involved,</a:t>
            </a:r>
          </a:p>
          <a:p>
            <a:pPr marL="514350" indent="-514350">
              <a:buAutoNum type="arabicParenBoth"/>
            </a:pPr>
            <a:r>
              <a:rPr lang="en-US" dirty="0"/>
              <a:t>Identifying the stakeholders, </a:t>
            </a:r>
          </a:p>
          <a:p>
            <a:pPr marL="514350" indent="-514350">
              <a:buAutoNum type="arabicParenBoth"/>
            </a:pPr>
            <a:r>
              <a:rPr lang="en-US" dirty="0"/>
              <a:t>Identifying options that can be taken, and</a:t>
            </a:r>
          </a:p>
          <a:p>
            <a:pPr marL="514350" indent="-514350">
              <a:buAutoNum type="arabicParenBoth"/>
            </a:pPr>
            <a:r>
              <a:rPr lang="en-US" dirty="0"/>
              <a:t>Identifying potential consequences of actions.</a:t>
            </a:r>
          </a:p>
          <a:p>
            <a:endParaRPr lang="en-US" dirty="0"/>
          </a:p>
        </p:txBody>
      </p:sp>
    </p:spTree>
    <p:extLst>
      <p:ext uri="{BB962C8B-B14F-4D97-AF65-F5344CB8AC3E}">
        <p14:creationId xmlns:p14="http://schemas.microsoft.com/office/powerpoint/2010/main" val="4027192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a:t>Six traditional principles can be used to help forming an ethical decision:</a:t>
            </a:r>
            <a:br>
              <a:rPr lang="en-US" sz="2800" b="1" dirty="0"/>
            </a:br>
            <a:r>
              <a:rPr lang="en-US" sz="2800" b="1" dirty="0"/>
              <a:t> </a:t>
            </a:r>
            <a:br>
              <a:rPr lang="en-US" sz="2800" b="1" dirty="0"/>
            </a:br>
            <a:endParaRPr lang="en-US" sz="2800" b="1" dirty="0"/>
          </a:p>
        </p:txBody>
      </p:sp>
      <p:sp>
        <p:nvSpPr>
          <p:cNvPr id="3" name="Content Placeholder 2"/>
          <p:cNvSpPr>
            <a:spLocks noGrp="1"/>
          </p:cNvSpPr>
          <p:nvPr>
            <p:ph idx="1"/>
          </p:nvPr>
        </p:nvSpPr>
        <p:spPr>
          <a:xfrm>
            <a:off x="457200" y="990600"/>
            <a:ext cx="8229600" cy="6096000"/>
          </a:xfrm>
        </p:spPr>
        <p:txBody>
          <a:bodyPr>
            <a:normAutofit fontScale="55000" lnSpcReduction="20000"/>
          </a:bodyPr>
          <a:lstStyle/>
          <a:p>
            <a:pPr lvl="0"/>
            <a:r>
              <a:rPr lang="en-US" b="1" dirty="0"/>
              <a:t>The Golden Rule: </a:t>
            </a:r>
            <a:r>
              <a:rPr lang="en-US" dirty="0"/>
              <a:t>Do unto others as you would have them do unto you.</a:t>
            </a:r>
          </a:p>
          <a:p>
            <a:r>
              <a:rPr lang="en-US" dirty="0"/>
              <a:t> </a:t>
            </a:r>
          </a:p>
          <a:p>
            <a:pPr lvl="0"/>
            <a:r>
              <a:rPr lang="en-US" b="1" dirty="0"/>
              <a:t>Immanuel Kant's Categorical Imperative: </a:t>
            </a:r>
            <a:r>
              <a:rPr lang="en-US" dirty="0"/>
              <a:t>If an action is not right for everyone to take, it is not right for anyone.</a:t>
            </a:r>
          </a:p>
          <a:p>
            <a:pPr lvl="0"/>
            <a:r>
              <a:rPr lang="en-US" b="1" dirty="0"/>
              <a:t>Descartes' rule of change: </a:t>
            </a:r>
            <a:r>
              <a:rPr lang="en-US" dirty="0"/>
              <a:t>If an action cannot be taken repeatedly, it should not be taken at any time.</a:t>
            </a:r>
          </a:p>
          <a:p>
            <a:pPr lvl="0"/>
            <a:r>
              <a:rPr lang="en-US" b="1" dirty="0"/>
              <a:t>The Utilitarian Principle: </a:t>
            </a:r>
            <a:r>
              <a:rPr lang="en-US" dirty="0"/>
              <a:t>Take the action that achieves the higher or greater value.</a:t>
            </a:r>
          </a:p>
          <a:p>
            <a:r>
              <a:rPr lang="en-US" dirty="0"/>
              <a:t> </a:t>
            </a:r>
          </a:p>
          <a:p>
            <a:pPr lvl="0"/>
            <a:r>
              <a:rPr lang="en-US" b="1" dirty="0"/>
              <a:t>The Risk Aversion Principle: </a:t>
            </a:r>
            <a:r>
              <a:rPr lang="en-US" dirty="0"/>
              <a:t>Take the action that produces the least harm or least cost.</a:t>
            </a:r>
          </a:p>
          <a:p>
            <a:r>
              <a:rPr lang="en-US" dirty="0"/>
              <a:t> </a:t>
            </a:r>
          </a:p>
          <a:p>
            <a:pPr lvl="0"/>
            <a:r>
              <a:rPr lang="en-US" b="1" dirty="0"/>
              <a:t>The ethical "no free lunch" rule: </a:t>
            </a:r>
            <a:r>
              <a:rPr lang="en-US" dirty="0"/>
              <a:t>All tangible objects are assumed owned by someone else unless specifically declared otherwise.</a:t>
            </a:r>
          </a:p>
          <a:p>
            <a:r>
              <a:rPr lang="en-US" dirty="0"/>
              <a:t>Groups of professionals, such as the IEEE, take on special rights and obligations because of their claims to knowledge and wisdom. </a:t>
            </a:r>
            <a:r>
              <a:rPr lang="en-US" b="1" dirty="0"/>
              <a:t>Professional codes of conduct </a:t>
            </a:r>
            <a:r>
              <a:rPr lang="en-US" dirty="0"/>
              <a:t>are promulgated by associations of professionals to take responsibility for the partial regulation of their professions.</a:t>
            </a:r>
          </a:p>
          <a:p>
            <a:br>
              <a:rPr lang="en-US" dirty="0"/>
            </a:br>
            <a:r>
              <a:rPr lang="en-US" b="1" dirty="0"/>
              <a:t>Ethical dilemma</a:t>
            </a:r>
            <a:r>
              <a:rPr lang="en-US" dirty="0"/>
              <a:t>s are created when one set of interests is pitted against another, for example when the rights of a company to prevent its workforce from wasting company resources are pitted against the rights of employees to privacy.</a:t>
            </a:r>
          </a:p>
          <a:p>
            <a:endParaRPr lang="en-US" dirty="0"/>
          </a:p>
        </p:txBody>
      </p:sp>
    </p:spTree>
    <p:extLst>
      <p:ext uri="{BB962C8B-B14F-4D97-AF65-F5344CB8AC3E}">
        <p14:creationId xmlns:p14="http://schemas.microsoft.com/office/powerpoint/2010/main" val="3105616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sz="2400" b="1" u="heavy" dirty="0"/>
              <a:t>The Moral Dimensions of Information Systems</a:t>
            </a:r>
            <a:br>
              <a:rPr lang="en-US" sz="2400" b="1" dirty="0"/>
            </a:br>
            <a:r>
              <a:rPr lang="en-US" sz="2400" b="1" dirty="0"/>
              <a:t> </a:t>
            </a:r>
            <a:br>
              <a:rPr lang="en-US" sz="2400" dirty="0"/>
            </a:br>
            <a:endParaRPr lang="en-US" sz="2400" dirty="0"/>
          </a:p>
        </p:txBody>
      </p:sp>
      <p:sp>
        <p:nvSpPr>
          <p:cNvPr id="3" name="Content Placeholder 2"/>
          <p:cNvSpPr>
            <a:spLocks noGrp="1"/>
          </p:cNvSpPr>
          <p:nvPr>
            <p:ph idx="1"/>
          </p:nvPr>
        </p:nvSpPr>
        <p:spPr>
          <a:xfrm>
            <a:off x="533400" y="685800"/>
            <a:ext cx="8229600" cy="6477000"/>
          </a:xfrm>
        </p:spPr>
        <p:txBody>
          <a:bodyPr>
            <a:normAutofit fontScale="70000" lnSpcReduction="20000"/>
          </a:bodyPr>
          <a:lstStyle/>
          <a:p>
            <a:r>
              <a:rPr lang="en-US" dirty="0"/>
              <a:t>There are ethical, social, and political levels of analysis for each of the five moral dimensions of information systems.</a:t>
            </a:r>
          </a:p>
          <a:p>
            <a:r>
              <a:rPr lang="en-US" b="1" dirty="0"/>
              <a:t>Privacy is the claim of individuals to be left alone, free from surveillance or interference from other individuals or organizations, including the state.</a:t>
            </a:r>
          </a:p>
          <a:p>
            <a:r>
              <a:rPr lang="en-US" b="1" dirty="0"/>
              <a:t> Information technology and systems threaten individual claims to privacy by making the invasion of privacy cheap, profitable, and effective. </a:t>
            </a:r>
            <a:r>
              <a:rPr lang="en-US" dirty="0"/>
              <a:t>The claim to privacy is protected in the Kenyan,  U.S., Canadian, and German constitutions in a variety of different ways, and in other countries through various statutes.</a:t>
            </a:r>
          </a:p>
          <a:p>
            <a:r>
              <a:rPr lang="en-US" dirty="0">
                <a:solidFill>
                  <a:srgbClr val="FF0000"/>
                </a:solidFill>
              </a:rPr>
              <a:t>The Kenya data protection act of 2019 regulates government and other organization on collection use, and disclosure  and storage of information.</a:t>
            </a:r>
          </a:p>
          <a:p>
            <a:r>
              <a:rPr lang="en-US" dirty="0"/>
              <a:t>American and European privacy law is based on the principles of Fair Information Practices (FIP) set forth in 1973 to govern the collection, and use of information about individuals. </a:t>
            </a:r>
            <a:r>
              <a:rPr lang="en-US" dirty="0">
                <a:solidFill>
                  <a:srgbClr val="FF0000"/>
                </a:solidFill>
              </a:rPr>
              <a:t>This report states that an individual has an interest in the information gathered about him or her and the record may not be used to support other activities without the individual's consent.</a:t>
            </a:r>
          </a:p>
          <a:p>
            <a:endParaRPr lang="en-US" dirty="0"/>
          </a:p>
        </p:txBody>
      </p:sp>
    </p:spTree>
    <p:extLst>
      <p:ext uri="{BB962C8B-B14F-4D97-AF65-F5344CB8AC3E}">
        <p14:creationId xmlns:p14="http://schemas.microsoft.com/office/powerpoint/2010/main" val="24706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70000" lnSpcReduction="20000"/>
          </a:bodyPr>
          <a:lstStyle/>
          <a:p>
            <a:r>
              <a:rPr lang="en-US" dirty="0"/>
              <a:t>The Gramm-Leach-Bliley Act of 1999, requires financial institutions to disclose their policies for </a:t>
            </a:r>
            <a:r>
              <a:rPr lang="en-US" b="1" dirty="0"/>
              <a:t>protecting the privacy of nonpublic personal information and to allow customers to opt out of information-sharing arrangements with nonaffiliated third parties.</a:t>
            </a:r>
          </a:p>
          <a:p>
            <a:pPr marL="0" indent="0">
              <a:buNone/>
            </a:pPr>
            <a:endParaRPr lang="en-US" dirty="0"/>
          </a:p>
          <a:p>
            <a:r>
              <a:rPr lang="en-US" dirty="0"/>
              <a:t>The Health Insurance Portability and Accountability Act of 1996 (HIPAA), gives patients access to their personal medical records maintained by healthcare providers and the right to authorize how protected information about themselves can be used or disclosed, and limits the disclosure of personal information about patients to the minimum amount necessary to achieve a given purpose.</a:t>
            </a:r>
          </a:p>
          <a:p>
            <a:r>
              <a:rPr lang="en-US" dirty="0">
                <a:solidFill>
                  <a:srgbClr val="FF0000"/>
                </a:solidFill>
              </a:rPr>
              <a:t>European privacy protection is much more stringent than in the United States. The European Directive on Data Protection requires companies to inform people when they collect information about them and to disclose how it  will be stored and used. Customers  must provide their informed consent (consent given with knowledge of all the facts needed to make a rational decision) before any company can legally use data about them.</a:t>
            </a:r>
          </a:p>
          <a:p>
            <a:endParaRPr lang="en-US" dirty="0"/>
          </a:p>
        </p:txBody>
      </p:sp>
    </p:spTree>
    <p:extLst>
      <p:ext uri="{BB962C8B-B14F-4D97-AF65-F5344CB8AC3E}">
        <p14:creationId xmlns:p14="http://schemas.microsoft.com/office/powerpoint/2010/main" val="505625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85000" lnSpcReduction="10000"/>
          </a:bodyPr>
          <a:lstStyle/>
          <a:p>
            <a:r>
              <a:rPr lang="en-US" dirty="0">
                <a:solidFill>
                  <a:srgbClr val="FF0000"/>
                </a:solidFill>
              </a:rPr>
              <a:t>EU member nations cannot transfer personal data to countries that don't have similar privacy protection regulations. </a:t>
            </a:r>
            <a:r>
              <a:rPr lang="en-US" dirty="0"/>
              <a:t>To work with Europeans privacy laws, the U.S. Department of Commerce developed a safe harbor framework for U.S. firms.</a:t>
            </a:r>
          </a:p>
          <a:p>
            <a:r>
              <a:rPr lang="en-US" dirty="0"/>
              <a:t> A safe harbor is a private, self-regulating policy and enforcement mechanism that meets the objectives of government regulators and legislation but does not involve government regulation or enforcement. U.S. firms must be certified by public accounting firms to be "safe harbor" for personal data on Europeans, and this certification is recognized (but not enforced) by the Department of Commerce.</a:t>
            </a:r>
          </a:p>
          <a:p>
            <a:endParaRPr lang="en-US" dirty="0"/>
          </a:p>
        </p:txBody>
      </p:sp>
    </p:spTree>
    <p:extLst>
      <p:ext uri="{BB962C8B-B14F-4D97-AF65-F5344CB8AC3E}">
        <p14:creationId xmlns:p14="http://schemas.microsoft.com/office/powerpoint/2010/main" val="843013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248400"/>
          </a:xfrm>
        </p:spPr>
        <p:txBody>
          <a:bodyPr>
            <a:normAutofit fontScale="70000" lnSpcReduction="20000"/>
          </a:bodyPr>
          <a:lstStyle/>
          <a:p>
            <a:r>
              <a:rPr lang="en-US" b="1" dirty="0"/>
              <a:t>The Internet poses new challenges to the protection of individual privacy because information can easily be monitored, captured, and stored as it passes through its network of computer systems. </a:t>
            </a:r>
          </a:p>
          <a:p>
            <a:r>
              <a:rPr lang="en-US" dirty="0"/>
              <a:t>Companies can record a user's on-line activities, such as what files were accessed or which Web sites were visited. Web sites can learn the identity of their visitors if the visitors voluntarily register at the site or they can capture information about visitors without their knowledge using "cookie" technology. </a:t>
            </a:r>
            <a:r>
              <a:rPr lang="en-US" b="1" dirty="0"/>
              <a:t>Cookies </a:t>
            </a:r>
            <a:r>
              <a:rPr lang="en-US" dirty="0"/>
              <a:t>are tiny files deposited on a computer hard drive when a user visits certain Web sites that track visits to the Web site. Some companies use </a:t>
            </a:r>
            <a:r>
              <a:rPr lang="en-US" b="1" dirty="0"/>
              <a:t>Web bugs</a:t>
            </a:r>
            <a:r>
              <a:rPr lang="en-US" dirty="0"/>
              <a:t>, which are tiny graphic files embedded into e-mail messages and Web pages to monitor who is reading the e-mail message or Web page. Figure 4-3 BELOW HOW COOKIES IDENTIFY WEB VISITORS</a:t>
            </a:r>
          </a:p>
          <a:p>
            <a:r>
              <a:rPr lang="en-US" dirty="0"/>
              <a:t>Cookies are written by a Web site on a visitor’s hard drive. When the visitor returns to that Web site, the Web server requests the ID number from the cookie and uses it to access the data stored by that server on that visitor. The Web site can then use these data to display personalized information.</a:t>
            </a:r>
          </a:p>
          <a:p>
            <a:endParaRPr lang="en-US" dirty="0"/>
          </a:p>
        </p:txBody>
      </p:sp>
    </p:spTree>
    <p:extLst>
      <p:ext uri="{BB962C8B-B14F-4D97-AF65-F5344CB8AC3E}">
        <p14:creationId xmlns:p14="http://schemas.microsoft.com/office/powerpoint/2010/main" val="2440267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Figure 4-3 BELOW HOW COOKIES IDENTIFY WEB VISITORS</a:t>
            </a:r>
            <a:br>
              <a:rPr lang="en-US" dirty="0"/>
            </a:br>
            <a:endParaRPr lang="en-US" dirty="0"/>
          </a:p>
        </p:txBody>
      </p:sp>
      <p:pic>
        <p:nvPicPr>
          <p:cNvPr id="4" name="image43.jpeg" descr="C:\Users\jreuben\Dropbox\1.PNG"/>
          <p:cNvPicPr>
            <a:picLocks noGrp="1"/>
          </p:cNvPicPr>
          <p:nvPr>
            <p:ph idx="1"/>
          </p:nvPr>
        </p:nvPicPr>
        <p:blipFill>
          <a:blip r:embed="rId2" cstate="print"/>
          <a:stretch>
            <a:fillRect/>
          </a:stretch>
        </p:blipFill>
        <p:spPr>
          <a:xfrm>
            <a:off x="457200" y="1691480"/>
            <a:ext cx="8191500" cy="4556920"/>
          </a:xfrm>
          <a:prstGeom prst="rect">
            <a:avLst/>
          </a:prstGeom>
        </p:spPr>
      </p:pic>
    </p:spTree>
    <p:extLst>
      <p:ext uri="{BB962C8B-B14F-4D97-AF65-F5344CB8AC3E}">
        <p14:creationId xmlns:p14="http://schemas.microsoft.com/office/powerpoint/2010/main" val="3569907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62500" lnSpcReduction="20000"/>
          </a:bodyPr>
          <a:lstStyle/>
          <a:p>
            <a:r>
              <a:rPr lang="en-US" dirty="0">
                <a:solidFill>
                  <a:srgbClr val="FF0000"/>
                </a:solidFill>
              </a:rPr>
              <a:t>Most Internet businesses do little to protect their customers' privacy other than the publication of privacy statements. Some e-commerce sites add </a:t>
            </a:r>
            <a:r>
              <a:rPr lang="en-US" b="1" dirty="0">
                <a:solidFill>
                  <a:srgbClr val="FF0000"/>
                </a:solidFill>
              </a:rPr>
              <a:t>opt-out selection </a:t>
            </a:r>
            <a:r>
              <a:rPr lang="en-US" dirty="0">
                <a:solidFill>
                  <a:srgbClr val="FF0000"/>
                </a:solidFill>
              </a:rPr>
              <a:t>boxes to their privacy statement, which, when accepted by a visitor, permit the collection of personal information. </a:t>
            </a:r>
          </a:p>
          <a:p>
            <a:r>
              <a:rPr lang="en-US" dirty="0">
                <a:solidFill>
                  <a:srgbClr val="FF0000"/>
                </a:solidFill>
              </a:rPr>
              <a:t>Privacy advocates promote the wider use of an </a:t>
            </a:r>
            <a:r>
              <a:rPr lang="en-US" b="1" dirty="0">
                <a:solidFill>
                  <a:srgbClr val="FF0000"/>
                </a:solidFill>
              </a:rPr>
              <a:t>opt-in model </a:t>
            </a:r>
            <a:r>
              <a:rPr lang="en-US" dirty="0">
                <a:solidFill>
                  <a:srgbClr val="FF0000"/>
                </a:solidFill>
              </a:rPr>
              <a:t>of informed consent in which businesses are prohibited from collecting information unless specifically allowed by the consumer. </a:t>
            </a:r>
          </a:p>
          <a:p>
            <a:r>
              <a:rPr lang="en-US" b="1" dirty="0"/>
              <a:t>Spyware</a:t>
            </a:r>
            <a:r>
              <a:rPr lang="en-US" dirty="0"/>
              <a:t> is small applications that can secretly install itself on an Internet user's computer by piggybacking on larger applications. Once installed, the spyware calls out to Web sites to send banner ads and other unsolicited material to the user, and it can also report the user's  movements on the Internet to other computers. </a:t>
            </a:r>
          </a:p>
          <a:p>
            <a:endParaRPr lang="en-US" dirty="0"/>
          </a:p>
          <a:p>
            <a:r>
              <a:rPr lang="en-US" b="1" dirty="0"/>
              <a:t>In addition to legislation, new technologies are available to protect user privacy during interactions with Web sites,</a:t>
            </a:r>
            <a:r>
              <a:rPr lang="en-US" dirty="0"/>
              <a:t> </a:t>
            </a:r>
            <a:r>
              <a:rPr lang="en-US" b="1" dirty="0"/>
              <a:t>including</a:t>
            </a:r>
            <a:r>
              <a:rPr lang="en-US" dirty="0"/>
              <a:t> encrypting email, </a:t>
            </a:r>
            <a:r>
              <a:rPr lang="en-US" dirty="0" err="1"/>
              <a:t>anonymizing</a:t>
            </a:r>
            <a:r>
              <a:rPr lang="en-US" dirty="0"/>
              <a:t> Web surfing, preventing cookies, and eliminating spyware. The Platform for Privacy Preferences (P3P) is a standard for communicating a Web site's privacy policy to Internet users to help them select the level of privacy they wish to maintain when interacting with the Web site. </a:t>
            </a:r>
          </a:p>
        </p:txBody>
      </p:sp>
    </p:spTree>
    <p:extLst>
      <p:ext uri="{BB962C8B-B14F-4D97-AF65-F5344CB8AC3E}">
        <p14:creationId xmlns:p14="http://schemas.microsoft.com/office/powerpoint/2010/main" val="430253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858000"/>
          </a:xfrm>
        </p:spPr>
        <p:txBody>
          <a:bodyPr>
            <a:normAutofit fontScale="62500" lnSpcReduction="20000"/>
          </a:bodyPr>
          <a:lstStyle/>
          <a:p>
            <a:pPr marL="0" indent="0" algn="ctr">
              <a:buNone/>
            </a:pPr>
            <a:r>
              <a:rPr lang="en-US" b="1" dirty="0"/>
              <a:t>INTELLECTUAL PROPERTY RIGHTS</a:t>
            </a:r>
          </a:p>
          <a:p>
            <a:r>
              <a:rPr lang="en-US" dirty="0"/>
              <a:t>Contemporary information systems have severely challenged existing law and social practices protecting </a:t>
            </a:r>
            <a:r>
              <a:rPr lang="en-US" b="1" dirty="0"/>
              <a:t>intellectual property</a:t>
            </a:r>
            <a:r>
              <a:rPr lang="en-US" dirty="0"/>
              <a:t>, which is the intangible property created by individuals or corporations that is subject to protections under </a:t>
            </a:r>
            <a:r>
              <a:rPr lang="en-US" dirty="0">
                <a:solidFill>
                  <a:srgbClr val="FF0000"/>
                </a:solidFill>
              </a:rPr>
              <a:t>trade secret, copyright, and patent law.</a:t>
            </a:r>
          </a:p>
          <a:p>
            <a:r>
              <a:rPr lang="en-US" dirty="0"/>
              <a:t>A </a:t>
            </a:r>
            <a:r>
              <a:rPr lang="en-US" b="1" dirty="0"/>
              <a:t>trade secret </a:t>
            </a:r>
            <a:r>
              <a:rPr lang="en-US" dirty="0"/>
              <a:t>is an intellectual work product used for a business practice that can be classified as belonging to that business, provided it is not based on information in the public domain. Trade secret law protects the actual ideas in a work product, not only their manifestation. However, in the case of computer software, it is difficult to prevent the ideas in the work from falling into the public domain when the software is widely distributed.</a:t>
            </a:r>
          </a:p>
          <a:p>
            <a:r>
              <a:rPr lang="en-US" b="1" dirty="0"/>
              <a:t>Copyright </a:t>
            </a:r>
            <a:r>
              <a:rPr lang="en-US" dirty="0"/>
              <a:t>is a statutory grant which protects creators of intellectual property against copying by others for the life of the author plus an additional 70 years, or for a total of 95 years for corporate copyrights. Copyright protects against copying of entire software programs or their parts. However, the ideas behind a work are not protected, only their manifestation in a work. A competitor can build new software that follows the same concepts without infringing on a copyright.</a:t>
            </a:r>
            <a:r>
              <a:rPr lang="en-US" dirty="0">
                <a:solidFill>
                  <a:srgbClr val="FF0000"/>
                </a:solidFill>
              </a:rPr>
              <a:t> (Kenya-KECOBO) </a:t>
            </a:r>
          </a:p>
          <a:p>
            <a:endParaRPr lang="en-US" dirty="0"/>
          </a:p>
          <a:p>
            <a:r>
              <a:rPr lang="en-US" dirty="0"/>
              <a:t>A </a:t>
            </a:r>
            <a:r>
              <a:rPr lang="en-US" b="1" dirty="0"/>
              <a:t>patent </a:t>
            </a:r>
            <a:r>
              <a:rPr lang="en-US" dirty="0"/>
              <a:t>grants the owner an exclusive monopoly on the ideas behind the invention for 20 years. The key concepts in patent law are </a:t>
            </a:r>
            <a:r>
              <a:rPr lang="en-US" b="1" dirty="0"/>
              <a:t>originality</a:t>
            </a:r>
            <a:r>
              <a:rPr lang="en-US" dirty="0"/>
              <a:t>, </a:t>
            </a:r>
            <a:r>
              <a:rPr lang="en-US" b="1" dirty="0"/>
              <a:t>novelty</a:t>
            </a:r>
            <a:r>
              <a:rPr lang="en-US" dirty="0"/>
              <a:t>, and </a:t>
            </a:r>
            <a:r>
              <a:rPr lang="en-US" b="1" dirty="0"/>
              <a:t>invention</a:t>
            </a:r>
            <a:r>
              <a:rPr lang="en-US" dirty="0"/>
              <a:t>. Patent protection is that it grants a monopoly on the underlying concepts and ideas of software. The difficulty is passing stringent criteria for novelty and invention. </a:t>
            </a:r>
            <a:r>
              <a:rPr lang="en-US" dirty="0">
                <a:solidFill>
                  <a:srgbClr val="FF0000"/>
                </a:solidFill>
              </a:rPr>
              <a:t>(Kenya-KIPI) </a:t>
            </a:r>
          </a:p>
          <a:p>
            <a:endParaRPr lang="en-US" dirty="0"/>
          </a:p>
        </p:txBody>
      </p:sp>
    </p:spTree>
    <p:extLst>
      <p:ext uri="{BB962C8B-B14F-4D97-AF65-F5344CB8AC3E}">
        <p14:creationId xmlns:p14="http://schemas.microsoft.com/office/powerpoint/2010/main" val="732284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7010400"/>
          </a:xfrm>
        </p:spPr>
        <p:txBody>
          <a:bodyPr>
            <a:normAutofit fontScale="77500" lnSpcReduction="20000"/>
          </a:bodyPr>
          <a:lstStyle/>
          <a:p>
            <a:r>
              <a:rPr lang="en-US" dirty="0">
                <a:solidFill>
                  <a:srgbClr val="FF0000"/>
                </a:solidFill>
              </a:rPr>
              <a:t>Digital media and software can be so easily copied, altered, or transmitted, that it is difficult to protect with existing intellectual property safeguards. Illegal copying of software and music and video files is rampant worldwide. While protecting against </a:t>
            </a:r>
            <a:r>
              <a:rPr lang="en-US" b="1" dirty="0">
                <a:solidFill>
                  <a:srgbClr val="FF0000"/>
                </a:solidFill>
              </a:rPr>
              <a:t>copying of software program code</a:t>
            </a:r>
            <a:r>
              <a:rPr lang="en-US" dirty="0">
                <a:solidFill>
                  <a:srgbClr val="FF0000"/>
                </a:solidFill>
              </a:rPr>
              <a:t>, </a:t>
            </a:r>
            <a:r>
              <a:rPr lang="en-US" b="1" dirty="0">
                <a:solidFill>
                  <a:srgbClr val="FF0000"/>
                </a:solidFill>
              </a:rPr>
              <a:t>copyright protection can't prevent another person from using the underlying ideas behind a piece of software and developing software that follows the same concepts. </a:t>
            </a:r>
          </a:p>
          <a:p>
            <a:r>
              <a:rPr lang="en-US" dirty="0">
                <a:solidFill>
                  <a:srgbClr val="FF0000"/>
                </a:solidFill>
              </a:rPr>
              <a:t>Very </a:t>
            </a:r>
            <a:r>
              <a:rPr lang="en-US" b="1" dirty="0">
                <a:solidFill>
                  <a:srgbClr val="FF0000"/>
                </a:solidFill>
              </a:rPr>
              <a:t>little software has received patent protection, which does protect the underlying ideas behind software, </a:t>
            </a:r>
            <a:r>
              <a:rPr lang="en-US" dirty="0">
                <a:solidFill>
                  <a:srgbClr val="FF0000"/>
                </a:solidFill>
              </a:rPr>
              <a:t>because the software must pass very stringent criteria concerning the originality and novelty of those ideas. The Internet makes it even easier to copy intellectual property and transmit it freely around the world.</a:t>
            </a:r>
          </a:p>
          <a:p>
            <a:r>
              <a:rPr lang="en-US" dirty="0"/>
              <a:t>Mechanisms are being developed to sell and distribute books, articles, and other intellectual property legally on the Internet, and the Digital Millennium Copyright Act (DMCA) of 1998 is providing some copyright protection. The DMCA implemented a World Intellectual Property Organization Treaty that makes it illegal to circumvent technology-based protections of copyrighted materials.</a:t>
            </a:r>
          </a:p>
          <a:p>
            <a:endParaRPr lang="en-US" dirty="0"/>
          </a:p>
        </p:txBody>
      </p:sp>
    </p:spTree>
    <p:extLst>
      <p:ext uri="{BB962C8B-B14F-4D97-AF65-F5344CB8AC3E}">
        <p14:creationId xmlns:p14="http://schemas.microsoft.com/office/powerpoint/2010/main" val="3711379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629400"/>
          </a:xfrm>
        </p:spPr>
        <p:txBody>
          <a:bodyPr>
            <a:normAutofit fontScale="62500" lnSpcReduction="20000"/>
          </a:bodyPr>
          <a:lstStyle/>
          <a:p>
            <a:r>
              <a:rPr lang="en-US" b="1" dirty="0">
                <a:solidFill>
                  <a:srgbClr val="FF0000"/>
                </a:solidFill>
              </a:rPr>
              <a:t>New information technologies </a:t>
            </a:r>
            <a:r>
              <a:rPr lang="en-US" dirty="0">
                <a:solidFill>
                  <a:srgbClr val="FF0000"/>
                </a:solidFill>
              </a:rPr>
              <a:t>are also </a:t>
            </a:r>
            <a:r>
              <a:rPr lang="en-US" b="1" dirty="0">
                <a:solidFill>
                  <a:srgbClr val="FF0000"/>
                </a:solidFill>
              </a:rPr>
              <a:t>challenging</a:t>
            </a:r>
            <a:r>
              <a:rPr lang="en-US" dirty="0">
                <a:solidFill>
                  <a:srgbClr val="FF0000"/>
                </a:solidFill>
              </a:rPr>
              <a:t> existing liability law and social practices for holding individuals and institutions accountable.</a:t>
            </a:r>
            <a:r>
              <a:rPr lang="en-US" dirty="0"/>
              <a:t> A producer of computer software that is part of a machine that causes damage can be held liable for damages. However producers of computer software products that are treated like books are not yet considered liable for the harm the software causes. </a:t>
            </a:r>
          </a:p>
          <a:p>
            <a:r>
              <a:rPr lang="en-US" dirty="0">
                <a:solidFill>
                  <a:srgbClr val="FF0000"/>
                </a:solidFill>
              </a:rPr>
              <a:t>Are individuals and organizations that create, produce and sell information systems software and services morally responsible for the consequences of their use? What is an acceptable level of system quality and reliability when most software can never be 100% error free? Both of these questions remain open issues.</a:t>
            </a:r>
          </a:p>
          <a:p>
            <a:r>
              <a:rPr lang="en-US" dirty="0"/>
              <a:t>The negative social costs of introducing new information technologies are beginning to mount. By creating more efficient organizations, information systems threaten to eliminate many management and clerical jobs. </a:t>
            </a:r>
            <a:r>
              <a:rPr lang="en-US" dirty="0">
                <a:solidFill>
                  <a:srgbClr val="FF0000"/>
                </a:solidFill>
              </a:rPr>
              <a:t>Many organizations have heightened their vulnerability to natural disasters, power outages, computer crime, computer abuse, and computer viruses because they are so dependent on computers.</a:t>
            </a:r>
          </a:p>
          <a:p>
            <a:r>
              <a:rPr lang="en-US" dirty="0"/>
              <a:t>Information systems enable a "do anything anywhere" work environment that erodes the </a:t>
            </a:r>
            <a:r>
              <a:rPr lang="en-US" b="1" dirty="0"/>
              <a:t>traditional boundaries between work and family life, </a:t>
            </a:r>
            <a:r>
              <a:rPr lang="en-US" dirty="0"/>
              <a:t>lessening the time individuals can devote to their families and personal lives. Essential public organizations are ever more dependent on vulnerable digital systems.</a:t>
            </a:r>
          </a:p>
          <a:p>
            <a:endParaRPr lang="en-US" dirty="0"/>
          </a:p>
        </p:txBody>
      </p:sp>
    </p:spTree>
    <p:extLst>
      <p:ext uri="{BB962C8B-B14F-4D97-AF65-F5344CB8AC3E}">
        <p14:creationId xmlns:p14="http://schemas.microsoft.com/office/powerpoint/2010/main" val="1751147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Computer crime</a:t>
            </a:r>
            <a:endParaRPr lang="en-US" dirty="0"/>
          </a:p>
        </p:txBody>
      </p:sp>
      <p:sp>
        <p:nvSpPr>
          <p:cNvPr id="3" name="Content Placeholder 2"/>
          <p:cNvSpPr>
            <a:spLocks noGrp="1"/>
          </p:cNvSpPr>
          <p:nvPr>
            <p:ph idx="1"/>
          </p:nvPr>
        </p:nvSpPr>
        <p:spPr/>
        <p:txBody>
          <a:bodyPr>
            <a:normAutofit lnSpcReduction="10000"/>
          </a:bodyPr>
          <a:lstStyle/>
          <a:p>
            <a:r>
              <a:rPr lang="en-US" b="1" dirty="0"/>
              <a:t>Computer crime </a:t>
            </a:r>
            <a:r>
              <a:rPr lang="en-US" dirty="0"/>
              <a:t>(the commission of illegal acts through the use of a computer against a computer system) and </a:t>
            </a:r>
          </a:p>
          <a:p>
            <a:r>
              <a:rPr lang="en-US" b="1" dirty="0"/>
              <a:t>computer abuse </a:t>
            </a:r>
            <a:r>
              <a:rPr lang="en-US" dirty="0"/>
              <a:t>(the commission of acts involving a computer that may not be illegal but are considered unethical) are primarily committed by people inside the organization. </a:t>
            </a:r>
            <a:r>
              <a:rPr lang="en-US" b="1" dirty="0"/>
              <a:t>Spam</a:t>
            </a:r>
            <a:r>
              <a:rPr lang="en-US" dirty="0"/>
              <a:t> is unrequested junk e-mail sent to thousands of Internet users.</a:t>
            </a:r>
          </a:p>
          <a:p>
            <a:endParaRPr lang="en-US" dirty="0"/>
          </a:p>
        </p:txBody>
      </p:sp>
    </p:spTree>
    <p:extLst>
      <p:ext uri="{BB962C8B-B14F-4D97-AF65-F5344CB8AC3E}">
        <p14:creationId xmlns:p14="http://schemas.microsoft.com/office/powerpoint/2010/main" val="1368601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705600"/>
          </a:xfrm>
        </p:spPr>
        <p:txBody>
          <a:bodyPr>
            <a:normAutofit fontScale="85000" lnSpcReduction="10000"/>
          </a:bodyPr>
          <a:lstStyle/>
          <a:p>
            <a:r>
              <a:rPr lang="en-US" dirty="0"/>
              <a:t>Redesigning business processes could potentially cause millions of middle level managers and clerical workers to </a:t>
            </a:r>
            <a:r>
              <a:rPr lang="en-US" b="1" dirty="0"/>
              <a:t>lose their jobs</a:t>
            </a:r>
            <a:r>
              <a:rPr lang="en-US" dirty="0"/>
              <a:t>. </a:t>
            </a:r>
          </a:p>
          <a:p>
            <a:r>
              <a:rPr lang="en-US" b="1" dirty="0"/>
              <a:t>Information technology </a:t>
            </a:r>
            <a:r>
              <a:rPr lang="en-US" dirty="0"/>
              <a:t>may help intensify the cleavage between rich and poor, causing a </a:t>
            </a:r>
            <a:r>
              <a:rPr lang="en-US" b="1" dirty="0"/>
              <a:t>digital divide </a:t>
            </a:r>
            <a:r>
              <a:rPr lang="en-US" dirty="0"/>
              <a:t>in which information, knowledge, and access to computers are inequitably distributed among social classes. </a:t>
            </a:r>
          </a:p>
          <a:p>
            <a:r>
              <a:rPr lang="en-US" dirty="0"/>
              <a:t>Finally, computers may be responsible for the mounting incidence of </a:t>
            </a:r>
            <a:r>
              <a:rPr lang="en-US" b="1" dirty="0"/>
              <a:t>repetitive stress injury (RSI). </a:t>
            </a:r>
            <a:r>
              <a:rPr lang="en-US" dirty="0"/>
              <a:t>The single largest source of RSI is computer keyboards. Other occupational illnesses related to computer use include </a:t>
            </a:r>
            <a:r>
              <a:rPr lang="en-US" b="1" dirty="0"/>
              <a:t>computer vision syndrome (CVS) (</a:t>
            </a:r>
            <a:r>
              <a:rPr lang="en-US" dirty="0"/>
              <a:t>any eyestrain condition related to computer display screen use) and </a:t>
            </a:r>
            <a:r>
              <a:rPr lang="en-US" b="1" dirty="0" err="1"/>
              <a:t>technostress</a:t>
            </a:r>
            <a:r>
              <a:rPr lang="en-US" b="1" dirty="0"/>
              <a:t>, </a:t>
            </a:r>
            <a:r>
              <a:rPr lang="en-US" dirty="0"/>
              <a:t>stress induced by computer use. </a:t>
            </a:r>
            <a:r>
              <a:rPr lang="en-US" dirty="0" err="1"/>
              <a:t>Technostress</a:t>
            </a:r>
            <a:r>
              <a:rPr lang="en-US" dirty="0"/>
              <a:t> symptoms include aggravation, hostility toward humans, impatience, and fatigue.</a:t>
            </a:r>
          </a:p>
          <a:p>
            <a:endParaRPr lang="en-US" dirty="0"/>
          </a:p>
        </p:txBody>
      </p:sp>
    </p:spTree>
    <p:extLst>
      <p:ext uri="{BB962C8B-B14F-4D97-AF65-F5344CB8AC3E}">
        <p14:creationId xmlns:p14="http://schemas.microsoft.com/office/powerpoint/2010/main" val="2113448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5825</TotalTime>
  <Words>2740</Words>
  <Application>Microsoft Office PowerPoint</Application>
  <PresentationFormat>On-screen Show (4:3)</PresentationFormat>
  <Paragraphs>89</Paragraphs>
  <Slides>20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ETHICAL AND SOCIAL ISSUES IN INFORMATION SYSTEMS </vt:lpstr>
      <vt:lpstr> FIGURE 4-1 THE RELATIONSHIP BETWEEN ETHICAL, SOCIAL, AND POLITICAL ISSUES IN AN INFORMATION SOCIETY </vt:lpstr>
      <vt:lpstr>PowerPoint Presentation</vt:lpstr>
      <vt:lpstr>PowerPoint Presentation</vt:lpstr>
      <vt:lpstr>PowerPoint Presentation</vt:lpstr>
      <vt:lpstr>FIGURE 4-2 NONOBVIOUS RELATIONSHIP AWARENESS (NORA) </vt:lpstr>
      <vt:lpstr>PowerPoint Presentation</vt:lpstr>
      <vt:lpstr>Ethics in an Information Society </vt:lpstr>
      <vt:lpstr>Six traditional principles can be used to help forming an ethical decision:   </vt:lpstr>
      <vt:lpstr>The Moral Dimensions of Information Systems   </vt:lpstr>
      <vt:lpstr>PowerPoint Presentation</vt:lpstr>
      <vt:lpstr>PowerPoint Presentation</vt:lpstr>
      <vt:lpstr>PowerPoint Presentation</vt:lpstr>
      <vt:lpstr>Figure 4-3 BELOW HOW COOKIES IDENTIFY WEB VISITORS </vt:lpstr>
      <vt:lpstr>PowerPoint Presentation</vt:lpstr>
      <vt:lpstr>PowerPoint Presentation</vt:lpstr>
      <vt:lpstr>PowerPoint Presentation</vt:lpstr>
      <vt:lpstr>PowerPoint Presentation</vt:lpstr>
      <vt:lpstr>Computer crime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AND SOCIAL ISSUES IN INFORMATION SYSTEMS</dc:title>
  <dc:creator>Comp1</dc:creator>
  <cp:lastModifiedBy>USER</cp:lastModifiedBy>
  <cp:revision>37</cp:revision>
  <dcterms:created xsi:type="dcterms:W3CDTF">2021-11-22T02:17:36Z</dcterms:created>
  <dcterms:modified xsi:type="dcterms:W3CDTF">2025-10-06T12:25:49Z</dcterms:modified>
</cp:coreProperties>
</file>