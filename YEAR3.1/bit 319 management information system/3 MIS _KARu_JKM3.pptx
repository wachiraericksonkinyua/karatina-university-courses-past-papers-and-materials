
<file path=[Content_Types].xml><?xml version="1.0" encoding="utf-8"?>
<Types xmlns="http://schemas.openxmlformats.org/package/2006/content-types">
  <Default ContentType="image/x-wmf" Extension="wmf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>
      <a:defRPr lang="en-US"/>
    </a:defPPr>
    <a:lvl1pPr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>
        <p15:guide id="1" orient="horz" pos="12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A60EB18-5650-8F45-9C87-A38D0134A14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340225"/>
            <a:ext cx="5030787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266B4E4-F70A-FA00-9801-C4A2EB3FC94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88585A9-4045-4FB0-C115-B5A23D4E411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269FA7C-E020-C767-A5D0-F004C7442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1F24CD12-4F03-952C-2512-7B13B8ED4EB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302CF834-1D29-E9F9-79F9-D11F8068AA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C66B-2CEC-5F0E-07DC-C73E8D680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5653C-51F9-ABB0-60FE-901E32A7B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C3E60-D17A-A13D-CB5D-5FE83228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FC23C-FC01-8FF5-092A-D7A6BB93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33690-C027-44A2-D4A5-1B0B0F78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A264B2-09CE-4354-93B0-EF41FAC4CF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812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F2A4-730E-B922-E6F6-C32F1F8B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97807-20E9-B059-47F6-F5B355DBE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3C381-B2F9-2FAE-A030-2A569AB02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3C5C4-C7EE-8498-5528-1EC311C3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FD3D4-4A62-7206-0170-A0B26368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0C97F3-6BEE-4946-BE0A-4BD81BB429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762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F2403-F479-8D0B-3595-AC89F4BD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7E9CD-A7F0-5766-61A6-79A95760F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EB922-68C7-8EA5-2E86-7A948302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ED798-B145-EA12-A8EE-4E840527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03182-0F5E-A760-6D03-47A92B0E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4A8855-2093-4052-8588-9B142BDA0C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497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6CB0-A9F5-D1D9-437A-AE1B3F4C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214F8-1F7C-6147-2D21-CBF4C7DE2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4B7CA-7165-0AA8-7697-FBE78BABC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CAB2D6-2882-EF0E-DD66-3BB306966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D7756-34E8-8B81-65F2-F1D37CA7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9067D-9B76-870D-7C61-4BF5179D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274DC-176D-48EC-BB62-F2D63CF8C6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59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AB03D-2ECD-83FF-7313-BFDB7AB7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D5C53-1393-8F1A-EBCD-B349E20C0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6B3AC-1955-7A7E-FDE3-05051FCCE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BB24E-E858-1220-FE5B-4D702287E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400FD-2018-CF9F-AFF5-D1EA284F2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1CC98-B0E1-4402-8C00-CE1BC384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439679-5409-AC4B-CDAE-6773C1C1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6FA07-4D64-E86A-513E-3219FD57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915A49-2543-45E2-A1B1-7459AA1F00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203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16EE-1AE7-6596-E5D0-719122DF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A3B3B8-5686-A92E-5887-84FD8D64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F3FE66-1863-CB63-1547-B2D07561C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F4C22-318B-29A4-61A5-92F7542F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30F0D-BF26-4A4B-8075-1096A02954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650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2AE2B5-1453-9C63-27CD-1FEE0230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BF47A9-1B85-866A-849E-FDFCE5FB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5069B-A082-689B-2ADB-F0ACD075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3B3700-DF62-484E-8CF3-2484B6B3E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29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C97A-96E5-591B-4E02-A4AA361F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FF0AB-DD0D-EC24-1171-5EC123175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31C6E-8EB6-09B3-4B25-E365FFFEB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A0684-EFDC-9DAF-5ADA-989BF67D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BBFE60-D8A5-2176-9159-0AB8641A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DD923-50C0-BF65-F903-02C04B04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073370-3767-4385-9E6E-4CE39D80D6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468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7E3F-4421-304D-8DC6-3456E11D8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ABB32-5352-6CC5-559C-5F7D7439E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599CB-88AC-A374-B930-C0D21B2D7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503E7-4F57-7C63-75B0-9C6DCD2DA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2E03F-AC9B-1A7B-9B82-79BBE819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8962C-5DEA-9105-9104-130335D4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3A23A-AF96-4319-947F-1D086283F3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509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8488-3B13-4E02-9B69-A55EAB3D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F49AA-0413-445B-F3DB-FA818D78E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6F371-2D06-1161-CFE4-848E05448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5CCA8-E752-E908-BE6C-6650DF35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FEE62-3A24-4076-5031-61CDF12C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DEC463-3A1C-4DA4-B527-69AF55D64E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5521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B34503-0982-E10C-E57F-5639C7BA9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238B3-7E8F-BEE1-3E9A-BA8256D8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3BA99-F74C-3777-6985-AD84BBBE0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9D4D9-9143-9C12-246F-DE78CA7C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999D1-896E-B6D3-BF50-DDBD6B814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B407F8-DA5F-4118-90D7-9F1F89B88D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796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C272-0318-AC61-8ADB-965E46A8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227013"/>
            <a:ext cx="74771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3EB7A417-B504-EF2F-AD5F-2CE7B54BEC38}"/>
              </a:ext>
            </a:extLst>
          </p:cNvPr>
          <p:cNvSpPr>
            <a:spLocks noGrp="1"/>
          </p:cNvSpPr>
          <p:nvPr>
            <p:ph type="clipArt" sz="half" idx="1"/>
          </p:nvPr>
        </p:nvSpPr>
        <p:spPr>
          <a:xfrm>
            <a:off x="263525" y="1598613"/>
            <a:ext cx="3616325" cy="449738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2FC1F-79D5-FF77-AF87-C1BE7788D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32250" y="1598613"/>
            <a:ext cx="3617913" cy="4497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4DCB5-286F-AE2C-A493-D47E7360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625" y="6242050"/>
            <a:ext cx="1782763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6F027-963F-2901-8844-E1DD5826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57425" y="6248400"/>
            <a:ext cx="3455988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F1146-FCD7-AFFA-15C3-82953099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67400" y="6248400"/>
            <a:ext cx="1755775" cy="474663"/>
          </a:xfrm>
        </p:spPr>
        <p:txBody>
          <a:bodyPr/>
          <a:lstStyle>
            <a:lvl1pPr>
              <a:defRPr/>
            </a:lvl1pPr>
          </a:lstStyle>
          <a:p>
            <a:fld id="{E7EE6966-9B5B-4A8B-93B7-9F22E6C309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5753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B749E-DE12-772C-8E9D-8B6872F6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227013"/>
            <a:ext cx="74771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6942C-F304-79B6-CE39-0338B368A6B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263525" y="1598613"/>
            <a:ext cx="3616325" cy="4497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71CFB020-B176-09F3-A78A-BF564A3BB8A7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032250" y="1598613"/>
            <a:ext cx="3617913" cy="449738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ADC49-31EE-679D-B733-562C7953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625" y="6242050"/>
            <a:ext cx="1782763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E47D1-6034-482B-2EC3-4B1142859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57425" y="6248400"/>
            <a:ext cx="3455988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E7B7D-E4A0-626A-8FF6-F1D63511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67400" y="6248400"/>
            <a:ext cx="1755775" cy="474663"/>
          </a:xfrm>
        </p:spPr>
        <p:txBody>
          <a:bodyPr/>
          <a:lstStyle>
            <a:lvl1pPr>
              <a:defRPr/>
            </a:lvl1pPr>
          </a:lstStyle>
          <a:p>
            <a:fld id="{76E49564-CF94-49EE-9954-E4CF70EC1D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695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6136B0AF-B377-FFB3-BBD5-E23D542AF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45D490CA-1CF9-57B6-06DE-DEF93FAFE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1860" name="Rectangle 4">
            <a:extLst>
              <a:ext uri="{FF2B5EF4-FFF2-40B4-BE49-F238E27FC236}">
                <a16:creationId xmlns:a16="http://schemas.microsoft.com/office/drawing/2014/main" id="{7DCE8D7A-72C5-7145-C247-FA61F65D13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97A2B125-21F2-C0AE-6079-833F846588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en-US"/>
              <a:t>MIS 175 Spring 2002 Chapter 10</a:t>
            </a:r>
          </a:p>
        </p:txBody>
      </p:sp>
      <p:sp>
        <p:nvSpPr>
          <p:cNvPr id="121862" name="Rectangle 6">
            <a:extLst>
              <a:ext uri="{FF2B5EF4-FFF2-40B4-BE49-F238E27FC236}">
                <a16:creationId xmlns:a16="http://schemas.microsoft.com/office/drawing/2014/main" id="{AF0001FC-6AF9-80A1-617A-381369CA0F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27F096-E3D5-41FF-88E1-93309F18962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prenhall.com/lo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F284-0B1F-4D91-0702-53097D3D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Types of Information Systems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dirty="0">
                <a:effectLst/>
              </a:rPr>
              <a:t>TPS, MIS, DSS, ESS; Functions and organizational applications</a:t>
            </a:r>
            <a:br>
              <a:rPr lang="en-US" sz="36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4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4A3F9-E36E-E29E-B857-D6FF1F93B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D5FEA-4C20-B151-2B3A-7C88A106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C97F3-6BEE-4946-BE0A-4BD81BB429EC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DEFE26-FA0B-FCC5-894A-3186CF6F6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52600"/>
            <a:ext cx="8229600" cy="27733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94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– Teaching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Different IS types support all levels of management.</a:t>
            </a:r>
          </a:p>
          <a:p>
            <a:r>
              <a:t>• M-Pesa as a Kenyan success story in IS innovation.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1F3D498-AD22-AFD4-9DF1-A5B4BDAF6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BCBAB-8D6C-4D55-BFFB-613F2491A696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2539055A-86C6-4AEB-F7CE-9DC83D500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790700"/>
            <a:ext cx="8820150" cy="1790700"/>
          </a:xfrm>
          <a:prstGeom prst="rect">
            <a:avLst/>
          </a:prstGeom>
          <a:solidFill>
            <a:srgbClr val="6666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79728B3-57C0-0AF1-18E6-0D1FF8B8F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463" y="1792288"/>
            <a:ext cx="343376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Strategic Management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464BEEA0-FE62-D729-9B70-E6ECA5679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281238"/>
            <a:ext cx="32639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Tactical Management</a:t>
            </a:r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360446D5-3CF2-3643-3BDE-69BFAAF67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788" y="2851150"/>
            <a:ext cx="451326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Operational Management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8EAA8049-8CBC-49DF-3C22-A4C5C72E9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1738313"/>
            <a:ext cx="1524000" cy="179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/>
            <a:r>
              <a:rPr lang="en-US" altLang="en-US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Plan</a:t>
            </a:r>
          </a:p>
          <a:p>
            <a:pPr algn="r"/>
            <a:r>
              <a:rPr lang="en-US" altLang="en-US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Organize</a:t>
            </a:r>
          </a:p>
          <a:p>
            <a:pPr algn="r"/>
            <a:r>
              <a:rPr lang="en-US" altLang="en-US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Lead</a:t>
            </a:r>
          </a:p>
          <a:p>
            <a:pPr algn="r"/>
            <a:r>
              <a:rPr lang="en-US" altLang="en-US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Control</a:t>
            </a:r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553A1309-29B0-1963-1FB5-4D2CCA776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200" y="3600450"/>
            <a:ext cx="45466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Clerical Level</a:t>
            </a:r>
          </a:p>
        </p:txBody>
      </p:sp>
      <p:sp>
        <p:nvSpPr>
          <p:cNvPr id="59400" name="AutoShape 8">
            <a:extLst>
              <a:ext uri="{FF2B5EF4-FFF2-40B4-BE49-F238E27FC236}">
                <a16:creationId xmlns:a16="http://schemas.microsoft.com/office/drawing/2014/main" id="{142C592D-4E7E-3225-E01A-1C0AF24C9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4578350"/>
            <a:ext cx="1719263" cy="814388"/>
          </a:xfrm>
          <a:prstGeom prst="flowChartAlternateProcess">
            <a:avLst/>
          </a:prstGeom>
          <a:solidFill>
            <a:srgbClr val="6666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/>
          <a:lstStyle/>
          <a:p>
            <a:r>
              <a:rPr lang="en-US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Resources</a:t>
            </a:r>
          </a:p>
        </p:txBody>
      </p:sp>
      <p:sp>
        <p:nvSpPr>
          <p:cNvPr id="59401" name="AutoShape 9">
            <a:extLst>
              <a:ext uri="{FF2B5EF4-FFF2-40B4-BE49-F238E27FC236}">
                <a16:creationId xmlns:a16="http://schemas.microsoft.com/office/drawing/2014/main" id="{97C10F8D-2413-CCD0-25ED-AEA641FE3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4578350"/>
            <a:ext cx="1717675" cy="814388"/>
          </a:xfrm>
          <a:prstGeom prst="flowChartAlternateProcess">
            <a:avLst/>
          </a:prstGeom>
          <a:solidFill>
            <a:srgbClr val="6666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/>
          <a:lstStyle/>
          <a:p>
            <a:r>
              <a:rPr lang="en-US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Functions</a:t>
            </a:r>
          </a:p>
        </p:txBody>
      </p:sp>
      <p:sp>
        <p:nvSpPr>
          <p:cNvPr id="59402" name="AutoShape 10">
            <a:extLst>
              <a:ext uri="{FF2B5EF4-FFF2-40B4-BE49-F238E27FC236}">
                <a16:creationId xmlns:a16="http://schemas.microsoft.com/office/drawing/2014/main" id="{19A1E726-D594-D15C-33B9-3A944F63D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13" y="4579938"/>
            <a:ext cx="1639887" cy="812800"/>
          </a:xfrm>
          <a:prstGeom prst="flowChartAlternateProcess">
            <a:avLst/>
          </a:prstGeom>
          <a:solidFill>
            <a:srgbClr val="666699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/>
          <a:lstStyle/>
          <a:p>
            <a:pPr algn="ctr"/>
            <a:r>
              <a:rPr lang="en-US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Products &amp;</a:t>
            </a:r>
          </a:p>
          <a:p>
            <a:pPr algn="ctr"/>
            <a:r>
              <a:rPr lang="en-US" alt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Services</a:t>
            </a:r>
          </a:p>
        </p:txBody>
      </p:sp>
      <p:sp>
        <p:nvSpPr>
          <p:cNvPr id="59403" name="Rectangle 11">
            <a:extLst>
              <a:ext uri="{FF2B5EF4-FFF2-40B4-BE49-F238E27FC236}">
                <a16:creationId xmlns:a16="http://schemas.microsoft.com/office/drawing/2014/main" id="{1DE85AD5-D2CE-FF35-3AF2-D47E75797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0"/>
            <a:ext cx="7913687" cy="815975"/>
          </a:xfrm>
        </p:spPr>
        <p:txBody>
          <a:bodyPr/>
          <a:lstStyle/>
          <a:p>
            <a:r>
              <a:rPr lang="en-US" altLang="en-US"/>
              <a:t>Business System Model</a:t>
            </a:r>
          </a:p>
        </p:txBody>
      </p:sp>
      <p:grpSp>
        <p:nvGrpSpPr>
          <p:cNvPr id="59404" name="Group 12">
            <a:extLst>
              <a:ext uri="{FF2B5EF4-FFF2-40B4-BE49-F238E27FC236}">
                <a16:creationId xmlns:a16="http://schemas.microsoft.com/office/drawing/2014/main" id="{605F3720-DCBD-46C2-507B-8B65673352A7}"/>
              </a:ext>
            </a:extLst>
          </p:cNvPr>
          <p:cNvGrpSpPr>
            <a:grpSpLocks/>
          </p:cNvGrpSpPr>
          <p:nvPr/>
        </p:nvGrpSpPr>
        <p:grpSpPr bwMode="auto">
          <a:xfrm>
            <a:off x="1209675" y="1625600"/>
            <a:ext cx="3351213" cy="2752725"/>
            <a:chOff x="6042" y="967"/>
            <a:chExt cx="2267" cy="1815"/>
          </a:xfrm>
        </p:grpSpPr>
        <p:grpSp>
          <p:nvGrpSpPr>
            <p:cNvPr id="59405" name="Group 13">
              <a:extLst>
                <a:ext uri="{FF2B5EF4-FFF2-40B4-BE49-F238E27FC236}">
                  <a16:creationId xmlns:a16="http://schemas.microsoft.com/office/drawing/2014/main" id="{4F383D52-E176-5D7C-E3E9-E951123E6C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2" y="2151"/>
              <a:ext cx="2267" cy="631"/>
              <a:chOff x="6042" y="2151"/>
              <a:chExt cx="2267" cy="631"/>
            </a:xfrm>
          </p:grpSpPr>
          <p:sp>
            <p:nvSpPr>
              <p:cNvPr id="59406" name="Freeform 14">
                <a:extLst>
                  <a:ext uri="{FF2B5EF4-FFF2-40B4-BE49-F238E27FC236}">
                    <a16:creationId xmlns:a16="http://schemas.microsoft.com/office/drawing/2014/main" id="{A2935EDF-8398-6C40-785D-AB7A36C467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4" y="2151"/>
                <a:ext cx="445" cy="631"/>
              </a:xfrm>
              <a:custGeom>
                <a:avLst/>
                <a:gdLst>
                  <a:gd name="T0" fmla="*/ 227 w 445"/>
                  <a:gd name="T1" fmla="*/ 631 h 631"/>
                  <a:gd name="T2" fmla="*/ 0 w 445"/>
                  <a:gd name="T3" fmla="*/ 221 h 631"/>
                  <a:gd name="T4" fmla="*/ 166 w 445"/>
                  <a:gd name="T5" fmla="*/ 0 h 631"/>
                  <a:gd name="T6" fmla="*/ 445 w 445"/>
                  <a:gd name="T7" fmla="*/ 348 h 631"/>
                  <a:gd name="T8" fmla="*/ 227 w 445"/>
                  <a:gd name="T9" fmla="*/ 631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5" h="631">
                    <a:moveTo>
                      <a:pt x="227" y="631"/>
                    </a:moveTo>
                    <a:lnTo>
                      <a:pt x="0" y="221"/>
                    </a:lnTo>
                    <a:lnTo>
                      <a:pt x="166" y="0"/>
                    </a:lnTo>
                    <a:lnTo>
                      <a:pt x="445" y="348"/>
                    </a:lnTo>
                    <a:lnTo>
                      <a:pt x="227" y="631"/>
                    </a:lnTo>
                    <a:close/>
                  </a:path>
                </a:pathLst>
              </a:custGeom>
              <a:solidFill>
                <a:srgbClr val="FF5F7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07" name="Freeform 15">
                <a:extLst>
                  <a:ext uri="{FF2B5EF4-FFF2-40B4-BE49-F238E27FC236}">
                    <a16:creationId xmlns:a16="http://schemas.microsoft.com/office/drawing/2014/main" id="{AEA5E477-E112-5778-C91F-0BBC3A74B1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6" y="2151"/>
                <a:ext cx="1765" cy="222"/>
              </a:xfrm>
              <a:custGeom>
                <a:avLst/>
                <a:gdLst>
                  <a:gd name="T0" fmla="*/ 0 w 1765"/>
                  <a:gd name="T1" fmla="*/ 222 h 222"/>
                  <a:gd name="T2" fmla="*/ 1599 w 1765"/>
                  <a:gd name="T3" fmla="*/ 222 h 222"/>
                  <a:gd name="T4" fmla="*/ 1765 w 1765"/>
                  <a:gd name="T5" fmla="*/ 0 h 222"/>
                  <a:gd name="T6" fmla="*/ 316 w 1765"/>
                  <a:gd name="T7" fmla="*/ 1 h 222"/>
                  <a:gd name="T8" fmla="*/ 0 w 1765"/>
                  <a:gd name="T9" fmla="*/ 222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5" h="222">
                    <a:moveTo>
                      <a:pt x="0" y="222"/>
                    </a:moveTo>
                    <a:lnTo>
                      <a:pt x="1599" y="222"/>
                    </a:lnTo>
                    <a:lnTo>
                      <a:pt x="1765" y="0"/>
                    </a:lnTo>
                    <a:lnTo>
                      <a:pt x="316" y="1"/>
                    </a:lnTo>
                    <a:lnTo>
                      <a:pt x="0" y="222"/>
                    </a:lnTo>
                    <a:close/>
                  </a:path>
                </a:pathLst>
              </a:custGeom>
              <a:solidFill>
                <a:srgbClr val="80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08" name="Freeform 16">
                <a:extLst>
                  <a:ext uri="{FF2B5EF4-FFF2-40B4-BE49-F238E27FC236}">
                    <a16:creationId xmlns:a16="http://schemas.microsoft.com/office/drawing/2014/main" id="{E9994E19-0071-965D-DA2C-47B3F89B4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42" y="2372"/>
                <a:ext cx="2049" cy="410"/>
              </a:xfrm>
              <a:custGeom>
                <a:avLst/>
                <a:gdLst>
                  <a:gd name="T0" fmla="*/ 0 w 2049"/>
                  <a:gd name="T1" fmla="*/ 410 h 410"/>
                  <a:gd name="T2" fmla="*/ 2049 w 2049"/>
                  <a:gd name="T3" fmla="*/ 410 h 410"/>
                  <a:gd name="T4" fmla="*/ 1822 w 2049"/>
                  <a:gd name="T5" fmla="*/ 0 h 410"/>
                  <a:gd name="T6" fmla="*/ 225 w 2049"/>
                  <a:gd name="T7" fmla="*/ 0 h 410"/>
                  <a:gd name="T8" fmla="*/ 0 w 2049"/>
                  <a:gd name="T9" fmla="*/ 41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49" h="410">
                    <a:moveTo>
                      <a:pt x="0" y="410"/>
                    </a:moveTo>
                    <a:lnTo>
                      <a:pt x="2049" y="410"/>
                    </a:lnTo>
                    <a:lnTo>
                      <a:pt x="1822" y="0"/>
                    </a:lnTo>
                    <a:lnTo>
                      <a:pt x="225" y="0"/>
                    </a:lnTo>
                    <a:lnTo>
                      <a:pt x="0" y="410"/>
                    </a:lnTo>
                    <a:close/>
                  </a:path>
                </a:pathLst>
              </a:custGeom>
              <a:solidFill>
                <a:srgbClr val="FF001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409" name="Group 17">
              <a:extLst>
                <a:ext uri="{FF2B5EF4-FFF2-40B4-BE49-F238E27FC236}">
                  <a16:creationId xmlns:a16="http://schemas.microsoft.com/office/drawing/2014/main" id="{0C05F982-3479-4505-D464-4E9B2FE61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4" y="1760"/>
              <a:ext cx="1684" cy="548"/>
              <a:chOff x="6304" y="1760"/>
              <a:chExt cx="1684" cy="548"/>
            </a:xfrm>
          </p:grpSpPr>
          <p:sp>
            <p:nvSpPr>
              <p:cNvPr id="59410" name="Freeform 18">
                <a:extLst>
                  <a:ext uri="{FF2B5EF4-FFF2-40B4-BE49-F238E27FC236}">
                    <a16:creationId xmlns:a16="http://schemas.microsoft.com/office/drawing/2014/main" id="{52848E43-CEBE-1BEE-9FBD-2202BC62C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" y="1760"/>
                <a:ext cx="389" cy="547"/>
              </a:xfrm>
              <a:custGeom>
                <a:avLst/>
                <a:gdLst>
                  <a:gd name="T0" fmla="*/ 0 w 389"/>
                  <a:gd name="T1" fmla="*/ 149 h 547"/>
                  <a:gd name="T2" fmla="*/ 231 w 389"/>
                  <a:gd name="T3" fmla="*/ 547 h 547"/>
                  <a:gd name="T4" fmla="*/ 389 w 389"/>
                  <a:gd name="T5" fmla="*/ 343 h 547"/>
                  <a:gd name="T6" fmla="*/ 112 w 389"/>
                  <a:gd name="T7" fmla="*/ 0 h 547"/>
                  <a:gd name="T8" fmla="*/ 0 w 389"/>
                  <a:gd name="T9" fmla="*/ 14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9" h="547">
                    <a:moveTo>
                      <a:pt x="0" y="149"/>
                    </a:moveTo>
                    <a:lnTo>
                      <a:pt x="231" y="547"/>
                    </a:lnTo>
                    <a:lnTo>
                      <a:pt x="389" y="343"/>
                    </a:lnTo>
                    <a:lnTo>
                      <a:pt x="112" y="0"/>
                    </a:lnTo>
                    <a:lnTo>
                      <a:pt x="0" y="149"/>
                    </a:lnTo>
                    <a:close/>
                  </a:path>
                </a:pathLst>
              </a:custGeom>
              <a:solidFill>
                <a:srgbClr val="BF5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11" name="Freeform 19">
                <a:extLst>
                  <a:ext uri="{FF2B5EF4-FFF2-40B4-BE49-F238E27FC236}">
                    <a16:creationId xmlns:a16="http://schemas.microsoft.com/office/drawing/2014/main" id="{C9843D2F-DA18-B4EA-71CA-74BB352B8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31" y="1760"/>
                <a:ext cx="1179" cy="148"/>
              </a:xfrm>
              <a:custGeom>
                <a:avLst/>
                <a:gdLst>
                  <a:gd name="T0" fmla="*/ 0 w 1179"/>
                  <a:gd name="T1" fmla="*/ 148 h 148"/>
                  <a:gd name="T2" fmla="*/ 1067 w 1179"/>
                  <a:gd name="T3" fmla="*/ 148 h 148"/>
                  <a:gd name="T4" fmla="*/ 1179 w 1179"/>
                  <a:gd name="T5" fmla="*/ 0 h 148"/>
                  <a:gd name="T6" fmla="*/ 298 w 1179"/>
                  <a:gd name="T7" fmla="*/ 0 h 148"/>
                  <a:gd name="T8" fmla="*/ 0 w 1179"/>
                  <a:gd name="T9" fmla="*/ 14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79" h="148">
                    <a:moveTo>
                      <a:pt x="0" y="148"/>
                    </a:moveTo>
                    <a:lnTo>
                      <a:pt x="1067" y="148"/>
                    </a:lnTo>
                    <a:lnTo>
                      <a:pt x="1179" y="0"/>
                    </a:lnTo>
                    <a:lnTo>
                      <a:pt x="298" y="0"/>
                    </a:lnTo>
                    <a:lnTo>
                      <a:pt x="0" y="148"/>
                    </a:lnTo>
                    <a:close/>
                  </a:path>
                </a:pathLst>
              </a:custGeom>
              <a:solidFill>
                <a:srgbClr val="5F009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12" name="Freeform 20">
                <a:extLst>
                  <a:ext uri="{FF2B5EF4-FFF2-40B4-BE49-F238E27FC236}">
                    <a16:creationId xmlns:a16="http://schemas.microsoft.com/office/drawing/2014/main" id="{09E8A765-1007-5474-4AB0-CFC2480C0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04" y="1908"/>
                <a:ext cx="1525" cy="400"/>
              </a:xfrm>
              <a:custGeom>
                <a:avLst/>
                <a:gdLst>
                  <a:gd name="T0" fmla="*/ 0 w 1525"/>
                  <a:gd name="T1" fmla="*/ 400 h 400"/>
                  <a:gd name="T2" fmla="*/ 1525 w 1525"/>
                  <a:gd name="T3" fmla="*/ 400 h 400"/>
                  <a:gd name="T4" fmla="*/ 1294 w 1525"/>
                  <a:gd name="T5" fmla="*/ 0 h 400"/>
                  <a:gd name="T6" fmla="*/ 227 w 1525"/>
                  <a:gd name="T7" fmla="*/ 0 h 400"/>
                  <a:gd name="T8" fmla="*/ 0 w 1525"/>
                  <a:gd name="T9" fmla="*/ 40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25" h="400">
                    <a:moveTo>
                      <a:pt x="0" y="400"/>
                    </a:moveTo>
                    <a:lnTo>
                      <a:pt x="1525" y="400"/>
                    </a:lnTo>
                    <a:lnTo>
                      <a:pt x="1294" y="0"/>
                    </a:lnTo>
                    <a:lnTo>
                      <a:pt x="227" y="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rgbClr val="9F3FD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413" name="Group 21">
              <a:extLst>
                <a:ext uri="{FF2B5EF4-FFF2-40B4-BE49-F238E27FC236}">
                  <a16:creationId xmlns:a16="http://schemas.microsoft.com/office/drawing/2014/main" id="{0453B0C1-9A1B-EFA5-3535-7B0EE10A8F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70" y="1362"/>
              <a:ext cx="1098" cy="479"/>
              <a:chOff x="6570" y="1362"/>
              <a:chExt cx="1098" cy="479"/>
            </a:xfrm>
          </p:grpSpPr>
          <p:sp>
            <p:nvSpPr>
              <p:cNvPr id="59414" name="Freeform 22">
                <a:extLst>
                  <a:ext uri="{FF2B5EF4-FFF2-40B4-BE49-F238E27FC236}">
                    <a16:creationId xmlns:a16="http://schemas.microsoft.com/office/drawing/2014/main" id="{A828BF95-5EC2-60F7-5521-9D87708A8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3" y="1363"/>
                <a:ext cx="335" cy="478"/>
              </a:xfrm>
              <a:custGeom>
                <a:avLst/>
                <a:gdLst>
                  <a:gd name="T0" fmla="*/ 229 w 335"/>
                  <a:gd name="T1" fmla="*/ 478 h 478"/>
                  <a:gd name="T2" fmla="*/ 335 w 335"/>
                  <a:gd name="T3" fmla="*/ 341 h 478"/>
                  <a:gd name="T4" fmla="*/ 58 w 335"/>
                  <a:gd name="T5" fmla="*/ 0 h 478"/>
                  <a:gd name="T6" fmla="*/ 0 w 335"/>
                  <a:gd name="T7" fmla="*/ 72 h 478"/>
                  <a:gd name="T8" fmla="*/ 229 w 335"/>
                  <a:gd name="T9" fmla="*/ 478 h 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5" h="478">
                    <a:moveTo>
                      <a:pt x="229" y="478"/>
                    </a:moveTo>
                    <a:lnTo>
                      <a:pt x="335" y="341"/>
                    </a:lnTo>
                    <a:lnTo>
                      <a:pt x="58" y="0"/>
                    </a:lnTo>
                    <a:lnTo>
                      <a:pt x="0" y="72"/>
                    </a:lnTo>
                    <a:lnTo>
                      <a:pt x="229" y="478"/>
                    </a:lnTo>
                    <a:close/>
                  </a:path>
                </a:pathLst>
              </a:custGeom>
              <a:solidFill>
                <a:srgbClr val="FF9F7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15" name="Freeform 23">
                <a:extLst>
                  <a:ext uri="{FF2B5EF4-FFF2-40B4-BE49-F238E27FC236}">
                    <a16:creationId xmlns:a16="http://schemas.microsoft.com/office/drawing/2014/main" id="{45FD0661-2180-2559-7A29-57679FD5D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2" y="1362"/>
                <a:ext cx="588" cy="72"/>
              </a:xfrm>
              <a:custGeom>
                <a:avLst/>
                <a:gdLst>
                  <a:gd name="T0" fmla="*/ 0 w 588"/>
                  <a:gd name="T1" fmla="*/ 72 h 72"/>
                  <a:gd name="T2" fmla="*/ 530 w 588"/>
                  <a:gd name="T3" fmla="*/ 72 h 72"/>
                  <a:gd name="T4" fmla="*/ 588 w 588"/>
                  <a:gd name="T5" fmla="*/ 0 h 72"/>
                  <a:gd name="T6" fmla="*/ 183 w 588"/>
                  <a:gd name="T7" fmla="*/ 0 h 72"/>
                  <a:gd name="T8" fmla="*/ 0 w 588"/>
                  <a:gd name="T9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8" h="72">
                    <a:moveTo>
                      <a:pt x="0" y="72"/>
                    </a:moveTo>
                    <a:lnTo>
                      <a:pt x="530" y="72"/>
                    </a:lnTo>
                    <a:lnTo>
                      <a:pt x="588" y="0"/>
                    </a:lnTo>
                    <a:lnTo>
                      <a:pt x="183" y="0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BF3F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16" name="Freeform 24">
                <a:extLst>
                  <a:ext uri="{FF2B5EF4-FFF2-40B4-BE49-F238E27FC236}">
                    <a16:creationId xmlns:a16="http://schemas.microsoft.com/office/drawing/2014/main" id="{D3E72E6F-4F3F-E5F8-FB5F-4BF8D23BC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0" y="1434"/>
                <a:ext cx="992" cy="407"/>
              </a:xfrm>
              <a:custGeom>
                <a:avLst/>
                <a:gdLst>
                  <a:gd name="T0" fmla="*/ 0 w 992"/>
                  <a:gd name="T1" fmla="*/ 407 h 407"/>
                  <a:gd name="T2" fmla="*/ 992 w 992"/>
                  <a:gd name="T3" fmla="*/ 407 h 407"/>
                  <a:gd name="T4" fmla="*/ 762 w 992"/>
                  <a:gd name="T5" fmla="*/ 0 h 407"/>
                  <a:gd name="T6" fmla="*/ 231 w 992"/>
                  <a:gd name="T7" fmla="*/ 0 h 407"/>
                  <a:gd name="T8" fmla="*/ 0 w 992"/>
                  <a:gd name="T9" fmla="*/ 407 h 4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2" h="407">
                    <a:moveTo>
                      <a:pt x="0" y="407"/>
                    </a:moveTo>
                    <a:lnTo>
                      <a:pt x="992" y="407"/>
                    </a:lnTo>
                    <a:lnTo>
                      <a:pt x="762" y="0"/>
                    </a:lnTo>
                    <a:lnTo>
                      <a:pt x="231" y="0"/>
                    </a:lnTo>
                    <a:lnTo>
                      <a:pt x="0" y="407"/>
                    </a:lnTo>
                    <a:close/>
                  </a:path>
                </a:pathLst>
              </a:custGeom>
              <a:solidFill>
                <a:srgbClr val="FF5F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9417" name="Group 25">
              <a:extLst>
                <a:ext uri="{FF2B5EF4-FFF2-40B4-BE49-F238E27FC236}">
                  <a16:creationId xmlns:a16="http://schemas.microsoft.com/office/drawing/2014/main" id="{3EA1E6FF-CA3C-A2D7-8C13-B60291530D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35" y="967"/>
              <a:ext cx="513" cy="405"/>
              <a:chOff x="6835" y="967"/>
              <a:chExt cx="513" cy="405"/>
            </a:xfrm>
          </p:grpSpPr>
          <p:sp>
            <p:nvSpPr>
              <p:cNvPr id="59418" name="Freeform 26">
                <a:extLst>
                  <a:ext uri="{FF2B5EF4-FFF2-40B4-BE49-F238E27FC236}">
                    <a16:creationId xmlns:a16="http://schemas.microsoft.com/office/drawing/2014/main" id="{2B59D947-44EA-BDB3-9EAE-1835DDA95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5" y="967"/>
                <a:ext cx="283" cy="405"/>
              </a:xfrm>
              <a:custGeom>
                <a:avLst/>
                <a:gdLst>
                  <a:gd name="T0" fmla="*/ 230 w 283"/>
                  <a:gd name="T1" fmla="*/ 405 h 405"/>
                  <a:gd name="T2" fmla="*/ 283 w 283"/>
                  <a:gd name="T3" fmla="*/ 342 h 405"/>
                  <a:gd name="T4" fmla="*/ 0 w 283"/>
                  <a:gd name="T5" fmla="*/ 0 h 405"/>
                  <a:gd name="T6" fmla="*/ 230 w 283"/>
                  <a:gd name="T7" fmla="*/ 405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3" h="405">
                    <a:moveTo>
                      <a:pt x="230" y="405"/>
                    </a:moveTo>
                    <a:lnTo>
                      <a:pt x="283" y="342"/>
                    </a:lnTo>
                    <a:lnTo>
                      <a:pt x="0" y="0"/>
                    </a:lnTo>
                    <a:lnTo>
                      <a:pt x="230" y="405"/>
                    </a:lnTo>
                    <a:close/>
                  </a:path>
                </a:pathLst>
              </a:custGeom>
              <a:solidFill>
                <a:srgbClr val="FFBF1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19" name="Freeform 27">
                <a:extLst>
                  <a:ext uri="{FF2B5EF4-FFF2-40B4-BE49-F238E27FC236}">
                    <a16:creationId xmlns:a16="http://schemas.microsoft.com/office/drawing/2014/main" id="{69821F71-6194-0220-2D9F-3A5EC8ACDD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5" y="967"/>
                <a:ext cx="460" cy="405"/>
              </a:xfrm>
              <a:custGeom>
                <a:avLst/>
                <a:gdLst>
                  <a:gd name="T0" fmla="*/ 0 w 460"/>
                  <a:gd name="T1" fmla="*/ 405 h 405"/>
                  <a:gd name="T2" fmla="*/ 460 w 460"/>
                  <a:gd name="T3" fmla="*/ 405 h 405"/>
                  <a:gd name="T4" fmla="*/ 230 w 460"/>
                  <a:gd name="T5" fmla="*/ 0 h 405"/>
                  <a:gd name="T6" fmla="*/ 0 w 460"/>
                  <a:gd name="T7" fmla="*/ 405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60" h="405">
                    <a:moveTo>
                      <a:pt x="0" y="405"/>
                    </a:moveTo>
                    <a:lnTo>
                      <a:pt x="460" y="405"/>
                    </a:lnTo>
                    <a:lnTo>
                      <a:pt x="230" y="0"/>
                    </a:lnTo>
                    <a:lnTo>
                      <a:pt x="0" y="405"/>
                    </a:lnTo>
                    <a:close/>
                  </a:path>
                </a:pathLst>
              </a:custGeom>
              <a:solidFill>
                <a:srgbClr val="FF9F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59420" name="AutoShape 28">
            <a:extLst>
              <a:ext uri="{FF2B5EF4-FFF2-40B4-BE49-F238E27FC236}">
                <a16:creationId xmlns:a16="http://schemas.microsoft.com/office/drawing/2014/main" id="{1BBD9D7D-A8CB-E1DC-FE82-CBAC5B043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4781550"/>
            <a:ext cx="1257300" cy="476250"/>
          </a:xfrm>
          <a:prstGeom prst="rightArrow">
            <a:avLst>
              <a:gd name="adj1" fmla="val 50000"/>
              <a:gd name="adj2" fmla="val 66000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1" name="AutoShape 29">
            <a:extLst>
              <a:ext uri="{FF2B5EF4-FFF2-40B4-BE49-F238E27FC236}">
                <a16:creationId xmlns:a16="http://schemas.microsoft.com/office/drawing/2014/main" id="{D2FA481E-B7B9-C848-6958-BEFBB78E3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850" y="4781550"/>
            <a:ext cx="1257300" cy="476250"/>
          </a:xfrm>
          <a:prstGeom prst="rightArrow">
            <a:avLst>
              <a:gd name="adj1" fmla="val 50000"/>
              <a:gd name="adj2" fmla="val 66000"/>
            </a:avLst>
          </a:prstGeom>
          <a:solidFill>
            <a:srgbClr val="CC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9422" name="Group 30">
            <a:extLst>
              <a:ext uri="{FF2B5EF4-FFF2-40B4-BE49-F238E27FC236}">
                <a16:creationId xmlns:a16="http://schemas.microsoft.com/office/drawing/2014/main" id="{07C706C9-2341-1160-978D-29BCCE37FEE5}"/>
              </a:ext>
            </a:extLst>
          </p:cNvPr>
          <p:cNvGrpSpPr>
            <a:grpSpLocks/>
          </p:cNvGrpSpPr>
          <p:nvPr/>
        </p:nvGrpSpPr>
        <p:grpSpPr bwMode="auto">
          <a:xfrm>
            <a:off x="106363" y="5505450"/>
            <a:ext cx="8885237" cy="1185863"/>
            <a:chOff x="67" y="3468"/>
            <a:chExt cx="5597" cy="747"/>
          </a:xfrm>
        </p:grpSpPr>
        <p:grpSp>
          <p:nvGrpSpPr>
            <p:cNvPr id="59423" name="Group 31">
              <a:extLst>
                <a:ext uri="{FF2B5EF4-FFF2-40B4-BE49-F238E27FC236}">
                  <a16:creationId xmlns:a16="http://schemas.microsoft.com/office/drawing/2014/main" id="{87EB87C9-530F-2D04-E745-FE949BB9AA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" y="3863"/>
              <a:ext cx="5597" cy="352"/>
              <a:chOff x="67" y="3863"/>
              <a:chExt cx="5597" cy="352"/>
            </a:xfrm>
          </p:grpSpPr>
          <p:sp>
            <p:nvSpPr>
              <p:cNvPr id="59424" name="Rectangle 32">
                <a:extLst>
                  <a:ext uri="{FF2B5EF4-FFF2-40B4-BE49-F238E27FC236}">
                    <a16:creationId xmlns:a16="http://schemas.microsoft.com/office/drawing/2014/main" id="{E8928995-5BE5-9986-D763-76E7C3008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" y="3863"/>
                <a:ext cx="696" cy="35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r>
                  <a:rPr lang="en-US" altLang="en-US" sz="1400">
                    <a:solidFill>
                      <a:schemeClr val="bg1"/>
                    </a:solidFill>
                  </a:rPr>
                  <a:t>Employees</a:t>
                </a:r>
              </a:p>
            </p:txBody>
          </p:sp>
          <p:sp>
            <p:nvSpPr>
              <p:cNvPr id="59425" name="Rectangle 33">
                <a:extLst>
                  <a:ext uri="{FF2B5EF4-FFF2-40B4-BE49-F238E27FC236}">
                    <a16:creationId xmlns:a16="http://schemas.microsoft.com/office/drawing/2014/main" id="{C28B73D9-918C-EC94-BC69-F8DE43248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3863"/>
                <a:ext cx="660" cy="35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r>
                  <a:rPr lang="en-US" altLang="en-US" sz="1400">
                    <a:solidFill>
                      <a:schemeClr val="bg1"/>
                    </a:solidFill>
                  </a:rPr>
                  <a:t>Managers</a:t>
                </a:r>
              </a:p>
            </p:txBody>
          </p:sp>
          <p:sp>
            <p:nvSpPr>
              <p:cNvPr id="59426" name="Rectangle 34">
                <a:extLst>
                  <a:ext uri="{FF2B5EF4-FFF2-40B4-BE49-F238E27FC236}">
                    <a16:creationId xmlns:a16="http://schemas.microsoft.com/office/drawing/2014/main" id="{01162D9D-B8E3-29B0-4740-45A5D5D3E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3" y="3863"/>
                <a:ext cx="768" cy="35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r>
                  <a:rPr lang="en-US" altLang="en-US" sz="1400">
                    <a:solidFill>
                      <a:schemeClr val="bg1"/>
                    </a:solidFill>
                  </a:rPr>
                  <a:t>Government</a:t>
                </a:r>
              </a:p>
            </p:txBody>
          </p:sp>
          <p:sp>
            <p:nvSpPr>
              <p:cNvPr id="59427" name="Rectangle 35">
                <a:extLst>
                  <a:ext uri="{FF2B5EF4-FFF2-40B4-BE49-F238E27FC236}">
                    <a16:creationId xmlns:a16="http://schemas.microsoft.com/office/drawing/2014/main" id="{D78E4335-7EE9-8326-69BA-B3A4DD5E76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9" y="3863"/>
                <a:ext cx="684" cy="35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r>
                  <a:rPr lang="en-US" altLang="en-US" sz="1400">
                    <a:solidFill>
                      <a:schemeClr val="bg1"/>
                    </a:solidFill>
                  </a:rPr>
                  <a:t>Customers</a:t>
                </a:r>
              </a:p>
            </p:txBody>
          </p:sp>
          <p:sp>
            <p:nvSpPr>
              <p:cNvPr id="59428" name="Rectangle 36">
                <a:extLst>
                  <a:ext uri="{FF2B5EF4-FFF2-40B4-BE49-F238E27FC236}">
                    <a16:creationId xmlns:a16="http://schemas.microsoft.com/office/drawing/2014/main" id="{11F12EAF-5FAB-19EE-25F1-5EDAE5B35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3863"/>
                <a:ext cx="780" cy="35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r>
                  <a:rPr lang="en-US" altLang="en-US" sz="1400">
                    <a:solidFill>
                      <a:schemeClr val="bg1"/>
                    </a:solidFill>
                  </a:rPr>
                  <a:t>Stockholders</a:t>
                </a:r>
              </a:p>
            </p:txBody>
          </p:sp>
          <p:sp>
            <p:nvSpPr>
              <p:cNvPr id="59429" name="Rectangle 37">
                <a:extLst>
                  <a:ext uri="{FF2B5EF4-FFF2-40B4-BE49-F238E27FC236}">
                    <a16:creationId xmlns:a16="http://schemas.microsoft.com/office/drawing/2014/main" id="{2D475FE2-0454-E687-3226-7A97D26BA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6" y="3865"/>
                <a:ext cx="684" cy="350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r>
                  <a:rPr lang="en-US" altLang="en-US" sz="1400">
                    <a:solidFill>
                      <a:schemeClr val="bg1"/>
                    </a:solidFill>
                  </a:rPr>
                  <a:t>Financial</a:t>
                </a:r>
              </a:p>
              <a:p>
                <a:r>
                  <a:rPr lang="en-US" altLang="en-US" sz="1400">
                    <a:solidFill>
                      <a:schemeClr val="bg1"/>
                    </a:solidFill>
                  </a:rPr>
                  <a:t>Institutions</a:t>
                </a:r>
              </a:p>
            </p:txBody>
          </p:sp>
          <p:sp>
            <p:nvSpPr>
              <p:cNvPr id="59430" name="Rectangle 38">
                <a:extLst>
                  <a:ext uri="{FF2B5EF4-FFF2-40B4-BE49-F238E27FC236}">
                    <a16:creationId xmlns:a16="http://schemas.microsoft.com/office/drawing/2014/main" id="{97911240-4B39-E14C-8243-D110C0004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6" y="3865"/>
                <a:ext cx="684" cy="350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r>
                  <a:rPr lang="en-US" altLang="en-US" sz="1400">
                    <a:solidFill>
                      <a:schemeClr val="bg1"/>
                    </a:solidFill>
                  </a:rPr>
                  <a:t>Colleges/</a:t>
                </a:r>
              </a:p>
              <a:p>
                <a:r>
                  <a:rPr lang="en-US" altLang="en-US" sz="1400">
                    <a:solidFill>
                      <a:schemeClr val="bg1"/>
                    </a:solidFill>
                  </a:rPr>
                  <a:t>agencies</a:t>
                </a:r>
              </a:p>
            </p:txBody>
          </p:sp>
          <p:sp>
            <p:nvSpPr>
              <p:cNvPr id="59431" name="Rectangle 39">
                <a:extLst>
                  <a:ext uri="{FF2B5EF4-FFF2-40B4-BE49-F238E27FC236}">
                    <a16:creationId xmlns:a16="http://schemas.microsoft.com/office/drawing/2014/main" id="{BBF49025-3DA7-96DA-0D28-A31DBB1C4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0" y="3865"/>
                <a:ext cx="684" cy="350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400">
                    <a:solidFill>
                      <a:schemeClr val="bg1"/>
                    </a:solidFill>
                  </a:rPr>
                  <a:t>Media</a:t>
                </a:r>
              </a:p>
            </p:txBody>
          </p:sp>
        </p:grpSp>
        <p:sp>
          <p:nvSpPr>
            <p:cNvPr id="59432" name="AutoShape 40">
              <a:extLst>
                <a:ext uri="{FF2B5EF4-FFF2-40B4-BE49-F238E27FC236}">
                  <a16:creationId xmlns:a16="http://schemas.microsoft.com/office/drawing/2014/main" id="{DF988736-61B8-7E97-F8AF-FD1D3B348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3468"/>
              <a:ext cx="300" cy="336"/>
            </a:xfrm>
            <a:prstGeom prst="upDownArrow">
              <a:avLst>
                <a:gd name="adj1" fmla="val 50000"/>
                <a:gd name="adj2" fmla="val 22400"/>
              </a:avLst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3" name="AutoShape 41">
              <a:extLst>
                <a:ext uri="{FF2B5EF4-FFF2-40B4-BE49-F238E27FC236}">
                  <a16:creationId xmlns:a16="http://schemas.microsoft.com/office/drawing/2014/main" id="{4B8733DC-DF18-9509-D36A-3938CD1CD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3468"/>
              <a:ext cx="300" cy="336"/>
            </a:xfrm>
            <a:prstGeom prst="upDownArrow">
              <a:avLst>
                <a:gd name="adj1" fmla="val 50000"/>
                <a:gd name="adj2" fmla="val 22400"/>
              </a:avLst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34" name="AutoShape 42">
              <a:extLst>
                <a:ext uri="{FF2B5EF4-FFF2-40B4-BE49-F238E27FC236}">
                  <a16:creationId xmlns:a16="http://schemas.microsoft.com/office/drawing/2014/main" id="{636FB479-6E97-64EA-70BE-5A19ACBB8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6" y="3468"/>
              <a:ext cx="300" cy="336"/>
            </a:xfrm>
            <a:prstGeom prst="upDownArrow">
              <a:avLst>
                <a:gd name="adj1" fmla="val 50000"/>
                <a:gd name="adj2" fmla="val 22400"/>
              </a:avLst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A5A1EBA-6B63-701A-B7FC-C25DD2CC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D385E-8F70-4EE1-B477-E5419C4145DD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626C0A4D-9E3F-3394-AD0A-F950F6349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0"/>
            <a:ext cx="7913687" cy="815975"/>
          </a:xfrm>
        </p:spPr>
        <p:txBody>
          <a:bodyPr/>
          <a:lstStyle/>
          <a:p>
            <a:r>
              <a:rPr lang="en-US" altLang="en-US"/>
              <a:t>Filtering Information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82693A6-4A20-5442-F2B5-C7E1520B6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6613" y="3556000"/>
            <a:ext cx="8001000" cy="2778125"/>
          </a:xfrm>
          <a:gradFill rotWithShape="0">
            <a:gsLst>
              <a:gs pos="0">
                <a:srgbClr val="A50021">
                  <a:gamma/>
                  <a:shade val="39216"/>
                  <a:invGamma/>
                </a:srgbClr>
              </a:gs>
              <a:gs pos="100000">
                <a:srgbClr val="A50021"/>
              </a:gs>
            </a:gsLst>
            <a:lin ang="0" scaled="1"/>
          </a:gradFill>
          <a:ln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Clerical Level       </a:t>
            </a:r>
            <a:r>
              <a:rPr lang="en-US" altLang="en-US" sz="2400">
                <a:solidFill>
                  <a:schemeClr val="bg1"/>
                </a:solidFill>
              </a:rPr>
              <a:t>(Transaction Handling)</a:t>
            </a:r>
          </a:p>
          <a:p>
            <a:r>
              <a:rPr lang="en-US" altLang="en-US">
                <a:solidFill>
                  <a:schemeClr val="bg1"/>
                </a:solidFill>
              </a:rPr>
              <a:t>Operational Level </a:t>
            </a:r>
            <a:r>
              <a:rPr lang="en-US" altLang="en-US" sz="2400">
                <a:solidFill>
                  <a:schemeClr val="bg1"/>
                </a:solidFill>
              </a:rPr>
              <a:t>(Exception Reports)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Tactical Level       </a:t>
            </a:r>
            <a:r>
              <a:rPr lang="en-US" altLang="en-US" sz="2400">
                <a:solidFill>
                  <a:schemeClr val="bg1"/>
                </a:solidFill>
              </a:rPr>
              <a:t>(What-if Reports)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Strategic Level     </a:t>
            </a:r>
            <a:r>
              <a:rPr lang="en-US" altLang="en-US" sz="2400">
                <a:solidFill>
                  <a:schemeClr val="bg1"/>
                </a:solidFill>
              </a:rPr>
              <a:t>(One-time Reports, What-if                                     			          Reports or Trend Analyses)</a:t>
            </a:r>
          </a:p>
        </p:txBody>
      </p:sp>
      <p:sp>
        <p:nvSpPr>
          <p:cNvPr id="60420" name="Text Box 4">
            <a:extLst>
              <a:ext uri="{FF2B5EF4-FFF2-40B4-BE49-F238E27FC236}">
                <a16:creationId xmlns:a16="http://schemas.microsoft.com/office/drawing/2014/main" id="{BD6AC851-A1D5-B0AF-435B-3378CD6E6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619250"/>
            <a:ext cx="7145337" cy="160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"/>
              </a:spcBef>
            </a:pPr>
            <a:r>
              <a:rPr lang="en-US" altLang="en-US" sz="3200" b="1" i="1">
                <a:solidFill>
                  <a:srgbClr val="000000"/>
                </a:solidFill>
                <a:latin typeface="Times New Roman" panose="02020603050405020304" pitchFamily="18" charset="0"/>
              </a:rPr>
              <a:t>The right information </a:t>
            </a:r>
          </a:p>
          <a:p>
            <a:pPr algn="ctr">
              <a:spcBef>
                <a:spcPct val="5000"/>
              </a:spcBef>
            </a:pPr>
            <a:r>
              <a:rPr lang="en-US" altLang="en-US" sz="3200" b="1" i="1">
                <a:solidFill>
                  <a:srgbClr val="000000"/>
                </a:solidFill>
                <a:latin typeface="Times New Roman" panose="02020603050405020304" pitchFamily="18" charset="0"/>
              </a:rPr>
              <a:t>- the right decision maker </a:t>
            </a:r>
          </a:p>
          <a:p>
            <a:pPr algn="ctr">
              <a:spcBef>
                <a:spcPct val="5000"/>
              </a:spcBef>
            </a:pPr>
            <a:r>
              <a:rPr lang="en-US" altLang="en-US" sz="3200" b="1" i="1">
                <a:solidFill>
                  <a:srgbClr val="000000"/>
                </a:solidFill>
                <a:latin typeface="Times New Roman" panose="02020603050405020304" pitchFamily="18" charset="0"/>
              </a:rPr>
              <a:t>- the right time - the right form.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4613881-0BE4-DA66-972A-95C0BD641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E0567-A78F-41DE-A263-B67E4C4B25F1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8D22CEDC-6336-DAE2-AF97-F78D305C4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550" y="0"/>
            <a:ext cx="8696325" cy="815975"/>
          </a:xfrm>
        </p:spPr>
        <p:txBody>
          <a:bodyPr/>
          <a:lstStyle/>
          <a:p>
            <a:r>
              <a:rPr lang="en-US" altLang="en-US" sz="3200" b="1" dirty="0"/>
              <a:t>1. Transaction Processing Systems (TPS) 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472736C7-8598-A90B-AB86-B8EDEA057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8163" y="1582738"/>
            <a:ext cx="7119937" cy="47323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Activities: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Transaction handling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 Record-keeping </a:t>
            </a:r>
          </a:p>
          <a:p>
            <a:pPr>
              <a:lnSpc>
                <a:spcPct val="90000"/>
              </a:lnSpc>
            </a:pPr>
            <a:r>
              <a:rPr lang="en-US" altLang="en-US"/>
              <a:t>Action documents</a:t>
            </a:r>
          </a:p>
          <a:p>
            <a:pPr>
              <a:lnSpc>
                <a:spcPct val="90000"/>
              </a:lnSpc>
            </a:pPr>
            <a:r>
              <a:rPr lang="en-US" altLang="en-US"/>
              <a:t>Scheduled reports</a:t>
            </a:r>
          </a:p>
          <a:p>
            <a:pPr>
              <a:lnSpc>
                <a:spcPct val="90000"/>
              </a:lnSpc>
            </a:pPr>
            <a:r>
              <a:rPr lang="en-US" altLang="en-US"/>
              <a:t>Primarily support: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Clerical personnel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Operational-level managers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Inflexible</a:t>
            </a:r>
          </a:p>
        </p:txBody>
      </p:sp>
      <p:sp>
        <p:nvSpPr>
          <p:cNvPr id="70661" name="Text Box 5">
            <a:extLst>
              <a:ext uri="{FF2B5EF4-FFF2-40B4-BE49-F238E27FC236}">
                <a16:creationId xmlns:a16="http://schemas.microsoft.com/office/drawing/2014/main" id="{0777190F-6302-E62C-09B3-D346C0F27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178425"/>
            <a:ext cx="1387475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sz="1600" b="1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altLang="en-US" sz="1600" b="1">
                <a:solidFill>
                  <a:schemeClr val="bg1"/>
                </a:solidFill>
                <a:latin typeface="Arial Narrow" panose="020B0606020202030204" pitchFamily="34" charset="0"/>
              </a:rPr>
              <a:t>MIS</a:t>
            </a:r>
          </a:p>
          <a:p>
            <a:r>
              <a:rPr lang="en-US" altLang="en-US" sz="1600" b="1">
                <a:solidFill>
                  <a:schemeClr val="bg1"/>
                </a:solidFill>
                <a:latin typeface="Arial Narrow" panose="020B0606020202030204" pitchFamily="34" charset="0"/>
              </a:rPr>
              <a:t>DSS</a:t>
            </a:r>
          </a:p>
          <a:p>
            <a:r>
              <a:rPr lang="en-US" altLang="en-US" sz="1600" b="1">
                <a:solidFill>
                  <a:schemeClr val="bg1"/>
                </a:solidFill>
                <a:latin typeface="Arial Narrow" panose="020B0606020202030204" pitchFamily="34" charset="0"/>
              </a:rPr>
              <a:t>EIS</a:t>
            </a:r>
          </a:p>
        </p:txBody>
      </p:sp>
      <p:pic>
        <p:nvPicPr>
          <p:cNvPr id="70662" name="Picture 6">
            <a:hlinkClick r:id="rId2"/>
            <a:extLst>
              <a:ext uri="{FF2B5EF4-FFF2-40B4-BE49-F238E27FC236}">
                <a16:creationId xmlns:a16="http://schemas.microsoft.com/office/drawing/2014/main" id="{6A424C73-AE4A-AED6-BB55-5070F1AD3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6" b="20602"/>
          <a:stretch>
            <a:fillRect/>
          </a:stretch>
        </p:blipFill>
        <p:spPr bwMode="auto">
          <a:xfrm>
            <a:off x="107950" y="6240463"/>
            <a:ext cx="628650" cy="6175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63" name="Picture 7">
            <a:extLst>
              <a:ext uri="{FF2B5EF4-FFF2-40B4-BE49-F238E27FC236}">
                <a16:creationId xmlns:a16="http://schemas.microsoft.com/office/drawing/2014/main" id="{E73512CD-6055-F33D-BF8B-74E6637C1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075" y="1428750"/>
            <a:ext cx="2701925" cy="405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AF9AF4D3-2D14-3456-1AC1-22927D9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D4B3167-756A-1558-F79A-3F143C14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28B7B-FA46-480F-A44F-9E07ED739D8D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31270F92-1E37-AF82-B35B-984652474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517B7B6-4D9E-F5CB-E4F1-23BDAA3E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93774D23-5B1E-ECD1-49EE-17FC2C2701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2. Management Information Systems</a:t>
            </a:r>
          </a:p>
        </p:txBody>
      </p:sp>
      <p:sp>
        <p:nvSpPr>
          <p:cNvPr id="6159" name="Rectangle 15">
            <a:extLst>
              <a:ext uri="{FF2B5EF4-FFF2-40B4-BE49-F238E27FC236}">
                <a16:creationId xmlns:a16="http://schemas.microsoft.com/office/drawing/2014/main" id="{8A034C52-CD18-D3C2-2C4E-3FB1CB23A2C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 b="1"/>
              <a:t>Transaction Processing Systems (TPS)</a:t>
            </a:r>
          </a:p>
          <a:p>
            <a:pPr lvl="1"/>
            <a:r>
              <a:rPr lang="en-US" altLang="en-US" sz="2400" b="1"/>
              <a:t>Support operation</a:t>
            </a:r>
          </a:p>
          <a:p>
            <a:pPr lvl="1"/>
            <a:r>
              <a:rPr lang="en-US" altLang="en-US" sz="2400" b="1"/>
              <a:t>Management and control</a:t>
            </a:r>
          </a:p>
          <a:p>
            <a:pPr lvl="1"/>
            <a:r>
              <a:rPr lang="en-US" altLang="en-US" sz="2400" b="1"/>
              <a:t>Routine, normal operations</a:t>
            </a:r>
          </a:p>
        </p:txBody>
      </p:sp>
      <p:sp>
        <p:nvSpPr>
          <p:cNvPr id="6160" name="Rectangle 16">
            <a:extLst>
              <a:ext uri="{FF2B5EF4-FFF2-40B4-BE49-F238E27FC236}">
                <a16:creationId xmlns:a16="http://schemas.microsoft.com/office/drawing/2014/main" id="{47CD6F6E-D408-61AB-3F89-29C38A19E8B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 b="1" dirty="0"/>
              <a:t>Management Information Systems (MIS)</a:t>
            </a:r>
          </a:p>
          <a:p>
            <a:pPr lvl="1"/>
            <a:r>
              <a:rPr lang="en-US" altLang="en-US" sz="2400" b="1" dirty="0"/>
              <a:t>Provide decision-making support for routine, structured decisions</a:t>
            </a:r>
          </a:p>
          <a:p>
            <a:pPr lvl="1"/>
            <a:r>
              <a:rPr lang="en-US" altLang="en-US" sz="2400" b="1" dirty="0"/>
              <a:t>Closely linked to and fed by TPS</a:t>
            </a:r>
          </a:p>
          <a:p>
            <a:pPr lvl="1"/>
            <a:endParaRPr lang="en-US" altLang="en-US" sz="2400" b="1" dirty="0"/>
          </a:p>
          <a:p>
            <a:pPr lvl="1"/>
            <a:endParaRPr lang="en-US" altLang="en-US" sz="2400" b="1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9568F6A-AF86-B82A-E1E3-0FAC95AB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AB5A-E866-4EEB-A7B0-48E375111298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97A4A2F9-C244-D27E-8ABD-F61F82513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FA04C3AA-395F-7B8B-FE2A-F1E4F20D9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3D671E49-BFCB-74EB-729C-C2409BEC3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Management Information Systems</a:t>
            </a:r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2A662AE6-598C-E6CF-47BA-C49FA2365A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001000" cy="4191000"/>
          </a:xfrm>
        </p:spPr>
        <p:txBody>
          <a:bodyPr/>
          <a:lstStyle/>
          <a:p>
            <a:r>
              <a:rPr lang="en-US" altLang="en-US" sz="3200"/>
              <a:t>Terminology Confusion</a:t>
            </a:r>
          </a:p>
          <a:p>
            <a:pPr lvl="1"/>
            <a:r>
              <a:rPr lang="en-US" altLang="en-US" sz="3200"/>
              <a:t>MIS = the study of information technology in business settings</a:t>
            </a:r>
          </a:p>
          <a:p>
            <a:pPr lvl="1"/>
            <a:r>
              <a:rPr lang="en-US" altLang="en-US" sz="3200"/>
              <a:t>But, MIS is also term to refer to class of systems used to support operational and tactical decisionmaking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AC3B1DD-E059-4C1F-C207-CECAA502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1C473-8502-48D4-AAE9-7A3F485CFCC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73058" name="Rectangle 2">
            <a:extLst>
              <a:ext uri="{FF2B5EF4-FFF2-40B4-BE49-F238E27FC236}">
                <a16:creationId xmlns:a16="http://schemas.microsoft.com/office/drawing/2014/main" id="{B92C2714-9015-0587-382B-4695768CE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/>
              <a:t>A Model for Problem Solving</a:t>
            </a:r>
          </a:p>
        </p:txBody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F6B0ABB1-CED0-6EF2-E258-849BF45729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/>
              <a:t>Decision Making Phase</a:t>
            </a:r>
          </a:p>
          <a:p>
            <a:pPr lvl="1"/>
            <a:r>
              <a:rPr lang="en-US" altLang="en-US" sz="3200"/>
              <a:t>Intelligence gathering</a:t>
            </a:r>
          </a:p>
          <a:p>
            <a:pPr lvl="1"/>
            <a:r>
              <a:rPr lang="en-US" altLang="en-US" sz="3200"/>
              <a:t>Design</a:t>
            </a:r>
          </a:p>
          <a:p>
            <a:pPr lvl="1"/>
            <a:r>
              <a:rPr lang="en-US" altLang="en-US" sz="3200"/>
              <a:t>Choice</a:t>
            </a:r>
          </a:p>
          <a:p>
            <a:r>
              <a:rPr lang="en-US" altLang="en-US" sz="3200"/>
              <a:t>Implementation</a:t>
            </a:r>
          </a:p>
          <a:p>
            <a:r>
              <a:rPr lang="en-US" altLang="en-US" sz="3200"/>
              <a:t>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5E3B82A-995B-E819-9740-847D6C78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22DEA-E52C-411D-BECE-DBAF007C6A51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77154" name="Rectangle 2">
            <a:extLst>
              <a:ext uri="{FF2B5EF4-FFF2-40B4-BE49-F238E27FC236}">
                <a16:creationId xmlns:a16="http://schemas.microsoft.com/office/drawing/2014/main" id="{E5E151C4-652D-0234-EC24-26A69D5EA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/>
              <a:t>Decision Making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5D08DF32-6B57-320C-A020-51266C34E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 step in problem solving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Intelligence gathering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Definition of problem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Data gathered on scope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Constraints identified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Design phase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Alternatives identified and assessed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Choice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Selection of an alternative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6211248-DDFA-58E1-8956-EF9ECE6A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3BB7-D846-4C9E-8DED-B124B2D64222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75106" name="Rectangle 2">
            <a:extLst>
              <a:ext uri="{FF2B5EF4-FFF2-40B4-BE49-F238E27FC236}">
                <a16:creationId xmlns:a16="http://schemas.microsoft.com/office/drawing/2014/main" id="{2E7679DA-6E1B-FAC1-2E22-4F1CCFF38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Structured vs. Unstructured Problems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ED909BF8-33BD-B8BE-63C1-3AA73F3F2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/>
              <a:t>Structured problems lend themselves to </a:t>
            </a:r>
            <a:r>
              <a:rPr lang="en-US" altLang="en-US" sz="3200" i="1"/>
              <a:t>programmed decisions</a:t>
            </a:r>
          </a:p>
          <a:p>
            <a:pPr lvl="1"/>
            <a:r>
              <a:rPr lang="en-US" altLang="en-US" sz="3200"/>
              <a:t>The implication is that a repeatable process can be employed and these can be automated</a:t>
            </a:r>
          </a:p>
          <a:p>
            <a:r>
              <a:rPr lang="en-US" altLang="en-US" sz="3200"/>
              <a:t>Unstructured problems require unprogrammed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05E5644-A66B-97F9-CC53-48E51EE0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4F14-4333-405D-9580-DB8E43C5905F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03EEB655-C181-4C02-9202-6F37DB438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0"/>
            <a:ext cx="7913687" cy="815975"/>
          </a:xfrm>
        </p:spPr>
        <p:txBody>
          <a:bodyPr/>
          <a:lstStyle/>
          <a:p>
            <a:r>
              <a:rPr lang="en-US" altLang="en-US"/>
              <a:t>Making Decisions</a:t>
            </a:r>
          </a:p>
        </p:txBody>
      </p:sp>
      <p:sp>
        <p:nvSpPr>
          <p:cNvPr id="61443" name="AutoShape 3">
            <a:extLst>
              <a:ext uri="{FF2B5EF4-FFF2-40B4-BE49-F238E27FC236}">
                <a16:creationId xmlns:a16="http://schemas.microsoft.com/office/drawing/2014/main" id="{E95A0C84-CA4C-4C50-5E6B-647E6C424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000250"/>
            <a:ext cx="4038600" cy="18859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8200"/>
                    </a:gs>
                    <a:gs pos="10001">
                      <a:srgbClr val="FF0000"/>
                    </a:gs>
                    <a:gs pos="35001">
                      <a:srgbClr val="BA0066"/>
                    </a:gs>
                    <a:gs pos="70000">
                      <a:srgbClr val="66008F"/>
                    </a:gs>
                    <a:gs pos="100000">
                      <a:srgbClr val="000082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>
                <a:solidFill>
                  <a:srgbClr val="000000"/>
                </a:solidFill>
                <a:latin typeface="Comic Sans MS" panose="030F0702030302020204" pitchFamily="66" charset="0"/>
              </a:rPr>
              <a:t>Programmed</a:t>
            </a:r>
          </a:p>
          <a:p>
            <a:pPr algn="ctr"/>
            <a:r>
              <a:rPr lang="en-US" altLang="en-US" sz="3200" b="1">
                <a:solidFill>
                  <a:srgbClr val="000000"/>
                </a:solidFill>
                <a:latin typeface="Comic Sans MS" panose="030F0702030302020204" pitchFamily="66" charset="0"/>
              </a:rPr>
              <a:t>Decisions</a:t>
            </a:r>
          </a:p>
        </p:txBody>
      </p:sp>
      <p:sp>
        <p:nvSpPr>
          <p:cNvPr id="61444" name="AutoShape 4">
            <a:extLst>
              <a:ext uri="{FF2B5EF4-FFF2-40B4-BE49-F238E27FC236}">
                <a16:creationId xmlns:a16="http://schemas.microsoft.com/office/drawing/2014/main" id="{CB0C47DD-96AB-D2A2-FA88-E5C889459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572000"/>
            <a:ext cx="4076700" cy="2133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8200"/>
                    </a:gs>
                    <a:gs pos="10001">
                      <a:srgbClr val="FF0000"/>
                    </a:gs>
                    <a:gs pos="35001">
                      <a:srgbClr val="BA0066"/>
                    </a:gs>
                    <a:gs pos="70000">
                      <a:srgbClr val="66008F"/>
                    </a:gs>
                    <a:gs pos="100000">
                      <a:srgbClr val="000082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 b="1">
                <a:solidFill>
                  <a:srgbClr val="000000"/>
                </a:solidFill>
                <a:latin typeface="Comic Sans MS" panose="030F0702030302020204" pitchFamily="66" charset="0"/>
              </a:rPr>
              <a:t>Information-Based</a:t>
            </a:r>
          </a:p>
          <a:p>
            <a:pPr algn="ctr"/>
            <a:r>
              <a:rPr lang="en-US" altLang="en-US" sz="3200" b="1">
                <a:solidFill>
                  <a:srgbClr val="000000"/>
                </a:solidFill>
                <a:latin typeface="Comic Sans MS" panose="030F0702030302020204" pitchFamily="66" charset="0"/>
              </a:rPr>
              <a:t>Decisions</a:t>
            </a:r>
          </a:p>
        </p:txBody>
      </p:sp>
      <p:sp>
        <p:nvSpPr>
          <p:cNvPr id="61445" name="AutoShape 5">
            <a:extLst>
              <a:ext uri="{FF2B5EF4-FFF2-40B4-BE49-F238E27FC236}">
                <a16:creationId xmlns:a16="http://schemas.microsoft.com/office/drawing/2014/main" id="{4622FB24-3B9D-174D-850F-D47700FB3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95500"/>
            <a:ext cx="5410200" cy="1562100"/>
          </a:xfrm>
          <a:prstGeom prst="rightArrow">
            <a:avLst>
              <a:gd name="adj1" fmla="val 50000"/>
              <a:gd name="adj2" fmla="val 86585"/>
            </a:avLst>
          </a:prstGeom>
          <a:gradFill rotWithShape="0">
            <a:gsLst>
              <a:gs pos="0">
                <a:srgbClr val="000082"/>
              </a:gs>
              <a:gs pos="30000">
                <a:srgbClr val="66008F"/>
              </a:gs>
              <a:gs pos="64999">
                <a:srgbClr val="BA0066"/>
              </a:gs>
              <a:gs pos="89999">
                <a:srgbClr val="FF0000"/>
              </a:gs>
              <a:gs pos="100000">
                <a:srgbClr val="FF82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Well-Defined Problem</a:t>
            </a:r>
          </a:p>
        </p:txBody>
      </p:sp>
      <p:sp>
        <p:nvSpPr>
          <p:cNvPr id="61446" name="AutoShape 6">
            <a:extLst>
              <a:ext uri="{FF2B5EF4-FFF2-40B4-BE49-F238E27FC236}">
                <a16:creationId xmlns:a16="http://schemas.microsoft.com/office/drawing/2014/main" id="{55DA5BAE-5C0A-0EC5-1753-3E1E61594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91050"/>
            <a:ext cx="5410200" cy="1562100"/>
          </a:xfrm>
          <a:prstGeom prst="rightArrow">
            <a:avLst>
              <a:gd name="adj1" fmla="val 50000"/>
              <a:gd name="adj2" fmla="val 86585"/>
            </a:avLst>
          </a:prstGeom>
          <a:gradFill rotWithShape="0">
            <a:gsLst>
              <a:gs pos="0">
                <a:srgbClr val="000082"/>
              </a:gs>
              <a:gs pos="30000">
                <a:srgbClr val="66008F"/>
              </a:gs>
              <a:gs pos="64999">
                <a:srgbClr val="BA0066"/>
              </a:gs>
              <a:gs pos="89999">
                <a:srgbClr val="FF0000"/>
              </a:gs>
              <a:gs pos="100000">
                <a:srgbClr val="FF82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Unstructured Problem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autoUpdateAnimBg="0"/>
      <p:bldP spid="61444" grpId="0" autoUpdateAnimBg="0"/>
      <p:bldP spid="61445" grpId="0" animBg="1" autoUpdateAnimBg="0"/>
      <p:bldP spid="61446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B599AFB-F878-6639-D54A-E87A5455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9B84-7874-44E5-ACD2-7F932D76B294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83298" name="Rectangle 2">
            <a:extLst>
              <a:ext uri="{FF2B5EF4-FFF2-40B4-BE49-F238E27FC236}">
                <a16:creationId xmlns:a16="http://schemas.microsoft.com/office/drawing/2014/main" id="{C7CF77F6-0173-E329-DE8B-2ACFD8F58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/>
              <a:t>Unstructured Problems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BEC62D8F-805F-0346-66AC-EB918F3C8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dirty="0"/>
              <a:t>Can be addressed (or partially addressed) with </a:t>
            </a:r>
            <a:r>
              <a:rPr lang="en-US" altLang="en-US" sz="3200" b="1" dirty="0"/>
              <a:t>Decision Support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079B0FD-F802-AA9D-1A1C-4E17A8D7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86EAF-8B84-45D0-B328-A4F8176E6173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80226" name="Rectangle 2">
            <a:extLst>
              <a:ext uri="{FF2B5EF4-FFF2-40B4-BE49-F238E27FC236}">
                <a16:creationId xmlns:a16="http://schemas.microsoft.com/office/drawing/2014/main" id="{BC654D8D-F369-4114-719F-24BC310C6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/>
              <a:t>Structured Problems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10EAE844-99CE-27CE-D9AE-1AAB61692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dirty="0"/>
              <a:t>Can be addressed by an </a:t>
            </a:r>
            <a:r>
              <a:rPr lang="en-US" altLang="en-US" sz="3200" b="1" dirty="0"/>
              <a:t>MIS</a:t>
            </a:r>
          </a:p>
          <a:p>
            <a:r>
              <a:rPr lang="en-US" altLang="en-US" sz="3200" dirty="0"/>
              <a:t>Three decision models or techniques</a:t>
            </a:r>
          </a:p>
          <a:p>
            <a:pPr lvl="1"/>
            <a:r>
              <a:rPr lang="en-US" altLang="en-US" sz="3200" dirty="0"/>
              <a:t>Optimization</a:t>
            </a:r>
          </a:p>
          <a:p>
            <a:pPr lvl="2"/>
            <a:r>
              <a:rPr lang="en-US" altLang="en-US" sz="2800" dirty="0"/>
              <a:t>Find the best solution</a:t>
            </a:r>
          </a:p>
          <a:p>
            <a:pPr lvl="1"/>
            <a:r>
              <a:rPr lang="en-US" altLang="en-US" sz="3200" dirty="0"/>
              <a:t>Satisficing</a:t>
            </a:r>
          </a:p>
          <a:p>
            <a:pPr lvl="2"/>
            <a:r>
              <a:rPr lang="en-US" altLang="en-US" sz="2800" dirty="0"/>
              <a:t>Find a solution which meets certain criteria</a:t>
            </a:r>
          </a:p>
          <a:p>
            <a:pPr lvl="1"/>
            <a:r>
              <a:rPr lang="en-US" altLang="en-US" sz="3200" dirty="0"/>
              <a:t>Heuristics</a:t>
            </a:r>
          </a:p>
          <a:p>
            <a:pPr lvl="2"/>
            <a:r>
              <a:rPr lang="en-US" altLang="en-US" sz="2800" dirty="0"/>
              <a:t>Rule-based solution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B137984-BE8F-5C55-7422-928C4AD0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2F4CA-FF2D-4B5F-9EB1-2A663B1BC4F8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C8223BC9-76C2-AA7F-BBE5-EBCBD3103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/>
              <a:t>Goals of an MIS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B71066FB-16B1-B792-E745-F16EB27C3E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/>
              <a:t>Provide managers with information</a:t>
            </a:r>
          </a:p>
          <a:p>
            <a:r>
              <a:rPr lang="en-US" altLang="en-US" sz="3200"/>
              <a:t>Regular, routine operations</a:t>
            </a:r>
          </a:p>
          <a:p>
            <a:r>
              <a:rPr lang="en-US" altLang="en-US" sz="3200"/>
              <a:t>Control, organize and plan better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493D3A0-7C5E-73EE-EA33-FB18268A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F26B-08B7-4DD0-9435-6B979B185C5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454A66BE-68F9-71AB-30F0-5378C7AC5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/>
              <a:t>Typical Inputs and Outputs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1C13A0A3-9BD8-C998-CD59-70A9E4FC7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/>
              <a:t>Inputs:  Information from the TPS</a:t>
            </a:r>
          </a:p>
          <a:p>
            <a:r>
              <a:rPr lang="en-US" altLang="en-US" sz="3200"/>
              <a:t>Outputs: hard and softcopy reports</a:t>
            </a:r>
          </a:p>
          <a:p>
            <a:pPr lvl="1"/>
            <a:r>
              <a:rPr lang="en-US" altLang="en-US" sz="3200"/>
              <a:t>Scheduled reports</a:t>
            </a:r>
          </a:p>
          <a:p>
            <a:pPr lvl="1"/>
            <a:r>
              <a:rPr lang="en-US" altLang="en-US" sz="3200"/>
              <a:t>On-demand reports</a:t>
            </a:r>
          </a:p>
          <a:p>
            <a:pPr lvl="1"/>
            <a:r>
              <a:rPr lang="en-US" altLang="en-US" sz="3200"/>
              <a:t>Key-indicator (business fundamentals)</a:t>
            </a:r>
          </a:p>
          <a:p>
            <a:pPr lvl="1"/>
            <a:r>
              <a:rPr lang="en-US" altLang="en-US" sz="3200"/>
              <a:t>Exception reports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813A918-C377-20B0-DD81-3A7A6F65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BCEFF-1FFB-4E69-876F-1463F11DDCA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90466" name="Rectangle 2">
            <a:extLst>
              <a:ext uri="{FF2B5EF4-FFF2-40B4-BE49-F238E27FC236}">
                <a16:creationId xmlns:a16="http://schemas.microsoft.com/office/drawing/2014/main" id="{EDFC1CB8-73DD-5168-AC88-5AA9B8FE3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Functional Perspectives of MIS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CEA18C8E-E46A-A0C1-B4B7-375928CC8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b="1" dirty="0"/>
              <a:t>Financial MIS</a:t>
            </a:r>
          </a:p>
          <a:p>
            <a:pPr lvl="1"/>
            <a:r>
              <a:rPr lang="en-US" altLang="en-US" sz="3200" dirty="0"/>
              <a:t>Will integrate information from multiple sources</a:t>
            </a:r>
          </a:p>
          <a:p>
            <a:pPr lvl="1"/>
            <a:r>
              <a:rPr lang="en-US" altLang="en-US" sz="3200" dirty="0"/>
              <a:t>Functions</a:t>
            </a:r>
          </a:p>
          <a:p>
            <a:pPr lvl="2"/>
            <a:r>
              <a:rPr lang="en-US" altLang="en-US" sz="2800" dirty="0"/>
              <a:t>Costing</a:t>
            </a:r>
          </a:p>
          <a:p>
            <a:pPr lvl="2"/>
            <a:r>
              <a:rPr lang="en-US" altLang="en-US" sz="2800" dirty="0"/>
              <a:t>P&amp;L reporting</a:t>
            </a:r>
          </a:p>
          <a:p>
            <a:pPr lvl="2"/>
            <a:r>
              <a:rPr lang="en-US" altLang="en-US" sz="2800" dirty="0"/>
              <a:t>Auditing</a:t>
            </a:r>
          </a:p>
          <a:p>
            <a:pPr lvl="2"/>
            <a:r>
              <a:rPr lang="en-US" altLang="en-US" sz="2800" dirty="0"/>
              <a:t>Funds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6FB8D49-41C0-D01B-2BC1-2E62E8E2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43F0-9DE9-4FEB-823F-45884DF38A63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92514" name="Rectangle 2">
            <a:extLst>
              <a:ext uri="{FF2B5EF4-FFF2-40B4-BE49-F238E27FC236}">
                <a16:creationId xmlns:a16="http://schemas.microsoft.com/office/drawing/2014/main" id="{C222ACDC-8603-54B0-0E64-3C57C3FB9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Functional Perspectives of MIS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715CF277-17F8-648F-EA9F-E1843EDFF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b="1" dirty="0"/>
              <a:t>Manufacturing</a:t>
            </a:r>
          </a:p>
          <a:p>
            <a:pPr lvl="1"/>
            <a:r>
              <a:rPr lang="en-US" altLang="en-US" sz="3200" dirty="0"/>
              <a:t>Design and Engineering</a:t>
            </a:r>
          </a:p>
          <a:p>
            <a:pPr lvl="1"/>
            <a:r>
              <a:rPr lang="en-US" altLang="en-US" sz="3200" dirty="0"/>
              <a:t>Master Production Scheduling</a:t>
            </a:r>
          </a:p>
          <a:p>
            <a:pPr lvl="1"/>
            <a:r>
              <a:rPr lang="en-US" altLang="en-US" sz="3200" dirty="0"/>
              <a:t>Inventory Control</a:t>
            </a:r>
          </a:p>
          <a:p>
            <a:pPr lvl="1"/>
            <a:r>
              <a:rPr lang="en-US" altLang="en-US" sz="3200" dirty="0"/>
              <a:t>Materials Planning</a:t>
            </a:r>
          </a:p>
          <a:p>
            <a:pPr lvl="1"/>
            <a:r>
              <a:rPr lang="en-US" altLang="en-US" sz="3200" dirty="0"/>
              <a:t>Manufacturing and Process Control</a:t>
            </a:r>
          </a:p>
          <a:p>
            <a:pPr lvl="1"/>
            <a:r>
              <a:rPr lang="en-US" altLang="en-US" sz="3200" dirty="0"/>
              <a:t>Quality Control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2D64945-B7F3-240F-E451-CA7F67D7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161E-4A5C-4EC8-8CC9-069F819A2FF2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94562" name="Rectangle 2">
            <a:extLst>
              <a:ext uri="{FF2B5EF4-FFF2-40B4-BE49-F238E27FC236}">
                <a16:creationId xmlns:a16="http://schemas.microsoft.com/office/drawing/2014/main" id="{40044B19-AFD4-B1C3-7D17-75FF4613EC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Functional Perspectives of MIS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443E8E90-E369-84C9-DD8F-9E78DA71D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b="1" dirty="0"/>
              <a:t>Marketing</a:t>
            </a:r>
          </a:p>
          <a:p>
            <a:pPr lvl="1"/>
            <a:r>
              <a:rPr lang="en-US" altLang="en-US" sz="3200" dirty="0"/>
              <a:t>Market research</a:t>
            </a:r>
          </a:p>
          <a:p>
            <a:pPr lvl="2"/>
            <a:r>
              <a:rPr lang="en-US" altLang="en-US" sz="2800" dirty="0"/>
              <a:t>Web-based market research</a:t>
            </a:r>
          </a:p>
          <a:p>
            <a:pPr lvl="1"/>
            <a:r>
              <a:rPr lang="en-US" altLang="en-US" sz="3200" dirty="0"/>
              <a:t>Pricing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63BB957-1305-B795-CF42-D9CE0BD2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MIS 175 Spring 2002 Chapter 10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E1997F0-E9CB-CE1C-CAEC-E75BDB10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8BC03-3614-427B-B116-2F08F74B037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89442" name="Rectangle 2">
            <a:extLst>
              <a:ext uri="{FF2B5EF4-FFF2-40B4-BE49-F238E27FC236}">
                <a16:creationId xmlns:a16="http://schemas.microsoft.com/office/drawing/2014/main" id="{9A59926F-6B28-52F6-E6E1-2757855D9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Functional Perspectives of MIS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65FA53CA-0DDB-A974-215C-C4DCFF33E1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b="1" dirty="0"/>
              <a:t>Transportation and Logistics</a:t>
            </a:r>
          </a:p>
          <a:p>
            <a:pPr lvl="1"/>
            <a:r>
              <a:rPr lang="en-US" altLang="en-US" sz="3200" dirty="0"/>
              <a:t>Route and schedule optimization</a:t>
            </a:r>
          </a:p>
          <a:p>
            <a:r>
              <a:rPr lang="en-US" altLang="en-US" sz="3200" dirty="0"/>
              <a:t>Human Resources</a:t>
            </a:r>
          </a:p>
          <a:p>
            <a:r>
              <a:rPr lang="en-US" altLang="en-US" sz="3200" dirty="0"/>
              <a:t>Accounting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1F3F24C2-D331-BB4F-5427-526400B6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B3050-49E1-42C6-B8F2-734E650D2507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AF80CCC1-7E13-4FFD-6AE4-3C0A93C5C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0"/>
            <a:ext cx="7913687" cy="815975"/>
          </a:xfrm>
        </p:spPr>
        <p:txBody>
          <a:bodyPr/>
          <a:lstStyle/>
          <a:p>
            <a:br>
              <a:rPr lang="en-US" altLang="en-US" b="1" dirty="0"/>
            </a:br>
            <a:r>
              <a:rPr lang="en-US" altLang="en-US" b="1" dirty="0"/>
              <a:t>3. Decisions Support Systems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9C74032D-26E4-6670-D954-D22654C5682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025900" y="1598613"/>
            <a:ext cx="3624263" cy="4497387"/>
          </a:xfrm>
        </p:spPr>
        <p:txBody>
          <a:bodyPr/>
          <a:lstStyle/>
          <a:p>
            <a:r>
              <a:rPr lang="en-US" altLang="en-US" sz="2800" dirty="0"/>
              <a:t>interactive </a:t>
            </a:r>
          </a:p>
          <a:p>
            <a:r>
              <a:rPr lang="en-US" altLang="en-US" sz="2800" dirty="0"/>
              <a:t>integrated set of hardware and software tools</a:t>
            </a:r>
          </a:p>
          <a:p>
            <a:r>
              <a:rPr lang="en-US" altLang="en-US" sz="2800" dirty="0"/>
              <a:t>produce information to support decision-making process</a:t>
            </a:r>
          </a:p>
          <a:p>
            <a:endParaRPr lang="en-US" altLang="en-US" sz="2800" dirty="0"/>
          </a:p>
        </p:txBody>
      </p:sp>
      <p:pic>
        <p:nvPicPr>
          <p:cNvPr id="103428" name="Picture 4">
            <a:extLst>
              <a:ext uri="{FF2B5EF4-FFF2-40B4-BE49-F238E27FC236}">
                <a16:creationId xmlns:a16="http://schemas.microsoft.com/office/drawing/2014/main" id="{3B7F06EF-0E85-63EA-04D2-D8EE084EE612}"/>
              </a:ext>
            </a:extLst>
          </p:cNvPr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9975" y="2535238"/>
            <a:ext cx="2011363" cy="262255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6194409-FBFE-6C6B-7D71-31562450B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2BD87-D50A-484F-81EE-AC07C0299602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97634" name="Rectangle 2">
            <a:extLst>
              <a:ext uri="{FF2B5EF4-FFF2-40B4-BE49-F238E27FC236}">
                <a16:creationId xmlns:a16="http://schemas.microsoft.com/office/drawing/2014/main" id="{D11D0483-983E-F14E-8BE4-7B841B333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/>
              <a:t>Decision Support Systems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77CBC1A7-6836-224A-3CEE-F65F85431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Used for unstructured problems</a:t>
            </a:r>
          </a:p>
          <a:p>
            <a:r>
              <a:rPr lang="en-US" altLang="en-US"/>
              <a:t>Characteristics</a:t>
            </a:r>
          </a:p>
          <a:p>
            <a:pPr lvl="1"/>
            <a:r>
              <a:rPr lang="en-US" altLang="en-US"/>
              <a:t>Data from multiple sources internal and external to organization</a:t>
            </a:r>
          </a:p>
          <a:p>
            <a:pPr lvl="1"/>
            <a:r>
              <a:rPr lang="en-US" altLang="en-US"/>
              <a:t>Presentation flexibility</a:t>
            </a:r>
          </a:p>
          <a:p>
            <a:pPr lvl="1"/>
            <a:r>
              <a:rPr lang="en-US" altLang="en-US"/>
              <a:t>Simulation and what-if capability</a:t>
            </a:r>
          </a:p>
          <a:p>
            <a:pPr lvl="1"/>
            <a:r>
              <a:rPr lang="en-US" altLang="en-US"/>
              <a:t>Support for multiple decision approaches</a:t>
            </a:r>
          </a:p>
          <a:p>
            <a:pPr lvl="1"/>
            <a:r>
              <a:rPr lang="en-US" altLang="en-US"/>
              <a:t>Statistical 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95C49BC-F902-D231-EA8C-EDAE9FCD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07E5F-8262-4CDC-959F-A70F927363CF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99682" name="Rectangle 2">
            <a:extLst>
              <a:ext uri="{FF2B5EF4-FFF2-40B4-BE49-F238E27FC236}">
                <a16:creationId xmlns:a16="http://schemas.microsoft.com/office/drawing/2014/main" id="{FB6564A5-E1C2-8687-FA44-E37F28CE7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/>
              <a:t>Components of a DSS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B962360C-F438-7163-CFC3-00773E4E0E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/>
              <a:t>Model management software</a:t>
            </a:r>
          </a:p>
          <a:p>
            <a:pPr lvl="1"/>
            <a:r>
              <a:rPr lang="en-US" altLang="en-US" sz="3200"/>
              <a:t>Provides a variety of solution models</a:t>
            </a:r>
          </a:p>
          <a:p>
            <a:pPr lvl="2"/>
            <a:r>
              <a:rPr lang="en-US" altLang="en-US" sz="2800"/>
              <a:t>Financial, statistical, graphical, project management</a:t>
            </a:r>
          </a:p>
          <a:p>
            <a:r>
              <a:rPr lang="en-US" altLang="en-US" sz="3200"/>
              <a:t>Dialogue Manager</a:t>
            </a:r>
          </a:p>
          <a:p>
            <a:pPr lvl="1"/>
            <a:r>
              <a:rPr lang="en-US" altLang="en-US" sz="3200"/>
              <a:t>Allows user interaction with DSS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C407C7F-1131-991D-FD40-4A728396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D731-0058-45D5-B05D-6DB1F7CF7526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7F5F882F-452B-DF2F-1C8E-EDEECADBA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 Decision Making Systems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25DDCAE9-6498-BE63-8947-89465DF08E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/>
              <a:t>Very interesting field</a:t>
            </a:r>
          </a:p>
          <a:p>
            <a:r>
              <a:rPr lang="en-US" altLang="en-US" sz="3200"/>
              <a:t>How can information technology improve how decisions are made by groups?</a:t>
            </a:r>
          </a:p>
          <a:p>
            <a:pPr lvl="1"/>
            <a:endParaRPr lang="en-US" altLang="en-US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4B6BE7-FD9A-DF5F-C676-10FFF10F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0B36B-9E6D-488D-82B5-58DB36CDC8C4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F3D9B37F-52DD-8FC7-D182-57B1D658C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 Decision Making Systems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D7874590-A324-A468-D95E-DEDF3F4E9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Applications</a:t>
            </a:r>
          </a:p>
          <a:p>
            <a:pPr lvl="1"/>
            <a:r>
              <a:rPr lang="en-US" altLang="en-US"/>
              <a:t>Where time is critical</a:t>
            </a:r>
          </a:p>
          <a:p>
            <a:pPr lvl="1"/>
            <a:r>
              <a:rPr lang="en-US" altLang="en-US"/>
              <a:t>Where participants are geographically dispersed</a:t>
            </a:r>
          </a:p>
          <a:p>
            <a:pPr lvl="1"/>
            <a:r>
              <a:rPr lang="en-US" altLang="en-US"/>
              <a:t>Where authority obstructs communication</a:t>
            </a:r>
          </a:p>
          <a:p>
            <a:pPr lvl="1"/>
            <a:r>
              <a:rPr lang="en-US" altLang="en-US"/>
              <a:t>Military</a:t>
            </a:r>
          </a:p>
          <a:p>
            <a:pPr lvl="1"/>
            <a:r>
              <a:rPr lang="en-US" altLang="en-US"/>
              <a:t>Business</a:t>
            </a:r>
          </a:p>
          <a:p>
            <a:pPr lvl="1"/>
            <a:r>
              <a:rPr lang="en-US" altLang="en-US"/>
              <a:t>Government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9A89A3C-307C-FEEC-1575-1398C058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F6C74-6EC4-4013-9C2D-3DD9DF51D985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207874" name="Rectangle 2">
            <a:extLst>
              <a:ext uri="{FF2B5EF4-FFF2-40B4-BE49-F238E27FC236}">
                <a16:creationId xmlns:a16="http://schemas.microsoft.com/office/drawing/2014/main" id="{B534AD88-7B47-E2E7-A2ED-6EF7B6932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 Decision Making Systems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280E2DC2-7A51-2DE2-4EF3-1179EDA5A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Common characteristics</a:t>
            </a:r>
          </a:p>
          <a:p>
            <a:pPr lvl="1"/>
            <a:r>
              <a:rPr lang="en-US" altLang="en-US"/>
              <a:t>Meeting moderation/facilitation</a:t>
            </a:r>
          </a:p>
          <a:p>
            <a:pPr lvl="1"/>
            <a:r>
              <a:rPr lang="en-US" altLang="en-US"/>
              <a:t>Signed and anonymous comments</a:t>
            </a:r>
          </a:p>
          <a:p>
            <a:pPr lvl="1"/>
            <a:r>
              <a:rPr lang="en-US" altLang="en-US"/>
              <a:t>Structured deliberations</a:t>
            </a:r>
          </a:p>
          <a:p>
            <a:pPr lvl="2"/>
            <a:r>
              <a:rPr lang="en-US" altLang="en-US"/>
              <a:t>Presentation period</a:t>
            </a:r>
          </a:p>
          <a:p>
            <a:pPr lvl="2"/>
            <a:r>
              <a:rPr lang="en-US" altLang="en-US"/>
              <a:t>Comment period</a:t>
            </a:r>
          </a:p>
          <a:p>
            <a:pPr lvl="2"/>
            <a:r>
              <a:rPr lang="en-US" altLang="en-US"/>
              <a:t>Automated collation of comments</a:t>
            </a:r>
          </a:p>
          <a:p>
            <a:pPr lvl="2"/>
            <a:r>
              <a:rPr lang="en-US" altLang="en-US"/>
              <a:t>“Voting”</a:t>
            </a:r>
          </a:p>
          <a:p>
            <a:r>
              <a:rPr lang="en-US" altLang="en-US"/>
              <a:t>Face-to-face and remote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57B10E5-02E6-DF99-81CC-486946C8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DB8D6-BBD6-4CED-9261-0D6028A377B7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62B26D4-7490-3818-F506-DABCAD8A2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0"/>
            <a:ext cx="7913687" cy="815975"/>
          </a:xfrm>
        </p:spPr>
        <p:txBody>
          <a:bodyPr/>
          <a:lstStyle/>
          <a:p>
            <a:r>
              <a:rPr lang="en-US" altLang="en-US"/>
              <a:t>DSS vs. MIS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4F66E39-C5CA-CAE3-9C09-1FDDF32F7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8163" y="1582738"/>
            <a:ext cx="2871787" cy="4521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/>
              <a:t>MIS: </a:t>
            </a:r>
          </a:p>
          <a:p>
            <a:r>
              <a:rPr lang="en-US" altLang="en-US"/>
              <a:t>structured problems</a:t>
            </a:r>
          </a:p>
          <a:p>
            <a:r>
              <a:rPr lang="en-US" altLang="en-US"/>
              <a:t>designed to support a set of applications</a:t>
            </a: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377E365F-2DEC-2555-2FDA-D435F3E0E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1616075"/>
            <a:ext cx="2871788" cy="452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CC99"/>
                    </a:gs>
                    <a:gs pos="100000">
                      <a:srgbClr val="FFCC99">
                        <a:gamma/>
                        <a:shade val="7882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DSS: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semistructured and unstructured problems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can be adapted to any decision environment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DC8BE5F-66B6-8BED-9180-E18F0F02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EB98C-6BBD-4433-8B30-5FEC531AA2FD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AAECA025-1F46-66B3-70D7-B9D746012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4. Executive Information Systems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81FD5DE4-978F-6FB1-F397-62AEA0289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/>
              <a:t>What information does a chief executive of board member require?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820C80F-C455-CFB8-246F-90D33D66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AF3C3-3FD6-4257-9D0B-7DF98C0D16DD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212994" name="Rectangle 2">
            <a:extLst>
              <a:ext uri="{FF2B5EF4-FFF2-40B4-BE49-F238E27FC236}">
                <a16:creationId xmlns:a16="http://schemas.microsoft.com/office/drawing/2014/main" id="{6557B725-F21C-BFC7-8F55-CEAC8A66B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Executive Information Systems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AE51355C-D02A-58C7-1ADB-D8CF1744A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dirty="0"/>
              <a:t>High level with drill down</a:t>
            </a:r>
          </a:p>
          <a:p>
            <a:r>
              <a:rPr lang="en-US" altLang="en-US" sz="3200" dirty="0"/>
              <a:t>Key business and industry data</a:t>
            </a:r>
          </a:p>
          <a:p>
            <a:r>
              <a:rPr lang="en-US" altLang="en-US" sz="3200" dirty="0"/>
              <a:t>Structured and unstructured information</a:t>
            </a:r>
          </a:p>
          <a:p>
            <a:pPr lvl="1"/>
            <a:r>
              <a:rPr lang="en-US" altLang="en-US" sz="3200" dirty="0"/>
              <a:t>Structured: orders</a:t>
            </a:r>
          </a:p>
          <a:p>
            <a:pPr lvl="1"/>
            <a:r>
              <a:rPr lang="en-US" altLang="en-US" sz="3200" dirty="0"/>
              <a:t>Unstructured: Industry newsfeed</a:t>
            </a:r>
          </a:p>
          <a:p>
            <a:r>
              <a:rPr lang="en-US" altLang="en-US" sz="3200" dirty="0"/>
              <a:t>Graphical</a:t>
            </a:r>
          </a:p>
          <a:p>
            <a:endParaRPr lang="en-US" altLang="en-US" sz="3200" dirty="0"/>
          </a:p>
          <a:p>
            <a:pPr lvl="1"/>
            <a:endParaRPr lang="en-US" alt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FD034D78-2B7D-ACAD-B1E1-6583459AB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93FB1-A617-47A4-B838-77CA1A49F90A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C44DE10A-3EC4-153F-24B3-E34E4D6D0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0"/>
            <a:ext cx="7913687" cy="815975"/>
          </a:xfrm>
        </p:spPr>
        <p:txBody>
          <a:bodyPr/>
          <a:lstStyle/>
          <a:p>
            <a:r>
              <a:rPr lang="en-US" altLang="en-US"/>
              <a:t>EIS – DSS with a twist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D5CA9556-E4C9-F52A-F25E-241090A35F9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025900" y="1598613"/>
            <a:ext cx="3624263" cy="44973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Executive Information System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Just DSS for executives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Each tool is designed specifically to support decision making at the executive levels of management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Primarily the tactical and strategic levels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</p:txBody>
      </p:sp>
      <p:pic>
        <p:nvPicPr>
          <p:cNvPr id="104452" name="Picture 4">
            <a:extLst>
              <a:ext uri="{FF2B5EF4-FFF2-40B4-BE49-F238E27FC236}">
                <a16:creationId xmlns:a16="http://schemas.microsoft.com/office/drawing/2014/main" id="{1336981D-8082-E960-4191-E06D2A636B1C}"/>
              </a:ext>
            </a:extLst>
          </p:cNvPr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5638" y="1847850"/>
            <a:ext cx="2841625" cy="3997325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A83E5131-E05D-0205-4AD2-F5FBC3BD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1C93C6-CEA2-4E9D-A078-0BC5926C1425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A6096500-1383-49C7-EF47-4B140BCB5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4088" y="0"/>
            <a:ext cx="7913687" cy="815975"/>
          </a:xfrm>
        </p:spPr>
        <p:txBody>
          <a:bodyPr/>
          <a:lstStyle/>
          <a:p>
            <a:r>
              <a:rPr lang="en-US" altLang="en-US"/>
              <a:t>Expert Systems 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3AE3F104-F50F-B46C-8B8A-7229171F944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3525" y="1598613"/>
            <a:ext cx="3624263" cy="4497387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en-US" altLang="en-US" sz="1800"/>
              <a:t>An Expert System is an interactive system</a:t>
            </a:r>
          </a:p>
          <a:p>
            <a:pPr lvl="1">
              <a:lnSpc>
                <a:spcPct val="115000"/>
              </a:lnSpc>
            </a:pPr>
            <a:r>
              <a:rPr lang="en-US" altLang="en-US" sz="1400"/>
              <a:t>Responds to questions</a:t>
            </a:r>
          </a:p>
          <a:p>
            <a:pPr lvl="1">
              <a:lnSpc>
                <a:spcPct val="115000"/>
              </a:lnSpc>
            </a:pPr>
            <a:r>
              <a:rPr lang="en-US" altLang="en-US" sz="1400"/>
              <a:t>Asks for clarification</a:t>
            </a:r>
          </a:p>
          <a:p>
            <a:pPr lvl="1">
              <a:lnSpc>
                <a:spcPct val="115000"/>
              </a:lnSpc>
            </a:pPr>
            <a:r>
              <a:rPr lang="en-US" altLang="en-US" sz="1400"/>
              <a:t>Makes recommendations</a:t>
            </a:r>
          </a:p>
          <a:p>
            <a:pPr lvl="1">
              <a:lnSpc>
                <a:spcPct val="115000"/>
              </a:lnSpc>
            </a:pPr>
            <a:r>
              <a:rPr lang="en-US" altLang="en-US" sz="1400"/>
              <a:t>Helps the user in the decision-making process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Simulates human thought process</a:t>
            </a:r>
          </a:p>
          <a:p>
            <a:pPr lvl="1">
              <a:lnSpc>
                <a:spcPct val="80000"/>
              </a:lnSpc>
            </a:pPr>
            <a:r>
              <a:rPr lang="en-US" altLang="en-US" sz="1400"/>
              <a:t>Reasons, draws inferences &amp; makes judgments (heuristic knowledge)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Information acquired from live </a:t>
            </a:r>
            <a:r>
              <a:rPr lang="en-US" altLang="en-US" sz="1800" i="1"/>
              <a:t>domain experts</a:t>
            </a:r>
            <a:endParaRPr lang="en-US" altLang="en-US" sz="1800"/>
          </a:p>
          <a:p>
            <a:pPr>
              <a:lnSpc>
                <a:spcPct val="80000"/>
              </a:lnSpc>
            </a:pPr>
            <a:r>
              <a:rPr lang="en-US" altLang="en-US" sz="1800"/>
              <a:t>Highest form of knowledge-based systems, not an a</a:t>
            </a:r>
            <a:r>
              <a:rPr lang="en-US" altLang="en-US" sz="1800" i="1"/>
              <a:t>ssistant system</a:t>
            </a:r>
            <a:endParaRPr lang="en-US" altLang="en-US" sz="1800"/>
          </a:p>
          <a:p>
            <a:pPr>
              <a:lnSpc>
                <a:spcPct val="115000"/>
              </a:lnSpc>
            </a:pPr>
            <a:endParaRPr lang="en-US" altLang="en-US" sz="1600"/>
          </a:p>
        </p:txBody>
      </p:sp>
      <p:pic>
        <p:nvPicPr>
          <p:cNvPr id="105476" name="Picture 4">
            <a:extLst>
              <a:ext uri="{FF2B5EF4-FFF2-40B4-BE49-F238E27FC236}">
                <a16:creationId xmlns:a16="http://schemas.microsoft.com/office/drawing/2014/main" id="{CD8C2D3D-0C03-0BFB-6EDC-590CA0408495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8525" y="2127250"/>
            <a:ext cx="2559050" cy="2563813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514E499-64E4-49AC-34EC-4C5A3399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4BD2-B158-4887-A4C0-B05949DEF176}" type="slidenum">
              <a:rPr lang="en-US" altLang="en-US"/>
              <a:pPr/>
              <a:t>31</a:t>
            </a:fld>
            <a:endParaRPr lang="en-US" altLang="en-US"/>
          </a:p>
        </p:txBody>
      </p:sp>
      <p:pic>
        <p:nvPicPr>
          <p:cNvPr id="93190" name="Picture 6">
            <a:extLst>
              <a:ext uri="{FF2B5EF4-FFF2-40B4-BE49-F238E27FC236}">
                <a16:creationId xmlns:a16="http://schemas.microsoft.com/office/drawing/2014/main" id="{8CF70856-4A11-5B10-F367-827CF3C28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275" y="4087813"/>
            <a:ext cx="2879725" cy="277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186" name="Rectangle 2">
            <a:extLst>
              <a:ext uri="{FF2B5EF4-FFF2-40B4-BE49-F238E27FC236}">
                <a16:creationId xmlns:a16="http://schemas.microsoft.com/office/drawing/2014/main" id="{92DBDFCE-165E-4B47-D76D-1AC6938ABB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1888" y="0"/>
            <a:ext cx="7913687" cy="815975"/>
          </a:xfrm>
        </p:spPr>
        <p:txBody>
          <a:bodyPr/>
          <a:lstStyle/>
          <a:p>
            <a:r>
              <a:rPr lang="en-US" altLang="en-US" sz="3600"/>
              <a:t>Expert System Example 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E1157986-D85B-0A61-5AA5-1930CC24D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/>
              <a:t>Printer - Replace technical support people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Diagnosis help (you relate symptoms and it asks for more info)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Assistant system (call center; life ins quotes)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Knowledge base contains</a:t>
            </a:r>
            <a:endParaRPr lang="en-US" altLang="en-US" sz="2800"/>
          </a:p>
          <a:p>
            <a:pPr lvl="1">
              <a:lnSpc>
                <a:spcPct val="90000"/>
              </a:lnSpc>
            </a:pPr>
            <a:r>
              <a:rPr lang="en-US" altLang="en-US" sz="2400"/>
              <a:t>Means of identifying problem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Possible solutions</a:t>
            </a:r>
          </a:p>
          <a:p>
            <a:pPr lvl="1">
              <a:lnSpc>
                <a:spcPct val="90000"/>
              </a:lnSpc>
            </a:pPr>
            <a:r>
              <a:rPr lang="en-US" altLang="en-US" sz="2400"/>
              <a:t>How to progress from problem to solution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– Application of MIS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TPS: Mobile payments.</a:t>
            </a:r>
          </a:p>
          <a:p>
            <a:r>
              <a:rPr dirty="0"/>
              <a:t> MIS: Customer usage reports.</a:t>
            </a:r>
          </a:p>
          <a:p>
            <a:r>
              <a:rPr dirty="0"/>
              <a:t> DSS: Predicting usage trends.</a:t>
            </a:r>
          </a:p>
          <a:p>
            <a:r>
              <a:rPr dirty="0"/>
              <a:t> ESS: Market expansion dashboards.</a:t>
            </a:r>
          </a:p>
        </p:txBody>
      </p:sp>
    </p:spTree>
    <p:extLst>
      <p:ext uri="{BB962C8B-B14F-4D97-AF65-F5344CB8AC3E}">
        <p14:creationId xmlns:p14="http://schemas.microsoft.com/office/powerpoint/2010/main" val="895241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– 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How do TPS and MIS work together in M-Pesa?</a:t>
            </a:r>
          </a:p>
          <a:p>
            <a:r>
              <a:t>2. Why does Safaricom need DSS and ESS?</a:t>
            </a:r>
          </a:p>
        </p:txBody>
      </p:sp>
    </p:spTree>
    <p:extLst>
      <p:ext uri="{BB962C8B-B14F-4D97-AF65-F5344CB8AC3E}">
        <p14:creationId xmlns:p14="http://schemas.microsoft.com/office/powerpoint/2010/main" val="5117354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488" tIns="44450" rIns="90488" bIns="4445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488" tIns="44450" rIns="90488" bIns="4445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