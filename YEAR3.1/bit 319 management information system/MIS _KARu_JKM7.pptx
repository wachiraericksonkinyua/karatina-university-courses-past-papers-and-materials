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6" d="100"/>
          <a:sy n="96" d="100"/>
        </p:scale>
        <p:origin x="978" y="5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688F8C-77CA-4B03-B20A-A09FB32D3C2A}"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A3E8B7-F4DA-4E31-8B8A-2AEC0F8A27E1}" type="slidenum">
              <a:rPr lang="en-US" smtClean="0"/>
              <a:t>‹#›</a:t>
            </a:fld>
            <a:endParaRPr lang="en-US"/>
          </a:p>
        </p:txBody>
      </p:sp>
    </p:spTree>
    <p:extLst>
      <p:ext uri="{BB962C8B-B14F-4D97-AF65-F5344CB8AC3E}">
        <p14:creationId xmlns:p14="http://schemas.microsoft.com/office/powerpoint/2010/main" val="4035109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688F8C-77CA-4B03-B20A-A09FB32D3C2A}"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A3E8B7-F4DA-4E31-8B8A-2AEC0F8A27E1}" type="slidenum">
              <a:rPr lang="en-US" smtClean="0"/>
              <a:t>‹#›</a:t>
            </a:fld>
            <a:endParaRPr lang="en-US"/>
          </a:p>
        </p:txBody>
      </p:sp>
    </p:spTree>
    <p:extLst>
      <p:ext uri="{BB962C8B-B14F-4D97-AF65-F5344CB8AC3E}">
        <p14:creationId xmlns:p14="http://schemas.microsoft.com/office/powerpoint/2010/main" val="2594091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688F8C-77CA-4B03-B20A-A09FB32D3C2A}"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A3E8B7-F4DA-4E31-8B8A-2AEC0F8A27E1}" type="slidenum">
              <a:rPr lang="en-US" smtClean="0"/>
              <a:t>‹#›</a:t>
            </a:fld>
            <a:endParaRPr lang="en-US"/>
          </a:p>
        </p:txBody>
      </p:sp>
    </p:spTree>
    <p:extLst>
      <p:ext uri="{BB962C8B-B14F-4D97-AF65-F5344CB8AC3E}">
        <p14:creationId xmlns:p14="http://schemas.microsoft.com/office/powerpoint/2010/main" val="2758557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688F8C-77CA-4B03-B20A-A09FB32D3C2A}" type="datetimeFigureOut">
              <a:rPr lang="en-US" smtClean="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A3E8B7-F4DA-4E31-8B8A-2AEC0F8A27E1}" type="slidenum">
              <a:rPr lang="en-US" smtClean="0"/>
              <a:t>‹#›</a:t>
            </a:fld>
            <a:endParaRPr lang="en-US"/>
          </a:p>
        </p:txBody>
      </p:sp>
    </p:spTree>
    <p:extLst>
      <p:ext uri="{BB962C8B-B14F-4D97-AF65-F5344CB8AC3E}">
        <p14:creationId xmlns:p14="http://schemas.microsoft.com/office/powerpoint/2010/main" val="3781023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688F8C-77CA-4B03-B20A-A09FB32D3C2A}" type="datetimeFigureOut">
              <a:rPr lang="en-US" smtClean="0"/>
              <a:t>10/3/2025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A3E8B7-F4DA-4E31-8B8A-2AEC0F8A27E1}" type="slidenum">
              <a:rPr lang="en-US" smtClean="0"/>
              <a:t>‹#›</a:t>
            </a:fld>
            <a:endParaRPr lang="en-US"/>
          </a:p>
        </p:txBody>
      </p:sp>
    </p:spTree>
    <p:extLst>
      <p:ext uri="{BB962C8B-B14F-4D97-AF65-F5344CB8AC3E}">
        <p14:creationId xmlns:p14="http://schemas.microsoft.com/office/powerpoint/2010/main" val="3765901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688F8C-77CA-4B03-B20A-A09FB32D3C2A}" type="datetimeFigureOut">
              <a:rPr lang="en-US" smtClean="0"/>
              <a:t>10/3/2025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A3E8B7-F4DA-4E31-8B8A-2AEC0F8A27E1}" type="slidenum">
              <a:rPr lang="en-US" smtClean="0"/>
              <a:t>‹#›</a:t>
            </a:fld>
            <a:endParaRPr lang="en-US"/>
          </a:p>
        </p:txBody>
      </p:sp>
    </p:spTree>
    <p:extLst>
      <p:ext uri="{BB962C8B-B14F-4D97-AF65-F5344CB8AC3E}">
        <p14:creationId xmlns:p14="http://schemas.microsoft.com/office/powerpoint/2010/main" val="1315714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688F8C-77CA-4B03-B20A-A09FB32D3C2A}" type="datetimeFigureOut">
              <a:rPr lang="en-US" smtClean="0"/>
              <a:t>10/3/2025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A3E8B7-F4DA-4E31-8B8A-2AEC0F8A27E1}" type="slidenum">
              <a:rPr lang="en-US" smtClean="0"/>
              <a:t>‹#›</a:t>
            </a:fld>
            <a:endParaRPr lang="en-US"/>
          </a:p>
        </p:txBody>
      </p:sp>
    </p:spTree>
    <p:extLst>
      <p:ext uri="{BB962C8B-B14F-4D97-AF65-F5344CB8AC3E}">
        <p14:creationId xmlns:p14="http://schemas.microsoft.com/office/powerpoint/2010/main" val="2429484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688F8C-77CA-4B03-B20A-A09FB32D3C2A}" type="datetimeFigureOut">
              <a:rPr lang="en-US" smtClean="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A3E8B7-F4DA-4E31-8B8A-2AEC0F8A27E1}" type="slidenum">
              <a:rPr lang="en-US" smtClean="0"/>
              <a:t>‹#›</a:t>
            </a:fld>
            <a:endParaRPr lang="en-US"/>
          </a:p>
        </p:txBody>
      </p:sp>
    </p:spTree>
    <p:extLst>
      <p:ext uri="{BB962C8B-B14F-4D97-AF65-F5344CB8AC3E}">
        <p14:creationId xmlns:p14="http://schemas.microsoft.com/office/powerpoint/2010/main" val="923373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688F8C-77CA-4B03-B20A-A09FB32D3C2A}" type="datetimeFigureOut">
              <a:rPr lang="en-US" smtClean="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A3E8B7-F4DA-4E31-8B8A-2AEC0F8A27E1}" type="slidenum">
              <a:rPr lang="en-US" smtClean="0"/>
              <a:t>‹#›</a:t>
            </a:fld>
            <a:endParaRPr lang="en-US"/>
          </a:p>
        </p:txBody>
      </p:sp>
    </p:spTree>
    <p:extLst>
      <p:ext uri="{BB962C8B-B14F-4D97-AF65-F5344CB8AC3E}">
        <p14:creationId xmlns:p14="http://schemas.microsoft.com/office/powerpoint/2010/main" val="1874437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688F8C-77CA-4B03-B20A-A09FB32D3C2A}"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A3E8B7-F4DA-4E31-8B8A-2AEC0F8A27E1}" type="slidenum">
              <a:rPr lang="en-US" smtClean="0"/>
              <a:t>‹#›</a:t>
            </a:fld>
            <a:endParaRPr lang="en-US"/>
          </a:p>
        </p:txBody>
      </p:sp>
    </p:spTree>
    <p:extLst>
      <p:ext uri="{BB962C8B-B14F-4D97-AF65-F5344CB8AC3E}">
        <p14:creationId xmlns:p14="http://schemas.microsoft.com/office/powerpoint/2010/main" val="3518796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688F8C-77CA-4B03-B20A-A09FB32D3C2A}"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A3E8B7-F4DA-4E31-8B8A-2AEC0F8A27E1}" type="slidenum">
              <a:rPr lang="en-US" smtClean="0"/>
              <a:t>‹#›</a:t>
            </a:fld>
            <a:endParaRPr lang="en-US"/>
          </a:p>
        </p:txBody>
      </p:sp>
    </p:spTree>
    <p:extLst>
      <p:ext uri="{BB962C8B-B14F-4D97-AF65-F5344CB8AC3E}">
        <p14:creationId xmlns:p14="http://schemas.microsoft.com/office/powerpoint/2010/main" val="4143437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688F8C-77CA-4B03-B20A-A09FB32D3C2A}" type="datetimeFigureOut">
              <a:rPr lang="en-US" smtClean="0"/>
              <a:t>10/3/2025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A3E8B7-F4DA-4E31-8B8A-2AEC0F8A27E1}" type="slidenum">
              <a:rPr lang="en-US" smtClean="0"/>
              <a:t>‹#›</a:t>
            </a:fld>
            <a:endParaRPr lang="en-US"/>
          </a:p>
        </p:txBody>
      </p:sp>
    </p:spTree>
    <p:extLst>
      <p:ext uri="{BB962C8B-B14F-4D97-AF65-F5344CB8AC3E}">
        <p14:creationId xmlns:p14="http://schemas.microsoft.com/office/powerpoint/2010/main" val="126895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536575"/>
          </a:xfrm>
        </p:spPr>
        <p:txBody>
          <a:bodyPr>
            <a:normAutofit fontScale="90000"/>
          </a:bodyPr>
          <a:lstStyle/>
          <a:p>
            <a:r>
              <a:rPr lang="en-US" b="1" u="heavy" dirty="0">
                <a:solidFill>
                  <a:schemeClr val="tx1"/>
                </a:solidFill>
              </a:rPr>
              <a:t>Securing Information Systems</a:t>
            </a:r>
            <a:r>
              <a:rPr lang="en-US" b="1" dirty="0">
                <a:solidFill>
                  <a:schemeClr val="tx1"/>
                </a:solidFill>
              </a:rPr>
              <a:t> </a:t>
            </a:r>
            <a:endParaRPr lang="en-US" dirty="0"/>
          </a:p>
        </p:txBody>
      </p:sp>
      <p:sp>
        <p:nvSpPr>
          <p:cNvPr id="3" name="Subtitle 2"/>
          <p:cNvSpPr>
            <a:spLocks noGrp="1"/>
          </p:cNvSpPr>
          <p:nvPr>
            <p:ph type="subTitle" idx="1"/>
          </p:nvPr>
        </p:nvSpPr>
        <p:spPr>
          <a:xfrm>
            <a:off x="304800" y="1066800"/>
            <a:ext cx="8610600" cy="5638800"/>
          </a:xfrm>
        </p:spPr>
        <p:txBody>
          <a:bodyPr>
            <a:normAutofit fontScale="70000" lnSpcReduction="20000"/>
          </a:bodyPr>
          <a:lstStyle/>
          <a:p>
            <a:pPr algn="l"/>
            <a:r>
              <a:rPr lang="en-US" b="1" dirty="0">
                <a:solidFill>
                  <a:schemeClr val="tx1"/>
                </a:solidFill>
              </a:rPr>
              <a:t>System Vulnerability and Abuse</a:t>
            </a:r>
            <a:endParaRPr lang="en-US" dirty="0">
              <a:solidFill>
                <a:schemeClr val="tx1"/>
              </a:solidFill>
            </a:endParaRPr>
          </a:p>
          <a:p>
            <a:pPr algn="l"/>
            <a:r>
              <a:rPr lang="en-US" b="1" dirty="0">
                <a:solidFill>
                  <a:schemeClr val="tx1"/>
                </a:solidFill>
              </a:rPr>
              <a:t> </a:t>
            </a:r>
            <a:r>
              <a:rPr lang="en-US" dirty="0">
                <a:solidFill>
                  <a:schemeClr val="tx1"/>
                </a:solidFill>
              </a:rPr>
              <a:t>When data are stored in digital form, they are more vulnerable than when they exist in manual form. </a:t>
            </a:r>
          </a:p>
          <a:p>
            <a:pPr algn="l"/>
            <a:r>
              <a:rPr lang="en-US" b="1" dirty="0">
                <a:solidFill>
                  <a:schemeClr val="tx1"/>
                </a:solidFill>
              </a:rPr>
              <a:t>Security </a:t>
            </a:r>
            <a:r>
              <a:rPr lang="en-US" dirty="0">
                <a:solidFill>
                  <a:schemeClr val="tx1"/>
                </a:solidFill>
              </a:rPr>
              <a:t>refers to the policies, procedures, and technical measures used to prevent unauthorized access, alteration, theft, or physical damage to information systems.</a:t>
            </a:r>
          </a:p>
          <a:p>
            <a:pPr algn="l"/>
            <a:r>
              <a:rPr lang="en-US" dirty="0">
                <a:solidFill>
                  <a:schemeClr val="tx1"/>
                </a:solidFill>
              </a:rPr>
              <a:t> </a:t>
            </a:r>
          </a:p>
          <a:p>
            <a:pPr algn="l"/>
            <a:r>
              <a:rPr lang="en-US" b="1" dirty="0">
                <a:solidFill>
                  <a:schemeClr val="tx1"/>
                </a:solidFill>
              </a:rPr>
              <a:t>Controls </a:t>
            </a:r>
            <a:r>
              <a:rPr lang="en-US" dirty="0">
                <a:solidFill>
                  <a:schemeClr val="tx1"/>
                </a:solidFill>
              </a:rPr>
              <a:t>consist of all the methods, policies, and organizational procedures that ensure the </a:t>
            </a:r>
            <a:r>
              <a:rPr lang="en-US" b="1" dirty="0">
                <a:solidFill>
                  <a:schemeClr val="tx1"/>
                </a:solidFill>
              </a:rPr>
              <a:t>safety of the organization's assets</a:t>
            </a:r>
            <a:r>
              <a:rPr lang="en-US" dirty="0">
                <a:solidFill>
                  <a:schemeClr val="tx1"/>
                </a:solidFill>
              </a:rPr>
              <a:t>; the </a:t>
            </a:r>
            <a:r>
              <a:rPr lang="en-US" b="1" dirty="0">
                <a:solidFill>
                  <a:schemeClr val="tx1"/>
                </a:solidFill>
              </a:rPr>
              <a:t>accuracy and reliability of its accounting</a:t>
            </a:r>
            <a:r>
              <a:rPr lang="en-US" dirty="0">
                <a:solidFill>
                  <a:schemeClr val="tx1"/>
                </a:solidFill>
              </a:rPr>
              <a:t> records; and operational adherence to management standards.</a:t>
            </a:r>
          </a:p>
          <a:p>
            <a:pPr algn="l"/>
            <a:r>
              <a:rPr lang="en-US" dirty="0">
                <a:solidFill>
                  <a:schemeClr val="tx1"/>
                </a:solidFill>
              </a:rPr>
              <a:t> </a:t>
            </a:r>
            <a:r>
              <a:rPr lang="en-US" b="1" dirty="0">
                <a:solidFill>
                  <a:schemeClr val="tx1"/>
                </a:solidFill>
              </a:rPr>
              <a:t>Threats</a:t>
            </a:r>
            <a:r>
              <a:rPr lang="en-US" dirty="0">
                <a:solidFill>
                  <a:schemeClr val="tx1"/>
                </a:solidFill>
              </a:rPr>
              <a:t> to computerized information systems include hardware and software failure; user errors; physical disasters such as fire or power failure; theft of data, services, and equipment; unauthorized use of data; and telecommunications disruptions. </a:t>
            </a:r>
          </a:p>
          <a:p>
            <a:pPr algn="l"/>
            <a:r>
              <a:rPr lang="en-US" b="1" dirty="0">
                <a:solidFill>
                  <a:schemeClr val="tx1"/>
                </a:solidFill>
              </a:rPr>
              <a:t>On-line systems </a:t>
            </a:r>
            <a:r>
              <a:rPr lang="en-US" dirty="0">
                <a:solidFill>
                  <a:schemeClr val="tx1"/>
                </a:solidFill>
              </a:rPr>
              <a:t>and telecommunications are </a:t>
            </a:r>
            <a:r>
              <a:rPr lang="en-US" b="1" dirty="0">
                <a:solidFill>
                  <a:schemeClr val="tx1"/>
                </a:solidFill>
              </a:rPr>
              <a:t>especially vulnerable </a:t>
            </a:r>
            <a:r>
              <a:rPr lang="en-US" dirty="0">
                <a:solidFill>
                  <a:schemeClr val="tx1"/>
                </a:solidFill>
              </a:rPr>
              <a:t>because data and files can be immediately and directly accessed through computer terminals or at points in the telecommunications network.</a:t>
            </a:r>
          </a:p>
          <a:p>
            <a:endParaRPr lang="en-US" dirty="0"/>
          </a:p>
        </p:txBody>
      </p:sp>
    </p:spTree>
    <p:extLst>
      <p:ext uri="{BB962C8B-B14F-4D97-AF65-F5344CB8AC3E}">
        <p14:creationId xmlns:p14="http://schemas.microsoft.com/office/powerpoint/2010/main" val="948895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en-US" sz="2400" b="1" dirty="0"/>
              <a:t>FIGURE 8-1 CONTEMPORARY SECURITY CHALLENGES AND VULNERABILITIES</a:t>
            </a:r>
            <a:br>
              <a:rPr lang="en-US" sz="2400" b="1" dirty="0"/>
            </a:br>
            <a:endParaRPr lang="en-US" sz="2400" dirty="0"/>
          </a:p>
        </p:txBody>
      </p:sp>
      <p:pic>
        <p:nvPicPr>
          <p:cNvPr id="4" name="image46.jpeg" descr="C:\Users\jreuben\Dropbox\pic1.PNG"/>
          <p:cNvPicPr>
            <a:picLocks noGrp="1"/>
          </p:cNvPicPr>
          <p:nvPr>
            <p:ph idx="1"/>
          </p:nvPr>
        </p:nvPicPr>
        <p:blipFill>
          <a:blip r:embed="rId2" cstate="print"/>
          <a:stretch>
            <a:fillRect/>
          </a:stretch>
        </p:blipFill>
        <p:spPr>
          <a:xfrm>
            <a:off x="533400" y="1858962"/>
            <a:ext cx="8077200" cy="4008438"/>
          </a:xfrm>
          <a:prstGeom prst="rect">
            <a:avLst/>
          </a:prstGeom>
        </p:spPr>
      </p:pic>
    </p:spTree>
    <p:extLst>
      <p:ext uri="{BB962C8B-B14F-4D97-AF65-F5344CB8AC3E}">
        <p14:creationId xmlns:p14="http://schemas.microsoft.com/office/powerpoint/2010/main" val="974561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The </a:t>
            </a:r>
            <a:r>
              <a:rPr lang="en-US" dirty="0">
                <a:solidFill>
                  <a:srgbClr val="FF0000"/>
                </a:solidFill>
              </a:rPr>
              <a:t>architecture of a Web-based application </a:t>
            </a:r>
            <a:r>
              <a:rPr lang="en-US" dirty="0"/>
              <a:t>typically includes a </a:t>
            </a:r>
            <a:r>
              <a:rPr lang="en-US" b="1" dirty="0"/>
              <a:t>Web client, a server, and corporate information systems linked to databases</a:t>
            </a:r>
            <a:r>
              <a:rPr lang="en-US" dirty="0"/>
              <a:t>. Each of these components presents security challenges and vulnerabilities. Floods, fires, power failures, and other electrical problems can cause disruptions at any point in the network.</a:t>
            </a:r>
          </a:p>
          <a:p>
            <a:pPr marL="0" indent="0">
              <a:buNone/>
            </a:pPr>
            <a:endParaRPr lang="en-US" dirty="0"/>
          </a:p>
          <a:p>
            <a:r>
              <a:rPr lang="en-US" dirty="0"/>
              <a:t>The </a:t>
            </a:r>
            <a:r>
              <a:rPr lang="en-US" dirty="0">
                <a:solidFill>
                  <a:srgbClr val="FF0000"/>
                </a:solidFill>
              </a:rPr>
              <a:t>Internet</a:t>
            </a:r>
            <a:r>
              <a:rPr lang="en-US" dirty="0"/>
              <a:t> poses additional problems because it was explicitly designed to be easily accessed by people on different computer systems. </a:t>
            </a:r>
            <a:r>
              <a:rPr lang="en-US" b="1" dirty="0"/>
              <a:t>Information traveling over unsecured media can be intercepted and misused</a:t>
            </a:r>
            <a:r>
              <a:rPr lang="en-US" dirty="0"/>
              <a:t>. Fixed IP addresses serve as fixed targets for hackers, and Internet software has become a means for introducing viruses and malicious software to otherwise secure networks.</a:t>
            </a:r>
          </a:p>
          <a:p>
            <a:endParaRPr lang="en-US" dirty="0"/>
          </a:p>
        </p:txBody>
      </p:sp>
    </p:spTree>
    <p:extLst>
      <p:ext uri="{BB962C8B-B14F-4D97-AF65-F5344CB8AC3E}">
        <p14:creationId xmlns:p14="http://schemas.microsoft.com/office/powerpoint/2010/main" val="945767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a:t>Wireless networks are even more vulnerable because radio frequency bands are easy to scan</a:t>
            </a:r>
            <a:r>
              <a:rPr lang="en-US" dirty="0"/>
              <a:t>. LANs that use the Wi-Fi (802.11b) standard can be easily penetrated by outsiders with laptops, wireless cards, external antennae, and freeware hacking software. Service set identifiers (SSID) identifying access points in a Wi-Fi network are broadcast multiple times and can be picked up fairly easily by sniffer programs.</a:t>
            </a:r>
          </a:p>
          <a:p>
            <a:endParaRPr lang="en-US" dirty="0"/>
          </a:p>
          <a:p>
            <a:r>
              <a:rPr lang="en-US" dirty="0"/>
              <a:t> In </a:t>
            </a:r>
            <a:r>
              <a:rPr lang="en-US" b="1" u="heavy" dirty="0"/>
              <a:t>war driving</a:t>
            </a:r>
            <a:r>
              <a:rPr lang="en-US" dirty="0"/>
              <a:t>, eavesdroppers drive by buildings or park outside and try to intercept wireless network traffic. The initial security standard developed for Wi-Fi, called Wired Equivalent Privacy (WEP), is not very effective. WEP is built into all standard 802.11 products, but users must turn it on, and many neglect to do so, leaving many access points unprotected.</a:t>
            </a:r>
          </a:p>
          <a:p>
            <a:endParaRPr lang="en-US" dirty="0"/>
          </a:p>
        </p:txBody>
      </p:sp>
    </p:spTree>
    <p:extLst>
      <p:ext uri="{BB962C8B-B14F-4D97-AF65-F5344CB8AC3E}">
        <p14:creationId xmlns:p14="http://schemas.microsoft.com/office/powerpoint/2010/main" val="2933842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3100" dirty="0"/>
              <a:t> </a:t>
            </a:r>
            <a:br>
              <a:rPr lang="en-US" sz="3100" dirty="0"/>
            </a:br>
            <a:br>
              <a:rPr lang="en-US" sz="3100" dirty="0"/>
            </a:br>
            <a:br>
              <a:rPr lang="en-US" sz="3100" dirty="0"/>
            </a:br>
            <a:br>
              <a:rPr lang="en-US" sz="3100" dirty="0"/>
            </a:br>
            <a:r>
              <a:rPr lang="en-US" sz="3100" b="1" dirty="0"/>
              <a:t>FIGURE	8-2	WI-FI	SECURITY	CHALLENGES </a:t>
            </a:r>
            <a:r>
              <a:rPr lang="en-US" sz="3100" dirty="0"/>
              <a:t>Many Wi-Fi networks can be penetrated easily by intruders using sniffer programs to obtain an address to access the resources of a network without authorization.</a:t>
            </a:r>
            <a:br>
              <a:rPr lang="en-US" sz="3100" dirty="0"/>
            </a:br>
            <a:br>
              <a:rPr lang="en-US" b="1" dirty="0"/>
            </a:br>
            <a:endParaRPr lang="en-US" dirty="0"/>
          </a:p>
        </p:txBody>
      </p:sp>
      <p:pic>
        <p:nvPicPr>
          <p:cNvPr id="4" name="image47.jpeg" descr="C:\Users\jreuben\Dropbox\pic2.PNG"/>
          <p:cNvPicPr>
            <a:picLocks noGrp="1"/>
          </p:cNvPicPr>
          <p:nvPr>
            <p:ph idx="1"/>
          </p:nvPr>
        </p:nvPicPr>
        <p:blipFill>
          <a:blip r:embed="rId2" cstate="print"/>
          <a:stretch>
            <a:fillRect/>
          </a:stretch>
        </p:blipFill>
        <p:spPr>
          <a:xfrm>
            <a:off x="1066800" y="2133600"/>
            <a:ext cx="7467600" cy="4419600"/>
          </a:xfrm>
          <a:prstGeom prst="rect">
            <a:avLst/>
          </a:prstGeom>
        </p:spPr>
      </p:pic>
    </p:spTree>
    <p:extLst>
      <p:ext uri="{BB962C8B-B14F-4D97-AF65-F5344CB8AC3E}">
        <p14:creationId xmlns:p14="http://schemas.microsoft.com/office/powerpoint/2010/main" val="968971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Malicious software</a:t>
            </a:r>
          </a:p>
        </p:txBody>
      </p:sp>
      <p:sp>
        <p:nvSpPr>
          <p:cNvPr id="3" name="Content Placeholder 2"/>
          <p:cNvSpPr>
            <a:spLocks noGrp="1"/>
          </p:cNvSpPr>
          <p:nvPr>
            <p:ph idx="1"/>
          </p:nvPr>
        </p:nvSpPr>
        <p:spPr/>
        <p:txBody>
          <a:bodyPr>
            <a:normAutofit fontScale="55000" lnSpcReduction="20000"/>
          </a:bodyPr>
          <a:lstStyle/>
          <a:p>
            <a:r>
              <a:rPr lang="en-US" dirty="0"/>
              <a:t>Malicious software, or </a:t>
            </a:r>
            <a:r>
              <a:rPr lang="en-US" b="1" u="heavy" dirty="0"/>
              <a:t>malware</a:t>
            </a:r>
            <a:r>
              <a:rPr lang="en-US" dirty="0"/>
              <a:t>, includes threats such as </a:t>
            </a:r>
            <a:r>
              <a:rPr lang="en-US" b="1" u="heavy" dirty="0"/>
              <a:t>computer viruses</a:t>
            </a:r>
            <a:r>
              <a:rPr lang="en-US" b="1" dirty="0"/>
              <a:t> </a:t>
            </a:r>
            <a:r>
              <a:rPr lang="en-US" dirty="0"/>
              <a:t>and worms, and Trojan horses. A computer virus is rogue software that attaches itself to other programs or data files in order to be executed, and may be highly destructive to files, computer memory, and hard drives. Viruses are typically designed to spread from computer to computer through e-mail attachments or copied files.</a:t>
            </a:r>
          </a:p>
          <a:p>
            <a:r>
              <a:rPr lang="en-US" dirty="0"/>
              <a:t> </a:t>
            </a:r>
          </a:p>
          <a:p>
            <a:r>
              <a:rPr lang="en-US" b="1" u="heavy" dirty="0"/>
              <a:t>Worms</a:t>
            </a:r>
            <a:r>
              <a:rPr lang="en-US" b="1" dirty="0"/>
              <a:t> </a:t>
            </a:r>
            <a:r>
              <a:rPr lang="en-US" dirty="0"/>
              <a:t>are independent computer programs that copy themselves to computers over a network independently from other computer programs or files, and therefore spread more rapidly.</a:t>
            </a:r>
          </a:p>
          <a:p>
            <a:r>
              <a:rPr lang="en-US" dirty="0"/>
              <a:t>A </a:t>
            </a:r>
            <a:r>
              <a:rPr lang="en-US" b="1" u="heavy" dirty="0"/>
              <a:t>Trojan horse</a:t>
            </a:r>
            <a:r>
              <a:rPr lang="en-US" b="1" dirty="0"/>
              <a:t> </a:t>
            </a:r>
            <a:r>
              <a:rPr lang="en-US" dirty="0"/>
              <a:t>is an apparently nonthreatening program that actually performs some hidden action such as installing malicious code or compromising the security of a computer.</a:t>
            </a:r>
          </a:p>
          <a:p>
            <a:r>
              <a:rPr lang="en-US" dirty="0"/>
              <a:t> </a:t>
            </a:r>
          </a:p>
          <a:p>
            <a:r>
              <a:rPr lang="en-US" dirty="0"/>
              <a:t>Spyware can also act as malicious software by obtaining information about users' buying habits and infringing on privacy. </a:t>
            </a:r>
            <a:r>
              <a:rPr lang="en-US" b="1" u="heavy" dirty="0" err="1"/>
              <a:t>Keyloggers</a:t>
            </a:r>
            <a:r>
              <a:rPr lang="en-US" b="1" dirty="0"/>
              <a:t> </a:t>
            </a:r>
            <a:r>
              <a:rPr lang="en-US" dirty="0"/>
              <a:t>record keystrokes made on a computer to discover steal serial numbers for software and passwords.</a:t>
            </a:r>
          </a:p>
          <a:p>
            <a:endParaRPr lang="en-US" dirty="0"/>
          </a:p>
        </p:txBody>
      </p:sp>
    </p:spTree>
    <p:extLst>
      <p:ext uri="{BB962C8B-B14F-4D97-AF65-F5344CB8AC3E}">
        <p14:creationId xmlns:p14="http://schemas.microsoft.com/office/powerpoint/2010/main" val="801665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1"/>
            <a:ext cx="8458200" cy="6705599"/>
          </a:xfrm>
        </p:spPr>
        <p:txBody>
          <a:bodyPr>
            <a:normAutofit fontScale="62500" lnSpcReduction="20000"/>
          </a:bodyPr>
          <a:lstStyle/>
          <a:p>
            <a:r>
              <a:rPr lang="en-US" dirty="0"/>
              <a:t>A </a:t>
            </a:r>
            <a:r>
              <a:rPr lang="en-US" b="1" u="heavy" dirty="0"/>
              <a:t>hacker</a:t>
            </a:r>
            <a:r>
              <a:rPr lang="en-US" b="1" dirty="0"/>
              <a:t> </a:t>
            </a:r>
            <a:r>
              <a:rPr lang="en-US" dirty="0"/>
              <a:t>is an individual who intends to gain unauthorized access to a computer system. The term </a:t>
            </a:r>
            <a:r>
              <a:rPr lang="en-US" b="1" u="heavy" dirty="0"/>
              <a:t>cracker</a:t>
            </a:r>
            <a:r>
              <a:rPr lang="en-US" b="1" dirty="0"/>
              <a:t> </a:t>
            </a:r>
            <a:r>
              <a:rPr lang="en-US" dirty="0"/>
              <a:t>is typically used for hackers with criminal intent. Hackers spoof, or misrepresent themselves, by using fake e-mail addresses or masquerading as someone else. Hacker activities include:</a:t>
            </a:r>
          </a:p>
          <a:p>
            <a:pPr lvl="0"/>
            <a:r>
              <a:rPr lang="en-US" b="1" dirty="0"/>
              <a:t>Theft of goods and services</a:t>
            </a:r>
          </a:p>
          <a:p>
            <a:pPr marL="0" indent="0">
              <a:buNone/>
            </a:pPr>
            <a:endParaRPr lang="en-US" dirty="0"/>
          </a:p>
          <a:p>
            <a:pPr lvl="0"/>
            <a:r>
              <a:rPr lang="en-US" b="1" dirty="0"/>
              <a:t>System damage </a:t>
            </a:r>
            <a:endParaRPr lang="en-US" dirty="0"/>
          </a:p>
          <a:p>
            <a:pPr lvl="0"/>
            <a:r>
              <a:rPr lang="en-US" b="1" u="heavy" dirty="0" err="1"/>
              <a:t>Cybervandalism</a:t>
            </a:r>
            <a:r>
              <a:rPr lang="en-US" dirty="0"/>
              <a:t>: The intentional disruption, defacement, or even destruction of a Web site or corporate information system.</a:t>
            </a:r>
          </a:p>
          <a:p>
            <a:r>
              <a:rPr lang="en-US" dirty="0"/>
              <a:t> </a:t>
            </a:r>
          </a:p>
          <a:p>
            <a:pPr lvl="0"/>
            <a:r>
              <a:rPr lang="en-US" b="1" dirty="0"/>
              <a:t>Spoofing</a:t>
            </a:r>
            <a:r>
              <a:rPr lang="en-US" dirty="0"/>
              <a:t>: Hiding of the hackers true identities or email addresses, or redirecting a Web link to a different web site that benefits the hacker.</a:t>
            </a:r>
          </a:p>
          <a:p>
            <a:pPr lvl="0"/>
            <a:r>
              <a:rPr lang="en-US" b="1" dirty="0"/>
              <a:t>Theft of proprietary information</a:t>
            </a:r>
            <a:r>
              <a:rPr lang="en-US" dirty="0"/>
              <a:t>: A </a:t>
            </a:r>
            <a:r>
              <a:rPr lang="en-US" b="1" u="heavy" dirty="0"/>
              <a:t>sniffer</a:t>
            </a:r>
            <a:r>
              <a:rPr lang="en-US" b="1" dirty="0"/>
              <a:t> </a:t>
            </a:r>
            <a:r>
              <a:rPr lang="en-US" dirty="0"/>
              <a:t>is an eavesdropping program that monitors network information and can enable hackers to steal proprietary information transmitting over	the	network. </a:t>
            </a:r>
          </a:p>
          <a:p>
            <a:pPr lvl="0"/>
            <a:r>
              <a:rPr lang="en-US" b="1" u="heavy" dirty="0"/>
              <a:t>Denial of service (</a:t>
            </a:r>
            <a:r>
              <a:rPr lang="en-US" b="1" u="heavy" dirty="0" err="1"/>
              <a:t>DoS</a:t>
            </a:r>
            <a:r>
              <a:rPr lang="en-US" b="1" u="heavy" dirty="0"/>
              <a:t>) attacks</a:t>
            </a:r>
            <a:r>
              <a:rPr lang="en-US" dirty="0"/>
              <a:t>: Flooding a network or server with thousands of false communications to crash or disrupt the network.</a:t>
            </a:r>
          </a:p>
          <a:p>
            <a:pPr lvl="0"/>
            <a:r>
              <a:rPr lang="en-US" dirty="0"/>
              <a:t> A </a:t>
            </a:r>
            <a:r>
              <a:rPr lang="en-US" b="1" u="heavy" dirty="0"/>
              <a:t>distributed denial-of-service</a:t>
            </a:r>
            <a:r>
              <a:rPr lang="en-US" b="1" dirty="0"/>
              <a:t> </a:t>
            </a:r>
            <a:r>
              <a:rPr lang="en-US" b="1" u="heavy" dirty="0"/>
              <a:t>(</a:t>
            </a:r>
            <a:r>
              <a:rPr lang="en-US" b="1" u="heavy" dirty="0" err="1"/>
              <a:t>DDoS</a:t>
            </a:r>
            <a:r>
              <a:rPr lang="en-US" b="1" u="heavy" dirty="0"/>
              <a:t>)</a:t>
            </a:r>
            <a:r>
              <a:rPr lang="en-US" b="1" dirty="0"/>
              <a:t> </a:t>
            </a:r>
            <a:r>
              <a:rPr lang="en-US" dirty="0"/>
              <a:t>attack uses hundreds or even thousands of computers to inundate and overwhelm the network from numerous launch points. Hackers can infect thousands of unsuspecting users' computers with malicious software to form a </a:t>
            </a:r>
            <a:r>
              <a:rPr lang="en-US" b="1" u="heavy" dirty="0"/>
              <a:t>botnet</a:t>
            </a:r>
            <a:r>
              <a:rPr lang="en-US" b="1" dirty="0"/>
              <a:t> </a:t>
            </a:r>
            <a:r>
              <a:rPr lang="en-US" dirty="0"/>
              <a:t>of resources for launching a </a:t>
            </a:r>
            <a:r>
              <a:rPr lang="en-US" dirty="0" err="1"/>
              <a:t>DDoS</a:t>
            </a:r>
            <a:r>
              <a:rPr lang="en-US" dirty="0"/>
              <a:t>.</a:t>
            </a:r>
          </a:p>
          <a:p>
            <a:endParaRPr lang="en-US" dirty="0"/>
          </a:p>
        </p:txBody>
      </p:sp>
    </p:spTree>
    <p:extLst>
      <p:ext uri="{BB962C8B-B14F-4D97-AF65-F5344CB8AC3E}">
        <p14:creationId xmlns:p14="http://schemas.microsoft.com/office/powerpoint/2010/main" val="1862348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049963"/>
          </a:xfrm>
        </p:spPr>
        <p:txBody>
          <a:bodyPr>
            <a:normAutofit fontScale="62500" lnSpcReduction="20000"/>
          </a:bodyPr>
          <a:lstStyle/>
          <a:p>
            <a:r>
              <a:rPr lang="en-US" dirty="0"/>
              <a:t>In </a:t>
            </a:r>
            <a:r>
              <a:rPr lang="en-US" b="1" dirty="0"/>
              <a:t>computer crime</a:t>
            </a:r>
            <a:r>
              <a:rPr lang="en-US" dirty="0"/>
              <a:t>, the computer can be either the target of or the instrument of a crime. The most economically damaging kinds of computer crime are </a:t>
            </a:r>
            <a:r>
              <a:rPr lang="en-US" dirty="0" err="1"/>
              <a:t>DoS</a:t>
            </a:r>
            <a:r>
              <a:rPr lang="en-US" dirty="0"/>
              <a:t> attacks, introducing viruses, theft of services, and disruption of computer systems.</a:t>
            </a:r>
          </a:p>
          <a:p>
            <a:pPr marL="0" indent="0">
              <a:buNone/>
            </a:pPr>
            <a:endParaRPr lang="en-US" dirty="0"/>
          </a:p>
          <a:p>
            <a:r>
              <a:rPr lang="en-US" b="1" dirty="0"/>
              <a:t>Other examples of computer crime include:</a:t>
            </a:r>
          </a:p>
          <a:p>
            <a:pPr marL="0" indent="0">
              <a:buNone/>
            </a:pPr>
            <a:r>
              <a:rPr lang="en-US" dirty="0"/>
              <a:t> </a:t>
            </a:r>
          </a:p>
          <a:p>
            <a:pPr lvl="0"/>
            <a:r>
              <a:rPr lang="en-US" b="1" dirty="0"/>
              <a:t>Identity theft</a:t>
            </a:r>
            <a:r>
              <a:rPr lang="en-US" dirty="0"/>
              <a:t>: In identity theft, an impostor obtains key pieces of personal information to impersonate someone else and obtain credit, merchandise, or false credentials.</a:t>
            </a:r>
          </a:p>
          <a:p>
            <a:r>
              <a:rPr lang="en-US" dirty="0"/>
              <a:t> </a:t>
            </a:r>
          </a:p>
          <a:p>
            <a:pPr lvl="0"/>
            <a:r>
              <a:rPr lang="en-US" b="1" dirty="0"/>
              <a:t>Phishing</a:t>
            </a:r>
            <a:r>
              <a:rPr lang="en-US" dirty="0"/>
              <a:t>: Setting up fake Web sites or sending e-mail messages that appear legitimate in order to coerce users for confidential data. Other phishing techniques include </a:t>
            </a:r>
            <a:r>
              <a:rPr lang="en-US" b="1" dirty="0"/>
              <a:t>evil twins </a:t>
            </a:r>
            <a:r>
              <a:rPr lang="en-US" dirty="0"/>
              <a:t>(wireless networks masquerading as legitimate Internet hotspots, used to capture personal information) and </a:t>
            </a:r>
            <a:r>
              <a:rPr lang="en-US" b="1" dirty="0"/>
              <a:t>pharming</a:t>
            </a:r>
            <a:r>
              <a:rPr lang="en-US" dirty="0"/>
              <a:t>, redirecting users bogus Web sites posing as legitimate Web sites.</a:t>
            </a:r>
          </a:p>
          <a:p>
            <a:r>
              <a:rPr lang="en-US" b="1" dirty="0"/>
              <a:t>Click fraud </a:t>
            </a:r>
            <a:r>
              <a:rPr lang="en-US" dirty="0"/>
              <a:t>occurs when an individual or computer program fraudulently clicks on an online ad without any intention of learning more about the advertiser or making a purchase. Click fraud can also be perpetrated with software programs doing the clicking, and bot networks are often used for this purpose.</a:t>
            </a:r>
          </a:p>
          <a:p>
            <a:endParaRPr lang="en-US" dirty="0"/>
          </a:p>
        </p:txBody>
      </p:sp>
    </p:spTree>
    <p:extLst>
      <p:ext uri="{BB962C8B-B14F-4D97-AF65-F5344CB8AC3E}">
        <p14:creationId xmlns:p14="http://schemas.microsoft.com/office/powerpoint/2010/main" val="2355262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229600" cy="5989636"/>
          </a:xfrm>
        </p:spPr>
        <p:txBody>
          <a:bodyPr>
            <a:normAutofit fontScale="55000" lnSpcReduction="20000"/>
          </a:bodyPr>
          <a:lstStyle/>
          <a:p>
            <a:r>
              <a:rPr lang="en-US" b="1" dirty="0"/>
              <a:t>The U.S. Congress responded to the threat of computer crime in 1986 with the Computer Fraud and Abuse Act. This act makes it illegal to access a computer system without authorization. </a:t>
            </a:r>
          </a:p>
          <a:p>
            <a:r>
              <a:rPr lang="en-US" b="1" dirty="0">
                <a:solidFill>
                  <a:srgbClr val="FF0000"/>
                </a:solidFill>
              </a:rPr>
              <a:t>The Kenyan government enacted the Kenya data protection act in 2019.</a:t>
            </a:r>
          </a:p>
          <a:p>
            <a:endParaRPr lang="en-US" b="1" dirty="0"/>
          </a:p>
          <a:p>
            <a:r>
              <a:rPr lang="en-US" dirty="0"/>
              <a:t>Most U.S. states and European nations have similar legislation. Congress also passed the National Information Infrastructure Protection Act in 1996 to make virus distribution and hacker attacks to disable Web sites federal crimes.</a:t>
            </a:r>
          </a:p>
          <a:p>
            <a:r>
              <a:rPr lang="en-US" dirty="0"/>
              <a:t> One concern is that terrorists or foreign intelligence services could exploit network or Internet vulnerabilities to commit </a:t>
            </a:r>
            <a:r>
              <a:rPr lang="en-US" dirty="0" err="1"/>
              <a:t>cyberterrorism</a:t>
            </a:r>
            <a:r>
              <a:rPr lang="en-US" dirty="0"/>
              <a:t> or </a:t>
            </a:r>
            <a:r>
              <a:rPr lang="en-US" dirty="0" err="1"/>
              <a:t>cyberwarfare</a:t>
            </a:r>
            <a:r>
              <a:rPr lang="en-US" dirty="0"/>
              <a:t> and cripple networks controlling essential services such as electrical grids and air traffic control systems.</a:t>
            </a:r>
          </a:p>
          <a:p>
            <a:r>
              <a:rPr lang="en-US" b="1" dirty="0"/>
              <a:t>The </a:t>
            </a:r>
            <a:r>
              <a:rPr lang="en-US" b="1" dirty="0">
                <a:solidFill>
                  <a:srgbClr val="FF0000"/>
                </a:solidFill>
              </a:rPr>
              <a:t>largest</a:t>
            </a:r>
            <a:r>
              <a:rPr lang="en-US" b="1" dirty="0"/>
              <a:t> financial </a:t>
            </a:r>
            <a:r>
              <a:rPr lang="en-US" b="1" dirty="0">
                <a:solidFill>
                  <a:srgbClr val="FF0000"/>
                </a:solidFill>
              </a:rPr>
              <a:t>threats</a:t>
            </a:r>
            <a:r>
              <a:rPr lang="en-US" b="1" dirty="0"/>
              <a:t> to businesses actually come </a:t>
            </a:r>
            <a:r>
              <a:rPr lang="en-US" b="1" dirty="0">
                <a:solidFill>
                  <a:srgbClr val="FF0000"/>
                </a:solidFill>
              </a:rPr>
              <a:t>from insiders, </a:t>
            </a:r>
            <a:r>
              <a:rPr lang="en-US" b="1" dirty="0"/>
              <a:t>either through theft and hacking or through lack of knowledge</a:t>
            </a:r>
            <a:r>
              <a:rPr lang="en-US" dirty="0"/>
              <a:t>. Malicious intruders may sometimes trick employees into revealing passwords and network access data through </a:t>
            </a:r>
            <a:r>
              <a:rPr lang="en-US" b="1" dirty="0">
                <a:solidFill>
                  <a:srgbClr val="FF0000"/>
                </a:solidFill>
              </a:rPr>
              <a:t>social engineering</a:t>
            </a:r>
            <a:r>
              <a:rPr lang="en-US" dirty="0">
                <a:solidFill>
                  <a:srgbClr val="FF0000"/>
                </a:solidFill>
              </a:rPr>
              <a:t>. </a:t>
            </a:r>
            <a:r>
              <a:rPr lang="en-US" dirty="0"/>
              <a:t>Employees can also introduce faulty data or improperly process data.</a:t>
            </a:r>
          </a:p>
          <a:p>
            <a:endParaRPr lang="en-US" dirty="0"/>
          </a:p>
          <a:p>
            <a:r>
              <a:rPr lang="en-US" b="1" dirty="0"/>
              <a:t>Software errors are also a threat to information systems and cause untold losses in productivity. </a:t>
            </a:r>
            <a:r>
              <a:rPr lang="en-US" dirty="0"/>
              <a:t>Hidden bugs or program code defects, unintentionally overlooked by programmers working with thousands of line of programming code, can cause performance issues and security vulnerabilities. Software vendors create lines of code called </a:t>
            </a:r>
            <a:r>
              <a:rPr lang="en-US" b="1" dirty="0"/>
              <a:t>patches </a:t>
            </a:r>
            <a:r>
              <a:rPr lang="en-US" dirty="0"/>
              <a:t>to repair flaws without disrupting the software's operation.</a:t>
            </a:r>
          </a:p>
          <a:p>
            <a:r>
              <a:rPr lang="en-US" dirty="0"/>
              <a:t> </a:t>
            </a:r>
          </a:p>
          <a:p>
            <a:endParaRPr lang="en-US" dirty="0"/>
          </a:p>
        </p:txBody>
      </p:sp>
    </p:spTree>
    <p:extLst>
      <p:ext uri="{BB962C8B-B14F-4D97-AF65-F5344CB8AC3E}">
        <p14:creationId xmlns:p14="http://schemas.microsoft.com/office/powerpoint/2010/main" val="151600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fontScale="85000" lnSpcReduction="10000"/>
          </a:bodyPr>
          <a:lstStyle/>
          <a:p>
            <a:r>
              <a:rPr lang="en-US" b="1" dirty="0"/>
              <a:t>Business value of Security and Control</a:t>
            </a:r>
          </a:p>
          <a:p>
            <a:r>
              <a:rPr lang="en-US" b="1" dirty="0"/>
              <a:t>Security and control have become a critical</a:t>
            </a:r>
            <a:r>
              <a:rPr lang="en-US" dirty="0"/>
              <a:t>, although perhaps unappreciated, area of information systems investment. </a:t>
            </a:r>
            <a:r>
              <a:rPr lang="en-US" b="1" dirty="0"/>
              <a:t>The longer computer systems are down, the more serious the consequences for the firm. With increasing reliance on the Internet and networked systems, firms are more vulnerable	than	ever	to disruption	and harm.</a:t>
            </a:r>
          </a:p>
          <a:p>
            <a:r>
              <a:rPr lang="en-US" dirty="0">
                <a:solidFill>
                  <a:srgbClr val="FF0000"/>
                </a:solidFill>
              </a:rPr>
              <a:t>Company systems often house confidential information about individuals' taxes, financial assets, medical records, and job performance reviews. </a:t>
            </a:r>
          </a:p>
          <a:p>
            <a:r>
              <a:rPr lang="en-US" dirty="0"/>
              <a:t>They may contain information on corporate operations, trade secrets, new product development plans, and marketing strategies. </a:t>
            </a:r>
            <a:r>
              <a:rPr lang="en-US" dirty="0">
                <a:solidFill>
                  <a:srgbClr val="FF0000"/>
                </a:solidFill>
              </a:rPr>
              <a:t>Inadequate security and        control may also  create  serious legal liability.</a:t>
            </a:r>
          </a:p>
          <a:p>
            <a:endParaRPr lang="en-US" dirty="0">
              <a:solidFill>
                <a:srgbClr val="FF0000"/>
              </a:solidFill>
            </a:endParaRPr>
          </a:p>
        </p:txBody>
      </p:sp>
    </p:spTree>
    <p:extLst>
      <p:ext uri="{BB962C8B-B14F-4D97-AF65-F5344CB8AC3E}">
        <p14:creationId xmlns:p14="http://schemas.microsoft.com/office/powerpoint/2010/main" val="252594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55000" lnSpcReduction="20000"/>
          </a:bodyPr>
          <a:lstStyle/>
          <a:p>
            <a:r>
              <a:rPr lang="en-US" dirty="0"/>
              <a:t>Businesses must protect not only their own information assets but also those of customers, employees, and business partners. Recent government regulations mandate the protection of data from abuse, exposure, and unauthorized access, and include:</a:t>
            </a:r>
          </a:p>
          <a:p>
            <a:r>
              <a:rPr lang="en-US" dirty="0"/>
              <a:t> </a:t>
            </a:r>
          </a:p>
          <a:p>
            <a:pPr lvl="0"/>
            <a:r>
              <a:rPr lang="en-US" dirty="0"/>
              <a:t>The Health Insurance Portability and Accountability Act </a:t>
            </a:r>
            <a:r>
              <a:rPr lang="en-US" b="1" dirty="0"/>
              <a:t>(HIPAA)</a:t>
            </a:r>
            <a:r>
              <a:rPr lang="en-US" dirty="0"/>
              <a:t>, which requires members of the healthcare industry to </a:t>
            </a:r>
            <a:r>
              <a:rPr lang="en-US" dirty="0">
                <a:solidFill>
                  <a:srgbClr val="FF0000"/>
                </a:solidFill>
              </a:rPr>
              <a:t>retain patient information for six years and ensure the confidentiality of those records</a:t>
            </a:r>
          </a:p>
          <a:p>
            <a:r>
              <a:rPr lang="en-US" dirty="0"/>
              <a:t> </a:t>
            </a:r>
          </a:p>
          <a:p>
            <a:pPr lvl="0"/>
            <a:r>
              <a:rPr lang="en-US" dirty="0"/>
              <a:t>The </a:t>
            </a:r>
            <a:r>
              <a:rPr lang="en-US" b="1" dirty="0"/>
              <a:t>Gramm-Leach-Bliley Act</a:t>
            </a:r>
            <a:r>
              <a:rPr lang="en-US" dirty="0"/>
              <a:t>, which </a:t>
            </a:r>
            <a:r>
              <a:rPr lang="en-US" dirty="0">
                <a:solidFill>
                  <a:srgbClr val="FF0000"/>
                </a:solidFill>
              </a:rPr>
              <a:t>requires financial institutions to ensure the security and confidentiality of customer data</a:t>
            </a:r>
          </a:p>
          <a:p>
            <a:r>
              <a:rPr lang="en-US" dirty="0"/>
              <a:t> </a:t>
            </a:r>
          </a:p>
          <a:p>
            <a:pPr lvl="0"/>
            <a:r>
              <a:rPr lang="en-US" dirty="0"/>
              <a:t>The </a:t>
            </a:r>
            <a:r>
              <a:rPr lang="en-US" b="1" dirty="0"/>
              <a:t>Sarbanes-Oxley Act</a:t>
            </a:r>
            <a:r>
              <a:rPr lang="en-US" dirty="0"/>
              <a:t>, which imposes responsibility on companies and their management </a:t>
            </a:r>
            <a:r>
              <a:rPr lang="en-US" dirty="0">
                <a:solidFill>
                  <a:srgbClr val="FF0000"/>
                </a:solidFill>
              </a:rPr>
              <a:t>to use internal controls to safeguard the accuracy and integrity of financial information</a:t>
            </a:r>
          </a:p>
          <a:p>
            <a:endParaRPr lang="en-US" dirty="0"/>
          </a:p>
          <a:p>
            <a:r>
              <a:rPr lang="en-US" b="1" dirty="0">
                <a:solidFill>
                  <a:srgbClr val="FF0000"/>
                </a:solidFill>
              </a:rPr>
              <a:t>Kenya Data Protection Act of2019</a:t>
            </a:r>
          </a:p>
          <a:p>
            <a:endParaRPr lang="en-US" b="1" dirty="0">
              <a:solidFill>
                <a:srgbClr val="FF0000"/>
              </a:solidFill>
            </a:endParaRPr>
          </a:p>
          <a:p>
            <a:r>
              <a:rPr lang="en-US" dirty="0"/>
              <a:t>Firms face new legal obligations for electronic records management and document retention as well as for privacy protection. </a:t>
            </a:r>
            <a:r>
              <a:rPr lang="en-US" b="1" dirty="0">
                <a:solidFill>
                  <a:srgbClr val="FF0000"/>
                </a:solidFill>
              </a:rPr>
              <a:t>Electronic records management (ERM) </a:t>
            </a:r>
            <a:r>
              <a:rPr lang="en-US" dirty="0">
                <a:solidFill>
                  <a:srgbClr val="FF0000"/>
                </a:solidFill>
              </a:rPr>
              <a:t>consists of policies, procedures, and tools for managing the retention, destruction, and storage of electronic records.</a:t>
            </a:r>
          </a:p>
          <a:p>
            <a:endParaRPr lang="en-US" dirty="0">
              <a:solidFill>
                <a:srgbClr val="FF0000"/>
              </a:solidFill>
            </a:endParaRPr>
          </a:p>
          <a:p>
            <a:r>
              <a:rPr lang="en-US" dirty="0">
                <a:solidFill>
                  <a:srgbClr val="FF0000"/>
                </a:solidFill>
              </a:rPr>
              <a:t> </a:t>
            </a:r>
          </a:p>
          <a:p>
            <a:endParaRPr lang="en-US" dirty="0"/>
          </a:p>
        </p:txBody>
      </p:sp>
    </p:spTree>
    <p:extLst>
      <p:ext uri="{BB962C8B-B14F-4D97-AF65-F5344CB8AC3E}">
        <p14:creationId xmlns:p14="http://schemas.microsoft.com/office/powerpoint/2010/main" val="560938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62500" lnSpcReduction="20000"/>
          </a:bodyPr>
          <a:lstStyle/>
          <a:p>
            <a:r>
              <a:rPr lang="en-US" b="1" dirty="0"/>
              <a:t>Security, control, and electronic records management </a:t>
            </a:r>
            <a:r>
              <a:rPr lang="en-US" dirty="0"/>
              <a:t>have become essential for responding to legal actions. Much of the </a:t>
            </a:r>
            <a:r>
              <a:rPr lang="en-US" dirty="0">
                <a:solidFill>
                  <a:srgbClr val="FF0000"/>
                </a:solidFill>
              </a:rPr>
              <a:t>evidence</a:t>
            </a:r>
            <a:r>
              <a:rPr lang="en-US" dirty="0"/>
              <a:t> today for stock fraud, embezzlement, theft of company trade secrets, computer crime, and many civil cases is in digital form. </a:t>
            </a:r>
            <a:r>
              <a:rPr lang="en-US" dirty="0">
                <a:solidFill>
                  <a:srgbClr val="FF0000"/>
                </a:solidFill>
              </a:rPr>
              <a:t>Legal cases today increasingly rely on evidence represented as computer data stored on portable floppy disks, CDs, and computer hard disk drives, as well as in e-mail</a:t>
            </a:r>
            <a:r>
              <a:rPr lang="en-US" dirty="0"/>
              <a:t>, instant messages, and e-commerce transactions over the Internet. E-mail is currently the most common type of electronic evidence.</a:t>
            </a:r>
          </a:p>
          <a:p>
            <a:pPr marL="0" indent="0">
              <a:buNone/>
            </a:pPr>
            <a:r>
              <a:rPr lang="en-US" dirty="0"/>
              <a:t> </a:t>
            </a:r>
          </a:p>
          <a:p>
            <a:r>
              <a:rPr lang="en-US" dirty="0">
                <a:solidFill>
                  <a:srgbClr val="FF0000"/>
                </a:solidFill>
              </a:rPr>
              <a:t>An </a:t>
            </a:r>
            <a:r>
              <a:rPr lang="en-US" b="1" dirty="0">
                <a:solidFill>
                  <a:srgbClr val="FF0000"/>
                </a:solidFill>
              </a:rPr>
              <a:t>effective electronic document retention policy ensures that electronic documents, e-mail, and other records are well organized, accessible, and neither retained too long nor discarded too soon.</a:t>
            </a:r>
          </a:p>
          <a:p>
            <a:r>
              <a:rPr lang="en-US" dirty="0"/>
              <a:t> </a:t>
            </a:r>
          </a:p>
          <a:p>
            <a:r>
              <a:rPr lang="en-US" b="1" dirty="0"/>
              <a:t>Computer forensics </a:t>
            </a:r>
            <a:r>
              <a:rPr lang="en-US" dirty="0"/>
              <a:t>is the scientific collection, examination, authentication, preservation, and analysis of data held on or retrieved from computer storage media in such a way that the information can be used as evidence in a court of law. </a:t>
            </a:r>
          </a:p>
          <a:p>
            <a:r>
              <a:rPr lang="en-US" b="1" dirty="0"/>
              <a:t>Electronic evidence </a:t>
            </a:r>
            <a:r>
              <a:rPr lang="en-US" dirty="0"/>
              <a:t>can reside on computer storage media in the form of computer files and as ambient data, which are not visible to the average user.</a:t>
            </a:r>
          </a:p>
          <a:p>
            <a:endParaRPr lang="en-US" dirty="0"/>
          </a:p>
        </p:txBody>
      </p:sp>
    </p:spTree>
    <p:extLst>
      <p:ext uri="{BB962C8B-B14F-4D97-AF65-F5344CB8AC3E}">
        <p14:creationId xmlns:p14="http://schemas.microsoft.com/office/powerpoint/2010/main" val="1490204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934200"/>
          </a:xfrm>
        </p:spPr>
        <p:txBody>
          <a:bodyPr>
            <a:normAutofit fontScale="55000" lnSpcReduction="20000"/>
          </a:bodyPr>
          <a:lstStyle/>
          <a:p>
            <a:r>
              <a:rPr lang="en-US" b="1" dirty="0"/>
              <a:t>Establishing a Management Framework for Security and Control</a:t>
            </a:r>
          </a:p>
          <a:p>
            <a:r>
              <a:rPr lang="en-US" dirty="0"/>
              <a:t>Protection of information resources requires a sound security system and set of controls. </a:t>
            </a:r>
            <a:r>
              <a:rPr lang="en-US" b="1" dirty="0"/>
              <a:t>ISO</a:t>
            </a:r>
            <a:r>
              <a:rPr lang="en-US" dirty="0"/>
              <a:t>, an international set of standards for security and control, specifies best practices in information systems security and control.</a:t>
            </a:r>
          </a:p>
          <a:p>
            <a:pPr marL="0" indent="0">
              <a:buNone/>
            </a:pPr>
            <a:r>
              <a:rPr lang="en-US" dirty="0"/>
              <a:t> </a:t>
            </a:r>
          </a:p>
          <a:p>
            <a:r>
              <a:rPr lang="en-US" dirty="0"/>
              <a:t>A </a:t>
            </a:r>
            <a:r>
              <a:rPr lang="en-US" b="1" dirty="0"/>
              <a:t>risk assessment </a:t>
            </a:r>
            <a:r>
              <a:rPr lang="en-US" dirty="0"/>
              <a:t>determines the level of risk to the firm if a specific activity or process is not properly controlled. Business managers working with information systems specialists </a:t>
            </a:r>
            <a:r>
              <a:rPr lang="en-US" b="1" dirty="0"/>
              <a:t>determine the value of </a:t>
            </a:r>
            <a:r>
              <a:rPr lang="en-US" dirty="0"/>
              <a:t>information assets, </a:t>
            </a:r>
            <a:r>
              <a:rPr lang="en-US" b="1" dirty="0"/>
              <a:t>points of vulnerability,</a:t>
            </a:r>
            <a:r>
              <a:rPr lang="en-US" dirty="0"/>
              <a:t> the likely </a:t>
            </a:r>
            <a:r>
              <a:rPr lang="en-US" b="1" dirty="0"/>
              <a:t>frequency of a problem</a:t>
            </a:r>
            <a:r>
              <a:rPr lang="en-US" dirty="0"/>
              <a:t>, and the </a:t>
            </a:r>
            <a:r>
              <a:rPr lang="en-US" b="1" dirty="0"/>
              <a:t>potential for damage</a:t>
            </a:r>
            <a:r>
              <a:rPr lang="en-US" dirty="0"/>
              <a:t>. Once the risks have been assessed, </a:t>
            </a:r>
            <a:r>
              <a:rPr lang="en-US" b="1" dirty="0"/>
              <a:t>system builders can concentrate on the control </a:t>
            </a:r>
            <a:r>
              <a:rPr lang="en-US" dirty="0"/>
              <a:t>points </a:t>
            </a:r>
            <a:r>
              <a:rPr lang="en-US" b="1" dirty="0"/>
              <a:t>with the greatest vulnerability and potential for loss in order to minimize overall cost and maximize defenses</a:t>
            </a:r>
            <a:r>
              <a:rPr lang="en-US" dirty="0"/>
              <a:t>.</a:t>
            </a:r>
          </a:p>
          <a:p>
            <a:pPr marL="0" indent="0">
              <a:buNone/>
            </a:pPr>
            <a:r>
              <a:rPr lang="en-US" dirty="0"/>
              <a:t> Larger firms typically have a formal corporate security function headed by a </a:t>
            </a:r>
            <a:r>
              <a:rPr lang="en-US" b="1" dirty="0"/>
              <a:t>chief security officer (CSO)</a:t>
            </a:r>
            <a:r>
              <a:rPr lang="en-US" dirty="0"/>
              <a:t>. The security group educates and trains users, keeps management aware of security threats and breakdowns, and maintains the tools chosen to implement security. The chief security officer is responsible for enforcing the firm's security policy. </a:t>
            </a:r>
          </a:p>
          <a:p>
            <a:r>
              <a:rPr lang="en-US" dirty="0"/>
              <a:t>A </a:t>
            </a:r>
            <a:r>
              <a:rPr lang="en-US" b="1" dirty="0"/>
              <a:t>security policy </a:t>
            </a:r>
            <a:r>
              <a:rPr lang="en-US" dirty="0"/>
              <a:t>consists of statements ranking information risks, identifying acceptable security goals, and identifying the mechanisms for achieving these goals. </a:t>
            </a:r>
            <a:r>
              <a:rPr lang="en-US" b="1" dirty="0"/>
              <a:t>The security organization typically administers acceptable use policies and authorization policies. </a:t>
            </a:r>
          </a:p>
          <a:p>
            <a:r>
              <a:rPr lang="en-US" dirty="0"/>
              <a:t>An </a:t>
            </a:r>
            <a:r>
              <a:rPr lang="en-US" b="1" dirty="0"/>
              <a:t>acceptable use policy (AUP) </a:t>
            </a:r>
            <a:r>
              <a:rPr lang="en-US" dirty="0"/>
              <a:t>defines acceptable uses of the firm's information resources and computing equipment, including desktop and laptop computers, wireless devices, telephones, and the Internet. </a:t>
            </a:r>
          </a:p>
          <a:p>
            <a:r>
              <a:rPr lang="en-US" b="1" dirty="0"/>
              <a:t>Authorization policies </a:t>
            </a:r>
            <a:r>
              <a:rPr lang="en-US" dirty="0"/>
              <a:t>determine differing levels of access to information assets for different levels of users. </a:t>
            </a:r>
            <a:r>
              <a:rPr lang="en-US" b="1" dirty="0"/>
              <a:t>Authorization management systems </a:t>
            </a:r>
            <a:r>
              <a:rPr lang="en-US" dirty="0"/>
              <a:t>establish where and when a user is permitted to access certain parts of a Website	 or a corporate database.</a:t>
            </a:r>
          </a:p>
          <a:p>
            <a:endParaRPr lang="en-US" dirty="0"/>
          </a:p>
        </p:txBody>
      </p:sp>
    </p:spTree>
    <p:extLst>
      <p:ext uri="{BB962C8B-B14F-4D97-AF65-F5344CB8AC3E}">
        <p14:creationId xmlns:p14="http://schemas.microsoft.com/office/powerpoint/2010/main" val="1767397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br>
              <a:rPr lang="en-US" sz="1800" b="1" dirty="0"/>
            </a:br>
            <a:br>
              <a:rPr lang="en-US" sz="1800" b="1" dirty="0"/>
            </a:br>
            <a:br>
              <a:rPr lang="en-US" sz="1800" b="1" dirty="0"/>
            </a:br>
            <a:br>
              <a:rPr lang="en-US" sz="1800" b="1" dirty="0"/>
            </a:br>
            <a:r>
              <a:rPr lang="en-US" sz="1800" b="1" dirty="0"/>
              <a:t>FIGURE    8-4     SECURITY     PROFILES     FOR     A     PERSONNEL     SYSTEM</a:t>
            </a:r>
            <a:br>
              <a:rPr lang="en-US" sz="1800" b="1" dirty="0"/>
            </a:br>
            <a:r>
              <a:rPr lang="en-US" sz="1800" dirty="0"/>
              <a:t>These two examples represent two security profiles or data security patterns that might be found in a personnel system. Depending on the security profile, a user would have certain restrictions on access to various systems, locations, or data in an organization.</a:t>
            </a:r>
            <a:br>
              <a:rPr lang="en-US" sz="1800" dirty="0"/>
            </a:br>
            <a:br>
              <a:rPr lang="en-US" sz="2800" b="1" dirty="0"/>
            </a:br>
            <a:endParaRPr lang="en-US" sz="2800" dirty="0"/>
          </a:p>
        </p:txBody>
      </p:sp>
      <p:pic>
        <p:nvPicPr>
          <p:cNvPr id="4" name="image48.jpeg" descr="C:\Users\jreuben\Dropbox\pic3.PNG"/>
          <p:cNvPicPr>
            <a:picLocks noGrp="1"/>
          </p:cNvPicPr>
          <p:nvPr>
            <p:ph idx="1"/>
          </p:nvPr>
        </p:nvPicPr>
        <p:blipFill>
          <a:blip r:embed="rId2" cstate="print"/>
          <a:stretch>
            <a:fillRect/>
          </a:stretch>
        </p:blipFill>
        <p:spPr>
          <a:xfrm>
            <a:off x="381001" y="1706563"/>
            <a:ext cx="8381998" cy="4313238"/>
          </a:xfrm>
          <a:prstGeom prst="rect">
            <a:avLst/>
          </a:prstGeom>
        </p:spPr>
      </p:pic>
    </p:spTree>
    <p:extLst>
      <p:ext uri="{BB962C8B-B14F-4D97-AF65-F5344CB8AC3E}">
        <p14:creationId xmlns:p14="http://schemas.microsoft.com/office/powerpoint/2010/main" val="454535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15400" cy="6705600"/>
          </a:xfrm>
        </p:spPr>
        <p:txBody>
          <a:bodyPr>
            <a:normAutofit fontScale="55000" lnSpcReduction="20000"/>
          </a:bodyPr>
          <a:lstStyle/>
          <a:p>
            <a:r>
              <a:rPr lang="en-US" dirty="0"/>
              <a:t>As companies increasingly rely on digital networks for their revenue and operations, they need to take additional steps to ensure that their systems and applications are always available. </a:t>
            </a:r>
          </a:p>
          <a:p>
            <a:r>
              <a:rPr lang="en-US" b="1" u="heavy" dirty="0">
                <a:solidFill>
                  <a:srgbClr val="FF0000"/>
                </a:solidFill>
              </a:rPr>
              <a:t>Downtime</a:t>
            </a:r>
            <a:r>
              <a:rPr lang="en-US" b="1" dirty="0">
                <a:solidFill>
                  <a:srgbClr val="FF0000"/>
                </a:solidFill>
              </a:rPr>
              <a:t> </a:t>
            </a:r>
            <a:r>
              <a:rPr lang="en-US" dirty="0">
                <a:solidFill>
                  <a:srgbClr val="FF0000"/>
                </a:solidFill>
              </a:rPr>
              <a:t>refers to periods of time in which a system is not operational. Several techniques can be used by companies to make reduce downtime.</a:t>
            </a:r>
          </a:p>
          <a:p>
            <a:pPr marL="0" indent="0">
              <a:buNone/>
            </a:pPr>
            <a:r>
              <a:rPr lang="en-US" dirty="0">
                <a:solidFill>
                  <a:srgbClr val="FF0000"/>
                </a:solidFill>
              </a:rPr>
              <a:t> </a:t>
            </a:r>
          </a:p>
          <a:p>
            <a:r>
              <a:rPr lang="en-US" b="1" u="heavy" dirty="0"/>
              <a:t>Fault-tolerant computer systems</a:t>
            </a:r>
            <a:r>
              <a:rPr lang="en-US" b="1" dirty="0"/>
              <a:t> </a:t>
            </a:r>
            <a:r>
              <a:rPr lang="en-US" dirty="0"/>
              <a:t>use hardware or software to detect hardware failures and automatically switch to backup systems.</a:t>
            </a:r>
          </a:p>
          <a:p>
            <a:r>
              <a:rPr lang="en-US" dirty="0"/>
              <a:t> </a:t>
            </a:r>
          </a:p>
          <a:p>
            <a:r>
              <a:rPr lang="en-US" b="1" u="heavy" dirty="0"/>
              <a:t>High-availability computing</a:t>
            </a:r>
            <a:r>
              <a:rPr lang="en-US" b="1" dirty="0"/>
              <a:t> </a:t>
            </a:r>
            <a:r>
              <a:rPr lang="en-US" dirty="0"/>
              <a:t>environments use backup servers, distributing processing among multiple servers, high-capacity storage, and disaster recovery planning and business continuity planning to recover quickly from a system crash.</a:t>
            </a:r>
          </a:p>
          <a:p>
            <a:pPr marL="0" indent="0">
              <a:buNone/>
            </a:pPr>
            <a:r>
              <a:rPr lang="en-US" dirty="0"/>
              <a:t> </a:t>
            </a:r>
          </a:p>
          <a:p>
            <a:r>
              <a:rPr lang="en-US" dirty="0"/>
              <a:t>In </a:t>
            </a:r>
            <a:r>
              <a:rPr lang="en-US" b="1" u="heavy" dirty="0"/>
              <a:t>recovery-oriented computing</a:t>
            </a:r>
            <a:r>
              <a:rPr lang="en-US" dirty="0"/>
              <a:t>, systems are designed to recover quickly, and implementing capabilities and tools to help operators pinpoint the sources of faults in multicomponent systems and easily correct their mistakes.</a:t>
            </a:r>
          </a:p>
          <a:p>
            <a:r>
              <a:rPr lang="en-US" dirty="0"/>
              <a:t> </a:t>
            </a:r>
          </a:p>
          <a:p>
            <a:r>
              <a:rPr lang="en-US" b="1" u="heavy" dirty="0"/>
              <a:t>Disaster recovery planning</a:t>
            </a:r>
            <a:r>
              <a:rPr lang="en-US" b="1" dirty="0"/>
              <a:t> </a:t>
            </a:r>
            <a:r>
              <a:rPr lang="en-US" dirty="0"/>
              <a:t>devises plans for the restoration of computing and communications services after they have been disrupted by an event such as an earthquake, flood, or terrorist attack.</a:t>
            </a:r>
          </a:p>
          <a:p>
            <a:br>
              <a:rPr lang="en-US" dirty="0"/>
            </a:br>
            <a:r>
              <a:rPr lang="en-US" dirty="0"/>
              <a:t> </a:t>
            </a:r>
          </a:p>
          <a:p>
            <a:r>
              <a:rPr lang="en-US" b="1" u="heavy" dirty="0"/>
              <a:t>Business continuity planning</a:t>
            </a:r>
            <a:r>
              <a:rPr lang="en-US" b="1" dirty="0"/>
              <a:t> </a:t>
            </a:r>
            <a:r>
              <a:rPr lang="en-US" dirty="0"/>
              <a:t>focuses on how the company can restore business operations after a disaster strikes.</a:t>
            </a:r>
          </a:p>
          <a:p>
            <a:pPr marL="0" indent="0">
              <a:buNone/>
            </a:pPr>
            <a:r>
              <a:rPr lang="en-US" dirty="0"/>
              <a:t> </a:t>
            </a:r>
          </a:p>
        </p:txBody>
      </p:sp>
    </p:spTree>
    <p:extLst>
      <p:ext uri="{BB962C8B-B14F-4D97-AF65-F5344CB8AC3E}">
        <p14:creationId xmlns:p14="http://schemas.microsoft.com/office/powerpoint/2010/main" val="2615988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Some companies outsource security functions to </a:t>
            </a:r>
            <a:r>
              <a:rPr lang="en-US" b="1" u="heavy" dirty="0"/>
              <a:t>managed security service providers (MSSPs)</a:t>
            </a:r>
            <a:r>
              <a:rPr lang="en-US" b="1" dirty="0"/>
              <a:t> </a:t>
            </a:r>
            <a:r>
              <a:rPr lang="en-US" dirty="0"/>
              <a:t>that monitor network activity and perform vulnerability testing and intrusion detection.</a:t>
            </a:r>
          </a:p>
          <a:p>
            <a:pPr marL="0" indent="0">
              <a:buNone/>
            </a:pPr>
            <a:r>
              <a:rPr lang="en-US" dirty="0"/>
              <a:t> </a:t>
            </a:r>
          </a:p>
          <a:p>
            <a:r>
              <a:rPr lang="en-US" dirty="0"/>
              <a:t>An </a:t>
            </a:r>
            <a:r>
              <a:rPr lang="en-US" b="1" u="heavy" dirty="0"/>
              <a:t>MIS audit</a:t>
            </a:r>
            <a:r>
              <a:rPr lang="en-US" b="1" dirty="0"/>
              <a:t> </a:t>
            </a:r>
            <a:r>
              <a:rPr lang="en-US" dirty="0"/>
              <a:t>examines the firm's overall security environment as well as controls governing individual information systems. </a:t>
            </a:r>
            <a:r>
              <a:rPr lang="en-US" b="1" dirty="0"/>
              <a:t>Security audits </a:t>
            </a:r>
            <a:r>
              <a:rPr lang="en-US" dirty="0"/>
              <a:t>review</a:t>
            </a:r>
            <a:r>
              <a:rPr lang="en-US" b="1" dirty="0"/>
              <a:t> </a:t>
            </a:r>
            <a:r>
              <a:rPr lang="en-US" dirty="0"/>
              <a:t>technologies, procedures, documentation, training, and </a:t>
            </a:r>
            <a:r>
              <a:rPr lang="en-US"/>
              <a:t>personnel.</a:t>
            </a:r>
          </a:p>
          <a:p>
            <a:r>
              <a:rPr lang="en-US"/>
              <a:t> </a:t>
            </a:r>
            <a:r>
              <a:rPr lang="en-US" dirty="0"/>
              <a:t>The audit lists and ranks all control weaknesses and estimates the probability of their occurrence. It then assesses the financial and organizational impact of each threat.</a:t>
            </a:r>
          </a:p>
          <a:p>
            <a:endParaRPr lang="en-US" dirty="0"/>
          </a:p>
          <a:p>
            <a:endParaRPr lang="en-US" dirty="0"/>
          </a:p>
        </p:txBody>
      </p:sp>
    </p:spTree>
    <p:extLst>
      <p:ext uri="{BB962C8B-B14F-4D97-AF65-F5344CB8AC3E}">
        <p14:creationId xmlns:p14="http://schemas.microsoft.com/office/powerpoint/2010/main" val="1519217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br>
              <a:rPr lang="en-US" sz="2400" b="1" dirty="0"/>
            </a:br>
            <a:br>
              <a:rPr lang="en-US" sz="2400" b="1" dirty="0"/>
            </a:br>
            <a:br>
              <a:rPr lang="en-US" sz="2400" b="1" dirty="0"/>
            </a:br>
            <a:r>
              <a:rPr lang="en-US" sz="2400" b="1" dirty="0"/>
              <a:t>Technologies and Tools for Security and Control</a:t>
            </a:r>
            <a:br>
              <a:rPr lang="en-US" sz="2400" b="1" dirty="0"/>
            </a:br>
            <a:r>
              <a:rPr lang="en-US" sz="2400" b="1" dirty="0"/>
              <a:t> </a:t>
            </a:r>
            <a:br>
              <a:rPr lang="en-US" sz="2400" dirty="0"/>
            </a:br>
            <a:r>
              <a:rPr lang="en-US" sz="2400" dirty="0"/>
              <a:t>Various tools and technologies used to help protect against or monitor intrusion include </a:t>
            </a:r>
            <a:r>
              <a:rPr lang="en-US" sz="2400" dirty="0">
                <a:solidFill>
                  <a:srgbClr val="FF0000"/>
                </a:solidFill>
              </a:rPr>
              <a:t>authentication tools, firewalls, intrusion detection systems, and antivirus and encryption software.</a:t>
            </a:r>
            <a:br>
              <a:rPr lang="en-US" sz="2400" dirty="0">
                <a:solidFill>
                  <a:srgbClr val="FF0000"/>
                </a:solidFill>
              </a:rPr>
            </a:br>
            <a:endParaRPr lang="en-US" sz="2400" dirty="0">
              <a:solidFill>
                <a:srgbClr val="FF0000"/>
              </a:solidFill>
            </a:endParaRPr>
          </a:p>
        </p:txBody>
      </p:sp>
      <p:pic>
        <p:nvPicPr>
          <p:cNvPr id="4" name="image49.jpeg" descr="C:\Users\jreuben\Dropbox\pic4.PNG"/>
          <p:cNvPicPr>
            <a:picLocks noGrp="1"/>
          </p:cNvPicPr>
          <p:nvPr>
            <p:ph idx="1"/>
          </p:nvPr>
        </p:nvPicPr>
        <p:blipFill>
          <a:blip r:embed="rId2" cstate="print"/>
          <a:stretch>
            <a:fillRect/>
          </a:stretch>
        </p:blipFill>
        <p:spPr>
          <a:xfrm>
            <a:off x="533400" y="2316162"/>
            <a:ext cx="7924798" cy="4465638"/>
          </a:xfrm>
          <a:prstGeom prst="rect">
            <a:avLst/>
          </a:prstGeom>
        </p:spPr>
      </p:pic>
    </p:spTree>
    <p:extLst>
      <p:ext uri="{BB962C8B-B14F-4D97-AF65-F5344CB8AC3E}">
        <p14:creationId xmlns:p14="http://schemas.microsoft.com/office/powerpoint/2010/main" val="215265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fontScale="55000" lnSpcReduction="20000"/>
          </a:bodyPr>
          <a:lstStyle/>
          <a:p>
            <a:r>
              <a:rPr lang="en-US" b="1" dirty="0"/>
              <a:t>Access control </a:t>
            </a:r>
            <a:r>
              <a:rPr lang="en-US" dirty="0"/>
              <a:t>consists of all the policies and procedures a company uses to prevent improper access to systems by unauthorized insiders and outsiders.</a:t>
            </a:r>
          </a:p>
          <a:p>
            <a:r>
              <a:rPr lang="en-US" dirty="0"/>
              <a:t> </a:t>
            </a:r>
            <a:r>
              <a:rPr lang="en-US" b="1" dirty="0"/>
              <a:t>Authentication </a:t>
            </a:r>
            <a:r>
              <a:rPr lang="en-US" dirty="0"/>
              <a:t>refers to the ability to know that a person is who he or she claims to be. Access control software is designed to allow only authorized persons to use systems or to access data using some method for authentication. </a:t>
            </a:r>
            <a:r>
              <a:rPr lang="en-US" dirty="0">
                <a:solidFill>
                  <a:srgbClr val="FF0000"/>
                </a:solidFill>
              </a:rPr>
              <a:t>New authentication technologies include:</a:t>
            </a:r>
          </a:p>
          <a:p>
            <a:r>
              <a:rPr lang="en-US" dirty="0"/>
              <a:t> </a:t>
            </a:r>
          </a:p>
          <a:p>
            <a:pPr lvl="0"/>
            <a:r>
              <a:rPr lang="en-US" b="1" dirty="0"/>
              <a:t>Token</a:t>
            </a:r>
            <a:r>
              <a:rPr lang="en-US" dirty="0"/>
              <a:t>: A physical device similar to an identification card that is designed to prove the identity of a single user.</a:t>
            </a:r>
          </a:p>
          <a:p>
            <a:r>
              <a:rPr lang="en-US" dirty="0"/>
              <a:t> </a:t>
            </a:r>
          </a:p>
          <a:p>
            <a:pPr lvl="0"/>
            <a:r>
              <a:rPr lang="en-US" b="1" dirty="0"/>
              <a:t>Smart card</a:t>
            </a:r>
            <a:r>
              <a:rPr lang="en-US" dirty="0"/>
              <a:t>: A device about the size of a credit card that contains a chip formatted with access permission and other data.</a:t>
            </a:r>
          </a:p>
          <a:p>
            <a:pPr lvl="0"/>
            <a:br>
              <a:rPr lang="en-US" dirty="0"/>
            </a:br>
            <a:r>
              <a:rPr lang="en-US" b="1" dirty="0"/>
              <a:t>Biometric authentication</a:t>
            </a:r>
            <a:r>
              <a:rPr lang="en-US" dirty="0"/>
              <a:t>: Compares a person's unique characteristics, such as fingerprints, face, or retinal image, against a stored set profile.</a:t>
            </a:r>
          </a:p>
          <a:p>
            <a:r>
              <a:rPr lang="en-US" dirty="0"/>
              <a:t> </a:t>
            </a:r>
          </a:p>
          <a:p>
            <a:r>
              <a:rPr lang="en-US" b="1" dirty="0"/>
              <a:t>A </a:t>
            </a:r>
            <a:r>
              <a:rPr lang="en-US" b="1" dirty="0">
                <a:solidFill>
                  <a:srgbClr val="FF0000"/>
                </a:solidFill>
              </a:rPr>
              <a:t>firewall</a:t>
            </a:r>
            <a:r>
              <a:rPr lang="en-US" b="1" dirty="0"/>
              <a:t> is a combination of hardware and software that controls the flow of incoming and outgoing network traffic and prevents unauthorized communication into and out of the network. </a:t>
            </a:r>
            <a:r>
              <a:rPr lang="en-US" dirty="0"/>
              <a:t>The firewall identifies names, Internet Protocol (IP) addresses, applications, and other characteristics of incoming traffic. It checks this information against the access rules programmed into the system by the network administrator. </a:t>
            </a:r>
            <a:r>
              <a:rPr lang="en-US" dirty="0">
                <a:solidFill>
                  <a:srgbClr val="FF0000"/>
                </a:solidFill>
              </a:rPr>
              <a:t>There are a number of firewall screening technologies:</a:t>
            </a:r>
          </a:p>
          <a:p>
            <a:endParaRPr lang="en-US" dirty="0"/>
          </a:p>
        </p:txBody>
      </p:sp>
    </p:spTree>
    <p:extLst>
      <p:ext uri="{BB962C8B-B14F-4D97-AF65-F5344CB8AC3E}">
        <p14:creationId xmlns:p14="http://schemas.microsoft.com/office/powerpoint/2010/main" val="3214752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lvl="0"/>
            <a:r>
              <a:rPr lang="en-US" b="1" dirty="0"/>
              <a:t>Packet filtering </a:t>
            </a:r>
            <a:r>
              <a:rPr lang="en-US" dirty="0"/>
              <a:t>examines fields in the headers of data packets flowing between the network and the Internet, examining individual packets in isolation.</a:t>
            </a:r>
          </a:p>
          <a:p>
            <a:r>
              <a:rPr lang="en-US" dirty="0"/>
              <a:t> </a:t>
            </a:r>
          </a:p>
          <a:p>
            <a:pPr lvl="0"/>
            <a:r>
              <a:rPr lang="en-US" b="1" dirty="0" err="1"/>
              <a:t>Stateful</a:t>
            </a:r>
            <a:r>
              <a:rPr lang="en-US" b="1" dirty="0"/>
              <a:t> inspection </a:t>
            </a:r>
            <a:r>
              <a:rPr lang="en-US" dirty="0"/>
              <a:t>determines whether packets are part of an ongoing dialogue between a sender and a receiver.</a:t>
            </a:r>
          </a:p>
          <a:p>
            <a:r>
              <a:rPr lang="en-US" dirty="0"/>
              <a:t> </a:t>
            </a:r>
          </a:p>
          <a:p>
            <a:pPr lvl="0"/>
            <a:r>
              <a:rPr lang="en-US" b="1" dirty="0"/>
              <a:t>Network Address Translation (NAT) </a:t>
            </a:r>
            <a:r>
              <a:rPr lang="en-US" dirty="0"/>
              <a:t>conceals the IP addresses of the organization's internal host computer(s) to protect against sniffer programs outside the firewall.</a:t>
            </a:r>
          </a:p>
          <a:p>
            <a:r>
              <a:rPr lang="en-US" dirty="0"/>
              <a:t> </a:t>
            </a:r>
          </a:p>
          <a:p>
            <a:pPr lvl="0"/>
            <a:r>
              <a:rPr lang="en-US" b="1" dirty="0"/>
              <a:t>Application proxy filtering </a:t>
            </a:r>
            <a:r>
              <a:rPr lang="en-US" dirty="0"/>
              <a:t>examines the application content of packets. A proxy server stops data packets originating outside the organization, inspects them, and passes a proxy to the other side of the firewall. If a user outside the company wants to communicate with a user inside the organization, the outside user first "talks" to the proxy application and the proxy application communicates with the firm's internal computer.</a:t>
            </a:r>
          </a:p>
          <a:p>
            <a:endParaRPr lang="en-US" dirty="0"/>
          </a:p>
        </p:txBody>
      </p:sp>
    </p:spTree>
    <p:extLst>
      <p:ext uri="{BB962C8B-B14F-4D97-AF65-F5344CB8AC3E}">
        <p14:creationId xmlns:p14="http://schemas.microsoft.com/office/powerpoint/2010/main" val="3578546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br>
              <a:rPr lang="en-US" sz="2400" b="1" dirty="0"/>
            </a:br>
            <a:br>
              <a:rPr lang="en-US" sz="2400" b="1" dirty="0"/>
            </a:br>
            <a:br>
              <a:rPr lang="en-US" sz="2400" b="1" dirty="0"/>
            </a:br>
            <a:r>
              <a:rPr lang="en-US" sz="2400" b="1" dirty="0"/>
              <a:t>FIGURE	8-6	A	CORPORATE	FIREWALL</a:t>
            </a:r>
            <a:br>
              <a:rPr lang="en-US" sz="2400" b="1" dirty="0"/>
            </a:br>
            <a:r>
              <a:rPr lang="en-US" sz="2400" dirty="0"/>
              <a:t>The firewall is placed between the firm’s private network and the public Internet or another distrusted network to protect against unauthorized traffic.</a:t>
            </a:r>
            <a:br>
              <a:rPr lang="en-US" sz="2400" dirty="0"/>
            </a:br>
            <a:br>
              <a:rPr lang="en-US" sz="3200" b="1" dirty="0"/>
            </a:br>
            <a:endParaRPr lang="en-US" sz="3200" dirty="0"/>
          </a:p>
        </p:txBody>
      </p:sp>
      <p:pic>
        <p:nvPicPr>
          <p:cNvPr id="4" name="image50.jpeg" descr="C:\Users\jreuben\Dropbox\pic5.PNG"/>
          <p:cNvPicPr>
            <a:picLocks noGrp="1"/>
          </p:cNvPicPr>
          <p:nvPr>
            <p:ph idx="1"/>
          </p:nvPr>
        </p:nvPicPr>
        <p:blipFill>
          <a:blip r:embed="rId2" cstate="print"/>
          <a:stretch>
            <a:fillRect/>
          </a:stretch>
        </p:blipFill>
        <p:spPr>
          <a:xfrm>
            <a:off x="762001" y="1782762"/>
            <a:ext cx="7619998" cy="4160838"/>
          </a:xfrm>
          <a:prstGeom prst="rect">
            <a:avLst/>
          </a:prstGeom>
        </p:spPr>
      </p:pic>
    </p:spTree>
    <p:extLst>
      <p:ext uri="{BB962C8B-B14F-4D97-AF65-F5344CB8AC3E}">
        <p14:creationId xmlns:p14="http://schemas.microsoft.com/office/powerpoint/2010/main" val="3286995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7086600"/>
          </a:xfrm>
        </p:spPr>
        <p:txBody>
          <a:bodyPr>
            <a:normAutofit fontScale="55000" lnSpcReduction="20000"/>
          </a:bodyPr>
          <a:lstStyle/>
          <a:p>
            <a:r>
              <a:rPr lang="en-US" b="1" u="heavy" dirty="0"/>
              <a:t>Intrusion detection systems</a:t>
            </a:r>
            <a:r>
              <a:rPr lang="en-US" b="1" dirty="0"/>
              <a:t> </a:t>
            </a:r>
            <a:r>
              <a:rPr lang="en-US" dirty="0"/>
              <a:t>feature full-time monitoring tools placed at the most vulnerable points of corporate networks to detect and deter intruders continually. Scanning software looks for patterns indicative of known methods of computer attacks, such as bad passwords, checks to see if important files have been removed or modified, and sends warnings of vandalism or system administration errors.</a:t>
            </a:r>
          </a:p>
          <a:p>
            <a:r>
              <a:rPr lang="en-US" dirty="0"/>
              <a:t> </a:t>
            </a:r>
          </a:p>
          <a:p>
            <a:r>
              <a:rPr lang="en-US" b="1" u="heavy" dirty="0"/>
              <a:t>Antivirus software</a:t>
            </a:r>
            <a:r>
              <a:rPr lang="en-US" b="1" dirty="0"/>
              <a:t> </a:t>
            </a:r>
            <a:r>
              <a:rPr lang="en-US" dirty="0"/>
              <a:t>is designed to check computer systems and drives for the presence of computer viruses. However, to remain effective, the antivirus software must be continually updated.</a:t>
            </a:r>
          </a:p>
          <a:p>
            <a:r>
              <a:rPr lang="en-US" dirty="0"/>
              <a:t> Vendors of Wi-Fi equipment have developed stronger security standards. The Wi-Fi Alliance industry trade group's 802.11i specification tightens security for wireless LAN products.</a:t>
            </a:r>
          </a:p>
          <a:p>
            <a:r>
              <a:rPr lang="en-US" dirty="0"/>
              <a:t> </a:t>
            </a:r>
          </a:p>
          <a:p>
            <a:r>
              <a:rPr lang="en-US" dirty="0"/>
              <a:t>Many organizations use encryption to protect sensitive information transmitted over networks. </a:t>
            </a:r>
            <a:r>
              <a:rPr lang="en-US" b="1" u="heavy" dirty="0"/>
              <a:t>Encryption</a:t>
            </a:r>
            <a:r>
              <a:rPr lang="en-US" b="1" dirty="0"/>
              <a:t> </a:t>
            </a:r>
            <a:r>
              <a:rPr lang="en-US" dirty="0"/>
              <a:t>is the coding and scrambling of messages to prevent their access by unauthorized individuals.</a:t>
            </a:r>
          </a:p>
          <a:p>
            <a:r>
              <a:rPr lang="en-US" dirty="0"/>
              <a:t> </a:t>
            </a:r>
          </a:p>
          <a:p>
            <a:r>
              <a:rPr lang="en-US" dirty="0"/>
              <a:t>Two methods for encrypting network traffic on the Web are:</a:t>
            </a:r>
          </a:p>
          <a:p>
            <a:r>
              <a:rPr lang="en-US" dirty="0"/>
              <a:t> </a:t>
            </a:r>
          </a:p>
          <a:p>
            <a:pPr lvl="0"/>
            <a:r>
              <a:rPr lang="en-US" b="1" u="heavy" dirty="0"/>
              <a:t>Secure Sockets Layer (SSL)</a:t>
            </a:r>
            <a:r>
              <a:rPr lang="en-US" dirty="0"/>
              <a:t>: SSL and its successor </a:t>
            </a:r>
            <a:r>
              <a:rPr lang="en-US" b="1" u="heavy" dirty="0"/>
              <a:t>Transport Layer Security</a:t>
            </a:r>
            <a:r>
              <a:rPr lang="en-US" b="1" dirty="0"/>
              <a:t> </a:t>
            </a:r>
            <a:r>
              <a:rPr lang="en-US" b="1" u="heavy" dirty="0"/>
              <a:t>(TLS)</a:t>
            </a:r>
            <a:r>
              <a:rPr lang="en-US" b="1" dirty="0"/>
              <a:t> </a:t>
            </a:r>
            <a:r>
              <a:rPr lang="en-US" dirty="0"/>
              <a:t>enable client and server computers to establish a secure connection session and manage encryption and decryption activities.</a:t>
            </a:r>
          </a:p>
          <a:p>
            <a:r>
              <a:rPr lang="en-US" dirty="0"/>
              <a:t> </a:t>
            </a:r>
          </a:p>
          <a:p>
            <a:pPr lvl="0"/>
            <a:r>
              <a:rPr lang="en-US" b="1" u="heavy" dirty="0"/>
              <a:t>Secure Hypertext Transfer Protocol (S-HTTP)</a:t>
            </a:r>
            <a:r>
              <a:rPr lang="en-US" b="1" dirty="0"/>
              <a:t> </a:t>
            </a:r>
            <a:r>
              <a:rPr lang="en-US" dirty="0"/>
              <a:t>is another protocol used for encrypting data flowing over the Internet, but it is limited to individual messages.</a:t>
            </a:r>
          </a:p>
          <a:p>
            <a:r>
              <a:rPr lang="en-US" dirty="0"/>
              <a:t> </a:t>
            </a:r>
          </a:p>
        </p:txBody>
      </p:sp>
    </p:spTree>
    <p:extLst>
      <p:ext uri="{BB962C8B-B14F-4D97-AF65-F5344CB8AC3E}">
        <p14:creationId xmlns:p14="http://schemas.microsoft.com/office/powerpoint/2010/main" val="3998962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sz="2800" b="1" dirty="0"/>
            </a:br>
            <a:r>
              <a:rPr lang="en-US" sz="2800" b="1" dirty="0"/>
              <a:t>Data is encrypted </a:t>
            </a:r>
            <a:r>
              <a:rPr lang="en-US" sz="2800" dirty="0"/>
              <a:t>by applying a secret numerical code, called an encryption key, so that the data are transmitted as a scrambled set of characters. To be read, the message must be decrypted (unscrambled) with a matching key. </a:t>
            </a:r>
            <a:br>
              <a:rPr lang="en-US" sz="2800" dirty="0"/>
            </a:br>
            <a:endParaRPr lang="en-US" sz="2800" dirty="0"/>
          </a:p>
        </p:txBody>
      </p:sp>
      <p:sp>
        <p:nvSpPr>
          <p:cNvPr id="3" name="Content Placeholder 2"/>
          <p:cNvSpPr>
            <a:spLocks noGrp="1"/>
          </p:cNvSpPr>
          <p:nvPr>
            <p:ph idx="1"/>
          </p:nvPr>
        </p:nvSpPr>
        <p:spPr/>
        <p:txBody>
          <a:bodyPr>
            <a:normAutofit/>
          </a:bodyPr>
          <a:lstStyle/>
          <a:p>
            <a:r>
              <a:rPr lang="en-US" b="1" dirty="0"/>
              <a:t>FIGURE	8-7	PUBLIC	KEY	ENCRYPTION</a:t>
            </a:r>
          </a:p>
          <a:p>
            <a:endParaRPr lang="en-US" dirty="0"/>
          </a:p>
        </p:txBody>
      </p:sp>
      <p:pic>
        <p:nvPicPr>
          <p:cNvPr id="4" name="image51.jpeg" descr="C:\Users\jreuben\Dropbox\pic6.PNG"/>
          <p:cNvPicPr/>
          <p:nvPr/>
        </p:nvPicPr>
        <p:blipFill>
          <a:blip r:embed="rId2" cstate="print"/>
          <a:stretch>
            <a:fillRect/>
          </a:stretch>
        </p:blipFill>
        <p:spPr>
          <a:xfrm>
            <a:off x="637310" y="3429000"/>
            <a:ext cx="7924798" cy="2286000"/>
          </a:xfrm>
          <a:prstGeom prst="rect">
            <a:avLst/>
          </a:prstGeom>
        </p:spPr>
      </p:pic>
    </p:spTree>
    <p:extLst>
      <p:ext uri="{BB962C8B-B14F-4D97-AF65-F5344CB8AC3E}">
        <p14:creationId xmlns:p14="http://schemas.microsoft.com/office/powerpoint/2010/main" val="384732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a:t>A public key encryption system </a:t>
            </a:r>
            <a:r>
              <a:rPr lang="en-US" dirty="0"/>
              <a:t>can be viewed as a series of public and private keys that lock data when they are transmitted and unlock the data when they are received. </a:t>
            </a:r>
          </a:p>
          <a:p>
            <a:r>
              <a:rPr lang="en-US" dirty="0"/>
              <a:t>The sender locates the recipient’s public key in a directory and uses it to encrypt a message. The message is sent in encrypted form over the Internet or a private network. </a:t>
            </a:r>
          </a:p>
          <a:p>
            <a:r>
              <a:rPr lang="en-US" dirty="0"/>
              <a:t>When the encrypted message arrives, the recipient uses his or her private key to decrypt the data and read the message.</a:t>
            </a:r>
          </a:p>
          <a:p>
            <a:endParaRPr lang="en-US" dirty="0"/>
          </a:p>
        </p:txBody>
      </p:sp>
    </p:spTree>
    <p:extLst>
      <p:ext uri="{BB962C8B-B14F-4D97-AF65-F5344CB8AC3E}">
        <p14:creationId xmlns:p14="http://schemas.microsoft.com/office/powerpoint/2010/main" val="1668115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27649</TotalTime>
  <Words>3226</Words>
  <Application>Microsoft Office PowerPoint</Application>
  <PresentationFormat>On-screen Show (4:3)</PresentationFormat>
  <Paragraphs>135</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Securing Information Systems </vt:lpstr>
      <vt:lpstr>FIGURE 8-1 CONTEMPORARY SECURITY CHALLENGES AND VULNERABILITIES </vt:lpstr>
      <vt:lpstr>PowerPoint Presentation</vt:lpstr>
      <vt:lpstr>PowerPoint Presentation</vt:lpstr>
      <vt:lpstr>     FIGURE 8-2 WI-FI SECURITY CHALLENGES Many Wi-Fi networks can be penetrated easily by intruders using sniffer programs to obtain an address to access the resources of a network without authorization.  </vt:lpstr>
      <vt:lpstr>Malicious software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FIGURE    8-4     SECURITY     PROFILES     FOR     A     PERSONNEL     SYSTEM These two examples represent two security profiles or data security patterns that might be found in a personnel system. Depending on the security profile, a user would have certain restrictions on access to various systems, locations, or data in an organization.  </vt:lpstr>
      <vt:lpstr>PowerPoint Presentation</vt:lpstr>
      <vt:lpstr>PowerPoint Presentation</vt:lpstr>
      <vt:lpstr>   Technologies and Tools for Security and Control   Various tools and technologies used to help protect against or monitor intrusion include authentication tools, firewalls, intrusion detection systems, and antivirus and encryption software. </vt:lpstr>
      <vt:lpstr>PowerPoint Presentation</vt:lpstr>
      <vt:lpstr>PowerPoint Presentation</vt:lpstr>
      <vt:lpstr>   FIGURE 8-6 A CORPORATE FIREWALL The firewall is placed between the firm’s private network and the public Internet or another distrusted network to protect against unauthorized traffic.  </vt:lpstr>
      <vt:lpstr>PowerPoint Presentation</vt:lpstr>
      <vt:lpstr> Data is encrypted by applying a secret numerical code, called an encryption key, so that the data are transmitted as a scrambled set of characters. To be read, the message must be decrypted (unscrambled) with a matching key.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 Information Systems</dc:title>
  <dc:creator>Comp1</dc:creator>
  <cp:lastModifiedBy>USER</cp:lastModifiedBy>
  <cp:revision>45</cp:revision>
  <dcterms:created xsi:type="dcterms:W3CDTF">2021-11-26T05:08:06Z</dcterms:created>
  <dcterms:modified xsi:type="dcterms:W3CDTF">2025-10-21T05:20:29Z</dcterms:modified>
</cp:coreProperties>
</file>