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3" r:id="rId2"/>
    <p:sldId id="284" r:id="rId3"/>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96" d="100"/>
          <a:sy n="96" d="100"/>
        </p:scale>
        <p:origin x="978" y="5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DB29C05-EAF4-4C2A-8373-6A5808594381}" type="datetimeFigureOut">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4E510F-EC7B-42D6-8068-B910398528E2}" type="slidenum">
              <a:rPr lang="en-US" smtClean="0"/>
              <a:t>‹#›</a:t>
            </a:fld>
            <a:endParaRPr lang="en-US"/>
          </a:p>
        </p:txBody>
      </p:sp>
    </p:spTree>
    <p:extLst>
      <p:ext uri="{BB962C8B-B14F-4D97-AF65-F5344CB8AC3E}">
        <p14:creationId xmlns:p14="http://schemas.microsoft.com/office/powerpoint/2010/main" val="2122370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B29C05-EAF4-4C2A-8373-6A5808594381}" type="datetimeFigureOut">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4E510F-EC7B-42D6-8068-B910398528E2}" type="slidenum">
              <a:rPr lang="en-US" smtClean="0"/>
              <a:t>‹#›</a:t>
            </a:fld>
            <a:endParaRPr lang="en-US"/>
          </a:p>
        </p:txBody>
      </p:sp>
    </p:spTree>
    <p:extLst>
      <p:ext uri="{BB962C8B-B14F-4D97-AF65-F5344CB8AC3E}">
        <p14:creationId xmlns:p14="http://schemas.microsoft.com/office/powerpoint/2010/main" val="1170157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B29C05-EAF4-4C2A-8373-6A5808594381}" type="datetimeFigureOut">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4E510F-EC7B-42D6-8068-B910398528E2}" type="slidenum">
              <a:rPr lang="en-US" smtClean="0"/>
              <a:t>‹#›</a:t>
            </a:fld>
            <a:endParaRPr lang="en-US"/>
          </a:p>
        </p:txBody>
      </p:sp>
    </p:spTree>
    <p:extLst>
      <p:ext uri="{BB962C8B-B14F-4D97-AF65-F5344CB8AC3E}">
        <p14:creationId xmlns:p14="http://schemas.microsoft.com/office/powerpoint/2010/main" val="876193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DB29C05-EAF4-4C2A-8373-6A5808594381}" type="datetimeFigureOut">
              <a:rPr lang="en-US" smtClean="0"/>
              <a:t>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4E510F-EC7B-42D6-8068-B910398528E2}" type="slidenum">
              <a:rPr lang="en-US" smtClean="0"/>
              <a:t>‹#›</a:t>
            </a:fld>
            <a:endParaRPr lang="en-US"/>
          </a:p>
        </p:txBody>
      </p:sp>
    </p:spTree>
    <p:extLst>
      <p:ext uri="{BB962C8B-B14F-4D97-AF65-F5344CB8AC3E}">
        <p14:creationId xmlns:p14="http://schemas.microsoft.com/office/powerpoint/2010/main" val="99400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DB29C05-EAF4-4C2A-8373-6A5808594381}" type="datetimeFigureOut">
              <a:rPr lang="en-US" smtClean="0"/>
              <a:t>9/10/2025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64E510F-EC7B-42D6-8068-B910398528E2}" type="slidenum">
              <a:rPr lang="en-US" smtClean="0"/>
              <a:t>‹#›</a:t>
            </a:fld>
            <a:endParaRPr lang="en-US"/>
          </a:p>
        </p:txBody>
      </p:sp>
    </p:spTree>
    <p:extLst>
      <p:ext uri="{BB962C8B-B14F-4D97-AF65-F5344CB8AC3E}">
        <p14:creationId xmlns:p14="http://schemas.microsoft.com/office/powerpoint/2010/main" val="2262220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DB29C05-EAF4-4C2A-8373-6A5808594381}" type="datetimeFigureOut">
              <a:rPr lang="en-US" smtClean="0"/>
              <a:t>9/10/2025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64E510F-EC7B-42D6-8068-B910398528E2}" type="slidenum">
              <a:rPr lang="en-US" smtClean="0"/>
              <a:t>‹#›</a:t>
            </a:fld>
            <a:endParaRPr lang="en-US"/>
          </a:p>
        </p:txBody>
      </p:sp>
    </p:spTree>
    <p:extLst>
      <p:ext uri="{BB962C8B-B14F-4D97-AF65-F5344CB8AC3E}">
        <p14:creationId xmlns:p14="http://schemas.microsoft.com/office/powerpoint/2010/main" val="1570188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B29C05-EAF4-4C2A-8373-6A5808594381}" type="datetimeFigureOut">
              <a:rPr lang="en-US" smtClean="0"/>
              <a:t>9/10/2025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64E510F-EC7B-42D6-8068-B910398528E2}" type="slidenum">
              <a:rPr lang="en-US" smtClean="0"/>
              <a:t>‹#›</a:t>
            </a:fld>
            <a:endParaRPr lang="en-US"/>
          </a:p>
        </p:txBody>
      </p:sp>
    </p:spTree>
    <p:extLst>
      <p:ext uri="{BB962C8B-B14F-4D97-AF65-F5344CB8AC3E}">
        <p14:creationId xmlns:p14="http://schemas.microsoft.com/office/powerpoint/2010/main" val="1521002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B29C05-EAF4-4C2A-8373-6A5808594381}" type="datetimeFigureOut">
              <a:rPr lang="en-US" smtClean="0"/>
              <a:t>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4E510F-EC7B-42D6-8068-B910398528E2}" type="slidenum">
              <a:rPr lang="en-US" smtClean="0"/>
              <a:t>‹#›</a:t>
            </a:fld>
            <a:endParaRPr lang="en-US"/>
          </a:p>
        </p:txBody>
      </p:sp>
    </p:spTree>
    <p:extLst>
      <p:ext uri="{BB962C8B-B14F-4D97-AF65-F5344CB8AC3E}">
        <p14:creationId xmlns:p14="http://schemas.microsoft.com/office/powerpoint/2010/main" val="3433882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B29C05-EAF4-4C2A-8373-6A5808594381}" type="datetimeFigureOut">
              <a:rPr lang="en-US" smtClean="0"/>
              <a:t>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4E510F-EC7B-42D6-8068-B910398528E2}" type="slidenum">
              <a:rPr lang="en-US" smtClean="0"/>
              <a:t>‹#›</a:t>
            </a:fld>
            <a:endParaRPr lang="en-US"/>
          </a:p>
        </p:txBody>
      </p:sp>
    </p:spTree>
    <p:extLst>
      <p:ext uri="{BB962C8B-B14F-4D97-AF65-F5344CB8AC3E}">
        <p14:creationId xmlns:p14="http://schemas.microsoft.com/office/powerpoint/2010/main" val="1339137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B29C05-EAF4-4C2A-8373-6A5808594381}" type="datetimeFigureOut">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4E510F-EC7B-42D6-8068-B910398528E2}" type="slidenum">
              <a:rPr lang="en-US" smtClean="0"/>
              <a:t>‹#›</a:t>
            </a:fld>
            <a:endParaRPr lang="en-US"/>
          </a:p>
        </p:txBody>
      </p:sp>
    </p:spTree>
    <p:extLst>
      <p:ext uri="{BB962C8B-B14F-4D97-AF65-F5344CB8AC3E}">
        <p14:creationId xmlns:p14="http://schemas.microsoft.com/office/powerpoint/2010/main" val="1289442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B29C05-EAF4-4C2A-8373-6A5808594381}" type="datetimeFigureOut">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4E510F-EC7B-42D6-8068-B910398528E2}" type="slidenum">
              <a:rPr lang="en-US" smtClean="0"/>
              <a:t>‹#›</a:t>
            </a:fld>
            <a:endParaRPr lang="en-US"/>
          </a:p>
        </p:txBody>
      </p:sp>
    </p:spTree>
    <p:extLst>
      <p:ext uri="{BB962C8B-B14F-4D97-AF65-F5344CB8AC3E}">
        <p14:creationId xmlns:p14="http://schemas.microsoft.com/office/powerpoint/2010/main" val="14979296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B29C05-EAF4-4C2A-8373-6A5808594381}" type="datetimeFigureOut">
              <a:rPr lang="en-US" smtClean="0"/>
              <a:t>9/10/2025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4E510F-EC7B-42D6-8068-B910398528E2}" type="slidenum">
              <a:rPr lang="en-US" smtClean="0"/>
              <a:t>‹#›</a:t>
            </a:fld>
            <a:endParaRPr lang="en-US"/>
          </a:p>
        </p:txBody>
      </p:sp>
    </p:spTree>
    <p:extLst>
      <p:ext uri="{BB962C8B-B14F-4D97-AF65-F5344CB8AC3E}">
        <p14:creationId xmlns:p14="http://schemas.microsoft.com/office/powerpoint/2010/main" val="1067224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F44D6-374D-A876-4852-04E1B81028A4}"/>
              </a:ext>
            </a:extLst>
          </p:cNvPr>
          <p:cNvSpPr>
            <a:spLocks noGrp="1"/>
          </p:cNvSpPr>
          <p:nvPr>
            <p:ph type="ctrTitle"/>
          </p:nvPr>
        </p:nvSpPr>
        <p:spPr>
          <a:xfrm>
            <a:off x="609600" y="533400"/>
            <a:ext cx="7772400" cy="3527425"/>
          </a:xfrm>
        </p:spPr>
        <p:txBody>
          <a:bodyPr>
            <a:normAutofit fontScale="90000"/>
          </a:bodyPr>
          <a:lstStyle/>
          <a:p>
            <a:pPr algn="l"/>
            <a:r>
              <a:rPr lang="en-US" b="1" dirty="0"/>
              <a:t>Revision Activity 1: </a:t>
            </a:r>
            <a:br>
              <a:rPr lang="en-US" b="1" dirty="0"/>
            </a:br>
            <a:r>
              <a:rPr lang="en-US" b="1" dirty="0"/>
              <a:t>For each department: </a:t>
            </a:r>
            <a:r>
              <a:rPr lang="en-US" dirty="0"/>
              <a:t>HR, Finance, Marketing, Operations.</a:t>
            </a:r>
            <a:br>
              <a:rPr lang="en-US" dirty="0"/>
            </a:br>
            <a:r>
              <a:rPr lang="en-US" dirty="0"/>
              <a:t> Discuss IS support. Output: Poster or short slide.</a:t>
            </a:r>
            <a:br>
              <a:rPr lang="en-US" dirty="0"/>
            </a:br>
            <a:endParaRPr lang="en-US" dirty="0"/>
          </a:p>
        </p:txBody>
      </p:sp>
    </p:spTree>
    <p:extLst>
      <p:ext uri="{BB962C8B-B14F-4D97-AF65-F5344CB8AC3E}">
        <p14:creationId xmlns:p14="http://schemas.microsoft.com/office/powerpoint/2010/main" val="3536489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A06D0-A96F-50CF-A0D5-FC280E473FFF}"/>
              </a:ext>
            </a:extLst>
          </p:cNvPr>
          <p:cNvSpPr>
            <a:spLocks noGrp="1"/>
          </p:cNvSpPr>
          <p:nvPr>
            <p:ph type="title"/>
          </p:nvPr>
        </p:nvSpPr>
        <p:spPr/>
        <p:txBody>
          <a:bodyPr/>
          <a:lstStyle/>
          <a:p>
            <a:pPr algn="l"/>
            <a:r>
              <a:rPr lang="en-US" b="1" dirty="0"/>
              <a:t>Revision Activity 2:</a:t>
            </a:r>
            <a:endParaRPr lang="en-US" dirty="0"/>
          </a:p>
        </p:txBody>
      </p:sp>
      <p:sp>
        <p:nvSpPr>
          <p:cNvPr id="3" name="Content Placeholder 2">
            <a:extLst>
              <a:ext uri="{FF2B5EF4-FFF2-40B4-BE49-F238E27FC236}">
                <a16:creationId xmlns:a16="http://schemas.microsoft.com/office/drawing/2014/main" id="{4CD6555C-9E31-D1D5-03DA-ECDFF9AB90DE}"/>
              </a:ext>
            </a:extLst>
          </p:cNvPr>
          <p:cNvSpPr>
            <a:spLocks noGrp="1"/>
          </p:cNvSpPr>
          <p:nvPr>
            <p:ph idx="1"/>
          </p:nvPr>
        </p:nvSpPr>
        <p:spPr/>
        <p:txBody>
          <a:bodyPr>
            <a:normAutofit/>
          </a:bodyPr>
          <a:lstStyle/>
          <a:p>
            <a:r>
              <a:rPr lang="en-US" b="1" dirty="0"/>
              <a:t>Case Summary:</a:t>
            </a:r>
            <a:br>
              <a:rPr lang="en-US" dirty="0"/>
            </a:br>
            <a:r>
              <a:rPr lang="en-US" dirty="0"/>
              <a:t>Kenya Revenue Authority moved from manual tax to digital </a:t>
            </a:r>
            <a:r>
              <a:rPr lang="en-US" dirty="0" err="1"/>
              <a:t>iTax</a:t>
            </a:r>
            <a:r>
              <a:rPr lang="en-US" dirty="0"/>
              <a:t> platform.</a:t>
            </a:r>
            <a:br>
              <a:rPr lang="en-US" dirty="0"/>
            </a:br>
            <a:r>
              <a:rPr lang="en-US" b="1" dirty="0"/>
              <a:t>Discussion Questions:</a:t>
            </a:r>
          </a:p>
          <a:p>
            <a:r>
              <a:rPr lang="en-US" dirty="0"/>
              <a:t>- What challenges do you think KRA faced in moving from manual to digital?</a:t>
            </a:r>
          </a:p>
          <a:p>
            <a:r>
              <a:rPr lang="en-US" dirty="0"/>
              <a:t>- How did MIS improve revenue collection?</a:t>
            </a:r>
          </a:p>
          <a:p>
            <a:endParaRPr lang="en-US" dirty="0"/>
          </a:p>
        </p:txBody>
      </p:sp>
    </p:spTree>
    <p:extLst>
      <p:ext uri="{BB962C8B-B14F-4D97-AF65-F5344CB8AC3E}">
        <p14:creationId xmlns:p14="http://schemas.microsoft.com/office/powerpoint/2010/main" val="2631463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4801"/>
            <a:ext cx="8458200" cy="457200"/>
          </a:xfrm>
        </p:spPr>
        <p:txBody>
          <a:bodyPr>
            <a:normAutofit fontScale="90000"/>
          </a:bodyPr>
          <a:lstStyle/>
          <a:p>
            <a:r>
              <a:rPr lang="en-US" sz="3600" b="1" u="heavy" dirty="0"/>
              <a:t>Business Processes and Information Systems</a:t>
            </a:r>
            <a:br>
              <a:rPr lang="en-US" dirty="0"/>
            </a:br>
            <a:endParaRPr lang="en-US" dirty="0"/>
          </a:p>
        </p:txBody>
      </p:sp>
      <p:sp>
        <p:nvSpPr>
          <p:cNvPr id="3" name="Subtitle 2"/>
          <p:cNvSpPr>
            <a:spLocks noGrp="1"/>
          </p:cNvSpPr>
          <p:nvPr>
            <p:ph type="subTitle" idx="1"/>
          </p:nvPr>
        </p:nvSpPr>
        <p:spPr>
          <a:xfrm>
            <a:off x="228600" y="457200"/>
            <a:ext cx="8610600" cy="6400800"/>
          </a:xfrm>
        </p:spPr>
        <p:txBody>
          <a:bodyPr>
            <a:normAutofit/>
          </a:bodyPr>
          <a:lstStyle/>
          <a:p>
            <a:pPr algn="l"/>
            <a:r>
              <a:rPr lang="en-US" sz="2600" b="1" dirty="0">
                <a:solidFill>
                  <a:schemeClr val="tx1"/>
                </a:solidFill>
              </a:rPr>
              <a:t>Business processes </a:t>
            </a:r>
            <a:r>
              <a:rPr lang="en-US" sz="2600" dirty="0">
                <a:solidFill>
                  <a:schemeClr val="tx1"/>
                </a:solidFill>
              </a:rPr>
              <a:t>refer to the manner in which work is organized, coordinated, and focused to produce a valuable product or service. </a:t>
            </a:r>
          </a:p>
          <a:p>
            <a:pPr algn="l"/>
            <a:r>
              <a:rPr lang="en-US" sz="2600" b="1" dirty="0">
                <a:solidFill>
                  <a:srgbClr val="FF0000"/>
                </a:solidFill>
              </a:rPr>
              <a:t>Business processes </a:t>
            </a:r>
            <a:r>
              <a:rPr lang="en-US" sz="2600" dirty="0">
                <a:solidFill>
                  <a:srgbClr val="FF0000"/>
                </a:solidFill>
              </a:rPr>
              <a:t>also refer to the unique ways in which organizations coordinate work, information, and knowledge, and the ways in which management chooses to coordinate work. </a:t>
            </a:r>
          </a:p>
          <a:p>
            <a:pPr algn="l"/>
            <a:r>
              <a:rPr lang="en-US" sz="2600" dirty="0">
                <a:solidFill>
                  <a:schemeClr val="tx1"/>
                </a:solidFill>
              </a:rPr>
              <a:t>Every business can be seen as a collection of business processes.</a:t>
            </a:r>
          </a:p>
          <a:p>
            <a:pPr algn="l"/>
            <a:r>
              <a:rPr lang="en-US" sz="2600" dirty="0">
                <a:solidFill>
                  <a:srgbClr val="FF0000"/>
                </a:solidFill>
              </a:rPr>
              <a:t>To a large extent, the performance of a business firm depends on how well its business processes are designed and coordinated. </a:t>
            </a:r>
          </a:p>
          <a:p>
            <a:pPr algn="l"/>
            <a:r>
              <a:rPr lang="en-US" sz="2600" dirty="0">
                <a:solidFill>
                  <a:schemeClr val="tx1"/>
                </a:solidFill>
              </a:rPr>
              <a:t>Many business processes are tied to a specific functional area, such as sales and marketing, while others cross many different functional areas and require coordination across departments.</a:t>
            </a:r>
          </a:p>
          <a:p>
            <a:endParaRPr lang="en-US" dirty="0"/>
          </a:p>
        </p:txBody>
      </p:sp>
    </p:spTree>
    <p:extLst>
      <p:ext uri="{BB962C8B-B14F-4D97-AF65-F5344CB8AC3E}">
        <p14:creationId xmlns:p14="http://schemas.microsoft.com/office/powerpoint/2010/main" val="1791232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Autofit/>
          </a:bodyPr>
          <a:lstStyle/>
          <a:p>
            <a:pPr algn="l"/>
            <a:br>
              <a:rPr lang="en-US" sz="2400" dirty="0"/>
            </a:br>
            <a:br>
              <a:rPr lang="en-US" sz="2400" dirty="0"/>
            </a:br>
            <a:br>
              <a:rPr lang="en-US" sz="2400" dirty="0"/>
            </a:br>
            <a:br>
              <a:rPr lang="en-US" sz="2400" dirty="0"/>
            </a:br>
            <a:br>
              <a:rPr lang="en-US" sz="2400" dirty="0"/>
            </a:br>
            <a:br>
              <a:rPr lang="en-US" sz="2400" dirty="0"/>
            </a:br>
            <a:br>
              <a:rPr lang="en-US" sz="2400" dirty="0"/>
            </a:br>
            <a:br>
              <a:rPr lang="en-US" sz="2400" dirty="0"/>
            </a:br>
            <a:br>
              <a:rPr lang="en-US" sz="2400" dirty="0"/>
            </a:br>
            <a:br>
              <a:rPr lang="en-US" sz="2400" dirty="0"/>
            </a:br>
            <a:br>
              <a:rPr lang="en-US" sz="2400" b="1" dirty="0"/>
            </a:br>
            <a:br>
              <a:rPr lang="en-US" sz="2400" b="1" dirty="0"/>
            </a:br>
            <a:r>
              <a:rPr lang="en-US" sz="2400" b="1" dirty="0"/>
              <a:t>FIGURE 2-1 THE ORDER FULFILLMENT PROCESS</a:t>
            </a:r>
            <a:br>
              <a:rPr lang="en-US" sz="2400" b="1" dirty="0"/>
            </a:br>
            <a:r>
              <a:rPr lang="en-US" sz="2400" dirty="0"/>
              <a:t>Fulfilling a customer order involves a complex set of steps that requires the close coordination of the sales, accounting, and manufacturing functions.</a:t>
            </a:r>
            <a:br>
              <a:rPr lang="en-US" sz="2400" dirty="0"/>
            </a:br>
            <a:r>
              <a:rPr lang="en-US" sz="2400" b="1" dirty="0">
                <a:solidFill>
                  <a:srgbClr val="FF0000"/>
                </a:solidFill>
              </a:rPr>
              <a:t>Information systems </a:t>
            </a:r>
            <a:r>
              <a:rPr lang="en-US" sz="2400" dirty="0">
                <a:solidFill>
                  <a:srgbClr val="FF0000"/>
                </a:solidFill>
              </a:rPr>
              <a:t>enhance business processes in primarily two ways: </a:t>
            </a:r>
            <a:br>
              <a:rPr lang="en-US" sz="2400" dirty="0">
                <a:solidFill>
                  <a:srgbClr val="FF0000"/>
                </a:solidFill>
              </a:rPr>
            </a:br>
            <a:r>
              <a:rPr lang="en-US" sz="2400" dirty="0">
                <a:solidFill>
                  <a:srgbClr val="FF0000"/>
                </a:solidFill>
              </a:rPr>
              <a:t>(1)Increasing the efficiency of existing processes</a:t>
            </a:r>
            <a:br>
              <a:rPr lang="en-US" sz="2400" dirty="0">
                <a:solidFill>
                  <a:srgbClr val="FF0000"/>
                </a:solidFill>
              </a:rPr>
            </a:br>
            <a:r>
              <a:rPr lang="en-US" sz="2400" dirty="0">
                <a:solidFill>
                  <a:srgbClr val="FF0000"/>
                </a:solidFill>
              </a:rPr>
              <a:t>(2)Enabling entirely new processes that are capable of transforming the business</a:t>
            </a:r>
          </a:p>
        </p:txBody>
      </p:sp>
      <p:pic>
        <p:nvPicPr>
          <p:cNvPr id="4" name="image12.jpeg" descr="C:\Users\jreuben\Dropbox\3.PNG"/>
          <p:cNvPicPr>
            <a:picLocks noGrp="1"/>
          </p:cNvPicPr>
          <p:nvPr>
            <p:ph idx="1"/>
          </p:nvPr>
        </p:nvPicPr>
        <p:blipFill>
          <a:blip r:embed="rId2" cstate="print"/>
          <a:stretch>
            <a:fillRect/>
          </a:stretch>
        </p:blipFill>
        <p:spPr>
          <a:xfrm>
            <a:off x="457200" y="4038600"/>
            <a:ext cx="8077198" cy="2484438"/>
          </a:xfrm>
          <a:prstGeom prst="rect">
            <a:avLst/>
          </a:prstGeom>
        </p:spPr>
      </p:pic>
    </p:spTree>
    <p:extLst>
      <p:ext uri="{BB962C8B-B14F-4D97-AF65-F5344CB8AC3E}">
        <p14:creationId xmlns:p14="http://schemas.microsoft.com/office/powerpoint/2010/main" val="2469426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Types of Business Information Systems</a:t>
            </a:r>
            <a:br>
              <a:rPr lang="en-US" sz="2800" b="1" dirty="0"/>
            </a:br>
            <a:endParaRPr lang="en-US" sz="2800" dirty="0"/>
          </a:p>
        </p:txBody>
      </p:sp>
      <p:sp>
        <p:nvSpPr>
          <p:cNvPr id="3" name="Content Placeholder 2"/>
          <p:cNvSpPr>
            <a:spLocks noGrp="1"/>
          </p:cNvSpPr>
          <p:nvPr>
            <p:ph idx="1"/>
          </p:nvPr>
        </p:nvSpPr>
        <p:spPr/>
        <p:txBody>
          <a:bodyPr>
            <a:normAutofit fontScale="62500" lnSpcReduction="20000"/>
          </a:bodyPr>
          <a:lstStyle/>
          <a:p>
            <a:r>
              <a:rPr lang="en-US" dirty="0"/>
              <a:t>No single system can provide all the information an organization needs. Even small firms have a collection of different systems: e-mail systems, sales tracking systems, etc. </a:t>
            </a:r>
            <a:r>
              <a:rPr lang="en-US" b="1" dirty="0"/>
              <a:t>Different systems can be described through:</a:t>
            </a:r>
          </a:p>
          <a:p>
            <a:r>
              <a:rPr lang="en-US" b="1" dirty="0"/>
              <a:t>A functional perspective: </a:t>
            </a:r>
            <a:r>
              <a:rPr lang="en-US" dirty="0"/>
              <a:t>Identifying systems by their major business function. </a:t>
            </a:r>
          </a:p>
          <a:p>
            <a:r>
              <a:rPr lang="en-US" b="1" dirty="0"/>
              <a:t>A constituency perspective</a:t>
            </a:r>
            <a:r>
              <a:rPr lang="en-US" dirty="0"/>
              <a:t>: Identifying systems in terms of the major organizational groups that they serve</a:t>
            </a:r>
          </a:p>
          <a:p>
            <a:r>
              <a:rPr lang="en-US" b="1" dirty="0"/>
              <a:t>There are four main types of information systems that serve different functional systems:</a:t>
            </a:r>
          </a:p>
          <a:p>
            <a:pPr marL="0" indent="0">
              <a:buNone/>
            </a:pPr>
            <a:endParaRPr lang="en-US" b="1" dirty="0"/>
          </a:p>
          <a:p>
            <a:pPr marL="0" indent="0">
              <a:buNone/>
            </a:pPr>
            <a:r>
              <a:rPr lang="en-US" b="1" dirty="0"/>
              <a:t>1) Sales and marketing information systems </a:t>
            </a:r>
            <a:r>
              <a:rPr lang="en-US" dirty="0"/>
              <a:t>help the firm with marketing business processes (identifying customers for the firm's products or services, developing products and services to meet their needs, promoting products and services) and sales processes (selling the products and services, taking orders, contacting customers, and providing customer support).</a:t>
            </a:r>
            <a:endParaRPr lang="en-US" sz="2400" dirty="0"/>
          </a:p>
          <a:p>
            <a:endParaRPr lang="en-US" dirty="0"/>
          </a:p>
          <a:p>
            <a:endParaRPr lang="en-US" dirty="0"/>
          </a:p>
        </p:txBody>
      </p:sp>
    </p:spTree>
    <p:extLst>
      <p:ext uri="{BB962C8B-B14F-4D97-AF65-F5344CB8AC3E}">
        <p14:creationId xmlns:p14="http://schemas.microsoft.com/office/powerpoint/2010/main" val="3247612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sz="3100" dirty="0"/>
              <a:t> </a:t>
            </a:r>
            <a:br>
              <a:rPr lang="en-US" sz="3100" dirty="0"/>
            </a:br>
            <a:br>
              <a:rPr lang="en-US" sz="3100" dirty="0"/>
            </a:br>
            <a:br>
              <a:rPr lang="en-US" sz="3100" dirty="0"/>
            </a:br>
            <a:br>
              <a:rPr lang="en-US" sz="3100" dirty="0"/>
            </a:br>
            <a:br>
              <a:rPr lang="en-US" sz="3100" dirty="0"/>
            </a:br>
            <a:br>
              <a:rPr lang="en-US" sz="3100" dirty="0"/>
            </a:br>
            <a:br>
              <a:rPr lang="en-US" sz="3100" dirty="0"/>
            </a:br>
            <a:r>
              <a:rPr lang="en-US" sz="3100" dirty="0"/>
              <a:t>FIGURE 2-2 EXAMPLE OF A SALES INFORMATION SYSTEM</a:t>
            </a:r>
            <a:br>
              <a:rPr lang="en-US" sz="3100" dirty="0"/>
            </a:br>
            <a:r>
              <a:rPr lang="en-US" sz="3100" dirty="0"/>
              <a:t>This system captures sales data at the moment the sale takes place to help the business monitor sales transactions and to provide information to help management analyze sales trends and the effectiveness of marketing campaigns.</a:t>
            </a:r>
            <a:br>
              <a:rPr lang="en-US" sz="3100" dirty="0"/>
            </a:br>
            <a:br>
              <a:rPr lang="en-US" dirty="0"/>
            </a:br>
            <a:endParaRPr lang="en-US" dirty="0"/>
          </a:p>
        </p:txBody>
      </p:sp>
      <p:pic>
        <p:nvPicPr>
          <p:cNvPr id="4" name="image13.jpeg" descr="C:\Users\jreuben\Dropbox\4.PNG"/>
          <p:cNvPicPr>
            <a:picLocks noGrp="1"/>
          </p:cNvPicPr>
          <p:nvPr>
            <p:ph idx="1"/>
          </p:nvPr>
        </p:nvPicPr>
        <p:blipFill>
          <a:blip r:embed="rId2" cstate="print"/>
          <a:stretch>
            <a:fillRect/>
          </a:stretch>
        </p:blipFill>
        <p:spPr>
          <a:xfrm>
            <a:off x="609602" y="3459162"/>
            <a:ext cx="8381998" cy="3246438"/>
          </a:xfrm>
          <a:prstGeom prst="rect">
            <a:avLst/>
          </a:prstGeom>
        </p:spPr>
      </p:pic>
    </p:spTree>
    <p:extLst>
      <p:ext uri="{BB962C8B-B14F-4D97-AF65-F5344CB8AC3E}">
        <p14:creationId xmlns:p14="http://schemas.microsoft.com/office/powerpoint/2010/main" val="4058362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1" algn="l" rtl="0">
              <a:spcBef>
                <a:spcPct val="0"/>
              </a:spcBef>
            </a:pPr>
            <a:br>
              <a:rPr lang="en-US" sz="3100" dirty="0"/>
            </a:br>
            <a:br>
              <a:rPr lang="en-US" sz="3100" dirty="0"/>
            </a:br>
            <a:br>
              <a:rPr lang="en-US" sz="3100" dirty="0"/>
            </a:br>
            <a:br>
              <a:rPr lang="en-US" sz="3100" dirty="0"/>
            </a:br>
            <a:br>
              <a:rPr lang="en-US" sz="3100" dirty="0"/>
            </a:br>
            <a:br>
              <a:rPr lang="en-US" sz="3100" dirty="0"/>
            </a:br>
            <a:br>
              <a:rPr lang="en-US" sz="3100" dirty="0"/>
            </a:br>
            <a:r>
              <a:rPr lang="en-US" sz="3100" dirty="0"/>
              <a:t>2) </a:t>
            </a:r>
            <a:r>
              <a:rPr lang="en-US" sz="3100" b="1" dirty="0"/>
              <a:t>Manufacturing and production information systems </a:t>
            </a:r>
            <a:r>
              <a:rPr lang="en-US" sz="3100" dirty="0"/>
              <a:t>deal with the planning, development, and production of products and services, and controlling the flow of production. </a:t>
            </a:r>
            <a:br>
              <a:rPr lang="en-US" sz="3100" dirty="0"/>
            </a:br>
            <a:br>
              <a:rPr lang="en-US" sz="3100" dirty="0"/>
            </a:br>
            <a:br>
              <a:rPr lang="en-US" sz="3100" dirty="0"/>
            </a:br>
            <a:endParaRPr lang="en-US" sz="3100" dirty="0"/>
          </a:p>
        </p:txBody>
      </p:sp>
      <p:pic>
        <p:nvPicPr>
          <p:cNvPr id="4" name="image14.jpeg" descr="C:\Users\jreuben\Dropbox\5.PNG"/>
          <p:cNvPicPr>
            <a:picLocks noGrp="1"/>
          </p:cNvPicPr>
          <p:nvPr>
            <p:ph idx="1"/>
          </p:nvPr>
        </p:nvPicPr>
        <p:blipFill>
          <a:blip r:embed="rId2" cstate="print"/>
          <a:stretch>
            <a:fillRect/>
          </a:stretch>
        </p:blipFill>
        <p:spPr>
          <a:xfrm>
            <a:off x="838200" y="4038600"/>
            <a:ext cx="7924800" cy="2484438"/>
          </a:xfrm>
          <a:prstGeom prst="rect">
            <a:avLst/>
          </a:prstGeom>
        </p:spPr>
      </p:pic>
    </p:spTree>
    <p:extLst>
      <p:ext uri="{BB962C8B-B14F-4D97-AF65-F5344CB8AC3E}">
        <p14:creationId xmlns:p14="http://schemas.microsoft.com/office/powerpoint/2010/main" val="1401392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br>
              <a:rPr lang="en-US" sz="2800" dirty="0"/>
            </a:br>
            <a:br>
              <a:rPr lang="en-US" sz="2800" dirty="0"/>
            </a:br>
            <a:br>
              <a:rPr lang="en-US" sz="2800" dirty="0"/>
            </a:br>
            <a:r>
              <a:rPr lang="en-US" sz="2800" dirty="0"/>
              <a:t>FIGURE 2-3 OVERVIEW OF AN INVENTORY SYSTEM</a:t>
            </a:r>
            <a:br>
              <a:rPr lang="en-US" sz="2800" dirty="0"/>
            </a:br>
            <a:r>
              <a:rPr lang="en-US" sz="2800" dirty="0"/>
              <a:t> </a:t>
            </a:r>
            <a:br>
              <a:rPr lang="en-US" sz="2800" dirty="0"/>
            </a:br>
            <a:r>
              <a:rPr lang="en-US" sz="2800" dirty="0"/>
              <a:t>This system provides information about the number of items available in inventory to support manufacturing and production activities.</a:t>
            </a:r>
            <a:br>
              <a:rPr lang="en-US" sz="2800" dirty="0"/>
            </a:br>
            <a:endParaRPr lang="en-US" sz="2800" dirty="0"/>
          </a:p>
        </p:txBody>
      </p:sp>
      <p:pic>
        <p:nvPicPr>
          <p:cNvPr id="4" name="image14.jpeg" descr="C:\Users\jreuben\Dropbox\5.PNG"/>
          <p:cNvPicPr>
            <a:picLocks noGrp="1"/>
          </p:cNvPicPr>
          <p:nvPr>
            <p:ph idx="1"/>
          </p:nvPr>
        </p:nvPicPr>
        <p:blipFill>
          <a:blip r:embed="rId2" cstate="print"/>
          <a:stretch>
            <a:fillRect/>
          </a:stretch>
        </p:blipFill>
        <p:spPr>
          <a:xfrm>
            <a:off x="762000" y="3276600"/>
            <a:ext cx="7772400" cy="3398836"/>
          </a:xfrm>
          <a:prstGeom prst="rect">
            <a:avLst/>
          </a:prstGeom>
        </p:spPr>
      </p:pic>
    </p:spTree>
    <p:extLst>
      <p:ext uri="{BB962C8B-B14F-4D97-AF65-F5344CB8AC3E}">
        <p14:creationId xmlns:p14="http://schemas.microsoft.com/office/powerpoint/2010/main" val="2903634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lgn="l"/>
            <a:r>
              <a:rPr lang="en-US" sz="2800" b="1" dirty="0"/>
              <a:t>3) Finance and accounting information systems </a:t>
            </a:r>
            <a:r>
              <a:rPr lang="en-US" sz="2800" dirty="0"/>
              <a:t>keep track of the firm's financial assets and fund flows.</a:t>
            </a:r>
            <a:br>
              <a:rPr lang="en-US" sz="2800" dirty="0"/>
            </a:br>
            <a:endParaRPr lang="en-US" sz="2800" dirty="0"/>
          </a:p>
        </p:txBody>
      </p:sp>
      <p:pic>
        <p:nvPicPr>
          <p:cNvPr id="4" name="image15.jpeg" descr="C:\Users\jreuben\Dropbox\6.PNG"/>
          <p:cNvPicPr>
            <a:picLocks noGrp="1"/>
          </p:cNvPicPr>
          <p:nvPr>
            <p:ph idx="1"/>
          </p:nvPr>
        </p:nvPicPr>
        <p:blipFill>
          <a:blip r:embed="rId2" cstate="print"/>
          <a:stretch>
            <a:fillRect/>
          </a:stretch>
        </p:blipFill>
        <p:spPr>
          <a:xfrm>
            <a:off x="457201" y="1935162"/>
            <a:ext cx="8229598" cy="3856038"/>
          </a:xfrm>
          <a:prstGeom prst="rect">
            <a:avLst/>
          </a:prstGeom>
        </p:spPr>
      </p:pic>
    </p:spTree>
    <p:extLst>
      <p:ext uri="{BB962C8B-B14F-4D97-AF65-F5344CB8AC3E}">
        <p14:creationId xmlns:p14="http://schemas.microsoft.com/office/powerpoint/2010/main" val="1581311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1" algn="l" rtl="0">
              <a:spcBef>
                <a:spcPct val="0"/>
              </a:spcBef>
            </a:pPr>
            <a:br>
              <a:rPr lang="en-US" sz="2800" dirty="0"/>
            </a:br>
            <a:br>
              <a:rPr lang="en-US" sz="2800" dirty="0"/>
            </a:br>
            <a:br>
              <a:rPr lang="en-US" sz="2800" dirty="0"/>
            </a:br>
            <a:r>
              <a:rPr lang="en-US" sz="2800" b="1" dirty="0"/>
              <a:t>4) Human resources information systems</a:t>
            </a:r>
            <a:r>
              <a:rPr lang="en-US" sz="2800" dirty="0"/>
              <a:t> maintain employee records, track employee skills, job performance and training, and support planning for employee compensation and career development. Figure 2-5 below</a:t>
            </a:r>
            <a:br>
              <a:rPr lang="en-US" sz="2800" dirty="0"/>
            </a:br>
            <a:endParaRPr lang="en-US" sz="2800" dirty="0"/>
          </a:p>
        </p:txBody>
      </p:sp>
      <p:pic>
        <p:nvPicPr>
          <p:cNvPr id="4" name="image16.jpeg" descr="C:\Users\jreuben\Dropbox\7.PNG"/>
          <p:cNvPicPr>
            <a:picLocks noGrp="1"/>
          </p:cNvPicPr>
          <p:nvPr>
            <p:ph idx="1"/>
          </p:nvPr>
        </p:nvPicPr>
        <p:blipFill>
          <a:blip r:embed="rId2" cstate="print"/>
          <a:stretch>
            <a:fillRect/>
          </a:stretch>
        </p:blipFill>
        <p:spPr>
          <a:xfrm>
            <a:off x="304800" y="2514600"/>
            <a:ext cx="8382000" cy="4160838"/>
          </a:xfrm>
          <a:prstGeom prst="rect">
            <a:avLst/>
          </a:prstGeom>
        </p:spPr>
      </p:pic>
    </p:spTree>
    <p:extLst>
      <p:ext uri="{BB962C8B-B14F-4D97-AF65-F5344CB8AC3E}">
        <p14:creationId xmlns:p14="http://schemas.microsoft.com/office/powerpoint/2010/main" val="2049531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There are four main categories of systems from a constituency perspective</a:t>
            </a:r>
          </a:p>
        </p:txBody>
      </p:sp>
      <p:sp>
        <p:nvSpPr>
          <p:cNvPr id="3" name="Content Placeholder 2"/>
          <p:cNvSpPr>
            <a:spLocks noGrp="1"/>
          </p:cNvSpPr>
          <p:nvPr>
            <p:ph idx="1"/>
          </p:nvPr>
        </p:nvSpPr>
        <p:spPr/>
        <p:txBody>
          <a:bodyPr>
            <a:normAutofit fontScale="85000" lnSpcReduction="10000"/>
          </a:bodyPr>
          <a:lstStyle/>
          <a:p>
            <a:pPr marL="0" indent="0">
              <a:buNone/>
            </a:pPr>
            <a:r>
              <a:rPr lang="en-US" dirty="0"/>
              <a:t>1) </a:t>
            </a:r>
            <a:r>
              <a:rPr lang="en-US" b="1" dirty="0"/>
              <a:t>Transaction processing systems (TPS) </a:t>
            </a:r>
            <a:r>
              <a:rPr lang="en-US" dirty="0"/>
              <a:t>are basic business systems that serve the </a:t>
            </a:r>
            <a:r>
              <a:rPr lang="en-US" b="1" dirty="0"/>
              <a:t>operational level </a:t>
            </a:r>
            <a:r>
              <a:rPr lang="en-US" dirty="0"/>
              <a:t>of the organization by recording the daily routine transactions required to conduct business, such as payroll and sales receipts.</a:t>
            </a:r>
          </a:p>
          <a:p>
            <a:pPr marL="0" lvl="0" indent="0">
              <a:buNone/>
            </a:pPr>
            <a:r>
              <a:rPr lang="en-US" b="1" dirty="0"/>
              <a:t>2) Management information systems (MIS) </a:t>
            </a:r>
            <a:r>
              <a:rPr lang="en-US" dirty="0"/>
              <a:t>serve </a:t>
            </a:r>
            <a:r>
              <a:rPr lang="en-US" b="1" dirty="0"/>
              <a:t>middle managers' </a:t>
            </a:r>
            <a:r>
              <a:rPr lang="en-US" dirty="0"/>
              <a:t>interests by providing current and historical performance information to aid in planning, controlling, and decision making at the management level. MIS typically compress TPS data to present regular reports on the company's basic operations.</a:t>
            </a:r>
          </a:p>
          <a:p>
            <a:endParaRPr lang="en-US" b="1" dirty="0"/>
          </a:p>
        </p:txBody>
      </p:sp>
    </p:spTree>
    <p:extLst>
      <p:ext uri="{BB962C8B-B14F-4D97-AF65-F5344CB8AC3E}">
        <p14:creationId xmlns:p14="http://schemas.microsoft.com/office/powerpoint/2010/main" val="2131846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7.jpeg" descr="C:\Users\jreuben\Dropbox\8.PNG"/>
          <p:cNvPicPr>
            <a:picLocks noGrp="1"/>
          </p:cNvPicPr>
          <p:nvPr>
            <p:ph idx="1"/>
          </p:nvPr>
        </p:nvPicPr>
        <p:blipFill>
          <a:blip r:embed="rId2" cstate="print"/>
          <a:stretch>
            <a:fillRect/>
          </a:stretch>
        </p:blipFill>
        <p:spPr>
          <a:xfrm>
            <a:off x="457200" y="1401763"/>
            <a:ext cx="8229600" cy="4922838"/>
          </a:xfrm>
          <a:prstGeom prst="rect">
            <a:avLst/>
          </a:prstGeom>
        </p:spPr>
      </p:pic>
      <p:sp>
        <p:nvSpPr>
          <p:cNvPr id="5" name="Title 1"/>
          <p:cNvSpPr>
            <a:spLocks noGrp="1"/>
          </p:cNvSpPr>
          <p:nvPr>
            <p:ph type="title"/>
          </p:nvPr>
        </p:nvSpPr>
        <p:spPr>
          <a:xfrm>
            <a:off x="-304800" y="0"/>
            <a:ext cx="9448800" cy="1143000"/>
          </a:xfrm>
        </p:spPr>
        <p:txBody>
          <a:bodyPr>
            <a:normAutofit/>
          </a:bodyPr>
          <a:lstStyle/>
          <a:p>
            <a:r>
              <a:rPr lang="en-US" sz="2800" b="1" dirty="0"/>
              <a:t>FIGURE 2-6 HOW MANAGEMENT INFORMATION SYSTEMS OBTAIN THEIR DATA FROM THE ORGANIZATION’S TPS</a:t>
            </a:r>
          </a:p>
        </p:txBody>
      </p:sp>
    </p:spTree>
    <p:extLst>
      <p:ext uri="{BB962C8B-B14F-4D97-AF65-F5344CB8AC3E}">
        <p14:creationId xmlns:p14="http://schemas.microsoft.com/office/powerpoint/2010/main" val="25730036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marL="0" indent="0">
              <a:buNone/>
            </a:pPr>
            <a:r>
              <a:rPr lang="en-US" dirty="0"/>
              <a:t>In the system illustrated by this diagram, three TPS supply summarized transaction data to the MIS reporting system at the end of the time period. Managers gain access to the organizational data through the MIS, which provides them with the appropriate reports.</a:t>
            </a:r>
          </a:p>
          <a:p>
            <a:pPr marL="0" indent="0">
              <a:buNone/>
            </a:pPr>
            <a:r>
              <a:rPr lang="en-US" b="1" dirty="0"/>
              <a:t>3) Decision support systems (DSS), </a:t>
            </a:r>
            <a:r>
              <a:rPr lang="en-US" dirty="0"/>
              <a:t>or business intelligence systems, help managers with non- routine decisions that are unique, rapidly changing, and not easily specified in advance</a:t>
            </a:r>
            <a:r>
              <a:rPr lang="en-US" b="1" dirty="0"/>
              <a:t>. DSS are more analytical than MIS, using a variety of models to analyze internal and external data or condense large amounts of data for analysis</a:t>
            </a:r>
            <a:r>
              <a:rPr lang="en-US" dirty="0"/>
              <a:t>.</a:t>
            </a:r>
          </a:p>
          <a:p>
            <a:endParaRPr lang="en-US" dirty="0"/>
          </a:p>
        </p:txBody>
      </p:sp>
    </p:spTree>
    <p:extLst>
      <p:ext uri="{BB962C8B-B14F-4D97-AF65-F5344CB8AC3E}">
        <p14:creationId xmlns:p14="http://schemas.microsoft.com/office/powerpoint/2010/main" val="19570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t>
            </a:r>
            <a:br>
              <a:rPr lang="en-US" sz="3600" dirty="0"/>
            </a:br>
            <a:r>
              <a:rPr lang="en-US" sz="3600" dirty="0"/>
              <a:t> </a:t>
            </a:r>
            <a:br>
              <a:rPr lang="en-US" sz="3600" dirty="0"/>
            </a:br>
            <a:r>
              <a:rPr lang="en-US" sz="3600" dirty="0"/>
              <a:t>FIGURE 2-8 VOYAGE-ESTIMATING DECISION-SUPPORT SYSTEM</a:t>
            </a:r>
            <a:br>
              <a:rPr lang="en-US" sz="3600" dirty="0"/>
            </a:br>
            <a:endParaRPr lang="en-US" sz="3600" dirty="0"/>
          </a:p>
        </p:txBody>
      </p:sp>
      <p:pic>
        <p:nvPicPr>
          <p:cNvPr id="4" name="image18.jpeg" descr="C:\Users\jreuben\Dropbox\9.PNG"/>
          <p:cNvPicPr>
            <a:picLocks noGrp="1"/>
          </p:cNvPicPr>
          <p:nvPr>
            <p:ph idx="1"/>
          </p:nvPr>
        </p:nvPicPr>
        <p:blipFill>
          <a:blip r:embed="rId2" cstate="print"/>
          <a:stretch>
            <a:fillRect/>
          </a:stretch>
        </p:blipFill>
        <p:spPr>
          <a:xfrm>
            <a:off x="762000" y="1630362"/>
            <a:ext cx="7620000" cy="4465638"/>
          </a:xfrm>
          <a:prstGeom prst="rect">
            <a:avLst/>
          </a:prstGeom>
        </p:spPr>
      </p:pic>
    </p:spTree>
    <p:extLst>
      <p:ext uri="{BB962C8B-B14F-4D97-AF65-F5344CB8AC3E}">
        <p14:creationId xmlns:p14="http://schemas.microsoft.com/office/powerpoint/2010/main" val="539217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marL="0" lvl="0" indent="0">
              <a:buNone/>
            </a:pPr>
            <a:r>
              <a:rPr lang="en-US" b="1" dirty="0"/>
              <a:t>4) Executive support systems (ESS) </a:t>
            </a:r>
            <a:r>
              <a:rPr lang="en-US" dirty="0"/>
              <a:t>provide a generalized computing and communications environment that help senior managers address strategic issues and identify long-term trends in the firm and its environment. </a:t>
            </a:r>
          </a:p>
          <a:p>
            <a:r>
              <a:rPr lang="en-US" dirty="0"/>
              <a:t>ESS address non routine decisions requiring judgment, evaluation, and insight because there is no agreed-on procedure for arriving at a solution. </a:t>
            </a:r>
          </a:p>
          <a:p>
            <a:r>
              <a:rPr lang="en-US" dirty="0"/>
              <a:t>ESS present graphs and data from many internal and external sources through an interface that is easy for senior managers to use. </a:t>
            </a:r>
          </a:p>
          <a:p>
            <a:r>
              <a:rPr lang="en-US" dirty="0"/>
              <a:t>Often the information is delivered to senior executives through a portal, which uses a Web interface to present integrated personalized business content.</a:t>
            </a:r>
          </a:p>
          <a:p>
            <a:endParaRPr lang="en-US" dirty="0"/>
          </a:p>
        </p:txBody>
      </p:sp>
    </p:spTree>
    <p:extLst>
      <p:ext uri="{BB962C8B-B14F-4D97-AF65-F5344CB8AC3E}">
        <p14:creationId xmlns:p14="http://schemas.microsoft.com/office/powerpoint/2010/main" val="26819738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r>
              <a:rPr lang="en-US" sz="2700" dirty="0"/>
            </a:br>
            <a:br>
              <a:rPr lang="en-US" sz="2700" dirty="0"/>
            </a:br>
            <a:br>
              <a:rPr lang="en-US" sz="2700" dirty="0"/>
            </a:br>
            <a:br>
              <a:rPr lang="en-US" sz="2700" b="1" dirty="0"/>
            </a:br>
            <a:r>
              <a:rPr lang="en-US" sz="2700" b="1" dirty="0"/>
              <a:t>FIGURE 2-9 MODEL OF AN EXECUTIVE SUPPORT SYSTEM</a:t>
            </a:r>
            <a:br>
              <a:rPr lang="en-US" sz="2700" dirty="0"/>
            </a:br>
            <a:r>
              <a:rPr lang="en-US" sz="2700" dirty="0"/>
              <a:t>This system pools data from diverse internal and external sources and makes them available to executives in an easy-to-use form.</a:t>
            </a:r>
            <a:br>
              <a:rPr lang="en-US" sz="2700" dirty="0"/>
            </a:br>
            <a:br>
              <a:rPr lang="en-US" dirty="0"/>
            </a:br>
            <a:endParaRPr lang="en-US" dirty="0"/>
          </a:p>
        </p:txBody>
      </p:sp>
      <p:pic>
        <p:nvPicPr>
          <p:cNvPr id="4" name="image19.jpeg" descr="C:\Users\jreuben\Dropbox\10.PNG"/>
          <p:cNvPicPr>
            <a:picLocks noGrp="1"/>
          </p:cNvPicPr>
          <p:nvPr>
            <p:ph idx="1"/>
          </p:nvPr>
        </p:nvPicPr>
        <p:blipFill>
          <a:blip r:embed="rId2" cstate="print"/>
          <a:stretch>
            <a:fillRect/>
          </a:stretch>
        </p:blipFill>
        <p:spPr>
          <a:xfrm>
            <a:off x="533400" y="1858962"/>
            <a:ext cx="8077200" cy="4465638"/>
          </a:xfrm>
          <a:prstGeom prst="rect">
            <a:avLst/>
          </a:prstGeom>
        </p:spPr>
      </p:pic>
    </p:spTree>
    <p:extLst>
      <p:ext uri="{BB962C8B-B14F-4D97-AF65-F5344CB8AC3E}">
        <p14:creationId xmlns:p14="http://schemas.microsoft.com/office/powerpoint/2010/main" val="2904519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r>
              <a:rPr lang="en-US" sz="3100" dirty="0"/>
            </a:br>
            <a:br>
              <a:rPr lang="en-US" sz="3100" dirty="0"/>
            </a:br>
            <a:br>
              <a:rPr lang="en-US" sz="3100" dirty="0"/>
            </a:br>
            <a:r>
              <a:rPr lang="en-US" sz="3100" dirty="0"/>
              <a:t>Ideally, these constituency-based systems are interrelated. TPS are typically a major source of data for other systems, whereas ESS are primarily a recipient of data from lower-level systems and external sources.</a:t>
            </a:r>
            <a:br>
              <a:rPr lang="en-US" sz="3100" dirty="0"/>
            </a:br>
            <a:r>
              <a:rPr lang="en-US" sz="3100" dirty="0"/>
              <a:t>Figure 2-10 below.</a:t>
            </a:r>
            <a:br>
              <a:rPr lang="en-US" dirty="0"/>
            </a:br>
            <a:endParaRPr lang="en-US" dirty="0"/>
          </a:p>
        </p:txBody>
      </p:sp>
      <p:pic>
        <p:nvPicPr>
          <p:cNvPr id="4" name="image20.jpeg" descr="C:\Users\jreuben\Dropbox\12.PNG"/>
          <p:cNvPicPr>
            <a:picLocks noGrp="1"/>
          </p:cNvPicPr>
          <p:nvPr>
            <p:ph idx="1"/>
          </p:nvPr>
        </p:nvPicPr>
        <p:blipFill>
          <a:blip r:embed="rId2" cstate="print"/>
          <a:stretch>
            <a:fillRect/>
          </a:stretch>
        </p:blipFill>
        <p:spPr>
          <a:xfrm>
            <a:off x="838201" y="2544762"/>
            <a:ext cx="7467598" cy="3627438"/>
          </a:xfrm>
          <a:prstGeom prst="rect">
            <a:avLst/>
          </a:prstGeom>
        </p:spPr>
      </p:pic>
    </p:spTree>
    <p:extLst>
      <p:ext uri="{BB962C8B-B14F-4D97-AF65-F5344CB8AC3E}">
        <p14:creationId xmlns:p14="http://schemas.microsoft.com/office/powerpoint/2010/main" val="7755986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The various types of systems in the organization have interdependencies. </a:t>
            </a:r>
          </a:p>
          <a:p>
            <a:r>
              <a:rPr lang="en-US" dirty="0"/>
              <a:t>TPS are major producers of information that is required by many other systems in the firm, which, in turn, produce information for other systems. </a:t>
            </a:r>
          </a:p>
          <a:p>
            <a:r>
              <a:rPr lang="en-US" dirty="0"/>
              <a:t>These different types of systems are loosely coupled in most business firms, but increasingly firms are using new technologies to integrate information that resides in many different systems.</a:t>
            </a:r>
          </a:p>
          <a:p>
            <a:endParaRPr lang="en-US" dirty="0"/>
          </a:p>
        </p:txBody>
      </p:sp>
    </p:spTree>
    <p:extLst>
      <p:ext uri="{BB962C8B-B14F-4D97-AF65-F5344CB8AC3E}">
        <p14:creationId xmlns:p14="http://schemas.microsoft.com/office/powerpoint/2010/main" val="3901937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b="1" u="heavy" dirty="0"/>
              <a:t>Systems that Span the Enterprise</a:t>
            </a:r>
            <a:endParaRPr lang="en-US" b="1" dirty="0"/>
          </a:p>
          <a:p>
            <a:r>
              <a:rPr lang="en-US" dirty="0"/>
              <a:t>Enterprise applications are systems that span functional areas, focus on executing business processes across the business firm, and include all levels of management. </a:t>
            </a:r>
          </a:p>
          <a:p>
            <a:r>
              <a:rPr lang="en-US" dirty="0"/>
              <a:t>Enterprise applications help businesses become more flexible and productive by coordinating their business processes more closely. </a:t>
            </a:r>
            <a:r>
              <a:rPr lang="en-US" b="1" dirty="0"/>
              <a:t>There are four major enterprise applications:</a:t>
            </a:r>
          </a:p>
          <a:p>
            <a:pPr marL="1771650" lvl="3" indent="-514350">
              <a:buAutoNum type="arabicParenR"/>
            </a:pPr>
            <a:r>
              <a:rPr lang="en-US" sz="3400" dirty="0">
                <a:solidFill>
                  <a:srgbClr val="FF0000"/>
                </a:solidFill>
              </a:rPr>
              <a:t>Enterprise systems</a:t>
            </a:r>
          </a:p>
          <a:p>
            <a:pPr marL="1771650" lvl="3" indent="-514350">
              <a:buAutoNum type="arabicParenR"/>
            </a:pPr>
            <a:r>
              <a:rPr lang="en-US" sz="3400" dirty="0">
                <a:solidFill>
                  <a:srgbClr val="FF0000"/>
                </a:solidFill>
              </a:rPr>
              <a:t>Supply chain management systems</a:t>
            </a:r>
          </a:p>
          <a:p>
            <a:pPr marL="1771650" lvl="3" indent="-514350">
              <a:buAutoNum type="arabicParenR"/>
            </a:pPr>
            <a:r>
              <a:rPr lang="en-US" sz="3400" dirty="0">
                <a:solidFill>
                  <a:srgbClr val="FF0000"/>
                </a:solidFill>
              </a:rPr>
              <a:t> Customer relationship management systems </a:t>
            </a:r>
          </a:p>
          <a:p>
            <a:pPr marL="1771650" lvl="3" indent="-514350">
              <a:buAutoNum type="arabicParenR"/>
            </a:pPr>
            <a:r>
              <a:rPr lang="en-US" sz="3400" dirty="0">
                <a:solidFill>
                  <a:srgbClr val="FF0000"/>
                </a:solidFill>
              </a:rPr>
              <a:t>Knowledge management systems</a:t>
            </a:r>
          </a:p>
          <a:p>
            <a:r>
              <a:rPr lang="en-US" dirty="0"/>
              <a:t>Each of these enterprise applications integrates a related set of functions and business processes to enhance the performance of the organization as a whole.</a:t>
            </a:r>
          </a:p>
        </p:txBody>
      </p:sp>
    </p:spTree>
    <p:extLst>
      <p:ext uri="{BB962C8B-B14F-4D97-AF65-F5344CB8AC3E}">
        <p14:creationId xmlns:p14="http://schemas.microsoft.com/office/powerpoint/2010/main" val="27459071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r>
              <a:rPr lang="en-US" sz="3600" dirty="0"/>
            </a:br>
            <a:br>
              <a:rPr lang="en-US" sz="3600" dirty="0"/>
            </a:br>
            <a:r>
              <a:rPr lang="en-US" sz="3600" dirty="0"/>
              <a:t>FIGURE 2-11 ENTERPRISE APPLICATION ARCHITECTURE</a:t>
            </a:r>
            <a:br>
              <a:rPr lang="en-US" sz="3600" dirty="0"/>
            </a:br>
            <a:r>
              <a:rPr lang="en-US" sz="2000" dirty="0"/>
              <a:t>Enterprise applications automate processes that span multiple business functions and organizational levels and may extend outside the organization.</a:t>
            </a:r>
            <a:br>
              <a:rPr lang="en-US" sz="2000" dirty="0"/>
            </a:br>
            <a:br>
              <a:rPr lang="en-US" dirty="0"/>
            </a:br>
            <a:endParaRPr lang="en-US" dirty="0"/>
          </a:p>
        </p:txBody>
      </p:sp>
      <p:pic>
        <p:nvPicPr>
          <p:cNvPr id="4" name="image21.jpeg" descr="C:\Users\jreuben\Dropbox\13.PNG"/>
          <p:cNvPicPr>
            <a:picLocks noGrp="1"/>
          </p:cNvPicPr>
          <p:nvPr>
            <p:ph idx="1"/>
          </p:nvPr>
        </p:nvPicPr>
        <p:blipFill>
          <a:blip r:embed="rId2" cstate="print"/>
          <a:stretch>
            <a:fillRect/>
          </a:stretch>
        </p:blipFill>
        <p:spPr>
          <a:xfrm>
            <a:off x="685801" y="1676400"/>
            <a:ext cx="7772398" cy="4830762"/>
          </a:xfrm>
          <a:prstGeom prst="rect">
            <a:avLst/>
          </a:prstGeom>
        </p:spPr>
      </p:pic>
    </p:spTree>
    <p:extLst>
      <p:ext uri="{BB962C8B-B14F-4D97-AF65-F5344CB8AC3E}">
        <p14:creationId xmlns:p14="http://schemas.microsoft.com/office/powerpoint/2010/main" val="27827661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458200" cy="1143000"/>
          </a:xfrm>
        </p:spPr>
        <p:txBody>
          <a:bodyPr>
            <a:normAutofit/>
          </a:bodyPr>
          <a:lstStyle/>
          <a:p>
            <a:r>
              <a:rPr lang="en-US" sz="3200" b="1" dirty="0"/>
              <a:t>Enterprise systems, or Enterprise Resource Planning (ERP) systems</a:t>
            </a:r>
            <a:endParaRPr lang="en-US" sz="3200" dirty="0"/>
          </a:p>
        </p:txBody>
      </p:sp>
      <p:sp>
        <p:nvSpPr>
          <p:cNvPr id="3" name="Content Placeholder 2"/>
          <p:cNvSpPr>
            <a:spLocks noGrp="1"/>
          </p:cNvSpPr>
          <p:nvPr>
            <p:ph idx="1"/>
          </p:nvPr>
        </p:nvSpPr>
        <p:spPr>
          <a:xfrm>
            <a:off x="457200" y="1600200"/>
            <a:ext cx="8229600" cy="5105400"/>
          </a:xfrm>
        </p:spPr>
        <p:txBody>
          <a:bodyPr>
            <a:normAutofit fontScale="70000" lnSpcReduction="20000"/>
          </a:bodyPr>
          <a:lstStyle/>
          <a:p>
            <a:r>
              <a:rPr lang="en-US" b="1" dirty="0"/>
              <a:t>Enterprise systems, or enterprise resource planning (ERP) systems</a:t>
            </a:r>
            <a:r>
              <a:rPr lang="en-US" dirty="0"/>
              <a:t>, model and automate many business processes, such as filling an order or scheduling a shipment, with the goal of integrating information across the entire company and eliminating complex, expensive links between computer systems in different areas of the business. Information that was previously fragmented in different systems can seamlessly flow throughout the organization so that it can be shared by business processes in manufacturing, accounting, human resources, and other areas of the firm.</a:t>
            </a:r>
          </a:p>
          <a:p>
            <a:r>
              <a:rPr lang="en-US" dirty="0">
                <a:solidFill>
                  <a:srgbClr val="FF0000"/>
                </a:solidFill>
              </a:rPr>
              <a:t> Discrete business processes from sales, production, finance, and logistics can be integrated into company-wide business processes that flow across organizational levels and functions. </a:t>
            </a:r>
          </a:p>
          <a:p>
            <a:r>
              <a:rPr lang="en-US" dirty="0"/>
              <a:t>The enterprise system collects data from various key business processes and stores the data in a single comprehensive data repository where they can be used by other parts of the business. </a:t>
            </a:r>
            <a:r>
              <a:rPr lang="en-US" b="1" dirty="0"/>
              <a:t>Managers emerge with more precise and timely information for coordinating the daily operations of the business and a firm-wide view of business processes and information flows.</a:t>
            </a:r>
          </a:p>
          <a:p>
            <a:endParaRPr lang="en-US" dirty="0"/>
          </a:p>
        </p:txBody>
      </p:sp>
    </p:spTree>
    <p:extLst>
      <p:ext uri="{BB962C8B-B14F-4D97-AF65-F5344CB8AC3E}">
        <p14:creationId xmlns:p14="http://schemas.microsoft.com/office/powerpoint/2010/main" val="7886270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sz="3100" dirty="0"/>
              <a:t> </a:t>
            </a:r>
            <a:br>
              <a:rPr lang="en-US" sz="3100" dirty="0"/>
            </a:br>
            <a:r>
              <a:rPr lang="en-US" sz="3100" dirty="0"/>
              <a:t> </a:t>
            </a:r>
            <a:br>
              <a:rPr lang="en-US" sz="3100" dirty="0"/>
            </a:br>
            <a:br>
              <a:rPr lang="en-US" sz="3100" dirty="0"/>
            </a:br>
            <a:br>
              <a:rPr lang="en-US" sz="3100" dirty="0"/>
            </a:br>
            <a:br>
              <a:rPr lang="en-US" sz="3100" dirty="0"/>
            </a:br>
            <a:br>
              <a:rPr lang="en-US" sz="3100" dirty="0"/>
            </a:br>
            <a:br>
              <a:rPr lang="en-US" sz="3100" dirty="0"/>
            </a:br>
            <a:r>
              <a:rPr lang="en-US" sz="3100" b="1" dirty="0"/>
              <a:t>FIGURE 2-12 ENTERPRISE SYSTEMS</a:t>
            </a:r>
            <a:br>
              <a:rPr lang="en-US" sz="3100" dirty="0"/>
            </a:br>
            <a:r>
              <a:rPr lang="en-US" sz="3100" dirty="0"/>
              <a:t>Enterprise systems integrate the key business processes of an entire firm into a single software system that enables information to flow seamlessly throughout the organization. </a:t>
            </a:r>
            <a:r>
              <a:rPr lang="en-US" sz="3100" dirty="0">
                <a:solidFill>
                  <a:srgbClr val="FF0000"/>
                </a:solidFill>
              </a:rPr>
              <a:t>These systems focus primarily on internal processes but may include transactions with customers and vendors.</a:t>
            </a:r>
            <a:br>
              <a:rPr lang="en-US" sz="3100" dirty="0">
                <a:solidFill>
                  <a:srgbClr val="FF0000"/>
                </a:solidFill>
              </a:rPr>
            </a:br>
            <a:br>
              <a:rPr lang="en-US" dirty="0"/>
            </a:br>
            <a:endParaRPr lang="en-US" dirty="0"/>
          </a:p>
        </p:txBody>
      </p:sp>
      <p:pic>
        <p:nvPicPr>
          <p:cNvPr id="4" name="image22.jpeg" descr="C:\Users\jreuben\Dropbox\14.PNG"/>
          <p:cNvPicPr>
            <a:picLocks noGrp="1"/>
          </p:cNvPicPr>
          <p:nvPr>
            <p:ph idx="1"/>
          </p:nvPr>
        </p:nvPicPr>
        <p:blipFill>
          <a:blip r:embed="rId2" cstate="print"/>
          <a:stretch>
            <a:fillRect/>
          </a:stretch>
        </p:blipFill>
        <p:spPr>
          <a:xfrm>
            <a:off x="0" y="3154362"/>
            <a:ext cx="9144000" cy="3703638"/>
          </a:xfrm>
          <a:prstGeom prst="rect">
            <a:avLst/>
          </a:prstGeom>
        </p:spPr>
      </p:pic>
    </p:spTree>
    <p:extLst>
      <p:ext uri="{BB962C8B-B14F-4D97-AF65-F5344CB8AC3E}">
        <p14:creationId xmlns:p14="http://schemas.microsoft.com/office/powerpoint/2010/main" val="10699714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Supply chain management (SCM) systems</a:t>
            </a:r>
            <a:endParaRPr lang="en-US" sz="3200" dirty="0"/>
          </a:p>
        </p:txBody>
      </p:sp>
      <p:sp>
        <p:nvSpPr>
          <p:cNvPr id="3" name="Content Placeholder 2"/>
          <p:cNvSpPr>
            <a:spLocks noGrp="1"/>
          </p:cNvSpPr>
          <p:nvPr>
            <p:ph idx="1"/>
          </p:nvPr>
        </p:nvSpPr>
        <p:spPr>
          <a:xfrm>
            <a:off x="457200" y="1143000"/>
            <a:ext cx="8229600" cy="5562600"/>
          </a:xfrm>
        </p:spPr>
        <p:txBody>
          <a:bodyPr>
            <a:normAutofit fontScale="62500" lnSpcReduction="20000"/>
          </a:bodyPr>
          <a:lstStyle/>
          <a:p>
            <a:r>
              <a:rPr lang="en-US" b="1" dirty="0"/>
              <a:t>Supply chain management (SCM) systems </a:t>
            </a:r>
            <a:r>
              <a:rPr lang="en-US" dirty="0"/>
              <a:t>help businesses manage relationships with their suppliers. These systems provide information to help suppliers, purchasing firms, distributors, and logistics companies share information about orders, production, inventory levels, and delivery of products and services so that they can source, produce, and deliver goods and services efficiently.</a:t>
            </a:r>
          </a:p>
          <a:p>
            <a:pPr marL="0" indent="0">
              <a:buNone/>
            </a:pPr>
            <a:endParaRPr lang="en-US" dirty="0"/>
          </a:p>
          <a:p>
            <a:r>
              <a:rPr lang="en-US" b="1" dirty="0"/>
              <a:t>SCM systems increase firm profitability by lowering the costs of moving and making products and by enabling managers to make better decisions about how to organize and schedule sourcing, production, and distribution. </a:t>
            </a:r>
            <a:r>
              <a:rPr lang="en-US" dirty="0"/>
              <a:t>Supply chain management systems are one type of </a:t>
            </a:r>
            <a:r>
              <a:rPr lang="en-US" dirty="0" err="1"/>
              <a:t>interorganizational</a:t>
            </a:r>
            <a:r>
              <a:rPr lang="en-US" dirty="0"/>
              <a:t> system because they automate the flow of information across organizational boundaries. </a:t>
            </a:r>
          </a:p>
          <a:p>
            <a:r>
              <a:rPr lang="en-US" dirty="0"/>
              <a:t>Firms that skillfully manage their supply chains get the right amount of products from their source to point of consumption with the least amount of time and the lowest cost. Figure 2-13 below</a:t>
            </a:r>
          </a:p>
          <a:p>
            <a:pPr marL="0" indent="0">
              <a:buNone/>
            </a:pPr>
            <a:endParaRPr lang="en-US" dirty="0"/>
          </a:p>
          <a:p>
            <a:r>
              <a:rPr lang="en-US" dirty="0"/>
              <a:t>Customer orders, shipping notifications, optimized shipping plans, and other supply chain information flow among Haworth’s Warehouse Management System (WMS), Transportation Management System (TMS), and its back-end corporate systems.</a:t>
            </a:r>
          </a:p>
          <a:p>
            <a:endParaRPr lang="en-US" dirty="0"/>
          </a:p>
          <a:p>
            <a:endParaRPr lang="en-US" dirty="0"/>
          </a:p>
        </p:txBody>
      </p:sp>
    </p:spTree>
    <p:extLst>
      <p:ext uri="{BB962C8B-B14F-4D97-AF65-F5344CB8AC3E}">
        <p14:creationId xmlns:p14="http://schemas.microsoft.com/office/powerpoint/2010/main" val="2556791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br>
              <a:rPr lang="en-US" sz="2400" dirty="0"/>
            </a:br>
            <a:br>
              <a:rPr lang="en-US" sz="2400" dirty="0"/>
            </a:br>
            <a:br>
              <a:rPr lang="en-US" sz="2400" dirty="0"/>
            </a:br>
            <a:br>
              <a:rPr lang="en-US" sz="2400" dirty="0"/>
            </a:br>
            <a:br>
              <a:rPr lang="en-US" sz="2400" dirty="0"/>
            </a:br>
            <a:r>
              <a:rPr lang="en-US" sz="2400" b="1" dirty="0"/>
              <a:t>FIGURE 2-13 EXAMPLE OF A SUPPLY CHAIN MANAGEMENT SYSTEM</a:t>
            </a:r>
            <a:br>
              <a:rPr lang="en-US" sz="2400" dirty="0"/>
            </a:br>
            <a:r>
              <a:rPr lang="en-US" sz="2400" dirty="0"/>
              <a:t>Customer orders, shipping notifications, optimized shipping plans, and other supply chain information flow among Haworth’s Warehouse Management System (WMS), Transportation Management System (TMS), and its back-end corporate systems.</a:t>
            </a:r>
            <a:br>
              <a:rPr lang="en-US" sz="2400" dirty="0"/>
            </a:br>
            <a:br>
              <a:rPr lang="en-US" sz="2800" dirty="0"/>
            </a:br>
            <a:endParaRPr lang="en-US" sz="2800" dirty="0"/>
          </a:p>
        </p:txBody>
      </p:sp>
      <p:pic>
        <p:nvPicPr>
          <p:cNvPr id="4" name="image23.jpeg" descr="C:\Users\jreuben\Dropbox\14.PNG"/>
          <p:cNvPicPr>
            <a:picLocks noGrp="1"/>
          </p:cNvPicPr>
          <p:nvPr>
            <p:ph idx="1"/>
          </p:nvPr>
        </p:nvPicPr>
        <p:blipFill>
          <a:blip r:embed="rId2" cstate="print"/>
          <a:stretch>
            <a:fillRect/>
          </a:stretch>
        </p:blipFill>
        <p:spPr>
          <a:xfrm>
            <a:off x="533400" y="2971800"/>
            <a:ext cx="8077198" cy="3703636"/>
          </a:xfrm>
          <a:prstGeom prst="rect">
            <a:avLst/>
          </a:prstGeom>
        </p:spPr>
      </p:pic>
    </p:spTree>
    <p:extLst>
      <p:ext uri="{BB962C8B-B14F-4D97-AF65-F5344CB8AC3E}">
        <p14:creationId xmlns:p14="http://schemas.microsoft.com/office/powerpoint/2010/main" val="31711860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Customer relationship management (CRM) systems </a:t>
            </a:r>
            <a:endParaRPr lang="en-US" sz="3200" dirty="0"/>
          </a:p>
        </p:txBody>
      </p:sp>
      <p:sp>
        <p:nvSpPr>
          <p:cNvPr id="3" name="Content Placeholder 2"/>
          <p:cNvSpPr>
            <a:spLocks noGrp="1"/>
          </p:cNvSpPr>
          <p:nvPr>
            <p:ph idx="1"/>
          </p:nvPr>
        </p:nvSpPr>
        <p:spPr>
          <a:xfrm>
            <a:off x="457200" y="1600200"/>
            <a:ext cx="8229600" cy="5257800"/>
          </a:xfrm>
        </p:spPr>
        <p:txBody>
          <a:bodyPr>
            <a:normAutofit fontScale="85000" lnSpcReduction="20000"/>
          </a:bodyPr>
          <a:lstStyle/>
          <a:p>
            <a:r>
              <a:rPr lang="en-US" b="1" dirty="0">
                <a:solidFill>
                  <a:srgbClr val="FF0000"/>
                </a:solidFill>
              </a:rPr>
              <a:t>Customer relationship management (CRM) systems </a:t>
            </a:r>
            <a:r>
              <a:rPr lang="en-US" dirty="0">
                <a:solidFill>
                  <a:srgbClr val="FF0000"/>
                </a:solidFill>
              </a:rPr>
              <a:t>focus on coordinating the business processes surrounding a firm's interactions with its customers in sales, marketing, and service to optimize revenue, customer satisfaction, and customer retention</a:t>
            </a:r>
            <a:r>
              <a:rPr lang="en-US" dirty="0"/>
              <a:t>. </a:t>
            </a:r>
          </a:p>
          <a:p>
            <a:r>
              <a:rPr lang="en-US" dirty="0"/>
              <a:t>They consolidate customer data from multiple sources and communication channels to help firms </a:t>
            </a:r>
            <a:r>
              <a:rPr lang="en-US" b="1" dirty="0"/>
              <a:t>identify profitable customers, acquire new customers, improve service and support, and target products and services more precisely to customer preferences. </a:t>
            </a:r>
          </a:p>
          <a:p>
            <a:r>
              <a:rPr lang="en-US" dirty="0"/>
              <a:t>The value of a firm's products and services is based not only on its physical resources but also on intangible knowledge assets. Some firms perform better than others because they have better knowledge about how to create, produce, and deliver products and services.</a:t>
            </a:r>
          </a:p>
          <a:p>
            <a:endParaRPr lang="en-US" dirty="0"/>
          </a:p>
        </p:txBody>
      </p:sp>
    </p:spTree>
    <p:extLst>
      <p:ext uri="{BB962C8B-B14F-4D97-AF65-F5344CB8AC3E}">
        <p14:creationId xmlns:p14="http://schemas.microsoft.com/office/powerpoint/2010/main" val="36858215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Knowledge management systems</a:t>
            </a:r>
            <a:endParaRPr lang="en-US" dirty="0"/>
          </a:p>
        </p:txBody>
      </p:sp>
      <p:sp>
        <p:nvSpPr>
          <p:cNvPr id="3" name="Content Placeholder 2"/>
          <p:cNvSpPr>
            <a:spLocks noGrp="1"/>
          </p:cNvSpPr>
          <p:nvPr>
            <p:ph idx="1"/>
          </p:nvPr>
        </p:nvSpPr>
        <p:spPr>
          <a:xfrm>
            <a:off x="457200" y="1600200"/>
            <a:ext cx="8229600" cy="5257800"/>
          </a:xfrm>
        </p:spPr>
        <p:txBody>
          <a:bodyPr>
            <a:normAutofit fontScale="70000" lnSpcReduction="20000"/>
          </a:bodyPr>
          <a:lstStyle/>
          <a:p>
            <a:r>
              <a:rPr lang="en-US" b="1" dirty="0">
                <a:solidFill>
                  <a:srgbClr val="FF0000"/>
                </a:solidFill>
              </a:rPr>
              <a:t>Knowledge management systems </a:t>
            </a:r>
            <a:r>
              <a:rPr lang="en-US" dirty="0">
                <a:solidFill>
                  <a:srgbClr val="FF0000"/>
                </a:solidFill>
              </a:rPr>
              <a:t>support processes for discovering and codifying, sharing, and distributing knowledge, as well as processes for creating new knowledge and integrating external sources of knowledge.</a:t>
            </a:r>
          </a:p>
          <a:p>
            <a:r>
              <a:rPr lang="en-US" dirty="0"/>
              <a:t>Companies that do not have the resources to invest in enterprise applications can still achieve some measure of information integration by using </a:t>
            </a:r>
            <a:r>
              <a:rPr lang="en-US" b="1" dirty="0"/>
              <a:t>intranets and extranets.</a:t>
            </a:r>
          </a:p>
          <a:p>
            <a:r>
              <a:rPr lang="en-US" b="1" dirty="0"/>
              <a:t>Intranets </a:t>
            </a:r>
            <a:r>
              <a:rPr lang="en-US" dirty="0"/>
              <a:t>typically present information to employees through a private portal that provides a single point of access to information from several different systems and to documents using a Web interface. </a:t>
            </a:r>
          </a:p>
          <a:p>
            <a:r>
              <a:rPr lang="en-US" dirty="0"/>
              <a:t>Corporate portals often feature e-mail, collaboration tools, and tools for searching for internal corporate systems and documents. Companies can connect their intranets to internal company transaction systems, enabling employees to take actions central to a company's operations, such as checking the status of an order or granting a customer credit.</a:t>
            </a:r>
          </a:p>
          <a:p>
            <a:endParaRPr lang="en-US" dirty="0"/>
          </a:p>
        </p:txBody>
      </p:sp>
    </p:spTree>
    <p:extLst>
      <p:ext uri="{BB962C8B-B14F-4D97-AF65-F5344CB8AC3E}">
        <p14:creationId xmlns:p14="http://schemas.microsoft.com/office/powerpoint/2010/main" val="20676477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77000"/>
          </a:xfrm>
        </p:spPr>
        <p:txBody>
          <a:bodyPr>
            <a:normAutofit fontScale="77500" lnSpcReduction="20000"/>
          </a:bodyPr>
          <a:lstStyle/>
          <a:p>
            <a:r>
              <a:rPr lang="en-US" b="1" dirty="0">
                <a:solidFill>
                  <a:srgbClr val="FF0000"/>
                </a:solidFill>
              </a:rPr>
              <a:t>Extranets </a:t>
            </a:r>
            <a:r>
              <a:rPr lang="en-US" dirty="0">
                <a:solidFill>
                  <a:srgbClr val="FF0000"/>
                </a:solidFill>
              </a:rPr>
              <a:t>expedite the flow of information between the firm and its suppliers and customers. They can allow different firms to work collaboratively on product design, marketing, and production.</a:t>
            </a:r>
          </a:p>
          <a:p>
            <a:r>
              <a:rPr lang="en-US" dirty="0"/>
              <a:t>Enterprise applications and technologies are transforming firms' relationships with customers, employees, suppliers, and logistic partners into digital relationships using networks and the Internet.</a:t>
            </a:r>
          </a:p>
          <a:p>
            <a:r>
              <a:rPr lang="en-US" b="1" dirty="0">
                <a:solidFill>
                  <a:srgbClr val="FF0000"/>
                </a:solidFill>
              </a:rPr>
              <a:t>Electronic business, or e-business, </a:t>
            </a:r>
            <a:r>
              <a:rPr lang="en-US" dirty="0">
                <a:solidFill>
                  <a:srgbClr val="FF0000"/>
                </a:solidFill>
              </a:rPr>
              <a:t>refers to the use of digital technology and the Internet to execute the major business processes in the enterprise. </a:t>
            </a:r>
          </a:p>
          <a:p>
            <a:r>
              <a:rPr lang="en-US" dirty="0"/>
              <a:t>E-business includes activities for the internal management of the firm and for coordination with suppliers and other business partners. It also includes electronic commerce, or e-commerce. E-commerce is the part of e-business that deals with the buying and selling of goods and services over the Internet. It encompasses activities supporting those market transactions, such as advertising, marketing, customer support, security, delivery, and payment.</a:t>
            </a:r>
          </a:p>
        </p:txBody>
      </p:sp>
    </p:spTree>
    <p:extLst>
      <p:ext uri="{BB962C8B-B14F-4D97-AF65-F5344CB8AC3E}">
        <p14:creationId xmlns:p14="http://schemas.microsoft.com/office/powerpoint/2010/main" val="13955648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400800"/>
          </a:xfrm>
        </p:spPr>
        <p:txBody>
          <a:bodyPr>
            <a:normAutofit fontScale="70000" lnSpcReduction="20000"/>
          </a:bodyPr>
          <a:lstStyle/>
          <a:p>
            <a:r>
              <a:rPr lang="en-US" b="1" dirty="0"/>
              <a:t>E-government refers to the application </a:t>
            </a:r>
            <a:r>
              <a:rPr lang="en-US" dirty="0"/>
              <a:t>of the Internet and networking technologies to digitally enable government and public sector agencies' relationships with citizens, businesses, and other arms of government. In addition to improving delivery of government services, e-government can make government operations more efficient and also empower citizens by giving them easier access to information.</a:t>
            </a:r>
          </a:p>
          <a:p>
            <a:endParaRPr lang="en-US" dirty="0"/>
          </a:p>
          <a:p>
            <a:r>
              <a:rPr lang="en-US" b="1" dirty="0"/>
              <a:t>The Information Systems Function in Business</a:t>
            </a:r>
          </a:p>
          <a:p>
            <a:pPr marL="0" indent="0">
              <a:buNone/>
            </a:pPr>
            <a:endParaRPr lang="en-US" dirty="0"/>
          </a:p>
          <a:p>
            <a:r>
              <a:rPr lang="en-US" dirty="0"/>
              <a:t>In all but the smallest of firms, the </a:t>
            </a:r>
            <a:r>
              <a:rPr lang="en-US" b="1" dirty="0"/>
              <a:t>information systems department </a:t>
            </a:r>
            <a:r>
              <a:rPr lang="en-US" dirty="0"/>
              <a:t>is the formal organizational unit responsible for information technology services. </a:t>
            </a:r>
          </a:p>
          <a:p>
            <a:r>
              <a:rPr lang="en-US" dirty="0"/>
              <a:t>The information systems department is responsible for maintaining the hardware, software, data storage, and networks that comprise the firm's IT infrastructure. </a:t>
            </a:r>
          </a:p>
          <a:p>
            <a:r>
              <a:rPr lang="en-US" dirty="0"/>
              <a:t>The information systems department suggests new business strategies and new information-based products and services, and coordinates both the development of the technology and the planned changes in the organization. </a:t>
            </a:r>
            <a:r>
              <a:rPr lang="en-US" b="1" dirty="0"/>
              <a:t>The information systems department consists of specialists, such as</a:t>
            </a:r>
            <a:r>
              <a:rPr lang="en-US" dirty="0"/>
              <a:t>:</a:t>
            </a:r>
          </a:p>
          <a:p>
            <a:endParaRPr lang="en-US" dirty="0"/>
          </a:p>
        </p:txBody>
      </p:sp>
    </p:spTree>
    <p:extLst>
      <p:ext uri="{BB962C8B-B14F-4D97-AF65-F5344CB8AC3E}">
        <p14:creationId xmlns:p14="http://schemas.microsoft.com/office/powerpoint/2010/main" val="20463419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0"/>
            <a:ext cx="8839200" cy="6934200"/>
          </a:xfrm>
        </p:spPr>
        <p:txBody>
          <a:bodyPr>
            <a:normAutofit fontScale="55000" lnSpcReduction="20000"/>
          </a:bodyPr>
          <a:lstStyle/>
          <a:p>
            <a:r>
              <a:rPr lang="en-US" b="1" dirty="0"/>
              <a:t>Programmers: </a:t>
            </a:r>
            <a:r>
              <a:rPr lang="en-US" dirty="0"/>
              <a:t>technical specialists who write the software instructions for computers</a:t>
            </a:r>
          </a:p>
          <a:p>
            <a:r>
              <a:rPr lang="en-US" b="1" dirty="0"/>
              <a:t>Systems analysts: </a:t>
            </a:r>
            <a:r>
              <a:rPr lang="en-US" dirty="0"/>
              <a:t>the principal liaisons between the information systems groups and the rest of the organization.</a:t>
            </a:r>
          </a:p>
          <a:p>
            <a:r>
              <a:rPr lang="en-US" b="1" dirty="0"/>
              <a:t>Information systems managers: </a:t>
            </a:r>
            <a:r>
              <a:rPr lang="en-US" dirty="0"/>
              <a:t>leaders of teams of programmers and analysts, project managers, physical facility managers, telecommunications managers, or database specialists</a:t>
            </a:r>
          </a:p>
          <a:p>
            <a:r>
              <a:rPr lang="en-US" dirty="0"/>
              <a:t>In many companies, the information systems department is headed by </a:t>
            </a:r>
            <a:r>
              <a:rPr lang="en-US" b="1" dirty="0"/>
              <a:t>a chief information officer (CIO), </a:t>
            </a:r>
            <a:r>
              <a:rPr lang="en-US" dirty="0"/>
              <a:t>a senior manager who oversees the use of information technology in the firm. </a:t>
            </a:r>
          </a:p>
          <a:p>
            <a:r>
              <a:rPr lang="en-US" b="1" dirty="0"/>
              <a:t>End users </a:t>
            </a:r>
            <a:r>
              <a:rPr lang="en-US" dirty="0"/>
              <a:t>are representatives of departments outside of the information systems group for whom applications are developed. </a:t>
            </a:r>
          </a:p>
          <a:p>
            <a:r>
              <a:rPr lang="en-US" dirty="0"/>
              <a:t>Small companies may not have a formal information systems group.</a:t>
            </a:r>
          </a:p>
          <a:p>
            <a:br>
              <a:rPr lang="en-US" dirty="0"/>
            </a:br>
            <a:r>
              <a:rPr lang="en-US" dirty="0"/>
              <a:t>Larger companies will have a separate information systems department, which may be organized along several different lines, depending on the nature and interests of the firm, such as:</a:t>
            </a:r>
          </a:p>
          <a:p>
            <a:r>
              <a:rPr lang="en-US" b="1" dirty="0"/>
              <a:t>Decentralized arrangement: </a:t>
            </a:r>
            <a:r>
              <a:rPr lang="en-US" dirty="0"/>
              <a:t>Each functional area of the business has its own information systems department and management that typically reports to a senior manager or chief information officer.</a:t>
            </a:r>
          </a:p>
          <a:p>
            <a:r>
              <a:rPr lang="en-US" b="1" dirty="0"/>
              <a:t>Separate department: </a:t>
            </a:r>
            <a:r>
              <a:rPr lang="en-US" dirty="0"/>
              <a:t>In this arrangement, the information systems function operates as a separate department similar to the other functional departments with a large staff, a group of middle managers, and a senior management group.</a:t>
            </a:r>
          </a:p>
          <a:p>
            <a:r>
              <a:rPr lang="en-US" b="1" dirty="0"/>
              <a:t>Divisional groups: </a:t>
            </a:r>
            <a:r>
              <a:rPr lang="en-US" dirty="0"/>
              <a:t>Very large "Fortune 1,000"-size firms with multiple divisions and product lines might allow each division (such as the Consumer Products Division or the Chemicals and Additives Division) to have its own information systems group. All of these divisional information systems groups report to a high-level central information systems group and CIO.</a:t>
            </a:r>
          </a:p>
          <a:p>
            <a:endParaRPr lang="en-US" dirty="0"/>
          </a:p>
        </p:txBody>
      </p:sp>
    </p:spTree>
    <p:extLst>
      <p:ext uri="{BB962C8B-B14F-4D97-AF65-F5344CB8AC3E}">
        <p14:creationId xmlns:p14="http://schemas.microsoft.com/office/powerpoint/2010/main" val="29357794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2018</TotalTime>
  <Words>2579</Words>
  <Application>Microsoft Office PowerPoint</Application>
  <PresentationFormat>On-screen Show (4:3)</PresentationFormat>
  <Paragraphs>92</Paragraphs>
  <Slides>29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Revision Activity 1:  For each department: HR, Finance, Marketing, Operations.  Discuss IS support. Output: Poster or short slide. </vt:lpstr>
      <vt:lpstr>Revision Activity 2:</vt:lpstr>
      <vt:lpstr>Business Processes and Information Systems </vt:lpstr>
      <vt:lpstr>            FIGURE 2-1 THE ORDER FULFILLMENT PROCESS Fulfilling a customer order involves a complex set of steps that requires the close coordination of the sales, accounting, and manufacturing functions. Information systems enhance business processes in primarily two ways:  (1)Increasing the efficiency of existing processes (2)Enabling entirely new processes that are capable of transforming the business</vt:lpstr>
      <vt:lpstr>Types of Business Information Systems </vt:lpstr>
      <vt:lpstr>        FIGURE 2-2 EXAMPLE OF A SALES INFORMATION SYSTEM This system captures sales data at the moment the sale takes place to help the business monitor sales transactions and to provide information to help management analyze sales trends and the effectiveness of marketing campaigns.  </vt:lpstr>
      <vt:lpstr>       2) Manufacturing and production information systems deal with the planning, development, and production of products and services, and controlling the flow of production.    </vt:lpstr>
      <vt:lpstr>   FIGURE 2-3 OVERVIEW OF AN INVENTORY SYSTEM   This system provides information about the number of items available in inventory to support manufacturing and production activities. </vt:lpstr>
      <vt:lpstr>3) Finance and accounting information systems keep track of the firm's financial assets and fund flows. </vt:lpstr>
      <vt:lpstr>   4) Human resources information systems maintain employee records, track employee skills, job performance and training, and support planning for employee compensation and career development. Figure 2-5 below </vt:lpstr>
      <vt:lpstr>There are four main categories of systems from a constituency perspective</vt:lpstr>
      <vt:lpstr>FIGURE 2-6 HOW MANAGEMENT INFORMATION SYSTEMS OBTAIN THEIR DATA FROM THE ORGANIZATION’S TPS</vt:lpstr>
      <vt:lpstr>PowerPoint Presentation</vt:lpstr>
      <vt:lpstr>    FIGURE 2-8 VOYAGE-ESTIMATING DECISION-SUPPORT SYSTEM </vt:lpstr>
      <vt:lpstr>PowerPoint Presentation</vt:lpstr>
      <vt:lpstr>    FIGURE 2-9 MODEL OF AN EXECUTIVE SUPPORT SYSTEM This system pools data from diverse internal and external sources and makes them available to executives in an easy-to-use form.  </vt:lpstr>
      <vt:lpstr>   Ideally, these constituency-based systems are interrelated. TPS are typically a major source of data for other systems, whereas ESS are primarily a recipient of data from lower-level systems and external sources. Figure 2-10 below. </vt:lpstr>
      <vt:lpstr>PowerPoint Presentation</vt:lpstr>
      <vt:lpstr>PowerPoint Presentation</vt:lpstr>
      <vt:lpstr>  FIGURE 2-11 ENTERPRISE APPLICATION ARCHITECTURE Enterprise applications automate processes that span multiple business functions and organizational levels and may extend outside the organization.  </vt:lpstr>
      <vt:lpstr>Enterprise systems, or Enterprise Resource Planning (ERP) systems</vt:lpstr>
      <vt:lpstr>         FIGURE 2-12 ENTERPRISE SYSTEMS Enterprise systems integrate the key business processes of an entire firm into a single software system that enables information to flow seamlessly throughout the organization. These systems focus primarily on internal processes but may include transactions with customers and vendors.  </vt:lpstr>
      <vt:lpstr>Supply chain management (SCM) systems</vt:lpstr>
      <vt:lpstr>     FIGURE 2-13 EXAMPLE OF A SUPPLY CHAIN MANAGEMENT SYSTEM Customer orders, shipping notifications, optimized shipping plans, and other supply chain information flow among Haworth’s Warehouse Management System (WMS), Transportation Management System (TMS), and its back-end corporate systems.  </vt:lpstr>
      <vt:lpstr>Customer relationship management (CRM) systems </vt:lpstr>
      <vt:lpstr>Knowledge management systems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Comp1</dc:creator>
  <cp:lastModifiedBy>USER</cp:lastModifiedBy>
  <cp:revision>44</cp:revision>
  <dcterms:created xsi:type="dcterms:W3CDTF">2021-11-14T01:48:27Z</dcterms:created>
  <dcterms:modified xsi:type="dcterms:W3CDTF">2025-09-10T09:33:27Z</dcterms:modified>
</cp:coreProperties>
</file>