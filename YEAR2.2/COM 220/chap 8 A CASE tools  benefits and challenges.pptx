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256" r:id="rId3"/>
    <p:sldId id="307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308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5" r:id="rId28"/>
  </p:sldIdLst>
  <p:sldSz cx="9144000" cy="6096000"/>
  <p:notesSz cx="6997700" cy="92583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Helvetica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Helvetica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Helvetica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Helvetica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D1039B"/>
    <a:srgbClr val="AD278D"/>
    <a:srgbClr val="8C4881"/>
    <a:srgbClr val="FF6699"/>
    <a:srgbClr val="D7FA7E"/>
    <a:srgbClr val="96E3FE"/>
    <a:srgbClr val="96AB00"/>
    <a:srgbClr val="F3FF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8477" autoAdjust="0"/>
    <p:restoredTop sz="90929"/>
  </p:normalViewPr>
  <p:slideViewPr>
    <p:cSldViewPr snapToGrid="0">
      <p:cViewPr varScale="1">
        <p:scale>
          <a:sx n="71" d="100"/>
          <a:sy n="71" d="100"/>
        </p:scale>
        <p:origin x="-96" y="-162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2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12850" y="793750"/>
            <a:ext cx="4584700" cy="30607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895350" y="693738"/>
            <a:ext cx="5207000" cy="34718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870403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33450" y="4397375"/>
            <a:ext cx="5130800" cy="41671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 lIns="92885" tIns="46442" rIns="92885" bIns="46442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793750"/>
            <a:ext cx="4591050" cy="306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088" y="4397375"/>
            <a:ext cx="5597525" cy="41671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810" name="Group 2"/>
          <p:cNvGrpSpPr/>
          <p:nvPr/>
        </p:nvGrpSpPr>
        <p:grpSpPr bwMode="auto">
          <a:xfrm>
            <a:off x="0" y="0"/>
            <a:ext cx="9140825" cy="6089650"/>
            <a:chOff x="0" y="0"/>
            <a:chExt cx="5758" cy="4315"/>
          </a:xfrm>
        </p:grpSpPr>
        <p:sp>
          <p:nvSpPr>
            <p:cNvPr id="759811" name="Freeform 3"/>
            <p:cNvSpPr/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59812" name="Group 4"/>
            <p:cNvGrpSpPr/>
            <p:nvPr userDrawn="1"/>
          </p:nvGrpSpPr>
          <p:grpSpPr bwMode="auto">
            <a:xfrm>
              <a:off x="1728" y="1409"/>
              <a:ext cx="4027" cy="2906"/>
              <a:chOff x="1728" y="1409"/>
              <a:chExt cx="4027" cy="2906"/>
            </a:xfrm>
          </p:grpSpPr>
          <p:sp>
            <p:nvSpPr>
              <p:cNvPr id="759813" name="Freeform 5"/>
              <p:cNvSpPr/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814" name="Freeform 6"/>
              <p:cNvSpPr/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815" name="Freeform 7"/>
              <p:cNvSpPr/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90980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816" name="Freeform 8"/>
              <p:cNvSpPr/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817" name="Freeform 9"/>
              <p:cNvSpPr/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90980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818" name="Freeform 10"/>
              <p:cNvSpPr/>
              <p:nvPr/>
            </p:nvSpPr>
            <p:spPr bwMode="hidden">
              <a:xfrm>
                <a:off x="3231" y="1409"/>
                <a:ext cx="2296" cy="1469"/>
              </a:xfrm>
              <a:custGeom>
                <a:avLst/>
                <a:gdLst/>
                <a:ahLst/>
                <a:cxnLst>
                  <a:cxn ang="0">
                    <a:pos x="982" y="1061"/>
                  </a:cxn>
                  <a:cxn ang="0">
                    <a:pos x="1357" y="1012"/>
                  </a:cxn>
                  <a:cxn ang="0">
                    <a:pos x="1666" y="957"/>
                  </a:cxn>
                  <a:cxn ang="0">
                    <a:pos x="1916" y="897"/>
                  </a:cxn>
                  <a:cxn ang="0">
                    <a:pos x="2100" y="832"/>
                  </a:cxn>
                  <a:cxn ang="0">
                    <a:pos x="2220" y="756"/>
                  </a:cxn>
                  <a:cxn ang="0">
                    <a:pos x="2285" y="669"/>
                  </a:cxn>
                  <a:cxn ang="0">
                    <a:pos x="2290" y="560"/>
                  </a:cxn>
                  <a:cxn ang="0">
                    <a:pos x="2241" y="457"/>
                  </a:cxn>
                  <a:cxn ang="0">
                    <a:pos x="2144" y="364"/>
                  </a:cxn>
                  <a:cxn ang="0">
                    <a:pos x="2008" y="277"/>
                  </a:cxn>
                  <a:cxn ang="0">
                    <a:pos x="1769" y="157"/>
                  </a:cxn>
                  <a:cxn ang="0">
                    <a:pos x="1612" y="92"/>
                  </a:cxn>
                  <a:cxn ang="0">
                    <a:pos x="1476" y="43"/>
                  </a:cxn>
                  <a:cxn ang="0">
                    <a:pos x="1384" y="10"/>
                  </a:cxn>
                  <a:cxn ang="0">
                    <a:pos x="1346" y="0"/>
                  </a:cxn>
                  <a:cxn ang="0">
                    <a:pos x="1655" y="119"/>
                  </a:cxn>
                  <a:cxn ang="0">
                    <a:pos x="1948" y="255"/>
                  </a:cxn>
                  <a:cxn ang="0">
                    <a:pos x="2068" y="326"/>
                  </a:cxn>
                  <a:cxn ang="0">
                    <a:pos x="2171" y="402"/>
                  </a:cxn>
                  <a:cxn ang="0">
                    <a:pos x="2236" y="478"/>
                  </a:cxn>
                  <a:cxn ang="0">
                    <a:pos x="2263" y="560"/>
                  </a:cxn>
                  <a:cxn ang="0">
                    <a:pos x="2241" y="636"/>
                  </a:cxn>
                  <a:cxn ang="0">
                    <a:pos x="2171" y="702"/>
                  </a:cxn>
                  <a:cxn ang="0">
                    <a:pos x="2062" y="756"/>
                  </a:cxn>
                  <a:cxn ang="0">
                    <a:pos x="1921" y="800"/>
                  </a:cxn>
                  <a:cxn ang="0">
                    <a:pos x="1748" y="843"/>
                  </a:cxn>
                  <a:cxn ang="0">
                    <a:pos x="1351" y="908"/>
                  </a:cxn>
                  <a:cxn ang="0">
                    <a:pos x="923" y="968"/>
                  </a:cxn>
                  <a:cxn ang="0">
                    <a:pos x="521" y="1028"/>
                  </a:cxn>
                  <a:cxn ang="0">
                    <a:pos x="353" y="1066"/>
                  </a:cxn>
                  <a:cxn ang="0">
                    <a:pos x="206" y="1104"/>
                  </a:cxn>
                  <a:cxn ang="0">
                    <a:pos x="92" y="1148"/>
                  </a:cxn>
                  <a:cxn ang="0">
                    <a:pos x="22" y="1202"/>
                  </a:cxn>
                  <a:cxn ang="0">
                    <a:pos x="0" y="1262"/>
                  </a:cxn>
                  <a:cxn ang="0">
                    <a:pos x="27" y="1327"/>
                  </a:cxn>
                  <a:cxn ang="0">
                    <a:pos x="98" y="1382"/>
                  </a:cxn>
                  <a:cxn ang="0">
                    <a:pos x="196" y="1425"/>
                  </a:cxn>
                  <a:cxn ang="0">
                    <a:pos x="326" y="1469"/>
                  </a:cxn>
                  <a:cxn ang="0">
                    <a:pos x="217" y="1414"/>
                  </a:cxn>
                  <a:cxn ang="0">
                    <a:pos x="147" y="1360"/>
                  </a:cxn>
                  <a:cxn ang="0">
                    <a:pos x="120" y="1306"/>
                  </a:cxn>
                  <a:cxn ang="0">
                    <a:pos x="141" y="1257"/>
                  </a:cxn>
                  <a:cxn ang="0">
                    <a:pos x="212" y="1208"/>
                  </a:cxn>
                  <a:cxn ang="0">
                    <a:pos x="342" y="1164"/>
                  </a:cxn>
                  <a:cxn ang="0">
                    <a:pos x="527" y="1121"/>
                  </a:cxn>
                  <a:cxn ang="0">
                    <a:pos x="771" y="1088"/>
                  </a:cxn>
                </a:cxnLst>
                <a:rect l="0" t="0" r="r" b="b"/>
                <a:pathLst>
                  <a:path w="2296" h="1469">
                    <a:moveTo>
                      <a:pt x="771" y="1088"/>
                    </a:moveTo>
                    <a:lnTo>
                      <a:pt x="982" y="1061"/>
                    </a:lnTo>
                    <a:lnTo>
                      <a:pt x="1178" y="1034"/>
                    </a:lnTo>
                    <a:lnTo>
                      <a:pt x="1357" y="1012"/>
                    </a:lnTo>
                    <a:lnTo>
                      <a:pt x="1520" y="985"/>
                    </a:lnTo>
                    <a:lnTo>
                      <a:pt x="1666" y="957"/>
                    </a:lnTo>
                    <a:lnTo>
                      <a:pt x="1796" y="930"/>
                    </a:lnTo>
                    <a:lnTo>
                      <a:pt x="1916" y="897"/>
                    </a:lnTo>
                    <a:lnTo>
                      <a:pt x="2013" y="870"/>
                    </a:lnTo>
                    <a:lnTo>
                      <a:pt x="2100" y="832"/>
                    </a:lnTo>
                    <a:lnTo>
                      <a:pt x="2171" y="800"/>
                    </a:lnTo>
                    <a:lnTo>
                      <a:pt x="2220" y="756"/>
                    </a:lnTo>
                    <a:lnTo>
                      <a:pt x="2263" y="712"/>
                    </a:lnTo>
                    <a:lnTo>
                      <a:pt x="2285" y="669"/>
                    </a:lnTo>
                    <a:lnTo>
                      <a:pt x="2296" y="614"/>
                    </a:lnTo>
                    <a:lnTo>
                      <a:pt x="2290" y="560"/>
                    </a:lnTo>
                    <a:lnTo>
                      <a:pt x="2269" y="500"/>
                    </a:lnTo>
                    <a:lnTo>
                      <a:pt x="2241" y="457"/>
                    </a:lnTo>
                    <a:lnTo>
                      <a:pt x="2198" y="408"/>
                    </a:lnTo>
                    <a:lnTo>
                      <a:pt x="2144" y="364"/>
                    </a:lnTo>
                    <a:lnTo>
                      <a:pt x="2079" y="321"/>
                    </a:lnTo>
                    <a:lnTo>
                      <a:pt x="2008" y="277"/>
                    </a:lnTo>
                    <a:lnTo>
                      <a:pt x="1927" y="234"/>
                    </a:lnTo>
                    <a:lnTo>
                      <a:pt x="1769" y="157"/>
                    </a:lnTo>
                    <a:lnTo>
                      <a:pt x="1688" y="125"/>
                    </a:lnTo>
                    <a:lnTo>
                      <a:pt x="1612" y="92"/>
                    </a:lnTo>
                    <a:lnTo>
                      <a:pt x="1536" y="65"/>
                    </a:lnTo>
                    <a:lnTo>
                      <a:pt x="1476" y="43"/>
                    </a:lnTo>
                    <a:lnTo>
                      <a:pt x="1422" y="27"/>
                    </a:lnTo>
                    <a:lnTo>
                      <a:pt x="1384" y="10"/>
                    </a:lnTo>
                    <a:lnTo>
                      <a:pt x="1357" y="5"/>
                    </a:lnTo>
                    <a:lnTo>
                      <a:pt x="1346" y="0"/>
                    </a:lnTo>
                    <a:lnTo>
                      <a:pt x="1498" y="54"/>
                    </a:lnTo>
                    <a:lnTo>
                      <a:pt x="1655" y="119"/>
                    </a:lnTo>
                    <a:lnTo>
                      <a:pt x="1807" y="185"/>
                    </a:lnTo>
                    <a:lnTo>
                      <a:pt x="1948" y="255"/>
                    </a:lnTo>
                    <a:lnTo>
                      <a:pt x="2013" y="288"/>
                    </a:lnTo>
                    <a:lnTo>
                      <a:pt x="2068" y="326"/>
                    </a:lnTo>
                    <a:lnTo>
                      <a:pt x="2122" y="364"/>
                    </a:lnTo>
                    <a:lnTo>
                      <a:pt x="2171" y="402"/>
                    </a:lnTo>
                    <a:lnTo>
                      <a:pt x="2209" y="440"/>
                    </a:lnTo>
                    <a:lnTo>
                      <a:pt x="2236" y="478"/>
                    </a:lnTo>
                    <a:lnTo>
                      <a:pt x="2252" y="522"/>
                    </a:lnTo>
                    <a:lnTo>
                      <a:pt x="2263" y="560"/>
                    </a:lnTo>
                    <a:lnTo>
                      <a:pt x="2258" y="598"/>
                    </a:lnTo>
                    <a:lnTo>
                      <a:pt x="2241" y="636"/>
                    </a:lnTo>
                    <a:lnTo>
                      <a:pt x="2214" y="669"/>
                    </a:lnTo>
                    <a:lnTo>
                      <a:pt x="2171" y="702"/>
                    </a:lnTo>
                    <a:lnTo>
                      <a:pt x="2122" y="729"/>
                    </a:lnTo>
                    <a:lnTo>
                      <a:pt x="2062" y="756"/>
                    </a:lnTo>
                    <a:lnTo>
                      <a:pt x="1997" y="778"/>
                    </a:lnTo>
                    <a:lnTo>
                      <a:pt x="1921" y="800"/>
                    </a:lnTo>
                    <a:lnTo>
                      <a:pt x="1834" y="821"/>
                    </a:lnTo>
                    <a:lnTo>
                      <a:pt x="1748" y="843"/>
                    </a:lnTo>
                    <a:lnTo>
                      <a:pt x="1552" y="876"/>
                    </a:lnTo>
                    <a:lnTo>
                      <a:pt x="1351" y="908"/>
                    </a:lnTo>
                    <a:lnTo>
                      <a:pt x="1134" y="941"/>
                    </a:lnTo>
                    <a:lnTo>
                      <a:pt x="923" y="968"/>
                    </a:lnTo>
                    <a:lnTo>
                      <a:pt x="716" y="995"/>
                    </a:lnTo>
                    <a:lnTo>
                      <a:pt x="521" y="1028"/>
                    </a:lnTo>
                    <a:lnTo>
                      <a:pt x="434" y="1044"/>
                    </a:lnTo>
                    <a:lnTo>
                      <a:pt x="353" y="1066"/>
                    </a:lnTo>
                    <a:lnTo>
                      <a:pt x="277" y="1082"/>
                    </a:lnTo>
                    <a:lnTo>
                      <a:pt x="206" y="1104"/>
                    </a:lnTo>
                    <a:lnTo>
                      <a:pt x="147" y="1126"/>
                    </a:lnTo>
                    <a:lnTo>
                      <a:pt x="92" y="1148"/>
                    </a:lnTo>
                    <a:lnTo>
                      <a:pt x="54" y="1175"/>
                    </a:lnTo>
                    <a:lnTo>
                      <a:pt x="22" y="1202"/>
                    </a:lnTo>
                    <a:lnTo>
                      <a:pt x="6" y="1229"/>
                    </a:lnTo>
                    <a:lnTo>
                      <a:pt x="0" y="1262"/>
                    </a:lnTo>
                    <a:lnTo>
                      <a:pt x="11" y="1295"/>
                    </a:lnTo>
                    <a:lnTo>
                      <a:pt x="27" y="1327"/>
                    </a:lnTo>
                    <a:lnTo>
                      <a:pt x="54" y="1355"/>
                    </a:lnTo>
                    <a:lnTo>
                      <a:pt x="98" y="1382"/>
                    </a:lnTo>
                    <a:lnTo>
                      <a:pt x="141" y="1404"/>
                    </a:lnTo>
                    <a:lnTo>
                      <a:pt x="196" y="1425"/>
                    </a:lnTo>
                    <a:lnTo>
                      <a:pt x="261" y="1447"/>
                    </a:lnTo>
                    <a:lnTo>
                      <a:pt x="326" y="1469"/>
                    </a:lnTo>
                    <a:lnTo>
                      <a:pt x="266" y="1442"/>
                    </a:lnTo>
                    <a:lnTo>
                      <a:pt x="217" y="1414"/>
                    </a:lnTo>
                    <a:lnTo>
                      <a:pt x="174" y="1387"/>
                    </a:lnTo>
                    <a:lnTo>
                      <a:pt x="147" y="1360"/>
                    </a:lnTo>
                    <a:lnTo>
                      <a:pt x="125" y="1333"/>
                    </a:lnTo>
                    <a:lnTo>
                      <a:pt x="120" y="1306"/>
                    </a:lnTo>
                    <a:lnTo>
                      <a:pt x="125" y="1278"/>
                    </a:lnTo>
                    <a:lnTo>
                      <a:pt x="141" y="1257"/>
                    </a:lnTo>
                    <a:lnTo>
                      <a:pt x="174" y="1229"/>
                    </a:lnTo>
                    <a:lnTo>
                      <a:pt x="212" y="1208"/>
                    </a:lnTo>
                    <a:lnTo>
                      <a:pt x="272" y="1186"/>
                    </a:lnTo>
                    <a:lnTo>
                      <a:pt x="342" y="1164"/>
                    </a:lnTo>
                    <a:lnTo>
                      <a:pt x="423" y="1142"/>
                    </a:lnTo>
                    <a:lnTo>
                      <a:pt x="527" y="1121"/>
                    </a:lnTo>
                    <a:lnTo>
                      <a:pt x="641" y="1104"/>
                    </a:lnTo>
                    <a:lnTo>
                      <a:pt x="771" y="1088"/>
                    </a:lnTo>
                    <a:lnTo>
                      <a:pt x="771" y="108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90980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759819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543050"/>
            <a:ext cx="7772400" cy="17081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59820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454400"/>
            <a:ext cx="6400800" cy="155733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59821" name="Rectangle 13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5554663"/>
            <a:ext cx="2133600" cy="42227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defRPr sz="1200" b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5982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5556250"/>
            <a:ext cx="2895600" cy="423863"/>
          </a:xfrm>
        </p:spPr>
        <p:txBody>
          <a:bodyPr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5982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5559425"/>
            <a:ext cx="2133600" cy="423863"/>
          </a:xfrm>
        </p:spPr>
        <p:txBody>
          <a:bodyPr/>
          <a:lstStyle>
            <a:lvl1pPr>
              <a:defRPr/>
            </a:lvl1pPr>
          </a:lstStyle>
          <a:p>
            <a:fld id="{92A6E091-2F37-4142-B9B4-FA71CD8F4302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F594EE-F6F6-432F-94F3-607941C385B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917950"/>
            <a:ext cx="7772400" cy="12096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84450"/>
            <a:ext cx="7772400" cy="13335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E670548-DBC0-476B-8750-2823C8061EF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22400"/>
            <a:ext cx="4038600" cy="39989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22400"/>
            <a:ext cx="4038600" cy="39989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A63DB8-2379-459D-A0D8-C54D526872E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65250"/>
            <a:ext cx="4040188" cy="5683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33575"/>
            <a:ext cx="4040188" cy="35115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65250"/>
            <a:ext cx="4041775" cy="5683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33575"/>
            <a:ext cx="4041775" cy="35115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CED728-6AAC-4925-B3AF-9CECC2C86C0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738C378-B7F3-46DB-A702-63039DEF4AC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2A7E7B-23DF-4EFE-B193-A753536B022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2888"/>
            <a:ext cx="3008313" cy="10334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42888"/>
            <a:ext cx="5111750" cy="5202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76350"/>
            <a:ext cx="3008313" cy="41687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3F4654-B184-476E-AAF3-86E5410D80C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267200"/>
            <a:ext cx="5486400" cy="503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44513"/>
            <a:ext cx="5486400" cy="3657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770438"/>
            <a:ext cx="5486400" cy="7159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297625-FE09-4B17-B5C8-D21A8503298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FCA5A6-B99E-45D8-9A33-09C637AED45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44475"/>
            <a:ext cx="2057400" cy="5176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44475"/>
            <a:ext cx="6019800" cy="5176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93BFA29-07B4-4480-9F59-73560BC69D8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8786" name="Group 2"/>
          <p:cNvGrpSpPr/>
          <p:nvPr/>
        </p:nvGrpSpPr>
        <p:grpSpPr bwMode="auto">
          <a:xfrm>
            <a:off x="0" y="0"/>
            <a:ext cx="9140825" cy="6089650"/>
            <a:chOff x="0" y="0"/>
            <a:chExt cx="5758" cy="4315"/>
          </a:xfrm>
        </p:grpSpPr>
        <p:sp>
          <p:nvSpPr>
            <p:cNvPr id="758787" name="Freeform 3"/>
            <p:cNvSpPr/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58788" name="Group 4"/>
            <p:cNvGrpSpPr/>
            <p:nvPr userDrawn="1"/>
          </p:nvGrpSpPr>
          <p:grpSpPr bwMode="auto">
            <a:xfrm>
              <a:off x="1728" y="1409"/>
              <a:ext cx="4027" cy="2906"/>
              <a:chOff x="1728" y="1409"/>
              <a:chExt cx="4027" cy="2906"/>
            </a:xfrm>
          </p:grpSpPr>
          <p:sp>
            <p:nvSpPr>
              <p:cNvPr id="758789" name="Freeform 5"/>
              <p:cNvSpPr/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790" name="Freeform 6"/>
              <p:cNvSpPr/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791" name="Freeform 7"/>
              <p:cNvSpPr/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90980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792" name="Freeform 8"/>
              <p:cNvSpPr/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793" name="Freeform 9"/>
              <p:cNvSpPr/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90980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794" name="Freeform 10"/>
              <p:cNvSpPr/>
              <p:nvPr/>
            </p:nvSpPr>
            <p:spPr bwMode="hidden">
              <a:xfrm>
                <a:off x="3231" y="1409"/>
                <a:ext cx="2296" cy="1469"/>
              </a:xfrm>
              <a:custGeom>
                <a:avLst/>
                <a:gdLst/>
                <a:ahLst/>
                <a:cxnLst>
                  <a:cxn ang="0">
                    <a:pos x="982" y="1061"/>
                  </a:cxn>
                  <a:cxn ang="0">
                    <a:pos x="1357" y="1012"/>
                  </a:cxn>
                  <a:cxn ang="0">
                    <a:pos x="1666" y="957"/>
                  </a:cxn>
                  <a:cxn ang="0">
                    <a:pos x="1916" y="897"/>
                  </a:cxn>
                  <a:cxn ang="0">
                    <a:pos x="2100" y="832"/>
                  </a:cxn>
                  <a:cxn ang="0">
                    <a:pos x="2220" y="756"/>
                  </a:cxn>
                  <a:cxn ang="0">
                    <a:pos x="2285" y="669"/>
                  </a:cxn>
                  <a:cxn ang="0">
                    <a:pos x="2290" y="560"/>
                  </a:cxn>
                  <a:cxn ang="0">
                    <a:pos x="2241" y="457"/>
                  </a:cxn>
                  <a:cxn ang="0">
                    <a:pos x="2144" y="364"/>
                  </a:cxn>
                  <a:cxn ang="0">
                    <a:pos x="2008" y="277"/>
                  </a:cxn>
                  <a:cxn ang="0">
                    <a:pos x="1769" y="157"/>
                  </a:cxn>
                  <a:cxn ang="0">
                    <a:pos x="1612" y="92"/>
                  </a:cxn>
                  <a:cxn ang="0">
                    <a:pos x="1476" y="43"/>
                  </a:cxn>
                  <a:cxn ang="0">
                    <a:pos x="1384" y="10"/>
                  </a:cxn>
                  <a:cxn ang="0">
                    <a:pos x="1346" y="0"/>
                  </a:cxn>
                  <a:cxn ang="0">
                    <a:pos x="1655" y="119"/>
                  </a:cxn>
                  <a:cxn ang="0">
                    <a:pos x="1948" y="255"/>
                  </a:cxn>
                  <a:cxn ang="0">
                    <a:pos x="2068" y="326"/>
                  </a:cxn>
                  <a:cxn ang="0">
                    <a:pos x="2171" y="402"/>
                  </a:cxn>
                  <a:cxn ang="0">
                    <a:pos x="2236" y="478"/>
                  </a:cxn>
                  <a:cxn ang="0">
                    <a:pos x="2263" y="560"/>
                  </a:cxn>
                  <a:cxn ang="0">
                    <a:pos x="2241" y="636"/>
                  </a:cxn>
                  <a:cxn ang="0">
                    <a:pos x="2171" y="702"/>
                  </a:cxn>
                  <a:cxn ang="0">
                    <a:pos x="2062" y="756"/>
                  </a:cxn>
                  <a:cxn ang="0">
                    <a:pos x="1921" y="800"/>
                  </a:cxn>
                  <a:cxn ang="0">
                    <a:pos x="1748" y="843"/>
                  </a:cxn>
                  <a:cxn ang="0">
                    <a:pos x="1351" y="908"/>
                  </a:cxn>
                  <a:cxn ang="0">
                    <a:pos x="923" y="968"/>
                  </a:cxn>
                  <a:cxn ang="0">
                    <a:pos x="521" y="1028"/>
                  </a:cxn>
                  <a:cxn ang="0">
                    <a:pos x="353" y="1066"/>
                  </a:cxn>
                  <a:cxn ang="0">
                    <a:pos x="206" y="1104"/>
                  </a:cxn>
                  <a:cxn ang="0">
                    <a:pos x="92" y="1148"/>
                  </a:cxn>
                  <a:cxn ang="0">
                    <a:pos x="22" y="1202"/>
                  </a:cxn>
                  <a:cxn ang="0">
                    <a:pos x="0" y="1262"/>
                  </a:cxn>
                  <a:cxn ang="0">
                    <a:pos x="27" y="1327"/>
                  </a:cxn>
                  <a:cxn ang="0">
                    <a:pos x="98" y="1382"/>
                  </a:cxn>
                  <a:cxn ang="0">
                    <a:pos x="196" y="1425"/>
                  </a:cxn>
                  <a:cxn ang="0">
                    <a:pos x="326" y="1469"/>
                  </a:cxn>
                  <a:cxn ang="0">
                    <a:pos x="217" y="1414"/>
                  </a:cxn>
                  <a:cxn ang="0">
                    <a:pos x="147" y="1360"/>
                  </a:cxn>
                  <a:cxn ang="0">
                    <a:pos x="120" y="1306"/>
                  </a:cxn>
                  <a:cxn ang="0">
                    <a:pos x="141" y="1257"/>
                  </a:cxn>
                  <a:cxn ang="0">
                    <a:pos x="212" y="1208"/>
                  </a:cxn>
                  <a:cxn ang="0">
                    <a:pos x="342" y="1164"/>
                  </a:cxn>
                  <a:cxn ang="0">
                    <a:pos x="527" y="1121"/>
                  </a:cxn>
                  <a:cxn ang="0">
                    <a:pos x="771" y="1088"/>
                  </a:cxn>
                </a:cxnLst>
                <a:rect l="0" t="0" r="r" b="b"/>
                <a:pathLst>
                  <a:path w="2296" h="1469">
                    <a:moveTo>
                      <a:pt x="771" y="1088"/>
                    </a:moveTo>
                    <a:lnTo>
                      <a:pt x="982" y="1061"/>
                    </a:lnTo>
                    <a:lnTo>
                      <a:pt x="1178" y="1034"/>
                    </a:lnTo>
                    <a:lnTo>
                      <a:pt x="1357" y="1012"/>
                    </a:lnTo>
                    <a:lnTo>
                      <a:pt x="1520" y="985"/>
                    </a:lnTo>
                    <a:lnTo>
                      <a:pt x="1666" y="957"/>
                    </a:lnTo>
                    <a:lnTo>
                      <a:pt x="1796" y="930"/>
                    </a:lnTo>
                    <a:lnTo>
                      <a:pt x="1916" y="897"/>
                    </a:lnTo>
                    <a:lnTo>
                      <a:pt x="2013" y="870"/>
                    </a:lnTo>
                    <a:lnTo>
                      <a:pt x="2100" y="832"/>
                    </a:lnTo>
                    <a:lnTo>
                      <a:pt x="2171" y="800"/>
                    </a:lnTo>
                    <a:lnTo>
                      <a:pt x="2220" y="756"/>
                    </a:lnTo>
                    <a:lnTo>
                      <a:pt x="2263" y="712"/>
                    </a:lnTo>
                    <a:lnTo>
                      <a:pt x="2285" y="669"/>
                    </a:lnTo>
                    <a:lnTo>
                      <a:pt x="2296" y="614"/>
                    </a:lnTo>
                    <a:lnTo>
                      <a:pt x="2290" y="560"/>
                    </a:lnTo>
                    <a:lnTo>
                      <a:pt x="2269" y="500"/>
                    </a:lnTo>
                    <a:lnTo>
                      <a:pt x="2241" y="457"/>
                    </a:lnTo>
                    <a:lnTo>
                      <a:pt x="2198" y="408"/>
                    </a:lnTo>
                    <a:lnTo>
                      <a:pt x="2144" y="364"/>
                    </a:lnTo>
                    <a:lnTo>
                      <a:pt x="2079" y="321"/>
                    </a:lnTo>
                    <a:lnTo>
                      <a:pt x="2008" y="277"/>
                    </a:lnTo>
                    <a:lnTo>
                      <a:pt x="1927" y="234"/>
                    </a:lnTo>
                    <a:lnTo>
                      <a:pt x="1769" y="157"/>
                    </a:lnTo>
                    <a:lnTo>
                      <a:pt x="1688" y="125"/>
                    </a:lnTo>
                    <a:lnTo>
                      <a:pt x="1612" y="92"/>
                    </a:lnTo>
                    <a:lnTo>
                      <a:pt x="1536" y="65"/>
                    </a:lnTo>
                    <a:lnTo>
                      <a:pt x="1476" y="43"/>
                    </a:lnTo>
                    <a:lnTo>
                      <a:pt x="1422" y="27"/>
                    </a:lnTo>
                    <a:lnTo>
                      <a:pt x="1384" y="10"/>
                    </a:lnTo>
                    <a:lnTo>
                      <a:pt x="1357" y="5"/>
                    </a:lnTo>
                    <a:lnTo>
                      <a:pt x="1346" y="0"/>
                    </a:lnTo>
                    <a:lnTo>
                      <a:pt x="1498" y="54"/>
                    </a:lnTo>
                    <a:lnTo>
                      <a:pt x="1655" y="119"/>
                    </a:lnTo>
                    <a:lnTo>
                      <a:pt x="1807" y="185"/>
                    </a:lnTo>
                    <a:lnTo>
                      <a:pt x="1948" y="255"/>
                    </a:lnTo>
                    <a:lnTo>
                      <a:pt x="2013" y="288"/>
                    </a:lnTo>
                    <a:lnTo>
                      <a:pt x="2068" y="326"/>
                    </a:lnTo>
                    <a:lnTo>
                      <a:pt x="2122" y="364"/>
                    </a:lnTo>
                    <a:lnTo>
                      <a:pt x="2171" y="402"/>
                    </a:lnTo>
                    <a:lnTo>
                      <a:pt x="2209" y="440"/>
                    </a:lnTo>
                    <a:lnTo>
                      <a:pt x="2236" y="478"/>
                    </a:lnTo>
                    <a:lnTo>
                      <a:pt x="2252" y="522"/>
                    </a:lnTo>
                    <a:lnTo>
                      <a:pt x="2263" y="560"/>
                    </a:lnTo>
                    <a:lnTo>
                      <a:pt x="2258" y="598"/>
                    </a:lnTo>
                    <a:lnTo>
                      <a:pt x="2241" y="636"/>
                    </a:lnTo>
                    <a:lnTo>
                      <a:pt x="2214" y="669"/>
                    </a:lnTo>
                    <a:lnTo>
                      <a:pt x="2171" y="702"/>
                    </a:lnTo>
                    <a:lnTo>
                      <a:pt x="2122" y="729"/>
                    </a:lnTo>
                    <a:lnTo>
                      <a:pt x="2062" y="756"/>
                    </a:lnTo>
                    <a:lnTo>
                      <a:pt x="1997" y="778"/>
                    </a:lnTo>
                    <a:lnTo>
                      <a:pt x="1921" y="800"/>
                    </a:lnTo>
                    <a:lnTo>
                      <a:pt x="1834" y="821"/>
                    </a:lnTo>
                    <a:lnTo>
                      <a:pt x="1748" y="843"/>
                    </a:lnTo>
                    <a:lnTo>
                      <a:pt x="1552" y="876"/>
                    </a:lnTo>
                    <a:lnTo>
                      <a:pt x="1351" y="908"/>
                    </a:lnTo>
                    <a:lnTo>
                      <a:pt x="1134" y="941"/>
                    </a:lnTo>
                    <a:lnTo>
                      <a:pt x="923" y="968"/>
                    </a:lnTo>
                    <a:lnTo>
                      <a:pt x="716" y="995"/>
                    </a:lnTo>
                    <a:lnTo>
                      <a:pt x="521" y="1028"/>
                    </a:lnTo>
                    <a:lnTo>
                      <a:pt x="434" y="1044"/>
                    </a:lnTo>
                    <a:lnTo>
                      <a:pt x="353" y="1066"/>
                    </a:lnTo>
                    <a:lnTo>
                      <a:pt x="277" y="1082"/>
                    </a:lnTo>
                    <a:lnTo>
                      <a:pt x="206" y="1104"/>
                    </a:lnTo>
                    <a:lnTo>
                      <a:pt x="147" y="1126"/>
                    </a:lnTo>
                    <a:lnTo>
                      <a:pt x="92" y="1148"/>
                    </a:lnTo>
                    <a:lnTo>
                      <a:pt x="54" y="1175"/>
                    </a:lnTo>
                    <a:lnTo>
                      <a:pt x="22" y="1202"/>
                    </a:lnTo>
                    <a:lnTo>
                      <a:pt x="6" y="1229"/>
                    </a:lnTo>
                    <a:lnTo>
                      <a:pt x="0" y="1262"/>
                    </a:lnTo>
                    <a:lnTo>
                      <a:pt x="11" y="1295"/>
                    </a:lnTo>
                    <a:lnTo>
                      <a:pt x="27" y="1327"/>
                    </a:lnTo>
                    <a:lnTo>
                      <a:pt x="54" y="1355"/>
                    </a:lnTo>
                    <a:lnTo>
                      <a:pt x="98" y="1382"/>
                    </a:lnTo>
                    <a:lnTo>
                      <a:pt x="141" y="1404"/>
                    </a:lnTo>
                    <a:lnTo>
                      <a:pt x="196" y="1425"/>
                    </a:lnTo>
                    <a:lnTo>
                      <a:pt x="261" y="1447"/>
                    </a:lnTo>
                    <a:lnTo>
                      <a:pt x="326" y="1469"/>
                    </a:lnTo>
                    <a:lnTo>
                      <a:pt x="266" y="1442"/>
                    </a:lnTo>
                    <a:lnTo>
                      <a:pt x="217" y="1414"/>
                    </a:lnTo>
                    <a:lnTo>
                      <a:pt x="174" y="1387"/>
                    </a:lnTo>
                    <a:lnTo>
                      <a:pt x="147" y="1360"/>
                    </a:lnTo>
                    <a:lnTo>
                      <a:pt x="125" y="1333"/>
                    </a:lnTo>
                    <a:lnTo>
                      <a:pt x="120" y="1306"/>
                    </a:lnTo>
                    <a:lnTo>
                      <a:pt x="125" y="1278"/>
                    </a:lnTo>
                    <a:lnTo>
                      <a:pt x="141" y="1257"/>
                    </a:lnTo>
                    <a:lnTo>
                      <a:pt x="174" y="1229"/>
                    </a:lnTo>
                    <a:lnTo>
                      <a:pt x="212" y="1208"/>
                    </a:lnTo>
                    <a:lnTo>
                      <a:pt x="272" y="1186"/>
                    </a:lnTo>
                    <a:lnTo>
                      <a:pt x="342" y="1164"/>
                    </a:lnTo>
                    <a:lnTo>
                      <a:pt x="423" y="1142"/>
                    </a:lnTo>
                    <a:lnTo>
                      <a:pt x="527" y="1121"/>
                    </a:lnTo>
                    <a:lnTo>
                      <a:pt x="641" y="1104"/>
                    </a:lnTo>
                    <a:lnTo>
                      <a:pt x="771" y="1088"/>
                    </a:lnTo>
                    <a:lnTo>
                      <a:pt x="771" y="108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90980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758795" name="Rectangle 11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44475"/>
            <a:ext cx="8229600" cy="101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758796" name="Rectangle 12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57200" y="1422400"/>
            <a:ext cx="8229600" cy="3998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75879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6250" y="5554663"/>
            <a:ext cx="7702550" cy="42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50000"/>
              </a:spcBef>
              <a:defRPr sz="1000" b="0">
                <a:latin typeface="Avant Garde" charset="0"/>
              </a:defRPr>
            </a:lvl1pPr>
          </a:lstStyle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5879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39125" y="5554663"/>
            <a:ext cx="631825" cy="42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lnSpc>
                <a:spcPct val="100000"/>
              </a:lnSpc>
              <a:defRPr sz="1200" b="0">
                <a:latin typeface="Arial" panose="020B0604020202020204" pitchFamily="34" charset="0"/>
              </a:defRPr>
            </a:lvl1pPr>
          </a:lstStyle>
          <a:p>
            <a:fld id="{E41523A2-1336-4DC9-8493-387A61837E23}" type="slidenum">
              <a:rPr lang="en-US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fontAlgn="base">
        <a:spcBef>
          <a:spcPct val="0"/>
        </a:spcBef>
        <a:spcAft>
          <a:spcPct val="0"/>
        </a:spcAft>
        <a:defRPr sz="3600" b="1">
          <a:solidFill>
            <a:srgbClr val="F3FF07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 b="1">
          <a:solidFill>
            <a:srgbClr val="F3FF07"/>
          </a:solidFill>
          <a:effectLst>
            <a:outerShdw blurRad="38100" dist="38100" dir="2700000" algn="tl">
              <a:srgbClr val="000000"/>
            </a:outerShdw>
          </a:effectLst>
          <a:latin typeface="Palatino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600" b="1">
          <a:solidFill>
            <a:srgbClr val="F3FF07"/>
          </a:solidFill>
          <a:effectLst>
            <a:outerShdw blurRad="38100" dist="38100" dir="2700000" algn="tl">
              <a:srgbClr val="000000"/>
            </a:outerShdw>
          </a:effectLst>
          <a:latin typeface="Palatino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600" b="1">
          <a:solidFill>
            <a:srgbClr val="F3FF07"/>
          </a:solidFill>
          <a:effectLst>
            <a:outerShdw blurRad="38100" dist="38100" dir="2700000" algn="tl">
              <a:srgbClr val="000000"/>
            </a:outerShdw>
          </a:effectLst>
          <a:latin typeface="Palatino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600" b="1">
          <a:solidFill>
            <a:srgbClr val="F3FF07"/>
          </a:solidFill>
          <a:effectLst>
            <a:outerShdw blurRad="38100" dist="38100" dir="2700000" algn="tl">
              <a:srgbClr val="000000"/>
            </a:outerShdw>
          </a:effectLst>
          <a:latin typeface="Palatino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F3FF07"/>
          </a:solidFill>
          <a:effectLst>
            <a:outerShdw blurRad="38100" dist="38100" dir="2700000" algn="tl">
              <a:srgbClr val="000000"/>
            </a:outerShdw>
          </a:effectLst>
          <a:latin typeface="Palatino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F3FF07"/>
          </a:solidFill>
          <a:effectLst>
            <a:outerShdw blurRad="38100" dist="38100" dir="2700000" algn="tl">
              <a:srgbClr val="000000"/>
            </a:outerShdw>
          </a:effectLst>
          <a:latin typeface="Palatino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F3FF07"/>
          </a:solidFill>
          <a:effectLst>
            <a:outerShdw blurRad="38100" dist="38100" dir="2700000" algn="tl">
              <a:srgbClr val="000000"/>
            </a:outerShdw>
          </a:effectLst>
          <a:latin typeface="Palatino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F3FF07"/>
          </a:solidFill>
          <a:effectLst>
            <a:outerShdw blurRad="38100" dist="38100" dir="2700000" algn="tl">
              <a:srgbClr val="000000"/>
            </a:outerShdw>
          </a:effectLst>
          <a:latin typeface="Palatino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9FB070-0FE9-4B8E-B25E-3CF368B93CF1}" type="slidenum">
              <a:rPr lang="en-US"/>
            </a:fld>
            <a:endParaRPr lang="en-US"/>
          </a:p>
        </p:txBody>
      </p:sp>
      <p:sp>
        <p:nvSpPr>
          <p:cNvPr id="8294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3493" y="1238530"/>
            <a:ext cx="8521700" cy="1657350"/>
          </a:xfrm>
        </p:spPr>
        <p:txBody>
          <a:bodyPr/>
          <a:lstStyle/>
          <a:p>
            <a:br>
              <a:rPr lang="en-US" sz="2400" i="1" dirty="0">
                <a:solidFill>
                  <a:srgbClr val="29FA07"/>
                </a:solidFill>
              </a:rPr>
            </a:br>
            <a:br>
              <a:rPr lang="en-US" sz="2400" i="1" dirty="0">
                <a:solidFill>
                  <a:srgbClr val="29FA07"/>
                </a:solidFill>
              </a:rPr>
            </a:br>
            <a:br>
              <a:rPr lang="en-US" sz="2400" i="1" dirty="0">
                <a:solidFill>
                  <a:srgbClr val="29FA07"/>
                </a:solidFill>
              </a:rPr>
            </a:br>
            <a:br>
              <a:rPr lang="en-US" sz="2400" i="1" dirty="0">
                <a:solidFill>
                  <a:srgbClr val="29FA07"/>
                </a:solidFill>
              </a:rPr>
            </a:br>
            <a:br>
              <a:rPr lang="en-US" sz="2400" i="1" dirty="0">
                <a:solidFill>
                  <a:srgbClr val="29FA07"/>
                </a:solidFill>
              </a:rPr>
            </a:br>
            <a:r>
              <a:rPr lang="en-US" sz="2400" i="1" dirty="0">
                <a:solidFill>
                  <a:srgbClr val="29FA07"/>
                </a:solidFill>
              </a:rPr>
              <a:t>Software Engineering: A Practitioner’s Approach, 5/e</a:t>
            </a:r>
            <a:br>
              <a:rPr lang="en-US" sz="2400" i="1" dirty="0">
                <a:solidFill>
                  <a:srgbClr val="D7FA7E"/>
                </a:solidFill>
              </a:rPr>
            </a:br>
            <a:br>
              <a:rPr lang="en-US" sz="2400" i="1" dirty="0">
                <a:solidFill>
                  <a:srgbClr val="D7FA7E"/>
                </a:solidFill>
              </a:rPr>
            </a:br>
            <a:br>
              <a:rPr lang="en-US" dirty="0"/>
            </a:br>
            <a:r>
              <a:rPr lang="en-US" dirty="0"/>
              <a:t>Computer-Aided Software Engineering</a:t>
            </a:r>
            <a:br>
              <a:rPr lang="en-US" dirty="0"/>
            </a:br>
            <a:endParaRPr lang="en-US" sz="1400" b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493E49-74C2-48EC-8E14-5CED44C7A2CE}" type="slidenum">
              <a:rPr lang="en-US"/>
            </a:fld>
            <a:endParaRPr lang="en-US"/>
          </a:p>
        </p:txBody>
      </p:sp>
      <p:sp>
        <p:nvSpPr>
          <p:cNvPr id="8837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975100" y="355600"/>
            <a:ext cx="1371600" cy="60007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r>
              <a:rPr lang="en-US"/>
              <a:t>CASE</a:t>
            </a:r>
            <a:endParaRPr lang="en-US"/>
          </a:p>
        </p:txBody>
      </p:sp>
      <p:sp>
        <p:nvSpPr>
          <p:cNvPr id="883715" name="Rectangle 3"/>
          <p:cNvSpPr>
            <a:spLocks noChangeArrowheads="1"/>
          </p:cNvSpPr>
          <p:nvPr/>
        </p:nvSpPr>
        <p:spPr bwMode="auto">
          <a:xfrm>
            <a:off x="763588" y="1317625"/>
            <a:ext cx="6454775" cy="328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just"/>
            <a:r>
              <a:rPr lang="en-US" sz="2400" i="1">
                <a:latin typeface="Palatino" pitchFamily="18" charset="0"/>
              </a:rPr>
              <a:t>... in its idealized form, CASE combines a set of </a:t>
            </a:r>
            <a:endParaRPr lang="en-US" sz="2400" i="1">
              <a:latin typeface="Palatino" pitchFamily="18" charset="0"/>
            </a:endParaRPr>
          </a:p>
        </p:txBody>
      </p:sp>
      <p:sp>
        <p:nvSpPr>
          <p:cNvPr id="883716" name="Rectangle 4"/>
          <p:cNvSpPr>
            <a:spLocks noChangeArrowheads="1"/>
          </p:cNvSpPr>
          <p:nvPr/>
        </p:nvSpPr>
        <p:spPr bwMode="auto">
          <a:xfrm>
            <a:off x="763588" y="1635125"/>
            <a:ext cx="5010150" cy="328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just"/>
            <a:r>
              <a:rPr lang="en-US" sz="2400" i="1">
                <a:latin typeface="Palatino" pitchFamily="18" charset="0"/>
              </a:rPr>
              <a:t>software development tools that are </a:t>
            </a:r>
            <a:endParaRPr lang="en-US" sz="2400" i="1">
              <a:latin typeface="Palatino" pitchFamily="18" charset="0"/>
            </a:endParaRPr>
          </a:p>
        </p:txBody>
      </p:sp>
      <p:sp>
        <p:nvSpPr>
          <p:cNvPr id="883717" name="Rectangle 5"/>
          <p:cNvSpPr>
            <a:spLocks noChangeArrowheads="1"/>
          </p:cNvSpPr>
          <p:nvPr/>
        </p:nvSpPr>
        <p:spPr bwMode="auto">
          <a:xfrm>
            <a:off x="5791200" y="1638300"/>
            <a:ext cx="1390650" cy="328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just"/>
            <a:r>
              <a:rPr lang="en-US" sz="2400" i="1">
                <a:latin typeface="Palatino" pitchFamily="18" charset="0"/>
              </a:rPr>
              <a:t>integrated</a:t>
            </a:r>
            <a:endParaRPr lang="en-US" sz="2400" i="1">
              <a:latin typeface="Palatino" pitchFamily="18" charset="0"/>
            </a:endParaRPr>
          </a:p>
        </p:txBody>
      </p:sp>
      <p:sp>
        <p:nvSpPr>
          <p:cNvPr id="883718" name="Rectangle 6"/>
          <p:cNvSpPr>
            <a:spLocks noChangeArrowheads="1"/>
          </p:cNvSpPr>
          <p:nvPr/>
        </p:nvSpPr>
        <p:spPr bwMode="auto">
          <a:xfrm>
            <a:off x="7256463" y="1635125"/>
            <a:ext cx="1050925" cy="328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just"/>
            <a:r>
              <a:rPr lang="en-US" sz="2400" i="1">
                <a:solidFill>
                  <a:schemeClr val="bg1"/>
                </a:solidFill>
              </a:rPr>
              <a:t> </a:t>
            </a:r>
            <a:r>
              <a:rPr lang="en-US" sz="2400" i="1">
                <a:latin typeface="Palatino" pitchFamily="18" charset="0"/>
              </a:rPr>
              <a:t>with a </a:t>
            </a:r>
            <a:endParaRPr lang="en-US" sz="2400" i="1">
              <a:latin typeface="Palatino" pitchFamily="18" charset="0"/>
            </a:endParaRPr>
          </a:p>
        </p:txBody>
      </p:sp>
      <p:sp>
        <p:nvSpPr>
          <p:cNvPr id="883719" name="Rectangle 7"/>
          <p:cNvSpPr>
            <a:spLocks noChangeArrowheads="1"/>
          </p:cNvSpPr>
          <p:nvPr/>
        </p:nvSpPr>
        <p:spPr bwMode="auto">
          <a:xfrm>
            <a:off x="763588" y="1951038"/>
            <a:ext cx="4903787" cy="328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just"/>
            <a:r>
              <a:rPr lang="en-US" sz="2400" i="1">
                <a:latin typeface="Palatino" pitchFamily="18" charset="0"/>
              </a:rPr>
              <a:t>data base to form an environment... </a:t>
            </a:r>
            <a:endParaRPr lang="en-US" sz="2400" i="1">
              <a:latin typeface="Palatino" pitchFamily="18" charset="0"/>
            </a:endParaRPr>
          </a:p>
        </p:txBody>
      </p:sp>
      <p:sp>
        <p:nvSpPr>
          <p:cNvPr id="883720" name="Rectangle 8"/>
          <p:cNvSpPr>
            <a:spLocks noChangeArrowheads="1"/>
          </p:cNvSpPr>
          <p:nvPr/>
        </p:nvSpPr>
        <p:spPr bwMode="auto">
          <a:xfrm>
            <a:off x="763588" y="2582863"/>
            <a:ext cx="6323012" cy="328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just"/>
            <a:r>
              <a:rPr lang="en-US" sz="2400" i="1">
                <a:latin typeface="Palatino" pitchFamily="18" charset="0"/>
              </a:rPr>
              <a:t>... the tools address each important step in the </a:t>
            </a:r>
            <a:endParaRPr lang="en-US" sz="2400" i="1">
              <a:latin typeface="Palatino" pitchFamily="18" charset="0"/>
            </a:endParaRPr>
          </a:p>
        </p:txBody>
      </p:sp>
      <p:sp>
        <p:nvSpPr>
          <p:cNvPr id="883721" name="Rectangle 9"/>
          <p:cNvSpPr>
            <a:spLocks noChangeArrowheads="1"/>
          </p:cNvSpPr>
          <p:nvPr/>
        </p:nvSpPr>
        <p:spPr bwMode="auto">
          <a:xfrm>
            <a:off x="763588" y="2898775"/>
            <a:ext cx="4200525" cy="328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just"/>
            <a:r>
              <a:rPr lang="en-US" sz="2400" i="1">
                <a:latin typeface="Palatino" pitchFamily="18" charset="0"/>
              </a:rPr>
              <a:t>software engineering process ...</a:t>
            </a:r>
            <a:endParaRPr lang="en-US" sz="2400" i="1">
              <a:latin typeface="Palatino" pitchFamily="18" charset="0"/>
            </a:endParaRPr>
          </a:p>
        </p:txBody>
      </p:sp>
      <p:sp>
        <p:nvSpPr>
          <p:cNvPr id="883722" name="Rectangle 10"/>
          <p:cNvSpPr>
            <a:spLocks noChangeArrowheads="1"/>
          </p:cNvSpPr>
          <p:nvPr/>
        </p:nvSpPr>
        <p:spPr bwMode="auto">
          <a:xfrm>
            <a:off x="763588" y="3532188"/>
            <a:ext cx="7573962" cy="328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just"/>
            <a:r>
              <a:rPr lang="en-US" sz="2400" i="1">
                <a:latin typeface="Palatino" pitchFamily="18" charset="0"/>
              </a:rPr>
              <a:t>... the tools increase insight thereby improving quality;  </a:t>
            </a:r>
            <a:endParaRPr lang="en-US" sz="2400" i="1">
              <a:latin typeface="Palatino" pitchFamily="18" charset="0"/>
            </a:endParaRPr>
          </a:p>
        </p:txBody>
      </p:sp>
      <p:sp>
        <p:nvSpPr>
          <p:cNvPr id="883723" name="Rectangle 11"/>
          <p:cNvSpPr>
            <a:spLocks noChangeArrowheads="1"/>
          </p:cNvSpPr>
          <p:nvPr/>
        </p:nvSpPr>
        <p:spPr bwMode="auto">
          <a:xfrm>
            <a:off x="763588" y="3848100"/>
            <a:ext cx="7245350" cy="328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just"/>
            <a:r>
              <a:rPr lang="en-US" sz="2400" i="1">
                <a:latin typeface="Palatino" pitchFamily="18" charset="0"/>
              </a:rPr>
              <a:t>reduce drudgery thereby improving productivity; and </a:t>
            </a:r>
            <a:endParaRPr lang="en-US" sz="2400" i="1">
              <a:latin typeface="Palatino" pitchFamily="18" charset="0"/>
            </a:endParaRPr>
          </a:p>
        </p:txBody>
      </p:sp>
      <p:sp>
        <p:nvSpPr>
          <p:cNvPr id="883724" name="Rectangle 12"/>
          <p:cNvSpPr>
            <a:spLocks noChangeArrowheads="1"/>
          </p:cNvSpPr>
          <p:nvPr/>
        </p:nvSpPr>
        <p:spPr bwMode="auto">
          <a:xfrm>
            <a:off x="763588" y="4164013"/>
            <a:ext cx="7359650" cy="328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just"/>
            <a:r>
              <a:rPr lang="en-US" sz="2400" i="1">
                <a:latin typeface="Palatino" pitchFamily="18" charset="0"/>
              </a:rPr>
              <a:t>enhance control, thereby leading to on-time projects ...</a:t>
            </a:r>
            <a:endParaRPr lang="en-US" sz="2400" i="1">
              <a:latin typeface="Palatino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E7D145-9EA8-4861-8043-F65329F697E4}" type="slidenum">
              <a:rPr lang="en-US"/>
            </a:fld>
            <a:endParaRPr lang="en-US"/>
          </a:p>
        </p:txBody>
      </p:sp>
      <p:sp>
        <p:nvSpPr>
          <p:cNvPr id="8560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320675"/>
            <a:ext cx="8229600" cy="684213"/>
          </a:xfrm>
        </p:spPr>
        <p:txBody>
          <a:bodyPr/>
          <a:lstStyle/>
          <a:p>
            <a:br>
              <a:rPr lang="en-US">
                <a:cs typeface="Times New Roman" panose="02020603050405020304" charset="0"/>
              </a:rPr>
            </a:br>
            <a:r>
              <a:rPr lang="en-US">
                <a:cs typeface="Times New Roman" panose="02020603050405020304" charset="0"/>
              </a:rPr>
              <a:t>Learning Objectives</a:t>
            </a:r>
            <a:endParaRPr lang="en-US">
              <a:cs typeface="Times New Roman" panose="02020603050405020304" charset="0"/>
            </a:endParaRPr>
          </a:p>
        </p:txBody>
      </p:sp>
      <p:sp>
        <p:nvSpPr>
          <p:cNvPr id="8560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838200" y="1625600"/>
            <a:ext cx="8116888" cy="41989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>
                <a:effectLst/>
                <a:cs typeface="Times New Roman" panose="02020603050405020304" charset="0"/>
              </a:rPr>
              <a:t>At the end of this chapter, students should be able to</a:t>
            </a:r>
            <a:endParaRPr lang="en-US">
              <a:effectLst/>
              <a:cs typeface="Times New Roman" panose="02020603050405020304" charset="0"/>
            </a:endParaRPr>
          </a:p>
          <a:p>
            <a:pPr lvl="1" algn="just"/>
            <a:r>
              <a:rPr lang="en-US" sz="2400"/>
              <a:t>Explain the purpose of CASE tool.</a:t>
            </a:r>
            <a:endParaRPr lang="en-US" sz="2400"/>
          </a:p>
          <a:p>
            <a:pPr lvl="1" algn="just"/>
            <a:r>
              <a:rPr lang="en-US" sz="2400"/>
              <a:t>Explain the CASE building blocks. </a:t>
            </a:r>
            <a:endParaRPr lang="en-US" sz="2400"/>
          </a:p>
          <a:p>
            <a:pPr lvl="1" algn="just"/>
            <a:r>
              <a:rPr lang="en-US" sz="2400"/>
              <a:t>Explain the taxonomy of CASE tools.</a:t>
            </a:r>
            <a:endParaRPr lang="en-US" sz="2400"/>
          </a:p>
          <a:p>
            <a:pPr lvl="1" algn="just"/>
            <a:r>
              <a:rPr lang="en-US" sz="2400"/>
              <a:t>Explain </a:t>
            </a:r>
            <a:r>
              <a:rPr lang="en-US" sz="2400">
                <a:effectLst/>
              </a:rPr>
              <a:t>what</a:t>
            </a:r>
            <a:r>
              <a:rPr lang="en-US" sz="2400"/>
              <a:t> is I-CASE</a:t>
            </a:r>
            <a:endParaRPr lang="en-US" sz="2400"/>
          </a:p>
          <a:p>
            <a:pPr lvl="1" algn="just"/>
            <a:r>
              <a:rPr lang="en-US" sz="2400"/>
              <a:t>Explain the benefits and challenges of I-CASE</a:t>
            </a:r>
            <a:endParaRPr lang="en-US" sz="2400"/>
          </a:p>
          <a:p>
            <a:pPr lvl="1" algn="just"/>
            <a:r>
              <a:rPr lang="en-US" sz="2400"/>
              <a:t>List and draw the integration architecture</a:t>
            </a:r>
            <a:endParaRPr lang="en-US" sz="2400"/>
          </a:p>
          <a:p>
            <a:pPr lvl="1" algn="just"/>
            <a:r>
              <a:rPr lang="en-US" sz="2400"/>
              <a:t>Explain what is CASE repository</a:t>
            </a:r>
            <a:endParaRPr lang="en-US" sz="2400"/>
          </a:p>
          <a:p>
            <a:pPr algn="just">
              <a:buClr>
                <a:schemeClr val="accent2"/>
              </a:buClr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6E9FAB-56C3-4919-BC4B-73260380AD65}" type="slidenum">
              <a:rPr lang="en-US"/>
            </a:fld>
            <a:endParaRPr lang="en-US"/>
          </a:p>
        </p:txBody>
      </p:sp>
      <p:sp>
        <p:nvSpPr>
          <p:cNvPr id="8570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Times New Roman" panose="02020603050405020304" charset="0"/>
              </a:rPr>
              <a:t>Introduction </a:t>
            </a:r>
            <a:endParaRPr lang="en-US"/>
          </a:p>
        </p:txBody>
      </p:sp>
      <p:graphicFrame>
        <p:nvGraphicFramePr>
          <p:cNvPr id="857091" name="Object 3"/>
          <p:cNvGraphicFramePr>
            <a:graphicFrameLocks noChangeAspect="1"/>
          </p:cNvGraphicFramePr>
          <p:nvPr>
            <p:ph type="body" idx="1"/>
          </p:nvPr>
        </p:nvGraphicFramePr>
        <p:xfrm>
          <a:off x="457200" y="3116263"/>
          <a:ext cx="1524000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Clip" r:id="rId1" imgW="11144250" imgH="23974425" progId="MS_ClipArt_Gallery.5">
                  <p:embed/>
                </p:oleObj>
              </mc:Choice>
              <mc:Fallback>
                <p:oleObj name="Clip" r:id="rId1" imgW="11144250" imgH="23974425" progId="MS_ClipArt_Gallery.5">
                  <p:embed/>
                  <p:pic>
                    <p:nvPicPr>
                      <p:cNvPr id="0" name="Picture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" y="3116263"/>
                        <a:ext cx="1524000" cy="2505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7092" name="AutoShape 4"/>
          <p:cNvSpPr>
            <a:spLocks noChangeArrowheads="1"/>
          </p:cNvSpPr>
          <p:nvPr/>
        </p:nvSpPr>
        <p:spPr bwMode="auto">
          <a:xfrm>
            <a:off x="304800" y="1828800"/>
            <a:ext cx="1752600" cy="1016000"/>
          </a:xfrm>
          <a:prstGeom prst="wedgeEllipseCallout">
            <a:avLst>
              <a:gd name="adj1" fmla="val -1630"/>
              <a:gd name="adj2" fmla="val 984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2400" b="0">
                <a:latin typeface="Tahoma" panose="020B0604030504040204" pitchFamily="34" charset="0"/>
              </a:rPr>
              <a:t>What is CASE?</a:t>
            </a:r>
            <a:endParaRPr lang="en-US" sz="2400" b="0">
              <a:latin typeface="Tahoma" panose="020B0604030504040204" pitchFamily="34" charset="0"/>
            </a:endParaRPr>
          </a:p>
        </p:txBody>
      </p:sp>
      <p:sp>
        <p:nvSpPr>
          <p:cNvPr id="857093" name="AutoShape 5"/>
          <p:cNvSpPr>
            <a:spLocks noChangeArrowheads="1"/>
          </p:cNvSpPr>
          <p:nvPr/>
        </p:nvSpPr>
        <p:spPr bwMode="auto">
          <a:xfrm>
            <a:off x="3675063" y="1060450"/>
            <a:ext cx="5468937" cy="2503488"/>
          </a:xfrm>
          <a:prstGeom prst="cloudCallout">
            <a:avLst>
              <a:gd name="adj1" fmla="val -81060"/>
              <a:gd name="adj2" fmla="val 63125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>
                <a:solidFill>
                  <a:schemeClr val="bg1"/>
                </a:solidFill>
                <a:latin typeface="Palatino" pitchFamily="18" charset="0"/>
                <a:cs typeface="Times New Roman" panose="02020603050405020304" charset="0"/>
              </a:rPr>
              <a:t>· CASE is the use of IT in SW development activities, techniques and methodology</a:t>
            </a:r>
            <a:endParaRPr lang="en-US">
              <a:solidFill>
                <a:schemeClr val="bg1"/>
              </a:solidFill>
              <a:latin typeface="Palatino" pitchFamily="18" charset="0"/>
              <a:cs typeface="Times New Roman" panose="02020603050405020304" charset="0"/>
            </a:endParaRPr>
          </a:p>
          <a:p>
            <a:pPr algn="ctr" eaLnBrk="1" hangingPunct="1">
              <a:lnSpc>
                <a:spcPct val="100000"/>
              </a:lnSpc>
              <a:buFontTx/>
              <a:buChar char="•"/>
            </a:pPr>
            <a:r>
              <a:rPr lang="en-US">
                <a:solidFill>
                  <a:schemeClr val="bg1"/>
                </a:solidFill>
                <a:latin typeface="Palatino" pitchFamily="18" charset="0"/>
                <a:cs typeface="Times New Roman" panose="02020603050405020304" charset="0"/>
              </a:rPr>
              <a:t>CASE tools are programs that automate or support one or more phases in a SW development life cycle</a:t>
            </a:r>
            <a:r>
              <a:rPr lang="en-US" b="0">
                <a:solidFill>
                  <a:schemeClr val="bg1"/>
                </a:solidFill>
                <a:latin typeface="Tahoma" panose="020B0604030504040204" pitchFamily="34" charset="0"/>
              </a:rPr>
              <a:t> </a:t>
            </a:r>
            <a:endParaRPr lang="en-US" b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857094" name="AutoShape 6"/>
          <p:cNvSpPr>
            <a:spLocks noChangeArrowheads="1"/>
          </p:cNvSpPr>
          <p:nvPr/>
        </p:nvSpPr>
        <p:spPr bwMode="auto">
          <a:xfrm>
            <a:off x="3944938" y="3525838"/>
            <a:ext cx="5199062" cy="2570162"/>
          </a:xfrm>
          <a:prstGeom prst="cloudCallout">
            <a:avLst>
              <a:gd name="adj1" fmla="val -90060"/>
              <a:gd name="adj2" fmla="val -3258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>
                <a:solidFill>
                  <a:schemeClr val="bg1"/>
                </a:solidFill>
                <a:latin typeface="Palatino" pitchFamily="18" charset="0"/>
                <a:cs typeface="Times New Roman" panose="02020603050405020304" charset="0"/>
              </a:rPr>
              <a:t>Purpose of CASE tools :</a:t>
            </a:r>
            <a:endParaRPr lang="en-US">
              <a:solidFill>
                <a:schemeClr val="bg1"/>
              </a:solidFill>
              <a:latin typeface="Palatino" pitchFamily="18" charset="0"/>
              <a:cs typeface="Times New Roman" panose="02020603050405020304" charset="0"/>
            </a:endParaRPr>
          </a:p>
          <a:p>
            <a:pPr lvl="1" eaLnBrk="1" hangingPunct="1">
              <a:lnSpc>
                <a:spcPct val="100000"/>
              </a:lnSpc>
              <a:buFontTx/>
              <a:buChar char="•"/>
            </a:pPr>
            <a:r>
              <a:rPr lang="en-US">
                <a:solidFill>
                  <a:schemeClr val="bg1"/>
                </a:solidFill>
                <a:latin typeface="Palatino" pitchFamily="18" charset="0"/>
                <a:cs typeface="Times New Roman" panose="02020603050405020304" charset="0"/>
              </a:rPr>
              <a:t>·  increase the speed of SW development activities</a:t>
            </a:r>
            <a:endParaRPr lang="en-US">
              <a:solidFill>
                <a:schemeClr val="bg1"/>
              </a:solidFill>
              <a:latin typeface="Palatino" pitchFamily="18" charset="0"/>
              <a:cs typeface="Times New Roman" panose="02020603050405020304" charset="0"/>
            </a:endParaRPr>
          </a:p>
          <a:p>
            <a:pPr lvl="1" eaLnBrk="1" hangingPunct="1">
              <a:lnSpc>
                <a:spcPct val="100000"/>
              </a:lnSpc>
              <a:buFontTx/>
              <a:buChar char="•"/>
            </a:pPr>
            <a:r>
              <a:rPr lang="en-US">
                <a:solidFill>
                  <a:schemeClr val="bg1"/>
                </a:solidFill>
                <a:latin typeface="Palatino" pitchFamily="18" charset="0"/>
                <a:cs typeface="Times New Roman" panose="02020603050405020304" charset="0"/>
              </a:rPr>
              <a:t>increase the SW productivity</a:t>
            </a:r>
            <a:endParaRPr lang="en-US">
              <a:solidFill>
                <a:schemeClr val="bg1"/>
              </a:solidFill>
              <a:latin typeface="Palatino" pitchFamily="18" charset="0"/>
              <a:cs typeface="Times New Roman" panose="02020603050405020304" charset="0"/>
            </a:endParaRPr>
          </a:p>
          <a:p>
            <a:pPr lvl="1" eaLnBrk="1" hangingPunct="1">
              <a:lnSpc>
                <a:spcPct val="100000"/>
              </a:lnSpc>
              <a:buFontTx/>
              <a:buChar char="•"/>
            </a:pPr>
            <a:r>
              <a:rPr lang="en-US">
                <a:solidFill>
                  <a:schemeClr val="bg1"/>
                </a:solidFill>
                <a:latin typeface="Palatino" pitchFamily="18" charset="0"/>
                <a:cs typeface="Times New Roman" panose="02020603050405020304" charset="0"/>
              </a:rPr>
              <a:t>improve the quality of the SW developed</a:t>
            </a:r>
            <a:endParaRPr lang="en-US">
              <a:solidFill>
                <a:schemeClr val="bg1"/>
              </a:solidFill>
              <a:latin typeface="Palatino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7C4764-668C-4174-B7A9-B3845A3D30EF}" type="slidenum">
              <a:rPr lang="en-US"/>
            </a:fld>
            <a:endParaRPr lang="en-US"/>
          </a:p>
        </p:txBody>
      </p:sp>
      <p:sp>
        <p:nvSpPr>
          <p:cNvPr id="8581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Times New Roman" panose="02020603050405020304" charset="0"/>
              </a:rPr>
              <a:t>CASE building blocks</a:t>
            </a:r>
            <a:r>
              <a:rPr lang="en-US"/>
              <a:t> </a:t>
            </a:r>
            <a:endParaRPr lang="en-US"/>
          </a:p>
        </p:txBody>
      </p:sp>
      <p:sp>
        <p:nvSpPr>
          <p:cNvPr id="858115" name="Text Box 3"/>
          <p:cNvSpPr txBox="1">
            <a:spLocks noChangeArrowheads="1"/>
          </p:cNvSpPr>
          <p:nvPr/>
        </p:nvSpPr>
        <p:spPr bwMode="auto">
          <a:xfrm>
            <a:off x="492125" y="4376738"/>
            <a:ext cx="1682750" cy="8747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b="0">
                <a:solidFill>
                  <a:schemeClr val="bg1"/>
                </a:solidFill>
                <a:latin typeface="Times New Roman" panose="02020603050405020304" charset="0"/>
              </a:rPr>
              <a:t>Found in most application support models</a:t>
            </a:r>
            <a:endParaRPr lang="en-US" sz="1600" b="0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grpSp>
        <p:nvGrpSpPr>
          <p:cNvPr id="858116" name="Group 4"/>
          <p:cNvGrpSpPr/>
          <p:nvPr/>
        </p:nvGrpSpPr>
        <p:grpSpPr bwMode="auto">
          <a:xfrm>
            <a:off x="681038" y="1231900"/>
            <a:ext cx="3152775" cy="1287463"/>
            <a:chOff x="5328" y="5760"/>
            <a:chExt cx="2448" cy="1008"/>
          </a:xfrm>
        </p:grpSpPr>
        <p:sp>
          <p:nvSpPr>
            <p:cNvPr id="858117" name="Oval 5"/>
            <p:cNvSpPr>
              <a:spLocks noChangeArrowheads="1"/>
            </p:cNvSpPr>
            <p:nvPr/>
          </p:nvSpPr>
          <p:spPr bwMode="auto">
            <a:xfrm>
              <a:off x="5328" y="5760"/>
              <a:ext cx="2448" cy="1008"/>
            </a:xfrm>
            <a:prstGeom prst="ellipse">
              <a:avLst/>
            </a:prstGeom>
            <a:solidFill>
              <a:srgbClr val="FF99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8118" name="Text Box 6"/>
            <p:cNvSpPr txBox="1">
              <a:spLocks noChangeArrowheads="1"/>
            </p:cNvSpPr>
            <p:nvPr/>
          </p:nvSpPr>
          <p:spPr bwMode="auto">
            <a:xfrm>
              <a:off x="5616" y="6048"/>
              <a:ext cx="2016" cy="432"/>
            </a:xfrm>
            <a:prstGeom prst="rect">
              <a:avLst/>
            </a:prstGeom>
            <a:solidFill>
              <a:srgbClr val="FF99FF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r>
                <a:rPr lang="en-US" sz="2400" b="0">
                  <a:solidFill>
                    <a:schemeClr val="bg1"/>
                  </a:solidFill>
                  <a:latin typeface="Times New Roman" panose="02020603050405020304" charset="0"/>
                </a:rPr>
                <a:t>CASE environment model</a:t>
              </a:r>
              <a:endParaRPr lang="en-US" sz="2400" b="0">
                <a:solidFill>
                  <a:schemeClr val="bg1"/>
                </a:solidFill>
                <a:latin typeface="Times New Roman" panose="02020603050405020304" charset="0"/>
              </a:endParaRPr>
            </a:p>
          </p:txBody>
        </p:sp>
      </p:grpSp>
      <p:sp>
        <p:nvSpPr>
          <p:cNvPr id="858119" name="Freeform 7"/>
          <p:cNvSpPr/>
          <p:nvPr/>
        </p:nvSpPr>
        <p:spPr bwMode="auto">
          <a:xfrm>
            <a:off x="3729038" y="1368425"/>
            <a:ext cx="3657600" cy="1285875"/>
          </a:xfrm>
          <a:custGeom>
            <a:avLst/>
            <a:gdLst/>
            <a:ahLst/>
            <a:cxnLst>
              <a:cxn ang="0">
                <a:pos x="0" y="360"/>
              </a:cxn>
              <a:cxn ang="0">
                <a:pos x="1800" y="360"/>
              </a:cxn>
              <a:cxn ang="0">
                <a:pos x="960" y="2520"/>
              </a:cxn>
            </a:cxnLst>
            <a:rect l="0" t="0" r="r" b="b"/>
            <a:pathLst>
              <a:path w="1960" h="2520">
                <a:moveTo>
                  <a:pt x="0" y="360"/>
                </a:moveTo>
                <a:cubicBezTo>
                  <a:pt x="820" y="180"/>
                  <a:pt x="1640" y="0"/>
                  <a:pt x="1800" y="360"/>
                </a:cubicBezTo>
                <a:cubicBezTo>
                  <a:pt x="1960" y="720"/>
                  <a:pt x="1460" y="1620"/>
                  <a:pt x="960" y="252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858120" name="Group 8"/>
          <p:cNvGrpSpPr/>
          <p:nvPr/>
        </p:nvGrpSpPr>
        <p:grpSpPr bwMode="auto">
          <a:xfrm>
            <a:off x="3162300" y="2722563"/>
            <a:ext cx="5467350" cy="2709862"/>
            <a:chOff x="2781" y="7017"/>
            <a:chExt cx="6240" cy="3370"/>
          </a:xfrm>
        </p:grpSpPr>
        <p:sp>
          <p:nvSpPr>
            <p:cNvPr id="858121" name="Text Box 9"/>
            <p:cNvSpPr txBox="1">
              <a:spLocks noChangeArrowheads="1"/>
            </p:cNvSpPr>
            <p:nvPr/>
          </p:nvSpPr>
          <p:spPr bwMode="auto">
            <a:xfrm>
              <a:off x="4959" y="7017"/>
              <a:ext cx="2031" cy="576"/>
            </a:xfrm>
            <a:prstGeom prst="rect">
              <a:avLst/>
            </a:prstGeom>
            <a:gradFill rotWithShape="0">
              <a:gsLst>
                <a:gs pos="0">
                  <a:srgbClr val="FF99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Times New Roman" panose="02020603050405020304" charset="0"/>
                </a:rPr>
                <a:t>CASE Tools</a:t>
              </a:r>
              <a:endParaRPr lang="en-US" sz="1600">
                <a:solidFill>
                  <a:schemeClr val="bg1"/>
                </a:solidFill>
                <a:latin typeface="Times New Roman" panose="02020603050405020304" charset="0"/>
              </a:endParaRPr>
            </a:p>
          </p:txBody>
        </p:sp>
        <p:sp>
          <p:nvSpPr>
            <p:cNvPr id="858122" name="Text Box 10"/>
            <p:cNvSpPr txBox="1">
              <a:spLocks noChangeArrowheads="1"/>
            </p:cNvSpPr>
            <p:nvPr/>
          </p:nvSpPr>
          <p:spPr bwMode="auto">
            <a:xfrm>
              <a:off x="3944" y="7592"/>
              <a:ext cx="3808" cy="576"/>
            </a:xfrm>
            <a:prstGeom prst="rect">
              <a:avLst/>
            </a:prstGeom>
            <a:gradFill rotWithShape="0">
              <a:gsLst>
                <a:gs pos="0">
                  <a:srgbClr val="FF99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Times New Roman" panose="02020603050405020304" charset="0"/>
                </a:rPr>
                <a:t>Integration framework</a:t>
              </a:r>
              <a:endParaRPr lang="en-US" sz="1600">
                <a:solidFill>
                  <a:schemeClr val="bg1"/>
                </a:solidFill>
                <a:latin typeface="Times New Roman" panose="02020603050405020304" charset="0"/>
              </a:endParaRPr>
            </a:p>
          </p:txBody>
        </p:sp>
        <p:sp>
          <p:nvSpPr>
            <p:cNvPr id="858123" name="Text Box 11"/>
            <p:cNvSpPr txBox="1">
              <a:spLocks noChangeArrowheads="1"/>
            </p:cNvSpPr>
            <p:nvPr/>
          </p:nvSpPr>
          <p:spPr bwMode="auto">
            <a:xfrm>
              <a:off x="3741" y="8168"/>
              <a:ext cx="4320" cy="576"/>
            </a:xfrm>
            <a:prstGeom prst="rect">
              <a:avLst/>
            </a:prstGeom>
            <a:gradFill rotWithShape="0">
              <a:gsLst>
                <a:gs pos="0">
                  <a:srgbClr val="FF99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Times New Roman" panose="02020603050405020304" charset="0"/>
                </a:rPr>
                <a:t>Portability services</a:t>
              </a:r>
              <a:endParaRPr lang="en-US" sz="1600">
                <a:solidFill>
                  <a:schemeClr val="bg1"/>
                </a:solidFill>
                <a:latin typeface="Times New Roman" panose="02020603050405020304" charset="0"/>
              </a:endParaRPr>
            </a:p>
          </p:txBody>
        </p:sp>
        <p:sp>
          <p:nvSpPr>
            <p:cNvPr id="858124" name="Text Box 12"/>
            <p:cNvSpPr txBox="1">
              <a:spLocks noChangeArrowheads="1"/>
            </p:cNvSpPr>
            <p:nvPr/>
          </p:nvSpPr>
          <p:spPr bwMode="auto">
            <a:xfrm>
              <a:off x="3381" y="8744"/>
              <a:ext cx="5040" cy="576"/>
            </a:xfrm>
            <a:prstGeom prst="rect">
              <a:avLst/>
            </a:prstGeom>
            <a:gradFill rotWithShape="0">
              <a:gsLst>
                <a:gs pos="0">
                  <a:srgbClr val="FF99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Times New Roman" panose="02020603050405020304" charset="0"/>
                </a:rPr>
                <a:t>Operating system</a:t>
              </a:r>
              <a:endParaRPr lang="en-US" sz="1600">
                <a:solidFill>
                  <a:schemeClr val="bg1"/>
                </a:solidFill>
                <a:latin typeface="Times New Roman" panose="02020603050405020304" charset="0"/>
              </a:endParaRPr>
            </a:p>
          </p:txBody>
        </p:sp>
        <p:sp>
          <p:nvSpPr>
            <p:cNvPr id="858125" name="Text Box 13"/>
            <p:cNvSpPr txBox="1">
              <a:spLocks noChangeArrowheads="1"/>
            </p:cNvSpPr>
            <p:nvPr/>
          </p:nvSpPr>
          <p:spPr bwMode="auto">
            <a:xfrm>
              <a:off x="3141" y="9328"/>
              <a:ext cx="5520" cy="576"/>
            </a:xfrm>
            <a:prstGeom prst="rect">
              <a:avLst/>
            </a:prstGeom>
            <a:gradFill rotWithShape="0">
              <a:gsLst>
                <a:gs pos="0">
                  <a:srgbClr val="FF99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Times New Roman" panose="02020603050405020304" charset="0"/>
                </a:rPr>
                <a:t>HW platform</a:t>
              </a:r>
              <a:endParaRPr lang="en-US" sz="1600">
                <a:solidFill>
                  <a:schemeClr val="bg1"/>
                </a:solidFill>
                <a:latin typeface="Times New Roman" panose="02020603050405020304" charset="0"/>
              </a:endParaRPr>
            </a:p>
          </p:txBody>
        </p:sp>
        <p:sp>
          <p:nvSpPr>
            <p:cNvPr id="858126" name="Text Box 14"/>
            <p:cNvSpPr txBox="1">
              <a:spLocks noChangeArrowheads="1"/>
            </p:cNvSpPr>
            <p:nvPr/>
          </p:nvSpPr>
          <p:spPr bwMode="auto">
            <a:xfrm>
              <a:off x="2781" y="9811"/>
              <a:ext cx="6240" cy="576"/>
            </a:xfrm>
            <a:prstGeom prst="rect">
              <a:avLst/>
            </a:prstGeom>
            <a:gradFill rotWithShape="0">
              <a:gsLst>
                <a:gs pos="0">
                  <a:srgbClr val="FF99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Times New Roman" panose="02020603050405020304" charset="0"/>
                </a:rPr>
                <a:t>Environment architecture</a:t>
              </a:r>
              <a:endParaRPr lang="en-US" sz="1600">
                <a:solidFill>
                  <a:schemeClr val="bg1"/>
                </a:solidFill>
                <a:latin typeface="Times New Roman" panose="02020603050405020304" charset="0"/>
              </a:endParaRPr>
            </a:p>
          </p:txBody>
        </p:sp>
      </p:grpSp>
      <p:grpSp>
        <p:nvGrpSpPr>
          <p:cNvPr id="858127" name="Group 15"/>
          <p:cNvGrpSpPr/>
          <p:nvPr/>
        </p:nvGrpSpPr>
        <p:grpSpPr bwMode="auto">
          <a:xfrm>
            <a:off x="2028825" y="4416425"/>
            <a:ext cx="1473200" cy="801688"/>
            <a:chOff x="1341" y="8824"/>
            <a:chExt cx="1680" cy="1320"/>
          </a:xfrm>
        </p:grpSpPr>
        <p:sp>
          <p:nvSpPr>
            <p:cNvPr id="858128" name="Line 16"/>
            <p:cNvSpPr>
              <a:spLocks noChangeShapeType="1"/>
            </p:cNvSpPr>
            <p:nvPr/>
          </p:nvSpPr>
          <p:spPr bwMode="auto">
            <a:xfrm flipH="1">
              <a:off x="1821" y="8824"/>
              <a:ext cx="1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8129" name="Line 17"/>
            <p:cNvSpPr>
              <a:spLocks noChangeShapeType="1"/>
            </p:cNvSpPr>
            <p:nvPr/>
          </p:nvSpPr>
          <p:spPr bwMode="auto">
            <a:xfrm>
              <a:off x="1821" y="8824"/>
              <a:ext cx="0" cy="1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8130" name="Line 18"/>
            <p:cNvSpPr>
              <a:spLocks noChangeShapeType="1"/>
            </p:cNvSpPr>
            <p:nvPr/>
          </p:nvSpPr>
          <p:spPr bwMode="auto">
            <a:xfrm>
              <a:off x="1821" y="10144"/>
              <a:ext cx="9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8131" name="Line 19"/>
            <p:cNvSpPr>
              <a:spLocks noChangeShapeType="1"/>
            </p:cNvSpPr>
            <p:nvPr/>
          </p:nvSpPr>
          <p:spPr bwMode="auto">
            <a:xfrm flipH="1">
              <a:off x="1341" y="9424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58132" name="Group 20"/>
          <p:cNvGrpSpPr/>
          <p:nvPr/>
        </p:nvGrpSpPr>
        <p:grpSpPr bwMode="auto">
          <a:xfrm>
            <a:off x="2449513" y="3833813"/>
            <a:ext cx="1366837" cy="436562"/>
            <a:chOff x="1341" y="8824"/>
            <a:chExt cx="1680" cy="1320"/>
          </a:xfrm>
        </p:grpSpPr>
        <p:sp>
          <p:nvSpPr>
            <p:cNvPr id="858133" name="Line 21"/>
            <p:cNvSpPr>
              <a:spLocks noChangeShapeType="1"/>
            </p:cNvSpPr>
            <p:nvPr/>
          </p:nvSpPr>
          <p:spPr bwMode="auto">
            <a:xfrm flipH="1">
              <a:off x="1821" y="8824"/>
              <a:ext cx="1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8134" name="Line 22"/>
            <p:cNvSpPr>
              <a:spLocks noChangeShapeType="1"/>
            </p:cNvSpPr>
            <p:nvPr/>
          </p:nvSpPr>
          <p:spPr bwMode="auto">
            <a:xfrm>
              <a:off x="1821" y="8824"/>
              <a:ext cx="0" cy="1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8135" name="Line 23"/>
            <p:cNvSpPr>
              <a:spLocks noChangeShapeType="1"/>
            </p:cNvSpPr>
            <p:nvPr/>
          </p:nvSpPr>
          <p:spPr bwMode="auto">
            <a:xfrm>
              <a:off x="1821" y="10144"/>
              <a:ext cx="9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8136" name="Line 24"/>
            <p:cNvSpPr>
              <a:spLocks noChangeShapeType="1"/>
            </p:cNvSpPr>
            <p:nvPr/>
          </p:nvSpPr>
          <p:spPr bwMode="auto">
            <a:xfrm flipH="1">
              <a:off x="1341" y="9424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58137" name="Text Box 25"/>
          <p:cNvSpPr txBox="1">
            <a:spLocks noChangeArrowheads="1"/>
          </p:cNvSpPr>
          <p:nvPr/>
        </p:nvSpPr>
        <p:spPr bwMode="auto">
          <a:xfrm>
            <a:off x="701675" y="3721100"/>
            <a:ext cx="1681163" cy="50958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b="0">
                <a:solidFill>
                  <a:schemeClr val="bg1"/>
                </a:solidFill>
                <a:latin typeface="Times New Roman" panose="02020603050405020304" charset="0"/>
              </a:rPr>
              <a:t>Important to I-CASE</a:t>
            </a:r>
            <a:endParaRPr lang="en-US" sz="1600" b="0">
              <a:solidFill>
                <a:schemeClr val="bg1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9DC2ED-F9B9-408F-BEC0-C0A2BE05942F}" type="slidenum">
              <a:rPr lang="en-US"/>
            </a:fld>
            <a:endParaRPr lang="en-US"/>
          </a:p>
        </p:txBody>
      </p:sp>
      <p:sp>
        <p:nvSpPr>
          <p:cNvPr id="8591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Times New Roman" panose="02020603050405020304" charset="0"/>
              </a:rPr>
              <a:t>CASE building blocks…cont.</a:t>
            </a:r>
            <a:endParaRPr lang="en-US">
              <a:cs typeface="Times New Roman" panose="02020603050405020304" charset="0"/>
            </a:endParaRPr>
          </a:p>
        </p:txBody>
      </p:sp>
      <p:sp>
        <p:nvSpPr>
          <p:cNvPr id="85913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>
                <a:cs typeface="Times New Roman" panose="02020603050405020304" charset="0"/>
              </a:rPr>
              <a:t>portability services</a:t>
            </a:r>
            <a:r>
              <a:rPr lang="en-US">
                <a:cs typeface="Times New Roman" panose="02020603050405020304" charset="0"/>
              </a:rPr>
              <a:t> = as a  bridge between CASE tools  +  integration framework + environment architecture</a:t>
            </a:r>
            <a:endParaRPr lang="en-US">
              <a:cs typeface="Times New Roman" panose="02020603050405020304" charset="0"/>
            </a:endParaRPr>
          </a:p>
          <a:p>
            <a:r>
              <a:rPr lang="en-US" u="sng">
                <a:cs typeface="Times New Roman" panose="02020603050405020304" charset="0"/>
              </a:rPr>
              <a:t>integration framework</a:t>
            </a:r>
            <a:r>
              <a:rPr lang="en-US">
                <a:cs typeface="Times New Roman" panose="02020603050405020304" charset="0"/>
              </a:rPr>
              <a:t> = collection of specialized programs that enables individual CASE tools to :</a:t>
            </a:r>
            <a:endParaRPr lang="en-US">
              <a:cs typeface="Times New Roman" panose="02020603050405020304" charset="0"/>
            </a:endParaRPr>
          </a:p>
          <a:p>
            <a:pPr lvl="1">
              <a:buClr>
                <a:schemeClr val="tx1"/>
              </a:buClr>
              <a:buSzTx/>
              <a:buFont typeface="Wingdings" panose="05000000000000000000" pitchFamily="2" charset="2"/>
              <a:buChar char="ü"/>
            </a:pPr>
            <a:r>
              <a:rPr lang="en-US" sz="2400">
                <a:cs typeface="Times New Roman" panose="02020603050405020304" charset="0"/>
              </a:rPr>
              <a:t>communicate with one another</a:t>
            </a:r>
            <a:endParaRPr lang="en-US" sz="2400">
              <a:cs typeface="Times New Roman" panose="02020603050405020304" charset="0"/>
            </a:endParaRPr>
          </a:p>
          <a:p>
            <a:pPr lvl="1">
              <a:buClr>
                <a:schemeClr val="tx1"/>
              </a:buClr>
              <a:buSzTx/>
              <a:buFont typeface="Wingdings" panose="05000000000000000000" pitchFamily="2" charset="2"/>
              <a:buChar char="ü"/>
            </a:pPr>
            <a:r>
              <a:rPr lang="en-US" sz="2400">
                <a:cs typeface="Times New Roman" panose="02020603050405020304" charset="0"/>
              </a:rPr>
              <a:t>create a project data base</a:t>
            </a:r>
            <a:endParaRPr lang="en-US" sz="2400">
              <a:cs typeface="Times New Roman" panose="02020603050405020304" charset="0"/>
            </a:endParaRPr>
          </a:p>
          <a:p>
            <a:pPr lvl="1">
              <a:buClr>
                <a:schemeClr val="tx1"/>
              </a:buClr>
              <a:buSzTx/>
              <a:buFont typeface="Wingdings" panose="05000000000000000000" pitchFamily="2" charset="2"/>
              <a:buChar char="ü"/>
            </a:pPr>
            <a:r>
              <a:rPr lang="en-US" sz="2400">
                <a:cs typeface="Times New Roman" panose="02020603050405020304" charset="0"/>
              </a:rPr>
              <a:t>exhibit the same look and feel to the SW engineer</a:t>
            </a:r>
            <a:endParaRPr lang="en-US" sz="2400">
              <a:cs typeface="Times New Roman" panose="02020603050405020304" charset="0"/>
            </a:endParaRPr>
          </a:p>
          <a:p>
            <a:r>
              <a:rPr lang="en-US">
                <a:cs typeface="Times New Roman" panose="02020603050405020304" charset="0"/>
              </a:rPr>
              <a:t>integrated tools help project team develop, organize and control work products</a:t>
            </a:r>
            <a:endParaRPr lang="en-US">
              <a:cs typeface="Times New Roman" panose="02020603050405020304" charset="0"/>
            </a:endParaRPr>
          </a:p>
          <a:p>
            <a:endParaRPr lang="en-US">
              <a:cs typeface="Times New Roman" panose="02020603050405020304" charset="0"/>
            </a:endParaRPr>
          </a:p>
          <a:p>
            <a:endParaRPr lang="en-US" sz="2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1B8CF4-6C67-44E1-8160-1F5359C8C634}" type="slidenum">
              <a:rPr lang="en-US"/>
            </a:fld>
            <a:endParaRPr lang="en-US"/>
          </a:p>
        </p:txBody>
      </p:sp>
      <p:sp>
        <p:nvSpPr>
          <p:cNvPr id="8601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Times New Roman" panose="02020603050405020304" charset="0"/>
              </a:rPr>
              <a:t>CASE building blocks…cont.</a:t>
            </a:r>
            <a:endParaRPr lang="en-US">
              <a:cs typeface="Times New Roman" panose="02020603050405020304" charset="0"/>
            </a:endParaRPr>
          </a:p>
        </p:txBody>
      </p:sp>
      <p:sp>
        <p:nvSpPr>
          <p:cNvPr id="86016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>
                <a:latin typeface="Arial" panose="020B0604020202020204" pitchFamily="34" charset="0"/>
                <a:cs typeface="Times New Roman" panose="02020603050405020304" charset="0"/>
              </a:rPr>
              <a:t>Integration options are shown below :</a:t>
            </a:r>
            <a:endParaRPr lang="en-US" sz="2000">
              <a:latin typeface="Arial" panose="020B0604020202020204" pitchFamily="3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/>
          </a:p>
        </p:txBody>
      </p:sp>
      <p:grpSp>
        <p:nvGrpSpPr>
          <p:cNvPr id="860164" name="Group 4"/>
          <p:cNvGrpSpPr/>
          <p:nvPr/>
        </p:nvGrpSpPr>
        <p:grpSpPr bwMode="auto">
          <a:xfrm>
            <a:off x="609600" y="2641600"/>
            <a:ext cx="8382000" cy="2506663"/>
            <a:chOff x="384" y="1872"/>
            <a:chExt cx="5280" cy="1776"/>
          </a:xfrm>
        </p:grpSpPr>
        <p:sp>
          <p:nvSpPr>
            <p:cNvPr id="860165" name="Rectangle 5"/>
            <p:cNvSpPr>
              <a:spLocks noChangeArrowheads="1"/>
            </p:cNvSpPr>
            <p:nvPr/>
          </p:nvSpPr>
          <p:spPr bwMode="auto">
            <a:xfrm>
              <a:off x="384" y="1872"/>
              <a:ext cx="1824" cy="13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FF6600"/>
              </a:solidFill>
              <a:miter lim="800000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60166" name="Group 6"/>
            <p:cNvGrpSpPr/>
            <p:nvPr/>
          </p:nvGrpSpPr>
          <p:grpSpPr bwMode="auto">
            <a:xfrm>
              <a:off x="672" y="2270"/>
              <a:ext cx="1420" cy="478"/>
              <a:chOff x="2901" y="4024"/>
              <a:chExt cx="3120" cy="840"/>
            </a:xfrm>
          </p:grpSpPr>
          <p:sp>
            <p:nvSpPr>
              <p:cNvPr id="860167" name="Oval 7"/>
              <p:cNvSpPr>
                <a:spLocks noChangeArrowheads="1"/>
              </p:cNvSpPr>
              <p:nvPr/>
            </p:nvSpPr>
            <p:spPr bwMode="auto">
              <a:xfrm>
                <a:off x="2901" y="4024"/>
                <a:ext cx="411" cy="4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168" name="Text Box 8"/>
              <p:cNvSpPr txBox="1">
                <a:spLocks noChangeArrowheads="1"/>
              </p:cNvSpPr>
              <p:nvPr/>
            </p:nvSpPr>
            <p:spPr bwMode="auto">
              <a:xfrm>
                <a:off x="3861" y="4024"/>
                <a:ext cx="2160" cy="84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sz="2000" b="0">
                    <a:solidFill>
                      <a:schemeClr val="bg1"/>
                    </a:solidFill>
                    <a:latin typeface="Palatino" pitchFamily="18" charset="0"/>
                  </a:rPr>
                  <a:t>Individual tool</a:t>
                </a:r>
                <a:endParaRPr lang="en-US" sz="2000" b="0">
                  <a:solidFill>
                    <a:schemeClr val="bg1"/>
                  </a:solidFill>
                  <a:latin typeface="Palatino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000" b="0">
                    <a:solidFill>
                      <a:schemeClr val="bg1"/>
                    </a:solidFill>
                    <a:latin typeface="Palatino" pitchFamily="18" charset="0"/>
                  </a:rPr>
                  <a:t>(point solution)</a:t>
                </a:r>
                <a:endParaRPr lang="en-US" sz="2000" b="0">
                  <a:solidFill>
                    <a:schemeClr val="bg1"/>
                  </a:solidFill>
                  <a:latin typeface="Palatino" pitchFamily="18" charset="0"/>
                </a:endParaRPr>
              </a:p>
            </p:txBody>
          </p:sp>
        </p:grpSp>
        <p:sp>
          <p:nvSpPr>
            <p:cNvPr id="860169" name="Text Box 9"/>
            <p:cNvSpPr txBox="1">
              <a:spLocks noChangeArrowheads="1"/>
            </p:cNvSpPr>
            <p:nvPr/>
          </p:nvSpPr>
          <p:spPr bwMode="auto">
            <a:xfrm>
              <a:off x="3024" y="1872"/>
              <a:ext cx="2640" cy="17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  <a:buFont typeface="Symbol" panose="05050102010706020507" pitchFamily="18" charset="2"/>
                <a:buChar char="·"/>
              </a:pPr>
              <a:r>
                <a:rPr lang="en-US" sz="2000" b="0">
                  <a:solidFill>
                    <a:schemeClr val="bg1"/>
                  </a:solidFill>
                  <a:latin typeface="Palatino" pitchFamily="18" charset="0"/>
                </a:rPr>
                <a:t>Used to assist in a particular SE activity (ex : analysis modeling)</a:t>
              </a:r>
              <a:endParaRPr lang="en-US" sz="2000" b="0">
                <a:solidFill>
                  <a:schemeClr val="bg1"/>
                </a:solidFill>
                <a:latin typeface="Palatino" pitchFamily="18" charset="0"/>
              </a:endParaRPr>
            </a:p>
            <a:p>
              <a:pPr>
                <a:lnSpc>
                  <a:spcPct val="100000"/>
                </a:lnSpc>
                <a:buFont typeface="Symbol" panose="05050102010706020507" pitchFamily="18" charset="2"/>
                <a:buChar char="·"/>
              </a:pPr>
              <a:r>
                <a:rPr lang="en-US" sz="2000" b="0">
                  <a:solidFill>
                    <a:schemeClr val="bg1"/>
                  </a:solidFill>
                  <a:latin typeface="Palatino" pitchFamily="18" charset="0"/>
                </a:rPr>
                <a:t>Does not directly communicate with other tools</a:t>
              </a:r>
              <a:endParaRPr lang="en-US" sz="2000" b="0">
                <a:solidFill>
                  <a:schemeClr val="bg1"/>
                </a:solidFill>
                <a:latin typeface="Palatino" pitchFamily="18" charset="0"/>
              </a:endParaRPr>
            </a:p>
            <a:p>
              <a:pPr>
                <a:lnSpc>
                  <a:spcPct val="100000"/>
                </a:lnSpc>
                <a:buFont typeface="Symbol" panose="05050102010706020507" pitchFamily="18" charset="2"/>
                <a:buChar char="·"/>
              </a:pPr>
              <a:r>
                <a:rPr lang="en-US" sz="2000" b="0">
                  <a:solidFill>
                    <a:schemeClr val="bg1"/>
                  </a:solidFill>
                  <a:latin typeface="Palatino" pitchFamily="18" charset="0"/>
                </a:rPr>
                <a:t>Not part of I-CASE environment</a:t>
              </a:r>
              <a:endParaRPr lang="en-US" sz="2000" b="0">
                <a:solidFill>
                  <a:schemeClr val="bg1"/>
                </a:solidFill>
                <a:latin typeface="Palatino" pitchFamily="18" charset="0"/>
              </a:endParaRPr>
            </a:p>
            <a:p>
              <a:pPr>
                <a:lnSpc>
                  <a:spcPct val="100000"/>
                </a:lnSpc>
              </a:pPr>
              <a:endParaRPr lang="en-US" sz="2000" b="0">
                <a:solidFill>
                  <a:schemeClr val="bg1"/>
                </a:solidFill>
                <a:latin typeface="Palatino" pitchFamily="18" charset="0"/>
              </a:endParaRPr>
            </a:p>
            <a:p>
              <a:pPr>
                <a:lnSpc>
                  <a:spcPct val="100000"/>
                </a:lnSpc>
              </a:pPr>
              <a:endParaRPr lang="en-US" sz="2000" b="0">
                <a:solidFill>
                  <a:schemeClr val="bg1"/>
                </a:solidFill>
                <a:latin typeface="Palatino" pitchFamily="18" charset="0"/>
              </a:endParaRPr>
            </a:p>
          </p:txBody>
        </p:sp>
        <p:sp>
          <p:nvSpPr>
            <p:cNvPr id="860170" name="Line 10"/>
            <p:cNvSpPr>
              <a:spLocks noChangeShapeType="1"/>
            </p:cNvSpPr>
            <p:nvPr/>
          </p:nvSpPr>
          <p:spPr bwMode="auto">
            <a:xfrm flipV="1">
              <a:off x="2256" y="2064"/>
              <a:ext cx="768" cy="1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171" name="Line 11"/>
            <p:cNvSpPr>
              <a:spLocks noChangeShapeType="1"/>
            </p:cNvSpPr>
            <p:nvPr/>
          </p:nvSpPr>
          <p:spPr bwMode="auto">
            <a:xfrm>
              <a:off x="2256" y="2270"/>
              <a:ext cx="816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172" name="Line 12"/>
            <p:cNvSpPr>
              <a:spLocks noChangeShapeType="1"/>
            </p:cNvSpPr>
            <p:nvPr/>
          </p:nvSpPr>
          <p:spPr bwMode="auto">
            <a:xfrm>
              <a:off x="2256" y="2270"/>
              <a:ext cx="816" cy="8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6DA385-043F-4EA3-B6A6-1222CC7C58CD}" type="slidenum">
              <a:rPr lang="en-US"/>
            </a:fld>
            <a:endParaRPr lang="en-US"/>
          </a:p>
        </p:txBody>
      </p:sp>
      <p:sp>
        <p:nvSpPr>
          <p:cNvPr id="8611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atin typeface="Arial" panose="020B0604020202020204" pitchFamily="34" charset="0"/>
                <a:cs typeface="Times New Roman" panose="02020603050405020304" charset="0"/>
              </a:rPr>
              <a:t>Integration options…cont</a:t>
            </a:r>
            <a:endParaRPr lang="en-US" sz="3200">
              <a:latin typeface="Arial" panose="020B0604020202020204" pitchFamily="34" charset="0"/>
              <a:cs typeface="Times New Roman" panose="02020603050405020304" charset="0"/>
            </a:endParaRPr>
          </a:p>
        </p:txBody>
      </p:sp>
      <p:sp>
        <p:nvSpPr>
          <p:cNvPr id="861187" name="Rectangle 3"/>
          <p:cNvSpPr>
            <a:spLocks noChangeArrowheads="1"/>
          </p:cNvSpPr>
          <p:nvPr/>
        </p:nvSpPr>
        <p:spPr bwMode="auto">
          <a:xfrm>
            <a:off x="381000" y="2303463"/>
            <a:ext cx="3581400" cy="2859087"/>
          </a:xfrm>
          <a:prstGeom prst="rect">
            <a:avLst/>
          </a:prstGeom>
          <a:solidFill>
            <a:srgbClr val="CCFFCC"/>
          </a:solidFill>
          <a:ln w="9525">
            <a:solidFill>
              <a:srgbClr val="FF66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61188" name="Oval 4"/>
          <p:cNvSpPr>
            <a:spLocks noChangeArrowheads="1"/>
          </p:cNvSpPr>
          <p:nvPr/>
        </p:nvSpPr>
        <p:spPr bwMode="auto">
          <a:xfrm>
            <a:off x="1093788" y="3441700"/>
            <a:ext cx="561975" cy="35083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61189" name="Oval 5"/>
          <p:cNvSpPr>
            <a:spLocks noChangeArrowheads="1"/>
          </p:cNvSpPr>
          <p:nvPr/>
        </p:nvSpPr>
        <p:spPr bwMode="auto">
          <a:xfrm>
            <a:off x="2667000" y="3282950"/>
            <a:ext cx="561975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61190" name="Rectangle 6"/>
          <p:cNvSpPr>
            <a:spLocks noChangeArrowheads="1"/>
          </p:cNvSpPr>
          <p:nvPr/>
        </p:nvSpPr>
        <p:spPr bwMode="auto">
          <a:xfrm>
            <a:off x="2133600" y="3968750"/>
            <a:ext cx="560388" cy="211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61191" name="Line 7"/>
          <p:cNvSpPr>
            <a:spLocks noChangeShapeType="1"/>
          </p:cNvSpPr>
          <p:nvPr/>
        </p:nvSpPr>
        <p:spPr bwMode="auto">
          <a:xfrm>
            <a:off x="1655763" y="3722688"/>
            <a:ext cx="477837" cy="346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61192" name="Line 8"/>
          <p:cNvSpPr>
            <a:spLocks noChangeShapeType="1"/>
          </p:cNvSpPr>
          <p:nvPr/>
        </p:nvSpPr>
        <p:spPr bwMode="auto">
          <a:xfrm flipV="1">
            <a:off x="2667000" y="3675063"/>
            <a:ext cx="152400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61193" name="Line 9"/>
          <p:cNvSpPr>
            <a:spLocks noChangeShapeType="1"/>
          </p:cNvSpPr>
          <p:nvPr/>
        </p:nvSpPr>
        <p:spPr bwMode="auto">
          <a:xfrm flipV="1">
            <a:off x="1430338" y="3159125"/>
            <a:ext cx="673100" cy="284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61194" name="Line 10"/>
          <p:cNvSpPr>
            <a:spLocks noChangeShapeType="1"/>
          </p:cNvSpPr>
          <p:nvPr/>
        </p:nvSpPr>
        <p:spPr bwMode="auto">
          <a:xfrm>
            <a:off x="2103438" y="3159125"/>
            <a:ext cx="673100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61195" name="Text Box 11"/>
          <p:cNvSpPr txBox="1">
            <a:spLocks noChangeArrowheads="1"/>
          </p:cNvSpPr>
          <p:nvPr/>
        </p:nvSpPr>
        <p:spPr bwMode="auto">
          <a:xfrm>
            <a:off x="762000" y="2790825"/>
            <a:ext cx="1600200" cy="39528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>
                <a:solidFill>
                  <a:schemeClr val="bg1"/>
                </a:solidFill>
                <a:latin typeface="Times New Roman" panose="02020603050405020304" charset="0"/>
              </a:rPr>
              <a:t>Data exchange</a:t>
            </a:r>
            <a:endParaRPr lang="en-US" sz="1600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sp>
        <p:nvSpPr>
          <p:cNvPr id="861196" name="Text Box 12"/>
          <p:cNvSpPr txBox="1">
            <a:spLocks noChangeArrowheads="1"/>
          </p:cNvSpPr>
          <p:nvPr/>
        </p:nvSpPr>
        <p:spPr bwMode="auto">
          <a:xfrm>
            <a:off x="2667000" y="4164013"/>
            <a:ext cx="1524000" cy="4921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>
                <a:solidFill>
                  <a:schemeClr val="bg1"/>
                </a:solidFill>
                <a:latin typeface="Times New Roman" panose="02020603050405020304" charset="0"/>
              </a:rPr>
              <a:t>Tool bridges &amp; partnerships</a:t>
            </a:r>
            <a:endParaRPr lang="en-US" sz="1600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sp>
        <p:nvSpPr>
          <p:cNvPr id="861197" name="Text Box 13"/>
          <p:cNvSpPr txBox="1">
            <a:spLocks noChangeArrowheads="1"/>
          </p:cNvSpPr>
          <p:nvPr/>
        </p:nvSpPr>
        <p:spPr bwMode="auto">
          <a:xfrm>
            <a:off x="5181600" y="2844800"/>
            <a:ext cx="3962400" cy="19367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0000"/>
              </a:lnSpc>
              <a:buFont typeface="Symbol" panose="05050102010706020507" pitchFamily="18" charset="2"/>
              <a:buChar char="·"/>
            </a:pPr>
            <a:r>
              <a:rPr lang="en-US">
                <a:solidFill>
                  <a:schemeClr val="bg1"/>
                </a:solidFill>
                <a:latin typeface="Palatino" pitchFamily="18" charset="0"/>
              </a:rPr>
              <a:t>Facilities for data exchange</a:t>
            </a: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  <a:buFont typeface="Symbol" panose="05050102010706020507" pitchFamily="18" charset="2"/>
              <a:buChar char="·"/>
            </a:pPr>
            <a:r>
              <a:rPr lang="en-US">
                <a:solidFill>
                  <a:schemeClr val="bg1"/>
                </a:solidFill>
                <a:latin typeface="Palatino" pitchFamily="18" charset="0"/>
              </a:rPr>
              <a:t>Produce output in std format that compatible with other tools</a:t>
            </a: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  <a:buFont typeface="Symbol" panose="05050102010706020507" pitchFamily="18" charset="2"/>
              <a:buChar char="·"/>
            </a:pPr>
            <a:r>
              <a:rPr lang="en-US">
                <a:solidFill>
                  <a:schemeClr val="bg1"/>
                </a:solidFill>
                <a:latin typeface="Palatino" pitchFamily="18" charset="0"/>
              </a:rPr>
              <a:t>Or form a bridge between tools</a:t>
            </a: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endParaRPr lang="en-US">
              <a:solidFill>
                <a:schemeClr val="bg1"/>
              </a:solidFill>
              <a:latin typeface="Palatino" pitchFamily="18" charset="0"/>
            </a:endParaRPr>
          </a:p>
        </p:txBody>
      </p:sp>
      <p:sp>
        <p:nvSpPr>
          <p:cNvPr id="861198" name="Line 14"/>
          <p:cNvSpPr>
            <a:spLocks noChangeShapeType="1"/>
          </p:cNvSpPr>
          <p:nvPr/>
        </p:nvSpPr>
        <p:spPr bwMode="auto">
          <a:xfrm flipV="1">
            <a:off x="3962400" y="2979738"/>
            <a:ext cx="1219200" cy="6191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61199" name="Line 15"/>
          <p:cNvSpPr>
            <a:spLocks noChangeShapeType="1"/>
          </p:cNvSpPr>
          <p:nvPr/>
        </p:nvSpPr>
        <p:spPr bwMode="auto">
          <a:xfrm>
            <a:off x="3962400" y="3589338"/>
            <a:ext cx="1219200" cy="592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61200" name="Line 16"/>
          <p:cNvSpPr>
            <a:spLocks noChangeShapeType="1"/>
          </p:cNvSpPr>
          <p:nvPr/>
        </p:nvSpPr>
        <p:spPr bwMode="auto">
          <a:xfrm flipV="1">
            <a:off x="3962400" y="3386138"/>
            <a:ext cx="1219200" cy="1984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E28685-2DC8-495A-853C-961875FFED46}" type="slidenum">
              <a:rPr lang="en-US"/>
            </a:fld>
            <a:endParaRPr lang="en-US"/>
          </a:p>
        </p:txBody>
      </p:sp>
      <p:sp>
        <p:nvSpPr>
          <p:cNvPr id="8622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atin typeface="Arial" panose="020B0604020202020204" pitchFamily="34" charset="0"/>
                <a:cs typeface="Times New Roman" panose="02020603050405020304" charset="0"/>
              </a:rPr>
              <a:t>Integration options…cont</a:t>
            </a:r>
            <a:endParaRPr lang="en-US" sz="3200">
              <a:latin typeface="Arial" panose="020B0604020202020204" pitchFamily="34" charset="0"/>
              <a:cs typeface="Times New Roman" panose="02020603050405020304" charset="0"/>
            </a:endParaRPr>
          </a:p>
        </p:txBody>
      </p:sp>
      <p:sp>
        <p:nvSpPr>
          <p:cNvPr id="862211" name="Rectangle 3"/>
          <p:cNvSpPr>
            <a:spLocks noChangeArrowheads="1"/>
          </p:cNvSpPr>
          <p:nvPr/>
        </p:nvSpPr>
        <p:spPr bwMode="auto">
          <a:xfrm>
            <a:off x="609600" y="2370138"/>
            <a:ext cx="3276600" cy="2168525"/>
          </a:xfrm>
          <a:prstGeom prst="rect">
            <a:avLst/>
          </a:prstGeom>
          <a:solidFill>
            <a:srgbClr val="CCFFCC"/>
          </a:solidFill>
          <a:ln w="9525">
            <a:solidFill>
              <a:srgbClr val="FF66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62212" name="Oval 4"/>
          <p:cNvSpPr>
            <a:spLocks noChangeArrowheads="1"/>
          </p:cNvSpPr>
          <p:nvPr/>
        </p:nvSpPr>
        <p:spPr bwMode="auto">
          <a:xfrm>
            <a:off x="838200" y="2709863"/>
            <a:ext cx="1752600" cy="12858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862213" name="Group 5"/>
          <p:cNvGrpSpPr/>
          <p:nvPr/>
        </p:nvGrpSpPr>
        <p:grpSpPr bwMode="auto">
          <a:xfrm>
            <a:off x="1295400" y="2913063"/>
            <a:ext cx="1066800" cy="812800"/>
            <a:chOff x="2181" y="2464"/>
            <a:chExt cx="1680" cy="1440"/>
          </a:xfrm>
        </p:grpSpPr>
        <p:sp>
          <p:nvSpPr>
            <p:cNvPr id="862214" name="Oval 6"/>
            <p:cNvSpPr>
              <a:spLocks noChangeArrowheads="1"/>
            </p:cNvSpPr>
            <p:nvPr/>
          </p:nvSpPr>
          <p:spPr bwMode="auto">
            <a:xfrm>
              <a:off x="2421" y="2704"/>
              <a:ext cx="480" cy="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2215" name="Oval 7"/>
            <p:cNvSpPr>
              <a:spLocks noChangeArrowheads="1"/>
            </p:cNvSpPr>
            <p:nvPr/>
          </p:nvSpPr>
          <p:spPr bwMode="auto">
            <a:xfrm>
              <a:off x="2661" y="2944"/>
              <a:ext cx="480" cy="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2216" name="Oval 8"/>
            <p:cNvSpPr>
              <a:spLocks noChangeArrowheads="1"/>
            </p:cNvSpPr>
            <p:nvPr/>
          </p:nvSpPr>
          <p:spPr bwMode="auto">
            <a:xfrm>
              <a:off x="2901" y="3304"/>
              <a:ext cx="480" cy="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2217" name="Oval 9"/>
            <p:cNvSpPr>
              <a:spLocks noChangeArrowheads="1"/>
            </p:cNvSpPr>
            <p:nvPr/>
          </p:nvSpPr>
          <p:spPr bwMode="auto">
            <a:xfrm>
              <a:off x="2421" y="3424"/>
              <a:ext cx="480" cy="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2218" name="Oval 10"/>
            <p:cNvSpPr>
              <a:spLocks noChangeArrowheads="1"/>
            </p:cNvSpPr>
            <p:nvPr/>
          </p:nvSpPr>
          <p:spPr bwMode="auto">
            <a:xfrm>
              <a:off x="3381" y="3184"/>
              <a:ext cx="480" cy="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2219" name="Oval 11"/>
            <p:cNvSpPr>
              <a:spLocks noChangeArrowheads="1"/>
            </p:cNvSpPr>
            <p:nvPr/>
          </p:nvSpPr>
          <p:spPr bwMode="auto">
            <a:xfrm>
              <a:off x="2181" y="3064"/>
              <a:ext cx="480" cy="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2220" name="Oval 12"/>
            <p:cNvSpPr>
              <a:spLocks noChangeArrowheads="1"/>
            </p:cNvSpPr>
            <p:nvPr/>
          </p:nvSpPr>
          <p:spPr bwMode="auto">
            <a:xfrm>
              <a:off x="3141" y="2824"/>
              <a:ext cx="480" cy="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2221" name="Oval 13"/>
            <p:cNvSpPr>
              <a:spLocks noChangeArrowheads="1"/>
            </p:cNvSpPr>
            <p:nvPr/>
          </p:nvSpPr>
          <p:spPr bwMode="auto">
            <a:xfrm>
              <a:off x="2781" y="2464"/>
              <a:ext cx="480" cy="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62222" name="Text Box 14"/>
          <p:cNvSpPr txBox="1">
            <a:spLocks noChangeArrowheads="1"/>
          </p:cNvSpPr>
          <p:nvPr/>
        </p:nvSpPr>
        <p:spPr bwMode="auto">
          <a:xfrm>
            <a:off x="2667000" y="3182938"/>
            <a:ext cx="1219200" cy="609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400">
                <a:solidFill>
                  <a:schemeClr val="bg1"/>
                </a:solidFill>
                <a:latin typeface="Palatino" pitchFamily="18" charset="0"/>
              </a:rPr>
              <a:t>Single source integration</a:t>
            </a:r>
            <a:endParaRPr lang="en-US" sz="1400">
              <a:solidFill>
                <a:schemeClr val="bg1"/>
              </a:solidFill>
              <a:latin typeface="Palatino" pitchFamily="18" charset="0"/>
            </a:endParaRPr>
          </a:p>
        </p:txBody>
      </p:sp>
      <p:sp>
        <p:nvSpPr>
          <p:cNvPr id="862223" name="Text Box 15"/>
          <p:cNvSpPr txBox="1">
            <a:spLocks noChangeArrowheads="1"/>
          </p:cNvSpPr>
          <p:nvPr/>
        </p:nvSpPr>
        <p:spPr bwMode="auto">
          <a:xfrm>
            <a:off x="4724400" y="2573338"/>
            <a:ext cx="3352800" cy="19653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0000"/>
              </a:lnSpc>
              <a:buFont typeface="Symbol" panose="05050102010706020507" pitchFamily="18" charset="2"/>
              <a:buChar char="·"/>
            </a:pPr>
            <a:r>
              <a:rPr lang="en-US">
                <a:solidFill>
                  <a:schemeClr val="bg1"/>
                </a:solidFill>
                <a:latin typeface="Palatino" pitchFamily="18" charset="0"/>
              </a:rPr>
              <a:t>When a single CASE tools vendor integrates a number of different tools</a:t>
            </a: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  <a:buFont typeface="Symbol" panose="05050102010706020507" pitchFamily="18" charset="2"/>
              <a:buChar char="·"/>
            </a:pPr>
            <a:r>
              <a:rPr lang="en-US">
                <a:solidFill>
                  <a:schemeClr val="bg1"/>
                </a:solidFill>
                <a:latin typeface="Palatino" pitchFamily="18" charset="0"/>
              </a:rPr>
              <a:t>Sells  as a package</a:t>
            </a: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  <a:buFont typeface="Symbol" panose="05050102010706020507" pitchFamily="18" charset="2"/>
              <a:buChar char="·"/>
            </a:pPr>
            <a:r>
              <a:rPr lang="en-US">
                <a:solidFill>
                  <a:schemeClr val="bg1"/>
                </a:solidFill>
                <a:latin typeface="Palatino" pitchFamily="18" charset="0"/>
              </a:rPr>
              <a:t>Addition of tools from other vendors is not easy</a:t>
            </a: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endParaRPr lang="en-US" b="0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endParaRPr lang="en-US" b="0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endParaRPr lang="en-US" b="0">
              <a:solidFill>
                <a:schemeClr val="bg1"/>
              </a:solidFill>
              <a:latin typeface="Palatino" pitchFamily="18" charset="0"/>
            </a:endParaRPr>
          </a:p>
        </p:txBody>
      </p:sp>
      <p:sp>
        <p:nvSpPr>
          <p:cNvPr id="862224" name="Line 16"/>
          <p:cNvSpPr>
            <a:spLocks noChangeShapeType="1"/>
          </p:cNvSpPr>
          <p:nvPr/>
        </p:nvSpPr>
        <p:spPr bwMode="auto">
          <a:xfrm flipV="1">
            <a:off x="3886200" y="2844800"/>
            <a:ext cx="8382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62225" name="Line 17"/>
          <p:cNvSpPr>
            <a:spLocks noChangeShapeType="1"/>
          </p:cNvSpPr>
          <p:nvPr/>
        </p:nvSpPr>
        <p:spPr bwMode="auto">
          <a:xfrm>
            <a:off x="3886200" y="3454400"/>
            <a:ext cx="914400" cy="338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62226" name="Line 18"/>
          <p:cNvSpPr>
            <a:spLocks noChangeShapeType="1"/>
          </p:cNvSpPr>
          <p:nvPr/>
        </p:nvSpPr>
        <p:spPr bwMode="auto">
          <a:xfrm>
            <a:off x="3886200" y="3454400"/>
            <a:ext cx="914400" cy="677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6B6B78-24C2-48FD-AEB7-712ED5C7D73E}" type="slidenum">
              <a:rPr lang="en-US"/>
            </a:fld>
            <a:endParaRPr lang="en-US"/>
          </a:p>
        </p:txBody>
      </p:sp>
      <p:sp>
        <p:nvSpPr>
          <p:cNvPr id="8632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atin typeface="Arial" panose="020B0604020202020204" pitchFamily="34" charset="0"/>
                <a:cs typeface="Times New Roman" panose="02020603050405020304" charset="0"/>
              </a:rPr>
              <a:t>Integration options…cont</a:t>
            </a:r>
            <a:endParaRPr lang="en-US" sz="3200">
              <a:latin typeface="Arial" panose="020B0604020202020204" pitchFamily="34" charset="0"/>
              <a:cs typeface="Times New Roman" panose="02020603050405020304" charset="0"/>
            </a:endParaRPr>
          </a:p>
        </p:txBody>
      </p:sp>
      <p:sp>
        <p:nvSpPr>
          <p:cNvPr id="863235" name="Rectangle 3"/>
          <p:cNvSpPr>
            <a:spLocks noChangeArrowheads="1"/>
          </p:cNvSpPr>
          <p:nvPr/>
        </p:nvSpPr>
        <p:spPr bwMode="auto">
          <a:xfrm>
            <a:off x="609600" y="2100263"/>
            <a:ext cx="3505200" cy="3048000"/>
          </a:xfrm>
          <a:prstGeom prst="rect">
            <a:avLst/>
          </a:prstGeom>
          <a:solidFill>
            <a:srgbClr val="CCFFCC"/>
          </a:solidFill>
          <a:ln w="9525">
            <a:solidFill>
              <a:srgbClr val="FF66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63236" name="Oval 4"/>
          <p:cNvSpPr>
            <a:spLocks noChangeArrowheads="1"/>
          </p:cNvSpPr>
          <p:nvPr/>
        </p:nvSpPr>
        <p:spPr bwMode="auto">
          <a:xfrm>
            <a:off x="990600" y="2506663"/>
            <a:ext cx="381000" cy="33813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63237" name="Oval 5"/>
          <p:cNvSpPr>
            <a:spLocks noChangeArrowheads="1"/>
          </p:cNvSpPr>
          <p:nvPr/>
        </p:nvSpPr>
        <p:spPr bwMode="auto">
          <a:xfrm>
            <a:off x="3048000" y="2506663"/>
            <a:ext cx="381000" cy="33813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63238" name="Oval 6"/>
          <p:cNvSpPr>
            <a:spLocks noChangeArrowheads="1"/>
          </p:cNvSpPr>
          <p:nvPr/>
        </p:nvSpPr>
        <p:spPr bwMode="auto">
          <a:xfrm>
            <a:off x="1676400" y="2506663"/>
            <a:ext cx="381000" cy="33813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63239" name="Oval 7"/>
          <p:cNvSpPr>
            <a:spLocks noChangeArrowheads="1"/>
          </p:cNvSpPr>
          <p:nvPr/>
        </p:nvSpPr>
        <p:spPr bwMode="auto">
          <a:xfrm>
            <a:off x="2362200" y="2506663"/>
            <a:ext cx="381000" cy="33813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63240" name="Rectangle 8"/>
          <p:cNvSpPr>
            <a:spLocks noChangeArrowheads="1"/>
          </p:cNvSpPr>
          <p:nvPr/>
        </p:nvSpPr>
        <p:spPr bwMode="auto">
          <a:xfrm>
            <a:off x="990600" y="3454400"/>
            <a:ext cx="24384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63241" name="AutoShape 9"/>
          <p:cNvSpPr>
            <a:spLocks noChangeArrowheads="1"/>
          </p:cNvSpPr>
          <p:nvPr/>
        </p:nvSpPr>
        <p:spPr bwMode="auto">
          <a:xfrm>
            <a:off x="1295400" y="3657600"/>
            <a:ext cx="1524000" cy="812800"/>
          </a:xfrm>
          <a:prstGeom prst="flowChartMagneticDisk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63242" name="Line 10"/>
          <p:cNvSpPr>
            <a:spLocks noChangeShapeType="1"/>
          </p:cNvSpPr>
          <p:nvPr/>
        </p:nvSpPr>
        <p:spPr bwMode="auto">
          <a:xfrm>
            <a:off x="1219200" y="28448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63243" name="Line 11"/>
          <p:cNvSpPr>
            <a:spLocks noChangeShapeType="1"/>
          </p:cNvSpPr>
          <p:nvPr/>
        </p:nvSpPr>
        <p:spPr bwMode="auto">
          <a:xfrm>
            <a:off x="1828800" y="28448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63244" name="Line 12"/>
          <p:cNvSpPr>
            <a:spLocks noChangeShapeType="1"/>
          </p:cNvSpPr>
          <p:nvPr/>
        </p:nvSpPr>
        <p:spPr bwMode="auto">
          <a:xfrm>
            <a:off x="2514600" y="28448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63245" name="Line 13"/>
          <p:cNvSpPr>
            <a:spLocks noChangeShapeType="1"/>
          </p:cNvSpPr>
          <p:nvPr/>
        </p:nvSpPr>
        <p:spPr bwMode="auto">
          <a:xfrm>
            <a:off x="3200400" y="28448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63246" name="Text Box 14"/>
          <p:cNvSpPr txBox="1">
            <a:spLocks noChangeArrowheads="1"/>
          </p:cNvSpPr>
          <p:nvPr/>
        </p:nvSpPr>
        <p:spPr bwMode="auto">
          <a:xfrm>
            <a:off x="2841625" y="4132263"/>
            <a:ext cx="1273175" cy="812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400">
                <a:solidFill>
                  <a:schemeClr val="bg1"/>
                </a:solidFill>
                <a:latin typeface="Palatino" pitchFamily="18" charset="0"/>
              </a:rPr>
              <a:t>Integrated Project</a:t>
            </a:r>
            <a:endParaRPr lang="en-US" sz="1400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400">
                <a:solidFill>
                  <a:schemeClr val="bg1"/>
                </a:solidFill>
                <a:latin typeface="Palatino" pitchFamily="18" charset="0"/>
              </a:rPr>
              <a:t>Support </a:t>
            </a:r>
            <a:endParaRPr lang="en-US" sz="1400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400">
                <a:solidFill>
                  <a:schemeClr val="bg1"/>
                </a:solidFill>
                <a:latin typeface="Palatino" pitchFamily="18" charset="0"/>
              </a:rPr>
              <a:t>Environment</a:t>
            </a:r>
            <a:endParaRPr lang="en-US" sz="1400">
              <a:solidFill>
                <a:schemeClr val="bg1"/>
              </a:solidFill>
              <a:latin typeface="Palatino" pitchFamily="18" charset="0"/>
            </a:endParaRPr>
          </a:p>
        </p:txBody>
      </p:sp>
      <p:sp>
        <p:nvSpPr>
          <p:cNvPr id="863247" name="Text Box 15"/>
          <p:cNvSpPr txBox="1">
            <a:spLocks noChangeArrowheads="1"/>
          </p:cNvSpPr>
          <p:nvPr/>
        </p:nvSpPr>
        <p:spPr bwMode="auto">
          <a:xfrm>
            <a:off x="5257800" y="2776538"/>
            <a:ext cx="3505200" cy="1625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0000"/>
              </a:lnSpc>
              <a:buFont typeface="Symbol" panose="05050102010706020507" pitchFamily="18" charset="2"/>
              <a:buChar char="·"/>
            </a:pPr>
            <a:r>
              <a:rPr lang="en-US">
                <a:solidFill>
                  <a:schemeClr val="bg1"/>
                </a:solidFill>
                <a:latin typeface="Palatino" pitchFamily="18" charset="0"/>
              </a:rPr>
              <a:t>Each building blocks have been created</a:t>
            </a: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  <a:buFont typeface="Symbol" panose="05050102010706020507" pitchFamily="18" charset="2"/>
              <a:buChar char="·"/>
            </a:pPr>
            <a:r>
              <a:rPr lang="en-US">
                <a:solidFill>
                  <a:schemeClr val="bg1"/>
                </a:solidFill>
                <a:latin typeface="Palatino" pitchFamily="18" charset="0"/>
              </a:rPr>
              <a:t>Use IPSE standards to build tools that’ll be compatible with IPSE</a:t>
            </a: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endParaRPr lang="en-US">
              <a:solidFill>
                <a:schemeClr val="bg1"/>
              </a:solidFill>
              <a:latin typeface="Palatino" pitchFamily="18" charset="0"/>
            </a:endParaRPr>
          </a:p>
          <a:p>
            <a:pPr>
              <a:lnSpc>
                <a:spcPct val="100000"/>
              </a:lnSpc>
            </a:pPr>
            <a:endParaRPr lang="en-US">
              <a:solidFill>
                <a:schemeClr val="bg1"/>
              </a:solidFill>
              <a:latin typeface="Palatino" pitchFamily="18" charset="0"/>
            </a:endParaRPr>
          </a:p>
        </p:txBody>
      </p:sp>
      <p:sp>
        <p:nvSpPr>
          <p:cNvPr id="863248" name="Line 16"/>
          <p:cNvSpPr>
            <a:spLocks noChangeShapeType="1"/>
          </p:cNvSpPr>
          <p:nvPr/>
        </p:nvSpPr>
        <p:spPr bwMode="auto">
          <a:xfrm flipV="1">
            <a:off x="4191000" y="3048000"/>
            <a:ext cx="1066800" cy="812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63249" name="Line 17"/>
          <p:cNvSpPr>
            <a:spLocks noChangeShapeType="1"/>
          </p:cNvSpPr>
          <p:nvPr/>
        </p:nvSpPr>
        <p:spPr bwMode="auto">
          <a:xfrm flipV="1">
            <a:off x="4191000" y="3725863"/>
            <a:ext cx="1066800" cy="1349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C149C9-6814-42A5-A8B7-02F79DDF50EB}" type="slidenum">
              <a:rPr lang="en-US"/>
            </a:fld>
            <a:endParaRPr lang="en-US"/>
          </a:p>
        </p:txBody>
      </p:sp>
      <p:sp>
        <p:nvSpPr>
          <p:cNvPr id="8642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Times New Roman" panose="02020603050405020304" charset="0"/>
              </a:rPr>
              <a:t>Taxonomy of CASE tools</a:t>
            </a:r>
            <a:r>
              <a:rPr lang="en-US"/>
              <a:t> </a:t>
            </a:r>
            <a:endParaRPr lang="en-US"/>
          </a:p>
        </p:txBody>
      </p:sp>
      <p:sp>
        <p:nvSpPr>
          <p:cNvPr id="86425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425575" y="1422400"/>
            <a:ext cx="7261225" cy="3998913"/>
          </a:xfrm>
        </p:spPr>
        <p:txBody>
          <a:bodyPr/>
          <a:lstStyle/>
          <a:p>
            <a:r>
              <a:rPr lang="en-US">
                <a:cs typeface="Times New Roman" panose="02020603050405020304" charset="0"/>
              </a:rPr>
              <a:t>CASE tools do not have to be part of an integrated environment to be useful to SW engineers but the impact on product quality will be greater if they are [pressman]</a:t>
            </a:r>
            <a:endParaRPr lang="en-US">
              <a:cs typeface="Times New Roman" panose="02020603050405020304" charset="0"/>
            </a:endParaRPr>
          </a:p>
          <a:p>
            <a:r>
              <a:rPr lang="en-US">
                <a:cs typeface="Times New Roman" panose="02020603050405020304" charset="0"/>
              </a:rPr>
              <a:t>CASE tools can be classified by function, role, use in SE process, environment architecture, etc.</a:t>
            </a:r>
            <a:endParaRPr lang="en-US">
              <a:cs typeface="Times New Roman" panose="020206030504050203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ECECC2-E88C-43B8-BD5C-DC9D089D721D}" type="slidenum">
              <a:rPr lang="en-US"/>
            </a:fld>
            <a:endParaRPr lang="en-US"/>
          </a:p>
        </p:txBody>
      </p:sp>
      <p:sp>
        <p:nvSpPr>
          <p:cNvPr id="8847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663700" y="355600"/>
            <a:ext cx="5994400" cy="60007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r>
              <a:rPr lang="en-US"/>
              <a:t>A Taxonomy of CASE Tools</a:t>
            </a:r>
            <a:endParaRPr lang="en-US"/>
          </a:p>
        </p:txBody>
      </p:sp>
      <p:sp>
        <p:nvSpPr>
          <p:cNvPr id="884739" name="Oval 3"/>
          <p:cNvSpPr>
            <a:spLocks noChangeArrowheads="1"/>
          </p:cNvSpPr>
          <p:nvPr/>
        </p:nvSpPr>
        <p:spPr bwMode="auto">
          <a:xfrm>
            <a:off x="2257425" y="1955800"/>
            <a:ext cx="1649413" cy="1849438"/>
          </a:xfrm>
          <a:prstGeom prst="ellipse">
            <a:avLst/>
          </a:prstGeom>
          <a:blipFill dpi="0" rotWithShape="0">
            <a:blip r:embed="rId1"/>
            <a:srcRect/>
            <a:tile tx="0" ty="0" sx="100000" sy="100000" flip="none" algn="tl"/>
          </a:blipFill>
        </p:spPr>
        <p:txBody>
          <a:bodyPr/>
          <a:lstStyle/>
          <a:p>
            <a:endParaRPr lang="en-US"/>
          </a:p>
        </p:txBody>
      </p:sp>
      <p:grpSp>
        <p:nvGrpSpPr>
          <p:cNvPr id="884740" name="Group 4"/>
          <p:cNvGrpSpPr/>
          <p:nvPr/>
        </p:nvGrpSpPr>
        <p:grpSpPr bwMode="auto">
          <a:xfrm>
            <a:off x="533400" y="3741738"/>
            <a:ext cx="1774825" cy="1912937"/>
            <a:chOff x="336" y="2357"/>
            <a:chExt cx="1118" cy="1205"/>
          </a:xfrm>
        </p:grpSpPr>
        <p:sp>
          <p:nvSpPr>
            <p:cNvPr id="884741" name="Rectangle 5"/>
            <p:cNvSpPr>
              <a:spLocks noChangeArrowheads="1"/>
            </p:cNvSpPr>
            <p:nvPr/>
          </p:nvSpPr>
          <p:spPr bwMode="auto">
            <a:xfrm>
              <a:off x="839" y="2357"/>
              <a:ext cx="440" cy="431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42" name="AutoShape 6"/>
            <p:cNvSpPr>
              <a:spLocks noChangeArrowheads="1"/>
            </p:cNvSpPr>
            <p:nvPr/>
          </p:nvSpPr>
          <p:spPr bwMode="auto">
            <a:xfrm>
              <a:off x="855" y="2389"/>
              <a:ext cx="408" cy="383"/>
            </a:xfrm>
            <a:prstGeom prst="roundRect">
              <a:avLst>
                <a:gd name="adj" fmla="val 28588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174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43" name="Rectangle 7"/>
            <p:cNvSpPr>
              <a:spLocks noChangeArrowheads="1"/>
            </p:cNvSpPr>
            <p:nvPr/>
          </p:nvSpPr>
          <p:spPr bwMode="auto">
            <a:xfrm>
              <a:off x="839" y="2788"/>
              <a:ext cx="440" cy="12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44" name="Rectangle 8"/>
            <p:cNvSpPr>
              <a:spLocks noChangeArrowheads="1"/>
            </p:cNvSpPr>
            <p:nvPr/>
          </p:nvSpPr>
          <p:spPr bwMode="auto">
            <a:xfrm>
              <a:off x="839" y="2868"/>
              <a:ext cx="440" cy="56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45" name="Freeform 9"/>
            <p:cNvSpPr/>
            <p:nvPr/>
          </p:nvSpPr>
          <p:spPr bwMode="auto">
            <a:xfrm>
              <a:off x="743" y="2828"/>
              <a:ext cx="496" cy="295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496" y="152"/>
                </a:cxn>
                <a:cxn ang="0">
                  <a:pos x="392" y="295"/>
                </a:cxn>
                <a:cxn ang="0">
                  <a:pos x="0" y="64"/>
                </a:cxn>
                <a:cxn ang="0">
                  <a:pos x="56" y="0"/>
                </a:cxn>
              </a:cxnLst>
              <a:rect l="0" t="0" r="r" b="b"/>
              <a:pathLst>
                <a:path w="496" h="295">
                  <a:moveTo>
                    <a:pt x="56" y="0"/>
                  </a:moveTo>
                  <a:lnTo>
                    <a:pt x="496" y="152"/>
                  </a:lnTo>
                  <a:lnTo>
                    <a:pt x="392" y="295"/>
                  </a:lnTo>
                  <a:lnTo>
                    <a:pt x="0" y="64"/>
                  </a:lnTo>
                  <a:lnTo>
                    <a:pt x="56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46" name="Freeform 10"/>
            <p:cNvSpPr/>
            <p:nvPr/>
          </p:nvSpPr>
          <p:spPr bwMode="auto">
            <a:xfrm>
              <a:off x="743" y="2828"/>
              <a:ext cx="496" cy="295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496" y="152"/>
                </a:cxn>
                <a:cxn ang="0">
                  <a:pos x="496" y="152"/>
                </a:cxn>
                <a:cxn ang="0">
                  <a:pos x="392" y="295"/>
                </a:cxn>
                <a:cxn ang="0">
                  <a:pos x="392" y="295"/>
                </a:cxn>
                <a:cxn ang="0">
                  <a:pos x="0" y="64"/>
                </a:cxn>
                <a:cxn ang="0">
                  <a:pos x="0" y="64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96" y="152"/>
                </a:cxn>
                <a:cxn ang="0">
                  <a:pos x="392" y="295"/>
                </a:cxn>
                <a:cxn ang="0">
                  <a:pos x="0" y="64"/>
                </a:cxn>
                <a:cxn ang="0">
                  <a:pos x="56" y="0"/>
                </a:cxn>
              </a:cxnLst>
              <a:rect l="0" t="0" r="r" b="b"/>
              <a:pathLst>
                <a:path w="496" h="295">
                  <a:moveTo>
                    <a:pt x="56" y="0"/>
                  </a:moveTo>
                  <a:lnTo>
                    <a:pt x="496" y="152"/>
                  </a:lnTo>
                  <a:lnTo>
                    <a:pt x="496" y="152"/>
                  </a:lnTo>
                  <a:lnTo>
                    <a:pt x="392" y="295"/>
                  </a:lnTo>
                  <a:lnTo>
                    <a:pt x="392" y="29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496" y="152"/>
                  </a:lnTo>
                  <a:lnTo>
                    <a:pt x="392" y="295"/>
                  </a:lnTo>
                  <a:lnTo>
                    <a:pt x="0" y="64"/>
                  </a:lnTo>
                  <a:lnTo>
                    <a:pt x="56" y="0"/>
                  </a:lnTo>
                  <a:close/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47" name="Freeform 11"/>
            <p:cNvSpPr/>
            <p:nvPr/>
          </p:nvSpPr>
          <p:spPr bwMode="auto">
            <a:xfrm>
              <a:off x="743" y="2892"/>
              <a:ext cx="496" cy="255"/>
            </a:xfrm>
            <a:custGeom>
              <a:avLst/>
              <a:gdLst/>
              <a:ahLst/>
              <a:cxnLst>
                <a:cxn ang="0">
                  <a:pos x="496" y="88"/>
                </a:cxn>
                <a:cxn ang="0">
                  <a:pos x="496" y="159"/>
                </a:cxn>
                <a:cxn ang="0">
                  <a:pos x="496" y="159"/>
                </a:cxn>
                <a:cxn ang="0">
                  <a:pos x="392" y="255"/>
                </a:cxn>
                <a:cxn ang="0">
                  <a:pos x="392" y="25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96" h="255">
                  <a:moveTo>
                    <a:pt x="496" y="88"/>
                  </a:moveTo>
                  <a:lnTo>
                    <a:pt x="496" y="159"/>
                  </a:lnTo>
                  <a:lnTo>
                    <a:pt x="496" y="159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48" name="Freeform 12"/>
            <p:cNvSpPr/>
            <p:nvPr/>
          </p:nvSpPr>
          <p:spPr bwMode="auto">
            <a:xfrm>
              <a:off x="743" y="2892"/>
              <a:ext cx="496" cy="255"/>
            </a:xfrm>
            <a:custGeom>
              <a:avLst/>
              <a:gdLst/>
              <a:ahLst/>
              <a:cxnLst>
                <a:cxn ang="0">
                  <a:pos x="496" y="88"/>
                </a:cxn>
                <a:cxn ang="0">
                  <a:pos x="496" y="159"/>
                </a:cxn>
                <a:cxn ang="0">
                  <a:pos x="392" y="255"/>
                </a:cxn>
                <a:cxn ang="0">
                  <a:pos x="0" y="0"/>
                </a:cxn>
              </a:cxnLst>
              <a:rect l="0" t="0" r="r" b="b"/>
              <a:pathLst>
                <a:path w="496" h="255">
                  <a:moveTo>
                    <a:pt x="496" y="88"/>
                  </a:moveTo>
                  <a:lnTo>
                    <a:pt x="496" y="159"/>
                  </a:lnTo>
                  <a:lnTo>
                    <a:pt x="392" y="255"/>
                  </a:lnTo>
                  <a:lnTo>
                    <a:pt x="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49" name="Line 13"/>
            <p:cNvSpPr>
              <a:spLocks noChangeShapeType="1"/>
            </p:cNvSpPr>
            <p:nvPr/>
          </p:nvSpPr>
          <p:spPr bwMode="auto">
            <a:xfrm>
              <a:off x="1135" y="3123"/>
              <a:ext cx="1" cy="2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50" name="Freeform 14"/>
            <p:cNvSpPr/>
            <p:nvPr/>
          </p:nvSpPr>
          <p:spPr bwMode="auto">
            <a:xfrm>
              <a:off x="632" y="2940"/>
              <a:ext cx="119" cy="80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119" y="24"/>
                </a:cxn>
                <a:cxn ang="0">
                  <a:pos x="39" y="80"/>
                </a:cxn>
                <a:cxn ang="0">
                  <a:pos x="0" y="56"/>
                </a:cxn>
                <a:cxn ang="0">
                  <a:pos x="79" y="0"/>
                </a:cxn>
              </a:cxnLst>
              <a:rect l="0" t="0" r="r" b="b"/>
              <a:pathLst>
                <a:path w="119" h="80">
                  <a:moveTo>
                    <a:pt x="79" y="0"/>
                  </a:moveTo>
                  <a:lnTo>
                    <a:pt x="119" y="24"/>
                  </a:lnTo>
                  <a:lnTo>
                    <a:pt x="39" y="80"/>
                  </a:lnTo>
                  <a:lnTo>
                    <a:pt x="0" y="56"/>
                  </a:lnTo>
                  <a:lnTo>
                    <a:pt x="79" y="0"/>
                  </a:lnTo>
                  <a:close/>
                </a:path>
              </a:pathLst>
            </a:custGeom>
            <a:blipFill dpi="0" rotWithShape="0">
              <a:blip r:embed="rId1"/>
              <a:srcRect/>
              <a:tile tx="0" ty="0" sx="100000" sy="100000" flip="none" algn="tl"/>
            </a:blip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51" name="Freeform 15"/>
            <p:cNvSpPr/>
            <p:nvPr/>
          </p:nvSpPr>
          <p:spPr bwMode="auto">
            <a:xfrm>
              <a:off x="632" y="2940"/>
              <a:ext cx="119" cy="80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119" y="24"/>
                </a:cxn>
                <a:cxn ang="0">
                  <a:pos x="119" y="24"/>
                </a:cxn>
                <a:cxn ang="0">
                  <a:pos x="39" y="80"/>
                </a:cxn>
                <a:cxn ang="0">
                  <a:pos x="39" y="80"/>
                </a:cxn>
                <a:cxn ang="0">
                  <a:pos x="0" y="56"/>
                </a:cxn>
                <a:cxn ang="0">
                  <a:pos x="0" y="56"/>
                </a:cxn>
                <a:cxn ang="0">
                  <a:pos x="79" y="0"/>
                </a:cxn>
                <a:cxn ang="0">
                  <a:pos x="79" y="0"/>
                </a:cxn>
                <a:cxn ang="0">
                  <a:pos x="119" y="24"/>
                </a:cxn>
                <a:cxn ang="0">
                  <a:pos x="39" y="80"/>
                </a:cxn>
                <a:cxn ang="0">
                  <a:pos x="0" y="56"/>
                </a:cxn>
                <a:cxn ang="0">
                  <a:pos x="79" y="0"/>
                </a:cxn>
              </a:cxnLst>
              <a:rect l="0" t="0" r="r" b="b"/>
              <a:pathLst>
                <a:path w="119" h="80">
                  <a:moveTo>
                    <a:pt x="79" y="0"/>
                  </a:moveTo>
                  <a:lnTo>
                    <a:pt x="119" y="24"/>
                  </a:lnTo>
                  <a:lnTo>
                    <a:pt x="119" y="24"/>
                  </a:lnTo>
                  <a:lnTo>
                    <a:pt x="39" y="80"/>
                  </a:lnTo>
                  <a:lnTo>
                    <a:pt x="39" y="80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79" y="0"/>
                  </a:lnTo>
                  <a:lnTo>
                    <a:pt x="79" y="0"/>
                  </a:lnTo>
                  <a:lnTo>
                    <a:pt x="119" y="24"/>
                  </a:lnTo>
                  <a:lnTo>
                    <a:pt x="39" y="80"/>
                  </a:lnTo>
                  <a:lnTo>
                    <a:pt x="0" y="56"/>
                  </a:lnTo>
                  <a:lnTo>
                    <a:pt x="79" y="0"/>
                  </a:lnTo>
                  <a:close/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52" name="Freeform 16"/>
            <p:cNvSpPr/>
            <p:nvPr/>
          </p:nvSpPr>
          <p:spPr bwMode="auto">
            <a:xfrm>
              <a:off x="632" y="2972"/>
              <a:ext cx="119" cy="71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119" y="32"/>
                </a:cxn>
                <a:cxn ang="0">
                  <a:pos x="119" y="32"/>
                </a:cxn>
                <a:cxn ang="0">
                  <a:pos x="32" y="71"/>
                </a:cxn>
                <a:cxn ang="0">
                  <a:pos x="32" y="71"/>
                </a:cxn>
                <a:cxn ang="0">
                  <a:pos x="0" y="40"/>
                </a:cxn>
                <a:cxn ang="0">
                  <a:pos x="0" y="40"/>
                </a:cxn>
              </a:cxnLst>
              <a:rect l="0" t="0" r="r" b="b"/>
              <a:pathLst>
                <a:path w="119" h="71">
                  <a:moveTo>
                    <a:pt x="119" y="0"/>
                  </a:moveTo>
                  <a:lnTo>
                    <a:pt x="119" y="32"/>
                  </a:lnTo>
                  <a:lnTo>
                    <a:pt x="119" y="32"/>
                  </a:lnTo>
                  <a:lnTo>
                    <a:pt x="32" y="71"/>
                  </a:lnTo>
                  <a:lnTo>
                    <a:pt x="32" y="71"/>
                  </a:lnTo>
                  <a:lnTo>
                    <a:pt x="0" y="40"/>
                  </a:lnTo>
                  <a:lnTo>
                    <a:pt x="0" y="4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53" name="Freeform 17"/>
            <p:cNvSpPr/>
            <p:nvPr/>
          </p:nvSpPr>
          <p:spPr bwMode="auto">
            <a:xfrm>
              <a:off x="632" y="2972"/>
              <a:ext cx="119" cy="71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119" y="32"/>
                </a:cxn>
                <a:cxn ang="0">
                  <a:pos x="32" y="71"/>
                </a:cxn>
                <a:cxn ang="0">
                  <a:pos x="0" y="40"/>
                </a:cxn>
              </a:cxnLst>
              <a:rect l="0" t="0" r="r" b="b"/>
              <a:pathLst>
                <a:path w="119" h="71">
                  <a:moveTo>
                    <a:pt x="119" y="0"/>
                  </a:moveTo>
                  <a:lnTo>
                    <a:pt x="119" y="32"/>
                  </a:lnTo>
                  <a:lnTo>
                    <a:pt x="32" y="71"/>
                  </a:lnTo>
                  <a:lnTo>
                    <a:pt x="0" y="4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54" name="Line 18"/>
            <p:cNvSpPr>
              <a:spLocks noChangeShapeType="1"/>
            </p:cNvSpPr>
            <p:nvPr/>
          </p:nvSpPr>
          <p:spPr bwMode="auto">
            <a:xfrm>
              <a:off x="664" y="3020"/>
              <a:ext cx="1" cy="2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55" name="Freeform 19"/>
            <p:cNvSpPr/>
            <p:nvPr/>
          </p:nvSpPr>
          <p:spPr bwMode="auto">
            <a:xfrm>
              <a:off x="711" y="2852"/>
              <a:ext cx="64" cy="128"/>
            </a:xfrm>
            <a:custGeom>
              <a:avLst/>
              <a:gdLst/>
              <a:ahLst/>
              <a:cxnLst>
                <a:cxn ang="0">
                  <a:pos x="40" y="128"/>
                </a:cxn>
                <a:cxn ang="0">
                  <a:pos x="56" y="128"/>
                </a:cxn>
                <a:cxn ang="0">
                  <a:pos x="56" y="128"/>
                </a:cxn>
                <a:cxn ang="0">
                  <a:pos x="64" y="112"/>
                </a:cxn>
                <a:cxn ang="0">
                  <a:pos x="64" y="112"/>
                </a:cxn>
                <a:cxn ang="0">
                  <a:pos x="64" y="96"/>
                </a:cxn>
                <a:cxn ang="0">
                  <a:pos x="64" y="96"/>
                </a:cxn>
                <a:cxn ang="0">
                  <a:pos x="48" y="80"/>
                </a:cxn>
                <a:cxn ang="0">
                  <a:pos x="48" y="80"/>
                </a:cxn>
                <a:cxn ang="0">
                  <a:pos x="32" y="72"/>
                </a:cxn>
                <a:cxn ang="0">
                  <a:pos x="32" y="72"/>
                </a:cxn>
                <a:cxn ang="0">
                  <a:pos x="16" y="64"/>
                </a:cxn>
                <a:cxn ang="0">
                  <a:pos x="16" y="64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0" y="32"/>
                </a:cxn>
                <a:cxn ang="0">
                  <a:pos x="0" y="32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16" y="8"/>
                </a:cxn>
                <a:cxn ang="0">
                  <a:pos x="16" y="8"/>
                </a:cxn>
                <a:cxn ang="0">
                  <a:pos x="24" y="8"/>
                </a:cxn>
                <a:cxn ang="0">
                  <a:pos x="24" y="8"/>
                </a:cxn>
                <a:cxn ang="0">
                  <a:pos x="40" y="0"/>
                </a:cxn>
                <a:cxn ang="0">
                  <a:pos x="40" y="0"/>
                </a:cxn>
                <a:cxn ang="0">
                  <a:pos x="56" y="8"/>
                </a:cxn>
                <a:cxn ang="0">
                  <a:pos x="56" y="8"/>
                </a:cxn>
                <a:cxn ang="0">
                  <a:pos x="64" y="8"/>
                </a:cxn>
                <a:cxn ang="0">
                  <a:pos x="64" y="8"/>
                </a:cxn>
                <a:cxn ang="0">
                  <a:pos x="64" y="8"/>
                </a:cxn>
                <a:cxn ang="0">
                  <a:pos x="64" y="8"/>
                </a:cxn>
              </a:cxnLst>
              <a:rect l="0" t="0" r="r" b="b"/>
              <a:pathLst>
                <a:path w="64" h="128">
                  <a:moveTo>
                    <a:pt x="40" y="128"/>
                  </a:moveTo>
                  <a:lnTo>
                    <a:pt x="56" y="128"/>
                  </a:lnTo>
                  <a:lnTo>
                    <a:pt x="56" y="128"/>
                  </a:lnTo>
                  <a:lnTo>
                    <a:pt x="64" y="112"/>
                  </a:lnTo>
                  <a:lnTo>
                    <a:pt x="64" y="112"/>
                  </a:lnTo>
                  <a:lnTo>
                    <a:pt x="64" y="96"/>
                  </a:lnTo>
                  <a:lnTo>
                    <a:pt x="64" y="96"/>
                  </a:lnTo>
                  <a:lnTo>
                    <a:pt x="48" y="80"/>
                  </a:lnTo>
                  <a:lnTo>
                    <a:pt x="48" y="80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16" y="64"/>
                  </a:lnTo>
                  <a:lnTo>
                    <a:pt x="16" y="64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4" y="8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56" name="Freeform 20"/>
            <p:cNvSpPr/>
            <p:nvPr/>
          </p:nvSpPr>
          <p:spPr bwMode="auto">
            <a:xfrm>
              <a:off x="711" y="2852"/>
              <a:ext cx="64" cy="128"/>
            </a:xfrm>
            <a:custGeom>
              <a:avLst/>
              <a:gdLst/>
              <a:ahLst/>
              <a:cxnLst>
                <a:cxn ang="0">
                  <a:pos x="40" y="128"/>
                </a:cxn>
                <a:cxn ang="0">
                  <a:pos x="56" y="128"/>
                </a:cxn>
                <a:cxn ang="0">
                  <a:pos x="64" y="112"/>
                </a:cxn>
                <a:cxn ang="0">
                  <a:pos x="64" y="96"/>
                </a:cxn>
                <a:cxn ang="0">
                  <a:pos x="48" y="80"/>
                </a:cxn>
                <a:cxn ang="0">
                  <a:pos x="32" y="72"/>
                </a:cxn>
                <a:cxn ang="0">
                  <a:pos x="16" y="64"/>
                </a:cxn>
                <a:cxn ang="0">
                  <a:pos x="0" y="48"/>
                </a:cxn>
                <a:cxn ang="0">
                  <a:pos x="0" y="32"/>
                </a:cxn>
                <a:cxn ang="0">
                  <a:pos x="0" y="16"/>
                </a:cxn>
                <a:cxn ang="0">
                  <a:pos x="16" y="8"/>
                </a:cxn>
                <a:cxn ang="0">
                  <a:pos x="24" y="8"/>
                </a:cxn>
                <a:cxn ang="0">
                  <a:pos x="40" y="0"/>
                </a:cxn>
                <a:cxn ang="0">
                  <a:pos x="56" y="8"/>
                </a:cxn>
                <a:cxn ang="0">
                  <a:pos x="64" y="8"/>
                </a:cxn>
                <a:cxn ang="0">
                  <a:pos x="64" y="8"/>
                </a:cxn>
              </a:cxnLst>
              <a:rect l="0" t="0" r="r" b="b"/>
              <a:pathLst>
                <a:path w="64" h="128">
                  <a:moveTo>
                    <a:pt x="40" y="128"/>
                  </a:moveTo>
                  <a:lnTo>
                    <a:pt x="56" y="128"/>
                  </a:lnTo>
                  <a:lnTo>
                    <a:pt x="64" y="112"/>
                  </a:lnTo>
                  <a:lnTo>
                    <a:pt x="64" y="96"/>
                  </a:lnTo>
                  <a:lnTo>
                    <a:pt x="48" y="80"/>
                  </a:lnTo>
                  <a:lnTo>
                    <a:pt x="32" y="72"/>
                  </a:lnTo>
                  <a:lnTo>
                    <a:pt x="16" y="64"/>
                  </a:lnTo>
                  <a:lnTo>
                    <a:pt x="0" y="48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16" y="8"/>
                  </a:lnTo>
                  <a:lnTo>
                    <a:pt x="24" y="8"/>
                  </a:lnTo>
                  <a:lnTo>
                    <a:pt x="40" y="0"/>
                  </a:lnTo>
                  <a:lnTo>
                    <a:pt x="56" y="8"/>
                  </a:lnTo>
                  <a:lnTo>
                    <a:pt x="64" y="8"/>
                  </a:lnTo>
                  <a:lnTo>
                    <a:pt x="64" y="8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57" name="Freeform 21"/>
            <p:cNvSpPr/>
            <p:nvPr/>
          </p:nvSpPr>
          <p:spPr bwMode="auto">
            <a:xfrm>
              <a:off x="344" y="2541"/>
              <a:ext cx="1110" cy="1021"/>
            </a:xfrm>
            <a:custGeom>
              <a:avLst/>
              <a:gdLst/>
              <a:ahLst/>
              <a:cxnLst>
                <a:cxn ang="0">
                  <a:pos x="511" y="0"/>
                </a:cxn>
                <a:cxn ang="0">
                  <a:pos x="0" y="239"/>
                </a:cxn>
                <a:cxn ang="0">
                  <a:pos x="0" y="239"/>
                </a:cxn>
                <a:cxn ang="0">
                  <a:pos x="855" y="1021"/>
                </a:cxn>
                <a:cxn ang="0">
                  <a:pos x="855" y="1021"/>
                </a:cxn>
                <a:cxn ang="0">
                  <a:pos x="1110" y="207"/>
                </a:cxn>
                <a:cxn ang="0">
                  <a:pos x="1110" y="207"/>
                </a:cxn>
              </a:cxnLst>
              <a:rect l="0" t="0" r="r" b="b"/>
              <a:pathLst>
                <a:path w="1110" h="1021">
                  <a:moveTo>
                    <a:pt x="511" y="0"/>
                  </a:moveTo>
                  <a:lnTo>
                    <a:pt x="0" y="239"/>
                  </a:lnTo>
                  <a:lnTo>
                    <a:pt x="0" y="239"/>
                  </a:lnTo>
                  <a:lnTo>
                    <a:pt x="855" y="1021"/>
                  </a:lnTo>
                  <a:lnTo>
                    <a:pt x="855" y="1021"/>
                  </a:lnTo>
                  <a:lnTo>
                    <a:pt x="1110" y="207"/>
                  </a:lnTo>
                  <a:lnTo>
                    <a:pt x="1110" y="207"/>
                  </a:lnTo>
                </a:path>
              </a:pathLst>
            </a:custGeom>
            <a:noFill/>
            <a:ln w="301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58" name="Freeform 22"/>
            <p:cNvSpPr/>
            <p:nvPr/>
          </p:nvSpPr>
          <p:spPr bwMode="auto">
            <a:xfrm>
              <a:off x="336" y="2533"/>
              <a:ext cx="1110" cy="1021"/>
            </a:xfrm>
            <a:custGeom>
              <a:avLst/>
              <a:gdLst/>
              <a:ahLst/>
              <a:cxnLst>
                <a:cxn ang="0">
                  <a:pos x="511" y="0"/>
                </a:cxn>
                <a:cxn ang="0">
                  <a:pos x="0" y="239"/>
                </a:cxn>
                <a:cxn ang="0">
                  <a:pos x="855" y="1021"/>
                </a:cxn>
                <a:cxn ang="0">
                  <a:pos x="1110" y="207"/>
                </a:cxn>
              </a:cxnLst>
              <a:rect l="0" t="0" r="r" b="b"/>
              <a:pathLst>
                <a:path w="1110" h="1021">
                  <a:moveTo>
                    <a:pt x="511" y="0"/>
                  </a:moveTo>
                  <a:lnTo>
                    <a:pt x="0" y="239"/>
                  </a:lnTo>
                  <a:lnTo>
                    <a:pt x="855" y="1021"/>
                  </a:lnTo>
                  <a:lnTo>
                    <a:pt x="1110" y="207"/>
                  </a:lnTo>
                </a:path>
              </a:pathLst>
            </a:custGeom>
            <a:noFill/>
            <a:ln w="301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59" name="Oval 23"/>
            <p:cNvSpPr>
              <a:spLocks noChangeArrowheads="1"/>
            </p:cNvSpPr>
            <p:nvPr/>
          </p:nvSpPr>
          <p:spPr bwMode="auto">
            <a:xfrm>
              <a:off x="536" y="2525"/>
              <a:ext cx="128" cy="311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60" name="Oval 24"/>
            <p:cNvSpPr>
              <a:spLocks noChangeArrowheads="1"/>
            </p:cNvSpPr>
            <p:nvPr/>
          </p:nvSpPr>
          <p:spPr bwMode="auto">
            <a:xfrm>
              <a:off x="528" y="2517"/>
              <a:ext cx="143" cy="327"/>
            </a:xfrm>
            <a:prstGeom prst="ellipse">
              <a:avLst/>
            </a:prstGeom>
            <a:noFill/>
            <a:ln w="301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61" name="Line 25"/>
            <p:cNvSpPr>
              <a:spLocks noChangeShapeType="1"/>
            </p:cNvSpPr>
            <p:nvPr/>
          </p:nvSpPr>
          <p:spPr bwMode="auto">
            <a:xfrm flipV="1">
              <a:off x="632" y="2996"/>
              <a:ext cx="1" cy="16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62" name="Freeform 26"/>
            <p:cNvSpPr/>
            <p:nvPr/>
          </p:nvSpPr>
          <p:spPr bwMode="auto">
            <a:xfrm>
              <a:off x="520" y="2820"/>
              <a:ext cx="151" cy="4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1" y="72"/>
                </a:cxn>
                <a:cxn ang="0">
                  <a:pos x="136" y="495"/>
                </a:cxn>
                <a:cxn ang="0">
                  <a:pos x="32" y="439"/>
                </a:cxn>
                <a:cxn ang="0">
                  <a:pos x="0" y="8"/>
                </a:cxn>
                <a:cxn ang="0">
                  <a:pos x="0" y="0"/>
                </a:cxn>
              </a:cxnLst>
              <a:rect l="0" t="0" r="r" b="b"/>
              <a:pathLst>
                <a:path w="151" h="495">
                  <a:moveTo>
                    <a:pt x="0" y="0"/>
                  </a:moveTo>
                  <a:lnTo>
                    <a:pt x="151" y="72"/>
                  </a:lnTo>
                  <a:lnTo>
                    <a:pt x="136" y="495"/>
                  </a:lnTo>
                  <a:lnTo>
                    <a:pt x="32" y="439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63" name="Freeform 27"/>
            <p:cNvSpPr/>
            <p:nvPr/>
          </p:nvSpPr>
          <p:spPr bwMode="auto">
            <a:xfrm>
              <a:off x="520" y="2820"/>
              <a:ext cx="151" cy="4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1" y="72"/>
                </a:cxn>
                <a:cxn ang="0">
                  <a:pos x="151" y="72"/>
                </a:cxn>
                <a:cxn ang="0">
                  <a:pos x="136" y="495"/>
                </a:cxn>
                <a:cxn ang="0">
                  <a:pos x="136" y="495"/>
                </a:cxn>
                <a:cxn ang="0">
                  <a:pos x="32" y="439"/>
                </a:cxn>
                <a:cxn ang="0">
                  <a:pos x="32" y="439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151" h="495">
                  <a:moveTo>
                    <a:pt x="0" y="0"/>
                  </a:moveTo>
                  <a:lnTo>
                    <a:pt x="151" y="72"/>
                  </a:lnTo>
                  <a:lnTo>
                    <a:pt x="151" y="72"/>
                  </a:lnTo>
                  <a:lnTo>
                    <a:pt x="136" y="495"/>
                  </a:lnTo>
                  <a:lnTo>
                    <a:pt x="136" y="495"/>
                  </a:lnTo>
                  <a:lnTo>
                    <a:pt x="32" y="439"/>
                  </a:lnTo>
                  <a:lnTo>
                    <a:pt x="32" y="439"/>
                  </a:lnTo>
                  <a:lnTo>
                    <a:pt x="0" y="8"/>
                  </a:lnTo>
                  <a:lnTo>
                    <a:pt x="0" y="8"/>
                  </a:lnTo>
                </a:path>
              </a:pathLst>
            </a:custGeom>
            <a:noFill/>
            <a:ln w="301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64" name="Freeform 28"/>
            <p:cNvSpPr/>
            <p:nvPr/>
          </p:nvSpPr>
          <p:spPr bwMode="auto">
            <a:xfrm>
              <a:off x="512" y="2812"/>
              <a:ext cx="152" cy="4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2" y="72"/>
                </a:cxn>
                <a:cxn ang="0">
                  <a:pos x="136" y="495"/>
                </a:cxn>
                <a:cxn ang="0">
                  <a:pos x="32" y="439"/>
                </a:cxn>
                <a:cxn ang="0">
                  <a:pos x="0" y="8"/>
                </a:cxn>
              </a:cxnLst>
              <a:rect l="0" t="0" r="r" b="b"/>
              <a:pathLst>
                <a:path w="152" h="495">
                  <a:moveTo>
                    <a:pt x="0" y="0"/>
                  </a:moveTo>
                  <a:lnTo>
                    <a:pt x="152" y="72"/>
                  </a:lnTo>
                  <a:lnTo>
                    <a:pt x="136" y="495"/>
                  </a:lnTo>
                  <a:lnTo>
                    <a:pt x="32" y="439"/>
                  </a:lnTo>
                  <a:lnTo>
                    <a:pt x="0" y="8"/>
                  </a:lnTo>
                </a:path>
              </a:pathLst>
            </a:custGeom>
            <a:noFill/>
            <a:ln w="301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65" name="Freeform 29"/>
            <p:cNvSpPr/>
            <p:nvPr/>
          </p:nvSpPr>
          <p:spPr bwMode="auto">
            <a:xfrm>
              <a:off x="671" y="2900"/>
              <a:ext cx="264" cy="1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8" y="183"/>
                </a:cxn>
                <a:cxn ang="0">
                  <a:pos x="88" y="183"/>
                </a:cxn>
                <a:cxn ang="0">
                  <a:pos x="264" y="120"/>
                </a:cxn>
                <a:cxn ang="0">
                  <a:pos x="264" y="120"/>
                </a:cxn>
              </a:cxnLst>
              <a:rect l="0" t="0" r="r" b="b"/>
              <a:pathLst>
                <a:path w="264" h="183">
                  <a:moveTo>
                    <a:pt x="0" y="0"/>
                  </a:moveTo>
                  <a:lnTo>
                    <a:pt x="88" y="183"/>
                  </a:lnTo>
                  <a:lnTo>
                    <a:pt x="88" y="183"/>
                  </a:lnTo>
                  <a:lnTo>
                    <a:pt x="264" y="120"/>
                  </a:lnTo>
                  <a:lnTo>
                    <a:pt x="264" y="120"/>
                  </a:lnTo>
                </a:path>
              </a:pathLst>
            </a:custGeom>
            <a:noFill/>
            <a:ln w="301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66" name="Freeform 30"/>
            <p:cNvSpPr/>
            <p:nvPr/>
          </p:nvSpPr>
          <p:spPr bwMode="auto">
            <a:xfrm>
              <a:off x="664" y="2892"/>
              <a:ext cx="263" cy="1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7" y="183"/>
                </a:cxn>
                <a:cxn ang="0">
                  <a:pos x="263" y="120"/>
                </a:cxn>
              </a:cxnLst>
              <a:rect l="0" t="0" r="r" b="b"/>
              <a:pathLst>
                <a:path w="263" h="183">
                  <a:moveTo>
                    <a:pt x="0" y="0"/>
                  </a:moveTo>
                  <a:lnTo>
                    <a:pt x="87" y="183"/>
                  </a:lnTo>
                  <a:lnTo>
                    <a:pt x="263" y="120"/>
                  </a:lnTo>
                </a:path>
              </a:pathLst>
            </a:custGeom>
            <a:noFill/>
            <a:ln w="301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67" name="Line 31"/>
            <p:cNvSpPr>
              <a:spLocks noChangeShapeType="1"/>
            </p:cNvSpPr>
            <p:nvPr/>
          </p:nvSpPr>
          <p:spPr bwMode="auto">
            <a:xfrm flipV="1">
              <a:off x="648" y="2932"/>
              <a:ext cx="167" cy="48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68" name="Freeform 32"/>
            <p:cNvSpPr/>
            <p:nvPr/>
          </p:nvSpPr>
          <p:spPr bwMode="auto">
            <a:xfrm>
              <a:off x="648" y="3283"/>
              <a:ext cx="191" cy="271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175" y="0"/>
                </a:cxn>
                <a:cxn ang="0">
                  <a:pos x="175" y="0"/>
                </a:cxn>
                <a:cxn ang="0">
                  <a:pos x="159" y="271"/>
                </a:cxn>
                <a:cxn ang="0">
                  <a:pos x="159" y="271"/>
                </a:cxn>
                <a:cxn ang="0">
                  <a:pos x="191" y="255"/>
                </a:cxn>
                <a:cxn ang="0">
                  <a:pos x="191" y="255"/>
                </a:cxn>
              </a:cxnLst>
              <a:rect l="0" t="0" r="r" b="b"/>
              <a:pathLst>
                <a:path w="191" h="271">
                  <a:moveTo>
                    <a:pt x="0" y="32"/>
                  </a:moveTo>
                  <a:lnTo>
                    <a:pt x="175" y="0"/>
                  </a:lnTo>
                  <a:lnTo>
                    <a:pt x="175" y="0"/>
                  </a:lnTo>
                  <a:lnTo>
                    <a:pt x="159" y="271"/>
                  </a:lnTo>
                  <a:lnTo>
                    <a:pt x="159" y="271"/>
                  </a:lnTo>
                  <a:lnTo>
                    <a:pt x="191" y="255"/>
                  </a:lnTo>
                  <a:lnTo>
                    <a:pt x="191" y="255"/>
                  </a:lnTo>
                </a:path>
              </a:pathLst>
            </a:custGeom>
            <a:noFill/>
            <a:ln w="301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69" name="Freeform 33"/>
            <p:cNvSpPr/>
            <p:nvPr/>
          </p:nvSpPr>
          <p:spPr bwMode="auto">
            <a:xfrm>
              <a:off x="640" y="3275"/>
              <a:ext cx="191" cy="271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175" y="0"/>
                </a:cxn>
                <a:cxn ang="0">
                  <a:pos x="159" y="271"/>
                </a:cxn>
                <a:cxn ang="0">
                  <a:pos x="191" y="255"/>
                </a:cxn>
              </a:cxnLst>
              <a:rect l="0" t="0" r="r" b="b"/>
              <a:pathLst>
                <a:path w="191" h="271">
                  <a:moveTo>
                    <a:pt x="0" y="32"/>
                  </a:moveTo>
                  <a:lnTo>
                    <a:pt x="175" y="0"/>
                  </a:lnTo>
                  <a:lnTo>
                    <a:pt x="159" y="271"/>
                  </a:lnTo>
                  <a:lnTo>
                    <a:pt x="191" y="255"/>
                  </a:lnTo>
                </a:path>
              </a:pathLst>
            </a:custGeom>
            <a:noFill/>
            <a:ln w="301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70" name="Freeform 34"/>
            <p:cNvSpPr/>
            <p:nvPr/>
          </p:nvSpPr>
          <p:spPr bwMode="auto">
            <a:xfrm>
              <a:off x="664" y="3235"/>
              <a:ext cx="71" cy="19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47" y="191"/>
                </a:cxn>
                <a:cxn ang="0">
                  <a:pos x="47" y="191"/>
                </a:cxn>
                <a:cxn ang="0">
                  <a:pos x="71" y="175"/>
                </a:cxn>
                <a:cxn ang="0">
                  <a:pos x="71" y="175"/>
                </a:cxn>
              </a:cxnLst>
              <a:rect l="0" t="0" r="r" b="b"/>
              <a:pathLst>
                <a:path w="71" h="191">
                  <a:moveTo>
                    <a:pt x="0" y="16"/>
                  </a:moveTo>
                  <a:lnTo>
                    <a:pt x="55" y="0"/>
                  </a:lnTo>
                  <a:lnTo>
                    <a:pt x="55" y="0"/>
                  </a:lnTo>
                  <a:lnTo>
                    <a:pt x="47" y="191"/>
                  </a:lnTo>
                  <a:lnTo>
                    <a:pt x="47" y="191"/>
                  </a:lnTo>
                  <a:lnTo>
                    <a:pt x="71" y="175"/>
                  </a:lnTo>
                  <a:lnTo>
                    <a:pt x="71" y="175"/>
                  </a:lnTo>
                </a:path>
              </a:pathLst>
            </a:custGeom>
            <a:noFill/>
            <a:ln w="301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771" name="Freeform 35"/>
            <p:cNvSpPr/>
            <p:nvPr/>
          </p:nvSpPr>
          <p:spPr bwMode="auto">
            <a:xfrm>
              <a:off x="656" y="3227"/>
              <a:ext cx="71" cy="19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55" y="0"/>
                </a:cxn>
                <a:cxn ang="0">
                  <a:pos x="47" y="191"/>
                </a:cxn>
                <a:cxn ang="0">
                  <a:pos x="71" y="175"/>
                </a:cxn>
              </a:cxnLst>
              <a:rect l="0" t="0" r="r" b="b"/>
              <a:pathLst>
                <a:path w="71" h="191">
                  <a:moveTo>
                    <a:pt x="0" y="16"/>
                  </a:moveTo>
                  <a:lnTo>
                    <a:pt x="55" y="0"/>
                  </a:lnTo>
                  <a:lnTo>
                    <a:pt x="47" y="191"/>
                  </a:lnTo>
                  <a:lnTo>
                    <a:pt x="71" y="175"/>
                  </a:lnTo>
                </a:path>
              </a:pathLst>
            </a:custGeom>
            <a:noFill/>
            <a:ln w="30163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84772" name="Line 36"/>
          <p:cNvSpPr>
            <a:spLocks noChangeShapeType="1"/>
          </p:cNvSpPr>
          <p:nvPr/>
        </p:nvSpPr>
        <p:spPr bwMode="auto">
          <a:xfrm flipV="1">
            <a:off x="2030413" y="3425825"/>
            <a:ext cx="341312" cy="328613"/>
          </a:xfrm>
          <a:prstGeom prst="line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884773" name="Rectangle 37"/>
          <p:cNvSpPr>
            <a:spLocks noChangeArrowheads="1"/>
          </p:cNvSpPr>
          <p:nvPr/>
        </p:nvSpPr>
        <p:spPr bwMode="auto">
          <a:xfrm>
            <a:off x="4514850" y="1006475"/>
            <a:ext cx="3117850" cy="274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Palatino" pitchFamily="18" charset="0"/>
              </a:rPr>
              <a:t>business systems planning</a:t>
            </a:r>
            <a:endParaRPr lang="en-US" sz="2000">
              <a:latin typeface="Palatino" pitchFamily="18" charset="0"/>
            </a:endParaRPr>
          </a:p>
        </p:txBody>
      </p:sp>
      <p:sp>
        <p:nvSpPr>
          <p:cNvPr id="884774" name="Rectangle 38"/>
          <p:cNvSpPr>
            <a:spLocks noChangeArrowheads="1"/>
          </p:cNvSpPr>
          <p:nvPr/>
        </p:nvSpPr>
        <p:spPr bwMode="auto">
          <a:xfrm>
            <a:off x="4908550" y="1500188"/>
            <a:ext cx="2362200" cy="274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Palatino" pitchFamily="18" charset="0"/>
              </a:rPr>
              <a:t>project management</a:t>
            </a:r>
            <a:endParaRPr lang="en-US" sz="2000">
              <a:latin typeface="Palatino" pitchFamily="18" charset="0"/>
            </a:endParaRPr>
          </a:p>
        </p:txBody>
      </p:sp>
      <p:sp>
        <p:nvSpPr>
          <p:cNvPr id="884775" name="Rectangle 39"/>
          <p:cNvSpPr>
            <a:spLocks noChangeArrowheads="1"/>
          </p:cNvSpPr>
          <p:nvPr/>
        </p:nvSpPr>
        <p:spPr bwMode="auto">
          <a:xfrm>
            <a:off x="5187950" y="2019300"/>
            <a:ext cx="903288" cy="274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Palatino" pitchFamily="18" charset="0"/>
              </a:rPr>
              <a:t>support</a:t>
            </a:r>
            <a:endParaRPr lang="en-US" sz="2000">
              <a:latin typeface="Palatino" pitchFamily="18" charset="0"/>
            </a:endParaRPr>
          </a:p>
        </p:txBody>
      </p:sp>
      <p:sp>
        <p:nvSpPr>
          <p:cNvPr id="884776" name="Rectangle 40"/>
          <p:cNvSpPr>
            <a:spLocks noChangeArrowheads="1"/>
          </p:cNvSpPr>
          <p:nvPr/>
        </p:nvSpPr>
        <p:spPr bwMode="auto">
          <a:xfrm>
            <a:off x="5276850" y="2500313"/>
            <a:ext cx="2286000" cy="274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Palatino" pitchFamily="18" charset="0"/>
              </a:rPr>
              <a:t>analysis and design</a:t>
            </a:r>
            <a:endParaRPr lang="en-US" sz="2000">
              <a:latin typeface="Palatino" pitchFamily="18" charset="0"/>
            </a:endParaRPr>
          </a:p>
        </p:txBody>
      </p:sp>
      <p:sp>
        <p:nvSpPr>
          <p:cNvPr id="884777" name="Rectangle 41"/>
          <p:cNvSpPr>
            <a:spLocks noChangeArrowheads="1"/>
          </p:cNvSpPr>
          <p:nvPr/>
        </p:nvSpPr>
        <p:spPr bwMode="auto">
          <a:xfrm>
            <a:off x="4972050" y="3602038"/>
            <a:ext cx="2346325" cy="274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Palatino" pitchFamily="18" charset="0"/>
              </a:rPr>
              <a:t>integration &amp;testing</a:t>
            </a:r>
            <a:endParaRPr lang="en-US" sz="2000">
              <a:latin typeface="Palatino" pitchFamily="18" charset="0"/>
            </a:endParaRPr>
          </a:p>
        </p:txBody>
      </p:sp>
      <p:sp>
        <p:nvSpPr>
          <p:cNvPr id="884778" name="Rectangle 42"/>
          <p:cNvSpPr>
            <a:spLocks noChangeArrowheads="1"/>
          </p:cNvSpPr>
          <p:nvPr/>
        </p:nvSpPr>
        <p:spPr bwMode="auto">
          <a:xfrm>
            <a:off x="4514850" y="4652963"/>
            <a:ext cx="1749425" cy="274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Palatino" pitchFamily="18" charset="0"/>
              </a:rPr>
              <a:t>re–engineering</a:t>
            </a:r>
            <a:endParaRPr lang="en-US" sz="2000">
              <a:latin typeface="Palatino" pitchFamily="18" charset="0"/>
            </a:endParaRPr>
          </a:p>
        </p:txBody>
      </p:sp>
      <p:sp>
        <p:nvSpPr>
          <p:cNvPr id="884779" name="Rectangle 43"/>
          <p:cNvSpPr>
            <a:spLocks noChangeArrowheads="1"/>
          </p:cNvSpPr>
          <p:nvPr/>
        </p:nvSpPr>
        <p:spPr bwMode="auto">
          <a:xfrm>
            <a:off x="4718050" y="4133850"/>
            <a:ext cx="3338513" cy="274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Palatino" pitchFamily="18" charset="0"/>
              </a:rPr>
              <a:t>prototyping/simulation tools</a:t>
            </a:r>
            <a:endParaRPr lang="en-US" sz="2000">
              <a:latin typeface="Palatino" pitchFamily="18" charset="0"/>
            </a:endParaRPr>
          </a:p>
        </p:txBody>
      </p:sp>
      <p:sp>
        <p:nvSpPr>
          <p:cNvPr id="884780" name="Line 44"/>
          <p:cNvSpPr>
            <a:spLocks noChangeShapeType="1"/>
          </p:cNvSpPr>
          <p:nvPr/>
        </p:nvSpPr>
        <p:spPr bwMode="auto">
          <a:xfrm flipV="1">
            <a:off x="3398838" y="1171575"/>
            <a:ext cx="976312" cy="784225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4781" name="Line 45"/>
          <p:cNvSpPr>
            <a:spLocks noChangeShapeType="1"/>
          </p:cNvSpPr>
          <p:nvPr/>
        </p:nvSpPr>
        <p:spPr bwMode="auto">
          <a:xfrm flipV="1">
            <a:off x="3627438" y="1614488"/>
            <a:ext cx="1090612" cy="633412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4782" name="Line 46"/>
          <p:cNvSpPr>
            <a:spLocks noChangeShapeType="1"/>
          </p:cNvSpPr>
          <p:nvPr/>
        </p:nvSpPr>
        <p:spPr bwMode="auto">
          <a:xfrm flipV="1">
            <a:off x="3716338" y="2108200"/>
            <a:ext cx="1243012" cy="430213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4783" name="Line 47"/>
          <p:cNvSpPr>
            <a:spLocks noChangeShapeType="1"/>
          </p:cNvSpPr>
          <p:nvPr/>
        </p:nvSpPr>
        <p:spPr bwMode="auto">
          <a:xfrm flipV="1">
            <a:off x="3741738" y="2576513"/>
            <a:ext cx="1382712" cy="254000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4784" name="Line 48"/>
          <p:cNvSpPr>
            <a:spLocks noChangeShapeType="1"/>
          </p:cNvSpPr>
          <p:nvPr/>
        </p:nvSpPr>
        <p:spPr bwMode="auto">
          <a:xfrm>
            <a:off x="3678238" y="3082925"/>
            <a:ext cx="1268412" cy="63500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4785" name="Line 49"/>
          <p:cNvSpPr>
            <a:spLocks noChangeShapeType="1"/>
          </p:cNvSpPr>
          <p:nvPr/>
        </p:nvSpPr>
        <p:spPr bwMode="auto">
          <a:xfrm>
            <a:off x="3627438" y="3222625"/>
            <a:ext cx="1154112" cy="442913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4786" name="Line 50"/>
          <p:cNvSpPr>
            <a:spLocks noChangeShapeType="1"/>
          </p:cNvSpPr>
          <p:nvPr/>
        </p:nvSpPr>
        <p:spPr bwMode="auto">
          <a:xfrm>
            <a:off x="3475038" y="3413125"/>
            <a:ext cx="1065212" cy="760413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4787" name="Line 51"/>
          <p:cNvSpPr>
            <a:spLocks noChangeShapeType="1"/>
          </p:cNvSpPr>
          <p:nvPr/>
        </p:nvSpPr>
        <p:spPr bwMode="auto">
          <a:xfrm>
            <a:off x="3335338" y="3540125"/>
            <a:ext cx="976312" cy="1177925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4788" name="Line 52"/>
          <p:cNvSpPr>
            <a:spLocks noChangeShapeType="1"/>
          </p:cNvSpPr>
          <p:nvPr/>
        </p:nvSpPr>
        <p:spPr bwMode="auto">
          <a:xfrm>
            <a:off x="3171825" y="3603625"/>
            <a:ext cx="658813" cy="1544638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4789" name="Oval 53"/>
          <p:cNvSpPr>
            <a:spLocks noChangeArrowheads="1"/>
          </p:cNvSpPr>
          <p:nvPr/>
        </p:nvSpPr>
        <p:spPr bwMode="auto">
          <a:xfrm>
            <a:off x="2143125" y="1854200"/>
            <a:ext cx="1636713" cy="1836738"/>
          </a:xfrm>
          <a:prstGeom prst="ellipse">
            <a:avLst/>
          </a:pr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4790" name="Oval 54"/>
          <p:cNvSpPr>
            <a:spLocks noChangeArrowheads="1"/>
          </p:cNvSpPr>
          <p:nvPr/>
        </p:nvSpPr>
        <p:spPr bwMode="auto">
          <a:xfrm>
            <a:off x="2119313" y="1830388"/>
            <a:ext cx="1685925" cy="1885950"/>
          </a:xfrm>
          <a:prstGeom prst="ellipse">
            <a:avLst/>
          </a:prstGeom>
          <a:noFill/>
          <a:ln w="555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4791" name="Rectangle 55"/>
          <p:cNvSpPr>
            <a:spLocks noChangeArrowheads="1"/>
          </p:cNvSpPr>
          <p:nvPr/>
        </p:nvSpPr>
        <p:spPr bwMode="auto">
          <a:xfrm>
            <a:off x="2524125" y="2389188"/>
            <a:ext cx="830263" cy="328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400" b="0">
                <a:solidFill>
                  <a:srgbClr val="000000"/>
                </a:solidFill>
              </a:rPr>
              <a:t>CASE</a:t>
            </a:r>
            <a:endParaRPr lang="en-US" b="0"/>
          </a:p>
        </p:txBody>
      </p:sp>
      <p:sp>
        <p:nvSpPr>
          <p:cNvPr id="884792" name="Rectangle 56"/>
          <p:cNvSpPr>
            <a:spLocks noChangeArrowheads="1"/>
          </p:cNvSpPr>
          <p:nvPr/>
        </p:nvSpPr>
        <p:spPr bwMode="auto">
          <a:xfrm>
            <a:off x="2355850" y="2706688"/>
            <a:ext cx="1306513" cy="328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400" b="0">
                <a:solidFill>
                  <a:srgbClr val="000000"/>
                </a:solidFill>
              </a:rPr>
              <a:t>Database</a:t>
            </a:r>
            <a:endParaRPr lang="en-US" b="0"/>
          </a:p>
        </p:txBody>
      </p:sp>
      <p:sp>
        <p:nvSpPr>
          <p:cNvPr id="884793" name="Rectangle 57"/>
          <p:cNvSpPr>
            <a:spLocks noChangeArrowheads="1"/>
          </p:cNvSpPr>
          <p:nvPr/>
        </p:nvSpPr>
        <p:spPr bwMode="auto">
          <a:xfrm>
            <a:off x="5200650" y="3057525"/>
            <a:ext cx="1593850" cy="274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Palatino" pitchFamily="18" charset="0"/>
              </a:rPr>
              <a:t>programming</a:t>
            </a:r>
            <a:endParaRPr lang="en-US" sz="2000">
              <a:latin typeface="Palatino" pitchFamily="18" charset="0"/>
            </a:endParaRPr>
          </a:p>
        </p:txBody>
      </p:sp>
      <p:sp>
        <p:nvSpPr>
          <p:cNvPr id="884794" name="Rectangle 58"/>
          <p:cNvSpPr>
            <a:spLocks noChangeArrowheads="1"/>
          </p:cNvSpPr>
          <p:nvPr/>
        </p:nvSpPr>
        <p:spPr bwMode="auto">
          <a:xfrm>
            <a:off x="3995738" y="5135563"/>
            <a:ext cx="1282700" cy="274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Palatino" pitchFamily="18" charset="0"/>
              </a:rPr>
              <a:t>framework</a:t>
            </a:r>
            <a:endParaRPr lang="en-US" sz="2000">
              <a:latin typeface="Palatino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913B4F-00B6-4179-B0E2-9F829E00BA0A}" type="slidenum">
              <a:rPr lang="en-US"/>
            </a:fld>
            <a:endParaRPr lang="en-US"/>
          </a:p>
        </p:txBody>
      </p:sp>
      <p:sp>
        <p:nvSpPr>
          <p:cNvPr id="8663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Times New Roman" panose="02020603050405020304" charset="0"/>
              </a:rPr>
              <a:t>Integrated CASE (I-CASE) environments</a:t>
            </a:r>
            <a:r>
              <a:rPr lang="en-US"/>
              <a:t> </a:t>
            </a:r>
            <a:endParaRPr lang="en-US"/>
          </a:p>
        </p:txBody>
      </p:sp>
      <p:sp>
        <p:nvSpPr>
          <p:cNvPr id="86630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u="sng">
                <a:cs typeface="Times New Roman" panose="02020603050405020304" charset="0"/>
              </a:rPr>
              <a:t>Integration </a:t>
            </a:r>
            <a:r>
              <a:rPr lang="en-US">
                <a:cs typeface="Times New Roman" panose="02020603050405020304" charset="0"/>
              </a:rPr>
              <a:t>= combination and closure</a:t>
            </a:r>
            <a:endParaRPr lang="en-US"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en-US">
                <a:cs typeface="Times New Roman" panose="02020603050405020304" charset="0"/>
              </a:rPr>
              <a:t>Combines a variety of </a:t>
            </a:r>
            <a:r>
              <a:rPr lang="en-US" u="sng">
                <a:cs typeface="Times New Roman" panose="02020603050405020304" charset="0"/>
              </a:rPr>
              <a:t>different tools</a:t>
            </a:r>
            <a:r>
              <a:rPr lang="en-US">
                <a:cs typeface="Times New Roman" panose="02020603050405020304" charset="0"/>
              </a:rPr>
              <a:t> and a spectrum of </a:t>
            </a:r>
            <a:r>
              <a:rPr lang="en-US" u="sng">
                <a:cs typeface="Times New Roman" panose="02020603050405020304" charset="0"/>
              </a:rPr>
              <a:t>information </a:t>
            </a:r>
            <a:r>
              <a:rPr lang="en-US">
                <a:cs typeface="Times New Roman" panose="02020603050405020304" charset="0"/>
              </a:rPr>
              <a:t> </a:t>
            </a:r>
            <a:r>
              <a:rPr lang="en-US">
                <a:cs typeface="Times New Roman" panose="02020603050405020304" charset="0"/>
                <a:sym typeface="Wingdings" panose="05000000000000000000" pitchFamily="2" charset="2"/>
              </a:rPr>
              <a:t></a:t>
            </a:r>
            <a:r>
              <a:rPr lang="en-US">
                <a:cs typeface="Times New Roman" panose="02020603050405020304" charset="0"/>
              </a:rPr>
              <a:t> enables closure of communication among tools, between people and across the SW process</a:t>
            </a:r>
            <a:endParaRPr lang="en-US"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en-US" u="sng">
                <a:cs typeface="Times New Roman" panose="02020603050405020304" charset="0"/>
              </a:rPr>
              <a:t>Tools</a:t>
            </a:r>
            <a:r>
              <a:rPr lang="en-US">
                <a:cs typeface="Times New Roman" panose="02020603050405020304" charset="0"/>
              </a:rPr>
              <a:t> are integrated </a:t>
            </a:r>
            <a:r>
              <a:rPr lang="en-US">
                <a:cs typeface="Times New Roman" panose="02020603050405020304" charset="0"/>
                <a:sym typeface="Wingdings" panose="05000000000000000000" pitchFamily="2" charset="2"/>
              </a:rPr>
              <a:t></a:t>
            </a:r>
            <a:r>
              <a:rPr lang="en-US">
                <a:cs typeface="Times New Roman" panose="02020603050405020304" charset="0"/>
              </a:rPr>
              <a:t> SE information is available to each tool that needs it</a:t>
            </a:r>
            <a:endParaRPr lang="en-US"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en-US" u="sng">
                <a:cs typeface="Times New Roman" panose="02020603050405020304" charset="0"/>
              </a:rPr>
              <a:t>Usage </a:t>
            </a:r>
            <a:r>
              <a:rPr lang="en-US">
                <a:cs typeface="Times New Roman" panose="02020603050405020304" charset="0"/>
              </a:rPr>
              <a:t>is integrated </a:t>
            </a:r>
            <a:r>
              <a:rPr lang="en-US">
                <a:cs typeface="Times New Roman" panose="02020603050405020304" charset="0"/>
                <a:sym typeface="Wingdings" panose="05000000000000000000" pitchFamily="2" charset="2"/>
              </a:rPr>
              <a:t></a:t>
            </a:r>
            <a:r>
              <a:rPr lang="en-US">
                <a:cs typeface="Times New Roman" panose="02020603050405020304" charset="0"/>
              </a:rPr>
              <a:t> common look and feel is provided for all tools</a:t>
            </a:r>
            <a:endParaRPr lang="en-US"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en-US" u="sng">
                <a:cs typeface="Times New Roman" panose="02020603050405020304" charset="0"/>
              </a:rPr>
              <a:t>Development philosophy</a:t>
            </a:r>
            <a:r>
              <a:rPr lang="en-US">
                <a:cs typeface="Times New Roman" panose="02020603050405020304" charset="0"/>
              </a:rPr>
              <a:t> is integrated </a:t>
            </a:r>
            <a:r>
              <a:rPr lang="en-US">
                <a:cs typeface="Times New Roman" panose="02020603050405020304" charset="0"/>
                <a:sym typeface="Wingdings" panose="05000000000000000000" pitchFamily="2" charset="2"/>
              </a:rPr>
              <a:t></a:t>
            </a:r>
            <a:r>
              <a:rPr lang="en-US">
                <a:cs typeface="Times New Roman" panose="02020603050405020304" charset="0"/>
              </a:rPr>
              <a:t>  standards SE approach</a:t>
            </a:r>
            <a:endParaRPr lang="en-US"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091F40E-2688-4575-B6AC-5E7B5085776E}" type="slidenum">
              <a:rPr lang="en-US"/>
            </a:fld>
            <a:endParaRPr lang="en-US"/>
          </a:p>
        </p:txBody>
      </p:sp>
      <p:sp>
        <p:nvSpPr>
          <p:cNvPr id="8673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Times New Roman" panose="02020603050405020304" charset="0"/>
              </a:rPr>
              <a:t>Benefits of I-CASE</a:t>
            </a:r>
            <a:r>
              <a:rPr lang="en-US"/>
              <a:t> </a:t>
            </a:r>
            <a:endParaRPr lang="en-US"/>
          </a:p>
        </p:txBody>
      </p:sp>
      <p:sp>
        <p:nvSpPr>
          <p:cNvPr id="867331" name="AutoShape 3"/>
          <p:cNvSpPr>
            <a:spLocks noChangeArrowheads="1"/>
          </p:cNvSpPr>
          <p:nvPr/>
        </p:nvSpPr>
        <p:spPr bwMode="auto">
          <a:xfrm>
            <a:off x="0" y="2668588"/>
            <a:ext cx="2903538" cy="2427287"/>
          </a:xfrm>
          <a:prstGeom prst="wedgeEllipseCallout">
            <a:avLst>
              <a:gd name="adj1" fmla="val 56292"/>
              <a:gd name="adj2" fmla="val -95176"/>
            </a:avLst>
          </a:prstGeom>
          <a:gradFill rotWithShape="0">
            <a:gsLst>
              <a:gs pos="0">
                <a:schemeClr val="hlink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>
                <a:solidFill>
                  <a:schemeClr val="bg1"/>
                </a:solidFill>
                <a:latin typeface="Palatino" pitchFamily="18" charset="0"/>
              </a:rPr>
              <a:t>Smooth transfer of information from one tool to another and one SE step to the the next</a:t>
            </a:r>
            <a:endParaRPr lang="en-US">
              <a:solidFill>
                <a:schemeClr val="bg1"/>
              </a:solidFill>
              <a:latin typeface="Palatino" pitchFamily="18" charset="0"/>
            </a:endParaRPr>
          </a:p>
        </p:txBody>
      </p:sp>
      <p:sp>
        <p:nvSpPr>
          <p:cNvPr id="867332" name="AutoShape 4"/>
          <p:cNvSpPr>
            <a:spLocks noChangeArrowheads="1"/>
          </p:cNvSpPr>
          <p:nvPr/>
        </p:nvSpPr>
        <p:spPr bwMode="auto">
          <a:xfrm>
            <a:off x="2586038" y="4038600"/>
            <a:ext cx="2992437" cy="1651000"/>
          </a:xfrm>
          <a:prstGeom prst="wedgeEllipseCallout">
            <a:avLst>
              <a:gd name="adj1" fmla="val -13472"/>
              <a:gd name="adj2" fmla="val -190426"/>
            </a:avLst>
          </a:prstGeom>
          <a:gradFill rotWithShape="0">
            <a:gsLst>
              <a:gs pos="0">
                <a:schemeClr val="hlink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>
                <a:solidFill>
                  <a:schemeClr val="bg1"/>
                </a:solidFill>
                <a:latin typeface="Palatino" pitchFamily="18" charset="0"/>
              </a:rPr>
              <a:t>Reduction in the effort required to perform umbrella activities</a:t>
            </a:r>
            <a:endParaRPr lang="en-US">
              <a:solidFill>
                <a:schemeClr val="bg1"/>
              </a:solidFill>
              <a:latin typeface="Palatino" pitchFamily="18" charset="0"/>
            </a:endParaRPr>
          </a:p>
        </p:txBody>
      </p:sp>
      <p:sp>
        <p:nvSpPr>
          <p:cNvPr id="867333" name="AutoShape 5"/>
          <p:cNvSpPr>
            <a:spLocks noChangeArrowheads="1"/>
          </p:cNvSpPr>
          <p:nvPr/>
        </p:nvSpPr>
        <p:spPr bwMode="auto">
          <a:xfrm>
            <a:off x="5373688" y="3943350"/>
            <a:ext cx="1835150" cy="1455738"/>
          </a:xfrm>
          <a:prstGeom prst="wedgeEllipseCallout">
            <a:avLst>
              <a:gd name="adj1" fmla="val -109255"/>
              <a:gd name="adj2" fmla="val -205037"/>
            </a:avLst>
          </a:prstGeom>
          <a:gradFill rotWithShape="0">
            <a:gsLst>
              <a:gs pos="0">
                <a:schemeClr val="hlink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>
                <a:solidFill>
                  <a:schemeClr val="bg1"/>
                </a:solidFill>
                <a:latin typeface="Palatino" pitchFamily="18" charset="0"/>
              </a:rPr>
              <a:t>Increase in project control</a:t>
            </a:r>
            <a:endParaRPr lang="en-US">
              <a:solidFill>
                <a:schemeClr val="bg1"/>
              </a:solidFill>
              <a:latin typeface="Palatino" pitchFamily="18" charset="0"/>
            </a:endParaRPr>
          </a:p>
        </p:txBody>
      </p:sp>
      <p:sp>
        <p:nvSpPr>
          <p:cNvPr id="867334" name="AutoShape 6"/>
          <p:cNvSpPr>
            <a:spLocks noChangeArrowheads="1"/>
          </p:cNvSpPr>
          <p:nvPr/>
        </p:nvSpPr>
        <p:spPr bwMode="auto">
          <a:xfrm>
            <a:off x="6699250" y="3262313"/>
            <a:ext cx="2216150" cy="1165225"/>
          </a:xfrm>
          <a:prstGeom prst="wedgeEllipseCallout">
            <a:avLst>
              <a:gd name="adj1" fmla="val -149259"/>
              <a:gd name="adj2" fmla="val -184866"/>
            </a:avLst>
          </a:prstGeom>
          <a:gradFill rotWithShape="0">
            <a:gsLst>
              <a:gs pos="0">
                <a:schemeClr val="hlink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>
                <a:solidFill>
                  <a:schemeClr val="bg1"/>
                </a:solidFill>
                <a:latin typeface="Palatino" pitchFamily="18" charset="0"/>
              </a:rPr>
              <a:t>Improve staff coordination</a:t>
            </a:r>
            <a:endParaRPr lang="en-US">
              <a:solidFill>
                <a:schemeClr val="bg1"/>
              </a:solidFill>
              <a:latin typeface="Palatino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FFCD35-45A9-489D-A53E-228C328B35EA}" type="slidenum">
              <a:rPr lang="en-US"/>
            </a:fld>
            <a:endParaRPr lang="en-US"/>
          </a:p>
        </p:txBody>
      </p:sp>
      <p:sp>
        <p:nvSpPr>
          <p:cNvPr id="8683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Times New Roman" panose="02020603050405020304" charset="0"/>
              </a:rPr>
              <a:t>Challenges of I-CASE </a:t>
            </a:r>
            <a:endParaRPr lang="en-US">
              <a:cs typeface="Times New Roman" panose="02020603050405020304" charset="0"/>
            </a:endParaRPr>
          </a:p>
        </p:txBody>
      </p:sp>
      <p:sp>
        <p:nvSpPr>
          <p:cNvPr id="86835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ffectLst/>
                <a:cs typeface="Times New Roman" panose="02020603050405020304" charset="0"/>
              </a:rPr>
              <a:t>Consistent representations of SE information</a:t>
            </a:r>
            <a:endParaRPr lang="en-US">
              <a:effectLst/>
              <a:cs typeface="Times New Roman" panose="02020603050405020304" charset="0"/>
            </a:endParaRPr>
          </a:p>
          <a:p>
            <a:r>
              <a:rPr lang="en-US">
                <a:effectLst/>
                <a:cs typeface="Times New Roman" panose="02020603050405020304" charset="0"/>
              </a:rPr>
              <a:t>Standardized interfaces between tools</a:t>
            </a:r>
            <a:endParaRPr lang="en-US">
              <a:effectLst/>
              <a:cs typeface="Times New Roman" panose="02020603050405020304" charset="0"/>
            </a:endParaRPr>
          </a:p>
          <a:p>
            <a:r>
              <a:rPr lang="en-US">
                <a:effectLst/>
                <a:cs typeface="Times New Roman" panose="02020603050405020304" charset="0"/>
              </a:rPr>
              <a:t>Homogeneous mechanism for communication between SW engineer and each tool</a:t>
            </a:r>
            <a:endParaRPr lang="en-US">
              <a:effectLst/>
              <a:cs typeface="Times New Roman" panose="02020603050405020304" charset="0"/>
            </a:endParaRPr>
          </a:p>
          <a:p>
            <a:r>
              <a:rPr lang="en-US">
                <a:effectLst/>
                <a:cs typeface="Times New Roman" panose="02020603050405020304" charset="0"/>
              </a:rPr>
              <a:t>An effective approach that will enable I-CASE to move among various HW platforms and OS.</a:t>
            </a:r>
            <a:endParaRPr lang="en-US">
              <a:effectLst/>
              <a:cs typeface="Times New Roman" panose="02020603050405020304" charset="0"/>
            </a:endParaRPr>
          </a:p>
          <a:p>
            <a:endParaRPr lang="en-US">
              <a:effectLst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12F4F9-E8D8-4897-B4C8-91E9A2694845}" type="slidenum">
              <a:rPr lang="en-US"/>
            </a:fld>
            <a:endParaRPr lang="en-US"/>
          </a:p>
        </p:txBody>
      </p:sp>
      <p:sp>
        <p:nvSpPr>
          <p:cNvPr id="8693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Times New Roman" panose="02020603050405020304" charset="0"/>
              </a:rPr>
              <a:t>Integration Architecture</a:t>
            </a:r>
            <a:r>
              <a:rPr lang="en-US"/>
              <a:t> </a:t>
            </a:r>
            <a:endParaRPr lang="en-US"/>
          </a:p>
        </p:txBody>
      </p:sp>
      <p:sp>
        <p:nvSpPr>
          <p:cNvPr id="86937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066800" y="5554663"/>
            <a:ext cx="7772400" cy="26987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1400" b="1" i="1">
                <a:cs typeface="Times New Roman" panose="02020603050405020304" charset="0"/>
              </a:rPr>
              <a:t>Architectural model for the integration framework[pressman]</a:t>
            </a:r>
            <a:endParaRPr lang="en-US" sz="1400" b="1">
              <a:cs typeface="Times New Roman" panose="0202060305040502030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1400" b="1"/>
          </a:p>
        </p:txBody>
      </p:sp>
      <p:grpSp>
        <p:nvGrpSpPr>
          <p:cNvPr id="869380" name="Group 4"/>
          <p:cNvGrpSpPr/>
          <p:nvPr/>
        </p:nvGrpSpPr>
        <p:grpSpPr bwMode="auto">
          <a:xfrm>
            <a:off x="1752600" y="1371600"/>
            <a:ext cx="5791200" cy="3925888"/>
            <a:chOff x="3861" y="7549"/>
            <a:chExt cx="5760" cy="5520"/>
          </a:xfrm>
        </p:grpSpPr>
        <p:sp>
          <p:nvSpPr>
            <p:cNvPr id="869381" name="Text Box 5"/>
            <p:cNvSpPr txBox="1">
              <a:spLocks noChangeArrowheads="1"/>
            </p:cNvSpPr>
            <p:nvPr/>
          </p:nvSpPr>
          <p:spPr bwMode="auto">
            <a:xfrm>
              <a:off x="3861" y="7549"/>
              <a:ext cx="5760" cy="1080"/>
            </a:xfrm>
            <a:prstGeom prst="rect">
              <a:avLst/>
            </a:prstGeom>
            <a:gradFill rotWithShape="0">
              <a:gsLst>
                <a:gs pos="0">
                  <a:srgbClr val="35FD43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Palatino" pitchFamily="18" charset="0"/>
                </a:rPr>
                <a:t>User interface layer</a:t>
              </a:r>
              <a:endParaRPr lang="en-US" sz="1600">
                <a:solidFill>
                  <a:schemeClr val="bg1"/>
                </a:solidFill>
                <a:latin typeface="Palatino" pitchFamily="18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Palatino" pitchFamily="18" charset="0"/>
                </a:rPr>
                <a:t>    Interface tool kit</a:t>
              </a:r>
              <a:endParaRPr lang="en-US" sz="1600">
                <a:solidFill>
                  <a:schemeClr val="bg1"/>
                </a:solidFill>
                <a:latin typeface="Palatino" pitchFamily="18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Palatino" pitchFamily="18" charset="0"/>
                </a:rPr>
                <a:t>    Presentation protocol</a:t>
              </a:r>
              <a:endParaRPr lang="en-US" sz="1600">
                <a:solidFill>
                  <a:schemeClr val="bg1"/>
                </a:solidFill>
                <a:latin typeface="Palatino" pitchFamily="18" charset="0"/>
              </a:endParaRPr>
            </a:p>
          </p:txBody>
        </p:sp>
        <p:sp>
          <p:nvSpPr>
            <p:cNvPr id="869382" name="Text Box 6"/>
            <p:cNvSpPr txBox="1">
              <a:spLocks noChangeArrowheads="1"/>
            </p:cNvSpPr>
            <p:nvPr/>
          </p:nvSpPr>
          <p:spPr bwMode="auto">
            <a:xfrm>
              <a:off x="3861" y="8749"/>
              <a:ext cx="5760" cy="600"/>
            </a:xfrm>
            <a:prstGeom prst="rect">
              <a:avLst/>
            </a:prstGeom>
            <a:gradFill rotWithShape="0">
              <a:gsLst>
                <a:gs pos="0">
                  <a:srgbClr val="35FD43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Palatino" pitchFamily="18" charset="0"/>
                </a:rPr>
                <a:t>Tools mgt services</a:t>
              </a:r>
              <a:endParaRPr lang="en-US" sz="1600">
                <a:solidFill>
                  <a:schemeClr val="bg1"/>
                </a:solidFill>
                <a:latin typeface="Palatino" pitchFamily="18" charset="0"/>
              </a:endParaRPr>
            </a:p>
          </p:txBody>
        </p:sp>
        <p:sp>
          <p:nvSpPr>
            <p:cNvPr id="869383" name="Text Box 7"/>
            <p:cNvSpPr txBox="1">
              <a:spLocks noChangeArrowheads="1"/>
            </p:cNvSpPr>
            <p:nvPr/>
          </p:nvSpPr>
          <p:spPr bwMode="auto">
            <a:xfrm>
              <a:off x="3861" y="9349"/>
              <a:ext cx="1080" cy="960"/>
            </a:xfrm>
            <a:prstGeom prst="rect">
              <a:avLst/>
            </a:prstGeom>
            <a:gradFill rotWithShape="0">
              <a:gsLst>
                <a:gs pos="0">
                  <a:srgbClr val="35FD43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Palatino" pitchFamily="18" charset="0"/>
                </a:rPr>
                <a:t>CASE tool</a:t>
              </a:r>
              <a:endParaRPr lang="en-US" sz="1600">
                <a:solidFill>
                  <a:schemeClr val="bg1"/>
                </a:solidFill>
                <a:latin typeface="Palatino" pitchFamily="18" charset="0"/>
              </a:endParaRPr>
            </a:p>
          </p:txBody>
        </p:sp>
        <p:sp>
          <p:nvSpPr>
            <p:cNvPr id="869384" name="Text Box 8"/>
            <p:cNvSpPr txBox="1">
              <a:spLocks noChangeArrowheads="1"/>
            </p:cNvSpPr>
            <p:nvPr/>
          </p:nvSpPr>
          <p:spPr bwMode="auto">
            <a:xfrm>
              <a:off x="7101" y="9349"/>
              <a:ext cx="720" cy="960"/>
            </a:xfrm>
            <a:prstGeom prst="rect">
              <a:avLst/>
            </a:prstGeom>
            <a:gradFill rotWithShape="0">
              <a:gsLst>
                <a:gs pos="0">
                  <a:srgbClr val="35FD43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endParaRPr lang="en-GB" sz="1600">
                <a:solidFill>
                  <a:schemeClr val="bg1"/>
                </a:solidFill>
                <a:latin typeface="Palatino" pitchFamily="18" charset="0"/>
              </a:endParaRPr>
            </a:p>
          </p:txBody>
        </p:sp>
        <p:sp>
          <p:nvSpPr>
            <p:cNvPr id="869385" name="Text Box 9"/>
            <p:cNvSpPr txBox="1">
              <a:spLocks noChangeArrowheads="1"/>
            </p:cNvSpPr>
            <p:nvPr/>
          </p:nvSpPr>
          <p:spPr bwMode="auto">
            <a:xfrm>
              <a:off x="6141" y="9349"/>
              <a:ext cx="720" cy="960"/>
            </a:xfrm>
            <a:prstGeom prst="rect">
              <a:avLst/>
            </a:prstGeom>
            <a:gradFill rotWithShape="0">
              <a:gsLst>
                <a:gs pos="0">
                  <a:srgbClr val="35FD43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endParaRPr lang="en-GB" sz="1600">
                <a:solidFill>
                  <a:schemeClr val="bg1"/>
                </a:solidFill>
                <a:latin typeface="Palatino" pitchFamily="18" charset="0"/>
              </a:endParaRPr>
            </a:p>
          </p:txBody>
        </p:sp>
        <p:sp>
          <p:nvSpPr>
            <p:cNvPr id="869386" name="Text Box 10"/>
            <p:cNvSpPr txBox="1">
              <a:spLocks noChangeArrowheads="1"/>
            </p:cNvSpPr>
            <p:nvPr/>
          </p:nvSpPr>
          <p:spPr bwMode="auto">
            <a:xfrm>
              <a:off x="5181" y="9349"/>
              <a:ext cx="720" cy="960"/>
            </a:xfrm>
            <a:prstGeom prst="rect">
              <a:avLst/>
            </a:prstGeom>
            <a:gradFill rotWithShape="0">
              <a:gsLst>
                <a:gs pos="0">
                  <a:srgbClr val="35FD43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endParaRPr lang="en-GB" sz="1600">
                <a:solidFill>
                  <a:schemeClr val="bg1"/>
                </a:solidFill>
                <a:latin typeface="Palatino" pitchFamily="18" charset="0"/>
              </a:endParaRPr>
            </a:p>
          </p:txBody>
        </p:sp>
        <p:sp>
          <p:nvSpPr>
            <p:cNvPr id="869387" name="Text Box 11"/>
            <p:cNvSpPr txBox="1">
              <a:spLocks noChangeArrowheads="1"/>
            </p:cNvSpPr>
            <p:nvPr/>
          </p:nvSpPr>
          <p:spPr bwMode="auto">
            <a:xfrm>
              <a:off x="7941" y="9349"/>
              <a:ext cx="840" cy="960"/>
            </a:xfrm>
            <a:prstGeom prst="rect">
              <a:avLst/>
            </a:prstGeom>
            <a:gradFill rotWithShape="0">
              <a:gsLst>
                <a:gs pos="0">
                  <a:srgbClr val="35FD43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endParaRPr lang="en-GB" sz="1600">
                <a:solidFill>
                  <a:schemeClr val="bg1"/>
                </a:solidFill>
                <a:latin typeface="Palatino" pitchFamily="18" charset="0"/>
              </a:endParaRPr>
            </a:p>
          </p:txBody>
        </p:sp>
        <p:sp>
          <p:nvSpPr>
            <p:cNvPr id="869388" name="Text Box 12"/>
            <p:cNvSpPr txBox="1">
              <a:spLocks noChangeArrowheads="1"/>
            </p:cNvSpPr>
            <p:nvPr/>
          </p:nvSpPr>
          <p:spPr bwMode="auto">
            <a:xfrm>
              <a:off x="8901" y="9349"/>
              <a:ext cx="720" cy="960"/>
            </a:xfrm>
            <a:prstGeom prst="rect">
              <a:avLst/>
            </a:prstGeom>
            <a:gradFill rotWithShape="0">
              <a:gsLst>
                <a:gs pos="0">
                  <a:srgbClr val="35FD43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endParaRPr lang="en-GB" sz="1600">
                <a:solidFill>
                  <a:schemeClr val="bg1"/>
                </a:solidFill>
                <a:latin typeface="Palatino" pitchFamily="18" charset="0"/>
              </a:endParaRPr>
            </a:p>
          </p:txBody>
        </p:sp>
        <p:sp>
          <p:nvSpPr>
            <p:cNvPr id="869389" name="Text Box 13"/>
            <p:cNvSpPr txBox="1">
              <a:spLocks noChangeArrowheads="1"/>
            </p:cNvSpPr>
            <p:nvPr/>
          </p:nvSpPr>
          <p:spPr bwMode="auto">
            <a:xfrm>
              <a:off x="6381" y="9589"/>
              <a:ext cx="1560" cy="480"/>
            </a:xfrm>
            <a:prstGeom prst="rect">
              <a:avLst/>
            </a:prstGeom>
            <a:gradFill rotWithShape="0">
              <a:gsLst>
                <a:gs pos="0">
                  <a:srgbClr val="35FD43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Palatino" pitchFamily="18" charset="0"/>
                </a:rPr>
                <a:t>Tools layer</a:t>
              </a:r>
              <a:endParaRPr lang="en-US" sz="1600">
                <a:solidFill>
                  <a:schemeClr val="bg1"/>
                </a:solidFill>
                <a:latin typeface="Palatino" pitchFamily="18" charset="0"/>
              </a:endParaRPr>
            </a:p>
          </p:txBody>
        </p:sp>
        <p:sp>
          <p:nvSpPr>
            <p:cNvPr id="869390" name="Text Box 14"/>
            <p:cNvSpPr txBox="1">
              <a:spLocks noChangeArrowheads="1"/>
            </p:cNvSpPr>
            <p:nvPr/>
          </p:nvSpPr>
          <p:spPr bwMode="auto">
            <a:xfrm>
              <a:off x="3861" y="10429"/>
              <a:ext cx="5760" cy="1200"/>
            </a:xfrm>
            <a:prstGeom prst="rect">
              <a:avLst/>
            </a:prstGeom>
            <a:gradFill rotWithShape="0">
              <a:gsLst>
                <a:gs pos="0">
                  <a:srgbClr val="35FD43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Palatino" pitchFamily="18" charset="0"/>
                </a:rPr>
                <a:t>Object mgt layer</a:t>
              </a:r>
              <a:endParaRPr lang="en-US" sz="1600">
                <a:solidFill>
                  <a:schemeClr val="bg1"/>
                </a:solidFill>
                <a:latin typeface="Palatino" pitchFamily="18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Palatino" pitchFamily="18" charset="0"/>
                </a:rPr>
                <a:t>   Integration services</a:t>
              </a:r>
              <a:endParaRPr lang="en-US" sz="1600">
                <a:solidFill>
                  <a:schemeClr val="bg1"/>
                </a:solidFill>
                <a:latin typeface="Palatino" pitchFamily="18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Palatino" pitchFamily="18" charset="0"/>
                </a:rPr>
                <a:t>    Configuration mgt services</a:t>
              </a:r>
              <a:endParaRPr lang="en-US" sz="1600">
                <a:solidFill>
                  <a:schemeClr val="bg1"/>
                </a:solidFill>
                <a:latin typeface="Palatino" pitchFamily="18" charset="0"/>
              </a:endParaRPr>
            </a:p>
          </p:txBody>
        </p:sp>
        <p:sp>
          <p:nvSpPr>
            <p:cNvPr id="869391" name="Text Box 15"/>
            <p:cNvSpPr txBox="1">
              <a:spLocks noChangeArrowheads="1"/>
            </p:cNvSpPr>
            <p:nvPr/>
          </p:nvSpPr>
          <p:spPr bwMode="auto">
            <a:xfrm>
              <a:off x="3861" y="11869"/>
              <a:ext cx="5760" cy="1200"/>
            </a:xfrm>
            <a:prstGeom prst="rect">
              <a:avLst/>
            </a:prstGeom>
            <a:gradFill rotWithShape="0">
              <a:gsLst>
                <a:gs pos="0">
                  <a:srgbClr val="35FD43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Palatino" pitchFamily="18" charset="0"/>
                </a:rPr>
                <a:t>Shared repository layer</a:t>
              </a:r>
              <a:endParaRPr lang="en-US" sz="1600">
                <a:solidFill>
                  <a:schemeClr val="bg1"/>
                </a:solidFill>
                <a:latin typeface="Palatino" pitchFamily="18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Palatino" pitchFamily="18" charset="0"/>
                </a:rPr>
                <a:t>   CASE database</a:t>
              </a:r>
              <a:endParaRPr lang="en-US" sz="1600">
                <a:solidFill>
                  <a:schemeClr val="bg1"/>
                </a:solidFill>
                <a:latin typeface="Palatino" pitchFamily="18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Palatino" pitchFamily="18" charset="0"/>
                </a:rPr>
                <a:t>   Access control functions</a:t>
              </a:r>
              <a:endParaRPr lang="en-US" sz="1600">
                <a:solidFill>
                  <a:schemeClr val="bg1"/>
                </a:solidFill>
                <a:latin typeface="Palatino" pitchFamily="18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523B7B-4975-4B42-817D-47918CEF5004}" type="slidenum">
              <a:rPr lang="en-US"/>
            </a:fld>
            <a:endParaRPr lang="en-US"/>
          </a:p>
        </p:txBody>
      </p:sp>
      <p:sp>
        <p:nvSpPr>
          <p:cNvPr id="8714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Times New Roman" panose="02020603050405020304" charset="0"/>
              </a:rPr>
              <a:t>CASE repository</a:t>
            </a:r>
            <a:r>
              <a:rPr lang="en-US"/>
              <a:t> </a:t>
            </a:r>
            <a:endParaRPr lang="en-US"/>
          </a:p>
        </p:txBody>
      </p:sp>
      <p:sp>
        <p:nvSpPr>
          <p:cNvPr id="87142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chemeClr val="hlink"/>
                </a:solidFill>
                <a:cs typeface="Times New Roman" panose="02020603050405020304" charset="0"/>
              </a:rPr>
              <a:t>REPOSITORY</a:t>
            </a:r>
            <a:r>
              <a:rPr lang="en-US">
                <a:cs typeface="Times New Roman" panose="02020603050405020304" charset="0"/>
              </a:rPr>
              <a:t> = a centralized database that contains all diagrams, forms &amp; report definitions, data structure, data definitions, process flows &amp; logic, and definitions of other organizational and system components</a:t>
            </a:r>
            <a:endParaRPr lang="en-US">
              <a:cs typeface="Times New Roman" panose="02020603050405020304" charset="0"/>
            </a:endParaRPr>
          </a:p>
          <a:p>
            <a:r>
              <a:rPr lang="en-US">
                <a:cs typeface="Times New Roman" panose="02020603050405020304" charset="0"/>
              </a:rPr>
              <a:t>it provides a set of mechanisms and data structures that achieve data/tool and data/data integration</a:t>
            </a: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471F77-3392-4DE1-AB12-B1417C400E9F}" type="slidenum">
              <a:rPr lang="en-US"/>
            </a:fld>
            <a:endParaRPr lang="en-US"/>
          </a:p>
        </p:txBody>
      </p:sp>
      <p:grpSp>
        <p:nvGrpSpPr>
          <p:cNvPr id="872450" name="Group 2"/>
          <p:cNvGrpSpPr/>
          <p:nvPr/>
        </p:nvGrpSpPr>
        <p:grpSpPr bwMode="auto">
          <a:xfrm>
            <a:off x="4054475" y="3024188"/>
            <a:ext cx="1339850" cy="1330325"/>
            <a:chOff x="5181" y="9664"/>
            <a:chExt cx="1680" cy="2280"/>
          </a:xfrm>
        </p:grpSpPr>
        <p:sp>
          <p:nvSpPr>
            <p:cNvPr id="872451" name="AutoShape 3"/>
            <p:cNvSpPr>
              <a:spLocks noChangeArrowheads="1"/>
            </p:cNvSpPr>
            <p:nvPr/>
          </p:nvSpPr>
          <p:spPr bwMode="auto">
            <a:xfrm>
              <a:off x="5181" y="9664"/>
              <a:ext cx="1680" cy="2280"/>
            </a:xfrm>
            <a:prstGeom prst="flowChartMagneticDisk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2452" name="Text Box 4"/>
            <p:cNvSpPr txBox="1">
              <a:spLocks noChangeArrowheads="1"/>
            </p:cNvSpPr>
            <p:nvPr/>
          </p:nvSpPr>
          <p:spPr bwMode="auto">
            <a:xfrm>
              <a:off x="5421" y="10504"/>
              <a:ext cx="1440" cy="1080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Times New Roman" panose="02020603050405020304" charset="0"/>
                </a:rPr>
                <a:t>CASE repository</a:t>
              </a:r>
              <a:endParaRPr lang="en-US" sz="1600">
                <a:solidFill>
                  <a:schemeClr val="bg1"/>
                </a:solidFill>
                <a:latin typeface="Times New Roman" panose="02020603050405020304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>
                  <a:solidFill>
                    <a:schemeClr val="bg1"/>
                  </a:solidFill>
                  <a:latin typeface="Times New Roman" panose="02020603050405020304" charset="0"/>
                </a:rPr>
                <a:t>functions</a:t>
              </a:r>
              <a:endParaRPr lang="en-US" sz="1600">
                <a:solidFill>
                  <a:schemeClr val="bg1"/>
                </a:solidFill>
                <a:latin typeface="Times New Roman" panose="02020603050405020304" charset="0"/>
              </a:endParaRPr>
            </a:p>
          </p:txBody>
        </p:sp>
      </p:grpSp>
      <p:sp>
        <p:nvSpPr>
          <p:cNvPr id="872453" name="AutoShape 5"/>
          <p:cNvSpPr>
            <a:spLocks noChangeArrowheads="1"/>
          </p:cNvSpPr>
          <p:nvPr/>
        </p:nvSpPr>
        <p:spPr bwMode="auto">
          <a:xfrm>
            <a:off x="6256338" y="2322513"/>
            <a:ext cx="1628775" cy="490537"/>
          </a:xfrm>
          <a:prstGeom prst="wedgeRoundRectCallout">
            <a:avLst>
              <a:gd name="adj1" fmla="val -102204"/>
              <a:gd name="adj2" fmla="val 184644"/>
              <a:gd name="adj3" fmla="val 16667"/>
            </a:avLst>
          </a:prstGeom>
          <a:solidFill>
            <a:srgbClr val="FF99FF"/>
          </a:solidFill>
          <a:ln w="9525">
            <a:solidFill>
              <a:srgbClr val="FF99FF"/>
            </a:solidFill>
            <a:miter lim="800000"/>
          </a:ln>
          <a:effectLst/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1600">
                <a:solidFill>
                  <a:schemeClr val="bg1"/>
                </a:solidFill>
                <a:latin typeface="Times New Roman" panose="02020603050405020304" charset="0"/>
              </a:rPr>
              <a:t>Data integrity</a:t>
            </a:r>
            <a:endParaRPr lang="en-US" sz="1600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sp>
        <p:nvSpPr>
          <p:cNvPr id="872454" name="AutoShape 6"/>
          <p:cNvSpPr>
            <a:spLocks noChangeArrowheads="1"/>
          </p:cNvSpPr>
          <p:nvPr/>
        </p:nvSpPr>
        <p:spPr bwMode="auto">
          <a:xfrm>
            <a:off x="1371600" y="2463800"/>
            <a:ext cx="1628775" cy="652463"/>
          </a:xfrm>
          <a:prstGeom prst="wedgeRoundRectCallout">
            <a:avLst>
              <a:gd name="adj1" fmla="val 113940"/>
              <a:gd name="adj2" fmla="val 115583"/>
              <a:gd name="adj3" fmla="val 16667"/>
            </a:avLst>
          </a:prstGeom>
          <a:solidFill>
            <a:srgbClr val="FF99FF"/>
          </a:solidFill>
          <a:ln w="9525">
            <a:solidFill>
              <a:srgbClr val="FF99FF"/>
            </a:solidFill>
            <a:miter lim="800000"/>
          </a:ln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1600">
                <a:solidFill>
                  <a:schemeClr val="bg1"/>
                </a:solidFill>
                <a:latin typeface="Times New Roman" panose="02020603050405020304" charset="0"/>
              </a:rPr>
              <a:t>Data/tool integration</a:t>
            </a:r>
            <a:endParaRPr lang="en-US" sz="1600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sp>
        <p:nvSpPr>
          <p:cNvPr id="872455" name="AutoShape 7"/>
          <p:cNvSpPr>
            <a:spLocks noChangeArrowheads="1"/>
          </p:cNvSpPr>
          <p:nvPr/>
        </p:nvSpPr>
        <p:spPr bwMode="auto">
          <a:xfrm>
            <a:off x="3862388" y="1693863"/>
            <a:ext cx="1628775" cy="609600"/>
          </a:xfrm>
          <a:prstGeom prst="wedgeRoundRectCallout">
            <a:avLst>
              <a:gd name="adj1" fmla="val 15398"/>
              <a:gd name="adj2" fmla="val 171528"/>
              <a:gd name="adj3" fmla="val 16667"/>
            </a:avLst>
          </a:prstGeom>
          <a:solidFill>
            <a:srgbClr val="FF99FF"/>
          </a:solidFill>
          <a:ln w="9525">
            <a:solidFill>
              <a:srgbClr val="FF99FF"/>
            </a:solidFill>
            <a:miter lim="800000"/>
          </a:ln>
          <a:effectLst/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1600">
                <a:solidFill>
                  <a:schemeClr val="bg1"/>
                </a:solidFill>
                <a:latin typeface="Times New Roman" panose="02020603050405020304" charset="0"/>
              </a:rPr>
              <a:t>Information sharing</a:t>
            </a:r>
            <a:endParaRPr lang="en-US" sz="1600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sp>
        <p:nvSpPr>
          <p:cNvPr id="872456" name="AutoShape 8"/>
          <p:cNvSpPr>
            <a:spLocks noChangeArrowheads="1"/>
          </p:cNvSpPr>
          <p:nvPr/>
        </p:nvSpPr>
        <p:spPr bwMode="auto">
          <a:xfrm>
            <a:off x="6477000" y="4132263"/>
            <a:ext cx="1628775" cy="609600"/>
          </a:xfrm>
          <a:prstGeom prst="wedgeRoundRectCallout">
            <a:avLst>
              <a:gd name="adj1" fmla="val -114718"/>
              <a:gd name="adj2" fmla="val -91204"/>
              <a:gd name="adj3" fmla="val 16667"/>
            </a:avLst>
          </a:prstGeom>
          <a:solidFill>
            <a:srgbClr val="FF99FF"/>
          </a:solidFill>
          <a:ln w="9525">
            <a:solidFill>
              <a:srgbClr val="FF99FF"/>
            </a:solidFill>
            <a:miter lim="800000"/>
          </a:ln>
          <a:effectLst/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1600">
                <a:solidFill>
                  <a:schemeClr val="bg1"/>
                </a:solidFill>
                <a:latin typeface="Times New Roman" panose="02020603050405020304" charset="0"/>
              </a:rPr>
              <a:t>Data/data integration</a:t>
            </a:r>
            <a:endParaRPr lang="en-US" sz="1600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sp>
        <p:nvSpPr>
          <p:cNvPr id="872457" name="AutoShape 9"/>
          <p:cNvSpPr>
            <a:spLocks noChangeArrowheads="1"/>
          </p:cNvSpPr>
          <p:nvPr/>
        </p:nvSpPr>
        <p:spPr bwMode="auto">
          <a:xfrm>
            <a:off x="1371600" y="4198938"/>
            <a:ext cx="1628775" cy="574675"/>
          </a:xfrm>
          <a:prstGeom prst="wedgeRoundRectCallout">
            <a:avLst>
              <a:gd name="adj1" fmla="val 116958"/>
              <a:gd name="adj2" fmla="val -112407"/>
              <a:gd name="adj3" fmla="val 16667"/>
            </a:avLst>
          </a:prstGeom>
          <a:solidFill>
            <a:srgbClr val="FF99FF"/>
          </a:solidFill>
          <a:ln w="9525">
            <a:solidFill>
              <a:srgbClr val="FF99FF"/>
            </a:solidFill>
            <a:miter lim="800000"/>
          </a:ln>
          <a:effectLst/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1600">
                <a:solidFill>
                  <a:schemeClr val="bg1"/>
                </a:solidFill>
                <a:latin typeface="Times New Roman" panose="02020603050405020304" charset="0"/>
              </a:rPr>
              <a:t>Methodology enforcement</a:t>
            </a:r>
            <a:endParaRPr lang="en-US" sz="1600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sp>
        <p:nvSpPr>
          <p:cNvPr id="872458" name="AutoShape 10"/>
          <p:cNvSpPr>
            <a:spLocks noChangeArrowheads="1"/>
          </p:cNvSpPr>
          <p:nvPr/>
        </p:nvSpPr>
        <p:spPr bwMode="auto">
          <a:xfrm>
            <a:off x="3575050" y="5283200"/>
            <a:ext cx="1916113" cy="541338"/>
          </a:xfrm>
          <a:prstGeom prst="wedgeRoundRectCallout">
            <a:avLst>
              <a:gd name="adj1" fmla="val 15037"/>
              <a:gd name="adj2" fmla="val -223699"/>
              <a:gd name="adj3" fmla="val 16667"/>
            </a:avLst>
          </a:prstGeom>
          <a:solidFill>
            <a:srgbClr val="FF99FF"/>
          </a:solidFill>
          <a:ln w="9525">
            <a:solidFill>
              <a:srgbClr val="FF99FF"/>
            </a:solidFill>
            <a:miter lim="800000"/>
          </a:ln>
          <a:effectLst/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1600">
                <a:solidFill>
                  <a:schemeClr val="bg1"/>
                </a:solidFill>
                <a:latin typeface="Times New Roman" panose="02020603050405020304" charset="0"/>
              </a:rPr>
              <a:t>Document standardization</a:t>
            </a:r>
            <a:endParaRPr lang="en-US" sz="1600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sp>
        <p:nvSpPr>
          <p:cNvPr id="872459" name="Rectangle 11"/>
          <p:cNvSpPr>
            <a:spLocks noGrp="1" noRot="1" noChangeArrowheads="1"/>
          </p:cNvSpPr>
          <p:nvPr>
            <p:ph type="title"/>
          </p:nvPr>
        </p:nvSpPr>
        <p:spPr>
          <a:xfrm>
            <a:off x="442913" y="215900"/>
            <a:ext cx="8229600" cy="652463"/>
          </a:xfrm>
        </p:spPr>
        <p:txBody>
          <a:bodyPr/>
          <a:lstStyle/>
          <a:p>
            <a:br>
              <a:rPr lang="en-US">
                <a:cs typeface="Times New Roman" panose="02020603050405020304" charset="0"/>
              </a:rPr>
            </a:br>
            <a:r>
              <a:rPr lang="en-US">
                <a:cs typeface="Times New Roman" panose="02020603050405020304" charset="0"/>
              </a:rPr>
              <a:t> CASE repository</a:t>
            </a:r>
            <a:r>
              <a:rPr lang="en-US"/>
              <a:t> Function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/>
        </p:nvSpPr>
        <p:spPr>
          <a:xfrm>
            <a:off x="621665" y="5673408"/>
            <a:ext cx="7702550" cy="42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marL="0" algn="l" defTabSz="914400" rtl="0" eaLnBrk="1" latinLnBrk="0" hangingPunct="1">
              <a:spcBef>
                <a:spcPct val="50000"/>
              </a:spcBef>
              <a:defRPr sz="1000" b="0" kern="1200">
                <a:solidFill>
                  <a:schemeClr val="tx1"/>
                </a:solidFill>
                <a:latin typeface="Avant Garde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AFBDAB-73A5-4B42-8139-D5DE0910F272}" type="slidenum">
              <a:rPr lang="en-US"/>
            </a:fld>
            <a:endParaRPr lang="en-US"/>
          </a:p>
        </p:txBody>
      </p:sp>
      <p:sp>
        <p:nvSpPr>
          <p:cNvPr id="8734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57250" y="173038"/>
            <a:ext cx="7953375" cy="1016000"/>
          </a:xfrm>
        </p:spPr>
        <p:txBody>
          <a:bodyPr/>
          <a:lstStyle/>
          <a:p>
            <a:r>
              <a:rPr lang="en-US">
                <a:cs typeface="Times New Roman" panose="02020603050405020304" charset="0"/>
              </a:rPr>
              <a:t>CASE repository</a:t>
            </a:r>
            <a:r>
              <a:rPr lang="en-US"/>
              <a:t> Function…cont</a:t>
            </a:r>
            <a:endParaRPr lang="en-US"/>
          </a:p>
        </p:txBody>
      </p:sp>
      <p:sp>
        <p:nvSpPr>
          <p:cNvPr id="8734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223963" y="1422400"/>
            <a:ext cx="6683375" cy="3998913"/>
          </a:xfrm>
        </p:spPr>
        <p:txBody>
          <a:bodyPr/>
          <a:lstStyle/>
          <a:p>
            <a:pPr algn="just"/>
            <a:r>
              <a:rPr lang="en-US">
                <a:effectLst/>
                <a:cs typeface="Times New Roman" panose="02020603050405020304" charset="0"/>
              </a:rPr>
              <a:t>Data Integrity </a:t>
            </a:r>
            <a:endParaRPr lang="en-US">
              <a:effectLst/>
              <a:cs typeface="Times New Roman" panose="02020603050405020304" charset="0"/>
            </a:endParaRPr>
          </a:p>
          <a:p>
            <a:pPr lvl="1" algn="just">
              <a:buClr>
                <a:schemeClr val="tx1"/>
              </a:buClr>
              <a:buSzTx/>
              <a:buFontTx/>
              <a:buChar char="•"/>
            </a:pPr>
            <a:r>
              <a:rPr lang="en-US" sz="2400">
                <a:effectLst/>
                <a:cs typeface="Times New Roman" panose="02020603050405020304" charset="0"/>
              </a:rPr>
              <a:t>include functions to validate entries to the repository</a:t>
            </a:r>
            <a:endParaRPr lang="en-US" sz="2400">
              <a:effectLst/>
              <a:cs typeface="Times New Roman" panose="02020603050405020304" charset="0"/>
            </a:endParaRPr>
          </a:p>
          <a:p>
            <a:pPr lvl="1" algn="just">
              <a:buClr>
                <a:schemeClr val="tx1"/>
              </a:buClr>
              <a:buSzTx/>
              <a:buFontTx/>
              <a:buChar char="•"/>
            </a:pPr>
            <a:r>
              <a:rPr lang="en-US" sz="2400">
                <a:effectLst/>
                <a:cs typeface="Times New Roman" panose="02020603050405020304" charset="0"/>
              </a:rPr>
              <a:t>ensure consistency among related objects</a:t>
            </a:r>
            <a:endParaRPr lang="en-US" sz="2400">
              <a:effectLst/>
              <a:cs typeface="Times New Roman" panose="02020603050405020304" charset="0"/>
            </a:endParaRPr>
          </a:p>
          <a:p>
            <a:pPr lvl="1" algn="just">
              <a:buClr>
                <a:schemeClr val="tx1"/>
              </a:buClr>
              <a:buSzTx/>
              <a:buFontTx/>
              <a:buChar char="•"/>
            </a:pPr>
            <a:r>
              <a:rPr lang="en-US" sz="2400">
                <a:effectLst/>
                <a:cs typeface="Times New Roman" panose="02020603050405020304" charset="0"/>
              </a:rPr>
              <a:t>automatically perform ‘cascading’ modifications when a change to one object demands some change to objects that are related to it</a:t>
            </a:r>
            <a:endParaRPr lang="en-US" sz="2400">
              <a:effectLst/>
              <a:cs typeface="Times New Roman" panose="02020603050405020304" charset="0"/>
            </a:endParaRPr>
          </a:p>
          <a:p>
            <a:endParaRPr lang="en-US">
              <a:effectLst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AC71B3-3057-4E00-8AA8-891B50D8303A}" type="slidenum">
              <a:rPr lang="en-US"/>
            </a:fld>
            <a:endParaRPr lang="en-US"/>
          </a:p>
        </p:txBody>
      </p:sp>
      <p:sp>
        <p:nvSpPr>
          <p:cNvPr id="8744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15975" y="254000"/>
            <a:ext cx="7953375" cy="1016000"/>
          </a:xfrm>
        </p:spPr>
        <p:txBody>
          <a:bodyPr/>
          <a:lstStyle/>
          <a:p>
            <a:r>
              <a:rPr lang="en-US">
                <a:cs typeface="Times New Roman" panose="02020603050405020304" charset="0"/>
              </a:rPr>
              <a:t>CASE repository</a:t>
            </a:r>
            <a:r>
              <a:rPr lang="en-US"/>
              <a:t> Function…cont</a:t>
            </a:r>
            <a:endParaRPr lang="en-US"/>
          </a:p>
        </p:txBody>
      </p:sp>
      <p:sp>
        <p:nvSpPr>
          <p:cNvPr id="87449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089025" y="1422400"/>
            <a:ext cx="7046913" cy="3998913"/>
          </a:xfrm>
        </p:spPr>
        <p:txBody>
          <a:bodyPr/>
          <a:lstStyle/>
          <a:p>
            <a:r>
              <a:rPr lang="en-US">
                <a:effectLst/>
                <a:cs typeface="Times New Roman" panose="02020603050405020304" charset="0"/>
              </a:rPr>
              <a:t>Information sharing</a:t>
            </a:r>
            <a:endParaRPr lang="en-US">
              <a:effectLst/>
              <a:cs typeface="Times New Roman" panose="02020603050405020304" charset="0"/>
            </a:endParaRPr>
          </a:p>
          <a:p>
            <a:pPr lvl="1">
              <a:buClr>
                <a:schemeClr val="tx1"/>
              </a:buClr>
              <a:buSzTx/>
              <a:buFontTx/>
              <a:buChar char="•"/>
            </a:pPr>
            <a:r>
              <a:rPr lang="en-US" sz="2400">
                <a:effectLst/>
                <a:cs typeface="Times New Roman" panose="02020603050405020304" charset="0"/>
              </a:rPr>
              <a:t>provides a mechanism for sharing information among multiple developers and between multiple tools, managers and controls multi-user access to data and locks/unlocks objects so that changes are not overlaid on one another.</a:t>
            </a:r>
            <a:endParaRPr lang="en-US" sz="2400">
              <a:effectLst/>
              <a:cs typeface="Times New Roman" panose="02020603050405020304" charset="0"/>
            </a:endParaRPr>
          </a:p>
          <a:p>
            <a:pPr>
              <a:buClr>
                <a:schemeClr val="tx1"/>
              </a:buClr>
              <a:buSzTx/>
              <a:buFontTx/>
              <a:buChar char="•"/>
            </a:pPr>
            <a:endParaRPr lang="en-US">
              <a:effectLst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7C674C-109B-48F9-8408-E367FB2A6410}" type="slidenum">
              <a:rPr lang="en-US"/>
            </a:fld>
            <a:endParaRPr lang="en-US"/>
          </a:p>
        </p:txBody>
      </p:sp>
      <p:sp>
        <p:nvSpPr>
          <p:cNvPr id="8755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41375" y="185738"/>
            <a:ext cx="7953375" cy="1016000"/>
          </a:xfrm>
        </p:spPr>
        <p:txBody>
          <a:bodyPr/>
          <a:lstStyle/>
          <a:p>
            <a:r>
              <a:rPr lang="en-US">
                <a:cs typeface="Times New Roman" panose="02020603050405020304" charset="0"/>
              </a:rPr>
              <a:t>CASE repository</a:t>
            </a:r>
            <a:r>
              <a:rPr lang="en-US"/>
              <a:t> Function…cont</a:t>
            </a:r>
            <a:endParaRPr lang="en-US"/>
          </a:p>
        </p:txBody>
      </p:sp>
      <p:sp>
        <p:nvSpPr>
          <p:cNvPr id="8755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236663" y="1422400"/>
            <a:ext cx="6884987" cy="3998913"/>
          </a:xfrm>
        </p:spPr>
        <p:txBody>
          <a:bodyPr/>
          <a:lstStyle/>
          <a:p>
            <a:pPr algn="just"/>
            <a:r>
              <a:rPr lang="en-US">
                <a:effectLst/>
                <a:cs typeface="Times New Roman" panose="02020603050405020304" charset="0"/>
              </a:rPr>
              <a:t>Data-tool integration</a:t>
            </a:r>
            <a:endParaRPr lang="en-US">
              <a:effectLst/>
              <a:cs typeface="Times New Roman" panose="02020603050405020304" charset="0"/>
            </a:endParaRPr>
          </a:p>
          <a:p>
            <a:pPr lvl="1" algn="just">
              <a:buClr>
                <a:schemeClr val="tx1"/>
              </a:buClr>
              <a:buSzTx/>
              <a:buFontTx/>
              <a:buChar char="•"/>
            </a:pPr>
            <a:r>
              <a:rPr lang="en-US" sz="2400">
                <a:effectLst/>
                <a:cs typeface="Times New Roman" panose="02020603050405020304" charset="0"/>
              </a:rPr>
              <a:t>establish a data models that can be accessed by all tools in the I-Case environment, control access to that data, and perform appropriate configuration management functions.</a:t>
            </a:r>
            <a:endParaRPr lang="en-US" sz="2400">
              <a:effectLst/>
              <a:cs typeface="Times New Roman" panose="02020603050405020304" charset="0"/>
            </a:endParaRPr>
          </a:p>
          <a:p>
            <a:endParaRPr lang="en-US">
              <a:effectLst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E7D668-E6F7-45B5-9251-5819C92132F0}" type="slidenum">
              <a:rPr lang="en-US"/>
            </a:fld>
            <a:endParaRPr lang="en-US"/>
          </a:p>
        </p:txBody>
      </p:sp>
      <p:sp>
        <p:nvSpPr>
          <p:cNvPr id="8765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42963" y="165100"/>
            <a:ext cx="8001000" cy="1016000"/>
          </a:xfrm>
        </p:spPr>
        <p:txBody>
          <a:bodyPr/>
          <a:lstStyle/>
          <a:p>
            <a:r>
              <a:rPr lang="en-US">
                <a:cs typeface="Times New Roman" panose="02020603050405020304" charset="0"/>
              </a:rPr>
              <a:t>CASE repository</a:t>
            </a:r>
            <a:r>
              <a:rPr lang="en-US"/>
              <a:t> Function…cont</a:t>
            </a:r>
            <a:endParaRPr lang="en-US"/>
          </a:p>
        </p:txBody>
      </p:sp>
      <p:sp>
        <p:nvSpPr>
          <p:cNvPr id="87654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639888" y="1422400"/>
            <a:ext cx="6281737" cy="3998913"/>
          </a:xfrm>
        </p:spPr>
        <p:txBody>
          <a:bodyPr/>
          <a:lstStyle/>
          <a:p>
            <a:pPr algn="just"/>
            <a:r>
              <a:rPr lang="en-US">
                <a:effectLst/>
                <a:cs typeface="Times New Roman" panose="02020603050405020304" charset="0"/>
              </a:rPr>
              <a:t>Data Integration</a:t>
            </a:r>
            <a:endParaRPr lang="en-US">
              <a:effectLst/>
              <a:cs typeface="Times New Roman" panose="02020603050405020304" charset="0"/>
            </a:endParaRPr>
          </a:p>
          <a:p>
            <a:pPr lvl="1" algn="just">
              <a:buClr>
                <a:schemeClr val="tx1"/>
              </a:buClr>
              <a:buSzTx/>
              <a:buFontTx/>
              <a:buChar char="•"/>
            </a:pPr>
            <a:r>
              <a:rPr lang="en-US" sz="2400">
                <a:effectLst/>
                <a:cs typeface="Times New Roman" panose="02020603050405020304" charset="0"/>
              </a:rPr>
              <a:t>the database management system relates data objects so that other function can be achieved.</a:t>
            </a: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D5E76F-5DDE-45AD-9BF4-888B81D2398F}" type="slidenum">
              <a:rPr lang="en-US"/>
            </a:fld>
            <a:endParaRPr lang="en-US"/>
          </a:p>
        </p:txBody>
      </p:sp>
      <p:sp>
        <p:nvSpPr>
          <p:cNvPr id="8775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15975" y="227013"/>
            <a:ext cx="7953375" cy="1016000"/>
          </a:xfrm>
        </p:spPr>
        <p:txBody>
          <a:bodyPr/>
          <a:lstStyle/>
          <a:p>
            <a:r>
              <a:rPr lang="en-US">
                <a:cs typeface="Times New Roman" panose="02020603050405020304" charset="0"/>
              </a:rPr>
              <a:t>CASE repository</a:t>
            </a:r>
            <a:r>
              <a:rPr lang="en-US"/>
              <a:t> Function…cont</a:t>
            </a:r>
            <a:endParaRPr lang="en-US"/>
          </a:p>
        </p:txBody>
      </p:sp>
      <p:sp>
        <p:nvSpPr>
          <p:cNvPr id="87757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398588" y="1422400"/>
            <a:ext cx="6696075" cy="3998913"/>
          </a:xfrm>
        </p:spPr>
        <p:txBody>
          <a:bodyPr/>
          <a:lstStyle/>
          <a:p>
            <a:pPr algn="just"/>
            <a:r>
              <a:rPr lang="en-US">
                <a:effectLst/>
                <a:cs typeface="Times New Roman" panose="02020603050405020304" charset="0"/>
              </a:rPr>
              <a:t>Methodology enforcement</a:t>
            </a:r>
            <a:endParaRPr lang="en-US">
              <a:effectLst/>
              <a:cs typeface="Times New Roman" panose="02020603050405020304" charset="0"/>
            </a:endParaRPr>
          </a:p>
          <a:p>
            <a:pPr lvl="1" algn="just">
              <a:buClr>
                <a:schemeClr val="tx1"/>
              </a:buClr>
              <a:buSzTx/>
              <a:buFontTx/>
              <a:buChar char="•"/>
            </a:pPr>
            <a:r>
              <a:rPr lang="en-US" sz="2400">
                <a:effectLst/>
                <a:cs typeface="Times New Roman" panose="02020603050405020304" charset="0"/>
              </a:rPr>
              <a:t>the ERD model of data stored in the repository can imply a specific paradigm for SE at a minimum , the relationships and objects define a set of steps that must be conducted to build the contents of the repository.</a:t>
            </a:r>
            <a:endParaRPr lang="en-US" sz="2400">
              <a:effectLst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>
              <a:effectLst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D363A9-9E04-43E9-B0CA-3E8E2DDA35BB}" type="slidenum">
              <a:rPr lang="en-US"/>
            </a:fld>
            <a:endParaRPr lang="en-US"/>
          </a:p>
        </p:txBody>
      </p:sp>
      <p:sp>
        <p:nvSpPr>
          <p:cNvPr id="8785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41375" y="225425"/>
            <a:ext cx="7953375" cy="1016000"/>
          </a:xfrm>
        </p:spPr>
        <p:txBody>
          <a:bodyPr/>
          <a:lstStyle/>
          <a:p>
            <a:r>
              <a:rPr lang="en-US">
                <a:cs typeface="Times New Roman" panose="02020603050405020304" charset="0"/>
              </a:rPr>
              <a:t>CASE repository</a:t>
            </a:r>
            <a:r>
              <a:rPr lang="en-US"/>
              <a:t> Function…cont</a:t>
            </a:r>
            <a:endParaRPr lang="en-US"/>
          </a:p>
        </p:txBody>
      </p:sp>
      <p:sp>
        <p:nvSpPr>
          <p:cNvPr id="8785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222375" y="1490663"/>
            <a:ext cx="6672263" cy="3930650"/>
          </a:xfrm>
        </p:spPr>
        <p:txBody>
          <a:bodyPr/>
          <a:lstStyle/>
          <a:p>
            <a:pPr algn="just"/>
            <a:r>
              <a:rPr lang="en-US">
                <a:effectLst/>
                <a:cs typeface="Times New Roman" panose="02020603050405020304" charset="0"/>
              </a:rPr>
              <a:t>Document standardization</a:t>
            </a:r>
            <a:endParaRPr lang="en-US">
              <a:effectLst/>
              <a:cs typeface="Times New Roman" panose="02020603050405020304" charset="0"/>
            </a:endParaRPr>
          </a:p>
          <a:p>
            <a:pPr lvl="1" algn="just">
              <a:buClr>
                <a:schemeClr val="tx1"/>
              </a:buClr>
              <a:buSzTx/>
              <a:buFontTx/>
              <a:buChar char="•"/>
            </a:pPr>
            <a:r>
              <a:rPr lang="en-US" sz="2400">
                <a:effectLst/>
                <a:cs typeface="Times New Roman" panose="02020603050405020304" charset="0"/>
              </a:rPr>
              <a:t>the definition of objects in the database leads directly to a standard approach for the creation of SE documents.</a:t>
            </a:r>
            <a:r>
              <a:rPr lang="en-US" sz="2400">
                <a:effectLst/>
              </a:rPr>
              <a:t> </a:t>
            </a:r>
            <a:endParaRPr lang="en-US" sz="2400">
              <a:effectLst/>
            </a:endParaRPr>
          </a:p>
          <a:p>
            <a:pPr algn="just"/>
            <a:endParaRPr lang="en-US">
              <a:effectLst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courseware materials are to be used in conjunction with </a:t>
            </a:r>
            <a:r>
              <a:rPr lang="en-US" i="1"/>
              <a:t>Software Engineering: A Practitioner’s Approach,</a:t>
            </a:r>
            <a:r>
              <a:rPr lang="en-US"/>
              <a:t> 6/e and are provided with permission by R.S. Pressman &amp; Associates, Inc., copyright © 1996, 2001, 2005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AF8E7D-D02A-4B53-8482-C798B6AC6E36}" type="slidenum">
              <a:rPr lang="en-US"/>
            </a:fld>
            <a:endParaRPr lang="en-US"/>
          </a:p>
        </p:txBody>
      </p:sp>
      <p:sp>
        <p:nvSpPr>
          <p:cNvPr id="8806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ffectLst/>
                <a:cs typeface="Times New Roman" panose="02020603050405020304" charset="0"/>
              </a:rPr>
              <a:t>References </a:t>
            </a:r>
            <a:endParaRPr lang="en-US">
              <a:effectLst/>
              <a:cs typeface="Times New Roman" panose="02020603050405020304" charset="0"/>
            </a:endParaRPr>
          </a:p>
        </p:txBody>
      </p:sp>
      <p:sp>
        <p:nvSpPr>
          <p:cNvPr id="88064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endParaRPr lang="en-US">
              <a:cs typeface="Times New Roman" panose="02020603050405020304" charset="0"/>
            </a:endParaRPr>
          </a:p>
          <a:p>
            <a:pPr algn="just"/>
            <a:r>
              <a:rPr lang="en-US"/>
              <a:t>Pressman, R. (2003). Software Engineering: A Practitioner's Approach.  6th &amp; 5th edition. New York: McGraw-Hill.</a:t>
            </a:r>
            <a:endParaRPr lang="en-US"/>
          </a:p>
          <a:p>
            <a:pPr algn="just"/>
            <a:r>
              <a:rPr lang="en-US"/>
              <a:t> Somerville I. (2001). Software Engineering.  6th edition. Addison Wesley </a:t>
            </a:r>
            <a:endParaRPr lang="en-US"/>
          </a:p>
          <a:p>
            <a:endParaRPr lang="en-US"/>
          </a:p>
          <a:p>
            <a:pPr algn="ctr">
              <a:buFont typeface="Wingdings" panose="05000000000000000000" pitchFamily="2" charset="2"/>
              <a:buNone/>
            </a:pPr>
            <a:r>
              <a:rPr lang="en-US"/>
              <a:t>~The End ~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">
  <a:themeElements>
    <a:clrScheme name="Stream 6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Palatino"/>
        <a:ea typeface=""/>
        <a:cs typeface=""/>
      </a:majorFont>
      <a:minorFont>
        <a:latin typeface="Palatin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Stream 1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D80000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E9AA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362626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AEACAC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49411F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B1B0AB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5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003300"/>
        </a:accent1>
        <a:accent2>
          <a:srgbClr val="33CC33"/>
        </a:accent2>
        <a:accent3>
          <a:srgbClr val="B1C8AA"/>
        </a:accent3>
        <a:accent4>
          <a:srgbClr val="DADADA"/>
        </a:accent4>
        <a:accent5>
          <a:srgbClr val="AAADAA"/>
        </a:accent5>
        <a:accent6>
          <a:srgbClr val="2DB92D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2E2E46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ADADB0"/>
        </a:accent5>
        <a:accent6>
          <a:srgbClr val="5D8BBA"/>
        </a:accent6>
        <a:hlink>
          <a:srgbClr val="99CC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8011"/>
      </a:dk2>
      <a:lt2>
        <a:srgbClr val="DD0806"/>
      </a:lt2>
      <a:accent1>
        <a:srgbClr val="0000D4"/>
      </a:accent1>
      <a:accent2>
        <a:srgbClr val="02ABEA"/>
      </a:accent2>
      <a:accent3>
        <a:srgbClr val="FFFFFF"/>
      </a:accent3>
      <a:accent4>
        <a:srgbClr val="000000"/>
      </a:accent4>
      <a:accent5>
        <a:srgbClr val="AAAAE6"/>
      </a:accent5>
      <a:accent6>
        <a:srgbClr val="029BD4"/>
      </a:accent6>
      <a:hlink>
        <a:srgbClr val="F20884"/>
      </a:hlink>
      <a:folHlink>
        <a:srgbClr val="FCF30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8011"/>
      </a:dk2>
      <a:lt2>
        <a:srgbClr val="DD0806"/>
      </a:lt2>
      <a:accent1>
        <a:srgbClr val="0000D4"/>
      </a:accent1>
      <a:accent2>
        <a:srgbClr val="02ABEA"/>
      </a:accent2>
      <a:accent3>
        <a:srgbClr val="FFFFFF"/>
      </a:accent3>
      <a:accent4>
        <a:srgbClr val="000000"/>
      </a:accent4>
      <a:accent5>
        <a:srgbClr val="AAAAE6"/>
      </a:accent5>
      <a:accent6>
        <a:srgbClr val="029BD4"/>
      </a:accent6>
      <a:hlink>
        <a:srgbClr val="F20884"/>
      </a:hlink>
      <a:folHlink>
        <a:srgbClr val="FCF30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X:Templates:Presentations:Designs:Stream</Template>
  <TotalTime>0</TotalTime>
  <Words>11640</Words>
  <Application>WPS Presentation</Application>
  <PresentationFormat>Custom</PresentationFormat>
  <Paragraphs>378</Paragraphs>
  <Slides>25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SimSun</vt:lpstr>
      <vt:lpstr>Wingdings</vt:lpstr>
      <vt:lpstr>Helvetica</vt:lpstr>
      <vt:lpstr>Avant Garde</vt:lpstr>
      <vt:lpstr>Segoe Print</vt:lpstr>
      <vt:lpstr>Palatino</vt:lpstr>
      <vt:lpstr>Palatino Linotype</vt:lpstr>
      <vt:lpstr>Times New Roman</vt:lpstr>
      <vt:lpstr>Tahoma</vt:lpstr>
      <vt:lpstr>Symbol</vt:lpstr>
      <vt:lpstr>Microsoft YaHei</vt:lpstr>
      <vt:lpstr>Arial Unicode MS</vt:lpstr>
      <vt:lpstr>Stream</vt:lpstr>
      <vt:lpstr>MS_ClipArt_Gallery.5</vt:lpstr>
      <vt:lpstr>     Software Engineering: A Practitioner’s Approach, 5/e   Computer-Aided Software Engineering </vt:lpstr>
      <vt:lpstr>CASE</vt:lpstr>
      <vt:lpstr> Learning Objectives</vt:lpstr>
      <vt:lpstr>Introduction </vt:lpstr>
      <vt:lpstr>CASE building blocks </vt:lpstr>
      <vt:lpstr>CASE building blocks…cont.</vt:lpstr>
      <vt:lpstr>CASE building blocks…cont.</vt:lpstr>
      <vt:lpstr>Integration options…cont</vt:lpstr>
      <vt:lpstr>Integration options…cont</vt:lpstr>
      <vt:lpstr>Integration options…cont</vt:lpstr>
      <vt:lpstr>Taxonomy of CASE tools </vt:lpstr>
      <vt:lpstr>A Taxonomy of CASE Tools</vt:lpstr>
      <vt:lpstr>Integrated CASE (I-CASE) environments </vt:lpstr>
      <vt:lpstr>Benefits of I-CASE </vt:lpstr>
      <vt:lpstr>Challenges of I-CASE </vt:lpstr>
      <vt:lpstr>Integration Architecture </vt:lpstr>
      <vt:lpstr>CASE repository </vt:lpstr>
      <vt:lpstr>  CASE repository Function</vt:lpstr>
      <vt:lpstr>CASE repository Function…cont</vt:lpstr>
      <vt:lpstr>CASE repository Function…cont</vt:lpstr>
      <vt:lpstr>CASE repository Function…cont</vt:lpstr>
      <vt:lpstr>CASE repository Function…cont</vt:lpstr>
      <vt:lpstr>CASE repository Function…cont</vt:lpstr>
      <vt:lpstr>CASE repository Function…cont</vt:lpstr>
      <vt:lpstr>References </vt:lpstr>
    </vt:vector>
  </TitlesOfParts>
  <Company>RSP&amp;A,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Transparency Masters for Software Engineering: A Practitioner's Approach, 4/e</dc:title>
  <dc:creator>Roger Pressman</dc:creator>
  <cp:lastModifiedBy>s17128</cp:lastModifiedBy>
  <cp:revision>159</cp:revision>
  <dcterms:created xsi:type="dcterms:W3CDTF">2000-03-07T00:57:00Z</dcterms:created>
  <dcterms:modified xsi:type="dcterms:W3CDTF">2021-10-20T17:41:05Z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6ADA8E447CAB46FC8D02E1E3BEBF117F</vt:lpwstr>
  </property>
  <property fmtid="{D5CDD505-2E9C-101B-9397-08002B2CF9AE}" pid="3" name="KSOProductBuildVer">
    <vt:lpwstr>1033-11.2.0.10323</vt:lpwstr>
  </property>
</Properties>
</file>