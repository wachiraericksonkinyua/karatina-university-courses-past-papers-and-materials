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7010400" cy="9296400"/>
  <p:defaultTextStyle>
    <a:defPPr>
      <a:defRPr lang="en-US"/>
    </a:defPPr>
    <a:lvl1pPr algn="l" defTabSz="457200" rtl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1pPr>
    <a:lvl2pPr marL="228600" indent="228600" algn="l" defTabSz="457200" rtl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2pPr>
    <a:lvl3pPr marL="457200" indent="457200" algn="l" defTabSz="457200" rtl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3pPr>
    <a:lvl4pPr marL="685800" indent="685800" algn="l" defTabSz="457200" rtl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4pPr>
    <a:lvl5pPr marL="914400" indent="914400" algn="l" defTabSz="457200" rtl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Helvetica" pitchFamily="34" charset="0"/>
        <a:ea typeface="Helvetica" pitchFamily="34" charset="0"/>
        <a:cs typeface="Helvetica" pitchFamily="34" charset="0"/>
        <a:sym typeface="Helvetica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76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6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7DC82-20FB-48F4-93EE-19C303EBA087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D32A4-283D-41BF-B91F-5C997E1E26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12700" cap="rnd">
            <a:noFill/>
            <a:round/>
            <a:headEnd/>
            <a:tailEnd/>
          </a:ln>
          <a:effectLst/>
        </p:spPr>
      </p:sp>
      <p:sp>
        <p:nvSpPr>
          <p:cNvPr id="2050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en-US" altLang="en-US" noProof="0" smtClean="0">
                <a:sym typeface="Noteworthy Bold" charset="0"/>
              </a:rPr>
              <a:t>Second level</a:t>
            </a:r>
          </a:p>
          <a:p>
            <a:pPr lvl="2"/>
            <a:r>
              <a:rPr lang="en-US" altLang="en-US" noProof="0" smtClean="0">
                <a:sym typeface="Noteworthy Bold" charset="0"/>
              </a:rPr>
              <a:t>Third level</a:t>
            </a:r>
          </a:p>
          <a:p>
            <a:pPr lvl="3"/>
            <a:r>
              <a:rPr lang="en-US" altLang="en-US" noProof="0" smtClean="0">
                <a:sym typeface="Noteworthy Bold" charset="0"/>
              </a:rPr>
              <a:t>Fourth level</a:t>
            </a:r>
          </a:p>
          <a:p>
            <a:pPr lvl="4"/>
            <a:r>
              <a:rPr lang="en-US" altLang="en-US" noProof="0" smtClean="0">
                <a:sym typeface="Noteworthy Bold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2286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4572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6858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9144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D687D-D01E-42BC-A85E-345088F500FD}" type="datetimeFigureOut">
              <a:rPr lang="en-US" smtClean="0"/>
              <a:t>2/12/2014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D8D3A-39E8-4D36-B515-81C6731968B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912007E3-18B0-4C80-ACFF-FA0189334AC1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</a:t>
            </a:fld>
            <a:endParaRPr lang="en-US" altLang="en-US"/>
          </a:p>
        </p:txBody>
      </p:sp>
      <p:sp>
        <p:nvSpPr>
          <p:cNvPr id="2051" name="Rectangle 2"/>
          <p:cNvSpPr>
            <a:spLocks noGrp="1"/>
          </p:cNvSpPr>
          <p:nvPr>
            <p:ph type="title"/>
          </p:nvPr>
        </p:nvSpPr>
        <p:spPr bwMode="auto">
          <a:xfrm>
            <a:off x="685800" y="2130425"/>
            <a:ext cx="7772400" cy="1470025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3200" dirty="0" smtClean="0">
                <a:cs typeface="Times New Roman" pitchFamily="18" charset="0"/>
                <a:sym typeface="Times New Roman" pitchFamily="18" charset="0"/>
              </a:rPr>
              <a:t>Software Engineering Principles</a:t>
            </a:r>
            <a:endParaRPr lang="en-US" altLang="en-US" sz="3200" dirty="0" smtClean="0"/>
          </a:p>
        </p:txBody>
      </p:sp>
      <p:sp>
        <p:nvSpPr>
          <p:cNvPr id="2052" name="Rectangle 3"/>
          <p:cNvSpPr>
            <a:spLocks noGrp="1"/>
          </p:cNvSpPr>
          <p:nvPr>
            <p:ph idx="1"/>
          </p:nvPr>
        </p:nvSpPr>
        <p:spPr bwMode="auto">
          <a:xfrm>
            <a:off x="1371600" y="3886200"/>
            <a:ext cx="6400800" cy="1752600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algn="ctr" eaLnBrk="1">
              <a:lnSpc>
                <a:spcPct val="100000"/>
              </a:lnSpc>
              <a:spcBef>
                <a:spcPts val="70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CASE Tools and their Effect on</a:t>
            </a:r>
          </a:p>
          <a:p>
            <a:pPr algn="ctr" eaLnBrk="1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altLang="en-US" dirty="0" smtClean="0">
                <a:solidFill>
                  <a:srgbClr val="000000"/>
                </a:solidFill>
              </a:rPr>
              <a:t>Software Quality</a:t>
            </a:r>
            <a:endParaRPr lang="en-US" altLang="en-US" dirty="0" smtClean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3BD1052C-E870-4A61-A929-9E2FC08680B2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2</a:t>
            </a:fld>
            <a:endParaRPr lang="en-US" altLang="en-US"/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 bwMode="auto">
          <a:xfrm>
            <a:off x="685800" y="42863"/>
            <a:ext cx="7772400" cy="1144587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Introduction</a:t>
            </a:r>
            <a:endParaRPr lang="en-US" altLang="en-US" smtClean="0"/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 bwMode="auto">
          <a:xfrm>
            <a:off x="685800" y="1125538"/>
            <a:ext cx="7772400" cy="4970462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342900" indent="-342900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There are lots of automated tools to assist in software engineering.</a:t>
            </a:r>
          </a:p>
          <a:p>
            <a:pPr marL="342900" indent="-342900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marL="342900" indent="-342900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Their purpose is to make the work of software development and maintenance easier and more reliable.</a:t>
            </a:r>
          </a:p>
          <a:p>
            <a:pPr marL="342900" indent="-342900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marL="342900" indent="-342900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CASE is Computer Aided Software Engineering.</a:t>
            </a:r>
            <a:endParaRPr lang="en-US" altLang="en-US" dirty="0" smtClean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F8E984BF-DF73-4D0E-BA38-4C168B0F0F08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3</a:t>
            </a:fld>
            <a:endParaRPr lang="en-US" altLang="en-US"/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 bwMode="auto">
          <a:xfrm>
            <a:off x="685800" y="333375"/>
            <a:ext cx="7772400" cy="792163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Introduction</a:t>
            </a:r>
            <a:endParaRPr lang="en-US" altLang="en-US" smtClean="0"/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 bwMode="auto">
          <a:xfrm>
            <a:off x="685800" y="1196975"/>
            <a:ext cx="7772400" cy="5184775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20675" indent="-320675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800" smtClean="0">
                <a:solidFill>
                  <a:srgbClr val="000000"/>
                </a:solidFill>
              </a:rPr>
              <a:t>Case tools offer us (from book)</a:t>
            </a:r>
          </a:p>
          <a:p>
            <a:pPr marL="701675" lvl="1" indent="-244475" eaLnBrk="1">
              <a:lnSpc>
                <a:spcPct val="100000"/>
              </a:lnSpc>
              <a:spcBef>
                <a:spcPts val="500"/>
              </a:spcBef>
              <a:buFontTx/>
              <a:buChar char="–"/>
            </a:pPr>
            <a:r>
              <a:rPr lang="en-US" altLang="en-US" sz="2400" smtClean="0">
                <a:solidFill>
                  <a:srgbClr val="000000"/>
                </a:solidFill>
              </a:rPr>
              <a:t>Substantial savings in resources required for software development</a:t>
            </a:r>
          </a:p>
          <a:p>
            <a:pPr marL="701675" lvl="1" indent="-244475" eaLnBrk="1">
              <a:lnSpc>
                <a:spcPct val="100000"/>
              </a:lnSpc>
              <a:spcBef>
                <a:spcPts val="500"/>
              </a:spcBef>
              <a:buFontTx/>
              <a:buChar char="–"/>
            </a:pPr>
            <a:r>
              <a:rPr lang="en-US" altLang="en-US" sz="2400" smtClean="0">
                <a:solidFill>
                  <a:srgbClr val="000000"/>
                </a:solidFill>
              </a:rPr>
              <a:t>Shorter time to market</a:t>
            </a:r>
          </a:p>
          <a:p>
            <a:pPr marL="701675" lvl="1" indent="-244475" eaLnBrk="1">
              <a:lnSpc>
                <a:spcPct val="100000"/>
              </a:lnSpc>
              <a:spcBef>
                <a:spcPts val="500"/>
              </a:spcBef>
              <a:buFontTx/>
              <a:buChar char="–"/>
            </a:pPr>
            <a:r>
              <a:rPr lang="en-US" altLang="en-US" sz="2400" smtClean="0">
                <a:solidFill>
                  <a:srgbClr val="000000"/>
                </a:solidFill>
              </a:rPr>
              <a:t>Substantial savings in resources for maintenance</a:t>
            </a:r>
          </a:p>
          <a:p>
            <a:pPr marL="701675" lvl="1" indent="-244475" eaLnBrk="1">
              <a:lnSpc>
                <a:spcPct val="100000"/>
              </a:lnSpc>
              <a:spcBef>
                <a:spcPts val="500"/>
              </a:spcBef>
              <a:buFontTx/>
              <a:buChar char="–"/>
            </a:pPr>
            <a:r>
              <a:rPr lang="en-US" altLang="en-US" sz="2400" smtClean="0">
                <a:solidFill>
                  <a:srgbClr val="000000"/>
                </a:solidFill>
              </a:rPr>
              <a:t>Greater reuse due to increased standardization of the software systems, and</a:t>
            </a:r>
          </a:p>
          <a:p>
            <a:pPr marL="701675" lvl="1" indent="-244475" eaLnBrk="1">
              <a:lnSpc>
                <a:spcPct val="100000"/>
              </a:lnSpc>
              <a:spcBef>
                <a:spcPts val="500"/>
              </a:spcBef>
              <a:buFontTx/>
              <a:buChar char="–"/>
            </a:pPr>
            <a:r>
              <a:rPr lang="en-US" altLang="en-US" sz="2400" smtClean="0">
                <a:solidFill>
                  <a:srgbClr val="000000"/>
                </a:solidFill>
              </a:rPr>
              <a:t>Reduced generation of defects coupled with increased ‘interactive’ identification of defects during development</a:t>
            </a:r>
          </a:p>
          <a:p>
            <a:pPr marL="320675" indent="-320675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r>
              <a:rPr lang="en-US" altLang="en-US" smtClean="0">
                <a:solidFill>
                  <a:srgbClr val="000000"/>
                </a:solidFill>
              </a:rPr>
              <a:t>It is the last one that is most concerned with SQA.</a:t>
            </a:r>
            <a:endParaRPr lang="en-US" altLang="en-US" smtClean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2628C604-0922-4755-88B0-C9F5D6FEE439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4</a:t>
            </a:fld>
            <a:endParaRPr lang="en-US" altLang="en-US"/>
          </a:p>
        </p:txBody>
      </p:sp>
      <p:grpSp>
        <p:nvGrpSpPr>
          <p:cNvPr id="5123" name="Group 2"/>
          <p:cNvGrpSpPr>
            <a:grpSpLocks/>
          </p:cNvGrpSpPr>
          <p:nvPr/>
        </p:nvGrpSpPr>
        <p:grpSpPr bwMode="auto">
          <a:xfrm>
            <a:off x="838200" y="1196975"/>
            <a:ext cx="7467600" cy="4968875"/>
            <a:chOff x="0" y="0"/>
            <a:chExt cx="588" cy="392"/>
          </a:xfrm>
        </p:grpSpPr>
        <p:sp>
          <p:nvSpPr>
            <p:cNvPr id="5125" name="AutoShape 3"/>
            <p:cNvSpPr>
              <a:spLocks/>
            </p:cNvSpPr>
            <p:nvPr/>
          </p:nvSpPr>
          <p:spPr bwMode="auto">
            <a:xfrm>
              <a:off x="0" y="0"/>
              <a:ext cx="588" cy="392"/>
            </a:xfrm>
            <a:custGeom>
              <a:avLst/>
              <a:gdLst>
                <a:gd name="T0" fmla="*/ 294 w 21600"/>
                <a:gd name="T1" fmla="*/ 196 h 21600"/>
                <a:gd name="T2" fmla="*/ 294 w 21600"/>
                <a:gd name="T3" fmla="*/ 196 h 21600"/>
                <a:gd name="T4" fmla="*/ 294 w 21600"/>
                <a:gd name="T5" fmla="*/ 196 h 21600"/>
                <a:gd name="T6" fmla="*/ 294 w 21600"/>
                <a:gd name="T7" fmla="*/ 196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76200" cap="flat" cmpd="sng">
              <a:solidFill>
                <a:srgbClr val="9900FF"/>
              </a:solidFill>
              <a:prstDash val="solid"/>
              <a:round/>
              <a:headEnd/>
              <a:tailEnd/>
            </a:ln>
            <a:effectLst/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6" name="AutoShape 4"/>
            <p:cNvSpPr>
              <a:spLocks/>
            </p:cNvSpPr>
            <p:nvPr/>
          </p:nvSpPr>
          <p:spPr bwMode="auto">
            <a:xfrm>
              <a:off x="0" y="0"/>
              <a:ext cx="588" cy="280"/>
            </a:xfrm>
            <a:custGeom>
              <a:avLst/>
              <a:gdLst>
                <a:gd name="T0" fmla="*/ 294 w 21600"/>
                <a:gd name="T1" fmla="*/ 140 h 21600"/>
                <a:gd name="T2" fmla="*/ 294 w 21600"/>
                <a:gd name="T3" fmla="*/ 140 h 21600"/>
                <a:gd name="T4" fmla="*/ 294 w 21600"/>
                <a:gd name="T5" fmla="*/ 140 h 21600"/>
                <a:gd name="T6" fmla="*/ 294 w 21600"/>
                <a:gd name="T7" fmla="*/ 14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noFill/>
              <a:miter lim="0"/>
              <a:headEnd/>
              <a:tailEnd/>
            </a:ln>
            <a:effectLst/>
          </p:spPr>
          <p:txBody>
            <a:bodyPr lIns="50800" tIns="50800" rIns="50800" bIns="50800"/>
            <a:lstStyle/>
            <a:p>
              <a:pPr marL="812800" indent="-812800" defTabSz="914400">
                <a:lnSpc>
                  <a:spcPct val="85000"/>
                </a:lnSpc>
                <a:spcBef>
                  <a:spcPts val="1500"/>
                </a:spcBef>
                <a:buClr>
                  <a:srgbClr val="FF0066"/>
                </a:buClr>
                <a:buSzPct val="100000"/>
                <a:buFontTx/>
                <a:buChar char="•"/>
              </a:pPr>
              <a:r>
                <a:rPr lang="en-US" altLang="en-US" sz="3200" dirty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What is a CASE tool? </a:t>
              </a:r>
            </a:p>
            <a:p>
              <a:pPr marL="812800" indent="-812800" defTabSz="914400">
                <a:lnSpc>
                  <a:spcPct val="85000"/>
                </a:lnSpc>
                <a:spcBef>
                  <a:spcPts val="1500"/>
                </a:spcBef>
                <a:buClr>
                  <a:srgbClr val="6600CC"/>
                </a:buClr>
                <a:buSzPct val="100000"/>
                <a:buFontTx/>
                <a:buChar char="•"/>
              </a:pPr>
              <a:r>
                <a:rPr lang="en-US" altLang="en-US" sz="3200" dirty="0">
                  <a:solidFill>
                    <a:srgbClr val="6600CC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The contribution of CASE tools to software product quality</a:t>
              </a:r>
              <a:r>
                <a:rPr lang="en-US" altLang="en-US" sz="3200" dirty="0">
                  <a:solidFill>
                    <a:srgbClr val="CC66FF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</a:t>
              </a:r>
            </a:p>
            <a:p>
              <a:pPr marL="812800" indent="-812800" defTabSz="914400">
                <a:lnSpc>
                  <a:spcPct val="85000"/>
                </a:lnSpc>
                <a:spcBef>
                  <a:spcPts val="1500"/>
                </a:spcBef>
                <a:buClr>
                  <a:srgbClr val="CC6600"/>
                </a:buClr>
                <a:buSzPct val="100000"/>
                <a:buFontTx/>
                <a:buChar char="•"/>
              </a:pPr>
              <a:r>
                <a:rPr lang="en-US" altLang="en-US" sz="3200" dirty="0">
                  <a:solidFill>
                    <a:srgbClr val="CC6600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The contribution of CASE tools to software maintenance quality </a:t>
              </a:r>
            </a:p>
            <a:p>
              <a:pPr marL="812800" indent="-812800" defTabSz="914400">
                <a:lnSpc>
                  <a:spcPct val="85000"/>
                </a:lnSpc>
                <a:spcBef>
                  <a:spcPts val="1500"/>
                </a:spcBef>
                <a:buClr>
                  <a:srgbClr val="339966"/>
                </a:buClr>
                <a:buSzPct val="100000"/>
                <a:buFontTx/>
                <a:buChar char="•"/>
              </a:pPr>
              <a:r>
                <a:rPr lang="en-US" altLang="en-US" sz="3200" dirty="0">
                  <a:solidFill>
                    <a:srgbClr val="339966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The contribution of CASE tools to improved project management    </a:t>
              </a:r>
              <a:endParaRPr lang="en-US" altLang="en-US" dirty="0"/>
            </a:p>
          </p:txBody>
        </p:sp>
      </p:grpSp>
      <p:sp>
        <p:nvSpPr>
          <p:cNvPr id="5124" name="AutoShape 5"/>
          <p:cNvSpPr>
            <a:spLocks/>
          </p:cNvSpPr>
          <p:nvPr/>
        </p:nvSpPr>
        <p:spPr bwMode="auto">
          <a:xfrm>
            <a:off x="1600200" y="203200"/>
            <a:ext cx="7467600" cy="711200"/>
          </a:xfrm>
          <a:custGeom>
            <a:avLst/>
            <a:gdLst>
              <a:gd name="T0" fmla="*/ 3733800 w 21600"/>
              <a:gd name="T1" fmla="*/ 355600 h 21600"/>
              <a:gd name="T2" fmla="*/ 3733800 w 21600"/>
              <a:gd name="T3" fmla="*/ 355600 h 21600"/>
              <a:gd name="T4" fmla="*/ 3733800 w 21600"/>
              <a:gd name="T5" fmla="*/ 355600 h 21600"/>
              <a:gd name="T6" fmla="*/ 3733800 w 21600"/>
              <a:gd name="T7" fmla="*/ 35560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/>
            <a:r>
              <a:rPr lang="en-US" altLang="en-US" sz="32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We will address CASE and its Contributions</a:t>
            </a:r>
            <a:endParaRPr lang="en-US" altLang="en-US" sz="320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44252E53-E5CF-488D-AC21-392384FA0D8D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5</a:t>
            </a:fld>
            <a:endParaRPr lang="en-US" altLang="en-US"/>
          </a:p>
        </p:txBody>
      </p:sp>
      <p:sp>
        <p:nvSpPr>
          <p:cNvPr id="6147" name="Rectangle 2"/>
          <p:cNvSpPr>
            <a:spLocks noGrp="1"/>
          </p:cNvSpPr>
          <p:nvPr>
            <p:ph idx="1"/>
          </p:nvPr>
        </p:nvSpPr>
        <p:spPr bwMode="auto">
          <a:xfrm>
            <a:off x="685800" y="2286000"/>
            <a:ext cx="7543800" cy="3581400"/>
          </a:xfrm>
          <a:solidFill>
            <a:srgbClr val="CCFFFF"/>
          </a:solidFill>
          <a:ln w="76200">
            <a:solidFill>
              <a:srgbClr val="9933FF"/>
            </a:solidFill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eaLnBrk="1">
              <a:lnSpc>
                <a:spcPct val="100000"/>
              </a:lnSpc>
              <a:spcBef>
                <a:spcPts val="800"/>
              </a:spcBef>
            </a:pPr>
            <a:r>
              <a:rPr lang="en-US" altLang="en-US" sz="3600" b="1" smtClean="0">
                <a:solidFill>
                  <a:srgbClr val="000000"/>
                </a:solidFill>
              </a:rPr>
              <a:t>CASE tools are computerized software development tools that support the </a:t>
            </a:r>
            <a:r>
              <a:rPr lang="en-US" altLang="en-US" sz="3600" b="1" u="sng" smtClean="0">
                <a:solidFill>
                  <a:srgbClr val="000000"/>
                </a:solidFill>
              </a:rPr>
              <a:t>developer</a:t>
            </a:r>
            <a:r>
              <a:rPr lang="en-US" altLang="en-US" sz="3600" b="1" smtClean="0">
                <a:solidFill>
                  <a:srgbClr val="000000"/>
                </a:solidFill>
              </a:rPr>
              <a:t> when performing one or more phases of the </a:t>
            </a:r>
            <a:r>
              <a:rPr lang="en-US" altLang="en-US" sz="3600" b="1" u="sng" smtClean="0">
                <a:solidFill>
                  <a:srgbClr val="000000"/>
                </a:solidFill>
              </a:rPr>
              <a:t>software life cycle and/or support software maintenance</a:t>
            </a:r>
            <a:r>
              <a:rPr lang="en-US" altLang="en-US" sz="3600" b="1" smtClean="0">
                <a:solidFill>
                  <a:srgbClr val="000000"/>
                </a:solidFill>
              </a:rPr>
              <a:t>. </a:t>
            </a:r>
            <a:endParaRPr lang="en-US" altLang="en-US" smtClean="0"/>
          </a:p>
        </p:txBody>
      </p:sp>
      <p:sp>
        <p:nvSpPr>
          <p:cNvPr id="6148" name="AutoShape 3"/>
          <p:cNvSpPr>
            <a:spLocks/>
          </p:cNvSpPr>
          <p:nvPr/>
        </p:nvSpPr>
        <p:spPr bwMode="auto">
          <a:xfrm>
            <a:off x="1004888" y="936625"/>
            <a:ext cx="6615112" cy="614363"/>
          </a:xfrm>
          <a:custGeom>
            <a:avLst/>
            <a:gdLst>
              <a:gd name="T0" fmla="*/ 3307556 w 21600"/>
              <a:gd name="T1" fmla="*/ 307777 h 21600"/>
              <a:gd name="T2" fmla="*/ 3307556 w 21600"/>
              <a:gd name="T3" fmla="*/ 307777 h 21600"/>
              <a:gd name="T4" fmla="*/ 3307556 w 21600"/>
              <a:gd name="T5" fmla="*/ 307777 h 21600"/>
              <a:gd name="T6" fmla="*/ 3307556 w 21600"/>
              <a:gd name="T7" fmla="*/ 30777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defTabSz="914400"/>
            <a:r>
              <a:rPr lang="en-US" altLang="en-US" sz="4000" b="1">
                <a:solidFill>
                  <a:schemeClr val="bg1"/>
                </a:solidFill>
              </a:rPr>
              <a:t>CASE Tools - Definition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D0AB35C8-0072-47BF-B12D-33833A10684B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6</a:t>
            </a:fld>
            <a:endParaRPr lang="en-US" altLang="en-US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 bwMode="auto">
          <a:xfrm>
            <a:off x="685800" y="-26988"/>
            <a:ext cx="7772400" cy="1143001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CASE Tools</a:t>
            </a:r>
            <a:endParaRPr lang="en-US" altLang="en-US" smtClean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 bwMode="auto">
          <a:xfrm>
            <a:off x="179388" y="969963"/>
            <a:ext cx="8785225" cy="4114800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252413" indent="-252413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100" smtClean="0">
                <a:solidFill>
                  <a:srgbClr val="000000"/>
                </a:solidFill>
              </a:rPr>
              <a:t>Must distinguish between ‘</a:t>
            </a:r>
            <a:r>
              <a:rPr lang="en-US" altLang="en-US" sz="2100" b="1" smtClean="0">
                <a:solidFill>
                  <a:srgbClr val="000000"/>
                </a:solidFill>
              </a:rPr>
              <a:t>classic</a:t>
            </a:r>
            <a:r>
              <a:rPr lang="en-US" altLang="en-US" sz="2100" smtClean="0">
                <a:solidFill>
                  <a:srgbClr val="000000"/>
                </a:solidFill>
              </a:rPr>
              <a:t>’ case tools and ‘</a:t>
            </a:r>
            <a:r>
              <a:rPr lang="en-US" altLang="en-US" sz="2100" b="1" smtClean="0">
                <a:solidFill>
                  <a:srgbClr val="000000"/>
                </a:solidFill>
              </a:rPr>
              <a:t>real</a:t>
            </a:r>
            <a:r>
              <a:rPr lang="en-US" altLang="en-US" sz="2100" smtClean="0">
                <a:solidFill>
                  <a:srgbClr val="000000"/>
                </a:solidFill>
              </a:rPr>
              <a:t>’ case tools.</a:t>
            </a:r>
          </a:p>
          <a:p>
            <a:pPr marL="252413" indent="-252413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endParaRPr lang="en-US" altLang="en-US" sz="2100" smtClean="0">
              <a:solidFill>
                <a:srgbClr val="000000"/>
              </a:solidFill>
            </a:endParaRPr>
          </a:p>
          <a:p>
            <a:pPr marL="252413" indent="-252413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100" b="1" smtClean="0">
                <a:solidFill>
                  <a:srgbClr val="000000"/>
                </a:solidFill>
              </a:rPr>
              <a:t>Classic CASE tools</a:t>
            </a:r>
            <a:r>
              <a:rPr lang="en-US" altLang="en-US" sz="2100" smtClean="0">
                <a:solidFill>
                  <a:srgbClr val="000000"/>
                </a:solidFill>
              </a:rPr>
              <a:t>:  Interactive debuggers, compilers, project progress control systems </a:t>
            </a:r>
          </a:p>
          <a:p>
            <a:pPr marL="252413" indent="-252413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endParaRPr lang="en-US" altLang="en-US" sz="2100" smtClean="0">
              <a:solidFill>
                <a:srgbClr val="000000"/>
              </a:solidFill>
            </a:endParaRPr>
          </a:p>
          <a:p>
            <a:pPr marL="252413" indent="-252413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r>
              <a:rPr lang="en-US" altLang="en-US" sz="2100" b="1" smtClean="0">
                <a:solidFill>
                  <a:srgbClr val="000000"/>
                </a:solidFill>
              </a:rPr>
              <a:t>Real Case tools: </a:t>
            </a:r>
            <a:r>
              <a:rPr lang="en-US" altLang="en-US" sz="2100" smtClean="0">
                <a:solidFill>
                  <a:srgbClr val="000000"/>
                </a:solidFill>
              </a:rPr>
              <a:t> support several phases of development</a:t>
            </a:r>
          </a:p>
          <a:p>
            <a:pPr marL="252413" indent="-252413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100" b="1" i="1" smtClean="0">
                <a:solidFill>
                  <a:srgbClr val="000000"/>
                </a:solidFill>
              </a:rPr>
              <a:t>Upper</a:t>
            </a:r>
            <a:r>
              <a:rPr lang="en-US" altLang="en-US" sz="2100" i="1" smtClean="0">
                <a:solidFill>
                  <a:srgbClr val="000000"/>
                </a:solidFill>
              </a:rPr>
              <a:t> </a:t>
            </a:r>
            <a:r>
              <a:rPr lang="en-US" altLang="en-US" sz="2100" smtClean="0">
                <a:solidFill>
                  <a:srgbClr val="000000"/>
                </a:solidFill>
              </a:rPr>
              <a:t>CASE tools support analysis and design.</a:t>
            </a:r>
          </a:p>
          <a:p>
            <a:pPr marL="252413" indent="-252413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100" b="1" i="1" smtClean="0">
                <a:solidFill>
                  <a:srgbClr val="000000"/>
                </a:solidFill>
              </a:rPr>
              <a:t>Lower</a:t>
            </a:r>
            <a:r>
              <a:rPr lang="en-US" altLang="en-US" sz="2100" i="1" smtClean="0">
                <a:solidFill>
                  <a:srgbClr val="000000"/>
                </a:solidFill>
              </a:rPr>
              <a:t> </a:t>
            </a:r>
            <a:r>
              <a:rPr lang="en-US" altLang="en-US" sz="2100" smtClean="0">
                <a:solidFill>
                  <a:srgbClr val="000000"/>
                </a:solidFill>
              </a:rPr>
              <a:t>CASE tools refer to the location in these phases in the Waterfall Model.</a:t>
            </a:r>
          </a:p>
          <a:p>
            <a:pPr marL="252413" indent="-252413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100" b="1" i="1" smtClean="0">
                <a:solidFill>
                  <a:srgbClr val="000000"/>
                </a:solidFill>
              </a:rPr>
              <a:t>Integrated</a:t>
            </a:r>
            <a:r>
              <a:rPr lang="en-US" altLang="en-US" sz="2100" i="1" smtClean="0">
                <a:solidFill>
                  <a:srgbClr val="000000"/>
                </a:solidFill>
              </a:rPr>
              <a:t> </a:t>
            </a:r>
            <a:r>
              <a:rPr lang="en-US" altLang="en-US" sz="2100" smtClean="0">
                <a:solidFill>
                  <a:srgbClr val="000000"/>
                </a:solidFill>
              </a:rPr>
              <a:t>CASE tools support analysis, design, and coding.</a:t>
            </a:r>
            <a:endParaRPr lang="en-US" altLang="en-US" smtClean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9E57D71B-F383-4940-B7BD-2B8106EE2038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7</a:t>
            </a:fld>
            <a:endParaRPr lang="en-US" altLang="en-US"/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 bwMode="auto">
          <a:xfrm>
            <a:off x="684213" y="0"/>
            <a:ext cx="7772400" cy="981075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CASE Tools</a:t>
            </a:r>
            <a:endParaRPr lang="en-US" altLang="en-US" smtClean="0"/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 bwMode="auto">
          <a:xfrm>
            <a:off x="323850" y="1125538"/>
            <a:ext cx="8496300" cy="41148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284163" indent="-284163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600" dirty="0" smtClean="0">
                <a:solidFill>
                  <a:srgbClr val="000000"/>
                </a:solidFill>
              </a:rPr>
              <a:t>The main component of real CASE tools is the </a:t>
            </a:r>
            <a:r>
              <a:rPr lang="en-US" altLang="en-US" sz="2600" b="1" u="sng" dirty="0" smtClean="0">
                <a:solidFill>
                  <a:srgbClr val="000000"/>
                </a:solidFill>
              </a:rPr>
              <a:t>repository</a:t>
            </a:r>
            <a:r>
              <a:rPr lang="en-US" altLang="en-US" sz="2600" dirty="0" smtClean="0">
                <a:solidFill>
                  <a:srgbClr val="000000"/>
                </a:solidFill>
              </a:rPr>
              <a:t>!</a:t>
            </a:r>
          </a:p>
          <a:p>
            <a:pPr marL="741363" lvl="1" indent="-284163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600" dirty="0" smtClean="0">
                <a:solidFill>
                  <a:srgbClr val="000000"/>
                </a:solidFill>
              </a:rPr>
              <a:t>Example:  Rational Team Concert (RTC)</a:t>
            </a:r>
          </a:p>
          <a:p>
            <a:pPr marL="284163" indent="-284163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600" dirty="0" smtClean="0">
                <a:solidFill>
                  <a:srgbClr val="000000"/>
                </a:solidFill>
              </a:rPr>
              <a:t>Repository stores all changes and info related to the project from development through maintenance.</a:t>
            </a:r>
          </a:p>
          <a:p>
            <a:pPr marL="284163" indent="-284163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600" dirty="0" smtClean="0">
                <a:solidFill>
                  <a:srgbClr val="000000"/>
                </a:solidFill>
              </a:rPr>
              <a:t>Maintenance:</a:t>
            </a:r>
          </a:p>
          <a:p>
            <a:pPr marL="688975" lvl="1" indent="-231775" eaLnBrk="1">
              <a:lnSpc>
                <a:spcPct val="100000"/>
              </a:lnSpc>
              <a:spcBef>
                <a:spcPts val="500"/>
              </a:spcBef>
              <a:buFontTx/>
              <a:buChar char="–"/>
              <a:defRPr/>
            </a:pPr>
            <a:r>
              <a:rPr lang="en-US" altLang="en-US" sz="2200" dirty="0" smtClean="0">
                <a:solidFill>
                  <a:srgbClr val="000000"/>
                </a:solidFill>
              </a:rPr>
              <a:t>Corrective</a:t>
            </a:r>
          </a:p>
          <a:p>
            <a:pPr marL="688975" lvl="1" indent="-231775" eaLnBrk="1">
              <a:lnSpc>
                <a:spcPct val="100000"/>
              </a:lnSpc>
              <a:spcBef>
                <a:spcPts val="500"/>
              </a:spcBef>
              <a:buFontTx/>
              <a:buChar char="–"/>
              <a:defRPr/>
            </a:pPr>
            <a:r>
              <a:rPr lang="en-US" altLang="en-US" sz="2200" dirty="0" smtClean="0">
                <a:solidFill>
                  <a:srgbClr val="000000"/>
                </a:solidFill>
              </a:rPr>
              <a:t>Adaptive</a:t>
            </a:r>
          </a:p>
          <a:p>
            <a:pPr marL="688975" lvl="1" indent="-231775" eaLnBrk="1">
              <a:lnSpc>
                <a:spcPct val="100000"/>
              </a:lnSpc>
              <a:spcBef>
                <a:spcPts val="500"/>
              </a:spcBef>
              <a:buFontTx/>
              <a:buChar char="–"/>
              <a:defRPr/>
            </a:pPr>
            <a:r>
              <a:rPr lang="en-US" altLang="en-US" sz="2200" dirty="0" smtClean="0">
                <a:solidFill>
                  <a:srgbClr val="000000"/>
                </a:solidFill>
              </a:rPr>
              <a:t>Functional improvements.</a:t>
            </a:r>
          </a:p>
          <a:p>
            <a:pPr marL="284163" indent="-284163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600" dirty="0" smtClean="0">
                <a:solidFill>
                  <a:srgbClr val="000000"/>
                </a:solidFill>
              </a:rPr>
              <a:t>There is a </a:t>
            </a:r>
            <a:r>
              <a:rPr lang="en-US" altLang="en-US" sz="2600" u="sng" dirty="0" smtClean="0">
                <a:solidFill>
                  <a:srgbClr val="000000"/>
                </a:solidFill>
              </a:rPr>
              <a:t>computerized management </a:t>
            </a:r>
            <a:r>
              <a:rPr lang="en-US" altLang="en-US" sz="2600" dirty="0" smtClean="0">
                <a:solidFill>
                  <a:srgbClr val="000000"/>
                </a:solidFill>
              </a:rPr>
              <a:t>of the repository!</a:t>
            </a:r>
          </a:p>
          <a:p>
            <a:pPr marL="284163" indent="-284163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600" dirty="0" smtClean="0">
                <a:solidFill>
                  <a:srgbClr val="000000"/>
                </a:solidFill>
              </a:rPr>
              <a:t>The repository is the </a:t>
            </a:r>
            <a:r>
              <a:rPr lang="en-US" altLang="en-US" sz="2600" b="1" dirty="0" smtClean="0">
                <a:solidFill>
                  <a:srgbClr val="000000"/>
                </a:solidFill>
              </a:rPr>
              <a:t>glue</a:t>
            </a:r>
            <a:r>
              <a:rPr lang="en-US" altLang="en-US" sz="2600" dirty="0" smtClean="0">
                <a:solidFill>
                  <a:srgbClr val="000000"/>
                </a:solidFill>
              </a:rPr>
              <a:t> holding all activities together.</a:t>
            </a:r>
            <a:endParaRPr lang="en-US" altLang="en-US" dirty="0" smtClean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36C589E9-FB25-45A7-AF20-A71AB097A396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8</a:t>
            </a:fld>
            <a:endParaRPr lang="en-US" altLang="en-US"/>
          </a:p>
        </p:txBody>
      </p:sp>
      <p:pic>
        <p:nvPicPr>
          <p:cNvPr id="9219" name="Picture 2" descr="oht13.pdf"/>
          <p:cNvPicPr>
            <a:picLocks noChangeAspect="1"/>
          </p:cNvPicPr>
          <p:nvPr/>
        </p:nvPicPr>
        <p:blipFill>
          <a:blip r:embed="rId3"/>
          <a:srcRect l="2692" t="2106" r="4601" b="7732"/>
          <a:stretch>
            <a:fillRect/>
          </a:stretch>
        </p:blipFill>
        <p:spPr bwMode="auto">
          <a:xfrm>
            <a:off x="609600" y="762000"/>
            <a:ext cx="7772400" cy="5259388"/>
          </a:xfrm>
          <a:prstGeom prst="rect">
            <a:avLst/>
          </a:prstGeom>
          <a:noFill/>
          <a:ln w="12700">
            <a:noFill/>
            <a:miter lim="0"/>
            <a:headEnd/>
            <a:tailEnd/>
          </a:ln>
          <a:effectLst/>
        </p:spPr>
      </p:pic>
      <p:sp>
        <p:nvSpPr>
          <p:cNvPr id="9220" name="AutoShape 3"/>
          <p:cNvSpPr>
            <a:spLocks/>
          </p:cNvSpPr>
          <p:nvPr/>
        </p:nvSpPr>
        <p:spPr bwMode="auto">
          <a:xfrm>
            <a:off x="228600" y="5949950"/>
            <a:ext cx="3962400" cy="396875"/>
          </a:xfrm>
          <a:custGeom>
            <a:avLst/>
            <a:gdLst>
              <a:gd name="T0" fmla="*/ 1981200 w 21600"/>
              <a:gd name="T1" fmla="*/ 198438 h 21600"/>
              <a:gd name="T2" fmla="*/ 1981200 w 21600"/>
              <a:gd name="T3" fmla="*/ 198438 h 21600"/>
              <a:gd name="T4" fmla="*/ 1981200 w 21600"/>
              <a:gd name="T5" fmla="*/ 198438 h 21600"/>
              <a:gd name="T6" fmla="*/ 1981200 w 21600"/>
              <a:gd name="T7" fmla="*/ 198438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>
              <a:spcBef>
                <a:spcPts val="1200"/>
              </a:spcBef>
            </a:pPr>
            <a:r>
              <a:rPr lang="en-US" altLang="en-US" sz="2000" i="1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Traditional development life cycle</a:t>
            </a:r>
            <a:endParaRPr lang="en-US" altLang="en-US"/>
          </a:p>
        </p:txBody>
      </p:sp>
      <p:sp>
        <p:nvSpPr>
          <p:cNvPr id="9221" name="AutoShape 4"/>
          <p:cNvSpPr>
            <a:spLocks/>
          </p:cNvSpPr>
          <p:nvPr/>
        </p:nvSpPr>
        <p:spPr bwMode="auto">
          <a:xfrm>
            <a:off x="4191000" y="5980113"/>
            <a:ext cx="4953000" cy="368300"/>
          </a:xfrm>
          <a:custGeom>
            <a:avLst/>
            <a:gdLst>
              <a:gd name="T0" fmla="*/ 2476500 w 21600"/>
              <a:gd name="T1" fmla="*/ 184150 h 21600"/>
              <a:gd name="T2" fmla="*/ 2476500 w 21600"/>
              <a:gd name="T3" fmla="*/ 184150 h 21600"/>
              <a:gd name="T4" fmla="*/ 2476500 w 21600"/>
              <a:gd name="T5" fmla="*/ 184150 h 21600"/>
              <a:gd name="T6" fmla="*/ 2476500 w 21600"/>
              <a:gd name="T7" fmla="*/ 18415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>
              <a:spcBef>
                <a:spcPts val="1000"/>
              </a:spcBef>
            </a:pPr>
            <a:r>
              <a:rPr lang="en-US" altLang="en-US" sz="1800" i="1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Real CASE tool-supported development life cycle</a:t>
            </a:r>
            <a:endParaRPr lang="en-US" altLang="en-US"/>
          </a:p>
        </p:txBody>
      </p:sp>
      <p:sp>
        <p:nvSpPr>
          <p:cNvPr id="9222" name="AutoShape 5"/>
          <p:cNvSpPr>
            <a:spLocks/>
          </p:cNvSpPr>
          <p:nvPr/>
        </p:nvSpPr>
        <p:spPr bwMode="auto">
          <a:xfrm>
            <a:off x="1835150" y="44450"/>
            <a:ext cx="6869113" cy="838200"/>
          </a:xfrm>
          <a:custGeom>
            <a:avLst/>
            <a:gdLst>
              <a:gd name="T0" fmla="*/ 3434557 w 21600"/>
              <a:gd name="T1" fmla="*/ 419100 h 21600"/>
              <a:gd name="T2" fmla="*/ 3434557 w 21600"/>
              <a:gd name="T3" fmla="*/ 419100 h 21600"/>
              <a:gd name="T4" fmla="*/ 3434557 w 21600"/>
              <a:gd name="T5" fmla="*/ 419100 h 21600"/>
              <a:gd name="T6" fmla="*/ 3434557 w 21600"/>
              <a:gd name="T7" fmla="*/ 41910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/>
            <a:r>
              <a:rPr lang="en-US" altLang="en-US" sz="18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Can see comparisons and real CASE tool supports.</a:t>
            </a:r>
          </a:p>
          <a:p>
            <a:pPr defTabSz="914400"/>
            <a:r>
              <a:rPr lang="en-US" altLang="en-US" sz="18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Note the Repository;  Note the xxx-CASE tools.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93456215-8845-4A0E-B164-8CF99F064CA5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9</a:t>
            </a:fld>
            <a:endParaRPr lang="en-US" altLang="en-US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 bwMode="auto">
          <a:xfrm>
            <a:off x="684213" y="0"/>
            <a:ext cx="7772400" cy="981075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CASE Tools</a:t>
            </a:r>
            <a:endParaRPr lang="en-US" altLang="en-US" smtClean="0"/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 bwMode="auto">
          <a:xfrm>
            <a:off x="323850" y="1125538"/>
            <a:ext cx="8496300" cy="41148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00025" indent="-200025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800" dirty="0" smtClean="0">
                <a:solidFill>
                  <a:srgbClr val="000000"/>
                </a:solidFill>
              </a:rPr>
              <a:t>Some CASE tools will automatically </a:t>
            </a:r>
            <a:r>
              <a:rPr lang="en-US" altLang="en-US" sz="2800" b="1" i="1" u="sng" dirty="0" smtClean="0">
                <a:solidFill>
                  <a:srgbClr val="000000"/>
                </a:solidFill>
              </a:rPr>
              <a:t>generate code </a:t>
            </a:r>
            <a:r>
              <a:rPr lang="en-US" altLang="en-US" sz="2800" dirty="0" smtClean="0">
                <a:solidFill>
                  <a:srgbClr val="000000"/>
                </a:solidFill>
              </a:rPr>
              <a:t>from designs stored in the repository.</a:t>
            </a:r>
          </a:p>
          <a:p>
            <a:pPr marL="657225" lvl="1" indent="-200025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800" dirty="0" smtClean="0">
                <a:solidFill>
                  <a:srgbClr val="000000"/>
                </a:solidFill>
              </a:rPr>
              <a:t>Example:  Rational Rose and others;  often based on a design model and parameters supplied….</a:t>
            </a:r>
          </a:p>
          <a:p>
            <a:pPr marL="200025" indent="-200025" eaLnBrk="1">
              <a:lnSpc>
                <a:spcPct val="100000"/>
              </a:lnSpc>
              <a:spcBef>
                <a:spcPts val="700"/>
              </a:spcBef>
              <a:defRPr/>
            </a:pPr>
            <a:endParaRPr lang="en-US" altLang="en-US" sz="2800" dirty="0" smtClean="0">
              <a:solidFill>
                <a:srgbClr val="000000"/>
              </a:solidFill>
            </a:endParaRPr>
          </a:p>
          <a:p>
            <a:pPr marL="200025" indent="-200025" eaLnBrk="1">
              <a:lnSpc>
                <a:spcPct val="100000"/>
              </a:lnSpc>
              <a:spcBef>
                <a:spcPts val="600"/>
              </a:spcBef>
              <a:buFontTx/>
              <a:buChar char="•"/>
              <a:defRPr/>
            </a:pPr>
            <a:r>
              <a:rPr lang="en-US" altLang="en-US" sz="2800" dirty="0" smtClean="0">
                <a:solidFill>
                  <a:srgbClr val="000000"/>
                </a:solidFill>
              </a:rPr>
              <a:t>Some CASE tools provide for ‘</a:t>
            </a:r>
            <a:r>
              <a:rPr lang="en-US" altLang="en-US" sz="2800" b="1" dirty="0" smtClean="0">
                <a:solidFill>
                  <a:srgbClr val="000000"/>
                </a:solidFill>
              </a:rPr>
              <a:t>reverse</a:t>
            </a:r>
            <a:r>
              <a:rPr lang="en-US" altLang="en-US" sz="2800" dirty="0" smtClean="0">
                <a:solidFill>
                  <a:srgbClr val="000000"/>
                </a:solidFill>
              </a:rPr>
              <a:t> </a:t>
            </a:r>
            <a:r>
              <a:rPr lang="en-US" altLang="en-US" sz="2800" b="1" dirty="0" smtClean="0">
                <a:solidFill>
                  <a:srgbClr val="000000"/>
                </a:solidFill>
              </a:rPr>
              <a:t>engineering</a:t>
            </a:r>
            <a:r>
              <a:rPr lang="en-US" altLang="en-US" sz="2800" dirty="0" smtClean="0">
                <a:solidFill>
                  <a:srgbClr val="000000"/>
                </a:solidFill>
              </a:rPr>
              <a:t>’</a:t>
            </a:r>
          </a:p>
          <a:p>
            <a:pPr marL="701675" lvl="1" indent="-244475" eaLnBrk="1">
              <a:lnSpc>
                <a:spcPct val="100000"/>
              </a:lnSpc>
              <a:spcBef>
                <a:spcPts val="500"/>
              </a:spcBef>
              <a:buFontTx/>
              <a:buChar char="–"/>
              <a:defRPr/>
            </a:pPr>
            <a:r>
              <a:rPr lang="en-US" altLang="en-US" sz="2400" dirty="0" smtClean="0">
                <a:solidFill>
                  <a:srgbClr val="000000"/>
                </a:solidFill>
              </a:rPr>
              <a:t>These are used to </a:t>
            </a:r>
            <a:r>
              <a:rPr lang="en-US" altLang="en-US" sz="2400" i="1" u="sng" dirty="0" smtClean="0">
                <a:solidFill>
                  <a:srgbClr val="000000"/>
                </a:solidFill>
              </a:rPr>
              <a:t>recover and/or replicate design documents </a:t>
            </a:r>
            <a:r>
              <a:rPr lang="en-US" altLang="en-US" sz="2400" dirty="0" smtClean="0">
                <a:solidFill>
                  <a:srgbClr val="000000"/>
                </a:solidFill>
              </a:rPr>
              <a:t>from running, well-established (legacy) software systems.</a:t>
            </a:r>
          </a:p>
          <a:p>
            <a:pPr lvl="1" eaLnBrk="1">
              <a:lnSpc>
                <a:spcPct val="100000"/>
              </a:lnSpc>
              <a:spcBef>
                <a:spcPts val="500"/>
              </a:spcBef>
              <a:defRPr/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marL="701675" lvl="1" indent="-244475" eaLnBrk="1">
              <a:lnSpc>
                <a:spcPct val="100000"/>
              </a:lnSpc>
              <a:spcBef>
                <a:spcPts val="500"/>
              </a:spcBef>
              <a:buFontTx/>
              <a:buChar char="–"/>
              <a:defRPr/>
            </a:pPr>
            <a:r>
              <a:rPr lang="en-US" altLang="en-US" sz="2400" dirty="0" smtClean="0">
                <a:solidFill>
                  <a:srgbClr val="000000"/>
                </a:solidFill>
              </a:rPr>
              <a:t>These tools may create c</a:t>
            </a:r>
            <a:r>
              <a:rPr lang="en-US" altLang="en-US" sz="2400" i="1" u="sng" dirty="0" smtClean="0">
                <a:solidFill>
                  <a:srgbClr val="000000"/>
                </a:solidFill>
              </a:rPr>
              <a:t>ompleted updated repository and design documents</a:t>
            </a:r>
            <a:r>
              <a:rPr lang="en-US" altLang="en-US" sz="2400" dirty="0" smtClean="0">
                <a:solidFill>
                  <a:srgbClr val="000000"/>
                </a:solidFill>
              </a:rPr>
              <a:t> based on the code.</a:t>
            </a:r>
            <a:endParaRPr lang="en-US" altLang="en-US" dirty="0" smtClean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D195C9DF-D6AA-4F75-A68A-9E9736E7B30C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10</a:t>
            </a:fld>
            <a:endParaRPr lang="en-US" altLang="en-US"/>
          </a:p>
        </p:txBody>
      </p:sp>
      <p:pic>
        <p:nvPicPr>
          <p:cNvPr id="11267" name="Picture 2" descr="oht13.pdf"/>
          <p:cNvPicPr>
            <a:picLocks noChangeAspect="1"/>
          </p:cNvPicPr>
          <p:nvPr/>
        </p:nvPicPr>
        <p:blipFill>
          <a:blip r:embed="rId3"/>
          <a:srcRect l="2692" t="2106" r="4601" b="7732"/>
          <a:stretch>
            <a:fillRect/>
          </a:stretch>
        </p:blipFill>
        <p:spPr bwMode="auto">
          <a:xfrm>
            <a:off x="1041400" y="882650"/>
            <a:ext cx="7045325" cy="5138738"/>
          </a:xfrm>
          <a:prstGeom prst="rect">
            <a:avLst/>
          </a:prstGeom>
          <a:noFill/>
          <a:ln w="12700">
            <a:noFill/>
            <a:miter lim="0"/>
            <a:headEnd/>
            <a:tailEnd/>
          </a:ln>
          <a:effectLst/>
        </p:spPr>
      </p:pic>
      <p:sp>
        <p:nvSpPr>
          <p:cNvPr id="11268" name="AutoShape 3"/>
          <p:cNvSpPr>
            <a:spLocks/>
          </p:cNvSpPr>
          <p:nvPr/>
        </p:nvSpPr>
        <p:spPr bwMode="auto">
          <a:xfrm>
            <a:off x="228600" y="5949950"/>
            <a:ext cx="3962400" cy="396875"/>
          </a:xfrm>
          <a:custGeom>
            <a:avLst/>
            <a:gdLst>
              <a:gd name="T0" fmla="*/ 1981200 w 21600"/>
              <a:gd name="T1" fmla="*/ 198438 h 21600"/>
              <a:gd name="T2" fmla="*/ 1981200 w 21600"/>
              <a:gd name="T3" fmla="*/ 198438 h 21600"/>
              <a:gd name="T4" fmla="*/ 1981200 w 21600"/>
              <a:gd name="T5" fmla="*/ 198438 h 21600"/>
              <a:gd name="T6" fmla="*/ 1981200 w 21600"/>
              <a:gd name="T7" fmla="*/ 198438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>
              <a:spcBef>
                <a:spcPts val="1200"/>
              </a:spcBef>
            </a:pPr>
            <a:r>
              <a:rPr lang="en-US" altLang="en-US" sz="2000" i="1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Traditional development life cycle</a:t>
            </a:r>
            <a:endParaRPr lang="en-US" altLang="en-US"/>
          </a:p>
        </p:txBody>
      </p:sp>
      <p:sp>
        <p:nvSpPr>
          <p:cNvPr id="11269" name="AutoShape 4"/>
          <p:cNvSpPr>
            <a:spLocks/>
          </p:cNvSpPr>
          <p:nvPr/>
        </p:nvSpPr>
        <p:spPr bwMode="auto">
          <a:xfrm>
            <a:off x="4191000" y="5980113"/>
            <a:ext cx="4953000" cy="368300"/>
          </a:xfrm>
          <a:custGeom>
            <a:avLst/>
            <a:gdLst>
              <a:gd name="T0" fmla="*/ 2476500 w 21600"/>
              <a:gd name="T1" fmla="*/ 184150 h 21600"/>
              <a:gd name="T2" fmla="*/ 2476500 w 21600"/>
              <a:gd name="T3" fmla="*/ 184150 h 21600"/>
              <a:gd name="T4" fmla="*/ 2476500 w 21600"/>
              <a:gd name="T5" fmla="*/ 184150 h 21600"/>
              <a:gd name="T6" fmla="*/ 2476500 w 21600"/>
              <a:gd name="T7" fmla="*/ 18415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>
              <a:spcBef>
                <a:spcPts val="1000"/>
              </a:spcBef>
            </a:pPr>
            <a:r>
              <a:rPr lang="en-US" altLang="en-US" sz="1800" i="1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Real CASE tool-supported development life cycle</a:t>
            </a:r>
            <a:endParaRPr lang="en-US" altLang="en-US"/>
          </a:p>
        </p:txBody>
      </p:sp>
      <p:sp>
        <p:nvSpPr>
          <p:cNvPr id="11270" name="AutoShape 5"/>
          <p:cNvSpPr>
            <a:spLocks/>
          </p:cNvSpPr>
          <p:nvPr/>
        </p:nvSpPr>
        <p:spPr bwMode="auto">
          <a:xfrm>
            <a:off x="1835150" y="44450"/>
            <a:ext cx="6869113" cy="838200"/>
          </a:xfrm>
          <a:custGeom>
            <a:avLst/>
            <a:gdLst>
              <a:gd name="T0" fmla="*/ 3434557 w 21600"/>
              <a:gd name="T1" fmla="*/ 419100 h 21600"/>
              <a:gd name="T2" fmla="*/ 3434557 w 21600"/>
              <a:gd name="T3" fmla="*/ 419100 h 21600"/>
              <a:gd name="T4" fmla="*/ 3434557 w 21600"/>
              <a:gd name="T5" fmla="*/ 419100 h 21600"/>
              <a:gd name="T6" fmla="*/ 3434557 w 21600"/>
              <a:gd name="T7" fmla="*/ 41910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/>
            <a:r>
              <a:rPr lang="en-US" altLang="en-US" sz="18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Can see comparisons and real CASE tool supports.</a:t>
            </a:r>
          </a:p>
          <a:p>
            <a:pPr defTabSz="914400"/>
            <a:r>
              <a:rPr lang="en-US" altLang="en-US" sz="18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Note the Repository;  Note the xxx-CASE tools.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60CF9F4B-DEC8-4E26-9F82-341979811D3F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11</a:t>
            </a:fld>
            <a:endParaRPr lang="en-US" altLang="en-US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 bwMode="auto">
          <a:xfrm>
            <a:off x="468313" y="-171450"/>
            <a:ext cx="8229600" cy="1143000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CASE Tool Support</a:t>
            </a:r>
            <a:endParaRPr lang="en-US" altLang="en-US" smtClean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 bwMode="auto">
          <a:xfrm>
            <a:off x="457200" y="692150"/>
            <a:ext cx="4040188" cy="639763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eaLnBrk="1">
              <a:lnSpc>
                <a:spcPct val="100000"/>
              </a:lnSpc>
              <a:spcBef>
                <a:spcPts val="500"/>
              </a:spcBef>
            </a:pPr>
            <a:r>
              <a:rPr lang="en-US" altLang="en-US" sz="2400" b="1" smtClean="0">
                <a:solidFill>
                  <a:srgbClr val="000000"/>
                </a:solidFill>
              </a:rPr>
              <a:t>Type of CASE tool		</a:t>
            </a:r>
            <a:endParaRPr lang="en-US" altLang="en-US" smtClean="0"/>
          </a:p>
        </p:txBody>
      </p:sp>
      <p:sp>
        <p:nvSpPr>
          <p:cNvPr id="12293" name="AutoShape 4"/>
          <p:cNvSpPr>
            <a:spLocks/>
          </p:cNvSpPr>
          <p:nvPr/>
        </p:nvSpPr>
        <p:spPr bwMode="auto">
          <a:xfrm>
            <a:off x="457200" y="1341438"/>
            <a:ext cx="4040188" cy="4089400"/>
          </a:xfrm>
          <a:custGeom>
            <a:avLst/>
            <a:gdLst>
              <a:gd name="T0" fmla="*/ 2020094 w 21600"/>
              <a:gd name="T1" fmla="*/ 2044700 h 21600"/>
              <a:gd name="T2" fmla="*/ 2020094 w 21600"/>
              <a:gd name="T3" fmla="*/ 2044700 h 21600"/>
              <a:gd name="T4" fmla="*/ 2020094 w 21600"/>
              <a:gd name="T5" fmla="*/ 2044700 h 21600"/>
              <a:gd name="T6" fmla="*/ 2020094 w 21600"/>
              <a:gd name="T7" fmla="*/ 204470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marL="306388" indent="-306388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Editing and Diagramming	</a:t>
            </a:r>
          </a:p>
          <a:p>
            <a:pPr marL="306388" indent="-306388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6388" indent="-306388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6388" indent="-306388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Repository Query</a:t>
            </a:r>
          </a:p>
          <a:p>
            <a:pPr marL="306388" indent="-306388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6388" indent="-306388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6388" indent="-306388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6388" indent="-306388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Automated Documentation</a:t>
            </a:r>
          </a:p>
          <a:p>
            <a:pPr marL="306388" indent="-306388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6388" indent="-306388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6388" indent="-306388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Design Support</a:t>
            </a:r>
            <a:endParaRPr lang="en-US" altLang="en-US"/>
          </a:p>
        </p:txBody>
      </p:sp>
      <p:sp>
        <p:nvSpPr>
          <p:cNvPr id="12294" name="AutoShape 5"/>
          <p:cNvSpPr>
            <a:spLocks/>
          </p:cNvSpPr>
          <p:nvPr/>
        </p:nvSpPr>
        <p:spPr bwMode="auto">
          <a:xfrm>
            <a:off x="4645025" y="692150"/>
            <a:ext cx="4041775" cy="639763"/>
          </a:xfrm>
          <a:custGeom>
            <a:avLst/>
            <a:gdLst>
              <a:gd name="T0" fmla="*/ 2020888 w 21600"/>
              <a:gd name="T1" fmla="*/ 319882 h 21600"/>
              <a:gd name="T2" fmla="*/ 2020888 w 21600"/>
              <a:gd name="T3" fmla="*/ 319882 h 21600"/>
              <a:gd name="T4" fmla="*/ 2020888 w 21600"/>
              <a:gd name="T5" fmla="*/ 319882 h 21600"/>
              <a:gd name="T6" fmla="*/ 2020888 w 21600"/>
              <a:gd name="T7" fmla="*/ 3198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 anchor="b"/>
          <a:lstStyle/>
          <a:p>
            <a:pPr defTabSz="914400">
              <a:spcBef>
                <a:spcPts val="500"/>
              </a:spcBef>
            </a:pPr>
            <a:r>
              <a:rPr lang="en-US" altLang="en-US" sz="2400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Support Provided</a:t>
            </a:r>
            <a:endParaRPr lang="en-US" altLang="en-US"/>
          </a:p>
        </p:txBody>
      </p:sp>
      <p:sp>
        <p:nvSpPr>
          <p:cNvPr id="13318" name="AutoShape 6"/>
          <p:cNvSpPr>
            <a:spLocks/>
          </p:cNvSpPr>
          <p:nvPr/>
        </p:nvSpPr>
        <p:spPr bwMode="auto">
          <a:xfrm>
            <a:off x="4645025" y="1341438"/>
            <a:ext cx="4041775" cy="489585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/>
          <a:lstStyle>
            <a:lvl1pPr marL="285750" indent="-285750"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1pPr>
            <a:lvl2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2pPr>
            <a:lvl3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3pPr>
            <a:lvl4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4pPr>
            <a:lvl5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5pPr>
            <a:lvl6pPr marL="13716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6pPr>
            <a:lvl7pPr marL="18288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7pPr>
            <a:lvl8pPr marL="22860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8pPr>
            <a:lvl9pPr marL="27432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9pPr>
          </a:lstStyle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Editing text and diagrams,  generating design diagrams to repository records</a:t>
            </a:r>
          </a:p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Display of parts of the design texts, charts, etc.;  cross referencing queries and requirements tracing</a:t>
            </a:r>
          </a:p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0" indent="0" defTabSz="914400">
              <a:spcBef>
                <a:spcPts val="400"/>
              </a:spcBef>
              <a:buSzPct val="100000"/>
              <a:defRPr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Automatic generation of requested documentation according to updated repository records</a:t>
            </a:r>
          </a:p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Editing design recorded by the systems analyst and management of the data dictionary</a:t>
            </a:r>
            <a:endParaRPr lang="en-US" altLang="en-US" dirty="0" smtClean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815132C8-2334-4F23-8673-28912B19A92F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12</a:t>
            </a:fld>
            <a:endParaRPr lang="en-US" altLang="en-US"/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 bwMode="auto">
          <a:xfrm>
            <a:off x="468313" y="-315913"/>
            <a:ext cx="8229600" cy="1143001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CASE Tool Support</a:t>
            </a:r>
            <a:endParaRPr lang="en-US" altLang="en-US" smtClean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 bwMode="auto">
          <a:xfrm>
            <a:off x="457200" y="692150"/>
            <a:ext cx="4040188" cy="639763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eaLnBrk="1">
              <a:lnSpc>
                <a:spcPct val="100000"/>
              </a:lnSpc>
              <a:spcBef>
                <a:spcPts val="500"/>
              </a:spcBef>
            </a:pPr>
            <a:r>
              <a:rPr lang="en-US" altLang="en-US" sz="2400" b="1" smtClean="0">
                <a:solidFill>
                  <a:srgbClr val="000000"/>
                </a:solidFill>
              </a:rPr>
              <a:t>Type of CASE tool		</a:t>
            </a:r>
            <a:endParaRPr lang="en-US" altLang="en-US" smtClean="0"/>
          </a:p>
        </p:txBody>
      </p:sp>
      <p:sp>
        <p:nvSpPr>
          <p:cNvPr id="13317" name="AutoShape 4"/>
          <p:cNvSpPr>
            <a:spLocks/>
          </p:cNvSpPr>
          <p:nvPr/>
        </p:nvSpPr>
        <p:spPr bwMode="auto">
          <a:xfrm>
            <a:off x="457200" y="1493838"/>
            <a:ext cx="4040188" cy="3951287"/>
          </a:xfrm>
          <a:custGeom>
            <a:avLst/>
            <a:gdLst>
              <a:gd name="T0" fmla="*/ 2020094 w 21600"/>
              <a:gd name="T1" fmla="*/ 1975644 h 21600"/>
              <a:gd name="T2" fmla="*/ 2020094 w 21600"/>
              <a:gd name="T3" fmla="*/ 1975644 h 21600"/>
              <a:gd name="T4" fmla="*/ 2020094 w 21600"/>
              <a:gd name="T5" fmla="*/ 1975644 h 21600"/>
              <a:gd name="T6" fmla="*/ 2020094 w 21600"/>
              <a:gd name="T7" fmla="*/ 1975644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marL="309563" indent="-309563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Code Editing</a:t>
            </a:r>
          </a:p>
          <a:p>
            <a:pPr marL="309563" indent="-309563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9563" indent="-309563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9563" indent="-309563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Code Generation</a:t>
            </a:r>
          </a:p>
          <a:p>
            <a:pPr marL="309563" indent="-309563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9563" indent="-309563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9563" indent="-309563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9563" indent="-309563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09563" indent="-309563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Configuration Management</a:t>
            </a:r>
            <a:endParaRPr lang="en-US" altLang="en-US"/>
          </a:p>
        </p:txBody>
      </p:sp>
      <p:sp>
        <p:nvSpPr>
          <p:cNvPr id="13318" name="AutoShape 5"/>
          <p:cNvSpPr>
            <a:spLocks/>
          </p:cNvSpPr>
          <p:nvPr/>
        </p:nvSpPr>
        <p:spPr bwMode="auto">
          <a:xfrm>
            <a:off x="4645025" y="701675"/>
            <a:ext cx="4041775" cy="639763"/>
          </a:xfrm>
          <a:custGeom>
            <a:avLst/>
            <a:gdLst>
              <a:gd name="T0" fmla="*/ 2020888 w 21600"/>
              <a:gd name="T1" fmla="*/ 319882 h 21600"/>
              <a:gd name="T2" fmla="*/ 2020888 w 21600"/>
              <a:gd name="T3" fmla="*/ 319882 h 21600"/>
              <a:gd name="T4" fmla="*/ 2020888 w 21600"/>
              <a:gd name="T5" fmla="*/ 319882 h 21600"/>
              <a:gd name="T6" fmla="*/ 2020888 w 21600"/>
              <a:gd name="T7" fmla="*/ 3198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 anchor="b"/>
          <a:lstStyle/>
          <a:p>
            <a:pPr defTabSz="914400">
              <a:spcBef>
                <a:spcPts val="500"/>
              </a:spcBef>
            </a:pPr>
            <a:r>
              <a:rPr lang="en-US" altLang="en-US" sz="2400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Support Provided</a:t>
            </a:r>
            <a:endParaRPr lang="en-US" altLang="en-US"/>
          </a:p>
        </p:txBody>
      </p:sp>
      <p:sp>
        <p:nvSpPr>
          <p:cNvPr id="14342" name="AutoShape 6"/>
          <p:cNvSpPr>
            <a:spLocks/>
          </p:cNvSpPr>
          <p:nvPr/>
        </p:nvSpPr>
        <p:spPr bwMode="auto">
          <a:xfrm>
            <a:off x="4140200" y="1484313"/>
            <a:ext cx="4824413" cy="4902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/>
          <a:lstStyle>
            <a:lvl1pPr marL="290513" indent="-290513"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1pPr>
            <a:lvl2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2pPr>
            <a:lvl3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3pPr>
            <a:lvl4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4pPr>
            <a:lvl5pPr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5pPr>
            <a:lvl6pPr marL="13716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6pPr>
            <a:lvl7pPr marL="18288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7pPr>
            <a:lvl8pPr marL="22860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8pPr>
            <a:lvl9pPr marL="274320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9pPr>
          </a:lstStyle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r>
              <a:rPr lang="en-US" altLang="en-US" sz="18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Compiling, interpreting or applying interactive debugging code specific coding language or development tool</a:t>
            </a:r>
          </a:p>
          <a:p>
            <a:pPr defTabSz="914400">
              <a:spcBef>
                <a:spcPts val="500"/>
              </a:spcBef>
              <a:buSzPct val="100000"/>
              <a:buFontTx/>
              <a:buChar char="•"/>
              <a:defRPr/>
            </a:pPr>
            <a:endParaRPr lang="en-US" altLang="en-US" sz="1800" dirty="0" smtClean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r>
              <a:rPr lang="en-US" altLang="en-US" sz="18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Transformation of design records into prototypes or application software compatible with a given software development language (or development tools)</a:t>
            </a:r>
          </a:p>
          <a:p>
            <a:pPr defTabSz="914400">
              <a:spcBef>
                <a:spcPts val="500"/>
              </a:spcBef>
              <a:buSzPct val="100000"/>
              <a:buFontTx/>
              <a:buChar char="•"/>
              <a:defRPr/>
            </a:pPr>
            <a:endParaRPr lang="en-US" altLang="en-US" sz="1800" dirty="0" smtClean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0" indent="0" defTabSz="914400">
              <a:spcBef>
                <a:spcPts val="500"/>
              </a:spcBef>
              <a:buSzPct val="100000"/>
              <a:defRPr/>
            </a:pPr>
            <a:endParaRPr lang="en-US" altLang="en-US" sz="1800" dirty="0" smtClean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defTabSz="914400">
              <a:spcBef>
                <a:spcPts val="400"/>
              </a:spcBef>
              <a:buSzPct val="100000"/>
              <a:buFontTx/>
              <a:buChar char="•"/>
              <a:defRPr/>
            </a:pPr>
            <a:r>
              <a:rPr lang="en-US" altLang="en-US" sz="18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Management of design documents and software code versions, control of changes and software code.</a:t>
            </a:r>
            <a:endParaRPr lang="en-US" altLang="en-US" dirty="0" smtClean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B6F5A5A7-A6BD-42E8-BE9B-CA24DD415479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13</a:t>
            </a:fld>
            <a:endParaRPr lang="en-US" altLang="en-US"/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 bwMode="auto">
          <a:xfrm>
            <a:off x="468313" y="-315913"/>
            <a:ext cx="8229600" cy="1143001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altLang="en-US" sz="440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CASE Tool Support</a:t>
            </a:r>
            <a:endParaRPr lang="en-US" altLang="en-US" smtClean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 bwMode="auto">
          <a:xfrm>
            <a:off x="457200" y="701675"/>
            <a:ext cx="4040188" cy="639763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eaLnBrk="1">
              <a:lnSpc>
                <a:spcPct val="100000"/>
              </a:lnSpc>
              <a:spcBef>
                <a:spcPts val="500"/>
              </a:spcBef>
            </a:pPr>
            <a:r>
              <a:rPr lang="en-US" altLang="en-US" sz="2400" b="1" smtClean="0">
                <a:solidFill>
                  <a:srgbClr val="000000"/>
                </a:solidFill>
              </a:rPr>
              <a:t>Type of CASE tool		</a:t>
            </a:r>
            <a:endParaRPr lang="en-US" altLang="en-US" smtClean="0"/>
          </a:p>
        </p:txBody>
      </p:sp>
      <p:sp>
        <p:nvSpPr>
          <p:cNvPr id="14341" name="AutoShape 4"/>
          <p:cNvSpPr>
            <a:spLocks/>
          </p:cNvSpPr>
          <p:nvPr/>
        </p:nvSpPr>
        <p:spPr bwMode="auto">
          <a:xfrm>
            <a:off x="457200" y="1447800"/>
            <a:ext cx="4040188" cy="3962400"/>
          </a:xfrm>
          <a:custGeom>
            <a:avLst/>
            <a:gdLst>
              <a:gd name="T0" fmla="*/ 2020094 w 21600"/>
              <a:gd name="T1" fmla="*/ 1981200 h 21600"/>
              <a:gd name="T2" fmla="*/ 2020094 w 21600"/>
              <a:gd name="T3" fmla="*/ 1981200 h 21600"/>
              <a:gd name="T4" fmla="*/ 2020094 w 21600"/>
              <a:gd name="T5" fmla="*/ 1981200 h 21600"/>
              <a:gd name="T6" fmla="*/ 2020094 w 21600"/>
              <a:gd name="T7" fmla="*/ 198120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marL="320675" indent="-320675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Reverse Engineering (re-engineering)</a:t>
            </a:r>
          </a:p>
          <a:p>
            <a:pPr marL="320675" indent="-320675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20675" indent="-320675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20675" indent="-320675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20675" indent="-320675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20675" indent="-320675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20675" indent="-320675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20675" indent="-320675" defTabSz="914400">
              <a:spcBef>
                <a:spcPts val="600"/>
              </a:spcBef>
              <a:buSzPct val="100000"/>
              <a:buFontTx/>
              <a:buChar char="•"/>
            </a:pPr>
            <a:endParaRPr lang="en-US" altLang="en-US" sz="20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320675" indent="-320675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Project Management and Software Metrics</a:t>
            </a:r>
            <a:endParaRPr lang="en-US" altLang="en-US"/>
          </a:p>
        </p:txBody>
      </p:sp>
      <p:sp>
        <p:nvSpPr>
          <p:cNvPr id="14342" name="AutoShape 5"/>
          <p:cNvSpPr>
            <a:spLocks/>
          </p:cNvSpPr>
          <p:nvPr/>
        </p:nvSpPr>
        <p:spPr bwMode="auto">
          <a:xfrm>
            <a:off x="4645025" y="701675"/>
            <a:ext cx="4041775" cy="639763"/>
          </a:xfrm>
          <a:custGeom>
            <a:avLst/>
            <a:gdLst>
              <a:gd name="T0" fmla="*/ 2020888 w 21600"/>
              <a:gd name="T1" fmla="*/ 319882 h 21600"/>
              <a:gd name="T2" fmla="*/ 2020888 w 21600"/>
              <a:gd name="T3" fmla="*/ 319882 h 21600"/>
              <a:gd name="T4" fmla="*/ 2020888 w 21600"/>
              <a:gd name="T5" fmla="*/ 319882 h 21600"/>
              <a:gd name="T6" fmla="*/ 2020888 w 21600"/>
              <a:gd name="T7" fmla="*/ 3198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 anchor="b"/>
          <a:lstStyle/>
          <a:p>
            <a:pPr defTabSz="914400">
              <a:spcBef>
                <a:spcPts val="500"/>
              </a:spcBef>
            </a:pPr>
            <a:r>
              <a:rPr lang="en-US" altLang="en-US" sz="2400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Support Provided</a:t>
            </a:r>
            <a:endParaRPr lang="en-US" altLang="en-US"/>
          </a:p>
        </p:txBody>
      </p:sp>
      <p:sp>
        <p:nvSpPr>
          <p:cNvPr id="14343" name="AutoShape 6"/>
          <p:cNvSpPr>
            <a:spLocks/>
          </p:cNvSpPr>
          <p:nvPr/>
        </p:nvSpPr>
        <p:spPr bwMode="auto">
          <a:xfrm>
            <a:off x="4356100" y="1371600"/>
            <a:ext cx="4319588" cy="4895850"/>
          </a:xfrm>
          <a:custGeom>
            <a:avLst/>
            <a:gdLst>
              <a:gd name="T0" fmla="*/ 2159794 w 21600"/>
              <a:gd name="T1" fmla="*/ 2447925 h 21600"/>
              <a:gd name="T2" fmla="*/ 2159794 w 21600"/>
              <a:gd name="T3" fmla="*/ 2447925 h 21600"/>
              <a:gd name="T4" fmla="*/ 2159794 w 21600"/>
              <a:gd name="T5" fmla="*/ 2447925 h 21600"/>
              <a:gd name="T6" fmla="*/ 2159794 w 21600"/>
              <a:gd name="T7" fmla="*/ 2447925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marL="285750" indent="-285750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1800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Construction of a software repository and design documents, based on code:  the “legacy” software systems.</a:t>
            </a:r>
            <a:r>
              <a:rPr lang="en-US" altLang="en-US" sz="18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 Once the repository of the legacy software is available, it can be updated and used to automatically generate new versions of the system.  As new re-engineering software version is generated, it can be easily maintained and its documentation automatically updated.</a:t>
            </a:r>
          </a:p>
          <a:p>
            <a:pPr marL="285750" indent="-285750" defTabSz="914400">
              <a:spcBef>
                <a:spcPts val="500"/>
              </a:spcBef>
              <a:buSzPct val="100000"/>
              <a:buFontTx/>
              <a:buChar char="•"/>
            </a:pPr>
            <a:endParaRPr lang="en-US" altLang="en-US" sz="18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285750" indent="-285750" defTabSz="914400">
              <a:spcBef>
                <a:spcPts val="500"/>
              </a:spcBef>
              <a:buSzPct val="100000"/>
              <a:buFontTx/>
              <a:buChar char="•"/>
            </a:pPr>
            <a:endParaRPr lang="en-US" altLang="en-US" sz="18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marL="285750" indent="-285750" defTabSz="914400">
              <a:spcBef>
                <a:spcPts val="400"/>
              </a:spcBef>
              <a:buSzPct val="100000"/>
              <a:buFontTx/>
              <a:buChar char="•"/>
            </a:pPr>
            <a:r>
              <a:rPr lang="en-US" altLang="en-US" sz="18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Support progress control of software development projects by follow-up of schedules and calculation of productivity and defects metrics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9C6560DE-D7B3-46A5-A28B-0F8B6AE08628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14</a:t>
            </a:fld>
            <a:endParaRPr lang="en-US" altLang="en-US"/>
          </a:p>
        </p:txBody>
      </p:sp>
      <p:graphicFrame>
        <p:nvGraphicFramePr>
          <p:cNvPr id="16386" name="Group 2"/>
          <p:cNvGraphicFramePr>
            <a:graphicFrameLocks noGrp="1"/>
          </p:cNvGraphicFramePr>
          <p:nvPr/>
        </p:nvGraphicFramePr>
        <p:xfrm>
          <a:off x="381000" y="2138363"/>
          <a:ext cx="8458200" cy="4205988"/>
        </p:xfrm>
        <a:graphic>
          <a:graphicData uri="http://schemas.openxmlformats.org/drawingml/2006/table">
            <a:tbl>
              <a:tblPr/>
              <a:tblGrid>
                <a:gridCol w="4800600"/>
                <a:gridCol w="1905000"/>
                <a:gridCol w="1752600"/>
              </a:tblGrid>
              <a:tr h="517525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Cause of software errors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Classic CASE tools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Real   CASE tools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1.  Faulty requirements definition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None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Almost none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2.  Client-developer communication  failures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None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Almost none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3.  Deliberate deviations from software requirements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None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4.  Logical design errors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None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6713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5. Coding errors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Very 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Very 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6.  Non-compliance with coding and documentation instructions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Limited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Very 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7.  Shortcomings in the testing process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6713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8.  User interface and procedural errors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Limited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9.  Documentation errors 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Limited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1pPr>
                      <a:lvl2pPr marL="4572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2pPr>
                      <a:lvl3pPr marL="9144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3pPr>
                      <a:lvl4pPr marL="13716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4pPr>
                      <a:lvl5pPr marL="1828800">
                        <a:lnSpc>
                          <a:spcPct val="85000"/>
                        </a:lnSpc>
                        <a:spcBef>
                          <a:spcPts val="1500"/>
                        </a:spcBef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5pPr>
                      <a:lvl6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6pPr>
                      <a:lvl7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7pPr>
                      <a:lvl8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8pPr>
                      <a:lvl9pPr fontAlgn="base" hangingPunct="0">
                        <a:lnSpc>
                          <a:spcPct val="85000"/>
                        </a:lnSpc>
                        <a:spcBef>
                          <a:spcPts val="1500"/>
                        </a:spcBef>
                        <a:spcAft>
                          <a:spcPct val="0"/>
                        </a:spcAft>
                        <a:defRPr sz="280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7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Times New Roman" pitchFamily="18" charset="0"/>
                        </a:rPr>
                        <a:t>High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Arial" pitchFamily="34" charset="0"/>
                      </a:endParaRP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15409" name="AutoShape 106"/>
          <p:cNvSpPr>
            <a:spLocks/>
          </p:cNvSpPr>
          <p:nvPr/>
        </p:nvSpPr>
        <p:spPr bwMode="auto">
          <a:xfrm>
            <a:off x="5181600" y="1585913"/>
            <a:ext cx="3657600" cy="547687"/>
          </a:xfrm>
          <a:custGeom>
            <a:avLst/>
            <a:gdLst>
              <a:gd name="T0" fmla="*/ 1828800 w 21600"/>
              <a:gd name="T1" fmla="*/ 273844 h 21600"/>
              <a:gd name="T2" fmla="*/ 1828800 w 21600"/>
              <a:gd name="T3" fmla="*/ 273844 h 21600"/>
              <a:gd name="T4" fmla="*/ 1828800 w 21600"/>
              <a:gd name="T5" fmla="*/ 273844 h 21600"/>
              <a:gd name="T6" fmla="*/ 1828800 w 21600"/>
              <a:gd name="T7" fmla="*/ 273844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/>
          <a:lstStyle/>
          <a:p>
            <a:pPr algn="ctr" defTabSz="914400">
              <a:lnSpc>
                <a:spcPct val="70000"/>
              </a:lnSpc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Extent of </a:t>
            </a:r>
          </a:p>
          <a:p>
            <a:pPr algn="ctr" defTabSz="914400">
              <a:lnSpc>
                <a:spcPct val="70000"/>
              </a:lnSpc>
            </a:pPr>
            <a:r>
              <a:rPr lang="en-US" altLang="en-US" sz="20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contribution to quality</a:t>
            </a:r>
            <a:endParaRPr lang="en-US" altLang="en-US"/>
          </a:p>
        </p:txBody>
      </p:sp>
      <p:sp>
        <p:nvSpPr>
          <p:cNvPr id="15410" name="AutoShape 107"/>
          <p:cNvSpPr>
            <a:spLocks/>
          </p:cNvSpPr>
          <p:nvPr/>
        </p:nvSpPr>
        <p:spPr bwMode="auto">
          <a:xfrm>
            <a:off x="876300" y="246063"/>
            <a:ext cx="7362825" cy="738187"/>
          </a:xfrm>
          <a:custGeom>
            <a:avLst/>
            <a:gdLst>
              <a:gd name="T0" fmla="*/ 3681413 w 21600"/>
              <a:gd name="T1" fmla="*/ 369332 h 21600"/>
              <a:gd name="T2" fmla="*/ 3681413 w 21600"/>
              <a:gd name="T3" fmla="*/ 369332 h 21600"/>
              <a:gd name="T4" fmla="*/ 3681413 w 21600"/>
              <a:gd name="T5" fmla="*/ 369332 h 21600"/>
              <a:gd name="T6" fmla="*/ 3681413 w 21600"/>
              <a:gd name="T7" fmla="*/ 36933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defTabSz="914400"/>
            <a:r>
              <a:rPr lang="en-US" altLang="en-US" sz="2400" b="1">
                <a:solidFill>
                  <a:schemeClr val="bg1"/>
                </a:solidFill>
              </a:rPr>
              <a:t>Contribution of CASE</a:t>
            </a:r>
            <a:endParaRPr lang="en-US" altLang="en-US" sz="2500" b="1">
              <a:solidFill>
                <a:schemeClr val="bg1"/>
              </a:solidFill>
            </a:endParaRPr>
          </a:p>
          <a:p>
            <a:pPr algn="ctr" defTabSz="914400"/>
            <a:r>
              <a:rPr lang="en-US" altLang="en-US" sz="2400" b="1">
                <a:solidFill>
                  <a:schemeClr val="bg1"/>
                </a:solidFill>
              </a:rPr>
              <a:t>Tools to Software Product Quality</a:t>
            </a:r>
            <a:endParaRPr lang="en-US" altLang="en-US" sz="2500" b="1">
              <a:solidFill>
                <a:schemeClr val="bg1"/>
              </a:solidFill>
            </a:endParaRPr>
          </a:p>
        </p:txBody>
      </p:sp>
      <p:sp>
        <p:nvSpPr>
          <p:cNvPr id="15411" name="AutoShape 108"/>
          <p:cNvSpPr>
            <a:spLocks/>
          </p:cNvSpPr>
          <p:nvPr/>
        </p:nvSpPr>
        <p:spPr bwMode="auto">
          <a:xfrm>
            <a:off x="0" y="990600"/>
            <a:ext cx="9145588" cy="838200"/>
          </a:xfrm>
          <a:custGeom>
            <a:avLst/>
            <a:gdLst>
              <a:gd name="T0" fmla="*/ 4572794 w 21600"/>
              <a:gd name="T1" fmla="*/ 419100 h 21600"/>
              <a:gd name="T2" fmla="*/ 4572794 w 21600"/>
              <a:gd name="T3" fmla="*/ 419100 h 21600"/>
              <a:gd name="T4" fmla="*/ 4572794 w 21600"/>
              <a:gd name="T5" fmla="*/ 419100 h 21600"/>
              <a:gd name="T6" fmla="*/ 4572794 w 21600"/>
              <a:gd name="T7" fmla="*/ 41910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50800" tIns="50800" rIns="50800" bIns="50800"/>
          <a:lstStyle/>
          <a:p>
            <a:pPr defTabSz="914400"/>
            <a:r>
              <a:rPr lang="en-US" altLang="en-US" sz="18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Simply stated, CASE tools can signification contribute to a reduction of errors in each development phase. Consider some of the tools you use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057D2F67-5753-4E00-AC4C-2E9FE5991BB5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15</a:t>
            </a:fld>
            <a:endParaRPr lang="en-US" altLang="en-US"/>
          </a:p>
        </p:txBody>
      </p:sp>
      <p:pic>
        <p:nvPicPr>
          <p:cNvPr id="16387" name="Picture 2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4038" y="-76200"/>
            <a:ext cx="8035925" cy="1431925"/>
          </a:xfrm>
          <a:prstGeom prst="rect">
            <a:avLst/>
          </a:prstGeom>
          <a:noFill/>
          <a:ln w="12700">
            <a:noFill/>
            <a:miter lim="0"/>
            <a:headEnd/>
            <a:tailEnd/>
          </a:ln>
          <a:effectLst/>
        </p:spPr>
      </p:pic>
      <p:sp>
        <p:nvSpPr>
          <p:cNvPr id="16388" name="Rectangle 3"/>
          <p:cNvSpPr>
            <a:spLocks noGrp="1"/>
          </p:cNvSpPr>
          <p:nvPr>
            <p:ph idx="1"/>
          </p:nvPr>
        </p:nvSpPr>
        <p:spPr bwMode="auto">
          <a:xfrm>
            <a:off x="144463" y="1219200"/>
            <a:ext cx="8964612" cy="4114800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96863" indent="-296863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600" smtClean="0">
                <a:solidFill>
                  <a:srgbClr val="000000"/>
                </a:solidFill>
              </a:rPr>
              <a:t>Note that </a:t>
            </a:r>
            <a:r>
              <a:rPr lang="en-US" altLang="en-US" sz="2600" b="1" smtClean="0">
                <a:solidFill>
                  <a:srgbClr val="000000"/>
                </a:solidFill>
              </a:rPr>
              <a:t>most</a:t>
            </a:r>
            <a:r>
              <a:rPr lang="en-US" altLang="en-US" sz="2600" smtClean="0">
                <a:solidFill>
                  <a:srgbClr val="000000"/>
                </a:solidFill>
              </a:rPr>
              <a:t> of the contributions are </a:t>
            </a:r>
            <a:r>
              <a:rPr lang="en-US" altLang="en-US" sz="2600" b="1" smtClean="0">
                <a:solidFill>
                  <a:srgbClr val="000000"/>
                </a:solidFill>
              </a:rPr>
              <a:t>not addressing faulty requirements definition </a:t>
            </a:r>
            <a:r>
              <a:rPr lang="en-US" altLang="en-US" sz="2600" smtClean="0">
                <a:solidFill>
                  <a:srgbClr val="000000"/>
                </a:solidFill>
              </a:rPr>
              <a:t>– (this likely with poor requirements management) are the most frequent causes of software failures.</a:t>
            </a:r>
          </a:p>
          <a:p>
            <a:pPr marL="296863" indent="-296863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endParaRPr lang="en-US" altLang="en-US" sz="2600" smtClean="0">
              <a:solidFill>
                <a:srgbClr val="000000"/>
              </a:solidFill>
            </a:endParaRPr>
          </a:p>
          <a:p>
            <a:pPr marL="296863" indent="-296863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600" smtClean="0">
                <a:solidFill>
                  <a:srgbClr val="000000"/>
                </a:solidFill>
              </a:rPr>
              <a:t>But </a:t>
            </a:r>
            <a:r>
              <a:rPr lang="en-US" altLang="en-US" sz="2600" b="1" smtClean="0">
                <a:solidFill>
                  <a:srgbClr val="000000"/>
                </a:solidFill>
              </a:rPr>
              <a:t>most</a:t>
            </a:r>
            <a:r>
              <a:rPr lang="en-US" altLang="en-US" sz="2600" smtClean="0">
                <a:solidFill>
                  <a:srgbClr val="000000"/>
                </a:solidFill>
              </a:rPr>
              <a:t> of the contributions are in </a:t>
            </a:r>
            <a:r>
              <a:rPr lang="en-US" altLang="en-US" sz="2600" b="1" smtClean="0">
                <a:solidFill>
                  <a:srgbClr val="000000"/>
                </a:solidFill>
              </a:rPr>
              <a:t>traceability based on data in the repository and tracing tools.</a:t>
            </a:r>
          </a:p>
          <a:p>
            <a:pPr marL="296863" indent="-296863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endParaRPr lang="en-US" altLang="en-US" sz="2600" b="1" smtClean="0">
              <a:solidFill>
                <a:srgbClr val="000000"/>
              </a:solidFill>
            </a:endParaRPr>
          </a:p>
          <a:p>
            <a:pPr marL="296863" indent="-296863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600" b="1" smtClean="0">
                <a:solidFill>
                  <a:srgbClr val="000000"/>
                </a:solidFill>
              </a:rPr>
              <a:t>Great contribution </a:t>
            </a:r>
            <a:r>
              <a:rPr lang="en-US" altLang="en-US" sz="2600" smtClean="0">
                <a:solidFill>
                  <a:srgbClr val="000000"/>
                </a:solidFill>
              </a:rPr>
              <a:t>in discovering </a:t>
            </a:r>
          </a:p>
          <a:p>
            <a:pPr marL="754063" lvl="1" indent="-296863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000" smtClean="0">
                <a:solidFill>
                  <a:srgbClr val="000000"/>
                </a:solidFill>
              </a:rPr>
              <a:t>design errors </a:t>
            </a:r>
          </a:p>
          <a:p>
            <a:pPr marL="754063" lvl="1" indent="-296863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000" smtClean="0">
                <a:solidFill>
                  <a:srgbClr val="000000"/>
                </a:solidFill>
              </a:rPr>
              <a:t>coding errors 	</a:t>
            </a:r>
          </a:p>
          <a:p>
            <a:pPr marL="754063" lvl="1" indent="-296863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000" smtClean="0">
                <a:solidFill>
                  <a:srgbClr val="000000"/>
                </a:solidFill>
              </a:rPr>
              <a:t>testing</a:t>
            </a:r>
          </a:p>
          <a:p>
            <a:pPr marL="754063" lvl="1" indent="-296863" eaLnBrk="1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altLang="en-US" sz="2000" smtClean="0">
                <a:solidFill>
                  <a:srgbClr val="000000"/>
                </a:solidFill>
              </a:rPr>
              <a:t>documentation!</a:t>
            </a:r>
            <a:endParaRPr lang="en-US" altLang="en-US" sz="2400" smtClean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35F4FA3A-397F-4A0D-8743-8B4258FEF5E5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16</a:t>
            </a:fld>
            <a:endParaRPr lang="en-US" altLang="en-US"/>
          </a:p>
        </p:txBody>
      </p:sp>
      <p:sp>
        <p:nvSpPr>
          <p:cNvPr id="17411" name="AutoShape 2"/>
          <p:cNvSpPr>
            <a:spLocks/>
          </p:cNvSpPr>
          <p:nvPr/>
        </p:nvSpPr>
        <p:spPr bwMode="auto">
          <a:xfrm>
            <a:off x="-76200" y="865188"/>
            <a:ext cx="9067800" cy="354012"/>
          </a:xfrm>
          <a:custGeom>
            <a:avLst/>
            <a:gdLst>
              <a:gd name="T0" fmla="*/ 4533900 w 21600"/>
              <a:gd name="T1" fmla="*/ 176972 h 21600"/>
              <a:gd name="T2" fmla="*/ 4533900 w 21600"/>
              <a:gd name="T3" fmla="*/ 176972 h 21600"/>
              <a:gd name="T4" fmla="*/ 4533900 w 21600"/>
              <a:gd name="T5" fmla="*/ 176972 h 21600"/>
              <a:gd name="T6" fmla="*/ 4533900 w 21600"/>
              <a:gd name="T7" fmla="*/ 17697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defTabSz="914400"/>
            <a:r>
              <a:rPr lang="en-US" altLang="en-US" sz="2300" b="1">
                <a:solidFill>
                  <a:schemeClr val="bg1"/>
                </a:solidFill>
              </a:rPr>
              <a:t>Contribution of CASE tools to Software Maintenance Quality</a:t>
            </a:r>
            <a:endParaRPr lang="en-US" altLang="en-US" sz="2800" b="1">
              <a:solidFill>
                <a:schemeClr val="bg1"/>
              </a:solidFill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 bwMode="auto">
          <a:xfrm>
            <a:off x="685800" y="1981200"/>
            <a:ext cx="7772400" cy="4114800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342900" indent="-342900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r>
              <a:rPr lang="en-US" altLang="en-US" smtClean="0">
                <a:solidFill>
                  <a:srgbClr val="000000"/>
                </a:solidFill>
              </a:rPr>
              <a:t>Essentially three kinds of maintenance:</a:t>
            </a:r>
          </a:p>
          <a:p>
            <a:pPr marL="742950" lvl="1" indent="-285750" eaLnBrk="1">
              <a:lnSpc>
                <a:spcPct val="100000"/>
              </a:lnSpc>
              <a:spcBef>
                <a:spcPts val="600"/>
              </a:spcBef>
              <a:buFontTx/>
              <a:buChar char="–"/>
            </a:pPr>
            <a:r>
              <a:rPr lang="en-US" altLang="en-US" sz="2800" smtClean="0">
                <a:solidFill>
                  <a:srgbClr val="000000"/>
                </a:solidFill>
              </a:rPr>
              <a:t>Corrective</a:t>
            </a:r>
          </a:p>
          <a:p>
            <a:pPr marL="742950" lvl="1" indent="-285750" eaLnBrk="1">
              <a:lnSpc>
                <a:spcPct val="100000"/>
              </a:lnSpc>
              <a:spcBef>
                <a:spcPts val="600"/>
              </a:spcBef>
              <a:buFontTx/>
              <a:buChar char="–"/>
            </a:pPr>
            <a:r>
              <a:rPr lang="en-US" altLang="en-US" sz="2800" smtClean="0">
                <a:solidFill>
                  <a:srgbClr val="000000"/>
                </a:solidFill>
              </a:rPr>
              <a:t>Adaptive, and</a:t>
            </a:r>
          </a:p>
          <a:p>
            <a:pPr marL="742950" lvl="1" indent="-285750" eaLnBrk="1">
              <a:lnSpc>
                <a:spcPct val="100000"/>
              </a:lnSpc>
              <a:spcBef>
                <a:spcPts val="600"/>
              </a:spcBef>
              <a:buFontTx/>
              <a:buChar char="–"/>
            </a:pPr>
            <a:r>
              <a:rPr lang="en-US" altLang="en-US" sz="2800" smtClean="0">
                <a:solidFill>
                  <a:srgbClr val="000000"/>
                </a:solidFill>
              </a:rPr>
              <a:t>Functional Improvement Maintenance</a:t>
            </a:r>
          </a:p>
          <a:p>
            <a:pPr marL="742950" lvl="1" indent="-285750" eaLnBrk="1">
              <a:lnSpc>
                <a:spcPct val="100000"/>
              </a:lnSpc>
              <a:spcBef>
                <a:spcPts val="600"/>
              </a:spcBef>
              <a:buFontTx/>
              <a:buChar char="–"/>
            </a:pPr>
            <a:endParaRPr lang="en-US" altLang="en-US" sz="2800" smtClean="0">
              <a:solidFill>
                <a:srgbClr val="000000"/>
              </a:solidFill>
            </a:endParaRPr>
          </a:p>
          <a:p>
            <a:pPr marL="742950" lvl="1" indent="-285750" eaLnBrk="1">
              <a:lnSpc>
                <a:spcPct val="100000"/>
              </a:lnSpc>
              <a:spcBef>
                <a:spcPts val="600"/>
              </a:spcBef>
              <a:buFontTx/>
              <a:buChar char="–"/>
            </a:pPr>
            <a:r>
              <a:rPr lang="en-US" altLang="en-US" sz="2800" smtClean="0">
                <a:solidFill>
                  <a:srgbClr val="000000"/>
                </a:solidFill>
              </a:rPr>
              <a:t>(next three slides)</a:t>
            </a:r>
            <a:endParaRPr lang="en-US" altLang="en-US" smtClean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D98B5216-561E-4B91-8AB3-F75D12D5E24D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17</a:t>
            </a:fld>
            <a:endParaRPr lang="en-US" altLang="en-US"/>
          </a:p>
        </p:txBody>
      </p:sp>
      <p:sp>
        <p:nvSpPr>
          <p:cNvPr id="18435" name="Rectangle 2"/>
          <p:cNvSpPr>
            <a:spLocks noGrp="1"/>
          </p:cNvSpPr>
          <p:nvPr>
            <p:ph idx="1"/>
          </p:nvPr>
        </p:nvSpPr>
        <p:spPr bwMode="auto">
          <a:xfrm>
            <a:off x="152400" y="1660525"/>
            <a:ext cx="8628063" cy="4587875"/>
          </a:xfrm>
          <a:noFill/>
          <a:ln w="19050">
            <a:solidFill>
              <a:srgbClr val="000000"/>
            </a:solidFill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>
              <a:lnSpc>
                <a:spcPct val="100000"/>
              </a:lnSpc>
              <a:spcBef>
                <a:spcPts val="600"/>
              </a:spcBef>
            </a:pPr>
            <a:r>
              <a:rPr lang="en-US" altLang="en-US" sz="2600" b="1" smtClean="0">
                <a:solidFill>
                  <a:srgbClr val="000000"/>
                </a:solidFill>
              </a:rPr>
              <a:t>To Corrective Maintenance:  (Errors)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</a:pPr>
            <a:r>
              <a:rPr lang="en-US" altLang="en-US" sz="2600" smtClean="0">
                <a:solidFill>
                  <a:srgbClr val="000000"/>
                </a:solidFill>
              </a:rPr>
              <a:t>    </a:t>
            </a:r>
            <a:r>
              <a:rPr lang="en-US" altLang="en-US" sz="2600" b="1" smtClean="0">
                <a:solidFill>
                  <a:srgbClr val="CC0000"/>
                </a:solidFill>
              </a:rPr>
              <a:t>*</a:t>
            </a:r>
            <a:r>
              <a:rPr lang="en-US" altLang="en-US" sz="2600" b="1" smtClean="0">
                <a:solidFill>
                  <a:srgbClr val="A50021"/>
                </a:solidFill>
              </a:rPr>
              <a:t>  CASE-generated </a:t>
            </a:r>
            <a:r>
              <a:rPr lang="en-US" altLang="en-US" sz="2600" b="1" u="sng" smtClean="0">
                <a:solidFill>
                  <a:srgbClr val="A50021"/>
                </a:solidFill>
              </a:rPr>
              <a:t>updated</a:t>
            </a:r>
            <a:r>
              <a:rPr lang="en-US" altLang="en-US" sz="2600" b="1" smtClean="0">
                <a:solidFill>
                  <a:srgbClr val="A50021"/>
                </a:solidFill>
              </a:rPr>
              <a:t> </a:t>
            </a:r>
            <a:r>
              <a:rPr lang="en-US" altLang="en-US" sz="2600" b="1" u="sng" smtClean="0">
                <a:solidFill>
                  <a:srgbClr val="A50021"/>
                </a:solidFill>
              </a:rPr>
              <a:t>documentation</a:t>
            </a:r>
            <a:r>
              <a:rPr lang="en-US" altLang="en-US" sz="2600" b="1" smtClean="0">
                <a:solidFill>
                  <a:srgbClr val="A50021"/>
                </a:solidFill>
              </a:rPr>
              <a:t> enables easier and more reliable identification of software failure causes.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</a:pPr>
            <a:endParaRPr lang="en-US" altLang="en-US" sz="2600" b="1" smtClean="0">
              <a:solidFill>
                <a:srgbClr val="000000"/>
              </a:solidFill>
            </a:endParaRPr>
          </a:p>
          <a:p>
            <a:pPr eaLnBrk="1">
              <a:lnSpc>
                <a:spcPct val="100000"/>
              </a:lnSpc>
              <a:spcBef>
                <a:spcPts val="600"/>
              </a:spcBef>
            </a:pPr>
            <a:r>
              <a:rPr lang="en-US" altLang="en-US" sz="2600" b="1" smtClean="0">
                <a:solidFill>
                  <a:srgbClr val="000000"/>
                </a:solidFill>
              </a:rPr>
              <a:t>     </a:t>
            </a:r>
            <a:r>
              <a:rPr lang="en-US" altLang="en-US" sz="2600" b="1" smtClean="0">
                <a:solidFill>
                  <a:srgbClr val="333399"/>
                </a:solidFill>
              </a:rPr>
              <a:t>*  Cross-referenced </a:t>
            </a:r>
            <a:r>
              <a:rPr lang="en-US" altLang="en-US" sz="2600" b="1" u="sng" smtClean="0">
                <a:solidFill>
                  <a:srgbClr val="333399"/>
                </a:solidFill>
              </a:rPr>
              <a:t>queries</a:t>
            </a:r>
            <a:r>
              <a:rPr lang="en-US" altLang="en-US" sz="2600" b="1" smtClean="0">
                <a:solidFill>
                  <a:srgbClr val="333399"/>
                </a:solidFill>
              </a:rPr>
              <a:t> enable better anticipation effects of proposed correction.</a:t>
            </a:r>
            <a:r>
              <a:rPr lang="en-US" altLang="en-US" sz="2600" b="1" smtClean="0">
                <a:solidFill>
                  <a:srgbClr val="000000"/>
                </a:solidFill>
              </a:rPr>
              <a:t> 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</a:pPr>
            <a:endParaRPr lang="en-US" altLang="en-US" sz="2600" b="1" smtClean="0">
              <a:solidFill>
                <a:srgbClr val="000000"/>
              </a:solidFill>
            </a:endParaRPr>
          </a:p>
          <a:p>
            <a:pPr eaLnBrk="1">
              <a:lnSpc>
                <a:spcPct val="100000"/>
              </a:lnSpc>
              <a:spcBef>
                <a:spcPts val="600"/>
              </a:spcBef>
            </a:pPr>
            <a:r>
              <a:rPr lang="en-US" altLang="en-US" sz="2600" b="1" smtClean="0">
                <a:solidFill>
                  <a:srgbClr val="000000"/>
                </a:solidFill>
              </a:rPr>
              <a:t>     </a:t>
            </a:r>
            <a:r>
              <a:rPr lang="en-US" altLang="en-US" sz="2600" b="1" smtClean="0">
                <a:solidFill>
                  <a:srgbClr val="008000"/>
                </a:solidFill>
              </a:rPr>
              <a:t>*  Correction by means of </a:t>
            </a:r>
            <a:r>
              <a:rPr lang="en-US" altLang="en-US" sz="2600" b="1" u="sng" smtClean="0">
                <a:solidFill>
                  <a:srgbClr val="008000"/>
                </a:solidFill>
              </a:rPr>
              <a:t>lower</a:t>
            </a:r>
            <a:r>
              <a:rPr lang="en-US" altLang="en-US" sz="2600" b="1" smtClean="0">
                <a:solidFill>
                  <a:srgbClr val="008000"/>
                </a:solidFill>
              </a:rPr>
              <a:t> </a:t>
            </a:r>
            <a:r>
              <a:rPr lang="en-US" altLang="en-US" sz="2600" b="1" u="sng" smtClean="0">
                <a:solidFill>
                  <a:srgbClr val="008000"/>
                </a:solidFill>
              </a:rPr>
              <a:t>CASE</a:t>
            </a:r>
            <a:r>
              <a:rPr lang="en-US" altLang="en-US" sz="2600" b="1" smtClean="0">
                <a:solidFill>
                  <a:srgbClr val="008000"/>
                </a:solidFill>
              </a:rPr>
              <a:t> or </a:t>
            </a:r>
            <a:r>
              <a:rPr lang="en-US" altLang="en-US" sz="2600" b="1" u="sng" smtClean="0">
                <a:solidFill>
                  <a:srgbClr val="008000"/>
                </a:solidFill>
              </a:rPr>
              <a:t>integrated</a:t>
            </a:r>
            <a:r>
              <a:rPr lang="en-US" altLang="en-US" sz="2600" b="1" smtClean="0">
                <a:solidFill>
                  <a:srgbClr val="008000"/>
                </a:solidFill>
              </a:rPr>
              <a:t> </a:t>
            </a:r>
            <a:r>
              <a:rPr lang="en-US" altLang="en-US" sz="2600" b="1" u="sng" smtClean="0">
                <a:solidFill>
                  <a:srgbClr val="008000"/>
                </a:solidFill>
              </a:rPr>
              <a:t>CASE</a:t>
            </a:r>
            <a:r>
              <a:rPr lang="en-US" altLang="en-US" sz="2600" b="1" smtClean="0">
                <a:solidFill>
                  <a:srgbClr val="008000"/>
                </a:solidFill>
              </a:rPr>
              <a:t> tools provides automated coding and documentation of corrections. </a:t>
            </a:r>
            <a:endParaRPr lang="en-US" altLang="en-US" smtClean="0"/>
          </a:p>
        </p:txBody>
      </p:sp>
      <p:sp>
        <p:nvSpPr>
          <p:cNvPr id="18436" name="AutoShape 3"/>
          <p:cNvSpPr>
            <a:spLocks/>
          </p:cNvSpPr>
          <p:nvPr/>
        </p:nvSpPr>
        <p:spPr bwMode="auto">
          <a:xfrm>
            <a:off x="0" y="414338"/>
            <a:ext cx="9144000" cy="706437"/>
          </a:xfrm>
          <a:custGeom>
            <a:avLst/>
            <a:gdLst>
              <a:gd name="T0" fmla="*/ 4572000 w 21600"/>
              <a:gd name="T1" fmla="*/ 353943 h 21600"/>
              <a:gd name="T2" fmla="*/ 4572000 w 21600"/>
              <a:gd name="T3" fmla="*/ 353943 h 21600"/>
              <a:gd name="T4" fmla="*/ 4572000 w 21600"/>
              <a:gd name="T5" fmla="*/ 353943 h 21600"/>
              <a:gd name="T6" fmla="*/ 4572000 w 21600"/>
              <a:gd name="T7" fmla="*/ 353943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defTabSz="914400"/>
            <a:r>
              <a:rPr lang="en-US" altLang="en-US" sz="2300" b="1">
                <a:solidFill>
                  <a:schemeClr val="bg1"/>
                </a:solidFill>
              </a:rPr>
              <a:t>Contribution of CASE tools to</a:t>
            </a:r>
            <a:endParaRPr lang="en-US" altLang="en-US" sz="2800" b="1">
              <a:solidFill>
                <a:schemeClr val="bg1"/>
              </a:solidFill>
            </a:endParaRPr>
          </a:p>
          <a:p>
            <a:pPr algn="ctr" defTabSz="914400"/>
            <a:r>
              <a:rPr lang="en-US" altLang="en-US" sz="2300" b="1">
                <a:solidFill>
                  <a:schemeClr val="bg1"/>
                </a:solidFill>
              </a:rPr>
              <a:t>Software Maintenance Quality</a:t>
            </a:r>
            <a:endParaRPr lang="en-US" alt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6BF46105-4D15-4A47-AB80-2357233576CD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18</a:t>
            </a:fld>
            <a:endParaRPr lang="en-US" altLang="en-US"/>
          </a:p>
        </p:txBody>
      </p:sp>
      <p:sp>
        <p:nvSpPr>
          <p:cNvPr id="19459" name="Rectangle 2"/>
          <p:cNvSpPr>
            <a:spLocks noGrp="1"/>
          </p:cNvSpPr>
          <p:nvPr>
            <p:ph idx="1"/>
          </p:nvPr>
        </p:nvSpPr>
        <p:spPr bwMode="auto">
          <a:xfrm>
            <a:off x="533400" y="1893888"/>
            <a:ext cx="8229600" cy="3048000"/>
          </a:xfrm>
          <a:noFill/>
          <a:ln w="19050">
            <a:solidFill>
              <a:srgbClr val="000000"/>
            </a:solidFill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eaLnBrk="1">
              <a:lnSpc>
                <a:spcPct val="100000"/>
              </a:lnSpc>
              <a:spcBef>
                <a:spcPts val="900"/>
              </a:spcBef>
            </a:pPr>
            <a:r>
              <a:rPr lang="en-US" altLang="en-US" sz="4000" b="1" dirty="0" smtClean="0">
                <a:solidFill>
                  <a:srgbClr val="000000"/>
                </a:solidFill>
              </a:rPr>
              <a:t>To adaptive maintenance:</a:t>
            </a:r>
          </a:p>
          <a:p>
            <a:pPr eaLnBrk="1">
              <a:lnSpc>
                <a:spcPct val="100000"/>
              </a:lnSpc>
              <a:spcBef>
                <a:spcPts val="700"/>
              </a:spcBef>
            </a:pPr>
            <a:r>
              <a:rPr lang="en-US" altLang="en-US" b="1" dirty="0" smtClean="0">
                <a:solidFill>
                  <a:srgbClr val="A50021"/>
                </a:solidFill>
              </a:rPr>
              <a:t>	Full and updated documentation by CASE tools enables thorough examination of possible software adaptations for new applications.</a:t>
            </a:r>
            <a:endParaRPr lang="en-US" altLang="en-US" dirty="0" smtClean="0"/>
          </a:p>
        </p:txBody>
      </p:sp>
      <p:sp>
        <p:nvSpPr>
          <p:cNvPr id="19460" name="AutoShape 3"/>
          <p:cNvSpPr>
            <a:spLocks/>
          </p:cNvSpPr>
          <p:nvPr/>
        </p:nvSpPr>
        <p:spPr bwMode="auto">
          <a:xfrm>
            <a:off x="685800" y="452438"/>
            <a:ext cx="7448550" cy="708025"/>
          </a:xfrm>
          <a:custGeom>
            <a:avLst/>
            <a:gdLst>
              <a:gd name="T0" fmla="*/ 3724275 w 21600"/>
              <a:gd name="T1" fmla="*/ 353943 h 21600"/>
              <a:gd name="T2" fmla="*/ 3724275 w 21600"/>
              <a:gd name="T3" fmla="*/ 353943 h 21600"/>
              <a:gd name="T4" fmla="*/ 3724275 w 21600"/>
              <a:gd name="T5" fmla="*/ 353943 h 21600"/>
              <a:gd name="T6" fmla="*/ 3724275 w 21600"/>
              <a:gd name="T7" fmla="*/ 353943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defTabSz="914400"/>
            <a:r>
              <a:rPr lang="en-US" altLang="en-US" sz="2300" b="1">
                <a:solidFill>
                  <a:schemeClr val="bg1"/>
                </a:solidFill>
              </a:rPr>
              <a:t>Contribution of CASE tools to</a:t>
            </a:r>
            <a:endParaRPr lang="en-US" altLang="en-US" sz="2800" b="1">
              <a:solidFill>
                <a:schemeClr val="bg1"/>
              </a:solidFill>
            </a:endParaRPr>
          </a:p>
          <a:p>
            <a:pPr algn="ctr" defTabSz="914400"/>
            <a:r>
              <a:rPr lang="en-US" altLang="en-US" sz="2300" b="1">
                <a:solidFill>
                  <a:schemeClr val="bg1"/>
                </a:solidFill>
              </a:rPr>
              <a:t>Software Maintenance Quality</a:t>
            </a:r>
            <a:endParaRPr lang="en-US" alt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07EBB841-F007-4F24-9054-77CFFDA43BD1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19</a:t>
            </a:fld>
            <a:endParaRPr lang="en-US" altLang="en-US"/>
          </a:p>
        </p:txBody>
      </p:sp>
      <p:sp>
        <p:nvSpPr>
          <p:cNvPr id="20483" name="Rectangle 2"/>
          <p:cNvSpPr>
            <a:spLocks noGrp="1"/>
          </p:cNvSpPr>
          <p:nvPr>
            <p:ph idx="1"/>
          </p:nvPr>
        </p:nvSpPr>
        <p:spPr bwMode="auto">
          <a:xfrm>
            <a:off x="363538" y="1844675"/>
            <a:ext cx="8431212" cy="4752975"/>
          </a:xfrm>
          <a:noFill/>
          <a:ln w="19050">
            <a:solidFill>
              <a:srgbClr val="000000"/>
            </a:solidFill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eaLnBrk="1">
              <a:lnSpc>
                <a:spcPct val="100000"/>
              </a:lnSpc>
              <a:spcBef>
                <a:spcPts val="500"/>
              </a:spcBef>
            </a:pPr>
            <a:r>
              <a:rPr lang="en-US" altLang="en-US" sz="2400" b="1" dirty="0" smtClean="0">
                <a:solidFill>
                  <a:srgbClr val="000000"/>
                </a:solidFill>
              </a:rPr>
              <a:t>To functional improvement maintenance:</a:t>
            </a:r>
          </a:p>
          <a:p>
            <a:pPr eaLnBrk="1">
              <a:lnSpc>
                <a:spcPct val="100000"/>
              </a:lnSpc>
              <a:spcBef>
                <a:spcPts val="500"/>
              </a:spcBef>
            </a:pPr>
            <a:r>
              <a:rPr lang="en-US" altLang="en-US" sz="2400" b="1" dirty="0" smtClean="0">
                <a:solidFill>
                  <a:srgbClr val="000000"/>
                </a:solidFill>
              </a:rPr>
              <a:t>    *  </a:t>
            </a:r>
            <a:r>
              <a:rPr lang="en-US" altLang="en-US" sz="2400" b="1" dirty="0" smtClean="0">
                <a:solidFill>
                  <a:srgbClr val="008000"/>
                </a:solidFill>
              </a:rPr>
              <a:t>Use of the repository assures consistency of new applications and </a:t>
            </a:r>
            <a:r>
              <a:rPr lang="en-US" altLang="en-US" sz="2400" b="1" u="sng" dirty="0" smtClean="0">
                <a:solidFill>
                  <a:srgbClr val="008000"/>
                </a:solidFill>
              </a:rPr>
              <a:t>improvements</a:t>
            </a:r>
            <a:r>
              <a:rPr lang="en-US" altLang="en-US" sz="2400" b="1" dirty="0" smtClean="0">
                <a:solidFill>
                  <a:srgbClr val="008000"/>
                </a:solidFill>
              </a:rPr>
              <a:t> with existing software systems.</a:t>
            </a:r>
            <a:r>
              <a:rPr lang="en-US" altLang="en-US" sz="2400" b="1" dirty="0" smtClean="0">
                <a:solidFill>
                  <a:srgbClr val="000000"/>
                </a:solidFill>
              </a:rPr>
              <a:t> </a:t>
            </a:r>
            <a:endParaRPr lang="en-US" altLang="en-US" sz="2400" b="1" dirty="0" smtClean="0">
              <a:solidFill>
                <a:srgbClr val="A50021"/>
              </a:solidFill>
            </a:endParaRPr>
          </a:p>
          <a:p>
            <a:pPr eaLnBrk="1">
              <a:lnSpc>
                <a:spcPct val="100000"/>
              </a:lnSpc>
              <a:spcBef>
                <a:spcPts val="700"/>
              </a:spcBef>
            </a:pPr>
            <a:endParaRPr lang="en-US" altLang="en-US" sz="2400" b="1" dirty="0" smtClean="0">
              <a:solidFill>
                <a:srgbClr val="A50021"/>
              </a:solidFill>
            </a:endParaRPr>
          </a:p>
          <a:p>
            <a:pPr eaLnBrk="1">
              <a:lnSpc>
                <a:spcPct val="100000"/>
              </a:lnSpc>
              <a:spcBef>
                <a:spcPts val="500"/>
              </a:spcBef>
            </a:pPr>
            <a:r>
              <a:rPr lang="en-US" altLang="en-US" sz="2400" b="1" dirty="0" smtClean="0">
                <a:solidFill>
                  <a:srgbClr val="000000"/>
                </a:solidFill>
              </a:rPr>
              <a:t>     *  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Cross-referenced repository queries enable better planning of changes and additions.</a:t>
            </a:r>
          </a:p>
          <a:p>
            <a:pPr eaLnBrk="1">
              <a:lnSpc>
                <a:spcPct val="100000"/>
              </a:lnSpc>
              <a:spcBef>
                <a:spcPts val="700"/>
              </a:spcBef>
            </a:pPr>
            <a:endParaRPr lang="en-US" altLang="en-US" sz="2400" b="1" dirty="0" smtClean="0">
              <a:solidFill>
                <a:srgbClr val="000000"/>
              </a:solidFill>
            </a:endParaRPr>
          </a:p>
          <a:p>
            <a:pPr eaLnBrk="1">
              <a:lnSpc>
                <a:spcPct val="100000"/>
              </a:lnSpc>
              <a:spcBef>
                <a:spcPts val="500"/>
              </a:spcBef>
            </a:pPr>
            <a:r>
              <a:rPr lang="en-US" altLang="en-US" sz="2400" b="1" dirty="0" smtClean="0">
                <a:solidFill>
                  <a:srgbClr val="000000"/>
                </a:solidFill>
              </a:rPr>
              <a:t>     *  </a:t>
            </a:r>
            <a:r>
              <a:rPr lang="en-US" altLang="en-US" sz="2400" b="1" dirty="0" smtClean="0">
                <a:solidFill>
                  <a:srgbClr val="3333CC"/>
                </a:solidFill>
              </a:rPr>
              <a:t>Changes and additions carried out by </a:t>
            </a:r>
            <a:r>
              <a:rPr lang="en-US" altLang="en-US" sz="2400" b="1" u="sng" dirty="0" smtClean="0">
                <a:solidFill>
                  <a:srgbClr val="3333CC"/>
                </a:solidFill>
              </a:rPr>
              <a:t>means of lower CASE or integrated CASE tools enable automated coding and documentation of the changes and additions.</a:t>
            </a:r>
            <a:r>
              <a:rPr lang="en-US" altLang="en-US" sz="2400" b="1" u="sng" dirty="0" smtClean="0">
                <a:solidFill>
                  <a:srgbClr val="000000"/>
                </a:solidFill>
              </a:rPr>
              <a:t>  </a:t>
            </a:r>
            <a:endParaRPr lang="en-US" altLang="en-US" dirty="0" smtClean="0"/>
          </a:p>
        </p:txBody>
      </p:sp>
      <p:sp>
        <p:nvSpPr>
          <p:cNvPr id="20484" name="AutoShape 3"/>
          <p:cNvSpPr>
            <a:spLocks/>
          </p:cNvSpPr>
          <p:nvPr/>
        </p:nvSpPr>
        <p:spPr bwMode="auto">
          <a:xfrm>
            <a:off x="838200" y="635000"/>
            <a:ext cx="7448550" cy="739775"/>
          </a:xfrm>
          <a:custGeom>
            <a:avLst/>
            <a:gdLst>
              <a:gd name="T0" fmla="*/ 3724275 w 21600"/>
              <a:gd name="T1" fmla="*/ 369332 h 21600"/>
              <a:gd name="T2" fmla="*/ 3724275 w 21600"/>
              <a:gd name="T3" fmla="*/ 369332 h 21600"/>
              <a:gd name="T4" fmla="*/ 3724275 w 21600"/>
              <a:gd name="T5" fmla="*/ 369332 h 21600"/>
              <a:gd name="T6" fmla="*/ 3724275 w 21600"/>
              <a:gd name="T7" fmla="*/ 36933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  <a:miter lim="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defTabSz="914400"/>
            <a:r>
              <a:rPr lang="en-US" altLang="en-US" sz="2400" b="1" dirty="0">
                <a:solidFill>
                  <a:schemeClr val="bg1"/>
                </a:solidFill>
              </a:rPr>
              <a:t>Contribution of CASE tools to</a:t>
            </a:r>
            <a:endParaRPr lang="en-US" altLang="en-US" sz="2800" b="1" dirty="0">
              <a:solidFill>
                <a:schemeClr val="bg1"/>
              </a:solidFill>
            </a:endParaRPr>
          </a:p>
          <a:p>
            <a:pPr algn="ctr" defTabSz="914400"/>
            <a:r>
              <a:rPr lang="en-US" altLang="en-US" sz="2400" b="1" dirty="0">
                <a:solidFill>
                  <a:schemeClr val="bg1"/>
                </a:solidFill>
              </a:rPr>
              <a:t>Software Maintenance Quality</a:t>
            </a:r>
            <a:endParaRPr lang="en-US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91914E70-AF05-4217-B2EC-CC293FE08243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20</a:t>
            </a:fld>
            <a:endParaRPr lang="en-US" altLang="en-US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 bwMode="auto">
          <a:xfrm>
            <a:off x="990600" y="152400"/>
            <a:ext cx="7772400" cy="1143001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algn="ctr" defTabSz="914400" eaLnBrk="1"/>
            <a:r>
              <a:rPr lang="en-US" altLang="en-US" sz="3500" dirty="0" smtClean="0">
                <a:cs typeface="Times New Roman" pitchFamily="18" charset="0"/>
                <a:sym typeface="Times New Roman" pitchFamily="18" charset="0"/>
              </a:rPr>
              <a:t>Contribution of CASE Tools for Improved Project Management</a:t>
            </a:r>
            <a:endParaRPr lang="en-US" altLang="en-US" dirty="0" smtClean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 bwMode="auto">
          <a:xfrm>
            <a:off x="152400" y="1371600"/>
            <a:ext cx="8774113" cy="5527675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282575" indent="-282575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200" dirty="0" smtClean="0">
                <a:solidFill>
                  <a:srgbClr val="000000"/>
                </a:solidFill>
              </a:rPr>
              <a:t>There is little question that projects supported by CASE tools can have dramatic positive impacts on </a:t>
            </a:r>
            <a:r>
              <a:rPr lang="en-US" altLang="en-US" sz="2200" b="1" dirty="0" smtClean="0">
                <a:solidFill>
                  <a:srgbClr val="000000"/>
                </a:solidFill>
              </a:rPr>
              <a:t>Project Management</a:t>
            </a:r>
            <a:r>
              <a:rPr lang="en-US" altLang="en-US" sz="2200" dirty="0" smtClean="0">
                <a:solidFill>
                  <a:srgbClr val="000000"/>
                </a:solidFill>
              </a:rPr>
              <a:t>.</a:t>
            </a:r>
          </a:p>
          <a:p>
            <a:pPr marL="282575" indent="-282575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200" dirty="0" smtClean="0">
                <a:solidFill>
                  <a:srgbClr val="000000"/>
                </a:solidFill>
              </a:rPr>
              <a:t>With </a:t>
            </a:r>
            <a:r>
              <a:rPr lang="en-US" altLang="en-US" sz="2200" dirty="0" smtClean="0">
                <a:solidFill>
                  <a:srgbClr val="000000"/>
                </a:solidFill>
              </a:rPr>
              <a:t>a </a:t>
            </a:r>
            <a:r>
              <a:rPr lang="en-US" altLang="en-US" sz="2200" b="1" dirty="0" smtClean="0">
                <a:solidFill>
                  <a:srgbClr val="000000"/>
                </a:solidFill>
              </a:rPr>
              <a:t>central repository</a:t>
            </a:r>
            <a:r>
              <a:rPr lang="en-US" altLang="en-US" sz="2200" dirty="0" smtClean="0">
                <a:solidFill>
                  <a:srgbClr val="000000"/>
                </a:solidFill>
              </a:rPr>
              <a:t>, so many activities are integrated.</a:t>
            </a:r>
          </a:p>
          <a:p>
            <a:pPr marL="739775" lvl="1" indent="-282575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200" dirty="0" smtClean="0">
                <a:solidFill>
                  <a:srgbClr val="000000"/>
                </a:solidFill>
              </a:rPr>
              <a:t>Example:  </a:t>
            </a:r>
            <a:r>
              <a:rPr lang="en-US" altLang="en-US" sz="2200" dirty="0" err="1" smtClean="0">
                <a:solidFill>
                  <a:srgbClr val="000000"/>
                </a:solidFill>
              </a:rPr>
              <a:t>ClearCase</a:t>
            </a:r>
            <a:r>
              <a:rPr lang="en-US" altLang="en-US" sz="2200" dirty="0" smtClean="0">
                <a:solidFill>
                  <a:srgbClr val="000000"/>
                </a:solidFill>
              </a:rPr>
              <a:t>, </a:t>
            </a:r>
            <a:r>
              <a:rPr lang="en-US" altLang="en-US" sz="2200" dirty="0" err="1" smtClean="0">
                <a:solidFill>
                  <a:srgbClr val="000000"/>
                </a:solidFill>
              </a:rPr>
              <a:t>ClearQuest</a:t>
            </a:r>
            <a:r>
              <a:rPr lang="en-US" altLang="en-US" sz="2200" dirty="0" smtClean="0">
                <a:solidFill>
                  <a:srgbClr val="000000"/>
                </a:solidFill>
              </a:rPr>
              <a:t>, </a:t>
            </a:r>
            <a:r>
              <a:rPr lang="en-US" altLang="en-US" sz="2200" dirty="0" err="1" smtClean="0">
                <a:solidFill>
                  <a:srgbClr val="000000"/>
                </a:solidFill>
              </a:rPr>
              <a:t>ReqPro</a:t>
            </a:r>
            <a:r>
              <a:rPr lang="en-US" altLang="en-US" sz="2200" dirty="0" smtClean="0">
                <a:solidFill>
                  <a:srgbClr val="000000"/>
                </a:solidFill>
              </a:rPr>
              <a:t>, … now integrated in RTC</a:t>
            </a:r>
          </a:p>
          <a:p>
            <a:pPr marL="282575" indent="-282575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200" dirty="0" err="1" smtClean="0">
                <a:solidFill>
                  <a:srgbClr val="000000"/>
                </a:solidFill>
              </a:rPr>
              <a:t>CASEtoos</a:t>
            </a:r>
            <a:r>
              <a:rPr lang="en-US" altLang="en-US" sz="2200" dirty="0" smtClean="0">
                <a:solidFill>
                  <a:srgbClr val="000000"/>
                </a:solidFill>
              </a:rPr>
              <a:t> </a:t>
            </a:r>
            <a:r>
              <a:rPr lang="en-US" altLang="en-US" sz="2200" dirty="0" smtClean="0">
                <a:solidFill>
                  <a:srgbClr val="000000"/>
                </a:solidFill>
              </a:rPr>
              <a:t>can </a:t>
            </a:r>
            <a:r>
              <a:rPr lang="en-US" altLang="en-US" sz="2200" b="1" dirty="0" smtClean="0">
                <a:solidFill>
                  <a:srgbClr val="000000"/>
                </a:solidFill>
              </a:rPr>
              <a:t>reduce the project budgets and development time</a:t>
            </a:r>
            <a:endParaRPr lang="en-US" altLang="en-US" sz="2200" dirty="0" smtClean="0">
              <a:solidFill>
                <a:srgbClr val="000000"/>
              </a:solidFill>
            </a:endParaRPr>
          </a:p>
          <a:p>
            <a:pPr marL="282575" indent="-282575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200" dirty="0" smtClean="0">
                <a:solidFill>
                  <a:srgbClr val="000000"/>
                </a:solidFill>
              </a:rPr>
              <a:t>But </a:t>
            </a:r>
            <a:r>
              <a:rPr lang="en-US" altLang="en-US" sz="2200" dirty="0" smtClean="0">
                <a:solidFill>
                  <a:srgbClr val="000000"/>
                </a:solidFill>
              </a:rPr>
              <a:t>from a </a:t>
            </a:r>
            <a:r>
              <a:rPr lang="en-US" altLang="en-US" sz="2200" b="1" dirty="0" smtClean="0">
                <a:solidFill>
                  <a:srgbClr val="000000"/>
                </a:solidFill>
              </a:rPr>
              <a:t>quality perspective</a:t>
            </a:r>
            <a:r>
              <a:rPr lang="en-US" altLang="en-US" sz="2200" dirty="0" smtClean="0">
                <a:solidFill>
                  <a:srgbClr val="000000"/>
                </a:solidFill>
              </a:rPr>
              <a:t>, we are interested in improvements in budget control and timetables.</a:t>
            </a:r>
          </a:p>
          <a:p>
            <a:pPr marL="282575" indent="-282575" eaLnBrk="1">
              <a:lnSpc>
                <a:spcPct val="100000"/>
              </a:lnSpc>
              <a:spcBef>
                <a:spcPts val="500"/>
              </a:spcBef>
              <a:buFontTx/>
              <a:buChar char="•"/>
            </a:pPr>
            <a:r>
              <a:rPr lang="en-US" altLang="en-US" sz="2200" dirty="0" smtClean="0">
                <a:solidFill>
                  <a:srgbClr val="000000"/>
                </a:solidFill>
              </a:rPr>
              <a:t>CASE </a:t>
            </a:r>
            <a:r>
              <a:rPr lang="en-US" altLang="en-US" sz="2200" dirty="0" smtClean="0">
                <a:solidFill>
                  <a:srgbClr val="000000"/>
                </a:solidFill>
              </a:rPr>
              <a:t>tools can significantly contribute from </a:t>
            </a:r>
            <a:r>
              <a:rPr lang="en-US" altLang="en-US" sz="2200" i="1" u="sng" dirty="0" smtClean="0">
                <a:solidFill>
                  <a:srgbClr val="000000"/>
                </a:solidFill>
              </a:rPr>
              <a:t>deviations</a:t>
            </a:r>
            <a:r>
              <a:rPr lang="en-US" altLang="en-US" sz="2200" dirty="0" smtClean="0">
                <a:solidFill>
                  <a:srgbClr val="000000"/>
                </a:solidFill>
              </a:rPr>
              <a:t> of budget and schedule from a plan and the reduction of high error rates and shorter correction cycles when needed..</a:t>
            </a:r>
            <a:endParaRPr lang="en-US" altLang="en-US" dirty="0" smtClean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3F7F7710-7801-461E-B9BF-E78CD546FD9E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21</a:t>
            </a:fld>
            <a:endParaRPr lang="en-US" altLang="en-US"/>
          </a:p>
        </p:txBody>
      </p:sp>
      <p:sp>
        <p:nvSpPr>
          <p:cNvPr id="8" name="Rectangle 2"/>
          <p:cNvSpPr>
            <a:spLocks noGrp="1"/>
          </p:cNvSpPr>
          <p:nvPr>
            <p:ph type="title"/>
          </p:nvPr>
        </p:nvSpPr>
        <p:spPr bwMode="auto">
          <a:xfrm>
            <a:off x="685800" y="608013"/>
            <a:ext cx="7772400" cy="1144587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sz="3200" dirty="0" smtClean="0"/>
              <a:t>CASE tools: Advantages</a:t>
            </a:r>
            <a:endParaRPr lang="en-US" altLang="en-US" sz="3200" dirty="0" smtClean="0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2400" dirty="0" smtClean="0">
              <a:solidFill>
                <a:schemeClr val="tx1"/>
              </a:solidFill>
              <a:latin typeface="+mj-lt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+mj-lt"/>
              </a:rPr>
              <a:t> Help standardization of notations and diagrams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+mj-lt"/>
              </a:rPr>
              <a:t> Help communication between development team members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+mj-lt"/>
              </a:rPr>
              <a:t> Automatically check the quality of the A&amp;D models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+mj-lt"/>
              </a:rPr>
              <a:t> Reduction of time and effort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+mj-lt"/>
              </a:rPr>
              <a:t> Enhance reuse of models or models’ components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1"/>
          <p:cNvSpPr>
            <a:spLocks/>
          </p:cNvSpPr>
          <p:nvPr/>
        </p:nvSpPr>
        <p:spPr bwMode="auto">
          <a:xfrm>
            <a:off x="381000" y="381000"/>
            <a:ext cx="1295400" cy="360363"/>
          </a:xfrm>
          <a:custGeom>
            <a:avLst/>
            <a:gdLst>
              <a:gd name="T0" fmla="*/ 647700 w 21600"/>
              <a:gd name="T1" fmla="*/ 180182 h 21600"/>
              <a:gd name="T2" fmla="*/ 647700 w 21600"/>
              <a:gd name="T3" fmla="*/ 180182 h 21600"/>
              <a:gd name="T4" fmla="*/ 647700 w 21600"/>
              <a:gd name="T5" fmla="*/ 180182 h 21600"/>
              <a:gd name="T6" fmla="*/ 647700 w 21600"/>
              <a:gd name="T7" fmla="*/ 1801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50800" tIns="50800" rIns="50800" bIns="50800">
            <a:spAutoFit/>
          </a:bodyPr>
          <a:lstStyle/>
          <a:p>
            <a:pPr algn="ctr" defTabSz="914400"/>
            <a:fld id="{A74E72F9-158B-44E5-8CE3-EAC3893CDB06}" type="slidenum">
              <a:rPr lang="en-US" altLang="en-US" sz="15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 defTabSz="914400"/>
              <a:t>22</a:t>
            </a:fld>
            <a:endParaRPr lang="en-US" altLang="en-US"/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 bwMode="auto">
          <a:xfrm>
            <a:off x="685800" y="608013"/>
            <a:ext cx="7772400" cy="1144587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algn="ctr" defTabSz="914400" eaLnBrk="1"/>
            <a:r>
              <a:rPr lang="en-US" sz="3200" dirty="0" smtClean="0"/>
              <a:t>CASE tools: Disadvantages</a:t>
            </a:r>
            <a:endParaRPr lang="en-US" altLang="en-US" sz="3200" dirty="0" smtClean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 bwMode="auto">
          <a:xfrm>
            <a:off x="685800" y="1981200"/>
            <a:ext cx="7772400" cy="4114800"/>
          </a:xfrm>
          <a:noFill/>
          <a:ln w="12700">
            <a:miter lim="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•"/>
            </a:pPr>
            <a:r>
              <a:rPr lang="en-US" sz="2400" dirty="0" smtClean="0">
                <a:latin typeface="+mj-lt"/>
              </a:rPr>
              <a:t> Limitations in flexibility of documentation</a:t>
            </a:r>
          </a:p>
          <a:p>
            <a:pPr>
              <a:buFontTx/>
              <a:buChar char="•"/>
            </a:pPr>
            <a:r>
              <a:rPr lang="en-US" sz="2400" dirty="0" smtClean="0">
                <a:latin typeface="+mj-lt"/>
              </a:rPr>
              <a:t> May lead to restriction to the tool’s capabilities</a:t>
            </a:r>
          </a:p>
          <a:p>
            <a:pPr>
              <a:buFontTx/>
              <a:buChar char="•"/>
            </a:pPr>
            <a:r>
              <a:rPr lang="en-US" sz="2400" dirty="0" smtClean="0">
                <a:latin typeface="+mj-lt"/>
              </a:rPr>
              <a:t> Major danger: completeness and syntactic correctness does NOT mean compliance with requirements</a:t>
            </a:r>
          </a:p>
          <a:p>
            <a:pPr>
              <a:buFontTx/>
              <a:buChar char="•"/>
            </a:pPr>
            <a:r>
              <a:rPr lang="en-US" sz="2400" dirty="0" smtClean="0">
                <a:latin typeface="+mj-lt"/>
              </a:rPr>
              <a:t> Costs associated with the use of the tool: purchase + training</a:t>
            </a:r>
          </a:p>
          <a:p>
            <a:pPr marL="342900" indent="-342900" eaLnBrk="1">
              <a:lnSpc>
                <a:spcPct val="100000"/>
              </a:lnSpc>
              <a:spcBef>
                <a:spcPts val="700"/>
              </a:spcBef>
              <a:buFontTx/>
              <a:buChar char="•"/>
            </a:pPr>
            <a:endParaRPr lang="en-US" altLang="en-US" sz="2400" dirty="0" smtClean="0">
              <a:latin typeface="+mj-lt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572E2D"/>
      </a:dk1>
      <a:lt1>
        <a:srgbClr val="2A5657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ACB4B4"/>
      </a:accent3>
      <a:accent4>
        <a:srgbClr val="492625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1201</Words>
  <Application>Microsoft Office PowerPoint</Application>
  <PresentationFormat>On-screen Show (4:3)</PresentationFormat>
  <Paragraphs>226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Helvetica</vt:lpstr>
      <vt:lpstr>Arial</vt:lpstr>
      <vt:lpstr>Times New Roman</vt:lpstr>
      <vt:lpstr>Noteworthy Bold</vt:lpstr>
      <vt:lpstr>Office Theme</vt:lpstr>
      <vt:lpstr>Software Engineering Principles</vt:lpstr>
      <vt:lpstr>Introduction</vt:lpstr>
      <vt:lpstr>Introduction</vt:lpstr>
      <vt:lpstr>Slide 4</vt:lpstr>
      <vt:lpstr>Slide 5</vt:lpstr>
      <vt:lpstr>CASE Tools</vt:lpstr>
      <vt:lpstr>CASE Tools</vt:lpstr>
      <vt:lpstr>Slide 8</vt:lpstr>
      <vt:lpstr>CASE Tools</vt:lpstr>
      <vt:lpstr>Slide 10</vt:lpstr>
      <vt:lpstr>CASE Tool Support</vt:lpstr>
      <vt:lpstr>CASE Tool Support</vt:lpstr>
      <vt:lpstr>CASE Tool Support</vt:lpstr>
      <vt:lpstr>Slide 14</vt:lpstr>
      <vt:lpstr>Slide 15</vt:lpstr>
      <vt:lpstr>Slide 16</vt:lpstr>
      <vt:lpstr>Slide 17</vt:lpstr>
      <vt:lpstr>Slide 18</vt:lpstr>
      <vt:lpstr>Slide 19</vt:lpstr>
      <vt:lpstr>Contribution of CASE Tools for Improved Project Management</vt:lpstr>
      <vt:lpstr>CASE tools: Advantages</vt:lpstr>
      <vt:lpstr>CASE tools: Disadvantages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</dc:title>
  <dc:creator>Christopher Ndambuki</dc:creator>
  <cp:lastModifiedBy>chris.ndambuki</cp:lastModifiedBy>
  <cp:revision>10</cp:revision>
  <dcterms:modified xsi:type="dcterms:W3CDTF">2014-02-12T08:07:53Z</dcterms:modified>
</cp:coreProperties>
</file>