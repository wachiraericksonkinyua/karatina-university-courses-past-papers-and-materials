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obo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cd4575776b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cd4575776b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cd4575776b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cd4575776b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cd4575776b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cd4575776b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cd4575776b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cd4575776b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cd4575776b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cd4575776b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cd4575776b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cd4575776b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cd4575776b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cd4575776b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cd4575776b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cd4575776b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cd4575776b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cd4575776b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cd4575776b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cd4575776b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cd4575776b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cd4575776b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cd4575776b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cd4575776b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cd4575776b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cd4575776b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cd4575776b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cd4575776b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cd4575776b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cd4575776b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cd4575776b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cd4575776b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1100"/>
              </a:spcBef>
              <a:spcAft>
                <a:spcPts val="0"/>
              </a:spcAft>
              <a:buNone/>
            </a:pPr>
            <a:r>
              <a:rPr lang="en-GB"/>
              <a:t>Introduction to Responsible Use of Generative AI</a:t>
            </a:r>
            <a:endParaRPr/>
          </a:p>
          <a:p>
            <a:pPr indent="0" lvl="0" marL="0" rtl="0" algn="l">
              <a:spcBef>
                <a:spcPts val="1000"/>
              </a:spcBef>
              <a:spcAft>
                <a:spcPts val="0"/>
              </a:spcAft>
              <a:buNone/>
            </a:pPr>
            <a:r>
              <a:t/>
            </a:r>
            <a:endParaRPr/>
          </a:p>
        </p:txBody>
      </p:sp>
      <p:sp>
        <p:nvSpPr>
          <p:cNvPr id="86" name="Google Shape;86;p13"/>
          <p:cNvSpPr txBox="1"/>
          <p:nvPr>
            <p:ph idx="1" type="subTitle"/>
          </p:nvPr>
        </p:nvSpPr>
        <p:spPr>
          <a:xfrm>
            <a:off x="323125" y="1775252"/>
            <a:ext cx="8222100" cy="31404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t/>
            </a:r>
            <a:endParaRPr/>
          </a:p>
          <a:p>
            <a:pPr indent="0" lvl="0" marL="0" rtl="0" algn="l">
              <a:lnSpc>
                <a:spcPct val="115000"/>
              </a:lnSpc>
              <a:spcBef>
                <a:spcPts val="1100"/>
              </a:spcBef>
              <a:spcAft>
                <a:spcPts val="0"/>
              </a:spcAft>
              <a:buNone/>
            </a:pPr>
            <a:br>
              <a:rPr lang="en-GB"/>
            </a:br>
            <a:endParaRPr/>
          </a:p>
          <a:p>
            <a:pPr indent="0" lvl="0" marL="0" rtl="0" algn="l">
              <a:spcBef>
                <a:spcPts val="10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ctrTitle"/>
          </p:nvPr>
        </p:nvSpPr>
        <p:spPr>
          <a:xfrm>
            <a:off x="598100" y="1775222"/>
            <a:ext cx="8222100" cy="8388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1100"/>
              </a:spcBef>
              <a:spcAft>
                <a:spcPts val="1000"/>
              </a:spcAft>
              <a:buNone/>
            </a:pPr>
            <a:r>
              <a:rPr lang="en-GB" sz="2100"/>
              <a:t>Generative Artificial Intelligence (AI) has transformed various domains, including art, music, and content creation, offering unparalleled potential for innovation and creativity. At the same time, its impressive capabilities and generative AI's responsible and ethical use are paramount. This blog delves into the considerations and best practices for ensuring the ethical deployment of generative AI.</a:t>
            </a:r>
            <a:endParaRPr/>
          </a:p>
        </p:txBody>
      </p:sp>
      <p:sp>
        <p:nvSpPr>
          <p:cNvPr id="92" name="Google Shape;92;p14"/>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1079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100"/>
              </a:spcBef>
              <a:spcAft>
                <a:spcPts val="0"/>
              </a:spcAft>
              <a:buNone/>
            </a:pPr>
            <a:r>
              <a:rPr lang="en-GB"/>
              <a:t> Limits and Ensuring Ethical Use</a:t>
            </a:r>
            <a:endParaRPr/>
          </a:p>
          <a:p>
            <a:pPr indent="0" lvl="0" marL="0" rtl="0" algn="l">
              <a:spcBef>
                <a:spcPts val="1000"/>
              </a:spcBef>
              <a:spcAft>
                <a:spcPts val="0"/>
              </a:spcAft>
              <a:buNone/>
            </a:pPr>
            <a:r>
              <a:t/>
            </a:r>
            <a:endParaRPr/>
          </a:p>
        </p:txBody>
      </p:sp>
      <p:sp>
        <p:nvSpPr>
          <p:cNvPr id="98" name="Google Shape;98;p15"/>
          <p:cNvSpPr txBox="1"/>
          <p:nvPr>
            <p:ph idx="1" type="body"/>
          </p:nvPr>
        </p:nvSpPr>
        <p:spPr>
          <a:xfrm>
            <a:off x="311700" y="1443800"/>
            <a:ext cx="8520600" cy="31251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a:t>Despite its remarkable outputs, it's essential to recognize the limitations of generative AI. No matter how advanced, these models are confined by their training data and algorithms. Users should exercise caution, not solely relying on AI-generated content for critical decisions. Human judgement must complement AI-generated outputs.</a:t>
            </a:r>
            <a:endParaRPr/>
          </a:p>
          <a:p>
            <a:pPr indent="0" lvl="0" marL="0" rtl="0" algn="l">
              <a:spcBef>
                <a:spcPts val="10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4" name="Google Shape;104;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u="sng"/>
              <a:t>Guarding against Bias in Data: </a:t>
            </a:r>
            <a:r>
              <a:rPr lang="en-GB"/>
              <a:t>Generative AI models, trained on extensive datasets, may inadvertently perpetuate biases in the training data. Proactive measures, including careful data selection, augmentation, and balancing, are crucial to mitigate biases. Diverse and representative datasets contribute to more equitable AI outcomes.</a:t>
            </a:r>
            <a:endParaRPr/>
          </a:p>
          <a:p>
            <a:pPr indent="0" lvl="0" marL="0" rtl="0" algn="l">
              <a:spcBef>
                <a:spcPts val="10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0" name="Google Shape;110;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u="sng"/>
              <a:t>Maintaining Transparency</a:t>
            </a:r>
            <a:r>
              <a:rPr lang="en-GB"/>
              <a:t>: Transparency plays a pivotal role in managing risks associated with generative AI. Clear communication regarding AI-generated content is essential to prevent confusion and deception. Disclosing the origin of AI-generated content when shared publicly fosters trust and upholds ethical standards.</a:t>
            </a:r>
            <a:endParaRPr/>
          </a:p>
          <a:p>
            <a:pPr indent="0" lvl="0" marL="0" rtl="0" algn="l">
              <a:spcBef>
                <a:spcPts val="10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6" name="Google Shape;116;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u="sng"/>
              <a:t>Securing Sensitive Information</a:t>
            </a:r>
            <a:r>
              <a:rPr lang="en-GB"/>
              <a:t>: Gen AI models that have been trained on sensitive data can present privacy concerns. It is crucial to anonymize or eliminate any sensitive information during the training process. To ensure the protection of this data, robust security measures like encryption, access control, and regular audits should be implemented. These measures will effectively safeguard against unauthorized access and potential breaches.</a:t>
            </a:r>
            <a:endParaRPr/>
          </a:p>
          <a:p>
            <a:pPr indent="0" lvl="0" marL="0" rtl="0" algn="l">
              <a:spcBef>
                <a:spcPts val="10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2" name="Google Shape;122;p1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u="sng"/>
              <a:t>Ensuring Accountability and Explainability of AI Systems</a:t>
            </a:r>
            <a:r>
              <a:rPr lang="en-GB"/>
              <a:t>: With the continuous progress of AI technology, it is imperative to prioritize accountability and transparency in order to uphold ethical utilization. Documentation of the development and deployment process establishes a transparent chain of responsibility. Explainability in AI decision-making enables users to understand the factors influencing AI-generated outputs.</a:t>
            </a:r>
            <a:endParaRPr/>
          </a:p>
          <a:p>
            <a:pPr indent="0" lvl="0" marL="0" rtl="0" algn="l">
              <a:lnSpc>
                <a:spcPct val="115000"/>
              </a:lnSpc>
              <a:spcBef>
                <a:spcPts val="1100"/>
              </a:spcBef>
              <a:spcAft>
                <a:spcPts val="0"/>
              </a:spcAft>
              <a:buNone/>
            </a:pPr>
            <a:br>
              <a:rPr lang="en-GB"/>
            </a:br>
            <a:endParaRPr/>
          </a:p>
          <a:p>
            <a:pPr indent="0" lvl="0" marL="0" rtl="0" algn="l">
              <a:spcBef>
                <a:spcPts val="10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8" name="Google Shape;128;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u="sng"/>
              <a:t>Educating and Empowering Users about Generative AI:</a:t>
            </a:r>
            <a:r>
              <a:rPr lang="en-GB"/>
              <a:t> Effective risk management involves educating and empowering users to navigate potential pitfalls. Providing guidelines and best practices encourages users to assess AI-generated content critically. User education initiatives should raise awareness about limitations, biases, and risks associated with generative AI.</a:t>
            </a:r>
            <a:endParaRPr/>
          </a:p>
          <a:p>
            <a:pPr indent="0" lvl="0" marL="0" rtl="0" algn="l">
              <a:lnSpc>
                <a:spcPct val="115000"/>
              </a:lnSpc>
              <a:spcBef>
                <a:spcPts val="1100"/>
              </a:spcBef>
              <a:spcAft>
                <a:spcPts val="0"/>
              </a:spcAft>
              <a:buNone/>
            </a:pPr>
            <a:br>
              <a:rPr lang="en-GB"/>
            </a:br>
            <a:endParaRPr/>
          </a:p>
          <a:p>
            <a:pPr indent="0" lvl="0" marL="0" rtl="0" algn="l">
              <a:spcBef>
                <a:spcPts val="10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4" name="Google Shape;134;p2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u="sng"/>
              <a:t>Addressing Legal and Ethical Concerns</a:t>
            </a:r>
            <a:r>
              <a:rPr lang="en-GB"/>
              <a:t>: The use of Generative AI raises important legal and ethical questions, particularly regarding ownership of intellectual property and data. Adhering to relevant legal frameworks, obtaining necessary rights and permissions, and ensuring transparency in data processing are crucial to avoiding legal repercussions and ethical dilemmas.</a:t>
            </a:r>
            <a:endParaRPr/>
          </a:p>
          <a:p>
            <a:pPr indent="0" lvl="0" marL="0" rtl="0" algn="l">
              <a:spcBef>
                <a:spcPts val="10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311700" y="80200"/>
            <a:ext cx="8520600" cy="9855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100"/>
              </a:spcBef>
              <a:spcAft>
                <a:spcPts val="0"/>
              </a:spcAft>
              <a:buNone/>
            </a:pPr>
            <a:r>
              <a:rPr lang="en-GB"/>
              <a:t>Examples of Ethical and Responsible Use of Generative AI</a:t>
            </a:r>
            <a:endParaRPr/>
          </a:p>
          <a:p>
            <a:pPr indent="0" lvl="0" marL="0" rtl="0" algn="l">
              <a:spcBef>
                <a:spcPts val="1000"/>
              </a:spcBef>
              <a:spcAft>
                <a:spcPts val="0"/>
              </a:spcAft>
              <a:buNone/>
            </a:pPr>
            <a:r>
              <a:t/>
            </a:r>
            <a:endParaRPr/>
          </a:p>
        </p:txBody>
      </p:sp>
      <p:sp>
        <p:nvSpPr>
          <p:cNvPr id="140" name="Google Shape;140;p2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85000" lnSpcReduction="20000"/>
          </a:bodyPr>
          <a:lstStyle/>
          <a:p>
            <a:pPr indent="0" lvl="0" marL="0" rtl="0" algn="l">
              <a:lnSpc>
                <a:spcPct val="115000"/>
              </a:lnSpc>
              <a:spcBef>
                <a:spcPts val="1100"/>
              </a:spcBef>
              <a:spcAft>
                <a:spcPts val="0"/>
              </a:spcAft>
              <a:buNone/>
            </a:pPr>
            <a:r>
              <a:rPr lang="en-GB">
                <a:solidFill>
                  <a:schemeClr val="dk1"/>
                </a:solidFill>
              </a:rPr>
              <a:t>1</a:t>
            </a:r>
            <a:r>
              <a:rPr lang="en-GB">
                <a:solidFill>
                  <a:schemeClr val="dk1"/>
                </a:solidFill>
              </a:rPr>
              <a:t>. Healthcare</a:t>
            </a:r>
            <a:endParaRPr>
              <a:solidFill>
                <a:schemeClr val="dk1"/>
              </a:solidFill>
            </a:endParaRPr>
          </a:p>
          <a:p>
            <a:pPr indent="0" lvl="0" marL="0" rtl="0" algn="l">
              <a:lnSpc>
                <a:spcPct val="115000"/>
              </a:lnSpc>
              <a:spcBef>
                <a:spcPts val="1100"/>
              </a:spcBef>
              <a:spcAft>
                <a:spcPts val="0"/>
              </a:spcAft>
              <a:buNone/>
            </a:pPr>
            <a:r>
              <a:rPr lang="en-GB"/>
              <a:t>*</a:t>
            </a:r>
            <a:r>
              <a:rPr lang="en-GB" u="sng"/>
              <a:t>Early detection of Disease:</a:t>
            </a:r>
            <a:r>
              <a:rPr lang="en-GB"/>
              <a:t> Generative AI has the capability to analyze various types of medical data, including images, genomics, and biomarkers, in order to detect early signs of disease. This enables the implementation of proactive and preventive healthcare measures.</a:t>
            </a:r>
            <a:endParaRPr/>
          </a:p>
          <a:p>
            <a:pPr indent="0" lvl="0" marL="0" rtl="0" algn="l">
              <a:lnSpc>
                <a:spcPct val="115000"/>
              </a:lnSpc>
              <a:spcBef>
                <a:spcPts val="1100"/>
              </a:spcBef>
              <a:spcAft>
                <a:spcPts val="0"/>
              </a:spcAft>
              <a:buNone/>
            </a:pPr>
            <a:r>
              <a:rPr lang="en-GB"/>
              <a:t>*</a:t>
            </a:r>
            <a:r>
              <a:rPr lang="en-GB" u="sng"/>
              <a:t>Drug Discovery and Development:</a:t>
            </a:r>
            <a:r>
              <a:rPr lang="en-GB"/>
              <a:t> By designing molecules, optimizing drug candidates, and simulating clinical trials, generative AI accelerates drug discovery, potentially leading to faster and more efficient development of treatments.</a:t>
            </a:r>
            <a:endParaRPr/>
          </a:p>
          <a:p>
            <a:pPr indent="0" lvl="0" marL="0" rtl="0" algn="l">
              <a:lnSpc>
                <a:spcPct val="115000"/>
              </a:lnSpc>
              <a:spcBef>
                <a:spcPts val="1100"/>
              </a:spcBef>
              <a:spcAft>
                <a:spcPts val="0"/>
              </a:spcAft>
              <a:buNone/>
            </a:pPr>
            <a:br>
              <a:rPr lang="en-GB"/>
            </a:br>
            <a:endParaRPr/>
          </a:p>
          <a:p>
            <a:pPr indent="0" lvl="0" marL="0" rtl="0" algn="l">
              <a:lnSpc>
                <a:spcPct val="115000"/>
              </a:lnSpc>
              <a:spcBef>
                <a:spcPts val="1100"/>
              </a:spcBef>
              <a:spcAft>
                <a:spcPts val="0"/>
              </a:spcAft>
              <a:buNone/>
            </a:pPr>
            <a:r>
              <a:t/>
            </a:r>
            <a:endParaRPr/>
          </a:p>
          <a:p>
            <a:pPr indent="0" lvl="0" marL="0" rtl="0" algn="l">
              <a:spcBef>
                <a:spcPts val="10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6" name="Google Shape;146;p2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85000" lnSpcReduction="20000"/>
          </a:bodyPr>
          <a:lstStyle/>
          <a:p>
            <a:pPr indent="0" lvl="0" marL="0" rtl="0" algn="l">
              <a:lnSpc>
                <a:spcPct val="115000"/>
              </a:lnSpc>
              <a:spcBef>
                <a:spcPts val="1100"/>
              </a:spcBef>
              <a:spcAft>
                <a:spcPts val="0"/>
              </a:spcAft>
              <a:buNone/>
            </a:pPr>
            <a:r>
              <a:rPr lang="en-GB">
                <a:solidFill>
                  <a:schemeClr val="dk1"/>
                </a:solidFill>
              </a:rPr>
              <a:t>2. Environmental Sustainability</a:t>
            </a:r>
            <a:endParaRPr>
              <a:solidFill>
                <a:schemeClr val="dk1"/>
              </a:solidFill>
            </a:endParaRPr>
          </a:p>
          <a:p>
            <a:pPr indent="0" lvl="0" marL="0" rtl="0" algn="l">
              <a:lnSpc>
                <a:spcPct val="115000"/>
              </a:lnSpc>
              <a:spcBef>
                <a:spcPts val="1100"/>
              </a:spcBef>
              <a:spcAft>
                <a:spcPts val="0"/>
              </a:spcAft>
              <a:buNone/>
            </a:pPr>
            <a:r>
              <a:rPr lang="en-GB"/>
              <a:t>*</a:t>
            </a:r>
            <a:r>
              <a:rPr lang="en-GB" u="sng"/>
              <a:t>Climate Change Research</a:t>
            </a:r>
            <a:r>
              <a:rPr lang="en-GB"/>
              <a:t>: Generative AI aids in modeling complex climate systems, generating high-resolution climate data, and exploring scenarios for mitigation and adaptation. This contributes to a better understanding of climate change and developing effective strategies.</a:t>
            </a:r>
            <a:endParaRPr/>
          </a:p>
          <a:p>
            <a:pPr indent="0" lvl="0" marL="0" rtl="0" algn="l">
              <a:lnSpc>
                <a:spcPct val="115000"/>
              </a:lnSpc>
              <a:spcBef>
                <a:spcPts val="1100"/>
              </a:spcBef>
              <a:spcAft>
                <a:spcPts val="0"/>
              </a:spcAft>
              <a:buNone/>
            </a:pPr>
            <a:r>
              <a:t/>
            </a:r>
            <a:endParaRPr/>
          </a:p>
          <a:p>
            <a:pPr indent="0" lvl="0" marL="0" rtl="0" algn="l">
              <a:lnSpc>
                <a:spcPct val="115000"/>
              </a:lnSpc>
              <a:spcBef>
                <a:spcPts val="1100"/>
              </a:spcBef>
              <a:spcAft>
                <a:spcPts val="0"/>
              </a:spcAft>
              <a:buNone/>
            </a:pPr>
            <a:r>
              <a:rPr lang="en-GB"/>
              <a:t>*Sustainable Energy Solutions: Gen AI can help support sustainable energy practices by optimizing energy grids, forecasting renewable energy production and demand, and creating intelligent energy management systems.</a:t>
            </a:r>
            <a:endParaRPr/>
          </a:p>
          <a:p>
            <a:pPr indent="0" lvl="0" marL="0" rtl="0" algn="l">
              <a:lnSpc>
                <a:spcPct val="115000"/>
              </a:lnSpc>
              <a:spcBef>
                <a:spcPts val="1100"/>
              </a:spcBef>
              <a:spcAft>
                <a:spcPts val="0"/>
              </a:spcAft>
              <a:buNone/>
            </a:pPr>
            <a:br>
              <a:rPr lang="en-GB"/>
            </a:br>
            <a:endParaRPr/>
          </a:p>
          <a:p>
            <a:pPr indent="0" lvl="0" marL="0" rtl="0" algn="l">
              <a:spcBef>
                <a:spcPts val="10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2" name="Google Shape;152;p2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85000" lnSpcReduction="20000"/>
          </a:bodyPr>
          <a:lstStyle/>
          <a:p>
            <a:pPr indent="0" lvl="0" marL="0" rtl="0" algn="l">
              <a:lnSpc>
                <a:spcPct val="115000"/>
              </a:lnSpc>
              <a:spcBef>
                <a:spcPts val="1100"/>
              </a:spcBef>
              <a:spcAft>
                <a:spcPts val="0"/>
              </a:spcAft>
              <a:buNone/>
            </a:pPr>
            <a:r>
              <a:rPr lang="en-GB">
                <a:solidFill>
                  <a:schemeClr val="dk1"/>
                </a:solidFill>
              </a:rPr>
              <a:t>3. Social Good</a:t>
            </a:r>
            <a:endParaRPr>
              <a:solidFill>
                <a:schemeClr val="dk1"/>
              </a:solidFill>
            </a:endParaRPr>
          </a:p>
          <a:p>
            <a:pPr indent="0" lvl="0" marL="0" rtl="0" algn="l">
              <a:lnSpc>
                <a:spcPct val="115000"/>
              </a:lnSpc>
              <a:spcBef>
                <a:spcPts val="1100"/>
              </a:spcBef>
              <a:spcAft>
                <a:spcPts val="0"/>
              </a:spcAft>
              <a:buNone/>
            </a:pPr>
            <a:r>
              <a:rPr lang="en-GB" u="sng"/>
              <a:t>*Assistive Technologies for Disabilities</a:t>
            </a:r>
            <a:r>
              <a:rPr lang="en-GB"/>
              <a:t>: Generative AI enhances accessibility by creating interfaces, natural language descriptions, and realistic sounds, improving the user experience for people with disabilities and promoting inclusion.</a:t>
            </a:r>
            <a:endParaRPr/>
          </a:p>
          <a:p>
            <a:pPr indent="0" lvl="0" marL="0" rtl="0" algn="l">
              <a:lnSpc>
                <a:spcPct val="115000"/>
              </a:lnSpc>
              <a:spcBef>
                <a:spcPts val="1100"/>
              </a:spcBef>
              <a:spcAft>
                <a:spcPts val="0"/>
              </a:spcAft>
              <a:buNone/>
            </a:pPr>
            <a:r>
              <a:t/>
            </a:r>
            <a:endParaRPr/>
          </a:p>
          <a:p>
            <a:pPr indent="0" lvl="0" marL="0" rtl="0" algn="l">
              <a:lnSpc>
                <a:spcPct val="115000"/>
              </a:lnSpc>
              <a:spcBef>
                <a:spcPts val="1100"/>
              </a:spcBef>
              <a:spcAft>
                <a:spcPts val="0"/>
              </a:spcAft>
              <a:buNone/>
            </a:pPr>
            <a:r>
              <a:rPr lang="en-GB" u="sng"/>
              <a:t>*Education and Learning:</a:t>
            </a:r>
            <a:r>
              <a:rPr lang="en-GB"/>
              <a:t> Generative AI plays a role in personalized learning content creation, generating feedback assessments, and facilitating collaborative learning. This promotes individualized learning experiences and fosters interactive education.</a:t>
            </a:r>
            <a:endParaRPr/>
          </a:p>
          <a:p>
            <a:pPr indent="0" lvl="0" marL="0" rtl="0" algn="l">
              <a:lnSpc>
                <a:spcPct val="115000"/>
              </a:lnSpc>
              <a:spcBef>
                <a:spcPts val="1100"/>
              </a:spcBef>
              <a:spcAft>
                <a:spcPts val="0"/>
              </a:spcAft>
              <a:buNone/>
            </a:pPr>
            <a:br>
              <a:rPr lang="en-GB"/>
            </a:br>
            <a:endParaRPr/>
          </a:p>
          <a:p>
            <a:pPr indent="0" lvl="0" marL="0" rtl="0" algn="l">
              <a:spcBef>
                <a:spcPts val="10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311700" y="573100"/>
            <a:ext cx="8520600" cy="7545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100"/>
              </a:spcBef>
              <a:spcAft>
                <a:spcPts val="0"/>
              </a:spcAft>
              <a:buNone/>
            </a:pPr>
            <a:r>
              <a:rPr lang="en-GB"/>
              <a:t>Best Practices for Ethical and Responsible Deployment of Generative AI</a:t>
            </a:r>
            <a:endParaRPr/>
          </a:p>
          <a:p>
            <a:pPr indent="0" lvl="0" marL="0" rtl="0" algn="l">
              <a:spcBef>
                <a:spcPts val="1000"/>
              </a:spcBef>
              <a:spcAft>
                <a:spcPts val="0"/>
              </a:spcAft>
              <a:buNone/>
            </a:pPr>
            <a:r>
              <a:t/>
            </a:r>
            <a:endParaRPr/>
          </a:p>
        </p:txBody>
      </p:sp>
      <p:sp>
        <p:nvSpPr>
          <p:cNvPr id="158" name="Google Shape;158;p25"/>
          <p:cNvSpPr txBox="1"/>
          <p:nvPr>
            <p:ph idx="1" type="body"/>
          </p:nvPr>
        </p:nvSpPr>
        <p:spPr>
          <a:xfrm>
            <a:off x="311700" y="2147350"/>
            <a:ext cx="8520600" cy="24216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u="sng"/>
              <a:t>Transparency</a:t>
            </a:r>
            <a:r>
              <a:rPr lang="en-GB"/>
              <a:t>: Communicate the purpose, capabilities, limitations, and potential risks of generative AI systems to users and stakeholders.</a:t>
            </a:r>
            <a:endParaRPr/>
          </a:p>
          <a:p>
            <a:pPr indent="0" lvl="0" marL="0" rtl="0" algn="l">
              <a:spcBef>
                <a:spcPts val="10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4" name="Google Shape;164;p26"/>
          <p:cNvSpPr txBox="1"/>
          <p:nvPr>
            <p:ph idx="1" type="body"/>
          </p:nvPr>
        </p:nvSpPr>
        <p:spPr>
          <a:xfrm>
            <a:off x="130325" y="1251650"/>
            <a:ext cx="8520600" cy="33390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u="sng"/>
              <a:t>Data Privacy and Security</a:t>
            </a:r>
            <a:r>
              <a:rPr lang="en-GB"/>
              <a:t>: Protect the personal and sensitive data used to train, test, and deploy generative AI systems from unauthorized access, misuse, or leakage.</a:t>
            </a:r>
            <a:endParaRPr/>
          </a:p>
          <a:p>
            <a:pPr indent="0" lvl="0" marL="0" rtl="0" algn="l">
              <a:lnSpc>
                <a:spcPct val="115000"/>
              </a:lnSpc>
              <a:spcBef>
                <a:spcPts val="1100"/>
              </a:spcBef>
              <a:spcAft>
                <a:spcPts val="0"/>
              </a:spcAft>
              <a:buNone/>
            </a:pPr>
            <a:br>
              <a:rPr lang="en-GB"/>
            </a:br>
            <a:endParaRPr/>
          </a:p>
          <a:p>
            <a:pPr indent="0" lvl="0" marL="0" rtl="0" algn="l">
              <a:spcBef>
                <a:spcPts val="10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0" name="Google Shape;170;p2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u="sng"/>
              <a:t>Fairness and Bias</a:t>
            </a:r>
            <a:r>
              <a:rPr lang="en-GB"/>
              <a:t>: Ensure generative AI systems do not harm or discriminate against any group or individual by identifying and mitigating any harmful biases or stereotypes in the data or algorithms.</a:t>
            </a:r>
            <a:endParaRPr/>
          </a:p>
          <a:p>
            <a:pPr indent="0" lvl="0" marL="0" rtl="0" algn="l">
              <a:lnSpc>
                <a:spcPct val="115000"/>
              </a:lnSpc>
              <a:spcBef>
                <a:spcPts val="1100"/>
              </a:spcBef>
              <a:spcAft>
                <a:spcPts val="0"/>
              </a:spcAft>
              <a:buNone/>
            </a:pPr>
            <a:br>
              <a:rPr lang="en-GB"/>
            </a:br>
            <a:endParaRPr/>
          </a:p>
          <a:p>
            <a:pPr indent="0" lvl="0" marL="0" rtl="0" algn="l">
              <a:spcBef>
                <a:spcPts val="10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6" name="Google Shape;176;p28"/>
          <p:cNvSpPr txBox="1"/>
          <p:nvPr>
            <p:ph idx="1" type="body"/>
          </p:nvPr>
        </p:nvSpPr>
        <p:spPr>
          <a:xfrm>
            <a:off x="195625" y="1208100"/>
            <a:ext cx="8520600" cy="33390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u="sng"/>
              <a:t>Accountability</a:t>
            </a:r>
            <a:r>
              <a:rPr lang="en-GB"/>
              <a:t>: Establish clear roles and responsibilities for the development, deployment, and oversight of generative AI systems and provide mechanisms for monitoring, auditing, and reporting their performance and impacts.</a:t>
            </a:r>
            <a:endParaRPr/>
          </a:p>
          <a:p>
            <a:pPr indent="0" lvl="0" marL="0" rtl="0" algn="l">
              <a:lnSpc>
                <a:spcPct val="115000"/>
              </a:lnSpc>
              <a:spcBef>
                <a:spcPts val="1100"/>
              </a:spcBef>
              <a:spcAft>
                <a:spcPts val="0"/>
              </a:spcAft>
              <a:buNone/>
            </a:pPr>
            <a:br>
              <a:rPr lang="en-GB"/>
            </a:br>
            <a:endParaRPr/>
          </a:p>
          <a:p>
            <a:pPr indent="0" lvl="0" marL="0" rtl="0" algn="l">
              <a:spcBef>
                <a:spcPts val="10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311700" y="54775"/>
            <a:ext cx="8520600" cy="9879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100"/>
              </a:spcBef>
              <a:spcAft>
                <a:spcPts val="0"/>
              </a:spcAft>
              <a:buNone/>
            </a:pPr>
            <a:r>
              <a:rPr lang="en-GB"/>
              <a:t>Conclusion on Responsible Implementation of Generative AI</a:t>
            </a:r>
            <a:endParaRPr/>
          </a:p>
          <a:p>
            <a:pPr indent="0" lvl="0" marL="0" rtl="0" algn="l">
              <a:spcBef>
                <a:spcPts val="1000"/>
              </a:spcBef>
              <a:spcAft>
                <a:spcPts val="0"/>
              </a:spcAft>
              <a:buNone/>
            </a:pPr>
            <a:r>
              <a:t/>
            </a:r>
            <a:endParaRPr/>
          </a:p>
        </p:txBody>
      </p:sp>
      <p:sp>
        <p:nvSpPr>
          <p:cNvPr id="182" name="Google Shape;182;p2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lnSpc>
                <a:spcPct val="115000"/>
              </a:lnSpc>
              <a:spcBef>
                <a:spcPts val="1100"/>
              </a:spcBef>
              <a:spcAft>
                <a:spcPts val="0"/>
              </a:spcAft>
              <a:buNone/>
            </a:pPr>
            <a:r>
              <a:rPr lang="en-GB"/>
              <a:t>Generative AI presents exciting possibilities, but its risks must be meticulously managed for ethical and responsible use. By understanding limitations, addressing biases, maintaining transparency, securing sensitive information, ensuring accountability, continuous monitoring, educating users, addressing legal and ethical concerns, collaborating with experts, establishing content guidelines, and regular updates, organizations can harness generative AI's potential responsibly, safeguard against unintended consequences, and promote ethical AI use.</a:t>
            </a:r>
            <a:endParaRPr/>
          </a:p>
          <a:p>
            <a:pPr indent="0" lvl="0" marL="0" rtl="0" algn="l">
              <a:spcBef>
                <a:spcPts val="10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