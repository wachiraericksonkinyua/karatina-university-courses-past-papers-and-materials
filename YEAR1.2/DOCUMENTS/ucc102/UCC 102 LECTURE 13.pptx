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9" r:id="rId4"/>
    <p:sldId id="260" r:id="rId5"/>
    <p:sldId id="261" r:id="rId6"/>
    <p:sldId id="262" r:id="rId7"/>
    <p:sldId id="269" r:id="rId8"/>
    <p:sldId id="264" r:id="rId9"/>
    <p:sldId id="265" r:id="rId10"/>
    <p:sldId id="270" r:id="rId11"/>
    <p:sldId id="266" r:id="rId12"/>
    <p:sldId id="267" r:id="rId13"/>
    <p:sldId id="268" r:id="rId14"/>
    <p:sldId id="271" r:id="rId15"/>
    <p:sldId id="272" r:id="rId16"/>
    <p:sldId id="273" r:id="rId17"/>
    <p:sldId id="275" r:id="rId18"/>
    <p:sldId id="274" r:id="rId19"/>
    <p:sldId id="276" r:id="rId20"/>
    <p:sldId id="277" r:id="rId21"/>
    <p:sldId id="278" r:id="rId22"/>
    <p:sldId id="279" r:id="rId23"/>
    <p:sldId id="280" r:id="rId24"/>
    <p:sldId id="281" r:id="rId25"/>
    <p:sldId id="282"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6" d="100"/>
          <a:sy n="56" d="100"/>
        </p:scale>
        <p:origin x="-432" y="-4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AC32ABD0-7404-43A2-A3A7-4EA5B6A6243F}" type="datetimeFigureOut">
              <a:rPr lang="en-GB" smtClean="0"/>
              <a:pPr/>
              <a:t>04/06/2021</a:t>
            </a:fld>
            <a:endParaRPr lang="en-GB"/>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GB"/>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C7D38865-0FBB-4125-9BA3-7D90FA4A630F}" type="slidenum">
              <a:rPr lang="en-GB" smtClean="0"/>
              <a:pPr/>
              <a:t>‹#›</a:t>
            </a:fld>
            <a:endParaRPr lang="en-GB"/>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AC32ABD0-7404-43A2-A3A7-4EA5B6A6243F}" type="datetimeFigureOut">
              <a:rPr lang="en-GB" smtClean="0"/>
              <a:pPr/>
              <a:t>04/06/2021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C7D38865-0FBB-4125-9BA3-7D90FA4A630F}" type="slidenum">
              <a:rPr lang="en-GB" smtClean="0"/>
              <a:pPr/>
              <a:t>‹#›</a:t>
            </a:fld>
            <a:endParaRPr lang="en-GB"/>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AC32ABD0-7404-43A2-A3A7-4EA5B6A6243F}" type="datetimeFigureOut">
              <a:rPr lang="en-GB" smtClean="0"/>
              <a:pPr/>
              <a:t>04/06/2021</a:t>
            </a:fld>
            <a:endParaRPr lang="en-GB"/>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C7D38865-0FBB-4125-9BA3-7D90FA4A630F}" type="slidenum">
              <a:rPr lang="en-GB" smtClean="0"/>
              <a:pPr/>
              <a:t>‹#›</a:t>
            </a:fld>
            <a:endParaRPr lang="en-GB"/>
          </a:p>
        </p:txBody>
      </p:sp>
      <p:sp>
        <p:nvSpPr>
          <p:cNvPr id="14" name="Footer Placeholder 13"/>
          <p:cNvSpPr>
            <a:spLocks noGrp="1"/>
          </p:cNvSpPr>
          <p:nvPr>
            <p:ph type="ftr" sz="quarter" idx="12"/>
          </p:nvPr>
        </p:nvSpPr>
        <p:spPr/>
        <p:txBody>
          <a:bodyPr/>
          <a:lstStyle/>
          <a:p>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AC32ABD0-7404-43A2-A3A7-4EA5B6A6243F}" type="datetimeFigureOut">
              <a:rPr lang="en-GB" smtClean="0"/>
              <a:pPr/>
              <a:t>04/06/2021</a:t>
            </a:fld>
            <a:endParaRPr lang="en-GB"/>
          </a:p>
        </p:txBody>
      </p:sp>
      <p:sp>
        <p:nvSpPr>
          <p:cNvPr id="10" name="Slide Number Placeholder 9"/>
          <p:cNvSpPr>
            <a:spLocks noGrp="1"/>
          </p:cNvSpPr>
          <p:nvPr>
            <p:ph type="sldNum" sz="quarter" idx="16"/>
          </p:nvPr>
        </p:nvSpPr>
        <p:spPr/>
        <p:txBody>
          <a:bodyPr rtlCol="0"/>
          <a:lstStyle/>
          <a:p>
            <a:fld id="{C7D38865-0FBB-4125-9BA3-7D90FA4A630F}" type="slidenum">
              <a:rPr lang="en-GB" smtClean="0"/>
              <a:pPr/>
              <a:t>‹#›</a:t>
            </a:fld>
            <a:endParaRPr lang="en-GB"/>
          </a:p>
        </p:txBody>
      </p:sp>
      <p:sp>
        <p:nvSpPr>
          <p:cNvPr id="12" name="Footer Placeholder 11"/>
          <p:cNvSpPr>
            <a:spLocks noGrp="1"/>
          </p:cNvSpPr>
          <p:nvPr>
            <p:ph type="ftr" sz="quarter" idx="17"/>
          </p:nvPr>
        </p:nvSpPr>
        <p:spPr/>
        <p:txBody>
          <a:bodyPr rtlCol="0"/>
          <a:lstStyle/>
          <a:p>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AC32ABD0-7404-43A2-A3A7-4EA5B6A6243F}" type="datetimeFigureOut">
              <a:rPr lang="en-GB" smtClean="0"/>
              <a:pPr/>
              <a:t>04/06/2021</a:t>
            </a:fld>
            <a:endParaRPr lang="en-GB"/>
          </a:p>
        </p:txBody>
      </p:sp>
      <p:sp>
        <p:nvSpPr>
          <p:cNvPr id="12" name="Slide Number Placeholder 11"/>
          <p:cNvSpPr>
            <a:spLocks noGrp="1"/>
          </p:cNvSpPr>
          <p:nvPr>
            <p:ph type="sldNum" sz="quarter" idx="16"/>
          </p:nvPr>
        </p:nvSpPr>
        <p:spPr/>
        <p:txBody>
          <a:bodyPr rtlCol="0"/>
          <a:lstStyle/>
          <a:p>
            <a:fld id="{C7D38865-0FBB-4125-9BA3-7D90FA4A630F}" type="slidenum">
              <a:rPr lang="en-GB" smtClean="0"/>
              <a:pPr/>
              <a:t>‹#›</a:t>
            </a:fld>
            <a:endParaRPr lang="en-GB"/>
          </a:p>
        </p:txBody>
      </p:sp>
      <p:sp>
        <p:nvSpPr>
          <p:cNvPr id="14" name="Footer Placeholder 13"/>
          <p:cNvSpPr>
            <a:spLocks noGrp="1"/>
          </p:cNvSpPr>
          <p:nvPr>
            <p:ph type="ftr" sz="quarter" idx="17"/>
          </p:nvPr>
        </p:nvSpPr>
        <p:spPr/>
        <p:txBody>
          <a:bodyPr rtlCol="0"/>
          <a:lstStyle/>
          <a:p>
            <a:endParaRPr lang="en-GB"/>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AC32ABD0-7404-43A2-A3A7-4EA5B6A6243F}" type="datetimeFigureOut">
              <a:rPr lang="en-GB" smtClean="0"/>
              <a:pPr/>
              <a:t>04/06/2021</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C7D38865-0FBB-4125-9BA3-7D90FA4A630F}"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32ABD0-7404-43A2-A3A7-4EA5B6A6243F}" type="datetimeFigureOut">
              <a:rPr lang="en-GB" smtClean="0"/>
              <a:pPr/>
              <a:t>04/06/2021</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C7D38865-0FBB-4125-9BA3-7D90FA4A630F}"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AC32ABD0-7404-43A2-A3A7-4EA5B6A6243F}" type="datetimeFigureOut">
              <a:rPr lang="en-GB" smtClean="0"/>
              <a:pPr/>
              <a:t>04/06/2021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C7D38865-0FBB-4125-9BA3-7D90FA4A630F}" type="slidenum">
              <a:rPr lang="en-GB" smtClean="0"/>
              <a:pPr/>
              <a:t>‹#›</a:t>
            </a:fld>
            <a:endParaRPr lang="en-GB"/>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AC32ABD0-7404-43A2-A3A7-4EA5B6A6243F}" type="datetimeFigureOut">
              <a:rPr lang="en-GB" smtClean="0"/>
              <a:pPr/>
              <a:t>04/06/2021</a:t>
            </a:fld>
            <a:endParaRPr lang="en-GB"/>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C7D38865-0FBB-4125-9BA3-7D90FA4A630F}" type="slidenum">
              <a:rPr lang="en-GB" smtClean="0"/>
              <a:pPr/>
              <a:t>‹#›</a:t>
            </a:fld>
            <a:endParaRPr lang="en-GB"/>
          </a:p>
        </p:txBody>
      </p:sp>
      <p:sp>
        <p:nvSpPr>
          <p:cNvPr id="14" name="Footer Placeholder 13"/>
          <p:cNvSpPr>
            <a:spLocks noGrp="1"/>
          </p:cNvSpPr>
          <p:nvPr>
            <p:ph type="ftr" sz="quarter" idx="12"/>
          </p:nvPr>
        </p:nvSpPr>
        <p:spPr>
          <a:xfrm>
            <a:off x="1600200" y="6248206"/>
            <a:ext cx="4572000" cy="365125"/>
          </a:xfrm>
        </p:spPr>
        <p:txBody>
          <a:bodyPr rtlCol="0"/>
          <a:lstStyle/>
          <a:p>
            <a:endParaRPr lang="en-GB"/>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C32ABD0-7404-43A2-A3A7-4EA5B6A6243F}" type="datetimeFigureOut">
              <a:rPr lang="en-GB" smtClean="0"/>
              <a:pPr/>
              <a:t>04/06/2021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7D38865-0FBB-4125-9BA3-7D90FA4A630F}"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AC32ABD0-7404-43A2-A3A7-4EA5B6A6243F}" type="datetimeFigureOut">
              <a:rPr lang="en-GB" smtClean="0"/>
              <a:pPr/>
              <a:t>04/06/2021</a:t>
            </a:fld>
            <a:endParaRPr lang="en-GB"/>
          </a:p>
        </p:txBody>
      </p:sp>
      <p:sp>
        <p:nvSpPr>
          <p:cNvPr id="5" name="Footer Placeholder 4"/>
          <p:cNvSpPr>
            <a:spLocks noGrp="1"/>
          </p:cNvSpPr>
          <p:nvPr>
            <p:ph type="ftr" sz="quarter" idx="11"/>
          </p:nvPr>
        </p:nvSpPr>
        <p:spPr>
          <a:xfrm>
            <a:off x="457201" y="6248207"/>
            <a:ext cx="5573483" cy="365125"/>
          </a:xfrm>
        </p:spPr>
        <p:txBody>
          <a:bodyPr/>
          <a:lstStyle/>
          <a:p>
            <a:endParaRPr lang="en-GB"/>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C7D38865-0FBB-4125-9BA3-7D90FA4A630F}" type="slidenum">
              <a:rPr lang="en-GB" smtClean="0"/>
              <a:pPr/>
              <a:t>‹#›</a:t>
            </a:fld>
            <a:endParaRPr lang="en-GB"/>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AC32ABD0-7404-43A2-A3A7-4EA5B6A6243F}" type="datetimeFigureOut">
              <a:rPr lang="en-GB" smtClean="0"/>
              <a:pPr/>
              <a:t>04/06/2021</a:t>
            </a:fld>
            <a:endParaRPr lang="en-GB"/>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GB"/>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C7D38865-0FBB-4125-9BA3-7D90FA4A630F}"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19672" y="1412776"/>
            <a:ext cx="6477000" cy="1828800"/>
          </a:xfrm>
        </p:spPr>
        <p:txBody>
          <a:bodyPr/>
          <a:lstStyle/>
          <a:p>
            <a:r>
              <a:rPr lang="en-GB" b="1" dirty="0" smtClean="0"/>
              <a:t>LECTURE 13 </a:t>
            </a:r>
            <a:endParaRPr lang="en-GB" dirty="0"/>
          </a:p>
        </p:txBody>
      </p:sp>
      <p:sp>
        <p:nvSpPr>
          <p:cNvPr id="3" name="Subtitle 2"/>
          <p:cNvSpPr>
            <a:spLocks noGrp="1"/>
          </p:cNvSpPr>
          <p:nvPr>
            <p:ph type="subTitle" idx="1"/>
          </p:nvPr>
        </p:nvSpPr>
        <p:spPr>
          <a:xfrm>
            <a:off x="1907704" y="3645024"/>
            <a:ext cx="6705600" cy="685800"/>
          </a:xfrm>
        </p:spPr>
        <p:txBody>
          <a:bodyPr/>
          <a:lstStyle/>
          <a:p>
            <a:r>
              <a:rPr lang="en-GB" b="1" dirty="0" smtClean="0"/>
              <a:t>CV </a:t>
            </a:r>
            <a:r>
              <a:rPr lang="en-GB" b="1" dirty="0"/>
              <a:t>AND COVER LETTER WRITING</a:t>
            </a:r>
            <a:endParaRPr lang="en-GB" dirty="0"/>
          </a:p>
          <a:p>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What is a Curriculum Vitae</a:t>
            </a:r>
            <a:r>
              <a:rPr lang="en-GB" b="1" dirty="0" smtClean="0"/>
              <a:t>?</a:t>
            </a:r>
            <a:endParaRPr lang="en-GB" dirty="0"/>
          </a:p>
        </p:txBody>
      </p:sp>
      <p:sp>
        <p:nvSpPr>
          <p:cNvPr id="3" name="Content Placeholder 2"/>
          <p:cNvSpPr>
            <a:spLocks noGrp="1"/>
          </p:cNvSpPr>
          <p:nvPr>
            <p:ph sz="quarter" idx="1"/>
          </p:nvPr>
        </p:nvSpPr>
        <p:spPr/>
        <p:txBody>
          <a:bodyPr>
            <a:normAutofit/>
          </a:bodyPr>
          <a:lstStyle/>
          <a:p>
            <a:r>
              <a:rPr lang="lv-LV" sz="2800" dirty="0" smtClean="0"/>
              <a:t>Literally mean</a:t>
            </a:r>
            <a:r>
              <a:rPr lang="en-GB" sz="2800" dirty="0" smtClean="0"/>
              <a:t>s </a:t>
            </a:r>
            <a:r>
              <a:rPr lang="lv-LV" sz="2800" dirty="0" smtClean="0"/>
              <a:t>‘the course of one’s life’</a:t>
            </a:r>
            <a:endParaRPr lang="en-GB" sz="2800" dirty="0" smtClean="0"/>
          </a:p>
          <a:p>
            <a:r>
              <a:rPr lang="en-GB" sz="2800" dirty="0" smtClean="0"/>
              <a:t>It </a:t>
            </a:r>
            <a:r>
              <a:rPr lang="en-GB" sz="2800" dirty="0"/>
              <a:t>is a special kind of autobiography which gives a short written account of your career , qualifications , skills, experience and achievements. </a:t>
            </a:r>
            <a:endParaRPr lang="en-GB" sz="2800" dirty="0" smtClean="0"/>
          </a:p>
          <a:p>
            <a:r>
              <a:rPr lang="en-GB" sz="2800" dirty="0" smtClean="0"/>
              <a:t>It </a:t>
            </a:r>
            <a:r>
              <a:rPr lang="en-GB" sz="2800" dirty="0"/>
              <a:t>is used in </a:t>
            </a:r>
            <a:r>
              <a:rPr lang="en-GB" sz="2800" dirty="0" smtClean="0"/>
              <a:t>recruitment and </a:t>
            </a:r>
            <a:r>
              <a:rPr lang="en-GB" sz="2800" dirty="0"/>
              <a:t>it allows a potential employer to quickly see a board outline of a candidate</a:t>
            </a:r>
            <a:r>
              <a:rPr lang="en-GB" sz="2800" dirty="0" smtClean="0"/>
              <a:t>.</a:t>
            </a:r>
          </a:p>
          <a:p>
            <a:endParaRPr lang="en-US" sz="2400" dirty="0"/>
          </a:p>
          <a:p>
            <a:endParaRPr lang="en-GB" dirty="0" smtClean="0"/>
          </a:p>
        </p:txBody>
      </p:sp>
      <p:sp>
        <p:nvSpPr>
          <p:cNvPr id="4" name="Rectangle 3"/>
          <p:cNvSpPr/>
          <p:nvPr/>
        </p:nvSpPr>
        <p:spPr>
          <a:xfrm>
            <a:off x="1259632" y="6309320"/>
            <a:ext cx="5760640"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 curriculum vitae is a written description of your work experience, educational background, and skills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Resume </a:t>
            </a:r>
            <a:r>
              <a:rPr lang="en-GB" b="1" dirty="0" err="1" smtClean="0"/>
              <a:t>vs</a:t>
            </a:r>
            <a:r>
              <a:rPr lang="en-GB" b="1" dirty="0" smtClean="0"/>
              <a:t> CV</a:t>
            </a:r>
            <a:br>
              <a:rPr lang="en-GB" b="1" dirty="0" smtClean="0"/>
            </a:br>
            <a:r>
              <a:rPr lang="en-GB" b="1" dirty="0" smtClean="0"/>
              <a:t>What’s </a:t>
            </a:r>
            <a:r>
              <a:rPr lang="en-GB" b="1" dirty="0"/>
              <a:t>the difference</a:t>
            </a:r>
            <a:r>
              <a:rPr lang="en-GB" dirty="0"/>
              <a:t>? </a:t>
            </a:r>
          </a:p>
        </p:txBody>
      </p:sp>
      <p:sp>
        <p:nvSpPr>
          <p:cNvPr id="5" name="Content Placeholder 4"/>
          <p:cNvSpPr>
            <a:spLocks noGrp="1"/>
          </p:cNvSpPr>
          <p:nvPr>
            <p:ph sz="quarter" idx="1"/>
          </p:nvPr>
        </p:nvSpPr>
        <p:spPr/>
        <p:txBody>
          <a:bodyPr>
            <a:normAutofit fontScale="92500" lnSpcReduction="20000"/>
          </a:bodyPr>
          <a:lstStyle/>
          <a:p>
            <a:endParaRPr lang="en-GB" dirty="0" smtClean="0"/>
          </a:p>
          <a:p>
            <a:r>
              <a:rPr lang="en-GB" dirty="0" smtClean="0"/>
              <a:t>Often </a:t>
            </a:r>
            <a:r>
              <a:rPr lang="en-GB" dirty="0" smtClean="0"/>
              <a:t>the words are used interchangeably  to mean the same thing </a:t>
            </a:r>
          </a:p>
          <a:p>
            <a:r>
              <a:rPr lang="en-GB" dirty="0" smtClean="0"/>
              <a:t>But they differ in </a:t>
            </a:r>
          </a:p>
          <a:p>
            <a:pPr lvl="1">
              <a:buFont typeface="Wingdings" pitchFamily="2" charset="2"/>
              <a:buChar char="q"/>
            </a:pPr>
            <a:r>
              <a:rPr lang="en-GB" dirty="0" smtClean="0"/>
              <a:t>the </a:t>
            </a:r>
            <a:r>
              <a:rPr lang="en-GB" dirty="0"/>
              <a:t>length, </a:t>
            </a:r>
            <a:endParaRPr lang="en-GB" dirty="0" smtClean="0"/>
          </a:p>
          <a:p>
            <a:pPr lvl="1">
              <a:buFont typeface="Wingdings" pitchFamily="2" charset="2"/>
              <a:buChar char="q"/>
            </a:pPr>
            <a:r>
              <a:rPr lang="en-GB" dirty="0" smtClean="0"/>
              <a:t>what </a:t>
            </a:r>
            <a:r>
              <a:rPr lang="en-GB" dirty="0"/>
              <a:t>is included and </a:t>
            </a:r>
            <a:endParaRPr lang="en-GB" dirty="0" smtClean="0"/>
          </a:p>
          <a:p>
            <a:pPr lvl="1">
              <a:buFont typeface="Wingdings" pitchFamily="2" charset="2"/>
              <a:buChar char="q"/>
            </a:pPr>
            <a:r>
              <a:rPr lang="en-GB" dirty="0" smtClean="0"/>
              <a:t>what </a:t>
            </a:r>
            <a:r>
              <a:rPr lang="en-GB" dirty="0"/>
              <a:t>each is used for. </a:t>
            </a:r>
          </a:p>
          <a:p>
            <a:endParaRPr lang="en-GB" dirty="0" smtClean="0"/>
          </a:p>
          <a:p>
            <a:r>
              <a:rPr lang="en-GB" sz="3200" dirty="0" smtClean="0"/>
              <a:t>Curriculum vitae “CV”= Life story (Latin)used in Europe</a:t>
            </a:r>
          </a:p>
          <a:p>
            <a:r>
              <a:rPr lang="en-GB" sz="3200" dirty="0" smtClean="0"/>
              <a:t>Resume = Summary (French)used in USA</a:t>
            </a:r>
            <a:endParaRPr lang="lv-LV" sz="3200" dirty="0" smtClean="0"/>
          </a:p>
          <a:p>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smtClean="0"/>
              <a:t>CV </a:t>
            </a:r>
            <a:r>
              <a:rPr lang="en-GB" dirty="0" err="1" smtClean="0"/>
              <a:t>vs</a:t>
            </a:r>
            <a:r>
              <a:rPr lang="en-GB" dirty="0" smtClean="0"/>
              <a:t> resume cont’d</a:t>
            </a:r>
            <a:endParaRPr lang="en-GB" dirty="0"/>
          </a:p>
        </p:txBody>
      </p:sp>
      <p:graphicFrame>
        <p:nvGraphicFramePr>
          <p:cNvPr id="5" name="Table 4"/>
          <p:cNvGraphicFramePr>
            <a:graphicFrameLocks noGrp="1"/>
          </p:cNvGraphicFramePr>
          <p:nvPr/>
        </p:nvGraphicFramePr>
        <p:xfrm>
          <a:off x="683568" y="1484786"/>
          <a:ext cx="7776864" cy="6513354"/>
        </p:xfrm>
        <a:graphic>
          <a:graphicData uri="http://schemas.openxmlformats.org/drawingml/2006/table">
            <a:tbl>
              <a:tblPr firstRow="1" bandRow="1">
                <a:tableStyleId>{5C22544A-7EE6-4342-B048-85BDC9FD1C3A}</a:tableStyleId>
              </a:tblPr>
              <a:tblGrid>
                <a:gridCol w="1440160"/>
                <a:gridCol w="3744416"/>
                <a:gridCol w="2592288"/>
              </a:tblGrid>
              <a:tr h="708078">
                <a:tc>
                  <a:txBody>
                    <a:bodyPr/>
                    <a:lstStyle/>
                    <a:p>
                      <a:endParaRPr lang="en-GB" dirty="0"/>
                    </a:p>
                  </a:txBody>
                  <a:tcPr/>
                </a:tc>
                <a:tc>
                  <a:txBody>
                    <a:bodyPr/>
                    <a:lstStyle/>
                    <a:p>
                      <a:r>
                        <a:rPr lang="en-GB" dirty="0" smtClean="0"/>
                        <a:t>CV</a:t>
                      </a:r>
                      <a:endParaRPr lang="en-GB" dirty="0"/>
                    </a:p>
                  </a:txBody>
                  <a:tcPr/>
                </a:tc>
                <a:tc>
                  <a:txBody>
                    <a:bodyPr/>
                    <a:lstStyle/>
                    <a:p>
                      <a:r>
                        <a:rPr lang="en-GB" dirty="0" smtClean="0"/>
                        <a:t>Resume</a:t>
                      </a:r>
                      <a:endParaRPr lang="en-GB" dirty="0"/>
                    </a:p>
                  </a:txBody>
                  <a:tcPr/>
                </a:tc>
              </a:tr>
              <a:tr h="708078">
                <a:tc>
                  <a:txBody>
                    <a:bodyPr/>
                    <a:lstStyle/>
                    <a:p>
                      <a:r>
                        <a:rPr lang="en-GB" dirty="0" smtClean="0"/>
                        <a:t>Length</a:t>
                      </a:r>
                      <a:endParaRPr lang="en-GB" dirty="0"/>
                    </a:p>
                  </a:txBody>
                  <a:tcPr/>
                </a:tc>
                <a:tc>
                  <a:txBody>
                    <a:bodyPr/>
                    <a:lstStyle/>
                    <a:p>
                      <a:r>
                        <a:rPr lang="en-GB" sz="1800" kern="1200" dirty="0" smtClean="0">
                          <a:solidFill>
                            <a:schemeClr val="dk1"/>
                          </a:solidFill>
                          <a:latin typeface="+mn-lt"/>
                          <a:ea typeface="+mn-ea"/>
                          <a:cs typeface="+mn-cs"/>
                        </a:rPr>
                        <a:t>Length depends upon experience</a:t>
                      </a:r>
                    </a:p>
                    <a:p>
                      <a:r>
                        <a:rPr lang="en-GB" sz="1800" kern="1200" baseline="0" dirty="0" smtClean="0">
                          <a:solidFill>
                            <a:schemeClr val="dk1"/>
                          </a:solidFill>
                          <a:latin typeface="+mn-lt"/>
                          <a:ea typeface="+mn-ea"/>
                          <a:cs typeface="+mn-cs"/>
                        </a:rPr>
                        <a:t> can be more than  </a:t>
                      </a:r>
                      <a:r>
                        <a:rPr lang="en-GB" sz="1800" kern="1200" dirty="0" smtClean="0">
                          <a:solidFill>
                            <a:schemeClr val="dk1"/>
                          </a:solidFill>
                          <a:latin typeface="+mn-lt"/>
                          <a:ea typeface="+mn-ea"/>
                          <a:cs typeface="+mn-cs"/>
                        </a:rPr>
                        <a:t>two pages</a:t>
                      </a:r>
                      <a:r>
                        <a:rPr lang="en-GB" sz="1800" kern="1200" baseline="0" dirty="0" smtClean="0">
                          <a:solidFill>
                            <a:schemeClr val="dk1"/>
                          </a:solidFill>
                          <a:latin typeface="+mn-lt"/>
                          <a:ea typeface="+mn-ea"/>
                          <a:cs typeface="+mn-cs"/>
                        </a:rPr>
                        <a:t> </a:t>
                      </a:r>
                      <a:r>
                        <a:rPr lang="en-GB" sz="1800" kern="1200" dirty="0" smtClean="0">
                          <a:solidFill>
                            <a:schemeClr val="dk1"/>
                          </a:solidFill>
                          <a:latin typeface="+mn-lt"/>
                          <a:ea typeface="+mn-ea"/>
                          <a:cs typeface="+mn-cs"/>
                        </a:rPr>
                        <a:t>and detailed </a:t>
                      </a:r>
                    </a:p>
                    <a:p>
                      <a:r>
                        <a:rPr lang="en-GB" sz="1800" kern="1200" dirty="0" smtClean="0">
                          <a:solidFill>
                            <a:schemeClr val="dk1"/>
                          </a:solidFill>
                          <a:latin typeface="+mn-lt"/>
                          <a:ea typeface="+mn-ea"/>
                          <a:cs typeface="+mn-cs"/>
                        </a:rPr>
                        <a:t>May include a</a:t>
                      </a:r>
                      <a:r>
                        <a:rPr lang="en-GB" sz="1800" kern="1200" baseline="0" dirty="0" smtClean="0">
                          <a:solidFill>
                            <a:schemeClr val="dk1"/>
                          </a:solidFill>
                          <a:latin typeface="+mn-lt"/>
                          <a:ea typeface="+mn-ea"/>
                          <a:cs typeface="+mn-cs"/>
                        </a:rPr>
                        <a:t> </a:t>
                      </a:r>
                      <a:r>
                        <a:rPr lang="en-GB" sz="1800" kern="1200" dirty="0" smtClean="0">
                          <a:solidFill>
                            <a:schemeClr val="dk1"/>
                          </a:solidFill>
                          <a:latin typeface="+mn-lt"/>
                          <a:ea typeface="+mn-ea"/>
                          <a:cs typeface="+mn-cs"/>
                        </a:rPr>
                        <a:t>list of publications</a:t>
                      </a:r>
                      <a:endParaRPr lang="en-GB" dirty="0"/>
                    </a:p>
                  </a:txBody>
                  <a:tcPr/>
                </a:tc>
                <a:tc>
                  <a:txBody>
                    <a:bodyPr/>
                    <a:lstStyle/>
                    <a:p>
                      <a:pPr>
                        <a:buFont typeface="Arial" pitchFamily="34" charset="0"/>
                        <a:buChar char="•"/>
                      </a:pPr>
                      <a:r>
                        <a:rPr lang="en-GB" sz="1800" kern="1200" dirty="0" smtClean="0">
                          <a:solidFill>
                            <a:schemeClr val="dk1"/>
                          </a:solidFill>
                          <a:latin typeface="+mn-lt"/>
                          <a:ea typeface="+mn-ea"/>
                          <a:cs typeface="+mn-cs"/>
                        </a:rPr>
                        <a:t>one or two page summary of your</a:t>
                      </a:r>
                      <a:r>
                        <a:rPr lang="en-GB" sz="1800" kern="1200" baseline="0" dirty="0" smtClean="0">
                          <a:solidFill>
                            <a:schemeClr val="dk1"/>
                          </a:solidFill>
                          <a:latin typeface="+mn-lt"/>
                          <a:ea typeface="+mn-ea"/>
                          <a:cs typeface="+mn-cs"/>
                        </a:rPr>
                        <a:t> </a:t>
                      </a:r>
                      <a:r>
                        <a:rPr lang="en-GB" sz="1800" kern="1200" dirty="0" smtClean="0">
                          <a:solidFill>
                            <a:schemeClr val="dk1"/>
                          </a:solidFill>
                          <a:latin typeface="+mn-lt"/>
                          <a:ea typeface="+mn-ea"/>
                          <a:cs typeface="+mn-cs"/>
                        </a:rPr>
                        <a:t>education, skills, and experience.</a:t>
                      </a:r>
                    </a:p>
                    <a:p>
                      <a:pPr>
                        <a:buFont typeface="Arial" pitchFamily="34" charset="0"/>
                        <a:buChar char="•"/>
                      </a:pPr>
                      <a:r>
                        <a:rPr lang="en-GB" sz="1800" kern="1200" dirty="0" smtClean="0">
                          <a:solidFill>
                            <a:schemeClr val="dk1"/>
                          </a:solidFill>
                          <a:latin typeface="+mn-lt"/>
                          <a:ea typeface="+mn-ea"/>
                          <a:cs typeface="+mn-cs"/>
                        </a:rPr>
                        <a:t> Brief and concise -no more than a page or two.</a:t>
                      </a:r>
                      <a:endParaRPr lang="en-GB" dirty="0"/>
                    </a:p>
                  </a:txBody>
                  <a:tcPr/>
                </a:tc>
              </a:tr>
              <a:tr h="708078">
                <a:tc>
                  <a:txBody>
                    <a:bodyPr/>
                    <a:lstStyle/>
                    <a:p>
                      <a:r>
                        <a:rPr lang="en-GB" dirty="0" smtClean="0"/>
                        <a:t>use</a:t>
                      </a:r>
                      <a:endParaRPr lang="en-GB" dirty="0"/>
                    </a:p>
                  </a:txBody>
                  <a:tcPr/>
                </a:tc>
                <a:tc>
                  <a:txBody>
                    <a:bodyPr/>
                    <a:lstStyle/>
                    <a:p>
                      <a:r>
                        <a:rPr lang="en-GB" sz="1800" kern="1200" dirty="0" smtClean="0">
                          <a:solidFill>
                            <a:schemeClr val="dk1"/>
                          </a:solidFill>
                          <a:latin typeface="+mn-lt"/>
                          <a:ea typeface="+mn-ea"/>
                          <a:cs typeface="+mn-cs"/>
                        </a:rPr>
                        <a:t>Mostly used when applying for positions in academia , fellowships</a:t>
                      </a:r>
                      <a:r>
                        <a:rPr lang="en-GB" sz="1800" kern="1200" baseline="0" dirty="0" smtClean="0">
                          <a:solidFill>
                            <a:schemeClr val="dk1"/>
                          </a:solidFill>
                          <a:latin typeface="+mn-lt"/>
                          <a:ea typeface="+mn-ea"/>
                          <a:cs typeface="+mn-cs"/>
                        </a:rPr>
                        <a:t> and grants</a:t>
                      </a:r>
                      <a:endParaRPr lang="en-GB" dirty="0"/>
                    </a:p>
                  </a:txBody>
                  <a:tcPr/>
                </a:tc>
                <a:tc>
                  <a:txBody>
                    <a:bodyPr/>
                    <a:lstStyle/>
                    <a:p>
                      <a:r>
                        <a:rPr lang="en-GB" dirty="0" smtClean="0"/>
                        <a:t>Mostly  used </a:t>
                      </a:r>
                      <a:r>
                        <a:rPr lang="en-GB" sz="1800" kern="1200" dirty="0" smtClean="0">
                          <a:solidFill>
                            <a:schemeClr val="dk1"/>
                          </a:solidFill>
                          <a:latin typeface="+mn-lt"/>
                          <a:ea typeface="+mn-ea"/>
                          <a:cs typeface="+mn-cs"/>
                        </a:rPr>
                        <a:t>when  applying  for  a  position  in</a:t>
                      </a:r>
                      <a:r>
                        <a:rPr lang="en-GB" sz="1800" kern="1200" baseline="0" dirty="0" smtClean="0">
                          <a:solidFill>
                            <a:schemeClr val="dk1"/>
                          </a:solidFill>
                          <a:latin typeface="+mn-lt"/>
                          <a:ea typeface="+mn-ea"/>
                          <a:cs typeface="+mn-cs"/>
                        </a:rPr>
                        <a:t> non-profit, public sector, industry</a:t>
                      </a:r>
                      <a:endParaRPr lang="en-GB" dirty="0"/>
                    </a:p>
                  </a:txBody>
                  <a:tcPr/>
                </a:tc>
              </a:tr>
              <a:tr h="708078">
                <a:tc>
                  <a:txBody>
                    <a:bodyPr/>
                    <a:lstStyle/>
                    <a:p>
                      <a:r>
                        <a:rPr lang="en-GB" dirty="0" smtClean="0"/>
                        <a:t>What is included</a:t>
                      </a:r>
                      <a:endParaRPr lang="en-GB" dirty="0"/>
                    </a:p>
                  </a:txBody>
                  <a:tcPr/>
                </a:tc>
                <a:tc>
                  <a:txBody>
                    <a:bodyPr/>
                    <a:lstStyle/>
                    <a:p>
                      <a:r>
                        <a:rPr lang="en-GB" sz="1800" kern="1200" dirty="0" smtClean="0">
                          <a:solidFill>
                            <a:schemeClr val="dk1"/>
                          </a:solidFill>
                          <a:latin typeface="+mn-lt"/>
                          <a:ea typeface="+mn-ea"/>
                          <a:cs typeface="+mn-cs"/>
                        </a:rPr>
                        <a:t>Emphasizes academic accomplishments</a:t>
                      </a:r>
                      <a:endParaRPr lang="en-GB" dirty="0"/>
                    </a:p>
                  </a:txBody>
                  <a:tcPr/>
                </a:tc>
                <a:tc>
                  <a:txBody>
                    <a:bodyPr/>
                    <a:lstStyle/>
                    <a:p>
                      <a:r>
                        <a:rPr lang="en-GB" sz="1800" kern="1200" dirty="0" smtClean="0">
                          <a:solidFill>
                            <a:schemeClr val="dk1"/>
                          </a:solidFill>
                          <a:latin typeface="+mn-lt"/>
                          <a:ea typeface="+mn-ea"/>
                          <a:cs typeface="+mn-cs"/>
                        </a:rPr>
                        <a:t>Emphasizes more on practical skills- what you can do than what you know</a:t>
                      </a:r>
                      <a:endParaRPr lang="en-GB" dirty="0"/>
                    </a:p>
                  </a:txBody>
                  <a:tcPr/>
                </a:tc>
              </a:tr>
              <a:tr h="708078">
                <a:tc>
                  <a:txBody>
                    <a:bodyPr/>
                    <a:lstStyle/>
                    <a:p>
                      <a:endParaRPr lang="en-GB"/>
                    </a:p>
                  </a:txBody>
                  <a:tcPr/>
                </a:tc>
                <a:tc>
                  <a:txBody>
                    <a:bodyPr/>
                    <a:lstStyle/>
                    <a:p>
                      <a:endParaRPr lang="en-GB"/>
                    </a:p>
                  </a:txBody>
                  <a:tcPr/>
                </a:tc>
                <a:tc>
                  <a:txBody>
                    <a:bodyPr/>
                    <a:lstStyle/>
                    <a:p>
                      <a:endParaRPr lang="en-GB" dirty="0"/>
                    </a:p>
                  </a:txBody>
                  <a:tcPr/>
                </a:tc>
              </a:tr>
              <a:tr h="708078">
                <a:tc>
                  <a:txBody>
                    <a:bodyPr/>
                    <a:lstStyle/>
                    <a:p>
                      <a:endParaRPr lang="en-GB" dirty="0"/>
                    </a:p>
                  </a:txBody>
                  <a:tcPr/>
                </a:tc>
                <a:tc>
                  <a:txBody>
                    <a:bodyPr/>
                    <a:lstStyle/>
                    <a:p>
                      <a:endParaRPr lang="en-GB" dirty="0"/>
                    </a:p>
                  </a:txBody>
                  <a:tcPr/>
                </a:tc>
                <a:tc>
                  <a:txBody>
                    <a:bodyPr/>
                    <a:lstStyle/>
                    <a:p>
                      <a:endParaRPr lang="en-GB" dirty="0"/>
                    </a:p>
                  </a:txBody>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Types of CV’s</a:t>
            </a:r>
            <a:endParaRPr lang="en-GB" dirty="0"/>
          </a:p>
        </p:txBody>
      </p:sp>
      <p:sp>
        <p:nvSpPr>
          <p:cNvPr id="3" name="Content Placeholder 2"/>
          <p:cNvSpPr>
            <a:spLocks noGrp="1"/>
          </p:cNvSpPr>
          <p:nvPr>
            <p:ph sz="quarter" idx="1"/>
          </p:nvPr>
        </p:nvSpPr>
        <p:spPr/>
        <p:txBody>
          <a:bodyPr/>
          <a:lstStyle/>
          <a:p>
            <a:r>
              <a:rPr lang="en-GB" dirty="0" smtClean="0"/>
              <a:t>Chronological </a:t>
            </a:r>
            <a:r>
              <a:rPr lang="en-GB" dirty="0"/>
              <a:t>CV: relative experience is </a:t>
            </a:r>
            <a:r>
              <a:rPr lang="en-GB" dirty="0" smtClean="0"/>
              <a:t>essential.</a:t>
            </a:r>
          </a:p>
          <a:p>
            <a:r>
              <a:rPr lang="en-GB" dirty="0" smtClean="0"/>
              <a:t>Functional </a:t>
            </a:r>
            <a:r>
              <a:rPr lang="en-GB" dirty="0"/>
              <a:t>CV: skills and achievements are essentials. For non experienced. </a:t>
            </a:r>
            <a:endParaRPr lang="en-GB" dirty="0" smtClean="0"/>
          </a:p>
          <a:p>
            <a:r>
              <a:rPr lang="en-GB" dirty="0" smtClean="0"/>
              <a:t>Combined CV- combines both </a:t>
            </a:r>
            <a:endParaRPr lang="en-GB"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 Chronological CVs</a:t>
            </a:r>
            <a:endParaRPr lang="en-GB" dirty="0"/>
          </a:p>
        </p:txBody>
      </p:sp>
      <p:sp>
        <p:nvSpPr>
          <p:cNvPr id="3" name="Content Placeholder 2"/>
          <p:cNvSpPr>
            <a:spLocks noGrp="1"/>
          </p:cNvSpPr>
          <p:nvPr>
            <p:ph sz="quarter" idx="1"/>
          </p:nvPr>
        </p:nvSpPr>
        <p:spPr/>
        <p:txBody>
          <a:bodyPr/>
          <a:lstStyle/>
          <a:p>
            <a:r>
              <a:rPr lang="en-GB" dirty="0" smtClean="0"/>
              <a:t>Also performance CV</a:t>
            </a:r>
          </a:p>
          <a:p>
            <a:r>
              <a:rPr lang="en-GB" dirty="0" smtClean="0"/>
              <a:t>most traditional and widely used format. </a:t>
            </a:r>
          </a:p>
          <a:p>
            <a:r>
              <a:rPr lang="en-GB" dirty="0" smtClean="0"/>
              <a:t>basically outlines your work and educational history </a:t>
            </a:r>
          </a:p>
          <a:p>
            <a:r>
              <a:rPr lang="en-GB" dirty="0" smtClean="0"/>
              <a:t>ideal if you have stayed in the same career for most of your working life, steadily working your way up.</a:t>
            </a:r>
            <a:endParaRPr lang="en-GB"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p:txBody>
          <a:bodyPr>
            <a:normAutofit fontScale="92500" lnSpcReduction="20000"/>
          </a:bodyPr>
          <a:lstStyle/>
          <a:p>
            <a:r>
              <a:rPr lang="en-GB" dirty="0" smtClean="0"/>
              <a:t>A Chronological CV will typically use the following structure: </a:t>
            </a:r>
            <a:r>
              <a:rPr lang="en-GB" b="1" dirty="0" smtClean="0"/>
              <a:t>Personal Details</a:t>
            </a:r>
            <a:r>
              <a:rPr lang="en-GB" dirty="0" smtClean="0"/>
              <a:t> (name and other contact details)</a:t>
            </a:r>
          </a:p>
          <a:p>
            <a:r>
              <a:rPr lang="en-GB" b="1" dirty="0" smtClean="0"/>
              <a:t>Personal </a:t>
            </a:r>
            <a:r>
              <a:rPr lang="en-GB" b="1" dirty="0" smtClean="0"/>
              <a:t>Profile</a:t>
            </a:r>
          </a:p>
          <a:p>
            <a:r>
              <a:rPr lang="en-GB" b="1" dirty="0" smtClean="0"/>
              <a:t>Education &amp; qualifications</a:t>
            </a:r>
            <a:endParaRPr lang="en-GB" dirty="0" smtClean="0"/>
          </a:p>
          <a:p>
            <a:r>
              <a:rPr lang="en-GB" b="1" dirty="0" smtClean="0"/>
              <a:t>Career History</a:t>
            </a:r>
            <a:r>
              <a:rPr lang="en-GB" dirty="0" smtClean="0"/>
              <a:t> in reverse chronological order (starting from most recent at the top of the CV, to longer ago as you go down). </a:t>
            </a:r>
          </a:p>
          <a:p>
            <a:r>
              <a:rPr lang="en-GB" b="1" dirty="0" smtClean="0"/>
              <a:t>Professional </a:t>
            </a:r>
            <a:r>
              <a:rPr lang="en-GB" b="1" dirty="0" smtClean="0"/>
              <a:t>Memberships</a:t>
            </a:r>
          </a:p>
          <a:p>
            <a:r>
              <a:rPr lang="en-GB" b="1" dirty="0" smtClean="0"/>
              <a:t>Other </a:t>
            </a:r>
            <a:r>
              <a:rPr lang="en-GB" b="1" dirty="0" smtClean="0"/>
              <a:t>Information </a:t>
            </a:r>
            <a:r>
              <a:rPr lang="en-GB" b="1" dirty="0" err="1" smtClean="0"/>
              <a:t>eg</a:t>
            </a:r>
            <a:r>
              <a:rPr lang="en-GB" b="1" dirty="0" smtClean="0"/>
              <a:t> awards</a:t>
            </a:r>
            <a:endParaRPr lang="en-GB" b="1" dirty="0" smtClean="0"/>
          </a:p>
          <a:p>
            <a:r>
              <a:rPr lang="en-GB" b="1" dirty="0" smtClean="0"/>
              <a:t>Interests</a:t>
            </a:r>
          </a:p>
          <a:p>
            <a:endParaRPr lang="en-GB"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smtClean="0"/>
              <a:t>Chronological CV</a:t>
            </a:r>
            <a:endParaRPr lang="en-GB" dirty="0"/>
          </a:p>
        </p:txBody>
      </p:sp>
      <p:sp>
        <p:nvSpPr>
          <p:cNvPr id="6" name="Content Placeholder 5"/>
          <p:cNvSpPr>
            <a:spLocks noGrp="1"/>
          </p:cNvSpPr>
          <p:nvPr>
            <p:ph sz="quarter" idx="2"/>
          </p:nvPr>
        </p:nvSpPr>
        <p:spPr/>
        <p:txBody>
          <a:bodyPr>
            <a:normAutofit fontScale="62500" lnSpcReduction="20000"/>
          </a:bodyPr>
          <a:lstStyle/>
          <a:p>
            <a:r>
              <a:rPr lang="en-GB" dirty="0" smtClean="0"/>
              <a:t>If you have steadily progressed in one chosen field and are looking for promotion or better conditions</a:t>
            </a:r>
          </a:p>
          <a:p>
            <a:r>
              <a:rPr lang="en-GB" dirty="0" smtClean="0"/>
              <a:t>If you want to highlight where you have worked rather than what you have achieved</a:t>
            </a:r>
          </a:p>
          <a:p>
            <a:pPr lvl="0"/>
            <a:r>
              <a:rPr lang="en-GB" dirty="0" smtClean="0"/>
              <a:t>If you are applying within the same industry-helps demonstrate your career progression.</a:t>
            </a:r>
          </a:p>
          <a:p>
            <a:r>
              <a:rPr lang="en-GB" dirty="0" smtClean="0"/>
              <a:t>Preferred by most employers because it helps </a:t>
            </a:r>
            <a:r>
              <a:rPr lang="en-GB" dirty="0" smtClean="0"/>
              <a:t>identify </a:t>
            </a:r>
            <a:r>
              <a:rPr lang="en-GB" dirty="0" smtClean="0"/>
              <a:t>your skills, roles and responsibilities in each job</a:t>
            </a:r>
          </a:p>
          <a:p>
            <a:pPr lvl="0"/>
            <a:endParaRPr lang="en-GB" dirty="0" smtClean="0"/>
          </a:p>
          <a:p>
            <a:endParaRPr lang="en-GB" dirty="0" smtClean="0"/>
          </a:p>
          <a:p>
            <a:endParaRPr lang="en-GB" dirty="0" smtClean="0"/>
          </a:p>
          <a:p>
            <a:endParaRPr lang="en-GB" dirty="0" smtClean="0"/>
          </a:p>
          <a:p>
            <a:endParaRPr lang="en-GB" dirty="0"/>
          </a:p>
        </p:txBody>
      </p:sp>
      <p:sp>
        <p:nvSpPr>
          <p:cNvPr id="8" name="Content Placeholder 7"/>
          <p:cNvSpPr>
            <a:spLocks noGrp="1"/>
          </p:cNvSpPr>
          <p:nvPr>
            <p:ph sz="quarter" idx="4"/>
          </p:nvPr>
        </p:nvSpPr>
        <p:spPr/>
        <p:txBody>
          <a:bodyPr>
            <a:normAutofit fontScale="62500" lnSpcReduction="20000"/>
          </a:bodyPr>
          <a:lstStyle/>
          <a:p>
            <a:pPr lvl="0"/>
            <a:r>
              <a:rPr lang="en-GB" dirty="0" smtClean="0"/>
              <a:t>If you have gaps in your employment which you would rather not highlight, a chronological CV will make them more obvious</a:t>
            </a:r>
          </a:p>
          <a:p>
            <a:pPr>
              <a:buNone/>
            </a:pPr>
            <a:endParaRPr lang="en-GB" dirty="0" smtClean="0"/>
          </a:p>
          <a:p>
            <a:pPr lvl="0"/>
            <a:r>
              <a:rPr lang="en-GB" dirty="0" smtClean="0"/>
              <a:t>If you are changing career direction, a chronological CV may not be so relevant to a recruiter who will be more concerned about the transferable skills that you are bringing rather than the detail of your experience in an unrelated sector</a:t>
            </a:r>
          </a:p>
          <a:p>
            <a:endParaRPr lang="en-GB" dirty="0"/>
          </a:p>
        </p:txBody>
      </p:sp>
      <p:sp>
        <p:nvSpPr>
          <p:cNvPr id="5" name="Text Placeholder 4"/>
          <p:cNvSpPr>
            <a:spLocks noGrp="1"/>
          </p:cNvSpPr>
          <p:nvPr>
            <p:ph type="body" sz="quarter" idx="1"/>
          </p:nvPr>
        </p:nvSpPr>
        <p:spPr/>
        <p:txBody>
          <a:bodyPr/>
          <a:lstStyle/>
          <a:p>
            <a:r>
              <a:rPr lang="en-GB" dirty="0" smtClean="0"/>
              <a:t>Advantages</a:t>
            </a:r>
            <a:endParaRPr lang="en-GB" dirty="0"/>
          </a:p>
        </p:txBody>
      </p:sp>
      <p:sp>
        <p:nvSpPr>
          <p:cNvPr id="7" name="Text Placeholder 6"/>
          <p:cNvSpPr>
            <a:spLocks noGrp="1"/>
          </p:cNvSpPr>
          <p:nvPr>
            <p:ph type="body" sz="quarter" idx="3"/>
          </p:nvPr>
        </p:nvSpPr>
        <p:spPr/>
        <p:txBody>
          <a:bodyPr/>
          <a:lstStyle/>
          <a:p>
            <a:r>
              <a:rPr lang="en-GB" dirty="0" smtClean="0"/>
              <a:t>Disadvantages</a:t>
            </a:r>
            <a:endParaRPr lang="en-GB"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GB" b="1" dirty="0" smtClean="0"/>
              <a:t>2. Skills-based CVs</a:t>
            </a:r>
            <a:endParaRPr lang="en-GB" dirty="0"/>
          </a:p>
        </p:txBody>
      </p:sp>
      <p:sp>
        <p:nvSpPr>
          <p:cNvPr id="8" name="Content Placeholder 7"/>
          <p:cNvSpPr>
            <a:spLocks noGrp="1"/>
          </p:cNvSpPr>
          <p:nvPr>
            <p:ph sz="quarter" idx="1"/>
          </p:nvPr>
        </p:nvSpPr>
        <p:spPr/>
        <p:txBody>
          <a:bodyPr>
            <a:normAutofit fontScale="92500" lnSpcReduction="10000"/>
          </a:bodyPr>
          <a:lstStyle/>
          <a:p>
            <a:r>
              <a:rPr lang="en-GB" dirty="0" smtClean="0"/>
              <a:t>Also functional CV. </a:t>
            </a:r>
          </a:p>
          <a:p>
            <a:r>
              <a:rPr lang="en-GB" dirty="0" smtClean="0"/>
              <a:t>The two defining characteristics are the inclusion of a statement of the carrier objective and a prominent extended skills section at the start of the CV, below your personal details. </a:t>
            </a:r>
          </a:p>
          <a:p>
            <a:r>
              <a:rPr lang="en-GB" dirty="0" smtClean="0"/>
              <a:t>The focus here is on the skills and achievements that you have gained throughout your whole working career irrespective of where and when you acquired them.</a:t>
            </a:r>
          </a:p>
          <a:p>
            <a:r>
              <a:rPr lang="en-GB" dirty="0" smtClean="0"/>
              <a:t>Note: The skills section should suit your specification of the job you’re applying for</a:t>
            </a:r>
            <a:endParaRPr lang="en-GB"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p:txBody>
          <a:bodyPr>
            <a:normAutofit fontScale="92500" lnSpcReduction="10000"/>
          </a:bodyPr>
          <a:lstStyle/>
          <a:p>
            <a:r>
              <a:rPr lang="en-GB" dirty="0" smtClean="0"/>
              <a:t>A functional/skills-based  CV typically has this structure: </a:t>
            </a:r>
            <a:endParaRPr lang="en-GB" dirty="0" smtClean="0"/>
          </a:p>
          <a:p>
            <a:r>
              <a:rPr lang="en-GB" b="1" dirty="0" smtClean="0"/>
              <a:t>Personal </a:t>
            </a:r>
            <a:r>
              <a:rPr lang="en-GB" b="1" dirty="0" smtClean="0"/>
              <a:t>Profile</a:t>
            </a:r>
          </a:p>
          <a:p>
            <a:r>
              <a:rPr lang="en-GB" b="1" dirty="0" smtClean="0"/>
              <a:t>Sections relating to a different </a:t>
            </a:r>
            <a:r>
              <a:rPr lang="en-GB" b="1" dirty="0" smtClean="0"/>
              <a:t>skills </a:t>
            </a:r>
            <a:r>
              <a:rPr lang="en-GB" dirty="0" smtClean="0"/>
              <a:t>or ability. These should be listed in decreasing order of importance.</a:t>
            </a:r>
          </a:p>
          <a:p>
            <a:r>
              <a:rPr lang="en-GB" b="1" dirty="0" smtClean="0"/>
              <a:t>Career summary</a:t>
            </a:r>
            <a:endParaRPr lang="en-GB" b="1" dirty="0" smtClean="0"/>
          </a:p>
          <a:p>
            <a:r>
              <a:rPr lang="en-GB" dirty="0" smtClean="0"/>
              <a:t>Include any skills and experience in voluntary and unpaid jobs, as you are not detailing any specific role.</a:t>
            </a:r>
          </a:p>
          <a:p>
            <a:endParaRPr lang="en-GB"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Skills-based CV</a:t>
            </a:r>
            <a:endParaRPr lang="en-GB" dirty="0"/>
          </a:p>
        </p:txBody>
      </p:sp>
      <p:sp>
        <p:nvSpPr>
          <p:cNvPr id="5" name="Content Placeholder 4"/>
          <p:cNvSpPr>
            <a:spLocks noGrp="1"/>
          </p:cNvSpPr>
          <p:nvPr>
            <p:ph sz="quarter" idx="2"/>
          </p:nvPr>
        </p:nvSpPr>
        <p:spPr/>
        <p:txBody>
          <a:bodyPr>
            <a:normAutofit fontScale="70000" lnSpcReduction="20000"/>
          </a:bodyPr>
          <a:lstStyle/>
          <a:p>
            <a:r>
              <a:rPr lang="en-GB" dirty="0" smtClean="0"/>
              <a:t>Makes career gaps less obvious</a:t>
            </a:r>
          </a:p>
          <a:p>
            <a:r>
              <a:rPr lang="en-GB" dirty="0" smtClean="0"/>
              <a:t>If you have little experience due to just starting out or just finishing college or university </a:t>
            </a:r>
          </a:p>
          <a:p>
            <a:r>
              <a:rPr lang="en-GB" dirty="0" smtClean="0"/>
              <a:t>Ideal for demonstrating your skills set  </a:t>
            </a:r>
            <a:r>
              <a:rPr lang="en-GB" dirty="0" smtClean="0"/>
              <a:t>for the job even though you do not have experience in that </a:t>
            </a:r>
            <a:r>
              <a:rPr lang="en-GB" dirty="0" smtClean="0"/>
              <a:t>field. </a:t>
            </a:r>
            <a:endParaRPr lang="en-GB" dirty="0" smtClean="0"/>
          </a:p>
          <a:p>
            <a:r>
              <a:rPr lang="en-GB" dirty="0" smtClean="0"/>
              <a:t>You can also talk about more than one job under each skill subheading.</a:t>
            </a:r>
          </a:p>
          <a:p>
            <a:endParaRPr lang="en-GB" dirty="0"/>
          </a:p>
        </p:txBody>
      </p:sp>
      <p:sp>
        <p:nvSpPr>
          <p:cNvPr id="7" name="Content Placeholder 6"/>
          <p:cNvSpPr>
            <a:spLocks noGrp="1"/>
          </p:cNvSpPr>
          <p:nvPr>
            <p:ph sz="quarter" idx="4"/>
          </p:nvPr>
        </p:nvSpPr>
        <p:spPr/>
        <p:txBody>
          <a:bodyPr>
            <a:normAutofit fontScale="92500" lnSpcReduction="20000"/>
          </a:bodyPr>
          <a:lstStyle/>
          <a:p>
            <a:r>
              <a:rPr lang="en-GB" dirty="0" smtClean="0"/>
              <a:t>This is a modern style, so you’ll need to judge whether the organization you’re applying to</a:t>
            </a:r>
          </a:p>
          <a:p>
            <a:r>
              <a:rPr lang="en-GB" dirty="0" smtClean="0"/>
              <a:t>will look favourably upon it. I will cautions against this approach for traditional academic employers.</a:t>
            </a:r>
          </a:p>
          <a:p>
            <a:endParaRPr lang="en-GB" dirty="0"/>
          </a:p>
        </p:txBody>
      </p:sp>
      <p:sp>
        <p:nvSpPr>
          <p:cNvPr id="4" name="Text Placeholder 3"/>
          <p:cNvSpPr>
            <a:spLocks noGrp="1"/>
          </p:cNvSpPr>
          <p:nvPr>
            <p:ph type="body" sz="quarter" idx="1"/>
          </p:nvPr>
        </p:nvSpPr>
        <p:spPr/>
        <p:txBody>
          <a:bodyPr/>
          <a:lstStyle/>
          <a:p>
            <a:r>
              <a:rPr lang="en-GB" dirty="0" smtClean="0"/>
              <a:t>Advantages</a:t>
            </a:r>
            <a:endParaRPr lang="en-GB" dirty="0"/>
          </a:p>
        </p:txBody>
      </p:sp>
      <p:sp>
        <p:nvSpPr>
          <p:cNvPr id="6" name="Text Placeholder 5"/>
          <p:cNvSpPr>
            <a:spLocks noGrp="1"/>
          </p:cNvSpPr>
          <p:nvPr>
            <p:ph type="body" sz="quarter" idx="3"/>
          </p:nvPr>
        </p:nvSpPr>
        <p:spPr/>
        <p:txBody>
          <a:bodyPr/>
          <a:lstStyle/>
          <a:p>
            <a:r>
              <a:rPr lang="en-GB" dirty="0" smtClean="0"/>
              <a:t>Disadvantages</a:t>
            </a:r>
            <a:endParaRPr lang="en-GB"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GB" b="1" dirty="0" smtClean="0"/>
              <a:t>3.Combined CVs</a:t>
            </a:r>
            <a:endParaRPr lang="en-GB" dirty="0"/>
          </a:p>
        </p:txBody>
      </p:sp>
      <p:sp>
        <p:nvSpPr>
          <p:cNvPr id="8" name="Content Placeholder 7"/>
          <p:cNvSpPr>
            <a:spLocks noGrp="1"/>
          </p:cNvSpPr>
          <p:nvPr>
            <p:ph sz="quarter" idx="1"/>
          </p:nvPr>
        </p:nvSpPr>
        <p:spPr/>
        <p:txBody>
          <a:bodyPr>
            <a:normAutofit fontScale="92500" lnSpcReduction="20000"/>
          </a:bodyPr>
          <a:lstStyle/>
          <a:p>
            <a:r>
              <a:rPr lang="en-GB" dirty="0" smtClean="0"/>
              <a:t>Also a hybrid approach  </a:t>
            </a:r>
          </a:p>
          <a:p>
            <a:r>
              <a:rPr lang="en-GB" dirty="0" smtClean="0"/>
              <a:t>balances  the benefits of the two approaches, </a:t>
            </a:r>
          </a:p>
          <a:p>
            <a:r>
              <a:rPr lang="en-GB" dirty="0" smtClean="0"/>
              <a:t>Chronology  of your education and employment history can appear on the first page, but include a medium-sized skills section on the second page.</a:t>
            </a:r>
          </a:p>
          <a:p>
            <a:pPr lvl="1"/>
            <a:r>
              <a:rPr lang="en-GB" b="1" dirty="0" smtClean="0"/>
              <a:t>Note</a:t>
            </a:r>
            <a:r>
              <a:rPr lang="en-GB" dirty="0" smtClean="0"/>
              <a:t>:</a:t>
            </a:r>
          </a:p>
          <a:p>
            <a:r>
              <a:rPr lang="en-GB" dirty="0" smtClean="0"/>
              <a:t>Whatever type of CV you choose, remember to adapt the content to match the person</a:t>
            </a:r>
          </a:p>
          <a:p>
            <a:r>
              <a:rPr lang="en-GB" dirty="0" smtClean="0"/>
              <a:t>specification of the role in question. “For every job you apply for, you have to create a completely new CV,”</a:t>
            </a:r>
          </a:p>
          <a:p>
            <a:endParaRPr lang="en-GB"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smtClean="0"/>
              <a:t>Features of a good CV</a:t>
            </a:r>
            <a:endParaRPr lang="en-GB" dirty="0"/>
          </a:p>
        </p:txBody>
      </p:sp>
      <p:sp>
        <p:nvSpPr>
          <p:cNvPr id="3" name="Content Placeholder 2"/>
          <p:cNvSpPr>
            <a:spLocks noGrp="1"/>
          </p:cNvSpPr>
          <p:nvPr>
            <p:ph sz="quarter" idx="1"/>
          </p:nvPr>
        </p:nvSpPr>
        <p:spPr/>
        <p:txBody>
          <a:bodyPr/>
          <a:lstStyle/>
          <a:p>
            <a:r>
              <a:rPr lang="en-GB" dirty="0" smtClean="0"/>
              <a:t>Personal data </a:t>
            </a:r>
          </a:p>
          <a:p>
            <a:r>
              <a:rPr lang="en-GB" dirty="0" smtClean="0"/>
              <a:t>Objective</a:t>
            </a:r>
          </a:p>
          <a:p>
            <a:r>
              <a:rPr lang="en-GB" dirty="0" smtClean="0"/>
              <a:t>Educational achievements –Essential</a:t>
            </a:r>
          </a:p>
          <a:p>
            <a:r>
              <a:rPr lang="en-GB" dirty="0" smtClean="0"/>
              <a:t>Training and certificates –Essential</a:t>
            </a:r>
          </a:p>
          <a:p>
            <a:r>
              <a:rPr lang="en-GB" dirty="0" smtClean="0"/>
              <a:t>Work experience –Essential</a:t>
            </a:r>
          </a:p>
          <a:p>
            <a:r>
              <a:rPr lang="en-GB" dirty="0" smtClean="0"/>
              <a:t>Skills</a:t>
            </a:r>
          </a:p>
          <a:p>
            <a:r>
              <a:rPr lang="en-GB" dirty="0" smtClean="0"/>
              <a:t>Interests and activities</a:t>
            </a:r>
          </a:p>
          <a:p>
            <a:r>
              <a:rPr lang="en-GB" dirty="0" smtClean="0"/>
              <a:t>References / Referees</a:t>
            </a:r>
            <a:endParaRPr lang="en-GB"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Personal details</a:t>
            </a:r>
            <a:endParaRPr lang="en-GB" dirty="0"/>
          </a:p>
        </p:txBody>
      </p:sp>
      <p:sp>
        <p:nvSpPr>
          <p:cNvPr id="3" name="Content Placeholder 2"/>
          <p:cNvSpPr>
            <a:spLocks noGrp="1"/>
          </p:cNvSpPr>
          <p:nvPr>
            <p:ph sz="quarter" idx="1"/>
          </p:nvPr>
        </p:nvSpPr>
        <p:spPr/>
        <p:txBody>
          <a:bodyPr/>
          <a:lstStyle/>
          <a:p>
            <a:r>
              <a:rPr lang="en-GB" dirty="0" smtClean="0"/>
              <a:t>full name- Surname first (include title </a:t>
            </a:r>
            <a:r>
              <a:rPr lang="en-GB" dirty="0" err="1" smtClean="0"/>
              <a:t>eg</a:t>
            </a:r>
            <a:r>
              <a:rPr lang="en-GB" dirty="0" smtClean="0"/>
              <a:t>  Dr, Ms.)</a:t>
            </a:r>
          </a:p>
          <a:p>
            <a:r>
              <a:rPr lang="en-GB" dirty="0" smtClean="0"/>
              <a:t>Contact- email, mobile number(s)</a:t>
            </a:r>
          </a:p>
          <a:p>
            <a:r>
              <a:rPr lang="en-GB" dirty="0" smtClean="0"/>
              <a:t>Gender</a:t>
            </a:r>
          </a:p>
          <a:p>
            <a:r>
              <a:rPr lang="en-GB" dirty="0" smtClean="0"/>
              <a:t>Age or birthday</a:t>
            </a:r>
          </a:p>
          <a:p>
            <a:r>
              <a:rPr lang="en-GB" dirty="0" smtClean="0"/>
              <a:t>Marital status, </a:t>
            </a:r>
            <a:endParaRPr lang="en-GB"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Personal Profile/</a:t>
            </a:r>
            <a:r>
              <a:rPr lang="en-GB" dirty="0" smtClean="0"/>
              <a:t>career objective</a:t>
            </a:r>
            <a:endParaRPr lang="en-GB" dirty="0"/>
          </a:p>
        </p:txBody>
      </p:sp>
      <p:sp>
        <p:nvSpPr>
          <p:cNvPr id="3" name="Content Placeholder 2"/>
          <p:cNvSpPr>
            <a:spLocks noGrp="1"/>
          </p:cNvSpPr>
          <p:nvPr>
            <p:ph sz="quarter" idx="1"/>
          </p:nvPr>
        </p:nvSpPr>
        <p:spPr/>
        <p:txBody>
          <a:bodyPr>
            <a:normAutofit fontScale="85000" lnSpcReduction="20000"/>
          </a:bodyPr>
          <a:lstStyle/>
          <a:p>
            <a:r>
              <a:rPr lang="en-GB" dirty="0" smtClean="0"/>
              <a:t>This is a short paragraph just after your contact details giving prospective employers an overview of who you are and what you’re all about.</a:t>
            </a:r>
          </a:p>
          <a:p>
            <a:r>
              <a:rPr lang="en-GB" sz="2800" dirty="0" smtClean="0"/>
              <a:t>Should be short and catchy; answering the following questions can help you:</a:t>
            </a:r>
            <a:endParaRPr lang="en-GB" sz="2000" dirty="0" smtClean="0"/>
          </a:p>
          <a:p>
            <a:pPr lvl="1"/>
            <a:r>
              <a:rPr lang="en-GB" dirty="0" smtClean="0"/>
              <a:t>Who are you?</a:t>
            </a:r>
            <a:endParaRPr lang="en-GB" sz="1700" dirty="0" smtClean="0"/>
          </a:p>
          <a:p>
            <a:pPr lvl="1"/>
            <a:r>
              <a:rPr lang="en-GB" dirty="0" smtClean="0"/>
              <a:t>What can you offer the company?</a:t>
            </a:r>
            <a:endParaRPr lang="en-GB" sz="1700" dirty="0" smtClean="0"/>
          </a:p>
          <a:p>
            <a:pPr lvl="1"/>
            <a:r>
              <a:rPr lang="en-GB" dirty="0" smtClean="0"/>
              <a:t>What are your career goals?</a:t>
            </a:r>
          </a:p>
          <a:p>
            <a:r>
              <a:rPr lang="en-GB" dirty="0" smtClean="0"/>
              <a:t>tailor your profile to every job you apply for</a:t>
            </a:r>
          </a:p>
          <a:p>
            <a:r>
              <a:rPr lang="en-GB" dirty="0" smtClean="0"/>
              <a:t>Example</a:t>
            </a:r>
          </a:p>
          <a:p>
            <a:pPr lvl="1"/>
            <a:r>
              <a:rPr lang="en-GB" dirty="0" smtClean="0">
                <a:solidFill>
                  <a:srgbClr val="FF0000"/>
                </a:solidFill>
              </a:rPr>
              <a:t>To obtain a position as an assistant editor and contribute strong written communication skills, relevant education, and experience in the field</a:t>
            </a:r>
          </a:p>
          <a:p>
            <a:endParaRPr lang="en-GB" dirty="0" smtClean="0"/>
          </a:p>
          <a:p>
            <a:endParaRPr lang="en-GB"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educational achievements:</a:t>
            </a:r>
            <a:endParaRPr lang="en-GB" dirty="0"/>
          </a:p>
        </p:txBody>
      </p:sp>
      <p:sp>
        <p:nvSpPr>
          <p:cNvPr id="3" name="Content Placeholder 2"/>
          <p:cNvSpPr>
            <a:spLocks noGrp="1"/>
          </p:cNvSpPr>
          <p:nvPr>
            <p:ph sz="quarter" idx="1"/>
          </p:nvPr>
        </p:nvSpPr>
        <p:spPr/>
        <p:txBody>
          <a:bodyPr>
            <a:normAutofit fontScale="92500" lnSpcReduction="10000"/>
          </a:bodyPr>
          <a:lstStyle/>
          <a:p>
            <a:r>
              <a:rPr lang="en-GB" dirty="0" smtClean="0"/>
              <a:t>Write about your professional and personal development ( formal and informal training</a:t>
            </a:r>
          </a:p>
          <a:p>
            <a:r>
              <a:rPr lang="en-GB" sz="3200" b="1" dirty="0" smtClean="0"/>
              <a:t>name of the school/college university</a:t>
            </a:r>
            <a:endParaRPr lang="lv-LV" sz="3200" b="1" dirty="0" smtClean="0"/>
          </a:p>
          <a:p>
            <a:r>
              <a:rPr lang="en-GB" sz="3200" b="1" dirty="0" smtClean="0"/>
              <a:t>dates studied</a:t>
            </a:r>
            <a:endParaRPr lang="lv-LV" sz="3200" b="1" dirty="0" smtClean="0"/>
          </a:p>
          <a:p>
            <a:r>
              <a:rPr lang="en-GB" sz="3200" b="1" dirty="0" smtClean="0"/>
              <a:t>name of the degree or major subjects</a:t>
            </a:r>
            <a:endParaRPr lang="lv-LV" sz="3200" b="1" dirty="0" smtClean="0"/>
          </a:p>
          <a:p>
            <a:r>
              <a:rPr lang="en-GB" sz="3200" b="1" dirty="0" smtClean="0"/>
              <a:t>Qualification /certificate obtained</a:t>
            </a:r>
            <a:r>
              <a:rPr lang="en-US" sz="3200" dirty="0" smtClean="0"/>
              <a:t> </a:t>
            </a:r>
          </a:p>
          <a:p>
            <a:r>
              <a:rPr lang="en-GB" dirty="0" smtClean="0"/>
              <a:t>Start with the most recent and the most relevant, and give more details about them</a:t>
            </a:r>
          </a:p>
          <a:p>
            <a:r>
              <a:rPr lang="en-GB" dirty="0" smtClean="0"/>
              <a:t>You can put your grade if it was a good one</a:t>
            </a:r>
          </a:p>
          <a:p>
            <a:pPr lvl="0"/>
            <a:endParaRPr lang="en-GB" dirty="0" smtClean="0"/>
          </a:p>
          <a:p>
            <a:endParaRPr lang="en-GB" dirty="0" smtClean="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smtClean="0"/>
              <a:t>Awards and Achievement </a:t>
            </a:r>
            <a:endParaRPr lang="en-GB" dirty="0"/>
          </a:p>
        </p:txBody>
      </p:sp>
      <p:sp>
        <p:nvSpPr>
          <p:cNvPr id="3" name="Content Placeholder 2"/>
          <p:cNvSpPr>
            <a:spLocks noGrp="1"/>
          </p:cNvSpPr>
          <p:nvPr>
            <p:ph sz="quarter" idx="1"/>
          </p:nvPr>
        </p:nvSpPr>
        <p:spPr/>
        <p:txBody>
          <a:bodyPr/>
          <a:lstStyle/>
          <a:p>
            <a:r>
              <a:rPr lang="en-US" dirty="0" smtClean="0"/>
              <a:t>Awards for both academic and co-curricular activities at school or college: any sporting achievement and prizes gained at university. </a:t>
            </a:r>
            <a:endParaRPr lang="en-US" dirty="0" smtClean="0"/>
          </a:p>
          <a:p>
            <a:r>
              <a:rPr lang="en-US" dirty="0" smtClean="0"/>
              <a:t>This </a:t>
            </a:r>
            <a:r>
              <a:rPr lang="en-US" dirty="0" smtClean="0"/>
              <a:t>will indicate your interest outside the curriculum. Many employers are keen to be involved in the communities in which they operate and your past achievements in such activities can add to your CV.</a:t>
            </a:r>
            <a:endParaRPr lang="en-GB" dirty="0" smtClean="0"/>
          </a:p>
          <a:p>
            <a:endParaRPr lang="en-GB"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Work experience</a:t>
            </a:r>
            <a:endParaRPr lang="en-GB" dirty="0"/>
          </a:p>
        </p:txBody>
      </p:sp>
      <p:sp>
        <p:nvSpPr>
          <p:cNvPr id="3" name="Content Placeholder 2"/>
          <p:cNvSpPr>
            <a:spLocks noGrp="1"/>
          </p:cNvSpPr>
          <p:nvPr>
            <p:ph sz="quarter" idx="1"/>
          </p:nvPr>
        </p:nvSpPr>
        <p:spPr/>
        <p:txBody>
          <a:bodyPr>
            <a:normAutofit/>
          </a:bodyPr>
          <a:lstStyle/>
          <a:p>
            <a:r>
              <a:rPr lang="en-GB" dirty="0" smtClean="0"/>
              <a:t>outline your previous jobs, internships and work experience.</a:t>
            </a:r>
          </a:p>
          <a:p>
            <a:pPr lvl="1"/>
            <a:r>
              <a:rPr lang="en-GB" dirty="0" smtClean="0"/>
              <a:t>State your job title,</a:t>
            </a:r>
          </a:p>
          <a:p>
            <a:pPr lvl="1"/>
            <a:r>
              <a:rPr lang="en-GB" dirty="0" smtClean="0"/>
              <a:t>The employer</a:t>
            </a:r>
          </a:p>
          <a:p>
            <a:pPr lvl="1"/>
            <a:r>
              <a:rPr lang="en-GB" dirty="0" smtClean="0"/>
              <a:t>The dates you worked and a line that summarizes the role.</a:t>
            </a:r>
          </a:p>
          <a:p>
            <a:pPr lvl="1"/>
            <a:r>
              <a:rPr lang="en-GB" dirty="0" smtClean="0"/>
              <a:t>Then bullet-point your key responsibilities, skills and </a:t>
            </a:r>
            <a:r>
              <a:rPr lang="en-GB" dirty="0" smtClean="0"/>
              <a:t>achievements</a:t>
            </a:r>
          </a:p>
          <a:p>
            <a:r>
              <a:rPr lang="en-GB" sz="2600" dirty="0" smtClean="0"/>
              <a:t>Membership to Professional Organizations</a:t>
            </a:r>
          </a:p>
          <a:p>
            <a:endParaRPr lang="en-GB" dirty="0" smtClean="0"/>
          </a:p>
          <a:p>
            <a:endParaRPr lang="en-GB"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Key skills</a:t>
            </a:r>
            <a:endParaRPr lang="en-GB" dirty="0"/>
          </a:p>
        </p:txBody>
      </p:sp>
      <p:sp>
        <p:nvSpPr>
          <p:cNvPr id="3" name="Content Placeholder 2"/>
          <p:cNvSpPr>
            <a:spLocks noGrp="1"/>
          </p:cNvSpPr>
          <p:nvPr>
            <p:ph sz="quarter" idx="1"/>
          </p:nvPr>
        </p:nvSpPr>
        <p:spPr/>
        <p:txBody>
          <a:bodyPr/>
          <a:lstStyle/>
          <a:p>
            <a:r>
              <a:rPr lang="en-GB" dirty="0" smtClean="0"/>
              <a:t>If</a:t>
            </a:r>
            <a:r>
              <a:rPr lang="en-GB" b="1" dirty="0" smtClean="0"/>
              <a:t> </a:t>
            </a:r>
            <a:r>
              <a:rPr lang="en-GB" dirty="0" smtClean="0"/>
              <a:t>you’re writing a functional CV, or have some abilities you want to show</a:t>
            </a:r>
            <a:r>
              <a:rPr lang="en-GB" b="1" dirty="0" smtClean="0"/>
              <a:t> </a:t>
            </a:r>
            <a:r>
              <a:rPr lang="en-GB" dirty="0" smtClean="0"/>
              <a:t>off to the employer immediately, insert a key skills section underneath your personal profile. </a:t>
            </a:r>
            <a:endParaRPr lang="en-GB" dirty="0" smtClean="0"/>
          </a:p>
          <a:p>
            <a:r>
              <a:rPr lang="en-GB" dirty="0" smtClean="0"/>
              <a:t>You </a:t>
            </a:r>
            <a:r>
              <a:rPr lang="en-GB" dirty="0" smtClean="0"/>
              <a:t>should aim to detail four to five abilities at most.</a:t>
            </a:r>
            <a:endParaRPr lang="en-GB"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References</a:t>
            </a:r>
            <a:r>
              <a:rPr lang="en-US" dirty="0" smtClean="0"/>
              <a:t> </a:t>
            </a:r>
            <a:endParaRPr lang="en-GB" dirty="0"/>
          </a:p>
        </p:txBody>
      </p:sp>
      <p:sp>
        <p:nvSpPr>
          <p:cNvPr id="3" name="Content Placeholder 2"/>
          <p:cNvSpPr>
            <a:spLocks noGrp="1"/>
          </p:cNvSpPr>
          <p:nvPr>
            <p:ph sz="quarter" idx="1"/>
          </p:nvPr>
        </p:nvSpPr>
        <p:spPr/>
        <p:txBody>
          <a:bodyPr/>
          <a:lstStyle/>
          <a:p>
            <a:r>
              <a:rPr lang="en-US" sz="2800" dirty="0" smtClean="0"/>
              <a:t>List names, titles and complete phone number and e-mail addresses. </a:t>
            </a:r>
            <a:endParaRPr lang="en-US" sz="2800" dirty="0" smtClean="0"/>
          </a:p>
          <a:p>
            <a:r>
              <a:rPr lang="en-US" sz="2800" dirty="0" smtClean="0"/>
              <a:t>Include </a:t>
            </a:r>
            <a:r>
              <a:rPr lang="en-US" sz="2800" dirty="0" smtClean="0"/>
              <a:t>at least three in order of importance to your employers. </a:t>
            </a:r>
            <a:endParaRPr lang="en-GB" sz="2800" dirty="0" smtClean="0"/>
          </a:p>
          <a:p>
            <a:endParaRPr lang="en-GB"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11560" y="2852936"/>
            <a:ext cx="7848872" cy="769441"/>
          </a:xfrm>
          <a:prstGeom prst="rect">
            <a:avLst/>
          </a:prstGeom>
        </p:spPr>
        <p:txBody>
          <a:bodyPr wrap="square">
            <a:spAutoFit/>
          </a:bodyPr>
          <a:lstStyle/>
          <a:p>
            <a:r>
              <a:rPr lang="en-US" sz="4400" b="1" dirty="0" smtClean="0"/>
              <a:t>WRITING </a:t>
            </a:r>
            <a:r>
              <a:rPr lang="en-US" sz="4400" b="1" dirty="0" smtClean="0"/>
              <a:t> A </a:t>
            </a:r>
            <a:r>
              <a:rPr lang="en-US" sz="4400" b="1" dirty="0" smtClean="0"/>
              <a:t>COVER LETTER</a:t>
            </a:r>
            <a:endParaRPr lang="en-GB" sz="4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What is a cover letter? </a:t>
            </a:r>
            <a:endParaRPr lang="en-GB" dirty="0"/>
          </a:p>
        </p:txBody>
      </p:sp>
      <p:sp>
        <p:nvSpPr>
          <p:cNvPr id="3" name="Content Placeholder 2"/>
          <p:cNvSpPr>
            <a:spLocks noGrp="1"/>
          </p:cNvSpPr>
          <p:nvPr>
            <p:ph sz="quarter" idx="1"/>
          </p:nvPr>
        </p:nvSpPr>
        <p:spPr/>
        <p:txBody>
          <a:bodyPr/>
          <a:lstStyle/>
          <a:p>
            <a:r>
              <a:rPr lang="en-US" sz="2800" dirty="0" smtClean="0"/>
              <a:t>This is </a:t>
            </a:r>
            <a:r>
              <a:rPr lang="en-US" sz="2800" dirty="0" smtClean="0"/>
              <a:t>a document sent with your </a:t>
            </a:r>
            <a:r>
              <a:rPr lang="en-US" sz="2800" dirty="0" smtClean="0"/>
              <a:t>resume/ CV </a:t>
            </a:r>
            <a:r>
              <a:rPr lang="en-US" sz="2800" dirty="0" smtClean="0"/>
              <a:t>to provide additional information on your skills and experience. </a:t>
            </a:r>
            <a:endParaRPr lang="lv-LV" sz="2800" dirty="0" smtClean="0"/>
          </a:p>
          <a:p>
            <a:pPr lvl="1"/>
            <a:r>
              <a:rPr lang="en-US" sz="2400" dirty="0" smtClean="0"/>
              <a:t>why you are qualified </a:t>
            </a:r>
            <a:endParaRPr lang="lv-LV" sz="2400" dirty="0" smtClean="0"/>
          </a:p>
          <a:p>
            <a:pPr lvl="1"/>
            <a:r>
              <a:rPr lang="en-US" sz="2400" dirty="0" smtClean="0"/>
              <a:t>explain the reasons </a:t>
            </a:r>
            <a:endParaRPr lang="lv-LV" sz="2400" dirty="0" smtClean="0"/>
          </a:p>
          <a:p>
            <a:pPr lvl="1"/>
            <a:r>
              <a:rPr lang="en-US" sz="2400" dirty="0" smtClean="0"/>
              <a:t>identify your most relevant skills </a:t>
            </a:r>
            <a:endParaRPr lang="lv-LV" sz="2400" dirty="0" smtClean="0"/>
          </a:p>
          <a:p>
            <a:pPr lvl="1"/>
            <a:r>
              <a:rPr lang="en-US" sz="2400" dirty="0" smtClean="0"/>
              <a:t>one page at most in length </a:t>
            </a:r>
            <a:endParaRPr lang="lv-LV" sz="2400" dirty="0" smtClean="0"/>
          </a:p>
          <a:p>
            <a:endParaRPr lang="en-GB"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Guidelines in Writing a good Cover Letter</a:t>
            </a:r>
            <a:endParaRPr lang="en-GB" dirty="0"/>
          </a:p>
        </p:txBody>
      </p:sp>
      <p:sp>
        <p:nvSpPr>
          <p:cNvPr id="3" name="Content Placeholder 2"/>
          <p:cNvSpPr>
            <a:spLocks noGrp="1"/>
          </p:cNvSpPr>
          <p:nvPr>
            <p:ph sz="quarter" idx="1"/>
          </p:nvPr>
        </p:nvSpPr>
        <p:spPr/>
        <p:txBody>
          <a:bodyPr>
            <a:normAutofit lnSpcReduction="10000"/>
          </a:bodyPr>
          <a:lstStyle/>
          <a:p>
            <a:r>
              <a:rPr lang="en-GB" dirty="0" smtClean="0"/>
              <a:t>The header- address your letter appropriately</a:t>
            </a:r>
          </a:p>
          <a:p>
            <a:r>
              <a:rPr lang="en-GB" dirty="0" smtClean="0"/>
              <a:t>Date</a:t>
            </a:r>
          </a:p>
          <a:p>
            <a:r>
              <a:rPr lang="en-GB" dirty="0" smtClean="0"/>
              <a:t>Your name</a:t>
            </a:r>
          </a:p>
          <a:p>
            <a:r>
              <a:rPr lang="en-GB" dirty="0" smtClean="0"/>
              <a:t>Contact information</a:t>
            </a:r>
          </a:p>
          <a:p>
            <a:r>
              <a:rPr lang="en-GB" dirty="0" smtClean="0"/>
              <a:t>Employer name </a:t>
            </a:r>
            <a:r>
              <a:rPr lang="en-GB" dirty="0" err="1" smtClean="0"/>
              <a:t>eg</a:t>
            </a:r>
            <a:endParaRPr lang="en-GB" dirty="0" smtClean="0"/>
          </a:p>
          <a:p>
            <a:pPr lvl="1"/>
            <a:r>
              <a:rPr lang="en-GB" i="1" dirty="0" smtClean="0"/>
              <a:t>The Human Resource Manager</a:t>
            </a:r>
            <a:r>
              <a:rPr lang="en-GB" i="1" dirty="0" smtClean="0"/>
              <a:t>,</a:t>
            </a:r>
            <a:endParaRPr lang="en-GB" dirty="0" smtClean="0"/>
          </a:p>
          <a:p>
            <a:pPr lvl="1"/>
            <a:r>
              <a:rPr lang="en-GB" i="1" dirty="0" smtClean="0"/>
              <a:t>Company </a:t>
            </a:r>
            <a:r>
              <a:rPr lang="en-GB" i="1" dirty="0" smtClean="0"/>
              <a:t>Name</a:t>
            </a:r>
            <a:endParaRPr lang="en-GB" dirty="0" smtClean="0"/>
          </a:p>
          <a:p>
            <a:pPr lvl="1"/>
            <a:r>
              <a:rPr lang="en-GB" i="1" dirty="0" smtClean="0"/>
              <a:t>P.O Box</a:t>
            </a:r>
            <a:r>
              <a:rPr lang="en-GB" i="1" dirty="0" smtClean="0"/>
              <a:t>….</a:t>
            </a:r>
            <a:endParaRPr lang="en-GB" dirty="0" smtClean="0"/>
          </a:p>
          <a:p>
            <a:r>
              <a:rPr lang="en-GB" i="1" dirty="0" smtClean="0"/>
              <a:t>Dear Sir/Madam</a:t>
            </a:r>
            <a:endParaRPr lang="en-GB" dirty="0" smtClean="0"/>
          </a:p>
          <a:p>
            <a:endParaRPr lang="en-GB"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The body of your letter</a:t>
            </a:r>
            <a:endParaRPr lang="en-GB" dirty="0"/>
          </a:p>
        </p:txBody>
      </p:sp>
      <p:graphicFrame>
        <p:nvGraphicFramePr>
          <p:cNvPr id="4" name="Content Placeholder 3"/>
          <p:cNvGraphicFramePr>
            <a:graphicFrameLocks noGrp="1"/>
          </p:cNvGraphicFramePr>
          <p:nvPr>
            <p:ph sz="quarter" idx="1"/>
          </p:nvPr>
        </p:nvGraphicFramePr>
        <p:xfrm>
          <a:off x="395536" y="1158240"/>
          <a:ext cx="8153400" cy="5943600"/>
        </p:xfrm>
        <a:graphic>
          <a:graphicData uri="http://schemas.openxmlformats.org/drawingml/2006/table">
            <a:tbl>
              <a:tblPr firstRow="1" bandRow="1">
                <a:tableStyleId>{5C22544A-7EE6-4342-B048-85BDC9FD1C3A}</a:tableStyleId>
              </a:tblPr>
              <a:tblGrid>
                <a:gridCol w="4076700"/>
                <a:gridCol w="4076700"/>
              </a:tblGrid>
              <a:tr h="370840">
                <a:tc>
                  <a:txBody>
                    <a:bodyPr/>
                    <a:lstStyle/>
                    <a:p>
                      <a:r>
                        <a:rPr lang="en-GB" dirty="0" smtClean="0"/>
                        <a:t>Paragraph</a:t>
                      </a:r>
                      <a:r>
                        <a:rPr lang="en-GB" baseline="0" dirty="0" smtClean="0"/>
                        <a:t> 1-introduce yourself</a:t>
                      </a:r>
                      <a:endParaRPr lang="en-GB" dirty="0"/>
                    </a:p>
                  </a:txBody>
                  <a:tcPr/>
                </a:tc>
                <a:tc>
                  <a:txBody>
                    <a:bodyPr/>
                    <a:lstStyle/>
                    <a:p>
                      <a:r>
                        <a:rPr kumimoji="0" lang="en-GB" sz="1800" kern="1200" dirty="0" smtClean="0"/>
                        <a:t>your name and the role you’re applying for. Mention that you feel ready for a new challenge and what appeals to you about the job and company</a:t>
                      </a:r>
                      <a:endParaRPr lang="en-GB" dirty="0"/>
                    </a:p>
                  </a:txBody>
                  <a:tcPr/>
                </a:tc>
              </a:tr>
              <a:tr h="370840">
                <a:tc>
                  <a:txBody>
                    <a:bodyPr/>
                    <a:lstStyle/>
                    <a:p>
                      <a:r>
                        <a:rPr lang="en-GB" dirty="0" smtClean="0"/>
                        <a:t>Paragraph 2- sell yourself</a:t>
                      </a:r>
                    </a:p>
                    <a:p>
                      <a:r>
                        <a:rPr kumimoji="0" lang="en-GB" sz="1800" kern="1200" dirty="0" smtClean="0">
                          <a:solidFill>
                            <a:schemeClr val="dk1"/>
                          </a:solidFill>
                          <a:latin typeface="+mn-lt"/>
                          <a:ea typeface="+mn-ea"/>
                          <a:cs typeface="+mn-cs"/>
                        </a:rPr>
                        <a:t>(Pick 3-5 skills from the job requirement list and write a paragraph worth per skill)</a:t>
                      </a:r>
                      <a:endParaRPr lang="en-GB" dirty="0"/>
                    </a:p>
                  </a:txBody>
                  <a:tcPr/>
                </a:tc>
                <a:tc>
                  <a:txBody>
                    <a:bodyPr/>
                    <a:lstStyle/>
                    <a:p>
                      <a:r>
                        <a:rPr lang="en-US" dirty="0" smtClean="0"/>
                        <a:t>why </a:t>
                      </a:r>
                      <a:r>
                        <a:rPr lang="lv-LV" dirty="0" smtClean="0"/>
                        <a:t>you are</a:t>
                      </a:r>
                      <a:r>
                        <a:rPr lang="en-US" dirty="0" smtClean="0"/>
                        <a:t> interested in the job</a:t>
                      </a:r>
                      <a:r>
                        <a:rPr lang="lv-LV" dirty="0" smtClean="0"/>
                        <a:t>?</a:t>
                      </a:r>
                    </a:p>
                    <a:p>
                      <a:r>
                        <a:rPr lang="lv-LV" dirty="0" smtClean="0"/>
                        <a:t>W</a:t>
                      </a:r>
                      <a:r>
                        <a:rPr lang="en-US" dirty="0" smtClean="0"/>
                        <a:t>hat you can do for the company</a:t>
                      </a:r>
                      <a:r>
                        <a:rPr lang="lv-LV" dirty="0" smtClean="0"/>
                        <a:t>?</a:t>
                      </a:r>
                    </a:p>
                    <a:p>
                      <a:r>
                        <a:rPr lang="en-US" dirty="0" smtClean="0"/>
                        <a:t>Why should an employer be interested in hiring you? </a:t>
                      </a:r>
                      <a:endParaRPr lang="en-GB" dirty="0" smtClean="0"/>
                    </a:p>
                    <a:p>
                      <a:r>
                        <a:rPr lang="en-GB" dirty="0" smtClean="0"/>
                        <a:t>Give evidence of your experience</a:t>
                      </a:r>
                      <a:endParaRPr lang="en-GB" dirty="0"/>
                    </a:p>
                  </a:txBody>
                  <a:tcPr/>
                </a:tc>
              </a:tr>
              <a:tr h="370840">
                <a:tc>
                  <a:txBody>
                    <a:bodyPr/>
                    <a:lstStyle/>
                    <a:p>
                      <a:r>
                        <a:rPr lang="en-GB" dirty="0" smtClean="0"/>
                        <a:t>Paragraph3 – summarize</a:t>
                      </a:r>
                      <a:r>
                        <a:rPr lang="en-GB" baseline="0" dirty="0" smtClean="0"/>
                        <a:t> and </a:t>
                      </a:r>
                      <a:r>
                        <a:rPr lang="en-GB" dirty="0" smtClean="0"/>
                        <a:t>close</a:t>
                      </a:r>
                      <a:endParaRPr lang="en-GB"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GB" sz="1800" b="0" kern="1200" dirty="0" smtClean="0">
                          <a:solidFill>
                            <a:schemeClr val="dk1"/>
                          </a:solidFill>
                          <a:latin typeface="+mn-lt"/>
                          <a:ea typeface="+mn-ea"/>
                          <a:cs typeface="+mn-cs"/>
                        </a:rPr>
                        <a:t>Reiterate how your experience and qualifications will benefit the</a:t>
                      </a:r>
                      <a:r>
                        <a:rPr kumimoji="0" lang="en-GB" sz="1800" b="0" kern="1200" baseline="0" dirty="0" smtClean="0">
                          <a:solidFill>
                            <a:schemeClr val="dk1"/>
                          </a:solidFill>
                          <a:latin typeface="+mn-lt"/>
                          <a:ea typeface="+mn-ea"/>
                          <a:cs typeface="+mn-cs"/>
                        </a:rPr>
                        <a:t> </a:t>
                      </a:r>
                      <a:r>
                        <a:rPr kumimoji="0" lang="en-GB" sz="1800" b="0" kern="1200" dirty="0" smtClean="0">
                          <a:solidFill>
                            <a:schemeClr val="dk1"/>
                          </a:solidFill>
                          <a:latin typeface="+mn-lt"/>
                          <a:ea typeface="+mn-ea"/>
                          <a:cs typeface="+mn-cs"/>
                        </a:rPr>
                        <a:t>employer</a:t>
                      </a:r>
                    </a:p>
                    <a:p>
                      <a:pPr marL="0" marR="0" indent="0" algn="l" defTabSz="914400" rtl="0" eaLnBrk="1" fontAlgn="auto" latinLnBrk="0" hangingPunct="1">
                        <a:lnSpc>
                          <a:spcPct val="100000"/>
                        </a:lnSpc>
                        <a:spcBef>
                          <a:spcPts val="0"/>
                        </a:spcBef>
                        <a:spcAft>
                          <a:spcPts val="0"/>
                        </a:spcAft>
                        <a:buClrTx/>
                        <a:buSzTx/>
                        <a:buFontTx/>
                        <a:buNone/>
                        <a:tabLst/>
                        <a:defRPr/>
                      </a:pPr>
                      <a:r>
                        <a:rPr lang="en-NZ" dirty="0" smtClean="0"/>
                        <a:t>Yours sincerely</a:t>
                      </a:r>
                      <a:r>
                        <a:rPr lang="en-NZ" sz="3200" dirty="0" smtClean="0"/>
                        <a:t> </a:t>
                      </a:r>
                      <a:r>
                        <a:rPr lang="en-NZ" sz="2000" dirty="0" smtClean="0"/>
                        <a:t>(when you know the person’s name)</a:t>
                      </a:r>
                    </a:p>
                    <a:p>
                      <a:r>
                        <a:rPr lang="en-NZ" dirty="0" smtClean="0"/>
                        <a:t>Yours faithfully</a:t>
                      </a:r>
                      <a:r>
                        <a:rPr lang="en-NZ" sz="3200" dirty="0" smtClean="0"/>
                        <a:t> </a:t>
                      </a:r>
                      <a:r>
                        <a:rPr lang="en-NZ" sz="1800" dirty="0" smtClean="0"/>
                        <a:t>(when you don’t know the person’s name)</a:t>
                      </a:r>
                      <a:endParaRPr lang="lv-LV" sz="1800" dirty="0" smtClean="0"/>
                    </a:p>
                    <a:p>
                      <a:endParaRPr lang="lv-LV" sz="1800" dirty="0" smtClean="0"/>
                    </a:p>
                    <a:p>
                      <a:r>
                        <a:rPr lang="en-NZ" sz="1800" dirty="0" smtClean="0"/>
                        <a:t>[your name]</a:t>
                      </a:r>
                      <a:r>
                        <a:rPr lang="en-US" sz="1800" dirty="0" smtClean="0"/>
                        <a:t> </a:t>
                      </a:r>
                    </a:p>
                    <a:p>
                      <a:endParaRPr lang="en-GB" dirty="0"/>
                    </a:p>
                  </a:txBody>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cstate="print"/>
          <a:srcRect/>
          <a:stretch>
            <a:fillRect/>
          </a:stretch>
        </p:blipFill>
        <p:spPr bwMode="auto">
          <a:xfrm>
            <a:off x="323528" y="188913"/>
            <a:ext cx="8568952" cy="6480175"/>
          </a:xfrm>
          <a:prstGeom prst="rect">
            <a:avLst/>
          </a:prstGeom>
          <a:noFill/>
        </p:spPr>
      </p:pic>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4293</TotalTime>
  <Words>1390</Words>
  <Application>Microsoft Office PowerPoint</Application>
  <PresentationFormat>On-screen Show (4:3)</PresentationFormat>
  <Paragraphs>167</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Median</vt:lpstr>
      <vt:lpstr>LECTURE 13 </vt:lpstr>
      <vt:lpstr>What is a Curriculum Vitae?</vt:lpstr>
      <vt:lpstr>Resume vs CV What’s the difference? </vt:lpstr>
      <vt:lpstr>CV vs resume cont’d</vt:lpstr>
      <vt:lpstr>Types of CV’s</vt:lpstr>
      <vt:lpstr>1. Chronological CVs</vt:lpstr>
      <vt:lpstr>Slide 7</vt:lpstr>
      <vt:lpstr>Chronological CV</vt:lpstr>
      <vt:lpstr>2. Skills-based CVs</vt:lpstr>
      <vt:lpstr>Slide 10</vt:lpstr>
      <vt:lpstr>Skills-based CV</vt:lpstr>
      <vt:lpstr>3.Combined CVs</vt:lpstr>
      <vt:lpstr>Features of a good CV</vt:lpstr>
      <vt:lpstr>Personal details</vt:lpstr>
      <vt:lpstr>Personal Profile/career objective</vt:lpstr>
      <vt:lpstr>educational achievements:</vt:lpstr>
      <vt:lpstr>Awards and Achievement </vt:lpstr>
      <vt:lpstr>Work experience</vt:lpstr>
      <vt:lpstr>Key skills</vt:lpstr>
      <vt:lpstr>References </vt:lpstr>
      <vt:lpstr>Slide 21</vt:lpstr>
      <vt:lpstr>What is a cover letter? </vt:lpstr>
      <vt:lpstr>Guidelines in Writing a good Cover Letter</vt:lpstr>
      <vt:lpstr>The body of your letter</vt:lpstr>
      <vt:lpstr>Slide 25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13</dc:title>
  <dc:creator>Caren Ogola</dc:creator>
  <cp:lastModifiedBy>Caren Ogola</cp:lastModifiedBy>
  <cp:revision>86</cp:revision>
  <dcterms:created xsi:type="dcterms:W3CDTF">2021-05-31T15:20:24Z</dcterms:created>
  <dcterms:modified xsi:type="dcterms:W3CDTF">2021-06-04T12:10:49Z</dcterms:modified>
</cp:coreProperties>
</file>