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xls" ContentType="application/vnd.ms-exce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gif" ContentType="image/gif"/>
  <Default Extension="vml" ContentType="application/vnd.openxmlformats-officedocument.vmlDrawi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8"/>
  </p:notesMasterIdLst>
  <p:sldIdLst>
    <p:sldId id="256" r:id="rId2"/>
    <p:sldId id="285" r:id="rId3"/>
    <p:sldId id="282" r:id="rId4"/>
    <p:sldId id="258" r:id="rId5"/>
    <p:sldId id="259" r:id="rId6"/>
    <p:sldId id="260" r:id="rId7"/>
    <p:sldId id="261" r:id="rId8"/>
    <p:sldId id="284" r:id="rId9"/>
    <p:sldId id="266" r:id="rId10"/>
    <p:sldId id="276" r:id="rId11"/>
    <p:sldId id="263" r:id="rId12"/>
    <p:sldId id="277" r:id="rId13"/>
    <p:sldId id="278" r:id="rId14"/>
    <p:sldId id="279" r:id="rId15"/>
    <p:sldId id="280" r:id="rId16"/>
    <p:sldId id="286" r:id="rId17"/>
    <p:sldId id="287" r:id="rId18"/>
    <p:sldId id="289" r:id="rId19"/>
    <p:sldId id="290" r:id="rId20"/>
    <p:sldId id="291" r:id="rId21"/>
    <p:sldId id="296" r:id="rId22"/>
    <p:sldId id="295" r:id="rId23"/>
    <p:sldId id="293" r:id="rId24"/>
    <p:sldId id="297" r:id="rId25"/>
    <p:sldId id="298" r:id="rId26"/>
    <p:sldId id="300" r:id="rId27"/>
    <p:sldId id="301" r:id="rId28"/>
    <p:sldId id="312" r:id="rId29"/>
    <p:sldId id="299" r:id="rId30"/>
    <p:sldId id="303" r:id="rId31"/>
    <p:sldId id="302" r:id="rId32"/>
    <p:sldId id="304" r:id="rId33"/>
    <p:sldId id="305" r:id="rId34"/>
    <p:sldId id="306" r:id="rId35"/>
    <p:sldId id="294" r:id="rId36"/>
    <p:sldId id="307" r:id="rId37"/>
    <p:sldId id="308" r:id="rId38"/>
    <p:sldId id="309" r:id="rId39"/>
    <p:sldId id="310" r:id="rId40"/>
    <p:sldId id="311" r:id="rId41"/>
    <p:sldId id="333" r:id="rId42"/>
    <p:sldId id="313" r:id="rId43"/>
    <p:sldId id="314" r:id="rId44"/>
    <p:sldId id="335" r:id="rId45"/>
    <p:sldId id="334" r:id="rId46"/>
    <p:sldId id="318" r:id="rId47"/>
    <p:sldId id="319" r:id="rId48"/>
    <p:sldId id="320" r:id="rId49"/>
    <p:sldId id="321" r:id="rId50"/>
    <p:sldId id="329" r:id="rId51"/>
    <p:sldId id="322" r:id="rId52"/>
    <p:sldId id="325" r:id="rId53"/>
    <p:sldId id="326" r:id="rId54"/>
    <p:sldId id="327" r:id="rId55"/>
    <p:sldId id="328" r:id="rId56"/>
    <p:sldId id="331"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732" y="-5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86EB245-D197-4E62-823E-8A9E95F0A78A}" type="datetimeFigureOut">
              <a:rPr lang="en-GB" smtClean="0"/>
              <a:t>26/04/2021</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D96C0E8-4722-44C8-8E61-867F05377DD4}" type="slidenum">
              <a:rPr lang="en-GB" smtClean="0"/>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311EC6D-0A06-457E-9027-238577520E89}" type="slidenum">
              <a:rPr lang="en-US"/>
              <a:pPr/>
              <a:t>28</a:t>
            </a:fld>
            <a:endParaRPr lang="en-US"/>
          </a:p>
        </p:txBody>
      </p:sp>
      <p:sp>
        <p:nvSpPr>
          <p:cNvPr id="131074" name="Rectangle 2"/>
          <p:cNvSpPr>
            <a:spLocks noChangeArrowheads="1" noTextEdit="1"/>
          </p:cNvSpPr>
          <p:nvPr>
            <p:ph type="sldImg"/>
          </p:nvPr>
        </p:nvSpPr>
        <p:spPr>
          <a:ln/>
        </p:spPr>
      </p:sp>
      <p:sp>
        <p:nvSpPr>
          <p:cNvPr id="1310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6D96C0E8-4722-44C8-8E61-867F05377DD4}" type="slidenum">
              <a:rPr lang="en-GB" smtClean="0"/>
              <a:t>40</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6D96C0E8-4722-44C8-8E61-867F05377DD4}" type="slidenum">
              <a:rPr lang="en-GB" smtClean="0"/>
              <a:t>43</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p:cNvGrpSpPr>
            <a:grpSpLocks/>
          </p:cNvGrpSpPr>
          <p:nvPr/>
        </p:nvGrpSpPr>
        <p:grpSpPr bwMode="auto">
          <a:xfrm>
            <a:off x="0" y="0"/>
            <a:ext cx="5867400" cy="6858000"/>
            <a:chOff x="0" y="0"/>
            <a:chExt cx="3696" cy="4320"/>
          </a:xfrm>
        </p:grpSpPr>
        <p:sp>
          <p:nvSpPr>
            <p:cNvPr id="5" name="Rectangle 3"/>
            <p:cNvSpPr>
              <a:spLocks noChangeArrowheads="1"/>
            </p:cNvSpPr>
            <p:nvPr/>
          </p:nvSpPr>
          <p:spPr bwMode="auto">
            <a:xfrm>
              <a:off x="0" y="0"/>
              <a:ext cx="2880" cy="4320"/>
            </a:xfrm>
            <a:prstGeom prst="rect">
              <a:avLst/>
            </a:prstGeom>
            <a:solidFill>
              <a:schemeClr val="accent2"/>
            </a:solidFill>
            <a:ln w="9525">
              <a:noFill/>
              <a:miter lim="800000"/>
              <a:headEnd/>
              <a:tailEnd/>
            </a:ln>
            <a:effectLst/>
          </p:spPr>
          <p:txBody>
            <a:bodyPr wrap="none" anchor="ctr"/>
            <a:lstStyle/>
            <a:p>
              <a:pPr algn="ctr">
                <a:defRPr/>
              </a:pPr>
              <a:endParaRPr kumimoji="1" lang="tr-TR" sz="2400">
                <a:latin typeface="Times New Roman" pitchFamily="8" charset="0"/>
              </a:endParaRPr>
            </a:p>
          </p:txBody>
        </p:sp>
        <p:sp>
          <p:nvSpPr>
            <p:cNvPr id="6" name="AutoShape 4"/>
            <p:cNvSpPr>
              <a:spLocks noChangeArrowheads="1"/>
            </p:cNvSpPr>
            <p:nvPr/>
          </p:nvSpPr>
          <p:spPr bwMode="white">
            <a:xfrm>
              <a:off x="432" y="624"/>
              <a:ext cx="3264" cy="1200"/>
            </a:xfrm>
            <a:prstGeom prst="roundRect">
              <a:avLst>
                <a:gd name="adj" fmla="val 50000"/>
              </a:avLst>
            </a:prstGeom>
            <a:solidFill>
              <a:schemeClr val="bg1"/>
            </a:solidFill>
            <a:ln w="9525">
              <a:noFill/>
              <a:round/>
              <a:headEnd/>
              <a:tailEnd/>
            </a:ln>
            <a:effectLst/>
          </p:spPr>
          <p:txBody>
            <a:bodyPr wrap="none" anchor="ctr"/>
            <a:lstStyle/>
            <a:p>
              <a:pPr algn="ctr">
                <a:defRPr/>
              </a:pPr>
              <a:endParaRPr kumimoji="1" lang="tr-TR" sz="2400">
                <a:latin typeface="Times New Roman" pitchFamily="8" charset="0"/>
              </a:endParaRPr>
            </a:p>
          </p:txBody>
        </p:sp>
      </p:grpSp>
      <p:grpSp>
        <p:nvGrpSpPr>
          <p:cNvPr id="3" name="Group 5"/>
          <p:cNvGrpSpPr>
            <a:grpSpLocks/>
          </p:cNvGrpSpPr>
          <p:nvPr/>
        </p:nvGrpSpPr>
        <p:grpSpPr bwMode="auto">
          <a:xfrm>
            <a:off x="3632200" y="4889500"/>
            <a:ext cx="4876800" cy="319088"/>
            <a:chOff x="2288" y="3080"/>
            <a:chExt cx="3072" cy="201"/>
          </a:xfrm>
        </p:grpSpPr>
        <p:sp>
          <p:nvSpPr>
            <p:cNvPr id="8" name="AutoShape 6"/>
            <p:cNvSpPr>
              <a:spLocks noChangeArrowheads="1"/>
            </p:cNvSpPr>
            <p:nvPr/>
          </p:nvSpPr>
          <p:spPr bwMode="auto">
            <a:xfrm flipH="1">
              <a:off x="2288" y="3080"/>
              <a:ext cx="2914" cy="200"/>
            </a:xfrm>
            <a:prstGeom prst="roundRect">
              <a:avLst>
                <a:gd name="adj" fmla="val 0"/>
              </a:avLst>
            </a:prstGeom>
            <a:solidFill>
              <a:schemeClr val="hlink"/>
            </a:solidFill>
            <a:ln w="9525">
              <a:noFill/>
              <a:round/>
              <a:headEnd/>
              <a:tailEnd/>
            </a:ln>
            <a:effectLst/>
          </p:spPr>
          <p:txBody>
            <a:bodyPr wrap="none" anchor="ctr"/>
            <a:lstStyle/>
            <a:p>
              <a:pPr>
                <a:defRPr/>
              </a:pPr>
              <a:endParaRPr lang="en-GB"/>
            </a:p>
          </p:txBody>
        </p:sp>
        <p:sp>
          <p:nvSpPr>
            <p:cNvPr id="9" name="AutoShape 7"/>
            <p:cNvSpPr>
              <a:spLocks noChangeArrowheads="1"/>
            </p:cNvSpPr>
            <p:nvPr/>
          </p:nvSpPr>
          <p:spPr bwMode="auto">
            <a:xfrm>
              <a:off x="5196" y="3080"/>
              <a:ext cx="164" cy="201"/>
            </a:xfrm>
            <a:prstGeom prst="flowChartDelay">
              <a:avLst/>
            </a:prstGeom>
            <a:solidFill>
              <a:schemeClr val="hlink"/>
            </a:solidFill>
            <a:ln w="9525">
              <a:noFill/>
              <a:miter lim="800000"/>
              <a:headEnd/>
              <a:tailEnd/>
            </a:ln>
            <a:effectLst/>
          </p:spPr>
          <p:txBody>
            <a:bodyPr wrap="none" anchor="ctr"/>
            <a:lstStyle/>
            <a:p>
              <a:pPr>
                <a:defRPr/>
              </a:pPr>
              <a:endParaRPr lang="en-GB"/>
            </a:p>
          </p:txBody>
        </p:sp>
      </p:grpSp>
      <p:sp>
        <p:nvSpPr>
          <p:cNvPr id="567304" name="Rectangle 8"/>
          <p:cNvSpPr>
            <a:spLocks noGrp="1" noChangeArrowheads="1"/>
          </p:cNvSpPr>
          <p:nvPr>
            <p:ph type="subTitle" idx="1"/>
          </p:nvPr>
        </p:nvSpPr>
        <p:spPr>
          <a:xfrm>
            <a:off x="4673600" y="2927350"/>
            <a:ext cx="4013200" cy="1822450"/>
          </a:xfrm>
        </p:spPr>
        <p:txBody>
          <a:bodyPr anchor="b"/>
          <a:lstStyle>
            <a:lvl1pPr marL="0" indent="0">
              <a:buFont typeface="Wingdings" pitchFamily="8" charset="2"/>
              <a:buNone/>
              <a:defRPr>
                <a:solidFill>
                  <a:schemeClr val="tx2"/>
                </a:solidFill>
              </a:defRPr>
            </a:lvl1pPr>
          </a:lstStyle>
          <a:p>
            <a:r>
              <a:rPr lang="en-US" smtClean="0"/>
              <a:t>Click to edit Master subtitle style</a:t>
            </a:r>
            <a:endParaRPr lang="tr-TR"/>
          </a:p>
        </p:txBody>
      </p:sp>
      <p:sp>
        <p:nvSpPr>
          <p:cNvPr id="567308" name="AutoShape 12"/>
          <p:cNvSpPr>
            <a:spLocks noGrp="1" noChangeArrowheads="1"/>
          </p:cNvSpPr>
          <p:nvPr>
            <p:ph type="ctrTitle" sz="quarter"/>
          </p:nvPr>
        </p:nvSpPr>
        <p:spPr>
          <a:xfrm>
            <a:off x="685800" y="990600"/>
            <a:ext cx="8229600" cy="1905000"/>
          </a:xfrm>
          <a:prstGeom prst="roundRect">
            <a:avLst>
              <a:gd name="adj" fmla="val 50000"/>
            </a:avLst>
          </a:prstGeom>
        </p:spPr>
        <p:txBody>
          <a:bodyPr anchor="ctr"/>
          <a:lstStyle>
            <a:lvl1pPr algn="ctr">
              <a:defRPr>
                <a:solidFill>
                  <a:schemeClr val="tx1"/>
                </a:solidFill>
              </a:defRPr>
            </a:lvl1pPr>
          </a:lstStyle>
          <a:p>
            <a:r>
              <a:rPr lang="en-US" smtClean="0"/>
              <a:t>Click to edit Master title style</a:t>
            </a:r>
            <a:endParaRPr lang="tr-TR"/>
          </a:p>
        </p:txBody>
      </p:sp>
      <p:sp>
        <p:nvSpPr>
          <p:cNvPr id="10" name="Rectangle 9"/>
          <p:cNvSpPr>
            <a:spLocks noGrp="1" noChangeArrowheads="1"/>
          </p:cNvSpPr>
          <p:nvPr>
            <p:ph type="dt" sz="quarter" idx="10"/>
          </p:nvPr>
        </p:nvSpPr>
        <p:spPr/>
        <p:txBody>
          <a:bodyPr/>
          <a:lstStyle>
            <a:lvl1pPr>
              <a:defRPr smtClean="0">
                <a:solidFill>
                  <a:schemeClr val="bg1"/>
                </a:solidFill>
              </a:defRPr>
            </a:lvl1pPr>
          </a:lstStyle>
          <a:p>
            <a:fld id="{3294F746-E77F-48E3-848E-7557DD31F778}" type="datetimeFigureOut">
              <a:rPr lang="en-GB" smtClean="0"/>
              <a:t>23/04/2021</a:t>
            </a:fld>
            <a:endParaRPr lang="en-GB"/>
          </a:p>
        </p:txBody>
      </p:sp>
      <p:sp>
        <p:nvSpPr>
          <p:cNvPr id="11" name="Rectangle 10"/>
          <p:cNvSpPr>
            <a:spLocks noGrp="1" noChangeArrowheads="1"/>
          </p:cNvSpPr>
          <p:nvPr>
            <p:ph type="ftr" sz="quarter" idx="11"/>
          </p:nvPr>
        </p:nvSpPr>
        <p:spPr/>
        <p:txBody>
          <a:bodyPr/>
          <a:lstStyle>
            <a:lvl1pPr algn="r">
              <a:defRPr smtClean="0"/>
            </a:lvl1pPr>
          </a:lstStyle>
          <a:p>
            <a:endParaRPr lang="en-GB"/>
          </a:p>
        </p:txBody>
      </p:sp>
      <p:sp>
        <p:nvSpPr>
          <p:cNvPr id="12" name="Rectangle 11"/>
          <p:cNvSpPr>
            <a:spLocks noGrp="1" noChangeArrowheads="1"/>
          </p:cNvSpPr>
          <p:nvPr>
            <p:ph type="sldNum" sz="quarter" idx="12"/>
          </p:nvPr>
        </p:nvSpPr>
        <p:spPr>
          <a:xfrm>
            <a:off x="76200" y="6248400"/>
            <a:ext cx="587375" cy="488950"/>
          </a:xfrm>
        </p:spPr>
        <p:txBody>
          <a:bodyPr anchorCtr="0"/>
          <a:lstStyle>
            <a:lvl1pPr>
              <a:defRPr smtClean="0"/>
            </a:lvl1pPr>
          </a:lstStyle>
          <a:p>
            <a:fld id="{642261E2-E0EE-4587-9A90-80362CD2A201}" type="slidenum">
              <a:rPr lang="en-GB" smtClean="0"/>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11"/>
          <p:cNvSpPr>
            <a:spLocks noGrp="1" noChangeArrowheads="1"/>
          </p:cNvSpPr>
          <p:nvPr>
            <p:ph type="dt" sz="half" idx="10"/>
          </p:nvPr>
        </p:nvSpPr>
        <p:spPr>
          <a:ln/>
        </p:spPr>
        <p:txBody>
          <a:bodyPr/>
          <a:lstStyle>
            <a:lvl1pPr>
              <a:defRPr/>
            </a:lvl1pPr>
          </a:lstStyle>
          <a:p>
            <a:fld id="{3294F746-E77F-48E3-848E-7557DD31F778}" type="datetimeFigureOut">
              <a:rPr lang="en-GB" smtClean="0"/>
              <a:t>23/04/2021</a:t>
            </a:fld>
            <a:endParaRPr lang="en-GB"/>
          </a:p>
        </p:txBody>
      </p:sp>
      <p:sp>
        <p:nvSpPr>
          <p:cNvPr id="5" name="Rectangle 12"/>
          <p:cNvSpPr>
            <a:spLocks noGrp="1" noChangeArrowheads="1"/>
          </p:cNvSpPr>
          <p:nvPr>
            <p:ph type="ftr" sz="quarter" idx="11"/>
          </p:nvPr>
        </p:nvSpPr>
        <p:spPr>
          <a:ln/>
        </p:spPr>
        <p:txBody>
          <a:bodyPr/>
          <a:lstStyle>
            <a:lvl1pPr>
              <a:defRPr/>
            </a:lvl1pPr>
          </a:lstStyle>
          <a:p>
            <a:endParaRPr lang="en-GB"/>
          </a:p>
        </p:txBody>
      </p:sp>
      <p:sp>
        <p:nvSpPr>
          <p:cNvPr id="6" name="Rectangle 13"/>
          <p:cNvSpPr>
            <a:spLocks noGrp="1" noChangeArrowheads="1"/>
          </p:cNvSpPr>
          <p:nvPr>
            <p:ph type="sldNum" sz="quarter" idx="12"/>
          </p:nvPr>
        </p:nvSpPr>
        <p:spPr>
          <a:ln/>
        </p:spPr>
        <p:txBody>
          <a:bodyPr/>
          <a:lstStyle>
            <a:lvl1pPr>
              <a:defRPr/>
            </a:lvl1pPr>
          </a:lstStyle>
          <a:p>
            <a:fld id="{642261E2-E0EE-4587-9A90-80362CD2A201}" type="slidenum">
              <a:rPr lang="en-GB" smtClean="0"/>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1"/>
          <p:cNvSpPr>
            <a:spLocks noGrp="1" noChangeArrowheads="1"/>
          </p:cNvSpPr>
          <p:nvPr>
            <p:ph type="dt" sz="half" idx="10"/>
          </p:nvPr>
        </p:nvSpPr>
        <p:spPr>
          <a:ln/>
        </p:spPr>
        <p:txBody>
          <a:bodyPr/>
          <a:lstStyle>
            <a:lvl1pPr>
              <a:defRPr/>
            </a:lvl1pPr>
          </a:lstStyle>
          <a:p>
            <a:fld id="{3294F746-E77F-48E3-848E-7557DD31F778}" type="datetimeFigureOut">
              <a:rPr lang="en-GB" smtClean="0"/>
              <a:t>23/04/2021</a:t>
            </a:fld>
            <a:endParaRPr lang="en-GB"/>
          </a:p>
        </p:txBody>
      </p:sp>
      <p:sp>
        <p:nvSpPr>
          <p:cNvPr id="5" name="Rectangle 12"/>
          <p:cNvSpPr>
            <a:spLocks noGrp="1" noChangeArrowheads="1"/>
          </p:cNvSpPr>
          <p:nvPr>
            <p:ph type="ftr" sz="quarter" idx="11"/>
          </p:nvPr>
        </p:nvSpPr>
        <p:spPr>
          <a:ln/>
        </p:spPr>
        <p:txBody>
          <a:bodyPr/>
          <a:lstStyle>
            <a:lvl1pPr>
              <a:defRPr/>
            </a:lvl1pPr>
          </a:lstStyle>
          <a:p>
            <a:endParaRPr lang="en-GB"/>
          </a:p>
        </p:txBody>
      </p:sp>
      <p:sp>
        <p:nvSpPr>
          <p:cNvPr id="6" name="Rectangle 13"/>
          <p:cNvSpPr>
            <a:spLocks noGrp="1" noChangeArrowheads="1"/>
          </p:cNvSpPr>
          <p:nvPr>
            <p:ph type="sldNum" sz="quarter" idx="12"/>
          </p:nvPr>
        </p:nvSpPr>
        <p:spPr>
          <a:ln/>
        </p:spPr>
        <p:txBody>
          <a:bodyPr/>
          <a:lstStyle>
            <a:lvl1pPr>
              <a:defRPr/>
            </a:lvl1pPr>
          </a:lstStyle>
          <a:p>
            <a:fld id="{642261E2-E0EE-4587-9A90-80362CD2A201}" type="slidenum">
              <a:rPr lang="en-GB" smtClean="0"/>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2362200"/>
            <a:ext cx="3770313"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760913" y="2362200"/>
            <a:ext cx="3770312"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11"/>
          <p:cNvSpPr>
            <a:spLocks noGrp="1" noChangeArrowheads="1"/>
          </p:cNvSpPr>
          <p:nvPr>
            <p:ph type="dt" sz="half" idx="10"/>
          </p:nvPr>
        </p:nvSpPr>
        <p:spPr>
          <a:ln/>
        </p:spPr>
        <p:txBody>
          <a:bodyPr/>
          <a:lstStyle>
            <a:lvl1pPr>
              <a:defRPr/>
            </a:lvl1pPr>
          </a:lstStyle>
          <a:p>
            <a:fld id="{3294F746-E77F-48E3-848E-7557DD31F778}" type="datetimeFigureOut">
              <a:rPr lang="en-GB" smtClean="0"/>
              <a:t>23/04/2021</a:t>
            </a:fld>
            <a:endParaRPr lang="en-GB"/>
          </a:p>
        </p:txBody>
      </p:sp>
      <p:sp>
        <p:nvSpPr>
          <p:cNvPr id="6" name="Rectangle 12"/>
          <p:cNvSpPr>
            <a:spLocks noGrp="1" noChangeArrowheads="1"/>
          </p:cNvSpPr>
          <p:nvPr>
            <p:ph type="ftr" sz="quarter" idx="11"/>
          </p:nvPr>
        </p:nvSpPr>
        <p:spPr>
          <a:ln/>
        </p:spPr>
        <p:txBody>
          <a:bodyPr/>
          <a:lstStyle>
            <a:lvl1pPr>
              <a:defRPr/>
            </a:lvl1pPr>
          </a:lstStyle>
          <a:p>
            <a:endParaRPr lang="en-GB"/>
          </a:p>
        </p:txBody>
      </p:sp>
      <p:sp>
        <p:nvSpPr>
          <p:cNvPr id="7" name="Rectangle 13"/>
          <p:cNvSpPr>
            <a:spLocks noGrp="1" noChangeArrowheads="1"/>
          </p:cNvSpPr>
          <p:nvPr>
            <p:ph type="sldNum" sz="quarter" idx="12"/>
          </p:nvPr>
        </p:nvSpPr>
        <p:spPr>
          <a:ln/>
        </p:spPr>
        <p:txBody>
          <a:bodyPr/>
          <a:lstStyle>
            <a:lvl1pPr>
              <a:defRPr/>
            </a:lvl1pPr>
          </a:lstStyle>
          <a:p>
            <a:fld id="{642261E2-E0EE-4587-9A90-80362CD2A201}"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11"/>
          <p:cNvSpPr>
            <a:spLocks noGrp="1" noChangeArrowheads="1"/>
          </p:cNvSpPr>
          <p:nvPr>
            <p:ph type="dt" sz="half" idx="10"/>
          </p:nvPr>
        </p:nvSpPr>
        <p:spPr>
          <a:ln/>
        </p:spPr>
        <p:txBody>
          <a:bodyPr/>
          <a:lstStyle>
            <a:lvl1pPr>
              <a:defRPr/>
            </a:lvl1pPr>
          </a:lstStyle>
          <a:p>
            <a:fld id="{3294F746-E77F-48E3-848E-7557DD31F778}" type="datetimeFigureOut">
              <a:rPr lang="en-GB" smtClean="0"/>
              <a:t>23/04/2021</a:t>
            </a:fld>
            <a:endParaRPr lang="en-GB"/>
          </a:p>
        </p:txBody>
      </p:sp>
      <p:sp>
        <p:nvSpPr>
          <p:cNvPr id="8" name="Rectangle 12"/>
          <p:cNvSpPr>
            <a:spLocks noGrp="1" noChangeArrowheads="1"/>
          </p:cNvSpPr>
          <p:nvPr>
            <p:ph type="ftr" sz="quarter" idx="11"/>
          </p:nvPr>
        </p:nvSpPr>
        <p:spPr>
          <a:ln/>
        </p:spPr>
        <p:txBody>
          <a:bodyPr/>
          <a:lstStyle>
            <a:lvl1pPr>
              <a:defRPr/>
            </a:lvl1pPr>
          </a:lstStyle>
          <a:p>
            <a:endParaRPr lang="en-GB"/>
          </a:p>
        </p:txBody>
      </p:sp>
      <p:sp>
        <p:nvSpPr>
          <p:cNvPr id="9" name="Rectangle 13"/>
          <p:cNvSpPr>
            <a:spLocks noGrp="1" noChangeArrowheads="1"/>
          </p:cNvSpPr>
          <p:nvPr>
            <p:ph type="sldNum" sz="quarter" idx="12"/>
          </p:nvPr>
        </p:nvSpPr>
        <p:spPr>
          <a:ln/>
        </p:spPr>
        <p:txBody>
          <a:bodyPr/>
          <a:lstStyle>
            <a:lvl1pPr>
              <a:defRPr/>
            </a:lvl1pPr>
          </a:lstStyle>
          <a:p>
            <a:fld id="{642261E2-E0EE-4587-9A90-80362CD2A201}"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11"/>
          <p:cNvSpPr>
            <a:spLocks noGrp="1" noChangeArrowheads="1"/>
          </p:cNvSpPr>
          <p:nvPr>
            <p:ph type="dt" sz="half" idx="10"/>
          </p:nvPr>
        </p:nvSpPr>
        <p:spPr>
          <a:ln/>
        </p:spPr>
        <p:txBody>
          <a:bodyPr/>
          <a:lstStyle>
            <a:lvl1pPr>
              <a:defRPr/>
            </a:lvl1pPr>
          </a:lstStyle>
          <a:p>
            <a:fld id="{3294F746-E77F-48E3-848E-7557DD31F778}" type="datetimeFigureOut">
              <a:rPr lang="en-GB" smtClean="0"/>
              <a:t>23/04/2021</a:t>
            </a:fld>
            <a:endParaRPr lang="en-GB"/>
          </a:p>
        </p:txBody>
      </p:sp>
      <p:sp>
        <p:nvSpPr>
          <p:cNvPr id="4" name="Rectangle 12"/>
          <p:cNvSpPr>
            <a:spLocks noGrp="1" noChangeArrowheads="1"/>
          </p:cNvSpPr>
          <p:nvPr>
            <p:ph type="ftr" sz="quarter" idx="11"/>
          </p:nvPr>
        </p:nvSpPr>
        <p:spPr>
          <a:ln/>
        </p:spPr>
        <p:txBody>
          <a:bodyPr/>
          <a:lstStyle>
            <a:lvl1pPr>
              <a:defRPr/>
            </a:lvl1pPr>
          </a:lstStyle>
          <a:p>
            <a:endParaRPr lang="en-GB"/>
          </a:p>
        </p:txBody>
      </p:sp>
      <p:sp>
        <p:nvSpPr>
          <p:cNvPr id="5" name="Rectangle 13"/>
          <p:cNvSpPr>
            <a:spLocks noGrp="1" noChangeArrowheads="1"/>
          </p:cNvSpPr>
          <p:nvPr>
            <p:ph type="sldNum" sz="quarter" idx="12"/>
          </p:nvPr>
        </p:nvSpPr>
        <p:spPr>
          <a:ln/>
        </p:spPr>
        <p:txBody>
          <a:bodyPr/>
          <a:lstStyle>
            <a:lvl1pPr>
              <a:defRPr/>
            </a:lvl1pPr>
          </a:lstStyle>
          <a:p>
            <a:fld id="{642261E2-E0EE-4587-9A90-80362CD2A201}"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fld id="{3294F746-E77F-48E3-848E-7557DD31F778}" type="datetimeFigureOut">
              <a:rPr lang="en-GB" smtClean="0"/>
              <a:t>23/04/2021</a:t>
            </a:fld>
            <a:endParaRPr lang="en-GB"/>
          </a:p>
        </p:txBody>
      </p:sp>
      <p:sp>
        <p:nvSpPr>
          <p:cNvPr id="3" name="Rectangle 12"/>
          <p:cNvSpPr>
            <a:spLocks noGrp="1" noChangeArrowheads="1"/>
          </p:cNvSpPr>
          <p:nvPr>
            <p:ph type="ftr" sz="quarter" idx="11"/>
          </p:nvPr>
        </p:nvSpPr>
        <p:spPr>
          <a:ln/>
        </p:spPr>
        <p:txBody>
          <a:bodyPr/>
          <a:lstStyle>
            <a:lvl1pPr>
              <a:defRPr/>
            </a:lvl1pPr>
          </a:lstStyle>
          <a:p>
            <a:endParaRPr lang="en-GB"/>
          </a:p>
        </p:txBody>
      </p:sp>
      <p:sp>
        <p:nvSpPr>
          <p:cNvPr id="4" name="Rectangle 13"/>
          <p:cNvSpPr>
            <a:spLocks noGrp="1" noChangeArrowheads="1"/>
          </p:cNvSpPr>
          <p:nvPr>
            <p:ph type="sldNum" sz="quarter" idx="12"/>
          </p:nvPr>
        </p:nvSpPr>
        <p:spPr>
          <a:ln/>
        </p:spPr>
        <p:txBody>
          <a:bodyPr/>
          <a:lstStyle>
            <a:lvl1pPr>
              <a:defRPr/>
            </a:lvl1pPr>
          </a:lstStyle>
          <a:p>
            <a:fld id="{642261E2-E0EE-4587-9A90-80362CD2A201}"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1"/>
          <p:cNvSpPr>
            <a:spLocks noGrp="1" noChangeArrowheads="1"/>
          </p:cNvSpPr>
          <p:nvPr>
            <p:ph type="dt" sz="half" idx="10"/>
          </p:nvPr>
        </p:nvSpPr>
        <p:spPr>
          <a:ln/>
        </p:spPr>
        <p:txBody>
          <a:bodyPr/>
          <a:lstStyle>
            <a:lvl1pPr>
              <a:defRPr/>
            </a:lvl1pPr>
          </a:lstStyle>
          <a:p>
            <a:fld id="{3294F746-E77F-48E3-848E-7557DD31F778}" type="datetimeFigureOut">
              <a:rPr lang="en-GB" smtClean="0"/>
              <a:t>23/04/2021</a:t>
            </a:fld>
            <a:endParaRPr lang="en-GB"/>
          </a:p>
        </p:txBody>
      </p:sp>
      <p:sp>
        <p:nvSpPr>
          <p:cNvPr id="6" name="Rectangle 12"/>
          <p:cNvSpPr>
            <a:spLocks noGrp="1" noChangeArrowheads="1"/>
          </p:cNvSpPr>
          <p:nvPr>
            <p:ph type="ftr" sz="quarter" idx="11"/>
          </p:nvPr>
        </p:nvSpPr>
        <p:spPr>
          <a:ln/>
        </p:spPr>
        <p:txBody>
          <a:bodyPr/>
          <a:lstStyle>
            <a:lvl1pPr>
              <a:defRPr/>
            </a:lvl1pPr>
          </a:lstStyle>
          <a:p>
            <a:endParaRPr lang="en-GB"/>
          </a:p>
        </p:txBody>
      </p:sp>
      <p:sp>
        <p:nvSpPr>
          <p:cNvPr id="7" name="Rectangle 13"/>
          <p:cNvSpPr>
            <a:spLocks noGrp="1" noChangeArrowheads="1"/>
          </p:cNvSpPr>
          <p:nvPr>
            <p:ph type="sldNum" sz="quarter" idx="12"/>
          </p:nvPr>
        </p:nvSpPr>
        <p:spPr>
          <a:ln/>
        </p:spPr>
        <p:txBody>
          <a:bodyPr/>
          <a:lstStyle>
            <a:lvl1pPr>
              <a:defRPr/>
            </a:lvl1pPr>
          </a:lstStyle>
          <a:p>
            <a:fld id="{642261E2-E0EE-4587-9A90-80362CD2A201}" type="slidenum">
              <a:rPr lang="en-GB" smtClean="0"/>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1"/>
          <p:cNvSpPr>
            <a:spLocks noGrp="1" noChangeArrowheads="1"/>
          </p:cNvSpPr>
          <p:nvPr>
            <p:ph type="dt" sz="half" idx="10"/>
          </p:nvPr>
        </p:nvSpPr>
        <p:spPr>
          <a:ln/>
        </p:spPr>
        <p:txBody>
          <a:bodyPr/>
          <a:lstStyle>
            <a:lvl1pPr>
              <a:defRPr/>
            </a:lvl1pPr>
          </a:lstStyle>
          <a:p>
            <a:fld id="{3294F746-E77F-48E3-848E-7557DD31F778}" type="datetimeFigureOut">
              <a:rPr lang="en-GB" smtClean="0"/>
              <a:t>23/04/2021</a:t>
            </a:fld>
            <a:endParaRPr lang="en-GB"/>
          </a:p>
        </p:txBody>
      </p:sp>
      <p:sp>
        <p:nvSpPr>
          <p:cNvPr id="6" name="Rectangle 12"/>
          <p:cNvSpPr>
            <a:spLocks noGrp="1" noChangeArrowheads="1"/>
          </p:cNvSpPr>
          <p:nvPr>
            <p:ph type="ftr" sz="quarter" idx="11"/>
          </p:nvPr>
        </p:nvSpPr>
        <p:spPr>
          <a:ln/>
        </p:spPr>
        <p:txBody>
          <a:bodyPr/>
          <a:lstStyle>
            <a:lvl1pPr>
              <a:defRPr/>
            </a:lvl1pPr>
          </a:lstStyle>
          <a:p>
            <a:endParaRPr lang="en-GB"/>
          </a:p>
        </p:txBody>
      </p:sp>
      <p:sp>
        <p:nvSpPr>
          <p:cNvPr id="7" name="Rectangle 13"/>
          <p:cNvSpPr>
            <a:spLocks noGrp="1" noChangeArrowheads="1"/>
          </p:cNvSpPr>
          <p:nvPr>
            <p:ph type="sldNum" sz="quarter" idx="12"/>
          </p:nvPr>
        </p:nvSpPr>
        <p:spPr>
          <a:ln/>
        </p:spPr>
        <p:txBody>
          <a:bodyPr/>
          <a:lstStyle>
            <a:lvl1pPr>
              <a:defRPr/>
            </a:lvl1pPr>
          </a:lstStyle>
          <a:p>
            <a:fld id="{642261E2-E0EE-4587-9A90-80362CD2A201}" type="slidenum">
              <a:rPr lang="en-GB" smtClean="0"/>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11"/>
          <p:cNvSpPr>
            <a:spLocks noGrp="1" noChangeArrowheads="1"/>
          </p:cNvSpPr>
          <p:nvPr>
            <p:ph type="dt" sz="half" idx="10"/>
          </p:nvPr>
        </p:nvSpPr>
        <p:spPr>
          <a:ln/>
        </p:spPr>
        <p:txBody>
          <a:bodyPr/>
          <a:lstStyle>
            <a:lvl1pPr>
              <a:defRPr/>
            </a:lvl1pPr>
          </a:lstStyle>
          <a:p>
            <a:fld id="{3294F746-E77F-48E3-848E-7557DD31F778}" type="datetimeFigureOut">
              <a:rPr lang="en-GB" smtClean="0"/>
              <a:t>23/04/2021</a:t>
            </a:fld>
            <a:endParaRPr lang="en-GB"/>
          </a:p>
        </p:txBody>
      </p:sp>
      <p:sp>
        <p:nvSpPr>
          <p:cNvPr id="5" name="Rectangle 12"/>
          <p:cNvSpPr>
            <a:spLocks noGrp="1" noChangeArrowheads="1"/>
          </p:cNvSpPr>
          <p:nvPr>
            <p:ph type="ftr" sz="quarter" idx="11"/>
          </p:nvPr>
        </p:nvSpPr>
        <p:spPr>
          <a:ln/>
        </p:spPr>
        <p:txBody>
          <a:bodyPr/>
          <a:lstStyle>
            <a:lvl1pPr>
              <a:defRPr/>
            </a:lvl1pPr>
          </a:lstStyle>
          <a:p>
            <a:endParaRPr lang="en-GB"/>
          </a:p>
        </p:txBody>
      </p:sp>
      <p:sp>
        <p:nvSpPr>
          <p:cNvPr id="6" name="Rectangle 13"/>
          <p:cNvSpPr>
            <a:spLocks noGrp="1" noChangeArrowheads="1"/>
          </p:cNvSpPr>
          <p:nvPr>
            <p:ph type="sldNum" sz="quarter" idx="12"/>
          </p:nvPr>
        </p:nvSpPr>
        <p:spPr>
          <a:ln/>
        </p:spPr>
        <p:txBody>
          <a:bodyPr/>
          <a:lstStyle>
            <a:lvl1pPr>
              <a:defRPr/>
            </a:lvl1pPr>
          </a:lstStyle>
          <a:p>
            <a:fld id="{642261E2-E0EE-4587-9A90-80362CD2A201}"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762000"/>
            <a:ext cx="1981200" cy="532447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762000" y="762000"/>
            <a:ext cx="5791200" cy="53244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11"/>
          <p:cNvSpPr>
            <a:spLocks noGrp="1" noChangeArrowheads="1"/>
          </p:cNvSpPr>
          <p:nvPr>
            <p:ph type="dt" sz="half" idx="10"/>
          </p:nvPr>
        </p:nvSpPr>
        <p:spPr>
          <a:ln/>
        </p:spPr>
        <p:txBody>
          <a:bodyPr/>
          <a:lstStyle>
            <a:lvl1pPr>
              <a:defRPr/>
            </a:lvl1pPr>
          </a:lstStyle>
          <a:p>
            <a:fld id="{3294F746-E77F-48E3-848E-7557DD31F778}" type="datetimeFigureOut">
              <a:rPr lang="en-GB" smtClean="0"/>
              <a:t>23/04/2021</a:t>
            </a:fld>
            <a:endParaRPr lang="en-GB"/>
          </a:p>
        </p:txBody>
      </p:sp>
      <p:sp>
        <p:nvSpPr>
          <p:cNvPr id="5" name="Rectangle 12"/>
          <p:cNvSpPr>
            <a:spLocks noGrp="1" noChangeArrowheads="1"/>
          </p:cNvSpPr>
          <p:nvPr>
            <p:ph type="ftr" sz="quarter" idx="11"/>
          </p:nvPr>
        </p:nvSpPr>
        <p:spPr>
          <a:ln/>
        </p:spPr>
        <p:txBody>
          <a:bodyPr/>
          <a:lstStyle>
            <a:lvl1pPr>
              <a:defRPr/>
            </a:lvl1pPr>
          </a:lstStyle>
          <a:p>
            <a:endParaRPr lang="en-GB"/>
          </a:p>
        </p:txBody>
      </p:sp>
      <p:sp>
        <p:nvSpPr>
          <p:cNvPr id="6" name="Rectangle 13"/>
          <p:cNvSpPr>
            <a:spLocks noGrp="1" noChangeArrowheads="1"/>
          </p:cNvSpPr>
          <p:nvPr>
            <p:ph type="sldNum" sz="quarter" idx="12"/>
          </p:nvPr>
        </p:nvSpPr>
        <p:spPr>
          <a:ln/>
        </p:spPr>
        <p:txBody>
          <a:bodyPr/>
          <a:lstStyle>
            <a:lvl1pPr>
              <a:defRPr/>
            </a:lvl1pPr>
          </a:lstStyle>
          <a:p>
            <a:fld id="{642261E2-E0EE-4587-9A90-80362CD2A201}" type="slidenum">
              <a:rPr lang="en-GB" smtClean="0"/>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0"/>
            <a:ext cx="7924800" cy="1143000"/>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838200" y="2362200"/>
            <a:ext cx="3770313" cy="37242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760913" y="2362200"/>
            <a:ext cx="3770312" cy="37242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11"/>
          <p:cNvSpPr>
            <a:spLocks noGrp="1" noChangeArrowheads="1"/>
          </p:cNvSpPr>
          <p:nvPr>
            <p:ph type="dt" sz="half" idx="10"/>
          </p:nvPr>
        </p:nvSpPr>
        <p:spPr>
          <a:ln/>
        </p:spPr>
        <p:txBody>
          <a:bodyPr/>
          <a:lstStyle>
            <a:lvl1pPr>
              <a:defRPr/>
            </a:lvl1pPr>
          </a:lstStyle>
          <a:p>
            <a:fld id="{3294F746-E77F-48E3-848E-7557DD31F778}" type="datetimeFigureOut">
              <a:rPr lang="en-GB" smtClean="0"/>
              <a:t>23/04/2021</a:t>
            </a:fld>
            <a:endParaRPr lang="en-GB"/>
          </a:p>
        </p:txBody>
      </p:sp>
      <p:sp>
        <p:nvSpPr>
          <p:cNvPr id="6" name="Rectangle 12"/>
          <p:cNvSpPr>
            <a:spLocks noGrp="1" noChangeArrowheads="1"/>
          </p:cNvSpPr>
          <p:nvPr>
            <p:ph type="ftr" sz="quarter" idx="11"/>
          </p:nvPr>
        </p:nvSpPr>
        <p:spPr>
          <a:ln/>
        </p:spPr>
        <p:txBody>
          <a:bodyPr/>
          <a:lstStyle>
            <a:lvl1pPr>
              <a:defRPr/>
            </a:lvl1pPr>
          </a:lstStyle>
          <a:p>
            <a:endParaRPr lang="en-GB"/>
          </a:p>
        </p:txBody>
      </p:sp>
      <p:sp>
        <p:nvSpPr>
          <p:cNvPr id="7" name="Rectangle 13"/>
          <p:cNvSpPr>
            <a:spLocks noGrp="1" noChangeArrowheads="1"/>
          </p:cNvSpPr>
          <p:nvPr>
            <p:ph type="sldNum" sz="quarter" idx="12"/>
          </p:nvPr>
        </p:nvSpPr>
        <p:spPr>
          <a:ln/>
        </p:spPr>
        <p:txBody>
          <a:bodyPr/>
          <a:lstStyle>
            <a:lvl1pPr>
              <a:defRPr/>
            </a:lvl1pPr>
          </a:lstStyle>
          <a:p>
            <a:fld id="{642261E2-E0EE-4587-9A90-80362CD2A201}"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 2"/>
          <p:cNvGrpSpPr>
            <a:grpSpLocks/>
          </p:cNvGrpSpPr>
          <p:nvPr/>
        </p:nvGrpSpPr>
        <p:grpSpPr bwMode="auto">
          <a:xfrm>
            <a:off x="0" y="0"/>
            <a:ext cx="7620000" cy="6858000"/>
            <a:chOff x="0" y="0"/>
            <a:chExt cx="4800" cy="4320"/>
          </a:xfrm>
        </p:grpSpPr>
        <p:grpSp>
          <p:nvGrpSpPr>
            <p:cNvPr id="3" name="Group 3"/>
            <p:cNvGrpSpPr>
              <a:grpSpLocks/>
            </p:cNvGrpSpPr>
            <p:nvPr userDrawn="1"/>
          </p:nvGrpSpPr>
          <p:grpSpPr bwMode="auto">
            <a:xfrm>
              <a:off x="0" y="0"/>
              <a:ext cx="2016" cy="4320"/>
              <a:chOff x="0" y="0"/>
              <a:chExt cx="2016" cy="4320"/>
            </a:xfrm>
          </p:grpSpPr>
          <p:sp>
            <p:nvSpPr>
              <p:cNvPr id="566276" name="Rectangle 4"/>
              <p:cNvSpPr>
                <a:spLocks noChangeArrowheads="1"/>
              </p:cNvSpPr>
              <p:nvPr userDrawn="1"/>
            </p:nvSpPr>
            <p:spPr bwMode="auto">
              <a:xfrm>
                <a:off x="0" y="0"/>
                <a:ext cx="480" cy="4320"/>
              </a:xfrm>
              <a:prstGeom prst="rect">
                <a:avLst/>
              </a:prstGeom>
              <a:solidFill>
                <a:schemeClr val="accent2"/>
              </a:solidFill>
              <a:ln w="9525">
                <a:noFill/>
                <a:miter lim="800000"/>
                <a:headEnd/>
                <a:tailEnd/>
              </a:ln>
              <a:effectLst/>
            </p:spPr>
            <p:txBody>
              <a:bodyPr wrap="none" anchor="ctr"/>
              <a:lstStyle/>
              <a:p>
                <a:pPr>
                  <a:defRPr/>
                </a:pPr>
                <a:endParaRPr lang="en-GB"/>
              </a:p>
            </p:txBody>
          </p:sp>
          <p:sp>
            <p:nvSpPr>
              <p:cNvPr id="566277" name="Freeform 5"/>
              <p:cNvSpPr>
                <a:spLocks/>
              </p:cNvSpPr>
              <p:nvPr userDrawn="1"/>
            </p:nvSpPr>
            <p:spPr bwMode="auto">
              <a:xfrm>
                <a:off x="288" y="0"/>
                <a:ext cx="1728" cy="735"/>
              </a:xfrm>
              <a:custGeom>
                <a:avLst/>
                <a:gdLst/>
                <a:ahLst/>
                <a:cxnLst>
                  <a:cxn ang="0">
                    <a:pos x="1728" y="0"/>
                  </a:cxn>
                  <a:cxn ang="0">
                    <a:pos x="1728" y="480"/>
                  </a:cxn>
                  <a:cxn ang="0">
                    <a:pos x="380" y="482"/>
                  </a:cxn>
                  <a:cxn ang="0">
                    <a:pos x="354" y="480"/>
                  </a:cxn>
                  <a:cxn ang="0">
                    <a:pos x="308" y="489"/>
                  </a:cxn>
                  <a:cxn ang="0">
                    <a:pos x="246" y="531"/>
                  </a:cxn>
                  <a:cxn ang="0">
                    <a:pos x="206" y="597"/>
                  </a:cxn>
                  <a:cxn ang="0">
                    <a:pos x="192" y="666"/>
                  </a:cxn>
                  <a:cxn ang="0">
                    <a:pos x="192" y="735"/>
                  </a:cxn>
                  <a:cxn ang="0">
                    <a:pos x="0" y="735"/>
                  </a:cxn>
                  <a:cxn ang="0">
                    <a:pos x="0" y="480"/>
                  </a:cxn>
                  <a:cxn ang="0">
                    <a:pos x="0" y="0"/>
                  </a:cxn>
                  <a:cxn ang="0">
                    <a:pos x="1728" y="0"/>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solidFill>
              <a:ln w="9525" cap="flat" cmpd="sng">
                <a:noFill/>
                <a:prstDash val="solid"/>
                <a:miter lim="800000"/>
                <a:headEnd type="none" w="med" len="med"/>
                <a:tailEnd type="none" w="med" len="med"/>
              </a:ln>
              <a:effectLst/>
            </p:spPr>
            <p:txBody>
              <a:bodyPr wrap="none"/>
              <a:lstStyle/>
              <a:p>
                <a:pPr>
                  <a:defRPr/>
                </a:pPr>
                <a:endParaRPr lang="en-GB"/>
              </a:p>
            </p:txBody>
          </p:sp>
        </p:grpSp>
        <p:grpSp>
          <p:nvGrpSpPr>
            <p:cNvPr id="4" name="Group 6"/>
            <p:cNvGrpSpPr>
              <a:grpSpLocks/>
            </p:cNvGrpSpPr>
            <p:nvPr/>
          </p:nvGrpSpPr>
          <p:grpSpPr bwMode="auto">
            <a:xfrm>
              <a:off x="144" y="1248"/>
              <a:ext cx="4656" cy="201"/>
              <a:chOff x="144" y="1248"/>
              <a:chExt cx="4656" cy="201"/>
            </a:xfrm>
          </p:grpSpPr>
          <p:sp>
            <p:nvSpPr>
              <p:cNvPr id="566279" name="AutoShape 7"/>
              <p:cNvSpPr>
                <a:spLocks noChangeArrowheads="1"/>
              </p:cNvSpPr>
              <p:nvPr/>
            </p:nvSpPr>
            <p:spPr bwMode="auto">
              <a:xfrm>
                <a:off x="384" y="1248"/>
                <a:ext cx="4416" cy="200"/>
              </a:xfrm>
              <a:prstGeom prst="roundRect">
                <a:avLst>
                  <a:gd name="adj" fmla="val 0"/>
                </a:avLst>
              </a:prstGeom>
              <a:solidFill>
                <a:schemeClr val="hlink"/>
              </a:solidFill>
              <a:ln w="9525">
                <a:noFill/>
                <a:round/>
                <a:headEnd/>
                <a:tailEnd/>
              </a:ln>
              <a:effectLst/>
            </p:spPr>
            <p:txBody>
              <a:bodyPr wrap="none" anchor="ctr"/>
              <a:lstStyle/>
              <a:p>
                <a:pPr>
                  <a:defRPr/>
                </a:pPr>
                <a:endParaRPr lang="en-GB"/>
              </a:p>
            </p:txBody>
          </p:sp>
          <p:sp>
            <p:nvSpPr>
              <p:cNvPr id="566280" name="AutoShape 8"/>
              <p:cNvSpPr>
                <a:spLocks noChangeArrowheads="1"/>
              </p:cNvSpPr>
              <p:nvPr/>
            </p:nvSpPr>
            <p:spPr bwMode="auto">
              <a:xfrm flipH="1">
                <a:off x="144" y="1248"/>
                <a:ext cx="248" cy="201"/>
              </a:xfrm>
              <a:prstGeom prst="flowChartDelay">
                <a:avLst/>
              </a:prstGeom>
              <a:solidFill>
                <a:schemeClr val="hlink"/>
              </a:solidFill>
              <a:ln w="9525">
                <a:noFill/>
                <a:miter lim="800000"/>
                <a:headEnd/>
                <a:tailEnd/>
              </a:ln>
              <a:effectLst/>
            </p:spPr>
            <p:txBody>
              <a:bodyPr wrap="none" anchor="ctr"/>
              <a:lstStyle/>
              <a:p>
                <a:pPr>
                  <a:defRPr/>
                </a:pPr>
                <a:endParaRPr lang="en-GB"/>
              </a:p>
            </p:txBody>
          </p:sp>
        </p:grpSp>
      </p:grpSp>
      <p:sp>
        <p:nvSpPr>
          <p:cNvPr id="1027" name="AutoShape 9"/>
          <p:cNvSpPr>
            <a:spLocks noGrp="1" noChangeArrowheads="1"/>
          </p:cNvSpPr>
          <p:nvPr>
            <p:ph type="title"/>
          </p:nvPr>
        </p:nvSpPr>
        <p:spPr bwMode="auto">
          <a:xfrm>
            <a:off x="762000" y="762000"/>
            <a:ext cx="7924800" cy="1143000"/>
          </a:xfrm>
          <a:prstGeom prst="roundRect">
            <a:avLst>
              <a:gd name="adj" fmla="val 21667"/>
            </a:avLst>
          </a:prstGeom>
          <a:noFill/>
          <a:ln w="9525">
            <a:noFill/>
            <a:round/>
            <a:headEnd/>
            <a:tailEnd/>
          </a:ln>
        </p:spPr>
        <p:txBody>
          <a:bodyPr vert="horz" wrap="square" lIns="91440" tIns="45720" rIns="91440" bIns="45720" numCol="1" anchor="b" anchorCtr="0" compatLnSpc="1">
            <a:prstTxWarp prst="textNoShape">
              <a:avLst/>
            </a:prstTxWarp>
          </a:bodyPr>
          <a:lstStyle/>
          <a:p>
            <a:pPr lvl="0"/>
            <a:r>
              <a:rPr lang="en-US" smtClean="0"/>
              <a:t>Click to edit Master title style</a:t>
            </a:r>
            <a:endParaRPr lang="tr-TR" smtClean="0"/>
          </a:p>
        </p:txBody>
      </p:sp>
      <p:sp>
        <p:nvSpPr>
          <p:cNvPr id="1028" name="Rectangle 10"/>
          <p:cNvSpPr>
            <a:spLocks noGrp="1" noChangeArrowheads="1"/>
          </p:cNvSpPr>
          <p:nvPr>
            <p:ph type="body" idx="1"/>
          </p:nvPr>
        </p:nvSpPr>
        <p:spPr bwMode="auto">
          <a:xfrm>
            <a:off x="838200" y="2362200"/>
            <a:ext cx="7693025" cy="3724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smtClean="0"/>
          </a:p>
        </p:txBody>
      </p:sp>
      <p:sp>
        <p:nvSpPr>
          <p:cNvPr id="566283" name="Rectangle 11"/>
          <p:cNvSpPr>
            <a:spLocks noGrp="1" noChangeArrowheads="1"/>
          </p:cNvSpPr>
          <p:nvPr>
            <p:ph type="dt" sz="half" idx="2"/>
          </p:nvPr>
        </p:nvSpPr>
        <p:spPr bwMode="auto">
          <a:xfrm>
            <a:off x="2438400" y="6248400"/>
            <a:ext cx="2130425" cy="4746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smtClean="0"/>
            </a:lvl1pPr>
          </a:lstStyle>
          <a:p>
            <a:fld id="{3294F746-E77F-48E3-848E-7557DD31F778}" type="datetimeFigureOut">
              <a:rPr lang="en-GB" smtClean="0"/>
              <a:t>23/04/2021</a:t>
            </a:fld>
            <a:endParaRPr lang="en-GB"/>
          </a:p>
        </p:txBody>
      </p:sp>
      <p:sp>
        <p:nvSpPr>
          <p:cNvPr id="566284" name="Rectangle 12"/>
          <p:cNvSpPr>
            <a:spLocks noGrp="1" noChangeArrowheads="1"/>
          </p:cNvSpPr>
          <p:nvPr>
            <p:ph type="ftr" sz="quarter" idx="3"/>
          </p:nvPr>
        </p:nvSpPr>
        <p:spPr bwMode="auto">
          <a:xfrm>
            <a:off x="5791200" y="6248400"/>
            <a:ext cx="2897188" cy="4746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smtClean="0"/>
            </a:lvl1pPr>
          </a:lstStyle>
          <a:p>
            <a:endParaRPr lang="en-GB"/>
          </a:p>
        </p:txBody>
      </p:sp>
      <p:sp>
        <p:nvSpPr>
          <p:cNvPr id="566285" name="Rectangle 13"/>
          <p:cNvSpPr>
            <a:spLocks noGrp="1" noChangeArrowheads="1"/>
          </p:cNvSpPr>
          <p:nvPr>
            <p:ph type="sldNum" sz="quarter" idx="4"/>
          </p:nvPr>
        </p:nvSpPr>
        <p:spPr bwMode="auto">
          <a:xfrm>
            <a:off x="84138" y="6242050"/>
            <a:ext cx="587375" cy="488950"/>
          </a:xfrm>
          <a:prstGeom prst="rect">
            <a:avLst/>
          </a:prstGeom>
          <a:noFill/>
          <a:ln w="9525">
            <a:noFill/>
            <a:miter lim="800000"/>
            <a:headEnd/>
            <a:tailEnd/>
          </a:ln>
          <a:effectLst/>
        </p:spPr>
        <p:txBody>
          <a:bodyPr vert="horz" wrap="square" lIns="91440" tIns="45720" rIns="91440" bIns="45720" numCol="1" anchor="b" anchorCtr="1" compatLnSpc="1">
            <a:prstTxWarp prst="textNoShape">
              <a:avLst/>
            </a:prstTxWarp>
          </a:bodyPr>
          <a:lstStyle>
            <a:lvl1pPr>
              <a:defRPr sz="2600" b="1" smtClean="0">
                <a:solidFill>
                  <a:schemeClr val="bg1"/>
                </a:solidFill>
              </a:defRPr>
            </a:lvl1pPr>
          </a:lstStyle>
          <a:p>
            <a:fld id="{642261E2-E0EE-4587-9A90-80362CD2A201}"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rtl="0" eaLnBrk="1" fontAlgn="base" hangingPunct="1">
        <a:lnSpc>
          <a:spcPct val="90000"/>
        </a:lnSpc>
        <a:spcBef>
          <a:spcPct val="0"/>
        </a:spcBef>
        <a:spcAft>
          <a:spcPct val="0"/>
        </a:spcAft>
        <a:defRPr sz="3600" b="1">
          <a:solidFill>
            <a:schemeClr val="tx2"/>
          </a:solidFill>
          <a:latin typeface="+mj-lt"/>
          <a:ea typeface="+mj-ea"/>
          <a:cs typeface="+mj-cs"/>
        </a:defRPr>
      </a:lvl1pPr>
      <a:lvl2pPr algn="l" rtl="0" eaLnBrk="1" fontAlgn="base" hangingPunct="1">
        <a:lnSpc>
          <a:spcPct val="90000"/>
        </a:lnSpc>
        <a:spcBef>
          <a:spcPct val="0"/>
        </a:spcBef>
        <a:spcAft>
          <a:spcPct val="0"/>
        </a:spcAft>
        <a:defRPr sz="3600" b="1">
          <a:solidFill>
            <a:schemeClr val="tx2"/>
          </a:solidFill>
          <a:latin typeface="Arial" charset="0"/>
        </a:defRPr>
      </a:lvl2pPr>
      <a:lvl3pPr algn="l" rtl="0" eaLnBrk="1" fontAlgn="base" hangingPunct="1">
        <a:lnSpc>
          <a:spcPct val="90000"/>
        </a:lnSpc>
        <a:spcBef>
          <a:spcPct val="0"/>
        </a:spcBef>
        <a:spcAft>
          <a:spcPct val="0"/>
        </a:spcAft>
        <a:defRPr sz="3600" b="1">
          <a:solidFill>
            <a:schemeClr val="tx2"/>
          </a:solidFill>
          <a:latin typeface="Arial" charset="0"/>
        </a:defRPr>
      </a:lvl3pPr>
      <a:lvl4pPr algn="l" rtl="0" eaLnBrk="1" fontAlgn="base" hangingPunct="1">
        <a:lnSpc>
          <a:spcPct val="90000"/>
        </a:lnSpc>
        <a:spcBef>
          <a:spcPct val="0"/>
        </a:spcBef>
        <a:spcAft>
          <a:spcPct val="0"/>
        </a:spcAft>
        <a:defRPr sz="3600" b="1">
          <a:solidFill>
            <a:schemeClr val="tx2"/>
          </a:solidFill>
          <a:latin typeface="Arial" charset="0"/>
        </a:defRPr>
      </a:lvl4pPr>
      <a:lvl5pPr algn="l" rtl="0" eaLnBrk="1" fontAlgn="base" hangingPunct="1">
        <a:lnSpc>
          <a:spcPct val="90000"/>
        </a:lnSpc>
        <a:spcBef>
          <a:spcPct val="0"/>
        </a:spcBef>
        <a:spcAft>
          <a:spcPct val="0"/>
        </a:spcAft>
        <a:defRPr sz="3600" b="1">
          <a:solidFill>
            <a:schemeClr val="tx2"/>
          </a:solidFill>
          <a:latin typeface="Arial" charset="0"/>
        </a:defRPr>
      </a:lvl5pPr>
      <a:lvl6pPr marL="457200" algn="l" rtl="0" eaLnBrk="1" fontAlgn="base" hangingPunct="1">
        <a:lnSpc>
          <a:spcPct val="90000"/>
        </a:lnSpc>
        <a:spcBef>
          <a:spcPct val="0"/>
        </a:spcBef>
        <a:spcAft>
          <a:spcPct val="0"/>
        </a:spcAft>
        <a:defRPr sz="3600" b="1">
          <a:solidFill>
            <a:schemeClr val="tx2"/>
          </a:solidFill>
          <a:latin typeface="Arial" charset="0"/>
        </a:defRPr>
      </a:lvl6pPr>
      <a:lvl7pPr marL="914400" algn="l" rtl="0" eaLnBrk="1" fontAlgn="base" hangingPunct="1">
        <a:lnSpc>
          <a:spcPct val="90000"/>
        </a:lnSpc>
        <a:spcBef>
          <a:spcPct val="0"/>
        </a:spcBef>
        <a:spcAft>
          <a:spcPct val="0"/>
        </a:spcAft>
        <a:defRPr sz="3600" b="1">
          <a:solidFill>
            <a:schemeClr val="tx2"/>
          </a:solidFill>
          <a:latin typeface="Arial" charset="0"/>
        </a:defRPr>
      </a:lvl7pPr>
      <a:lvl8pPr marL="1371600" algn="l" rtl="0" eaLnBrk="1" fontAlgn="base" hangingPunct="1">
        <a:lnSpc>
          <a:spcPct val="90000"/>
        </a:lnSpc>
        <a:spcBef>
          <a:spcPct val="0"/>
        </a:spcBef>
        <a:spcAft>
          <a:spcPct val="0"/>
        </a:spcAft>
        <a:defRPr sz="3600" b="1">
          <a:solidFill>
            <a:schemeClr val="tx2"/>
          </a:solidFill>
          <a:latin typeface="Arial" charset="0"/>
        </a:defRPr>
      </a:lvl8pPr>
      <a:lvl9pPr marL="1828800" algn="l" rtl="0" eaLnBrk="1" fontAlgn="base" hangingPunct="1">
        <a:lnSpc>
          <a:spcPct val="90000"/>
        </a:lnSpc>
        <a:spcBef>
          <a:spcPct val="0"/>
        </a:spcBef>
        <a:spcAft>
          <a:spcPct val="0"/>
        </a:spcAft>
        <a:defRPr sz="3600" b="1">
          <a:solidFill>
            <a:schemeClr val="tx2"/>
          </a:solidFill>
          <a:latin typeface="Arial" charset="0"/>
        </a:defRPr>
      </a:lvl9pPr>
    </p:titleStyle>
    <p:bodyStyle>
      <a:lvl1pPr marL="342900" indent="-342900" algn="l" rtl="0" eaLnBrk="1" fontAlgn="base" hangingPunct="1">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1"/>
        </a:buClr>
        <a:buSzPct val="75000"/>
        <a:buChar char="–"/>
        <a:defRPr sz="2400">
          <a:solidFill>
            <a:schemeClr val="tx1"/>
          </a:solidFill>
          <a:latin typeface="+mn-lt"/>
        </a:defRPr>
      </a:lvl2pPr>
      <a:lvl3pPr marL="1143000" indent="-228600" algn="l" rtl="0" eaLnBrk="1" fontAlgn="base" hangingPunct="1">
        <a:spcBef>
          <a:spcPct val="20000"/>
        </a:spcBef>
        <a:spcAft>
          <a:spcPct val="0"/>
        </a:spcAft>
        <a:buClr>
          <a:schemeClr val="tx1"/>
        </a:buClr>
        <a:buSzPct val="75000"/>
        <a:buFont typeface="Wingdings" pitchFamily="2" charset="2"/>
        <a:buChar char="l"/>
        <a:defRPr sz="2000">
          <a:solidFill>
            <a:schemeClr val="tx1"/>
          </a:solidFill>
          <a:latin typeface="+mn-lt"/>
        </a:defRPr>
      </a:lvl3pPr>
      <a:lvl4pPr marL="1600200" indent="-228600" algn="l" rtl="0" eaLnBrk="1" fontAlgn="base" hangingPunct="1">
        <a:spcBef>
          <a:spcPct val="20000"/>
        </a:spcBef>
        <a:spcAft>
          <a:spcPct val="0"/>
        </a:spcAft>
        <a:buClr>
          <a:schemeClr val="tx1"/>
        </a:buClr>
        <a:buSzPct val="80000"/>
        <a:buChar char="–"/>
        <a:defRPr>
          <a:solidFill>
            <a:schemeClr val="tx1"/>
          </a:solidFill>
          <a:latin typeface="+mn-lt"/>
        </a:defRPr>
      </a:lvl4pPr>
      <a:lvl5pPr marL="20574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5pPr>
      <a:lvl6pPr marL="2514600" indent="-228600" algn="l" rtl="0" eaLnBrk="1" fontAlgn="base" hangingPunct="1">
        <a:spcBef>
          <a:spcPct val="20000"/>
        </a:spcBef>
        <a:spcAft>
          <a:spcPct val="0"/>
        </a:spcAft>
        <a:buClr>
          <a:schemeClr val="tx1"/>
        </a:buClr>
        <a:buSzPct val="65000"/>
        <a:buFont typeface="Wingdings" pitchFamily="8" charset="2"/>
        <a:buChar char="l"/>
        <a:defRPr>
          <a:solidFill>
            <a:schemeClr val="tx1"/>
          </a:solidFill>
          <a:latin typeface="+mn-lt"/>
        </a:defRPr>
      </a:lvl6pPr>
      <a:lvl7pPr marL="2971800" indent="-228600" algn="l" rtl="0" eaLnBrk="1" fontAlgn="base" hangingPunct="1">
        <a:spcBef>
          <a:spcPct val="20000"/>
        </a:spcBef>
        <a:spcAft>
          <a:spcPct val="0"/>
        </a:spcAft>
        <a:buClr>
          <a:schemeClr val="tx1"/>
        </a:buClr>
        <a:buSzPct val="65000"/>
        <a:buFont typeface="Wingdings" pitchFamily="8" charset="2"/>
        <a:buChar char="l"/>
        <a:defRPr>
          <a:solidFill>
            <a:schemeClr val="tx1"/>
          </a:solidFill>
          <a:latin typeface="+mn-lt"/>
        </a:defRPr>
      </a:lvl7pPr>
      <a:lvl8pPr marL="3429000" indent="-228600" algn="l" rtl="0" eaLnBrk="1" fontAlgn="base" hangingPunct="1">
        <a:spcBef>
          <a:spcPct val="20000"/>
        </a:spcBef>
        <a:spcAft>
          <a:spcPct val="0"/>
        </a:spcAft>
        <a:buClr>
          <a:schemeClr val="tx1"/>
        </a:buClr>
        <a:buSzPct val="65000"/>
        <a:buFont typeface="Wingdings" pitchFamily="8" charset="2"/>
        <a:buChar char="l"/>
        <a:defRPr>
          <a:solidFill>
            <a:schemeClr val="tx1"/>
          </a:solidFill>
          <a:latin typeface="+mn-lt"/>
        </a:defRPr>
      </a:lvl8pPr>
      <a:lvl9pPr marL="3886200" indent="-228600" algn="l" rtl="0" eaLnBrk="1" fontAlgn="base" hangingPunct="1">
        <a:spcBef>
          <a:spcPct val="20000"/>
        </a:spcBef>
        <a:spcAft>
          <a:spcPct val="0"/>
        </a:spcAft>
        <a:buClr>
          <a:schemeClr val="tx1"/>
        </a:buClr>
        <a:buSzPct val="65000"/>
        <a:buFont typeface="Wingdings" pitchFamily="8" charset="2"/>
        <a:buChar char="l"/>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oleObject" Target="../embeddings/Microsoft_Office_Excel_Worksheet1.xls"/></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style>
          <a:lnRef idx="2">
            <a:schemeClr val="accent2"/>
          </a:lnRef>
          <a:fillRef idx="1">
            <a:schemeClr val="lt1"/>
          </a:fillRef>
          <a:effectRef idx="0">
            <a:schemeClr val="accent2"/>
          </a:effectRef>
          <a:fontRef idx="minor">
            <a:schemeClr val="dk1"/>
          </a:fontRef>
        </p:style>
        <p:txBody>
          <a:bodyPr/>
          <a:lstStyle/>
          <a:p>
            <a:r>
              <a:rPr lang="en-GB" dirty="0" smtClean="0"/>
              <a:t>PRESENTATION SKILLS</a:t>
            </a:r>
            <a:endParaRPr lang="en-GB" dirty="0"/>
          </a:p>
        </p:txBody>
      </p:sp>
      <p:sp>
        <p:nvSpPr>
          <p:cNvPr id="2" name="Title 1"/>
          <p:cNvSpPr>
            <a:spLocks noGrp="1"/>
          </p:cNvSpPr>
          <p:nvPr>
            <p:ph type="ctrTitle" sz="quarter"/>
          </p:nvPr>
        </p:nvSpPr>
        <p:spPr>
          <a:solidFill>
            <a:srgbClr val="92D050"/>
          </a:solidFill>
          <a:ln>
            <a:solidFill>
              <a:srgbClr val="00B050"/>
            </a:solidFill>
          </a:ln>
        </p:spPr>
        <p:style>
          <a:lnRef idx="2">
            <a:schemeClr val="accent1"/>
          </a:lnRef>
          <a:fillRef idx="1">
            <a:schemeClr val="lt1"/>
          </a:fillRef>
          <a:effectRef idx="0">
            <a:schemeClr val="accent1"/>
          </a:effectRef>
          <a:fontRef idx="minor">
            <a:schemeClr val="dk1"/>
          </a:fontRef>
        </p:style>
        <p:txBody>
          <a:bodyPr/>
          <a:lstStyle/>
          <a:p>
            <a:r>
              <a:rPr lang="en-GB" dirty="0" smtClean="0"/>
              <a:t>LECTURE 7</a:t>
            </a:r>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320040"/>
            <a:ext cx="7239000" cy="1143000"/>
          </a:xfrm>
        </p:spPr>
        <p:txBody>
          <a:bodyPr/>
          <a:lstStyle/>
          <a:p>
            <a:pPr eaLnBrk="1" fontAlgn="auto" hangingPunct="1">
              <a:spcAft>
                <a:spcPts val="0"/>
              </a:spcAft>
              <a:defRPr/>
            </a:pPr>
            <a:r>
              <a:rPr lang="en-US" smtClean="0"/>
              <a:t>Oral Communication</a:t>
            </a:r>
          </a:p>
        </p:txBody>
      </p:sp>
      <p:sp>
        <p:nvSpPr>
          <p:cNvPr id="35843" name="Rectangle 3"/>
          <p:cNvSpPr>
            <a:spLocks noGrp="1" noChangeArrowheads="1"/>
          </p:cNvSpPr>
          <p:nvPr>
            <p:ph idx="1"/>
          </p:nvPr>
        </p:nvSpPr>
        <p:spPr/>
        <p:txBody>
          <a:bodyPr/>
          <a:lstStyle/>
          <a:p>
            <a:r>
              <a:rPr lang="en-US" altLang="en-US" dirty="0" smtClean="0"/>
              <a:t>Presentations</a:t>
            </a:r>
          </a:p>
          <a:p>
            <a:r>
              <a:rPr lang="en-US" altLang="en-US" dirty="0" smtClean="0"/>
              <a:t>interviews</a:t>
            </a:r>
          </a:p>
          <a:p>
            <a:pPr eaLnBrk="1" hangingPunct="1"/>
            <a:r>
              <a:rPr lang="en-US" altLang="en-US" dirty="0" smtClean="0"/>
              <a:t>Meetings</a:t>
            </a:r>
            <a:endParaRPr lang="en-US" altLang="en-US" dirty="0" smtClean="0"/>
          </a:p>
          <a:p>
            <a:pPr eaLnBrk="1" hangingPunct="1"/>
            <a:r>
              <a:rPr lang="en-US" altLang="en-US" dirty="0" smtClean="0"/>
              <a:t>Telephone conversations</a:t>
            </a:r>
            <a:endParaRPr lang="en-US" altLang="en-US" dirty="0" smtClean="0"/>
          </a:p>
        </p:txBody>
      </p:sp>
      <p:pic>
        <p:nvPicPr>
          <p:cNvPr id="7172" name="Picture 2" descr="C:\Documents and Settings\kcaverly\Local Settings\Temporary Internet Files\Content.IE5\XBN4TBO2\MCj02829140000[1].wmf"/>
          <p:cNvPicPr>
            <a:picLocks noChangeAspect="1" noChangeArrowheads="1"/>
          </p:cNvPicPr>
          <p:nvPr/>
        </p:nvPicPr>
        <p:blipFill>
          <a:blip r:embed="rId2" cstate="print"/>
          <a:srcRect/>
          <a:stretch>
            <a:fillRect/>
          </a:stretch>
        </p:blipFill>
        <p:spPr bwMode="auto">
          <a:xfrm>
            <a:off x="5334000" y="2057400"/>
            <a:ext cx="1746250" cy="104775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wipe(down)">
                                      <p:cBhvr>
                                        <p:cTn id="7" dur="500"/>
                                        <p:tgtEl>
                                          <p:spTgt spid="358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5843">
                                            <p:txEl>
                                              <p:pRg st="1" end="1"/>
                                            </p:txEl>
                                          </p:spTgt>
                                        </p:tgtEl>
                                        <p:attrNameLst>
                                          <p:attrName>style.visibility</p:attrName>
                                        </p:attrNameLst>
                                      </p:cBhvr>
                                      <p:to>
                                        <p:strVal val="visible"/>
                                      </p:to>
                                    </p:set>
                                    <p:animEffect transition="in" filter="wipe(down)">
                                      <p:cBhvr>
                                        <p:cTn id="12" dur="500"/>
                                        <p:tgtEl>
                                          <p:spTgt spid="358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5843">
                                            <p:txEl>
                                              <p:pRg st="2" end="2"/>
                                            </p:txEl>
                                          </p:spTgt>
                                        </p:tgtEl>
                                        <p:attrNameLst>
                                          <p:attrName>style.visibility</p:attrName>
                                        </p:attrNameLst>
                                      </p:cBhvr>
                                      <p:to>
                                        <p:strVal val="visible"/>
                                      </p:to>
                                    </p:set>
                                    <p:animEffect transition="in" filter="wipe(down)">
                                      <p:cBhvr>
                                        <p:cTn id="17" dur="500"/>
                                        <p:tgtEl>
                                          <p:spTgt spid="358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5843">
                                            <p:txEl>
                                              <p:pRg st="3" end="3"/>
                                            </p:txEl>
                                          </p:spTgt>
                                        </p:tgtEl>
                                        <p:attrNameLst>
                                          <p:attrName>style.visibility</p:attrName>
                                        </p:attrNameLst>
                                      </p:cBhvr>
                                      <p:to>
                                        <p:strVal val="visible"/>
                                      </p:to>
                                    </p:set>
                                    <p:animEffect transition="in" filter="wipe(down)">
                                      <p:cBhvr>
                                        <p:cTn id="22" dur="500"/>
                                        <p:tgtEl>
                                          <p:spTgt spid="358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Introduction</a:t>
            </a:r>
            <a:endParaRPr lang="en-GB" dirty="0"/>
          </a:p>
        </p:txBody>
      </p:sp>
      <p:sp>
        <p:nvSpPr>
          <p:cNvPr id="3" name="Content Placeholder 2"/>
          <p:cNvSpPr>
            <a:spLocks noGrp="1"/>
          </p:cNvSpPr>
          <p:nvPr>
            <p:ph idx="1"/>
          </p:nvPr>
        </p:nvSpPr>
        <p:spPr/>
        <p:txBody>
          <a:bodyPr>
            <a:normAutofit fontScale="62500" lnSpcReduction="20000"/>
          </a:bodyPr>
          <a:lstStyle/>
          <a:p>
            <a:r>
              <a:rPr lang="en-GB" dirty="0" smtClean="0"/>
              <a:t>The ability to undertake an oral presentation is a valuable skill </a:t>
            </a:r>
            <a:r>
              <a:rPr lang="en-GB" dirty="0" smtClean="0"/>
              <a:t>for both your personal  and work </a:t>
            </a:r>
            <a:r>
              <a:rPr lang="en-GB" dirty="0" smtClean="0"/>
              <a:t>life</a:t>
            </a:r>
            <a:r>
              <a:rPr lang="en-GB" dirty="0" smtClean="0"/>
              <a:t>.</a:t>
            </a:r>
          </a:p>
          <a:p>
            <a:r>
              <a:rPr lang="en-US" dirty="0" smtClean="0"/>
              <a:t>As an employee  you will may be expected to </a:t>
            </a:r>
            <a:r>
              <a:rPr lang="en-US" dirty="0" smtClean="0"/>
              <a:t>convey information before groups of all </a:t>
            </a:r>
            <a:r>
              <a:rPr lang="en-US" dirty="0" smtClean="0"/>
              <a:t>sizes</a:t>
            </a:r>
            <a:r>
              <a:rPr lang="en-GB" dirty="0" smtClean="0"/>
              <a:t> </a:t>
            </a:r>
          </a:p>
          <a:p>
            <a:r>
              <a:rPr lang="en-US" dirty="0" smtClean="0"/>
              <a:t>a lot of people fear of public </a:t>
            </a:r>
            <a:r>
              <a:rPr lang="en-US" dirty="0" smtClean="0"/>
              <a:t>speaking</a:t>
            </a:r>
            <a:endParaRPr lang="en-GB" dirty="0" smtClean="0"/>
          </a:p>
          <a:p>
            <a:r>
              <a:rPr lang="en-GB" dirty="0" smtClean="0"/>
              <a:t>This </a:t>
            </a:r>
            <a:r>
              <a:rPr lang="en-GB" dirty="0" smtClean="0"/>
              <a:t>skill can be developed by everyone and is not reserved to those who are "naturally" confident at public speaking. </a:t>
            </a:r>
            <a:endParaRPr lang="en-GB" dirty="0" smtClean="0"/>
          </a:p>
          <a:p>
            <a:r>
              <a:rPr lang="en-GB" dirty="0" smtClean="0"/>
              <a:t>An </a:t>
            </a:r>
            <a:r>
              <a:rPr lang="en-GB" dirty="0" smtClean="0"/>
              <a:t>effective presentation requires thorough planning and practice and the utilization of specific delivery techniques. For example, exhibiting confidence, credibility, eloquence, vocal expressiveness, body language and listening skills. </a:t>
            </a:r>
            <a:endParaRPr lang="en-GB" dirty="0" smtClean="0"/>
          </a:p>
          <a:p>
            <a:r>
              <a:rPr lang="en-GB" dirty="0" smtClean="0"/>
              <a:t>this lecture </a:t>
            </a:r>
            <a:r>
              <a:rPr lang="en-GB" dirty="0" smtClean="0"/>
              <a:t>will provide you with some tips and techniques for ensuring your presentation is well planned, structured and delivered.</a:t>
            </a:r>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Expected learning Outcomes</a:t>
            </a:r>
            <a:endParaRPr lang="en-GB" dirty="0"/>
          </a:p>
        </p:txBody>
      </p:sp>
      <p:sp>
        <p:nvSpPr>
          <p:cNvPr id="3" name="Content Placeholder 2"/>
          <p:cNvSpPr>
            <a:spLocks noGrp="1"/>
          </p:cNvSpPr>
          <p:nvPr>
            <p:ph idx="1"/>
          </p:nvPr>
        </p:nvSpPr>
        <p:spPr/>
        <p:txBody>
          <a:bodyPr>
            <a:normAutofit fontScale="92500" lnSpcReduction="20000"/>
          </a:bodyPr>
          <a:lstStyle/>
          <a:p>
            <a:r>
              <a:rPr lang="en-GB" dirty="0" smtClean="0"/>
              <a:t>Distinguish between oral </a:t>
            </a:r>
            <a:r>
              <a:rPr lang="en-GB" dirty="0" smtClean="0"/>
              <a:t>presentation </a:t>
            </a:r>
            <a:r>
              <a:rPr lang="en-GB" dirty="0" err="1" smtClean="0"/>
              <a:t>vs</a:t>
            </a:r>
            <a:r>
              <a:rPr lang="en-GB" dirty="0" smtClean="0"/>
              <a:t>  public speaking</a:t>
            </a:r>
          </a:p>
          <a:p>
            <a:r>
              <a:rPr lang="en-GB" dirty="0" smtClean="0"/>
              <a:t>Explain the </a:t>
            </a:r>
            <a:r>
              <a:rPr lang="en-GB" dirty="0" smtClean="0"/>
              <a:t>purpose of an oral presentation</a:t>
            </a:r>
          </a:p>
          <a:p>
            <a:r>
              <a:rPr lang="en-GB" dirty="0" smtClean="0"/>
              <a:t>Describe the qualities of a good oral </a:t>
            </a:r>
            <a:r>
              <a:rPr lang="en-GB" dirty="0" smtClean="0"/>
              <a:t>presenter</a:t>
            </a:r>
          </a:p>
          <a:p>
            <a:r>
              <a:rPr lang="en-US" altLang="en-US" dirty="0" smtClean="0"/>
              <a:t>Design  a </a:t>
            </a:r>
            <a:r>
              <a:rPr lang="en-US" altLang="en-US" dirty="0" smtClean="0"/>
              <a:t>presentation outline using the 9 steps of oral communication</a:t>
            </a:r>
          </a:p>
          <a:p>
            <a:r>
              <a:rPr lang="en-GB" dirty="0" smtClean="0"/>
              <a:t>Structure and write a speech/presentation for a give situation</a:t>
            </a:r>
            <a:endParaRPr lang="en-GB" dirty="0" smtClean="0"/>
          </a:p>
          <a:p>
            <a:r>
              <a:rPr lang="en-GB" dirty="0" smtClean="0"/>
              <a:t>Apply effective verbal &amp; nonverbal delivery techniques</a:t>
            </a:r>
          </a:p>
          <a:p>
            <a:pPr>
              <a:buNone/>
            </a:pPr>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Definition of terms</a:t>
            </a:r>
            <a:endParaRPr lang="en-GB" dirty="0"/>
          </a:p>
        </p:txBody>
      </p:sp>
      <p:sp>
        <p:nvSpPr>
          <p:cNvPr id="3" name="Content Placeholder 2"/>
          <p:cNvSpPr>
            <a:spLocks noGrp="1"/>
          </p:cNvSpPr>
          <p:nvPr>
            <p:ph idx="1"/>
          </p:nvPr>
        </p:nvSpPr>
        <p:spPr>
          <a:xfrm>
            <a:off x="838200" y="2362200"/>
            <a:ext cx="7693025" cy="4235152"/>
          </a:xfrm>
        </p:spPr>
        <p:txBody>
          <a:bodyPr/>
          <a:lstStyle/>
          <a:p>
            <a:r>
              <a:rPr lang="en-GB" b="1" i="1" dirty="0" smtClean="0"/>
              <a:t>What is presentation</a:t>
            </a:r>
            <a:r>
              <a:rPr lang="en-GB" b="1" i="1" dirty="0" smtClean="0"/>
              <a:t>?</a:t>
            </a:r>
            <a:endParaRPr lang="en-GB" dirty="0" smtClean="0"/>
          </a:p>
          <a:p>
            <a:pPr>
              <a:buBlip>
                <a:blip r:embed="rId2"/>
              </a:buBlip>
            </a:pPr>
            <a:r>
              <a:rPr lang="en-GB" dirty="0" smtClean="0"/>
              <a:t>a </a:t>
            </a:r>
            <a:r>
              <a:rPr lang="en-GB" dirty="0" smtClean="0"/>
              <a:t>means of communication that can be adapted to various speaking situations, </a:t>
            </a:r>
            <a:r>
              <a:rPr lang="en-GB" dirty="0" err="1" smtClean="0"/>
              <a:t>eg</a:t>
            </a:r>
            <a:r>
              <a:rPr lang="en-GB" dirty="0" smtClean="0"/>
              <a:t>  </a:t>
            </a:r>
            <a:r>
              <a:rPr lang="en-GB" dirty="0" smtClean="0"/>
              <a:t>talking to a group, addressing a meeting or briefing a team. </a:t>
            </a:r>
            <a:endParaRPr lang="en-GB" dirty="0" smtClean="0"/>
          </a:p>
          <a:p>
            <a:pPr>
              <a:buBlip>
                <a:blip r:embed="rId2"/>
              </a:buBlip>
            </a:pPr>
            <a:r>
              <a:rPr lang="en-GB" dirty="0" smtClean="0"/>
              <a:t>Also refers to other </a:t>
            </a:r>
            <a:r>
              <a:rPr lang="en-GB" dirty="0" smtClean="0"/>
              <a:t>speaking </a:t>
            </a:r>
            <a:r>
              <a:rPr lang="en-GB" dirty="0" smtClean="0"/>
              <a:t>engagements </a:t>
            </a:r>
            <a:r>
              <a:rPr lang="en-GB" dirty="0" err="1" smtClean="0"/>
              <a:t>eg</a:t>
            </a:r>
            <a:r>
              <a:rPr lang="en-GB" dirty="0" smtClean="0"/>
              <a:t> making </a:t>
            </a:r>
            <a:r>
              <a:rPr lang="en-GB" dirty="0" smtClean="0"/>
              <a:t>a speech at a wedding, or getting a point across in a video conference. </a:t>
            </a:r>
          </a:p>
          <a:p>
            <a:endParaRPr lang="en-GB"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is Oral presentation</a:t>
            </a:r>
            <a:r>
              <a:rPr lang="en-GB" dirty="0" smtClean="0"/>
              <a:t>?</a:t>
            </a:r>
            <a:endParaRPr lang="en-GB" dirty="0"/>
          </a:p>
        </p:txBody>
      </p:sp>
      <p:sp>
        <p:nvSpPr>
          <p:cNvPr id="3" name="Content Placeholder 2"/>
          <p:cNvSpPr>
            <a:spLocks noGrp="1"/>
          </p:cNvSpPr>
          <p:nvPr>
            <p:ph idx="1"/>
          </p:nvPr>
        </p:nvSpPr>
        <p:spPr/>
        <p:txBody>
          <a:bodyPr/>
          <a:lstStyle/>
          <a:p>
            <a:pPr>
              <a:buFont typeface="Wingdings" pitchFamily="2" charset="2"/>
              <a:buChar char="Ø"/>
            </a:pPr>
            <a:r>
              <a:rPr lang="en-GB" dirty="0" smtClean="0"/>
              <a:t>a </a:t>
            </a:r>
            <a:r>
              <a:rPr lang="en-GB" dirty="0" smtClean="0"/>
              <a:t>formal way of speaking with a communicative purpose. </a:t>
            </a:r>
            <a:endParaRPr lang="en-GB" dirty="0" smtClean="0"/>
          </a:p>
          <a:p>
            <a:pPr>
              <a:buFont typeface="Wingdings" pitchFamily="2" charset="2"/>
              <a:buChar char="Ø"/>
            </a:pPr>
            <a:r>
              <a:rPr lang="en-GB" dirty="0" smtClean="0"/>
              <a:t>It </a:t>
            </a:r>
            <a:r>
              <a:rPr lang="en-GB" dirty="0" smtClean="0"/>
              <a:t>is a way of expressing one’s ideas in a structured manner and  is commonly used in business or academic situations. </a:t>
            </a:r>
          </a:p>
          <a:p>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Oral presentation and public speaking: synonymous?</a:t>
            </a:r>
            <a:endParaRPr lang="en-GB" dirty="0"/>
          </a:p>
        </p:txBody>
      </p:sp>
      <p:sp>
        <p:nvSpPr>
          <p:cNvPr id="3" name="Content Placeholder 2"/>
          <p:cNvSpPr>
            <a:spLocks noGrp="1"/>
          </p:cNvSpPr>
          <p:nvPr>
            <p:ph idx="1"/>
          </p:nvPr>
        </p:nvSpPr>
        <p:spPr/>
        <p:txBody>
          <a:bodyPr>
            <a:normAutofit fontScale="92500" lnSpcReduction="10000"/>
          </a:bodyPr>
          <a:lstStyle/>
          <a:p>
            <a:pPr>
              <a:buNone/>
            </a:pPr>
            <a:r>
              <a:rPr lang="en-GB" dirty="0" smtClean="0"/>
              <a:t>The main difference is the </a:t>
            </a:r>
            <a:r>
              <a:rPr lang="en-GB" b="1" dirty="0" smtClean="0"/>
              <a:t>size</a:t>
            </a:r>
            <a:r>
              <a:rPr lang="en-GB" dirty="0" smtClean="0"/>
              <a:t> </a:t>
            </a:r>
            <a:r>
              <a:rPr lang="en-GB" b="1" dirty="0" smtClean="0"/>
              <a:t>of</a:t>
            </a:r>
            <a:r>
              <a:rPr lang="en-GB" dirty="0" smtClean="0"/>
              <a:t> </a:t>
            </a:r>
            <a:r>
              <a:rPr lang="en-GB" b="1" dirty="0" smtClean="0"/>
              <a:t>audience</a:t>
            </a:r>
            <a:r>
              <a:rPr lang="en-GB" dirty="0" smtClean="0"/>
              <a:t>; </a:t>
            </a:r>
            <a:endParaRPr lang="en-GB" dirty="0" smtClean="0"/>
          </a:p>
          <a:p>
            <a:r>
              <a:rPr lang="en-GB" b="1" dirty="0" smtClean="0"/>
              <a:t>oral presentation- </a:t>
            </a:r>
            <a:r>
              <a:rPr lang="en-GB" dirty="0" smtClean="0"/>
              <a:t>audience can be </a:t>
            </a:r>
            <a:r>
              <a:rPr lang="en-GB" dirty="0" smtClean="0"/>
              <a:t>smaller formal group, </a:t>
            </a:r>
            <a:r>
              <a:rPr lang="en-GB" dirty="0" err="1" smtClean="0"/>
              <a:t>eg</a:t>
            </a:r>
            <a:r>
              <a:rPr lang="en-GB" dirty="0" smtClean="0"/>
              <a:t> presenting a business proposal, or one employee presenting a new concept to the management or giving a report. </a:t>
            </a:r>
            <a:endParaRPr lang="en-GB" dirty="0" smtClean="0"/>
          </a:p>
          <a:p>
            <a:r>
              <a:rPr lang="en-GB" b="1" dirty="0" smtClean="0"/>
              <a:t>public speaking- </a:t>
            </a:r>
            <a:r>
              <a:rPr lang="en-GB" dirty="0" smtClean="0"/>
              <a:t>the audience could be a large, informal gathering of people; for instance, the people who come to listen to their popular leader’s speech. </a:t>
            </a:r>
          </a:p>
          <a:p>
            <a:endParaRPr lang="en-GB" dirty="0" smtClean="0"/>
          </a:p>
          <a:p>
            <a:endParaRPr lang="en-GB"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smtClean="0"/>
              <a:t>oral </a:t>
            </a:r>
            <a:r>
              <a:rPr lang="en-GB" dirty="0" smtClean="0"/>
              <a:t>presentation </a:t>
            </a:r>
            <a:r>
              <a:rPr lang="en-US" dirty="0" smtClean="0"/>
              <a:t>is i</a:t>
            </a:r>
            <a:r>
              <a:rPr lang="en-US" altLang="en-US" dirty="0" smtClean="0"/>
              <a:t>mportant </a:t>
            </a:r>
            <a:r>
              <a:rPr lang="en-US" altLang="en-US" dirty="0" smtClean="0"/>
              <a:t>for any career, whether you use it in informal conversations or business presentations</a:t>
            </a:r>
          </a:p>
          <a:p>
            <a:r>
              <a:rPr lang="en-GB" dirty="0" smtClean="0"/>
              <a:t>  can be either:</a:t>
            </a:r>
          </a:p>
          <a:p>
            <a:pPr marL="933450" lvl="1" indent="-533400">
              <a:buSzTx/>
              <a:buFont typeface="Wingdings" pitchFamily="2" charset="2"/>
              <a:buAutoNum type="arabicPeriod"/>
            </a:pPr>
            <a:r>
              <a:rPr lang="tr-TR" b="1" i="1" dirty="0" smtClean="0"/>
              <a:t>Short Oral </a:t>
            </a:r>
            <a:r>
              <a:rPr lang="tr-TR" b="1" i="1" dirty="0" smtClean="0"/>
              <a:t>Presentations</a:t>
            </a:r>
            <a:endParaRPr lang="tr-TR" b="1" i="1" dirty="0" smtClean="0"/>
          </a:p>
          <a:p>
            <a:pPr marL="933450" lvl="1" indent="-533400">
              <a:buSzTx/>
              <a:buFont typeface="Wingdings" pitchFamily="2" charset="2"/>
              <a:buAutoNum type="arabicPeriod"/>
            </a:pPr>
            <a:r>
              <a:rPr lang="tr-TR" b="1" i="1" dirty="0" smtClean="0"/>
              <a:t>Long Formal Presentations</a:t>
            </a:r>
          </a:p>
          <a:p>
            <a:endParaRPr lang="en-GB" dirty="0" smtClean="0"/>
          </a:p>
          <a:p>
            <a:endParaRPr lang="en-GB"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AutoShape 2"/>
          <p:cNvSpPr>
            <a:spLocks noGrp="1" noChangeArrowheads="1"/>
          </p:cNvSpPr>
          <p:nvPr>
            <p:ph type="title"/>
          </p:nvPr>
        </p:nvSpPr>
        <p:spPr/>
        <p:txBody>
          <a:bodyPr/>
          <a:lstStyle/>
          <a:p>
            <a:pPr eaLnBrk="1" hangingPunct="1"/>
            <a:r>
              <a:rPr lang="en-GB" dirty="0" smtClean="0"/>
              <a:t>Some examples of short o</a:t>
            </a:r>
            <a:r>
              <a:rPr lang="tr-TR" dirty="0" smtClean="0"/>
              <a:t>ral </a:t>
            </a:r>
            <a:r>
              <a:rPr lang="tr-TR" dirty="0" smtClean="0"/>
              <a:t>Presentations</a:t>
            </a:r>
          </a:p>
        </p:txBody>
      </p:sp>
      <p:sp>
        <p:nvSpPr>
          <p:cNvPr id="12291" name="Rectangle 3"/>
          <p:cNvSpPr>
            <a:spLocks noGrp="1" noChangeArrowheads="1"/>
          </p:cNvSpPr>
          <p:nvPr>
            <p:ph idx="1"/>
          </p:nvPr>
        </p:nvSpPr>
        <p:spPr/>
        <p:txBody>
          <a:bodyPr>
            <a:normAutofit fontScale="62500" lnSpcReduction="20000"/>
          </a:bodyPr>
          <a:lstStyle/>
          <a:p>
            <a:r>
              <a:rPr lang="tr-TR" sz="3600" b="1" dirty="0" smtClean="0">
                <a:solidFill>
                  <a:srgbClr val="FF3399"/>
                </a:solidFill>
              </a:rPr>
              <a:t>Introductory </a:t>
            </a:r>
            <a:r>
              <a:rPr lang="tr-TR" sz="3600" b="1" dirty="0" smtClean="0">
                <a:solidFill>
                  <a:srgbClr val="FF3399"/>
                </a:solidFill>
              </a:rPr>
              <a:t>Remarks</a:t>
            </a:r>
            <a:r>
              <a:rPr lang="en-GB" sz="3600" b="1" dirty="0" smtClean="0">
                <a:solidFill>
                  <a:srgbClr val="FF3399"/>
                </a:solidFill>
              </a:rPr>
              <a:t>-</a:t>
            </a:r>
            <a:r>
              <a:rPr lang="tr-TR" sz="3200" dirty="0" smtClean="0"/>
              <a:t>An individual is invited to introduce someone who is to be the main speaker. </a:t>
            </a:r>
          </a:p>
          <a:p>
            <a:r>
              <a:rPr lang="tr-TR" sz="3200" b="1" dirty="0" smtClean="0">
                <a:solidFill>
                  <a:srgbClr val="FF3399"/>
                </a:solidFill>
              </a:rPr>
              <a:t>Welcoming  Remarks</a:t>
            </a:r>
            <a:r>
              <a:rPr lang="en-GB" sz="3200" b="1" dirty="0" smtClean="0">
                <a:solidFill>
                  <a:srgbClr val="FF3399"/>
                </a:solidFill>
              </a:rPr>
              <a:t>-</a:t>
            </a:r>
            <a:r>
              <a:rPr lang="tr-TR" dirty="0" smtClean="0"/>
              <a:t>Whenever </a:t>
            </a:r>
            <a:r>
              <a:rPr lang="tr-TR" dirty="0" smtClean="0"/>
              <a:t>a visiting group arrives at an organisation, welcoming remarks are made. </a:t>
            </a:r>
            <a:endParaRPr lang="en-GB" dirty="0" smtClean="0"/>
          </a:p>
          <a:p>
            <a:r>
              <a:rPr lang="tr-TR" sz="3200" b="1" dirty="0" smtClean="0">
                <a:solidFill>
                  <a:srgbClr val="FF3399"/>
                </a:solidFill>
              </a:rPr>
              <a:t>Presentational speeches</a:t>
            </a:r>
            <a:r>
              <a:rPr lang="en-GB" sz="3200" b="1" dirty="0" smtClean="0">
                <a:solidFill>
                  <a:srgbClr val="FF3399"/>
                </a:solidFill>
              </a:rPr>
              <a:t>-</a:t>
            </a:r>
            <a:r>
              <a:rPr lang="tr-TR" dirty="0" smtClean="0"/>
              <a:t>At </a:t>
            </a:r>
            <a:r>
              <a:rPr lang="tr-TR" dirty="0" smtClean="0"/>
              <a:t>ceremon</a:t>
            </a:r>
            <a:r>
              <a:rPr lang="en-GB" dirty="0" err="1" smtClean="0"/>
              <a:t>ies</a:t>
            </a:r>
            <a:r>
              <a:rPr lang="tr-TR" dirty="0" smtClean="0"/>
              <a:t>  </a:t>
            </a:r>
            <a:r>
              <a:rPr lang="tr-TR" dirty="0" smtClean="0"/>
              <a:t>one may be asked to present awards to employees or to members of the community</a:t>
            </a:r>
          </a:p>
          <a:p>
            <a:r>
              <a:rPr lang="tr-TR" dirty="0" smtClean="0"/>
              <a:t> </a:t>
            </a:r>
            <a:r>
              <a:rPr lang="tr-TR" sz="3200" b="1" dirty="0" smtClean="0">
                <a:solidFill>
                  <a:srgbClr val="FF3399"/>
                </a:solidFill>
              </a:rPr>
              <a:t>Recognition speeches</a:t>
            </a:r>
            <a:r>
              <a:rPr lang="en-GB" sz="3200" b="1" dirty="0" smtClean="0">
                <a:solidFill>
                  <a:srgbClr val="FF3399"/>
                </a:solidFill>
              </a:rPr>
              <a:t>-</a:t>
            </a:r>
            <a:r>
              <a:rPr lang="tr-TR" dirty="0" smtClean="0"/>
              <a:t>Meant to honor someone for a specific accomplishment</a:t>
            </a:r>
            <a:r>
              <a:rPr lang="en-GB" dirty="0" smtClean="0"/>
              <a:t> u</a:t>
            </a:r>
            <a:r>
              <a:rPr lang="tr-TR" dirty="0" smtClean="0"/>
              <a:t>sually followed by applause, </a:t>
            </a:r>
            <a:endParaRPr lang="en-GB" dirty="0" smtClean="0"/>
          </a:p>
          <a:p>
            <a:r>
              <a:rPr lang="tr-TR" sz="3200" b="1" dirty="0" smtClean="0">
                <a:solidFill>
                  <a:srgbClr val="FF3399"/>
                </a:solidFill>
              </a:rPr>
              <a:t>Farewell speeches</a:t>
            </a:r>
            <a:r>
              <a:rPr lang="en-GB" sz="3200" b="1" dirty="0" smtClean="0">
                <a:solidFill>
                  <a:srgbClr val="FF3399"/>
                </a:solidFill>
              </a:rPr>
              <a:t>- </a:t>
            </a:r>
            <a:r>
              <a:rPr lang="en-GB" sz="3200" dirty="0" smtClean="0"/>
              <a:t>when</a:t>
            </a:r>
            <a:r>
              <a:rPr lang="en-GB" sz="3200" b="1" dirty="0" smtClean="0">
                <a:solidFill>
                  <a:srgbClr val="FF3399"/>
                </a:solidFill>
              </a:rPr>
              <a:t> </a:t>
            </a:r>
            <a:r>
              <a:rPr lang="tr-TR" dirty="0" smtClean="0"/>
              <a:t>someone who is leaving the organisation</a:t>
            </a:r>
            <a:r>
              <a:rPr lang="tr-TR" dirty="0" smtClean="0"/>
              <a:t>.</a:t>
            </a:r>
            <a:endParaRPr lang="en-GB" dirty="0" smtClean="0"/>
          </a:p>
          <a:p>
            <a:r>
              <a:rPr lang="tr-TR" sz="3200" b="1" dirty="0" smtClean="0">
                <a:solidFill>
                  <a:srgbClr val="FF3399"/>
                </a:solidFill>
              </a:rPr>
              <a:t>Dedication remarks</a:t>
            </a:r>
            <a:r>
              <a:rPr lang="en-GB" sz="3200" b="1" dirty="0" smtClean="0">
                <a:solidFill>
                  <a:srgbClr val="FF3399"/>
                </a:solidFill>
              </a:rPr>
              <a:t>-</a:t>
            </a:r>
            <a:r>
              <a:rPr lang="tr-TR" dirty="0" smtClean="0"/>
              <a:t>When a new building is finished, a new product is launched, dedication speech is made. Speaker should thank key people whose sacrifices made the project completion possible</a:t>
            </a:r>
            <a:endParaRPr lang="en-GB" dirty="0" smtClean="0"/>
          </a:p>
          <a:p>
            <a:endParaRPr lang="en-GB" dirty="0" smtClean="0"/>
          </a:p>
          <a:p>
            <a:endParaRPr lang="tr-TR" dirty="0" smtClean="0"/>
          </a:p>
          <a:p>
            <a:pPr eaLnBrk="1" hangingPunct="1">
              <a:buFont typeface="Wingdings" pitchFamily="2" charset="2"/>
              <a:buNone/>
            </a:pPr>
            <a:endParaRPr lang="tr-TR"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AutoShape 2"/>
          <p:cNvSpPr>
            <a:spLocks noGrp="1" noChangeArrowheads="1"/>
          </p:cNvSpPr>
          <p:nvPr>
            <p:ph type="title"/>
          </p:nvPr>
        </p:nvSpPr>
        <p:spPr/>
        <p:txBody>
          <a:bodyPr/>
          <a:lstStyle/>
          <a:p>
            <a:pPr eaLnBrk="1" hangingPunct="1"/>
            <a:r>
              <a:rPr lang="en-GB" dirty="0" smtClean="0"/>
              <a:t>Examples of </a:t>
            </a:r>
            <a:r>
              <a:rPr lang="tr-TR" dirty="0" smtClean="0"/>
              <a:t>Long </a:t>
            </a:r>
            <a:r>
              <a:rPr lang="tr-TR" dirty="0" smtClean="0"/>
              <a:t>Formal  Presentations</a:t>
            </a:r>
          </a:p>
        </p:txBody>
      </p:sp>
      <p:sp>
        <p:nvSpPr>
          <p:cNvPr id="23555" name="Rectangle 3"/>
          <p:cNvSpPr>
            <a:spLocks noGrp="1" noChangeArrowheads="1"/>
          </p:cNvSpPr>
          <p:nvPr>
            <p:ph idx="1"/>
          </p:nvPr>
        </p:nvSpPr>
        <p:spPr/>
        <p:txBody>
          <a:bodyPr/>
          <a:lstStyle/>
          <a:p>
            <a:r>
              <a:rPr lang="en-GB" sz="3200" b="1" dirty="0" smtClean="0"/>
              <a:t>These last 30mins to 1hr </a:t>
            </a:r>
            <a:r>
              <a:rPr lang="en-GB" sz="3200" b="1" dirty="0" err="1" smtClean="0"/>
              <a:t>e</a:t>
            </a:r>
            <a:r>
              <a:rPr lang="en-GB" sz="3200" b="1" dirty="0" err="1" smtClean="0"/>
              <a:t>g</a:t>
            </a:r>
            <a:endParaRPr lang="en-GB" sz="3200" b="1" dirty="0" smtClean="0"/>
          </a:p>
          <a:p>
            <a:pPr lvl="1"/>
            <a:r>
              <a:rPr lang="tr-TR" b="1" dirty="0" smtClean="0">
                <a:solidFill>
                  <a:srgbClr val="FF3399"/>
                </a:solidFill>
              </a:rPr>
              <a:t>Strategic plan presentations</a:t>
            </a:r>
            <a:endParaRPr lang="en-GB" b="1" dirty="0" smtClean="0">
              <a:solidFill>
                <a:srgbClr val="FF3399"/>
              </a:solidFill>
            </a:endParaRPr>
          </a:p>
          <a:p>
            <a:pPr lvl="1"/>
            <a:r>
              <a:rPr lang="tr-TR" b="1" dirty="0" smtClean="0">
                <a:solidFill>
                  <a:srgbClr val="FF3399"/>
                </a:solidFill>
              </a:rPr>
              <a:t>After-Dinner speeches</a:t>
            </a:r>
            <a:endParaRPr lang="en-GB" b="1" dirty="0" smtClean="0">
              <a:solidFill>
                <a:srgbClr val="FF3399"/>
              </a:solidFill>
            </a:endParaRPr>
          </a:p>
          <a:p>
            <a:pPr lvl="1"/>
            <a:r>
              <a:rPr lang="tr-TR" b="1" dirty="0" smtClean="0">
                <a:solidFill>
                  <a:srgbClr val="FF3399"/>
                </a:solidFill>
              </a:rPr>
              <a:t>New product proposals</a:t>
            </a:r>
            <a:endParaRPr lang="en-GB" b="1" dirty="0" smtClean="0">
              <a:solidFill>
                <a:srgbClr val="FF3399"/>
              </a:solidFill>
            </a:endParaRPr>
          </a:p>
          <a:p>
            <a:pPr lvl="1"/>
            <a:r>
              <a:rPr lang="tr-TR" b="1" dirty="0" smtClean="0">
                <a:solidFill>
                  <a:srgbClr val="FF3399"/>
                </a:solidFill>
              </a:rPr>
              <a:t>Progress reports</a:t>
            </a:r>
          </a:p>
          <a:p>
            <a:pPr eaLnBrk="1" hangingPunct="1">
              <a:buNone/>
            </a:pPr>
            <a:endParaRPr lang="tr-TR" sz="3200" b="1" dirty="0" smtClean="0">
              <a:solidFill>
                <a:srgbClr val="FF3399"/>
              </a:solidFill>
            </a:endParaRPr>
          </a:p>
          <a:p>
            <a:pPr eaLnBrk="1" hangingPunct="1">
              <a:buFont typeface="Wingdings" pitchFamily="2" charset="2"/>
              <a:buNone/>
            </a:pPr>
            <a:endParaRPr lang="tr-TR" sz="3200" b="1" dirty="0" smtClean="0">
              <a:solidFill>
                <a:srgbClr val="FF3399"/>
              </a:solidFill>
            </a:endParaRPr>
          </a:p>
          <a:p>
            <a:pPr eaLnBrk="1" hangingPunct="1"/>
            <a:endParaRPr lang="tr-TR"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Purposes of Oral Presentation </a:t>
            </a:r>
            <a:endParaRPr lang="en-GB" dirty="0"/>
          </a:p>
        </p:txBody>
      </p:sp>
      <p:sp>
        <p:nvSpPr>
          <p:cNvPr id="3" name="Content Placeholder 2"/>
          <p:cNvSpPr>
            <a:spLocks noGrp="1"/>
          </p:cNvSpPr>
          <p:nvPr>
            <p:ph idx="1"/>
          </p:nvPr>
        </p:nvSpPr>
        <p:spPr/>
        <p:txBody>
          <a:bodyPr/>
          <a:lstStyle/>
          <a:p>
            <a:r>
              <a:rPr lang="tr-TR" dirty="0" smtClean="0"/>
              <a:t>Most of the business presentations are designed </a:t>
            </a:r>
            <a:r>
              <a:rPr lang="tr-TR" dirty="0" smtClean="0"/>
              <a:t>to</a:t>
            </a:r>
            <a:r>
              <a:rPr lang="en-GB" dirty="0" smtClean="0"/>
              <a:t>:</a:t>
            </a:r>
          </a:p>
          <a:p>
            <a:pPr lvl="1">
              <a:buFont typeface="Wingdings" pitchFamily="2" charset="2"/>
              <a:buChar char="q"/>
            </a:pPr>
            <a:r>
              <a:rPr lang="en-GB" b="1" dirty="0" smtClean="0"/>
              <a:t>i</a:t>
            </a:r>
            <a:r>
              <a:rPr lang="tr-TR" b="1" dirty="0" smtClean="0"/>
              <a:t>nform</a:t>
            </a:r>
            <a:r>
              <a:rPr lang="en-GB" dirty="0" smtClean="0"/>
              <a:t>- informative speeches</a:t>
            </a:r>
          </a:p>
          <a:p>
            <a:pPr lvl="1">
              <a:buFont typeface="Wingdings" pitchFamily="2" charset="2"/>
              <a:buChar char="q"/>
            </a:pPr>
            <a:r>
              <a:rPr lang="tr-TR" b="1" dirty="0" smtClean="0"/>
              <a:t>Persuade</a:t>
            </a:r>
            <a:r>
              <a:rPr lang="en-GB" dirty="0" smtClean="0"/>
              <a:t>-persuasive speeches</a:t>
            </a:r>
          </a:p>
          <a:p>
            <a:pPr lvl="1">
              <a:buFont typeface="Wingdings" pitchFamily="2" charset="2"/>
              <a:buChar char="q"/>
            </a:pPr>
            <a:r>
              <a:rPr lang="tr-TR" b="1" dirty="0" smtClean="0"/>
              <a:t>to </a:t>
            </a:r>
            <a:r>
              <a:rPr lang="tr-TR" b="1" dirty="0" smtClean="0"/>
              <a:t>motivate </a:t>
            </a:r>
            <a:r>
              <a:rPr lang="en-GB" dirty="0" smtClean="0"/>
              <a:t>–motivational speeches</a:t>
            </a:r>
            <a:endParaRPr lang="tr-TR" dirty="0" smtClean="0"/>
          </a:p>
          <a:p>
            <a:endParaRPr lang="en-GB"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 Informative speeches</a:t>
            </a:r>
            <a:endParaRPr lang="en-GB" dirty="0"/>
          </a:p>
        </p:txBody>
      </p:sp>
      <p:sp>
        <p:nvSpPr>
          <p:cNvPr id="3" name="Content Placeholder 2"/>
          <p:cNvSpPr>
            <a:spLocks noGrp="1"/>
          </p:cNvSpPr>
          <p:nvPr>
            <p:ph idx="1"/>
          </p:nvPr>
        </p:nvSpPr>
        <p:spPr/>
        <p:txBody>
          <a:bodyPr/>
          <a:lstStyle/>
          <a:p>
            <a:pPr lvl="0"/>
            <a:r>
              <a:rPr lang="en-GB" dirty="0" smtClean="0"/>
              <a:t>The purpose is to inform or teach the audience</a:t>
            </a:r>
          </a:p>
          <a:p>
            <a:pPr lvl="0"/>
            <a:r>
              <a:rPr lang="en-GB" dirty="0" smtClean="0"/>
              <a:t>present new information to the </a:t>
            </a:r>
            <a:r>
              <a:rPr lang="en-GB" dirty="0" err="1" smtClean="0"/>
              <a:t>listeners;you</a:t>
            </a:r>
            <a:r>
              <a:rPr lang="en-GB" dirty="0" smtClean="0"/>
              <a:t> </a:t>
            </a:r>
            <a:r>
              <a:rPr lang="en-GB" dirty="0" smtClean="0"/>
              <a:t>want your listeners to comprehend an idea that is new to them. </a:t>
            </a:r>
            <a:endParaRPr lang="en-GB" dirty="0" smtClean="0"/>
          </a:p>
          <a:p>
            <a:endParaRPr lang="en-GB"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 Persuasive speeches</a:t>
            </a:r>
            <a:endParaRPr lang="en-GB" dirty="0"/>
          </a:p>
        </p:txBody>
      </p:sp>
      <p:sp>
        <p:nvSpPr>
          <p:cNvPr id="3" name="Content Placeholder 2"/>
          <p:cNvSpPr>
            <a:spLocks noGrp="1"/>
          </p:cNvSpPr>
          <p:nvPr>
            <p:ph idx="1"/>
          </p:nvPr>
        </p:nvSpPr>
        <p:spPr/>
        <p:txBody>
          <a:bodyPr>
            <a:normAutofit lnSpcReduction="10000"/>
          </a:bodyPr>
          <a:lstStyle/>
          <a:p>
            <a:pPr lvl="0"/>
            <a:r>
              <a:rPr lang="en-GB" b="1" dirty="0" smtClean="0"/>
              <a:t>The purpose is to </a:t>
            </a:r>
            <a:r>
              <a:rPr lang="en-GB" b="1" dirty="0" smtClean="0"/>
              <a:t>persuade/influence -to </a:t>
            </a:r>
            <a:r>
              <a:rPr lang="en-GB" dirty="0" smtClean="0"/>
              <a:t>convince </a:t>
            </a:r>
            <a:r>
              <a:rPr lang="en-GB" dirty="0" smtClean="0"/>
              <a:t>the audience</a:t>
            </a:r>
            <a:r>
              <a:rPr lang="en-GB" b="1" dirty="0" smtClean="0"/>
              <a:t> </a:t>
            </a:r>
            <a:r>
              <a:rPr lang="en-GB" dirty="0" smtClean="0"/>
              <a:t>to agree </a:t>
            </a:r>
            <a:r>
              <a:rPr lang="en-GB" dirty="0" smtClean="0"/>
              <a:t>to do something by giving them reasons why they should. </a:t>
            </a:r>
            <a:endParaRPr lang="en-GB" dirty="0" smtClean="0"/>
          </a:p>
          <a:p>
            <a:pPr lvl="0"/>
            <a:r>
              <a:rPr lang="en-GB" dirty="0" smtClean="0"/>
              <a:t>They are meant to affect </a:t>
            </a:r>
            <a:r>
              <a:rPr lang="en-GB" dirty="0" smtClean="0"/>
              <a:t>the way that someone thinks of behaves </a:t>
            </a:r>
            <a:r>
              <a:rPr lang="en-GB" dirty="0" smtClean="0"/>
              <a:t>by either:</a:t>
            </a:r>
            <a:endParaRPr lang="en-GB" dirty="0" smtClean="0"/>
          </a:p>
          <a:p>
            <a:pPr lvl="1"/>
            <a:r>
              <a:rPr lang="en-GB" dirty="0" smtClean="0"/>
              <a:t>Changing the direction of an existing attitude </a:t>
            </a:r>
          </a:p>
          <a:p>
            <a:pPr lvl="1"/>
            <a:r>
              <a:rPr lang="en-GB" dirty="0" smtClean="0"/>
              <a:t> Increasing the intensity of an existing attitude </a:t>
            </a:r>
          </a:p>
          <a:p>
            <a:pPr lvl="1"/>
            <a:r>
              <a:rPr lang="en-GB" dirty="0" smtClean="0"/>
              <a:t> Obtaining a behavioural response </a:t>
            </a:r>
          </a:p>
          <a:p>
            <a:endParaRPr lang="en-GB"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 Motivational speeches</a:t>
            </a:r>
            <a:endParaRPr lang="en-GB" dirty="0"/>
          </a:p>
        </p:txBody>
      </p:sp>
      <p:sp>
        <p:nvSpPr>
          <p:cNvPr id="3" name="Content Placeholder 2"/>
          <p:cNvSpPr>
            <a:spLocks noGrp="1"/>
          </p:cNvSpPr>
          <p:nvPr>
            <p:ph idx="1"/>
          </p:nvPr>
        </p:nvSpPr>
        <p:spPr/>
        <p:txBody>
          <a:bodyPr/>
          <a:lstStyle/>
          <a:p>
            <a:pPr lvl="0"/>
            <a:r>
              <a:rPr lang="en-GB" b="1" dirty="0" smtClean="0"/>
              <a:t>The purpose is to </a:t>
            </a:r>
            <a:r>
              <a:rPr lang="en-GB" b="1" dirty="0" smtClean="0"/>
              <a:t>trigger/provoke</a:t>
            </a:r>
            <a:r>
              <a:rPr lang="en-GB" dirty="0" smtClean="0"/>
              <a:t> </a:t>
            </a:r>
            <a:r>
              <a:rPr lang="en-GB" dirty="0" smtClean="0"/>
              <a:t>-</a:t>
            </a:r>
            <a:r>
              <a:rPr lang="en-GB" dirty="0" err="1" smtClean="0"/>
              <a:t>i.e</a:t>
            </a:r>
            <a:r>
              <a:rPr lang="en-GB" dirty="0" smtClean="0"/>
              <a:t> to stimulate or to impress the audience</a:t>
            </a:r>
            <a:r>
              <a:rPr lang="en-GB" dirty="0" smtClean="0"/>
              <a:t>. </a:t>
            </a:r>
            <a:endParaRPr lang="en-GB" dirty="0" smtClean="0"/>
          </a:p>
          <a:p>
            <a:pPr lvl="0"/>
            <a:r>
              <a:rPr lang="en-GB" dirty="0" smtClean="0"/>
              <a:t>The </a:t>
            </a:r>
            <a:r>
              <a:rPr lang="en-GB" dirty="0" smtClean="0"/>
              <a:t>aim is to insert a particular feeling or memory to people which result them into action or into a state of readiness</a:t>
            </a:r>
          </a:p>
          <a:p>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4. Entertaining speeches</a:t>
            </a:r>
            <a:endParaRPr lang="en-GB" dirty="0"/>
          </a:p>
        </p:txBody>
      </p:sp>
      <p:sp>
        <p:nvSpPr>
          <p:cNvPr id="3" name="Content Placeholder 2"/>
          <p:cNvSpPr>
            <a:spLocks noGrp="1"/>
          </p:cNvSpPr>
          <p:nvPr>
            <p:ph idx="1"/>
          </p:nvPr>
        </p:nvSpPr>
        <p:spPr/>
        <p:txBody>
          <a:bodyPr/>
          <a:lstStyle/>
          <a:p>
            <a:pPr lvl="0"/>
            <a:r>
              <a:rPr lang="en-GB" b="1" dirty="0" smtClean="0"/>
              <a:t>To entertain</a:t>
            </a:r>
            <a:r>
              <a:rPr lang="en-GB" dirty="0" smtClean="0"/>
              <a:t> -this  means that you give a performance that people enjoy. </a:t>
            </a:r>
          </a:p>
          <a:p>
            <a:endParaRPr lang="en-GB"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Qualities of a </a:t>
            </a:r>
            <a:r>
              <a:rPr lang="en-GB" dirty="0" smtClean="0"/>
              <a:t>good </a:t>
            </a:r>
            <a:r>
              <a:rPr lang="en-GB" dirty="0" smtClean="0"/>
              <a:t>Speaker </a:t>
            </a:r>
            <a:endParaRPr lang="en-GB" dirty="0"/>
          </a:p>
        </p:txBody>
      </p:sp>
      <p:sp>
        <p:nvSpPr>
          <p:cNvPr id="3" name="Content Placeholder 2"/>
          <p:cNvSpPr>
            <a:spLocks noGrp="1"/>
          </p:cNvSpPr>
          <p:nvPr>
            <p:ph idx="1"/>
          </p:nvPr>
        </p:nvSpPr>
        <p:spPr/>
        <p:txBody>
          <a:bodyPr>
            <a:normAutofit/>
          </a:bodyPr>
          <a:lstStyle/>
          <a:p>
            <a:pPr lvl="0">
              <a:buNone/>
            </a:pPr>
            <a:r>
              <a:rPr lang="en-GB" b="1" dirty="0" smtClean="0"/>
              <a:t>a) Competence –</a:t>
            </a:r>
            <a:r>
              <a:rPr lang="en-GB" dirty="0" smtClean="0"/>
              <a:t>have a</a:t>
            </a:r>
            <a:r>
              <a:rPr lang="en-GB" b="1" dirty="0" smtClean="0"/>
              <a:t> </a:t>
            </a:r>
            <a:r>
              <a:rPr lang="en-GB" dirty="0" smtClean="0"/>
              <a:t>general </a:t>
            </a:r>
            <a:r>
              <a:rPr lang="en-GB" dirty="0" smtClean="0"/>
              <a:t>command of the </a:t>
            </a:r>
            <a:r>
              <a:rPr lang="en-GB" dirty="0" smtClean="0"/>
              <a:t>subject; you must seem </a:t>
            </a:r>
            <a:r>
              <a:rPr lang="en-GB" dirty="0" smtClean="0"/>
              <a:t>to know what you are talking about. </a:t>
            </a:r>
            <a:r>
              <a:rPr lang="en-GB" dirty="0" smtClean="0"/>
              <a:t>This can be achieved by researching  books  and ability to quote </a:t>
            </a:r>
            <a:r>
              <a:rPr lang="en-GB" dirty="0" smtClean="0"/>
              <a:t>authoritative sources. </a:t>
            </a:r>
          </a:p>
          <a:p>
            <a:pPr lvl="0">
              <a:buNone/>
            </a:pPr>
            <a:r>
              <a:rPr lang="en-GB" b="1" dirty="0" smtClean="0"/>
              <a:t>b) Trustworthiness</a:t>
            </a:r>
            <a:r>
              <a:rPr lang="en-GB" dirty="0" smtClean="0"/>
              <a:t> -the </a:t>
            </a:r>
            <a:r>
              <a:rPr lang="en-GB" dirty="0" smtClean="0"/>
              <a:t>appearance that the speaker gives of being honest, just and objective. </a:t>
            </a:r>
          </a:p>
          <a:p>
            <a:endParaRPr lang="en-GB"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lvl="0">
              <a:buNone/>
            </a:pPr>
            <a:r>
              <a:rPr lang="en-GB" b="1" dirty="0" smtClean="0"/>
              <a:t>c) Similarity-</a:t>
            </a:r>
            <a:r>
              <a:rPr lang="en-GB" dirty="0" smtClean="0"/>
              <a:t> </a:t>
            </a:r>
            <a:r>
              <a:rPr lang="en-GB" dirty="0" smtClean="0"/>
              <a:t>Similarity of attitude and other factors between the speaker and the audience increases the audience’s linking of the presenter and what he has to offer to the audience. </a:t>
            </a:r>
          </a:p>
          <a:p>
            <a:pPr lvl="0">
              <a:buNone/>
            </a:pPr>
            <a:r>
              <a:rPr lang="en-GB" b="1" dirty="0" smtClean="0"/>
              <a:t>d) Attraction</a:t>
            </a:r>
            <a:r>
              <a:rPr lang="en-GB" dirty="0" smtClean="0"/>
              <a:t> –An </a:t>
            </a:r>
            <a:r>
              <a:rPr lang="en-GB" dirty="0" smtClean="0"/>
              <a:t>effective speaker will emphasize factor/issues that will cause listeners to like or be attracted to him/her.</a:t>
            </a:r>
          </a:p>
          <a:p>
            <a:endParaRPr lang="en-GB"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320040"/>
            <a:ext cx="7239000" cy="1143000"/>
          </a:xfrm>
        </p:spPr>
        <p:txBody>
          <a:bodyPr>
            <a:normAutofit fontScale="90000"/>
          </a:bodyPr>
          <a:lstStyle/>
          <a:p>
            <a:pPr eaLnBrk="1" fontAlgn="auto" hangingPunct="1">
              <a:spcAft>
                <a:spcPts val="0"/>
              </a:spcAft>
              <a:defRPr/>
            </a:pPr>
            <a:r>
              <a:rPr lang="en-US" dirty="0"/>
              <a:t>Steps for Planning a Successful Oral Presentation</a:t>
            </a:r>
          </a:p>
        </p:txBody>
      </p:sp>
      <p:sp>
        <p:nvSpPr>
          <p:cNvPr id="13315" name="Rectangle 3"/>
          <p:cNvSpPr>
            <a:spLocks noGrp="1" noChangeArrowheads="1"/>
          </p:cNvSpPr>
          <p:nvPr>
            <p:ph idx="1"/>
          </p:nvPr>
        </p:nvSpPr>
        <p:spPr/>
        <p:txBody>
          <a:bodyPr>
            <a:normAutofit lnSpcReduction="10000"/>
          </a:bodyPr>
          <a:lstStyle/>
          <a:p>
            <a:pPr marL="533400" indent="-533400" eaLnBrk="1" hangingPunct="1">
              <a:buFontTx/>
              <a:buAutoNum type="arabicPeriod"/>
            </a:pPr>
            <a:r>
              <a:rPr lang="en-US" altLang="en-US" sz="2400" dirty="0" smtClean="0"/>
              <a:t>Determine </a:t>
            </a:r>
            <a:r>
              <a:rPr lang="en-US" altLang="en-US" sz="2400" dirty="0" smtClean="0"/>
              <a:t>your objective general </a:t>
            </a:r>
            <a:r>
              <a:rPr lang="en-US" altLang="en-US" sz="2400" dirty="0" smtClean="0"/>
              <a:t>purpose</a:t>
            </a:r>
          </a:p>
          <a:p>
            <a:pPr marL="533400" indent="-533400" eaLnBrk="1" hangingPunct="1">
              <a:buFontTx/>
              <a:buAutoNum type="arabicPeriod"/>
            </a:pPr>
            <a:r>
              <a:rPr lang="en-US" altLang="en-US" sz="2400" dirty="0" smtClean="0"/>
              <a:t>Analyze the audience</a:t>
            </a:r>
          </a:p>
          <a:p>
            <a:pPr marL="533400" indent="-533400" eaLnBrk="1" hangingPunct="1">
              <a:buFontTx/>
              <a:buAutoNum type="arabicPeriod"/>
            </a:pPr>
            <a:r>
              <a:rPr lang="en-US" altLang="en-US" sz="2400" dirty="0" smtClean="0"/>
              <a:t>Choose a specific purpose</a:t>
            </a:r>
          </a:p>
          <a:p>
            <a:pPr marL="533400" indent="-533400" eaLnBrk="1" hangingPunct="1">
              <a:buFontTx/>
              <a:buAutoNum type="arabicPeriod"/>
            </a:pPr>
            <a:r>
              <a:rPr lang="en-US" altLang="en-US" sz="2400" dirty="0" smtClean="0"/>
              <a:t>Research the topic</a:t>
            </a:r>
          </a:p>
          <a:p>
            <a:pPr marL="533400" indent="-533400" eaLnBrk="1" hangingPunct="1">
              <a:buFontTx/>
              <a:buAutoNum type="arabicPeriod"/>
            </a:pPr>
            <a:r>
              <a:rPr lang="en-US" altLang="en-US" sz="2400" dirty="0" smtClean="0"/>
              <a:t>Organize and outline the presentation</a:t>
            </a:r>
          </a:p>
          <a:p>
            <a:pPr marL="533400" indent="-533400" eaLnBrk="1" hangingPunct="1">
              <a:buFontTx/>
              <a:buAutoNum type="arabicPeriod"/>
            </a:pPr>
            <a:r>
              <a:rPr lang="en-US" altLang="en-US" sz="2400" dirty="0" smtClean="0"/>
              <a:t>Visual aids</a:t>
            </a:r>
          </a:p>
          <a:p>
            <a:pPr marL="533400" indent="-533400" eaLnBrk="1" hangingPunct="1">
              <a:buFontTx/>
              <a:buAutoNum type="arabicPeriod"/>
            </a:pPr>
            <a:r>
              <a:rPr lang="en-US" altLang="en-US" sz="2400" dirty="0" smtClean="0"/>
              <a:t>Practice</a:t>
            </a:r>
          </a:p>
          <a:p>
            <a:pPr marL="533400" indent="-533400" eaLnBrk="1" hangingPunct="1">
              <a:buFontTx/>
              <a:buAutoNum type="arabicPeriod"/>
            </a:pPr>
            <a:r>
              <a:rPr lang="en-US" altLang="en-US" sz="2400" dirty="0" smtClean="0"/>
              <a:t>Delivery</a:t>
            </a:r>
          </a:p>
          <a:p>
            <a:pPr marL="533400" indent="-533400" eaLnBrk="1" hangingPunct="1">
              <a:buFontTx/>
              <a:buAutoNum type="arabicPeriod"/>
            </a:pPr>
            <a:r>
              <a:rPr lang="en-US" altLang="en-US" sz="2400" dirty="0" smtClean="0"/>
              <a:t>Assessment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Step 1:Set </a:t>
            </a:r>
            <a:r>
              <a:rPr lang="en-GB" dirty="0" smtClean="0"/>
              <a:t>your objective</a:t>
            </a:r>
            <a:endParaRPr lang="en-GB" dirty="0"/>
          </a:p>
        </p:txBody>
      </p:sp>
      <p:sp>
        <p:nvSpPr>
          <p:cNvPr id="3" name="Content Placeholder 2"/>
          <p:cNvSpPr>
            <a:spLocks noGrp="1"/>
          </p:cNvSpPr>
          <p:nvPr>
            <p:ph idx="1"/>
          </p:nvPr>
        </p:nvSpPr>
        <p:spPr/>
        <p:txBody>
          <a:bodyPr/>
          <a:lstStyle/>
          <a:p>
            <a:pPr lvl="0"/>
            <a:r>
              <a:rPr lang="en-GB" dirty="0" smtClean="0"/>
              <a:t>This is </a:t>
            </a:r>
            <a:r>
              <a:rPr lang="en-GB" dirty="0" smtClean="0"/>
              <a:t>a short statement which tells what you plan to achieve. For </a:t>
            </a:r>
            <a:r>
              <a:rPr lang="en-GB" dirty="0" smtClean="0"/>
              <a:t>example</a:t>
            </a:r>
          </a:p>
          <a:p>
            <a:pPr lvl="0"/>
            <a:r>
              <a:rPr lang="en-GB" dirty="0" smtClean="0"/>
              <a:t>As </a:t>
            </a:r>
            <a:r>
              <a:rPr lang="en-GB" dirty="0" smtClean="0"/>
              <a:t>a result of my presentation, my audience will be able to....</a:t>
            </a:r>
          </a:p>
          <a:p>
            <a:pPr lvl="0"/>
            <a:r>
              <a:rPr lang="en-GB" i="1" dirty="0" smtClean="0">
                <a:solidFill>
                  <a:srgbClr val="FF0000"/>
                </a:solidFill>
              </a:rPr>
              <a:t>Explain the methods of preventing HIV/AIDS.</a:t>
            </a:r>
          </a:p>
          <a:p>
            <a:pPr lvl="0"/>
            <a:r>
              <a:rPr lang="en-GB" i="1" dirty="0" smtClean="0">
                <a:solidFill>
                  <a:srgbClr val="FF0000"/>
                </a:solidFill>
              </a:rPr>
              <a:t>See their role in interdisciplinary learning more clearly,</a:t>
            </a:r>
          </a:p>
          <a:p>
            <a:endParaRPr lang="en-GB"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Step 2: Decide on </a:t>
            </a:r>
            <a:r>
              <a:rPr lang="en-GB" dirty="0" smtClean="0"/>
              <a:t>the main purpose of your talk </a:t>
            </a:r>
            <a:endParaRPr lang="en-GB" dirty="0"/>
          </a:p>
        </p:txBody>
      </p:sp>
      <p:sp>
        <p:nvSpPr>
          <p:cNvPr id="3" name="Content Placeholder 2"/>
          <p:cNvSpPr>
            <a:spLocks noGrp="1"/>
          </p:cNvSpPr>
          <p:nvPr>
            <p:ph idx="1"/>
          </p:nvPr>
        </p:nvSpPr>
        <p:spPr/>
        <p:txBody>
          <a:bodyPr/>
          <a:lstStyle/>
          <a:p>
            <a:pPr lvl="0"/>
            <a:r>
              <a:rPr lang="en-GB" dirty="0" smtClean="0"/>
              <a:t>e.g.--</a:t>
            </a:r>
            <a:r>
              <a:rPr lang="en-GB" dirty="0" smtClean="0"/>
              <a:t>to inform, persuade, motivate or change things. i.e. </a:t>
            </a:r>
            <a:endParaRPr lang="en-GB" dirty="0" smtClean="0"/>
          </a:p>
          <a:p>
            <a:pPr lvl="0"/>
            <a:r>
              <a:rPr lang="en-GB" dirty="0" smtClean="0"/>
              <a:t>What do you want your audience to do as a result of your talk? </a:t>
            </a:r>
            <a:endParaRPr lang="en-GB" dirty="0" smtClean="0"/>
          </a:p>
          <a:p>
            <a:endParaRPr lang="en-GB" dirty="0"/>
          </a:p>
        </p:txBody>
      </p:sp>
      <p:sp>
        <p:nvSpPr>
          <p:cNvPr id="1025"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Char char="•"/>
              <a:tabLst/>
            </a:pPr>
            <a:r>
              <a:rPr kumimoji="0" lang="en-GB" sz="1200" b="1"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Understand your audience</a:t>
            </a:r>
            <a:r>
              <a:rPr kumimoji="0" lang="en-GB"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Try and have a basic idea of the size of the audience and who they are. Think about what they will be expecting from the presentation, but be realistic about this. Find out what level of knowledge and experience those attending will have about your topic, so that you know where to aim the material. Is the audience likely to have any preconceptions or misconceptions about the subject that you need to address and put right? How might your audience use what you have to say?</a:t>
            </a:r>
            <a:endParaRPr kumimoji="0" lang="en-GB" sz="1800"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Step 3:Analyze your audience</a:t>
            </a:r>
            <a:endParaRPr lang="en-GB" dirty="0"/>
          </a:p>
        </p:txBody>
      </p:sp>
      <p:sp>
        <p:nvSpPr>
          <p:cNvPr id="3" name="Content Placeholder 2"/>
          <p:cNvSpPr>
            <a:spLocks noGrp="1"/>
          </p:cNvSpPr>
          <p:nvPr>
            <p:ph idx="1"/>
          </p:nvPr>
        </p:nvSpPr>
        <p:spPr/>
        <p:txBody>
          <a:bodyPr>
            <a:normAutofit fontScale="70000" lnSpcReduction="20000"/>
          </a:bodyPr>
          <a:lstStyle/>
          <a:p>
            <a:r>
              <a:rPr lang="en-US" altLang="en-US" dirty="0" smtClean="0"/>
              <a:t>You message must relate to your audience’s knowledge, beliefs, and </a:t>
            </a:r>
            <a:r>
              <a:rPr lang="en-US" altLang="en-US" dirty="0" smtClean="0"/>
              <a:t>interests. As</a:t>
            </a:r>
            <a:r>
              <a:rPr lang="en-GB" altLang="en-US" dirty="0" smtClean="0"/>
              <a:t>k yourself the following:</a:t>
            </a:r>
            <a:endParaRPr lang="en-US" altLang="en-US" dirty="0" smtClean="0"/>
          </a:p>
          <a:p>
            <a:r>
              <a:rPr lang="en-GB" dirty="0" smtClean="0">
                <a:solidFill>
                  <a:srgbClr val="FF0000"/>
                </a:solidFill>
              </a:rPr>
              <a:t>Who will I be speaking to?</a:t>
            </a:r>
          </a:p>
          <a:p>
            <a:r>
              <a:rPr lang="en-GB" dirty="0" smtClean="0">
                <a:solidFill>
                  <a:srgbClr val="FF0000"/>
                </a:solidFill>
              </a:rPr>
              <a:t>What are their demographics </a:t>
            </a:r>
            <a:r>
              <a:rPr lang="en-GB" dirty="0" err="1" smtClean="0">
                <a:solidFill>
                  <a:srgbClr val="FF0000"/>
                </a:solidFill>
              </a:rPr>
              <a:t>i.e</a:t>
            </a:r>
            <a:r>
              <a:rPr lang="en-GB" dirty="0" smtClean="0">
                <a:solidFill>
                  <a:srgbClr val="FF0000"/>
                </a:solidFill>
              </a:rPr>
              <a:t> age, gender, marital status, educational and </a:t>
            </a:r>
            <a:r>
              <a:rPr lang="en-GB" dirty="0" smtClean="0">
                <a:solidFill>
                  <a:srgbClr val="FF0000"/>
                </a:solidFill>
              </a:rPr>
              <a:t>social economic backgrounds </a:t>
            </a:r>
            <a:r>
              <a:rPr lang="en-GB" dirty="0" smtClean="0">
                <a:solidFill>
                  <a:srgbClr val="FF0000"/>
                </a:solidFill>
              </a:rPr>
              <a:t>etc</a:t>
            </a:r>
          </a:p>
          <a:p>
            <a:r>
              <a:rPr lang="en-GB" dirty="0" smtClean="0">
                <a:solidFill>
                  <a:srgbClr val="FF0000"/>
                </a:solidFill>
              </a:rPr>
              <a:t>What is their composition?- homogeneous or heterogeneous</a:t>
            </a:r>
          </a:p>
          <a:p>
            <a:r>
              <a:rPr lang="en-GB" dirty="0" smtClean="0">
                <a:solidFill>
                  <a:srgbClr val="FF0000"/>
                </a:solidFill>
              </a:rPr>
              <a:t>What </a:t>
            </a:r>
            <a:r>
              <a:rPr lang="en-GB" dirty="0" smtClean="0">
                <a:solidFill>
                  <a:srgbClr val="FF0000"/>
                </a:solidFill>
              </a:rPr>
              <a:t>do </a:t>
            </a:r>
            <a:r>
              <a:rPr lang="en-GB" dirty="0" smtClean="0">
                <a:solidFill>
                  <a:srgbClr val="FF0000"/>
                </a:solidFill>
              </a:rPr>
              <a:t>they already </a:t>
            </a:r>
            <a:r>
              <a:rPr lang="en-GB" dirty="0" smtClean="0">
                <a:solidFill>
                  <a:srgbClr val="FF0000"/>
                </a:solidFill>
              </a:rPr>
              <a:t>know about my </a:t>
            </a:r>
            <a:r>
              <a:rPr lang="en-GB" dirty="0" smtClean="0">
                <a:solidFill>
                  <a:srgbClr val="FF0000"/>
                </a:solidFill>
              </a:rPr>
              <a:t>topic? </a:t>
            </a:r>
            <a:endParaRPr lang="en-GB" dirty="0" smtClean="0">
              <a:solidFill>
                <a:srgbClr val="FF0000"/>
              </a:solidFill>
            </a:endParaRPr>
          </a:p>
          <a:p>
            <a:r>
              <a:rPr lang="en-GB" dirty="0" smtClean="0">
                <a:solidFill>
                  <a:srgbClr val="FF0000"/>
                </a:solidFill>
              </a:rPr>
              <a:t> Expectations-What will they want to know about my topic? </a:t>
            </a:r>
            <a:endParaRPr lang="en-GB" dirty="0" smtClean="0">
              <a:solidFill>
                <a:srgbClr val="FF0000"/>
              </a:solidFill>
            </a:endParaRPr>
          </a:p>
          <a:p>
            <a:r>
              <a:rPr lang="en-GB" dirty="0" smtClean="0">
                <a:solidFill>
                  <a:srgbClr val="FF0000"/>
                </a:solidFill>
              </a:rPr>
              <a:t>What </a:t>
            </a:r>
            <a:r>
              <a:rPr lang="en-GB" dirty="0" smtClean="0">
                <a:solidFill>
                  <a:srgbClr val="FF0000"/>
                </a:solidFill>
              </a:rPr>
              <a:t>do I want them to know by the end of my talk</a:t>
            </a:r>
            <a:r>
              <a:rPr lang="en-GB" dirty="0" smtClean="0">
                <a:solidFill>
                  <a:srgbClr val="FF0000"/>
                </a:solidFill>
              </a:rPr>
              <a:t>?</a:t>
            </a:r>
          </a:p>
          <a:p>
            <a:r>
              <a:rPr lang="en-GB" i="1" dirty="0" smtClean="0">
                <a:solidFill>
                  <a:srgbClr val="FF0000"/>
                </a:solidFill>
              </a:rPr>
              <a:t>likely reactions- </a:t>
            </a:r>
            <a:r>
              <a:rPr lang="en-GB" dirty="0" smtClean="0">
                <a:solidFill>
                  <a:srgbClr val="FF0000"/>
                </a:solidFill>
              </a:rPr>
              <a:t>are they likely to be hostile? receptive? Indifferent to your point of view? Do they care about the issues you will discuss?</a:t>
            </a:r>
          </a:p>
          <a:p>
            <a:endParaRPr lang="en-GB"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Analyzing your audience</a:t>
            </a:r>
            <a:endParaRPr lang="en-GB" dirty="0"/>
          </a:p>
        </p:txBody>
      </p:sp>
      <p:sp>
        <p:nvSpPr>
          <p:cNvPr id="3" name="Content Placeholder 2"/>
          <p:cNvSpPr>
            <a:spLocks noGrp="1"/>
          </p:cNvSpPr>
          <p:nvPr>
            <p:ph idx="1"/>
          </p:nvPr>
        </p:nvSpPr>
        <p:spPr/>
        <p:txBody>
          <a:bodyPr>
            <a:normAutofit/>
          </a:bodyPr>
          <a:lstStyle/>
          <a:p>
            <a:r>
              <a:rPr lang="en-GB" dirty="0" smtClean="0"/>
              <a:t>By basing the content and style of your presentation on your answers to these questions, you can make sure that you are in tune with your audience. What you want to say about your topic may be much less important than what your audience wants to hear about it.</a:t>
            </a:r>
            <a:endParaRPr lang="en-GB"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Step 4:</a:t>
            </a:r>
            <a:r>
              <a:rPr lang="en-GB" dirty="0" smtClean="0"/>
              <a:t>Know your setting</a:t>
            </a:r>
            <a:endParaRPr lang="en-GB" dirty="0"/>
          </a:p>
        </p:txBody>
      </p:sp>
      <p:sp>
        <p:nvSpPr>
          <p:cNvPr id="3" name="Content Placeholder 2"/>
          <p:cNvSpPr>
            <a:spLocks noGrp="1"/>
          </p:cNvSpPr>
          <p:nvPr>
            <p:ph idx="1"/>
          </p:nvPr>
        </p:nvSpPr>
        <p:spPr/>
        <p:txBody>
          <a:bodyPr/>
          <a:lstStyle/>
          <a:p>
            <a:r>
              <a:rPr lang="en-GB" dirty="0" smtClean="0"/>
              <a:t> </a:t>
            </a:r>
            <a:r>
              <a:rPr lang="en-GB" dirty="0" smtClean="0"/>
              <a:t>Find out about the equipment –audiovisual aids etc. that will be available. Check out the location of the presentation; the size of the room (to help you decide on type of seating arrangements), and other facilities</a:t>
            </a:r>
            <a:r>
              <a:rPr lang="en-GB" dirty="0" smtClean="0"/>
              <a:t>.</a:t>
            </a:r>
          </a:p>
          <a:p>
            <a:endParaRPr lang="en-GB" dirty="0" smtClean="0"/>
          </a:p>
          <a:p>
            <a:endParaRPr lang="en-GB"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Step 5: Research your topic</a:t>
            </a:r>
            <a:endParaRPr lang="en-GB" dirty="0"/>
          </a:p>
        </p:txBody>
      </p:sp>
      <p:sp>
        <p:nvSpPr>
          <p:cNvPr id="3" name="Content Placeholder 2"/>
          <p:cNvSpPr>
            <a:spLocks noGrp="1"/>
          </p:cNvSpPr>
          <p:nvPr>
            <p:ph idx="1"/>
          </p:nvPr>
        </p:nvSpPr>
        <p:spPr/>
        <p:txBody>
          <a:bodyPr/>
          <a:lstStyle/>
          <a:p>
            <a:r>
              <a:rPr lang="en-US" altLang="en-US" dirty="0" smtClean="0"/>
              <a:t>Gather </a:t>
            </a:r>
            <a:r>
              <a:rPr lang="en-US" altLang="en-US" dirty="0" smtClean="0"/>
              <a:t>facts, figures, testimony, and examples</a:t>
            </a:r>
          </a:p>
          <a:p>
            <a:r>
              <a:rPr lang="en-US" altLang="en-US" dirty="0" smtClean="0"/>
              <a:t>Research enhances: </a:t>
            </a:r>
          </a:p>
          <a:p>
            <a:pPr lvl="1"/>
            <a:r>
              <a:rPr lang="en-US" altLang="en-US" dirty="0" smtClean="0"/>
              <a:t>credibility</a:t>
            </a:r>
            <a:endParaRPr lang="en-US" altLang="en-US" dirty="0" smtClean="0"/>
          </a:p>
          <a:p>
            <a:pPr lvl="1"/>
            <a:r>
              <a:rPr lang="en-US" altLang="en-US" dirty="0" smtClean="0"/>
              <a:t>competence</a:t>
            </a:r>
            <a:r>
              <a:rPr lang="en-US" altLang="en-US" dirty="0" smtClean="0"/>
              <a:t>: speaker’s knowledge of subject</a:t>
            </a:r>
          </a:p>
          <a:p>
            <a:pPr lvl="1"/>
            <a:r>
              <a:rPr lang="en-US" altLang="en-US" dirty="0" smtClean="0"/>
              <a:t>character</a:t>
            </a:r>
            <a:r>
              <a:rPr lang="en-US" altLang="en-US" dirty="0" smtClean="0"/>
              <a:t>: speaker’s trustworthiness</a:t>
            </a:r>
          </a:p>
          <a:p>
            <a:endParaRPr lang="en-GB"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AutoShape 2"/>
          <p:cNvSpPr>
            <a:spLocks noGrp="1" noChangeArrowheads="1"/>
          </p:cNvSpPr>
          <p:nvPr>
            <p:ph type="title"/>
          </p:nvPr>
        </p:nvSpPr>
        <p:spPr/>
        <p:txBody>
          <a:bodyPr/>
          <a:lstStyle/>
          <a:p>
            <a:pPr eaLnBrk="1" hangingPunct="1"/>
            <a:r>
              <a:rPr lang="en-GB" dirty="0" smtClean="0"/>
              <a:t>Write your </a:t>
            </a:r>
            <a:r>
              <a:rPr lang="en-GB" dirty="0" smtClean="0"/>
              <a:t>p</a:t>
            </a:r>
            <a:r>
              <a:rPr lang="tr-TR" dirty="0" smtClean="0"/>
              <a:t>resentation </a:t>
            </a:r>
            <a:r>
              <a:rPr lang="tr-TR" dirty="0" smtClean="0"/>
              <a:t>outline</a:t>
            </a:r>
          </a:p>
        </p:txBody>
      </p:sp>
      <p:sp>
        <p:nvSpPr>
          <p:cNvPr id="33795" name="Rectangle 3"/>
          <p:cNvSpPr>
            <a:spLocks noGrp="1" noChangeArrowheads="1"/>
          </p:cNvSpPr>
          <p:nvPr>
            <p:ph type="body" idx="1"/>
          </p:nvPr>
        </p:nvSpPr>
        <p:spPr/>
        <p:txBody>
          <a:bodyPr>
            <a:normAutofit fontScale="85000" lnSpcReduction="10000"/>
          </a:bodyPr>
          <a:lstStyle/>
          <a:p>
            <a:r>
              <a:rPr lang="en-GB" dirty="0" smtClean="0"/>
              <a:t>After  obtaining relevant information on the topic, brainstorm </a:t>
            </a:r>
            <a:r>
              <a:rPr lang="en-GB" dirty="0" smtClean="0"/>
              <a:t>your topic and write a rough outline in point </a:t>
            </a:r>
            <a:r>
              <a:rPr lang="en-GB" dirty="0" smtClean="0"/>
              <a:t>form</a:t>
            </a:r>
          </a:p>
          <a:p>
            <a:r>
              <a:rPr lang="en-GB" dirty="0" smtClean="0"/>
              <a:t>Organise your material and write a draft—think about </a:t>
            </a:r>
            <a:r>
              <a:rPr lang="en-GB" dirty="0" smtClean="0"/>
              <a:t>the length of time you have to speak and the </a:t>
            </a:r>
            <a:r>
              <a:rPr lang="en-GB" dirty="0" smtClean="0"/>
              <a:t>amount of </a:t>
            </a:r>
            <a:r>
              <a:rPr lang="en-GB" dirty="0" smtClean="0"/>
              <a:t> information </a:t>
            </a:r>
            <a:r>
              <a:rPr lang="en-GB" dirty="0" smtClean="0"/>
              <a:t>you can </a:t>
            </a:r>
            <a:r>
              <a:rPr lang="en-GB" dirty="0" smtClean="0"/>
              <a:t>include.</a:t>
            </a:r>
          </a:p>
          <a:p>
            <a:r>
              <a:rPr lang="en-GB" dirty="0" smtClean="0"/>
              <a:t>Ask yourself: What are the main points I need to make to get my message across? What supporting information will I need? Where will I get this? How much time will I need? Structure your talk </a:t>
            </a:r>
          </a:p>
          <a:p>
            <a:pPr eaLnBrk="1" hangingPunct="1">
              <a:buFont typeface="Wingdings" pitchFamily="2" charset="2"/>
              <a:buNone/>
            </a:pPr>
            <a:endParaRPr lang="en-GB" b="1" dirty="0" smtClean="0">
              <a:solidFill>
                <a:srgbClr val="FF3399"/>
              </a:solidFill>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nvGraphicFramePr>
        <p:xfrm>
          <a:off x="1524000" y="1397000"/>
          <a:ext cx="7296472" cy="5056338"/>
        </p:xfrm>
        <a:graphic>
          <a:graphicData uri="http://schemas.openxmlformats.org/drawingml/2006/table">
            <a:tbl>
              <a:tblPr firstRow="1" bandRow="1">
                <a:tableStyleId>{5C22544A-7EE6-4342-B048-85BDC9FD1C3A}</a:tableStyleId>
              </a:tblPr>
              <a:tblGrid>
                <a:gridCol w="2471936"/>
                <a:gridCol w="4824536"/>
              </a:tblGrid>
              <a:tr h="621681">
                <a:tc>
                  <a:txBody>
                    <a:bodyPr/>
                    <a:lstStyle/>
                    <a:p>
                      <a:pPr algn="just">
                        <a:lnSpc>
                          <a:spcPct val="150000"/>
                        </a:lnSpc>
                        <a:spcAft>
                          <a:spcPts val="0"/>
                        </a:spcAft>
                      </a:pPr>
                      <a:r>
                        <a:rPr lang="en-GB" sz="1200" dirty="0">
                          <a:latin typeface="Book Antiqua"/>
                          <a:ea typeface="Calibri"/>
                          <a:cs typeface="Times New Roman"/>
                        </a:rPr>
                        <a:t>QUESTIONS TO ASK YOURSELF</a:t>
                      </a:r>
                      <a:endParaRPr lang="en-GB" sz="1100" dirty="0">
                        <a:latin typeface="Calibri"/>
                        <a:ea typeface="Calibri"/>
                        <a:cs typeface="Times New Roman"/>
                      </a:endParaRPr>
                    </a:p>
                  </a:txBody>
                  <a:tcPr marL="68580" marR="68580" marT="0" marB="0"/>
                </a:tc>
                <a:tc>
                  <a:txBody>
                    <a:bodyPr/>
                    <a:lstStyle/>
                    <a:p>
                      <a:pPr algn="just">
                        <a:lnSpc>
                          <a:spcPct val="150000"/>
                        </a:lnSpc>
                        <a:spcAft>
                          <a:spcPts val="0"/>
                        </a:spcAft>
                      </a:pPr>
                      <a:r>
                        <a:rPr lang="en-GB" sz="1200">
                          <a:latin typeface="Book Antiqua"/>
                          <a:ea typeface="Calibri"/>
                          <a:cs typeface="Times New Roman"/>
                        </a:rPr>
                        <a:t>EXAMPLES</a:t>
                      </a:r>
                      <a:endParaRPr lang="en-GB" sz="1100">
                        <a:latin typeface="Calibri"/>
                        <a:ea typeface="Calibri"/>
                        <a:cs typeface="Times New Roman"/>
                      </a:endParaRPr>
                    </a:p>
                  </a:txBody>
                  <a:tcPr marL="68580" marR="68580" marT="0" marB="0"/>
                </a:tc>
              </a:tr>
              <a:tr h="953244">
                <a:tc>
                  <a:txBody>
                    <a:bodyPr/>
                    <a:lstStyle/>
                    <a:p>
                      <a:pPr algn="just">
                        <a:lnSpc>
                          <a:spcPct val="150000"/>
                        </a:lnSpc>
                        <a:spcAft>
                          <a:spcPts val="0"/>
                        </a:spcAft>
                      </a:pPr>
                      <a:r>
                        <a:rPr lang="en-GB" sz="1200" dirty="0">
                          <a:latin typeface="Book Antiqua"/>
                          <a:ea typeface="Calibri"/>
                          <a:cs typeface="Times New Roman"/>
                        </a:rPr>
                        <a:t>1. What is the aim?</a:t>
                      </a:r>
                      <a:endParaRPr lang="en-GB" sz="1100" dirty="0">
                        <a:latin typeface="Calibri"/>
                        <a:ea typeface="Calibri"/>
                        <a:cs typeface="Times New Roman"/>
                      </a:endParaRPr>
                    </a:p>
                  </a:txBody>
                  <a:tcPr marL="68580" marR="68580" marT="0" marB="0"/>
                </a:tc>
                <a:tc>
                  <a:txBody>
                    <a:bodyPr/>
                    <a:lstStyle/>
                    <a:p>
                      <a:pPr marL="342900" lvl="0" indent="-342900" algn="just">
                        <a:lnSpc>
                          <a:spcPct val="115000"/>
                        </a:lnSpc>
                        <a:spcAft>
                          <a:spcPts val="0"/>
                        </a:spcAft>
                        <a:buFont typeface="Symbol"/>
                        <a:buChar char=""/>
                      </a:pPr>
                      <a:r>
                        <a:rPr lang="en-GB" sz="1200" dirty="0">
                          <a:latin typeface="Book Antiqua"/>
                          <a:ea typeface="Calibri"/>
                          <a:cs typeface="Times New Roman"/>
                        </a:rPr>
                        <a:t>to buy my product </a:t>
                      </a:r>
                      <a:endParaRPr lang="en-GB" sz="1100" dirty="0">
                        <a:latin typeface="Calibri"/>
                        <a:ea typeface="Calibri"/>
                        <a:cs typeface="Times New Roman"/>
                      </a:endParaRPr>
                    </a:p>
                    <a:p>
                      <a:pPr marL="342900" lvl="0" indent="-342900" algn="just">
                        <a:lnSpc>
                          <a:spcPct val="115000"/>
                        </a:lnSpc>
                        <a:spcAft>
                          <a:spcPts val="0"/>
                        </a:spcAft>
                        <a:buFont typeface="Symbol"/>
                        <a:buChar char=""/>
                      </a:pPr>
                      <a:r>
                        <a:rPr lang="en-GB" sz="1200" dirty="0">
                          <a:latin typeface="Book Antiqua"/>
                          <a:ea typeface="Calibri"/>
                          <a:cs typeface="Times New Roman"/>
                        </a:rPr>
                        <a:t>to adopt my recommendations  </a:t>
                      </a:r>
                      <a:endParaRPr lang="en-GB" sz="1100" dirty="0">
                        <a:latin typeface="Calibri"/>
                        <a:ea typeface="Calibri"/>
                        <a:cs typeface="Times New Roman"/>
                      </a:endParaRPr>
                    </a:p>
                    <a:p>
                      <a:pPr marL="342900" lvl="0" indent="-342900" algn="just">
                        <a:lnSpc>
                          <a:spcPct val="115000"/>
                        </a:lnSpc>
                        <a:spcAft>
                          <a:spcPts val="0"/>
                        </a:spcAft>
                        <a:buFont typeface="Symbol"/>
                        <a:buChar char=""/>
                      </a:pPr>
                      <a:r>
                        <a:rPr lang="en-GB" sz="1200" dirty="0">
                          <a:latin typeface="Book Antiqua"/>
                          <a:ea typeface="Calibri"/>
                          <a:cs typeface="Times New Roman"/>
                        </a:rPr>
                        <a:t>to join the club </a:t>
                      </a:r>
                      <a:endParaRPr lang="en-GB" sz="1100" dirty="0">
                        <a:latin typeface="Calibri"/>
                        <a:ea typeface="Calibri"/>
                        <a:cs typeface="Times New Roman"/>
                      </a:endParaRPr>
                    </a:p>
                    <a:p>
                      <a:pPr marL="342900" lvl="0" indent="-342900" algn="just">
                        <a:lnSpc>
                          <a:spcPct val="115000"/>
                        </a:lnSpc>
                        <a:spcAft>
                          <a:spcPts val="0"/>
                        </a:spcAft>
                        <a:buFont typeface="Symbol"/>
                        <a:buChar char=""/>
                      </a:pPr>
                      <a:r>
                        <a:rPr lang="en-GB" sz="1200" dirty="0">
                          <a:latin typeface="Book Antiqua"/>
                          <a:ea typeface="Calibri"/>
                          <a:cs typeface="Times New Roman"/>
                        </a:rPr>
                        <a:t>to </a:t>
                      </a:r>
                      <a:r>
                        <a:rPr lang="en-GB" sz="1200" dirty="0" smtClean="0">
                          <a:latin typeface="Book Antiqua"/>
                          <a:ea typeface="Calibri"/>
                          <a:cs typeface="Times New Roman"/>
                        </a:rPr>
                        <a:t>plan</a:t>
                      </a:r>
                      <a:r>
                        <a:rPr lang="en-GB" sz="1200" baseline="0" dirty="0" smtClean="0">
                          <a:latin typeface="Book Antiqua"/>
                          <a:ea typeface="Calibri"/>
                          <a:cs typeface="Times New Roman"/>
                        </a:rPr>
                        <a:t> and deliver  great  oral presentations</a:t>
                      </a:r>
                      <a:endParaRPr lang="en-GB" sz="1100" dirty="0">
                        <a:latin typeface="Calibri"/>
                        <a:ea typeface="Calibri"/>
                        <a:cs typeface="Times New Roman"/>
                      </a:endParaRPr>
                    </a:p>
                  </a:txBody>
                  <a:tcPr marL="68580" marR="68580" marT="0" marB="0"/>
                </a:tc>
              </a:tr>
              <a:tr h="714933">
                <a:tc>
                  <a:txBody>
                    <a:bodyPr/>
                    <a:lstStyle/>
                    <a:p>
                      <a:pPr algn="just">
                        <a:lnSpc>
                          <a:spcPct val="150000"/>
                        </a:lnSpc>
                        <a:spcAft>
                          <a:spcPts val="0"/>
                        </a:spcAft>
                      </a:pPr>
                      <a:r>
                        <a:rPr lang="en-GB" sz="1200" dirty="0">
                          <a:latin typeface="Book Antiqua"/>
                          <a:ea typeface="Calibri"/>
                          <a:cs typeface="Times New Roman"/>
                        </a:rPr>
                        <a:t>2. What is my title?</a:t>
                      </a:r>
                      <a:endParaRPr lang="en-GB" sz="1100" dirty="0">
                        <a:latin typeface="Calibri"/>
                        <a:ea typeface="Calibri"/>
                        <a:cs typeface="Times New Roman"/>
                      </a:endParaRPr>
                    </a:p>
                  </a:txBody>
                  <a:tcPr marL="68580" marR="68580" marT="0" marB="0"/>
                </a:tc>
                <a:tc>
                  <a:txBody>
                    <a:bodyPr/>
                    <a:lstStyle/>
                    <a:p>
                      <a:pPr marL="342900" lvl="0" indent="-342900" algn="just">
                        <a:lnSpc>
                          <a:spcPct val="115000"/>
                        </a:lnSpc>
                        <a:spcAft>
                          <a:spcPts val="0"/>
                        </a:spcAft>
                        <a:buFont typeface="Symbol"/>
                        <a:buChar char=""/>
                      </a:pPr>
                      <a:r>
                        <a:rPr lang="en-GB" sz="1200" dirty="0">
                          <a:latin typeface="Book Antiqua"/>
                          <a:ea typeface="Calibri"/>
                          <a:cs typeface="Times New Roman"/>
                        </a:rPr>
                        <a:t>The new </a:t>
                      </a:r>
                      <a:r>
                        <a:rPr lang="en-GB" sz="1200" dirty="0" err="1">
                          <a:latin typeface="Book Antiqua"/>
                          <a:ea typeface="Calibri"/>
                          <a:cs typeface="Times New Roman"/>
                        </a:rPr>
                        <a:t>Mokia</a:t>
                      </a:r>
                      <a:r>
                        <a:rPr lang="en-GB" sz="1200" dirty="0">
                          <a:latin typeface="Book Antiqua"/>
                          <a:ea typeface="Calibri"/>
                          <a:cs typeface="Times New Roman"/>
                        </a:rPr>
                        <a:t> 2001 </a:t>
                      </a:r>
                      <a:endParaRPr lang="en-GB" sz="1100" dirty="0">
                        <a:latin typeface="Calibri"/>
                        <a:ea typeface="Calibri"/>
                        <a:cs typeface="Times New Roman"/>
                      </a:endParaRPr>
                    </a:p>
                    <a:p>
                      <a:pPr marL="342900" lvl="0" indent="-342900" algn="just">
                        <a:lnSpc>
                          <a:spcPct val="115000"/>
                        </a:lnSpc>
                        <a:spcAft>
                          <a:spcPts val="0"/>
                        </a:spcAft>
                        <a:buFont typeface="Symbol"/>
                        <a:buChar char=""/>
                      </a:pPr>
                      <a:r>
                        <a:rPr lang="en-GB" sz="1200" dirty="0">
                          <a:latin typeface="Book Antiqua"/>
                          <a:ea typeface="Calibri"/>
                          <a:cs typeface="Times New Roman"/>
                        </a:rPr>
                        <a:t>How to reduce production costs </a:t>
                      </a:r>
                      <a:endParaRPr lang="en-GB" sz="1100" dirty="0">
                        <a:latin typeface="Calibri"/>
                        <a:ea typeface="Calibri"/>
                        <a:cs typeface="Times New Roman"/>
                      </a:endParaRPr>
                    </a:p>
                    <a:p>
                      <a:pPr marL="342900" lvl="0" indent="-342900" algn="just">
                        <a:lnSpc>
                          <a:spcPct val="115000"/>
                        </a:lnSpc>
                        <a:spcAft>
                          <a:spcPts val="0"/>
                        </a:spcAft>
                        <a:buFont typeface="Symbol"/>
                        <a:buChar char=""/>
                      </a:pPr>
                      <a:r>
                        <a:rPr lang="en-GB" sz="1200" baseline="0" dirty="0" smtClean="0">
                          <a:latin typeface="Book Antiqua"/>
                          <a:ea typeface="Calibri"/>
                          <a:cs typeface="Times New Roman"/>
                        </a:rPr>
                        <a:t>Effective oral presentations</a:t>
                      </a:r>
                      <a:endParaRPr lang="en-GB" sz="1100" dirty="0">
                        <a:latin typeface="Calibri"/>
                        <a:ea typeface="Calibri"/>
                        <a:cs typeface="Times New Roman"/>
                      </a:endParaRPr>
                    </a:p>
                  </a:txBody>
                  <a:tcPr marL="68580" marR="68580" marT="0" marB="0"/>
                </a:tc>
              </a:tr>
              <a:tr h="1191555">
                <a:tc>
                  <a:txBody>
                    <a:bodyPr/>
                    <a:lstStyle/>
                    <a:p>
                      <a:pPr marL="342900" lvl="0" indent="-342900" algn="just">
                        <a:lnSpc>
                          <a:spcPct val="150000"/>
                        </a:lnSpc>
                        <a:spcAft>
                          <a:spcPts val="0"/>
                        </a:spcAft>
                        <a:buFont typeface="+mj-lt"/>
                        <a:buNone/>
                      </a:pPr>
                      <a:r>
                        <a:rPr lang="en-GB" sz="1200" dirty="0" smtClean="0">
                          <a:latin typeface="Book Antiqua"/>
                          <a:ea typeface="Calibri"/>
                          <a:cs typeface="Times New Roman"/>
                        </a:rPr>
                        <a:t>3.Who </a:t>
                      </a:r>
                      <a:r>
                        <a:rPr lang="en-GB" sz="1200" dirty="0">
                          <a:latin typeface="Book Antiqua"/>
                          <a:ea typeface="Calibri"/>
                          <a:cs typeface="Times New Roman"/>
                        </a:rPr>
                        <a:t>am I speaking to?</a:t>
                      </a:r>
                      <a:endParaRPr lang="en-GB" sz="1100" dirty="0">
                        <a:latin typeface="Calibri"/>
                        <a:ea typeface="Calibri"/>
                        <a:cs typeface="Times New Roman"/>
                      </a:endParaRPr>
                    </a:p>
                    <a:p>
                      <a:pPr marL="228600" algn="just">
                        <a:lnSpc>
                          <a:spcPct val="150000"/>
                        </a:lnSpc>
                        <a:spcAft>
                          <a:spcPts val="0"/>
                        </a:spcAft>
                      </a:pPr>
                      <a:r>
                        <a:rPr lang="en-GB" sz="1200" dirty="0">
                          <a:latin typeface="Book Antiqua"/>
                          <a:ea typeface="Calibri"/>
                          <a:cs typeface="Times New Roman"/>
                        </a:rPr>
                        <a:t>(Audience analysis)</a:t>
                      </a:r>
                      <a:endParaRPr lang="en-GB" sz="1100" dirty="0">
                        <a:latin typeface="Calibri"/>
                        <a:ea typeface="Calibri"/>
                        <a:cs typeface="Times New Roman"/>
                      </a:endParaRPr>
                    </a:p>
                  </a:txBody>
                  <a:tcPr marL="68580" marR="68580" marT="0" marB="0"/>
                </a:tc>
                <a:tc>
                  <a:txBody>
                    <a:bodyPr/>
                    <a:lstStyle/>
                    <a:p>
                      <a:pPr marL="342900" lvl="0" indent="-342900" algn="just">
                        <a:lnSpc>
                          <a:spcPct val="115000"/>
                        </a:lnSpc>
                        <a:spcAft>
                          <a:spcPts val="0"/>
                        </a:spcAft>
                        <a:buFont typeface="Symbol"/>
                        <a:buChar char=""/>
                      </a:pPr>
                      <a:r>
                        <a:rPr lang="en-GB" sz="1200" dirty="0">
                          <a:latin typeface="Book Antiqua"/>
                          <a:ea typeface="Calibri"/>
                          <a:cs typeface="Times New Roman"/>
                        </a:rPr>
                        <a:t>What are the benefits to the audience of my </a:t>
                      </a:r>
                      <a:endParaRPr lang="en-GB" sz="1200" dirty="0" smtClean="0">
                        <a:latin typeface="Book Antiqua"/>
                        <a:ea typeface="Calibri"/>
                        <a:cs typeface="Times New Roman"/>
                      </a:endParaRPr>
                    </a:p>
                    <a:p>
                      <a:pPr marL="342900" lvl="0" indent="-342900" algn="just">
                        <a:lnSpc>
                          <a:spcPct val="115000"/>
                        </a:lnSpc>
                        <a:spcAft>
                          <a:spcPts val="0"/>
                        </a:spcAft>
                        <a:buFont typeface="Symbol"/>
                        <a:buChar char=""/>
                      </a:pPr>
                      <a:r>
                        <a:rPr lang="en-GB" sz="1200" dirty="0" smtClean="0">
                          <a:latin typeface="Book Antiqua"/>
                          <a:ea typeface="Calibri"/>
                          <a:cs typeface="Times New Roman"/>
                        </a:rPr>
                        <a:t>What </a:t>
                      </a:r>
                      <a:r>
                        <a:rPr lang="en-GB" sz="1200" dirty="0">
                          <a:latin typeface="Book Antiqua"/>
                          <a:ea typeface="Calibri"/>
                          <a:cs typeface="Times New Roman"/>
                        </a:rPr>
                        <a:t>do they know of the subject? </a:t>
                      </a:r>
                      <a:endParaRPr lang="en-GB" sz="1100" dirty="0">
                        <a:latin typeface="Calibri"/>
                        <a:ea typeface="Calibri"/>
                        <a:cs typeface="Times New Roman"/>
                      </a:endParaRPr>
                    </a:p>
                    <a:p>
                      <a:pPr marL="342900" lvl="0" indent="-342900" algn="just">
                        <a:lnSpc>
                          <a:spcPct val="115000"/>
                        </a:lnSpc>
                        <a:spcAft>
                          <a:spcPts val="0"/>
                        </a:spcAft>
                        <a:buFont typeface="Symbol"/>
                        <a:buChar char=""/>
                      </a:pPr>
                      <a:r>
                        <a:rPr lang="en-GB" sz="1200" dirty="0" smtClean="0">
                          <a:latin typeface="Book Antiqua"/>
                          <a:ea typeface="Calibri"/>
                          <a:cs typeface="Times New Roman"/>
                        </a:rPr>
                        <a:t>What </a:t>
                      </a:r>
                      <a:r>
                        <a:rPr lang="en-GB" sz="1200" dirty="0">
                          <a:latin typeface="Book Antiqua"/>
                          <a:ea typeface="Calibri"/>
                          <a:cs typeface="Times New Roman"/>
                        </a:rPr>
                        <a:t>sort of questions will they ask me? </a:t>
                      </a:r>
                      <a:endParaRPr lang="en-GB" sz="1100" dirty="0">
                        <a:latin typeface="Calibri"/>
                        <a:ea typeface="Calibri"/>
                        <a:cs typeface="Times New Roman"/>
                      </a:endParaRPr>
                    </a:p>
                    <a:p>
                      <a:pPr marL="342900" lvl="0" indent="-342900" algn="just">
                        <a:lnSpc>
                          <a:spcPct val="115000"/>
                        </a:lnSpc>
                        <a:spcAft>
                          <a:spcPts val="0"/>
                        </a:spcAft>
                        <a:buFont typeface="Symbol"/>
                        <a:buChar char=""/>
                      </a:pPr>
                      <a:r>
                        <a:rPr lang="en-GB" sz="1200" dirty="0">
                          <a:latin typeface="Book Antiqua"/>
                          <a:ea typeface="Calibri"/>
                          <a:cs typeface="Times New Roman"/>
                        </a:rPr>
                        <a:t>What are the answers? </a:t>
                      </a:r>
                      <a:endParaRPr lang="en-GB" sz="1100" dirty="0">
                        <a:latin typeface="Calibri"/>
                        <a:ea typeface="Calibri"/>
                        <a:cs typeface="Times New Roman"/>
                      </a:endParaRPr>
                    </a:p>
                    <a:p>
                      <a:pPr marL="342900" lvl="0" indent="-342900" algn="just">
                        <a:lnSpc>
                          <a:spcPct val="115000"/>
                        </a:lnSpc>
                        <a:spcAft>
                          <a:spcPts val="0"/>
                        </a:spcAft>
                        <a:buFont typeface="Symbol"/>
                        <a:buChar char=""/>
                      </a:pPr>
                      <a:r>
                        <a:rPr lang="en-GB" sz="1200" dirty="0">
                          <a:latin typeface="Book Antiqua"/>
                          <a:ea typeface="Calibri"/>
                          <a:cs typeface="Times New Roman"/>
                        </a:rPr>
                        <a:t>What aspects will they be interested in?</a:t>
                      </a:r>
                      <a:endParaRPr lang="en-GB" sz="1100" dirty="0">
                        <a:latin typeface="Calibri"/>
                        <a:ea typeface="Calibri"/>
                        <a:cs typeface="Times New Roman"/>
                      </a:endParaRPr>
                    </a:p>
                  </a:txBody>
                  <a:tcPr marL="68580" marR="68580" marT="0" marB="0"/>
                </a:tc>
              </a:tr>
              <a:tr h="621681">
                <a:tc>
                  <a:txBody>
                    <a:bodyPr/>
                    <a:lstStyle/>
                    <a:p>
                      <a:pPr algn="just">
                        <a:lnSpc>
                          <a:spcPct val="150000"/>
                        </a:lnSpc>
                        <a:spcAft>
                          <a:spcPts val="0"/>
                        </a:spcAft>
                      </a:pPr>
                      <a:r>
                        <a:rPr lang="en-GB" sz="1200" dirty="0" smtClean="0">
                          <a:latin typeface="Book Antiqua"/>
                          <a:ea typeface="Calibri"/>
                          <a:cs typeface="Times New Roman"/>
                        </a:rPr>
                        <a:t>4.</a:t>
                      </a:r>
                      <a:r>
                        <a:rPr lang="en-GB" sz="1200" baseline="0" dirty="0" smtClean="0">
                          <a:latin typeface="Book Antiqua"/>
                          <a:ea typeface="Calibri"/>
                          <a:cs typeface="Times New Roman"/>
                        </a:rPr>
                        <a:t> </a:t>
                      </a:r>
                      <a:r>
                        <a:rPr lang="en-GB" sz="1200" dirty="0" smtClean="0">
                          <a:latin typeface="Book Antiqua"/>
                          <a:ea typeface="Calibri"/>
                          <a:cs typeface="Times New Roman"/>
                        </a:rPr>
                        <a:t>What </a:t>
                      </a:r>
                      <a:r>
                        <a:rPr lang="en-GB" sz="1200" dirty="0">
                          <a:latin typeface="Book Antiqua"/>
                          <a:ea typeface="Calibri"/>
                          <a:cs typeface="Times New Roman"/>
                        </a:rPr>
                        <a:t>are the main points I want to make?</a:t>
                      </a:r>
                      <a:endParaRPr lang="en-GB" sz="1100" dirty="0">
                        <a:latin typeface="Calibri"/>
                        <a:ea typeface="Calibri"/>
                        <a:cs typeface="Times New Roman"/>
                      </a:endParaRPr>
                    </a:p>
                  </a:txBody>
                  <a:tcPr marL="68580" marR="68580" marT="0" marB="0"/>
                </a:tc>
                <a:tc>
                  <a:txBody>
                    <a:bodyPr/>
                    <a:lstStyle/>
                    <a:p>
                      <a:pPr algn="just">
                        <a:lnSpc>
                          <a:spcPct val="150000"/>
                        </a:lnSpc>
                        <a:spcAft>
                          <a:spcPts val="0"/>
                        </a:spcAft>
                        <a:buFont typeface="Arial" pitchFamily="34" charset="0"/>
                        <a:buChar char="•"/>
                      </a:pPr>
                      <a:r>
                        <a:rPr lang="en-GB" sz="1200" dirty="0">
                          <a:latin typeface="Book Antiqua"/>
                          <a:ea typeface="Calibri"/>
                          <a:cs typeface="Times New Roman"/>
                        </a:rPr>
                        <a:t>point a, point b, point c</a:t>
                      </a:r>
                      <a:endParaRPr lang="en-GB" sz="1100" dirty="0">
                        <a:latin typeface="Calibri"/>
                        <a:ea typeface="Calibri"/>
                        <a:cs typeface="Times New Roman"/>
                      </a:endParaRPr>
                    </a:p>
                  </a:txBody>
                  <a:tcPr marL="68580" marR="68580" marT="0" marB="0"/>
                </a:tc>
              </a:tr>
              <a:tr h="953244">
                <a:tc>
                  <a:txBody>
                    <a:bodyPr/>
                    <a:lstStyle/>
                    <a:p>
                      <a:pPr algn="just">
                        <a:lnSpc>
                          <a:spcPct val="150000"/>
                        </a:lnSpc>
                        <a:spcAft>
                          <a:spcPts val="0"/>
                        </a:spcAft>
                      </a:pPr>
                      <a:r>
                        <a:rPr lang="en-GB" sz="1200" dirty="0">
                          <a:latin typeface="Book Antiqua"/>
                          <a:ea typeface="Calibri"/>
                          <a:cs typeface="Times New Roman"/>
                        </a:rPr>
                        <a:t>5. What do I want the audience to do after listening to my presentation?</a:t>
                      </a:r>
                      <a:endParaRPr lang="en-GB" sz="1100" dirty="0">
                        <a:latin typeface="Calibri"/>
                        <a:ea typeface="Calibri"/>
                        <a:cs typeface="Times New Roman"/>
                      </a:endParaRPr>
                    </a:p>
                  </a:txBody>
                  <a:tcPr marL="68580" marR="68580" marT="0" marB="0"/>
                </a:tc>
                <a:tc>
                  <a:txBody>
                    <a:bodyPr/>
                    <a:lstStyle/>
                    <a:p>
                      <a:pPr marL="342900" lvl="0" indent="-342900" algn="just">
                        <a:lnSpc>
                          <a:spcPct val="115000"/>
                        </a:lnSpc>
                        <a:spcAft>
                          <a:spcPts val="0"/>
                        </a:spcAft>
                        <a:buFont typeface="Symbol"/>
                        <a:buChar char=""/>
                      </a:pPr>
                      <a:r>
                        <a:rPr lang="en-GB" sz="1200" dirty="0">
                          <a:latin typeface="Book Antiqua"/>
                          <a:ea typeface="Calibri"/>
                          <a:cs typeface="Times New Roman"/>
                        </a:rPr>
                        <a:t>to buy my product  </a:t>
                      </a:r>
                      <a:endParaRPr lang="en-GB" sz="1100" dirty="0">
                        <a:latin typeface="Calibri"/>
                        <a:ea typeface="Calibri"/>
                        <a:cs typeface="Times New Roman"/>
                      </a:endParaRPr>
                    </a:p>
                    <a:p>
                      <a:pPr marL="342900" lvl="0" indent="-342900" algn="just">
                        <a:lnSpc>
                          <a:spcPct val="115000"/>
                        </a:lnSpc>
                        <a:spcAft>
                          <a:spcPts val="0"/>
                        </a:spcAft>
                        <a:buFont typeface="Symbol"/>
                        <a:buChar char=""/>
                      </a:pPr>
                      <a:r>
                        <a:rPr lang="en-GB" sz="1200" dirty="0">
                          <a:latin typeface="Book Antiqua"/>
                          <a:ea typeface="Calibri"/>
                          <a:cs typeface="Times New Roman"/>
                        </a:rPr>
                        <a:t>to accept my findings </a:t>
                      </a:r>
                      <a:endParaRPr lang="en-GB" sz="1100" dirty="0">
                        <a:latin typeface="Calibri"/>
                        <a:ea typeface="Calibri"/>
                        <a:cs typeface="Times New Roman"/>
                      </a:endParaRPr>
                    </a:p>
                    <a:p>
                      <a:pPr marL="342900" lvl="0" indent="-342900" algn="just">
                        <a:lnSpc>
                          <a:spcPct val="115000"/>
                        </a:lnSpc>
                        <a:spcAft>
                          <a:spcPts val="0"/>
                        </a:spcAft>
                        <a:buFont typeface="Symbol"/>
                        <a:buChar char=""/>
                      </a:pPr>
                      <a:r>
                        <a:rPr lang="en-GB" sz="1200" dirty="0">
                          <a:latin typeface="Book Antiqua"/>
                          <a:ea typeface="Calibri"/>
                          <a:cs typeface="Times New Roman"/>
                        </a:rPr>
                        <a:t>to join the club </a:t>
                      </a:r>
                      <a:endParaRPr lang="en-GB" sz="1100" dirty="0">
                        <a:latin typeface="Calibri"/>
                        <a:ea typeface="Calibri"/>
                        <a:cs typeface="Times New Roman"/>
                      </a:endParaRPr>
                    </a:p>
                    <a:p>
                      <a:pPr marL="342900" lvl="0" indent="-342900" algn="just">
                        <a:lnSpc>
                          <a:spcPct val="115000"/>
                        </a:lnSpc>
                        <a:spcAft>
                          <a:spcPts val="0"/>
                        </a:spcAft>
                        <a:buFont typeface="Symbol"/>
                        <a:buChar char=""/>
                      </a:pPr>
                      <a:r>
                        <a:rPr lang="en-GB" sz="1200" dirty="0">
                          <a:latin typeface="Book Antiqua"/>
                          <a:ea typeface="Calibri"/>
                          <a:cs typeface="Times New Roman"/>
                        </a:rPr>
                        <a:t>to give me a job</a:t>
                      </a:r>
                      <a:endParaRPr lang="en-GB" sz="1100" dirty="0">
                        <a:latin typeface="Calibri"/>
                        <a:ea typeface="Calibri"/>
                        <a:cs typeface="Times New Roman"/>
                      </a:endParaRPr>
                    </a:p>
                  </a:txBody>
                  <a:tcPr marL="68580" marR="68580" marT="0" marB="0"/>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STRUCTURING YOUR </a:t>
            </a:r>
            <a:r>
              <a:rPr lang="en-GB" dirty="0" smtClean="0"/>
              <a:t>PRESENTATION</a:t>
            </a:r>
            <a:endParaRPr lang="en-GB" dirty="0"/>
          </a:p>
        </p:txBody>
      </p:sp>
      <p:sp>
        <p:nvSpPr>
          <p:cNvPr id="3" name="Content Placeholder 2"/>
          <p:cNvSpPr>
            <a:spLocks noGrp="1"/>
          </p:cNvSpPr>
          <p:nvPr>
            <p:ph idx="1"/>
          </p:nvPr>
        </p:nvSpPr>
        <p:spPr/>
        <p:txBody>
          <a:bodyPr/>
          <a:lstStyle/>
          <a:p>
            <a:r>
              <a:rPr lang="en-GB" dirty="0" smtClean="0"/>
              <a:t>A </a:t>
            </a:r>
            <a:r>
              <a:rPr lang="en-GB" dirty="0" smtClean="0"/>
              <a:t>good oral presentation is well structured; this makes it easier for the listener to follow. </a:t>
            </a:r>
            <a:r>
              <a:rPr lang="en-GB" dirty="0" smtClean="0"/>
              <a:t>Three main parts </a:t>
            </a:r>
            <a:r>
              <a:rPr lang="en-GB" dirty="0" smtClean="0"/>
              <a:t>to a typical presentation: </a:t>
            </a:r>
          </a:p>
          <a:p>
            <a:pPr lvl="1"/>
            <a:r>
              <a:rPr lang="en-GB" dirty="0" smtClean="0">
                <a:solidFill>
                  <a:srgbClr val="FF0000"/>
                </a:solidFill>
              </a:rPr>
              <a:t>The </a:t>
            </a:r>
            <a:r>
              <a:rPr lang="en-GB" dirty="0" smtClean="0">
                <a:solidFill>
                  <a:srgbClr val="FF0000"/>
                </a:solidFill>
              </a:rPr>
              <a:t>beginning,(introduction)</a:t>
            </a:r>
          </a:p>
          <a:p>
            <a:pPr lvl="1"/>
            <a:r>
              <a:rPr lang="en-GB" dirty="0" smtClean="0">
                <a:solidFill>
                  <a:srgbClr val="FF0000"/>
                </a:solidFill>
              </a:rPr>
              <a:t>The </a:t>
            </a:r>
            <a:r>
              <a:rPr lang="en-GB" dirty="0" smtClean="0">
                <a:solidFill>
                  <a:srgbClr val="FF0000"/>
                </a:solidFill>
              </a:rPr>
              <a:t>middle(body)  and </a:t>
            </a:r>
          </a:p>
          <a:p>
            <a:pPr lvl="1"/>
            <a:r>
              <a:rPr lang="en-GB" dirty="0" smtClean="0">
                <a:solidFill>
                  <a:srgbClr val="FF0000"/>
                </a:solidFill>
              </a:rPr>
              <a:t>The </a:t>
            </a:r>
            <a:r>
              <a:rPr lang="en-GB" dirty="0" smtClean="0">
                <a:solidFill>
                  <a:srgbClr val="FF0000"/>
                </a:solidFill>
              </a:rPr>
              <a:t>end (conclusion)</a:t>
            </a:r>
          </a:p>
          <a:p>
            <a:endParaRPr lang="en-GB"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p:txBody>
          <a:bodyPr/>
          <a:lstStyle/>
          <a:p>
            <a:fld id="{8A59234B-50E1-4094-AC63-4B1B4101C85E}" type="slidenum">
              <a:rPr lang="en-US"/>
              <a:pPr/>
              <a:t>28</a:t>
            </a:fld>
            <a:endParaRPr lang="en-US">
              <a:solidFill>
                <a:schemeClr val="bg2"/>
              </a:solidFill>
            </a:endParaRPr>
          </a:p>
        </p:txBody>
      </p:sp>
      <p:sp>
        <p:nvSpPr>
          <p:cNvPr id="76802" name="Rectangle 2"/>
          <p:cNvSpPr>
            <a:spLocks noGrp="1" noChangeArrowheads="1"/>
          </p:cNvSpPr>
          <p:nvPr>
            <p:ph type="title"/>
          </p:nvPr>
        </p:nvSpPr>
        <p:spPr/>
        <p:txBody>
          <a:bodyPr/>
          <a:lstStyle/>
          <a:p>
            <a:r>
              <a:rPr lang="en-US">
                <a:solidFill>
                  <a:srgbClr val="333399"/>
                </a:solidFill>
              </a:rPr>
              <a:t>Outlining Your Presentation</a:t>
            </a:r>
            <a:endParaRPr lang="en-US"/>
          </a:p>
        </p:txBody>
      </p:sp>
      <p:graphicFrame>
        <p:nvGraphicFramePr>
          <p:cNvPr id="76805" name="Object 5"/>
          <p:cNvGraphicFramePr>
            <a:graphicFrameLocks noChangeAspect="1"/>
          </p:cNvGraphicFramePr>
          <p:nvPr/>
        </p:nvGraphicFramePr>
        <p:xfrm>
          <a:off x="1447800" y="1744663"/>
          <a:ext cx="6553200" cy="4587875"/>
        </p:xfrm>
        <a:graphic>
          <a:graphicData uri="http://schemas.openxmlformats.org/presentationml/2006/ole">
            <p:oleObj spid="_x0000_s36866" name="Worksheet" r:id="rId4" imgW="4277134" imgH="3733995" progId="Excel.Sheet.8">
              <p:embed/>
            </p:oleObj>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rgbClr val="FF3399"/>
                </a:solidFill>
              </a:rPr>
              <a:t>1. </a:t>
            </a:r>
            <a:r>
              <a:rPr lang="tr-TR" dirty="0" smtClean="0">
                <a:solidFill>
                  <a:srgbClr val="FF3399"/>
                </a:solidFill>
              </a:rPr>
              <a:t>Introduction</a:t>
            </a:r>
            <a:endParaRPr lang="en-GB" dirty="0"/>
          </a:p>
        </p:txBody>
      </p:sp>
      <p:sp>
        <p:nvSpPr>
          <p:cNvPr id="3" name="Content Placeholder 2"/>
          <p:cNvSpPr>
            <a:spLocks noGrp="1"/>
          </p:cNvSpPr>
          <p:nvPr>
            <p:ph idx="1"/>
          </p:nvPr>
        </p:nvSpPr>
        <p:spPr/>
        <p:txBody>
          <a:bodyPr>
            <a:normAutofit fontScale="85000" lnSpcReduction="20000"/>
          </a:bodyPr>
          <a:lstStyle/>
          <a:p>
            <a:r>
              <a:rPr lang="en-GB" dirty="0" smtClean="0"/>
              <a:t>An introduction is like a road map that tells your audience the direction your presentation will take. </a:t>
            </a:r>
            <a:endParaRPr lang="en-GB" dirty="0" smtClean="0"/>
          </a:p>
          <a:p>
            <a:r>
              <a:rPr lang="en-GB" dirty="0" smtClean="0"/>
              <a:t>State </a:t>
            </a:r>
            <a:r>
              <a:rPr lang="en-GB" dirty="0" smtClean="0"/>
              <a:t>your topic and tell the audience what your • presentation will cover</a:t>
            </a:r>
            <a:r>
              <a:rPr lang="en-GB" dirty="0" smtClean="0"/>
              <a:t>.</a:t>
            </a:r>
          </a:p>
          <a:p>
            <a:r>
              <a:rPr lang="en-GB" dirty="0" smtClean="0"/>
              <a:t>Outline </a:t>
            </a:r>
            <a:r>
              <a:rPr lang="en-GB" dirty="0" smtClean="0"/>
              <a:t>the main </a:t>
            </a:r>
            <a:r>
              <a:rPr lang="en-GB" dirty="0" smtClean="0"/>
              <a:t>points.</a:t>
            </a:r>
          </a:p>
          <a:p>
            <a:r>
              <a:rPr lang="en-GB" dirty="0" smtClean="0"/>
              <a:t>A </a:t>
            </a:r>
            <a:r>
              <a:rPr lang="en-GB" dirty="0" smtClean="0"/>
              <a:t>good introduction will capture an audience’s attention.</a:t>
            </a:r>
            <a:endParaRPr lang="en-GB" dirty="0" smtClean="0"/>
          </a:p>
          <a:p>
            <a:r>
              <a:rPr lang="en-GB" dirty="0" smtClean="0"/>
              <a:t>The introduction serves to:</a:t>
            </a:r>
          </a:p>
          <a:p>
            <a:pPr lvl="1"/>
            <a:r>
              <a:rPr lang="tr-TR" dirty="0" smtClean="0">
                <a:solidFill>
                  <a:schemeClr val="accent4">
                    <a:lumMod val="50000"/>
                    <a:lumOff val="50000"/>
                  </a:schemeClr>
                </a:solidFill>
              </a:rPr>
              <a:t>establish rapport between the speaker and audience</a:t>
            </a:r>
          </a:p>
          <a:p>
            <a:pPr lvl="1"/>
            <a:r>
              <a:rPr lang="tr-TR" dirty="0" smtClean="0">
                <a:solidFill>
                  <a:schemeClr val="accent4">
                    <a:lumMod val="50000"/>
                    <a:lumOff val="50000"/>
                  </a:schemeClr>
                </a:solidFill>
              </a:rPr>
              <a:t>To introduce the topic to the audience</a:t>
            </a:r>
          </a:p>
          <a:p>
            <a:pPr lvl="1"/>
            <a:r>
              <a:rPr lang="tr-TR" dirty="0" smtClean="0">
                <a:solidFill>
                  <a:schemeClr val="accent4">
                    <a:lumMod val="50000"/>
                    <a:lumOff val="50000"/>
                  </a:schemeClr>
                </a:solidFill>
              </a:rPr>
              <a:t>To gain audience interest</a:t>
            </a:r>
          </a:p>
          <a:p>
            <a:endParaRPr lang="en-GB"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The structure of an introduction</a:t>
            </a:r>
            <a:endParaRPr lang="en-GB" dirty="0"/>
          </a:p>
        </p:txBody>
      </p:sp>
      <p:sp>
        <p:nvSpPr>
          <p:cNvPr id="3" name="Content Placeholder 2"/>
          <p:cNvSpPr>
            <a:spLocks noGrp="1"/>
          </p:cNvSpPr>
          <p:nvPr>
            <p:ph idx="1"/>
          </p:nvPr>
        </p:nvSpPr>
        <p:spPr/>
        <p:txBody>
          <a:bodyPr>
            <a:normAutofit fontScale="92500"/>
          </a:bodyPr>
          <a:lstStyle/>
          <a:p>
            <a:pPr>
              <a:buNone/>
            </a:pPr>
            <a:r>
              <a:rPr lang="en-GB" b="1" dirty="0" smtClean="0"/>
              <a:t>1. Get </a:t>
            </a:r>
            <a:r>
              <a:rPr lang="en-GB" b="1" dirty="0" smtClean="0"/>
              <a:t>the audience's attention and signal the </a:t>
            </a:r>
            <a:r>
              <a:rPr lang="en-GB" b="1" dirty="0" smtClean="0"/>
              <a:t>beginning-</a:t>
            </a:r>
            <a:r>
              <a:rPr lang="en-GB" dirty="0" smtClean="0"/>
              <a:t>grab your audience’s attention and set the scene</a:t>
            </a:r>
            <a:r>
              <a:rPr lang="en-GB" dirty="0" smtClean="0"/>
              <a:t>. Use any of the following :</a:t>
            </a:r>
          </a:p>
          <a:p>
            <a:pPr lvl="1"/>
            <a:r>
              <a:rPr lang="tr-TR" dirty="0" smtClean="0">
                <a:solidFill>
                  <a:srgbClr val="FF0000"/>
                </a:solidFill>
              </a:rPr>
              <a:t>A </a:t>
            </a:r>
            <a:r>
              <a:rPr lang="tr-TR" dirty="0" smtClean="0">
                <a:solidFill>
                  <a:srgbClr val="FF0000"/>
                </a:solidFill>
              </a:rPr>
              <a:t>famous or intriguing quotation</a:t>
            </a:r>
          </a:p>
          <a:p>
            <a:pPr lvl="1"/>
            <a:r>
              <a:rPr lang="tr-TR" dirty="0" smtClean="0">
                <a:solidFill>
                  <a:srgbClr val="FF0000"/>
                </a:solidFill>
              </a:rPr>
              <a:t>A question</a:t>
            </a:r>
          </a:p>
          <a:p>
            <a:pPr lvl="1"/>
            <a:r>
              <a:rPr lang="tr-TR" dirty="0" smtClean="0">
                <a:solidFill>
                  <a:srgbClr val="FF0000"/>
                </a:solidFill>
              </a:rPr>
              <a:t>A stunning statement </a:t>
            </a:r>
          </a:p>
          <a:p>
            <a:pPr lvl="1"/>
            <a:r>
              <a:rPr lang="tr-TR" dirty="0" smtClean="0">
                <a:solidFill>
                  <a:srgbClr val="FF0000"/>
                </a:solidFill>
              </a:rPr>
              <a:t>A story</a:t>
            </a:r>
          </a:p>
          <a:p>
            <a:pPr lvl="1"/>
            <a:r>
              <a:rPr lang="tr-TR" dirty="0" smtClean="0">
                <a:solidFill>
                  <a:srgbClr val="FF0000"/>
                </a:solidFill>
              </a:rPr>
              <a:t>A joke or anecdote</a:t>
            </a:r>
          </a:p>
          <a:p>
            <a:pPr lvl="1"/>
            <a:r>
              <a:rPr lang="tr-TR" dirty="0" smtClean="0">
                <a:solidFill>
                  <a:srgbClr val="FF0000"/>
                </a:solidFill>
              </a:rPr>
              <a:t>An expression of gratitude</a:t>
            </a:r>
          </a:p>
          <a:p>
            <a:endParaRPr lang="en-GB"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AutoShape 2"/>
          <p:cNvSpPr>
            <a:spLocks noGrp="1" noChangeArrowheads="1"/>
          </p:cNvSpPr>
          <p:nvPr>
            <p:ph type="title"/>
          </p:nvPr>
        </p:nvSpPr>
        <p:spPr/>
        <p:txBody>
          <a:bodyPr/>
          <a:lstStyle/>
          <a:p>
            <a:pPr lvl="0"/>
            <a:r>
              <a:rPr lang="en-GB" dirty="0" smtClean="0"/>
              <a:t>2. Greet the audience</a:t>
            </a:r>
            <a:endParaRPr lang="tr-TR" dirty="0" smtClean="0"/>
          </a:p>
        </p:txBody>
      </p:sp>
      <p:sp>
        <p:nvSpPr>
          <p:cNvPr id="34819" name="Rectangle 3"/>
          <p:cNvSpPr>
            <a:spLocks noGrp="1" noChangeArrowheads="1"/>
          </p:cNvSpPr>
          <p:nvPr>
            <p:ph type="body" idx="1"/>
          </p:nvPr>
        </p:nvSpPr>
        <p:spPr/>
        <p:txBody>
          <a:bodyPr>
            <a:normAutofit fontScale="92500" lnSpcReduction="10000"/>
          </a:bodyPr>
          <a:lstStyle/>
          <a:p>
            <a:r>
              <a:rPr lang="en-GB" dirty="0" smtClean="0"/>
              <a:t>It </a:t>
            </a:r>
            <a:r>
              <a:rPr lang="en-GB" dirty="0" smtClean="0"/>
              <a:t>is important to greet the audience by saying something like: </a:t>
            </a:r>
          </a:p>
          <a:p>
            <a:r>
              <a:rPr lang="en-GB" i="1" dirty="0" smtClean="0"/>
              <a:t>Hello ladies and gentlemen. </a:t>
            </a:r>
            <a:endParaRPr lang="en-GB" dirty="0" smtClean="0"/>
          </a:p>
          <a:p>
            <a:r>
              <a:rPr lang="en-GB" i="1" dirty="0" smtClean="0"/>
              <a:t>Good morning members of the jury. </a:t>
            </a:r>
            <a:endParaRPr lang="en-GB" dirty="0" smtClean="0"/>
          </a:p>
          <a:p>
            <a:r>
              <a:rPr lang="en-GB" i="1" dirty="0" smtClean="0"/>
              <a:t>Good afternoon esteemed guests, </a:t>
            </a:r>
            <a:endParaRPr lang="en-GB" dirty="0" smtClean="0"/>
          </a:p>
          <a:p>
            <a:r>
              <a:rPr lang="en-GB" i="1" dirty="0" smtClean="0"/>
              <a:t>Good evening members of the board Fellow colleagues </a:t>
            </a:r>
            <a:endParaRPr lang="en-GB" dirty="0" smtClean="0"/>
          </a:p>
          <a:p>
            <a:r>
              <a:rPr lang="en-GB" i="1" dirty="0" smtClean="0"/>
              <a:t>Mr. Chairman/Chairwoman Thank you for your kind introduction</a:t>
            </a:r>
            <a:endParaRPr lang="en-GB" dirty="0" smtClean="0"/>
          </a:p>
          <a:p>
            <a:pPr eaLnBrk="1" hangingPunct="1">
              <a:buFont typeface="Wingdings" pitchFamily="2" charset="2"/>
              <a:buNone/>
            </a:pPr>
            <a:endParaRPr lang="tr-TR" dirty="0" smtClean="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dirty="0" smtClean="0"/>
              <a:t>3. Introduce </a:t>
            </a:r>
            <a:r>
              <a:rPr lang="en-GB" dirty="0" smtClean="0"/>
              <a:t>yourself, (name, position, and company) </a:t>
            </a:r>
            <a:endParaRPr lang="en-GB" dirty="0"/>
          </a:p>
        </p:txBody>
      </p:sp>
      <p:sp>
        <p:nvSpPr>
          <p:cNvPr id="3" name="Content Placeholder 2"/>
          <p:cNvSpPr>
            <a:spLocks noGrp="1"/>
          </p:cNvSpPr>
          <p:nvPr>
            <p:ph idx="1"/>
          </p:nvPr>
        </p:nvSpPr>
        <p:spPr/>
        <p:txBody>
          <a:bodyPr>
            <a:normAutofit fontScale="77500" lnSpcReduction="20000"/>
          </a:bodyPr>
          <a:lstStyle/>
          <a:p>
            <a:r>
              <a:rPr lang="en-GB" dirty="0" smtClean="0"/>
              <a:t>This helps to </a:t>
            </a:r>
            <a:r>
              <a:rPr lang="en-GB" dirty="0" smtClean="0"/>
              <a:t>establish your authority on the subject and to allow the audience to see your point of view on the </a:t>
            </a:r>
            <a:r>
              <a:rPr lang="en-GB" dirty="0" smtClean="0"/>
              <a:t>subject </a:t>
            </a:r>
            <a:r>
              <a:rPr lang="en-GB" dirty="0" err="1" smtClean="0"/>
              <a:t>Eg</a:t>
            </a:r>
            <a:endParaRPr lang="en-GB" dirty="0" smtClean="0"/>
          </a:p>
          <a:p>
            <a:r>
              <a:rPr lang="en-GB" i="1" dirty="0" smtClean="0"/>
              <a:t>Good </a:t>
            </a:r>
            <a:r>
              <a:rPr lang="en-GB" i="1" dirty="0" smtClean="0"/>
              <a:t>morning everyone, I'd like to start by introducing myself. My name is</a:t>
            </a:r>
            <a:r>
              <a:rPr lang="en-GB" i="1" dirty="0" smtClean="0"/>
              <a:t>...  </a:t>
            </a:r>
            <a:endParaRPr lang="en-GB" dirty="0" smtClean="0"/>
          </a:p>
          <a:p>
            <a:pPr lvl="1"/>
            <a:r>
              <a:rPr lang="en-GB" i="1" dirty="0" smtClean="0">
                <a:solidFill>
                  <a:srgbClr val="FF0000"/>
                </a:solidFill>
              </a:rPr>
              <a:t>I am a student at the Karatina University. </a:t>
            </a:r>
            <a:endParaRPr lang="en-GB" dirty="0" smtClean="0">
              <a:solidFill>
                <a:srgbClr val="FF0000"/>
              </a:solidFill>
            </a:endParaRPr>
          </a:p>
          <a:p>
            <a:pPr lvl="1"/>
            <a:r>
              <a:rPr lang="en-GB" i="1" dirty="0" smtClean="0">
                <a:solidFill>
                  <a:srgbClr val="FF0000"/>
                </a:solidFill>
              </a:rPr>
              <a:t>I am a doctoral candidate, </a:t>
            </a:r>
            <a:endParaRPr lang="en-GB" dirty="0" smtClean="0">
              <a:solidFill>
                <a:srgbClr val="FF0000"/>
              </a:solidFill>
            </a:endParaRPr>
          </a:p>
          <a:p>
            <a:pPr lvl="1"/>
            <a:r>
              <a:rPr lang="en-GB" i="1" dirty="0" smtClean="0">
                <a:solidFill>
                  <a:srgbClr val="FF0000"/>
                </a:solidFill>
              </a:rPr>
              <a:t>I am X. Y. from 3 Com</a:t>
            </a:r>
            <a:r>
              <a:rPr lang="en-GB" i="1" dirty="0" smtClean="0">
                <a:solidFill>
                  <a:srgbClr val="FF0000"/>
                </a:solidFill>
              </a:rPr>
              <a:t>.</a:t>
            </a:r>
          </a:p>
          <a:p>
            <a:pPr lvl="1"/>
            <a:r>
              <a:rPr lang="en-GB" i="1" dirty="0" smtClean="0">
                <a:solidFill>
                  <a:srgbClr val="FF0000"/>
                </a:solidFill>
              </a:rPr>
              <a:t>I'm the manager of… </a:t>
            </a:r>
            <a:endParaRPr lang="en-GB" dirty="0" smtClean="0">
              <a:solidFill>
                <a:srgbClr val="FF0000"/>
              </a:solidFill>
            </a:endParaRPr>
          </a:p>
          <a:p>
            <a:pPr lvl="1"/>
            <a:r>
              <a:rPr lang="en-GB" i="1" dirty="0" smtClean="0">
                <a:solidFill>
                  <a:srgbClr val="FF0000"/>
                </a:solidFill>
              </a:rPr>
              <a:t>I am a researcher from … </a:t>
            </a:r>
            <a:endParaRPr lang="en-GB" dirty="0" smtClean="0">
              <a:solidFill>
                <a:srgbClr val="FF0000"/>
              </a:solidFill>
            </a:endParaRPr>
          </a:p>
          <a:p>
            <a:pPr lvl="1"/>
            <a:r>
              <a:rPr lang="en-GB" i="1" dirty="0" smtClean="0">
                <a:solidFill>
                  <a:srgbClr val="FF0000"/>
                </a:solidFill>
              </a:rPr>
              <a:t>I've been working on the subject now for X years... </a:t>
            </a:r>
            <a:endParaRPr lang="en-GB" dirty="0" smtClean="0">
              <a:solidFill>
                <a:srgbClr val="FF0000"/>
              </a:solidFill>
            </a:endParaRPr>
          </a:p>
          <a:p>
            <a:pPr lvl="1"/>
            <a:r>
              <a:rPr lang="en-GB" i="1" dirty="0" smtClean="0">
                <a:solidFill>
                  <a:srgbClr val="FF0000"/>
                </a:solidFill>
              </a:rPr>
              <a:t>I've had wide experience in the field of ... </a:t>
            </a:r>
            <a:r>
              <a:rPr lang="en-GB" i="1" dirty="0" smtClean="0">
                <a:solidFill>
                  <a:srgbClr val="FF0000"/>
                </a:solidFill>
              </a:rPr>
              <a:t> </a:t>
            </a:r>
            <a:endParaRPr lang="en-GB" dirty="0">
              <a:solidFill>
                <a:srgbClr val="FF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77500" lnSpcReduction="20000"/>
          </a:bodyPr>
          <a:lstStyle/>
          <a:p>
            <a:r>
              <a:rPr lang="en-GB" i="1" dirty="0" smtClean="0"/>
              <a:t>Good morning, my name is Bruno  Spencer. I am a post graduate student at Karatina University in the department of Human Resource management. I would like to talk to you today about some of my findings in a study I did on</a:t>
            </a:r>
            <a:r>
              <a:rPr lang="en-GB" i="1" dirty="0" smtClean="0"/>
              <a:t>…</a:t>
            </a:r>
          </a:p>
          <a:p>
            <a:endParaRPr lang="en-GB" i="1" dirty="0" smtClean="0"/>
          </a:p>
          <a:p>
            <a:r>
              <a:rPr lang="en-GB" dirty="0" smtClean="0"/>
              <a:t>NOTE: </a:t>
            </a:r>
            <a:r>
              <a:rPr lang="en-GB" dirty="0" smtClean="0"/>
              <a:t>Sometimes, especially when invited to speak, the host introduces the guest, gives the same information as above and then gives the floor to the guest speaker.  </a:t>
            </a:r>
            <a:r>
              <a:rPr lang="en-GB" dirty="0" err="1" smtClean="0"/>
              <a:t>Eg</a:t>
            </a:r>
            <a:r>
              <a:rPr lang="en-GB" dirty="0" smtClean="0"/>
              <a:t> the host may say: I am very pleased and proud to introduce …who is…. He/she is known for Now I'll turn the floor over to today's speaker. (to take the floor, to have the floor, to give the floor to someone.)</a:t>
            </a:r>
            <a:r>
              <a:rPr lang="en-GB" b="1" dirty="0" smtClean="0"/>
              <a:t> </a:t>
            </a:r>
            <a:endParaRPr lang="en-GB" dirty="0" smtClean="0"/>
          </a:p>
          <a:p>
            <a:endParaRPr lang="en-GB" dirty="0" smtClean="0"/>
          </a:p>
          <a:p>
            <a:endParaRPr lang="en-GB"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dirty="0" smtClean="0"/>
              <a:t>4.Introduce  the subject </a:t>
            </a:r>
            <a:endParaRPr lang="en-GB" dirty="0"/>
          </a:p>
        </p:txBody>
      </p:sp>
      <p:sp>
        <p:nvSpPr>
          <p:cNvPr id="3" name="Content Placeholder 2"/>
          <p:cNvSpPr>
            <a:spLocks noGrp="1"/>
          </p:cNvSpPr>
          <p:nvPr>
            <p:ph idx="1"/>
          </p:nvPr>
        </p:nvSpPr>
        <p:spPr/>
        <p:txBody>
          <a:bodyPr/>
          <a:lstStyle/>
          <a:p>
            <a:r>
              <a:rPr lang="en-GB" dirty="0" smtClean="0"/>
              <a:t>State your topic </a:t>
            </a:r>
            <a:r>
              <a:rPr lang="en-GB" dirty="0" smtClean="0"/>
              <a:t>clearly</a:t>
            </a:r>
            <a:r>
              <a:rPr lang="en-GB" dirty="0" smtClean="0"/>
              <a:t> </a:t>
            </a:r>
            <a:r>
              <a:rPr lang="en-GB" dirty="0" err="1" smtClean="0"/>
              <a:t>eg</a:t>
            </a:r>
            <a:r>
              <a:rPr lang="en-GB" dirty="0" smtClean="0"/>
              <a:t> </a:t>
            </a:r>
            <a:r>
              <a:rPr lang="en-GB" dirty="0" smtClean="0"/>
              <a:t>‘I’m </a:t>
            </a:r>
            <a:r>
              <a:rPr lang="en-GB" dirty="0" smtClean="0"/>
              <a:t>going to talk about</a:t>
            </a:r>
            <a:r>
              <a:rPr lang="en-GB" dirty="0" smtClean="0"/>
              <a:t>...’‘</a:t>
            </a:r>
            <a:r>
              <a:rPr lang="en-GB" i="1" dirty="0" smtClean="0"/>
              <a:t>Today </a:t>
            </a:r>
            <a:r>
              <a:rPr lang="en-GB" i="1" dirty="0" smtClean="0"/>
              <a:t>I'm going to talk about... </a:t>
            </a:r>
            <a:r>
              <a:rPr lang="en-GB" i="1" dirty="0" smtClean="0"/>
              <a:t>The </a:t>
            </a:r>
            <a:r>
              <a:rPr lang="en-GB" i="1" dirty="0" smtClean="0"/>
              <a:t>subject of my presentation is... The theme of my talk is... I've </a:t>
            </a:r>
            <a:r>
              <a:rPr lang="en-GB" i="1" dirty="0" smtClean="0"/>
              <a:t>been asked </a:t>
            </a:r>
            <a:r>
              <a:rPr lang="en-GB" i="1" dirty="0" smtClean="0"/>
              <a:t>to give you an overview of...</a:t>
            </a:r>
            <a:r>
              <a:rPr lang="en-GB" dirty="0" smtClean="0"/>
              <a:t> </a:t>
            </a:r>
            <a:endParaRPr lang="en-GB" dirty="0" smtClean="0"/>
          </a:p>
          <a:p>
            <a:r>
              <a:rPr lang="en-GB" dirty="0" smtClean="0"/>
              <a:t>Provide an outline of the main </a:t>
            </a:r>
            <a:r>
              <a:rPr lang="en-GB" dirty="0" smtClean="0"/>
              <a:t>points.</a:t>
            </a:r>
          </a:p>
          <a:p>
            <a:r>
              <a:rPr lang="en-GB" dirty="0" smtClean="0"/>
              <a:t>Provide </a:t>
            </a:r>
            <a:r>
              <a:rPr lang="en-GB" dirty="0" smtClean="0"/>
              <a:t>any necessary background or </a:t>
            </a:r>
            <a:r>
              <a:rPr lang="en-GB" dirty="0" smtClean="0"/>
              <a:t> </a:t>
            </a:r>
            <a:r>
              <a:rPr lang="en-GB" dirty="0" smtClean="0"/>
              <a:t>definition of terms.</a:t>
            </a:r>
          </a:p>
          <a:p>
            <a:endParaRPr lang="en-GB"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normAutofit lnSpcReduction="10000"/>
          </a:bodyPr>
          <a:lstStyle/>
          <a:p>
            <a:r>
              <a:rPr lang="en-GB" dirty="0" smtClean="0"/>
              <a:t>It is useful </a:t>
            </a:r>
            <a:r>
              <a:rPr lang="en-GB" dirty="0" smtClean="0"/>
              <a:t>to define the scope of your talk and  </a:t>
            </a:r>
            <a:r>
              <a:rPr lang="en-GB" dirty="0" smtClean="0"/>
              <a:t>give the listeners some idea of how long you will speak so as to maintain their attention better. </a:t>
            </a:r>
          </a:p>
          <a:p>
            <a:r>
              <a:rPr lang="en-GB" i="1" dirty="0" err="1" smtClean="0"/>
              <a:t>Eg</a:t>
            </a:r>
            <a:r>
              <a:rPr lang="en-GB" i="1" dirty="0" smtClean="0"/>
              <a:t> I</a:t>
            </a:r>
            <a:r>
              <a:rPr lang="en-GB" dirty="0" smtClean="0"/>
              <a:t> </a:t>
            </a:r>
            <a:r>
              <a:rPr lang="en-GB" i="1" dirty="0" smtClean="0"/>
              <a:t>will not speak about... </a:t>
            </a:r>
            <a:endParaRPr lang="en-GB" dirty="0" smtClean="0"/>
          </a:p>
          <a:p>
            <a:r>
              <a:rPr lang="en-GB" i="1" dirty="0" smtClean="0"/>
              <a:t>I have limited my speech to....</a:t>
            </a:r>
            <a:endParaRPr lang="en-GB" dirty="0" smtClean="0"/>
          </a:p>
          <a:p>
            <a:r>
              <a:rPr lang="en-GB" i="1" dirty="0" smtClean="0"/>
              <a:t>My talk will last about 15 minutes</a:t>
            </a:r>
            <a:endParaRPr lang="en-GB" dirty="0" smtClean="0"/>
          </a:p>
          <a:p>
            <a:r>
              <a:rPr lang="en-GB" i="1" dirty="0" smtClean="0"/>
              <a:t>I will speak for 15 minutes</a:t>
            </a:r>
            <a:endParaRPr lang="en-GB"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lnSpcReduction="10000"/>
          </a:bodyPr>
          <a:lstStyle/>
          <a:p>
            <a:r>
              <a:rPr lang="en-GB" dirty="0" smtClean="0"/>
              <a:t>give </a:t>
            </a:r>
            <a:r>
              <a:rPr lang="en-GB" dirty="0" smtClean="0"/>
              <a:t>acknowledgements </a:t>
            </a:r>
            <a:r>
              <a:rPr lang="en-GB" dirty="0" smtClean="0"/>
              <a:t>if necessary. </a:t>
            </a:r>
            <a:r>
              <a:rPr lang="en-GB" dirty="0" smtClean="0"/>
              <a:t>If you have been sponsored, supported or encouraged by a particular firm, organization, professor, etc. you may want to recognise their contribution. </a:t>
            </a:r>
            <a:r>
              <a:rPr lang="en-GB" dirty="0" smtClean="0"/>
              <a:t>At some point you should ask a question or somehow try to determine the attitude and knowledge of the audience. </a:t>
            </a:r>
            <a:r>
              <a:rPr lang="en-GB" dirty="0" err="1" smtClean="0"/>
              <a:t>Eg</a:t>
            </a:r>
            <a:r>
              <a:rPr lang="en-GB" dirty="0" smtClean="0"/>
              <a:t>, Have you ever heard of/seen X?  or how many of you have heard or seen X? </a:t>
            </a:r>
          </a:p>
          <a:p>
            <a:endParaRPr lang="en-GB"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dirty="0" smtClean="0"/>
              <a:t>5</a:t>
            </a:r>
            <a:r>
              <a:rPr lang="en-GB" dirty="0" smtClean="0"/>
              <a:t>. </a:t>
            </a:r>
            <a:r>
              <a:rPr lang="en-GB" dirty="0" smtClean="0"/>
              <a:t>Give your objectives (purpose, aim, goals) </a:t>
            </a:r>
            <a:endParaRPr lang="en-GB" dirty="0"/>
          </a:p>
        </p:txBody>
      </p:sp>
      <p:sp>
        <p:nvSpPr>
          <p:cNvPr id="3" name="Content Placeholder 2"/>
          <p:cNvSpPr>
            <a:spLocks noGrp="1"/>
          </p:cNvSpPr>
          <p:nvPr>
            <p:ph idx="1"/>
          </p:nvPr>
        </p:nvSpPr>
        <p:spPr/>
        <p:txBody>
          <a:bodyPr>
            <a:normAutofit fontScale="92500" lnSpcReduction="20000"/>
          </a:bodyPr>
          <a:lstStyle/>
          <a:p>
            <a:r>
              <a:rPr lang="en-GB" dirty="0" smtClean="0"/>
              <a:t>Give the general and </a:t>
            </a:r>
            <a:r>
              <a:rPr lang="en-GB" dirty="0" smtClean="0"/>
              <a:t>specific</a:t>
            </a:r>
            <a:r>
              <a:rPr lang="en-GB" dirty="0" smtClean="0"/>
              <a:t> purpose of your talk</a:t>
            </a:r>
            <a:endParaRPr lang="en-GB" dirty="0" smtClean="0"/>
          </a:p>
          <a:p>
            <a:r>
              <a:rPr lang="en-GB" dirty="0" smtClean="0"/>
              <a:t>The general </a:t>
            </a:r>
            <a:r>
              <a:rPr lang="en-GB" dirty="0" smtClean="0"/>
              <a:t>purpose of this lecture is to give you an overview of how to plan and deliver effective presentation</a:t>
            </a:r>
          </a:p>
          <a:p>
            <a:r>
              <a:rPr lang="en-GB" dirty="0" smtClean="0"/>
              <a:t>Specifically by the end of the lecture you should be able to:</a:t>
            </a:r>
          </a:p>
          <a:p>
            <a:pPr lvl="1">
              <a:buFont typeface="Arial" pitchFamily="34" charset="0"/>
              <a:buChar char="•"/>
            </a:pPr>
            <a:r>
              <a:rPr lang="en-GB" dirty="0" smtClean="0"/>
              <a:t>Prepare effectively for any presentation</a:t>
            </a:r>
          </a:p>
          <a:p>
            <a:pPr lvl="1">
              <a:buFont typeface="Arial" pitchFamily="34" charset="0"/>
              <a:buChar char="•"/>
            </a:pPr>
            <a:r>
              <a:rPr lang="en-GB" dirty="0" smtClean="0"/>
              <a:t>Design and deliver a successful  presentation on any topic  </a:t>
            </a:r>
          </a:p>
          <a:p>
            <a:pPr lvl="1">
              <a:buFont typeface="Arial" pitchFamily="34" charset="0"/>
              <a:buChar char="•"/>
            </a:pPr>
            <a:endParaRPr lang="en-GB" dirty="0" smtClean="0"/>
          </a:p>
          <a:p>
            <a:endParaRPr lang="en-GB"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dirty="0" smtClean="0"/>
              <a:t>6.Announce </a:t>
            </a:r>
            <a:r>
              <a:rPr lang="en-GB" dirty="0" smtClean="0"/>
              <a:t>your outline</a:t>
            </a:r>
            <a:r>
              <a:rPr lang="en-GB" dirty="0" smtClean="0"/>
              <a:t>.</a:t>
            </a:r>
            <a:endParaRPr lang="en-GB" dirty="0"/>
          </a:p>
        </p:txBody>
      </p:sp>
      <p:sp>
        <p:nvSpPr>
          <p:cNvPr id="3" name="Content Placeholder 2"/>
          <p:cNvSpPr>
            <a:spLocks noGrp="1"/>
          </p:cNvSpPr>
          <p:nvPr>
            <p:ph idx="1"/>
          </p:nvPr>
        </p:nvSpPr>
        <p:spPr/>
        <p:txBody>
          <a:bodyPr/>
          <a:lstStyle/>
          <a:p>
            <a:r>
              <a:rPr lang="en-GB" dirty="0" err="1" smtClean="0"/>
              <a:t>Eg</a:t>
            </a:r>
            <a:r>
              <a:rPr lang="en-GB" dirty="0" smtClean="0"/>
              <a:t> </a:t>
            </a:r>
            <a:r>
              <a:rPr lang="en-GB" i="1" dirty="0" smtClean="0"/>
              <a:t>I have broken my speech down/up into X parts. </a:t>
            </a:r>
            <a:endParaRPr lang="en-GB" dirty="0" smtClean="0"/>
          </a:p>
          <a:p>
            <a:r>
              <a:rPr lang="en-GB" i="1" dirty="0" smtClean="0"/>
              <a:t>I have divided my presentation (up) into Y parts.</a:t>
            </a:r>
            <a:endParaRPr lang="en-GB" dirty="0" smtClean="0"/>
          </a:p>
          <a:p>
            <a:r>
              <a:rPr lang="en-GB" i="1" dirty="0" smtClean="0"/>
              <a:t>In the first part I  will give a few basic definitions. </a:t>
            </a:r>
            <a:endParaRPr lang="en-GB" dirty="0" smtClean="0"/>
          </a:p>
          <a:p>
            <a:r>
              <a:rPr lang="en-GB" i="1" dirty="0" smtClean="0"/>
              <a:t>In the next section I will explain...</a:t>
            </a:r>
            <a:endParaRPr lang="en-GB" dirty="0" smtClean="0"/>
          </a:p>
          <a:p>
            <a:r>
              <a:rPr lang="en-GB" i="1" dirty="0" smtClean="0"/>
              <a:t>In part three, I am going to show... </a:t>
            </a:r>
            <a:endParaRPr lang="en-GB" dirty="0" smtClean="0"/>
          </a:p>
          <a:p>
            <a:r>
              <a:rPr lang="en-GB" i="1" dirty="0" smtClean="0"/>
              <a:t>In the last part I would like/want to give a practical example...</a:t>
            </a:r>
            <a:endParaRPr lang="en-GB" dirty="0" smtClean="0"/>
          </a:p>
          <a:p>
            <a:endParaRPr lang="en-GB"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dirty="0" smtClean="0"/>
              <a:t>7.Questions </a:t>
            </a:r>
            <a:r>
              <a:rPr lang="en-GB" dirty="0" smtClean="0"/>
              <a:t>and comments from the audience. </a:t>
            </a:r>
            <a:endParaRPr lang="en-GB" dirty="0"/>
          </a:p>
        </p:txBody>
      </p:sp>
      <p:sp>
        <p:nvSpPr>
          <p:cNvPr id="3" name="Content Placeholder 2"/>
          <p:cNvSpPr>
            <a:spLocks noGrp="1"/>
          </p:cNvSpPr>
          <p:nvPr>
            <p:ph idx="1"/>
          </p:nvPr>
        </p:nvSpPr>
        <p:spPr/>
        <p:txBody>
          <a:bodyPr>
            <a:normAutofit fontScale="92500" lnSpcReduction="20000"/>
          </a:bodyPr>
          <a:lstStyle/>
          <a:p>
            <a:r>
              <a:rPr lang="en-GB" dirty="0" smtClean="0"/>
              <a:t>Let </a:t>
            </a:r>
            <a:r>
              <a:rPr lang="en-GB" dirty="0" smtClean="0"/>
              <a:t>the audience know when and whether they may ask questions. </a:t>
            </a:r>
            <a:r>
              <a:rPr lang="en-GB" dirty="0" err="1" smtClean="0"/>
              <a:t>Eg</a:t>
            </a:r>
            <a:endParaRPr lang="en-GB" dirty="0" smtClean="0"/>
          </a:p>
          <a:p>
            <a:r>
              <a:rPr lang="en-GB" i="1" dirty="0" smtClean="0"/>
              <a:t> I'd ask you to save your questions for the end. </a:t>
            </a:r>
            <a:endParaRPr lang="en-GB" dirty="0" smtClean="0"/>
          </a:p>
          <a:p>
            <a:r>
              <a:rPr lang="en-GB" i="1" dirty="0" smtClean="0"/>
              <a:t>There will be plenty of time at the end of my speech for a discussion. </a:t>
            </a:r>
            <a:endParaRPr lang="en-GB" dirty="0" smtClean="0"/>
          </a:p>
          <a:p>
            <a:r>
              <a:rPr lang="en-GB" i="1" dirty="0" smtClean="0"/>
              <a:t>You may interrupt me at any moment to ask questions or make comments. </a:t>
            </a:r>
            <a:endParaRPr lang="en-GB" dirty="0" smtClean="0"/>
          </a:p>
          <a:p>
            <a:r>
              <a:rPr lang="en-GB" i="1" dirty="0" smtClean="0"/>
              <a:t>Please stop me if you don't understand any thing I say but could you keep any specific questions until after I've finished.</a:t>
            </a:r>
            <a:endParaRPr lang="en-GB" dirty="0" smtClean="0"/>
          </a:p>
          <a:p>
            <a:endParaRPr lang="en-GB"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rgbClr val="FF0000"/>
                </a:solidFill>
              </a:rPr>
              <a:t>2. THE </a:t>
            </a:r>
            <a:r>
              <a:rPr lang="en-GB" dirty="0" smtClean="0">
                <a:solidFill>
                  <a:srgbClr val="FF0000"/>
                </a:solidFill>
              </a:rPr>
              <a:t>MIDDLE (The Main Body</a:t>
            </a:r>
            <a:r>
              <a:rPr lang="en-GB" dirty="0" smtClean="0">
                <a:solidFill>
                  <a:srgbClr val="FF0000"/>
                </a:solidFill>
              </a:rPr>
              <a:t>)</a:t>
            </a:r>
            <a:endParaRPr lang="en-GB" dirty="0">
              <a:solidFill>
                <a:srgbClr val="FF0000"/>
              </a:solidFill>
            </a:endParaRPr>
          </a:p>
        </p:txBody>
      </p:sp>
      <p:sp>
        <p:nvSpPr>
          <p:cNvPr id="3" name="Content Placeholder 2"/>
          <p:cNvSpPr>
            <a:spLocks noGrp="1"/>
          </p:cNvSpPr>
          <p:nvPr>
            <p:ph idx="1"/>
          </p:nvPr>
        </p:nvSpPr>
        <p:spPr>
          <a:xfrm>
            <a:off x="838200" y="2362200"/>
            <a:ext cx="7693025" cy="4495800"/>
          </a:xfrm>
        </p:spPr>
        <p:txBody>
          <a:bodyPr anchor="t" anchorCtr="0">
            <a:noAutofit/>
          </a:bodyPr>
          <a:lstStyle/>
          <a:p>
            <a:r>
              <a:rPr lang="en-US" altLang="el-GR" sz="2000" dirty="0" smtClean="0"/>
              <a:t>The </a:t>
            </a:r>
            <a:r>
              <a:rPr lang="en-US" altLang="el-GR" sz="2000" dirty="0" smtClean="0"/>
              <a:t>main part of the presentation is the </a:t>
            </a:r>
            <a:r>
              <a:rPr lang="en-US" altLang="el-GR" sz="2000" dirty="0" smtClean="0"/>
              <a:t>body; it </a:t>
            </a:r>
            <a:r>
              <a:rPr lang="en-GB" sz="2000" dirty="0" smtClean="0"/>
              <a:t>is </a:t>
            </a:r>
            <a:r>
              <a:rPr lang="en-GB" sz="2000" dirty="0" smtClean="0"/>
              <a:t>where you develop the main points and present examples and evidence. </a:t>
            </a:r>
          </a:p>
          <a:p>
            <a:r>
              <a:rPr lang="en-GB" sz="2000" dirty="0" smtClean="0"/>
              <a:t>Always make a transition between the introduction and the body.</a:t>
            </a:r>
            <a:r>
              <a:rPr lang="en-US" altLang="el-GR" sz="2000" dirty="0" smtClean="0"/>
              <a:t> </a:t>
            </a:r>
            <a:endParaRPr lang="en-US" altLang="el-GR" sz="2000" dirty="0" smtClean="0"/>
          </a:p>
          <a:p>
            <a:pPr>
              <a:buNone/>
            </a:pPr>
            <a:r>
              <a:rPr lang="en-GB" sz="2000" b="1" dirty="0" smtClean="0"/>
              <a:t>Think about:</a:t>
            </a:r>
          </a:p>
          <a:p>
            <a:r>
              <a:rPr lang="en-GB" sz="2000" b="1" dirty="0" smtClean="0"/>
              <a:t>The Content-</a:t>
            </a:r>
            <a:r>
              <a:rPr lang="en-GB" sz="2000" dirty="0" smtClean="0"/>
              <a:t>What information should you give in your speech? All your information should support your purpose. </a:t>
            </a:r>
          </a:p>
          <a:p>
            <a:r>
              <a:rPr lang="en-GB" sz="2000" b="1" dirty="0" smtClean="0"/>
              <a:t>Quantity-</a:t>
            </a:r>
            <a:r>
              <a:rPr lang="en-GB" sz="2000" dirty="0" smtClean="0"/>
              <a:t>How much information should you give? Enough to clearly develop your ideas. Limit the content, as time is usually precious!</a:t>
            </a:r>
          </a:p>
          <a:p>
            <a:r>
              <a:rPr lang="en-GB" sz="2000" b="1" dirty="0" smtClean="0"/>
              <a:t>Sequencing your ideas- how do you </a:t>
            </a:r>
            <a:r>
              <a:rPr lang="en-GB" sz="2000" dirty="0" smtClean="0"/>
              <a:t>organizing your ideas? </a:t>
            </a:r>
            <a:r>
              <a:rPr lang="tr-TR" sz="2000" dirty="0" smtClean="0"/>
              <a:t>Can be: </a:t>
            </a:r>
            <a:r>
              <a:rPr lang="tr-TR" sz="2000" i="1" dirty="0" smtClean="0"/>
              <a:t>chronological, causal or </a:t>
            </a:r>
            <a:r>
              <a:rPr lang="en-GB" sz="2000" i="1" dirty="0" smtClean="0"/>
              <a:t> </a:t>
            </a:r>
            <a:r>
              <a:rPr lang="tr-TR" sz="2000" i="1" dirty="0" smtClean="0"/>
              <a:t>problem-solving</a:t>
            </a:r>
          </a:p>
          <a:p>
            <a:endParaRPr lang="en-GB" sz="1600" dirty="0" smtClean="0"/>
          </a:p>
          <a:p>
            <a:pPr>
              <a:buNone/>
            </a:pPr>
            <a:endParaRPr lang="en-US" altLang="el-GR" sz="1600" dirty="0" smtClean="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838200" y="2362200"/>
            <a:ext cx="7693025" cy="4163144"/>
          </a:xfrm>
        </p:spPr>
        <p:txBody>
          <a:bodyPr>
            <a:normAutofit fontScale="32500" lnSpcReduction="20000"/>
          </a:bodyPr>
          <a:lstStyle/>
          <a:p>
            <a:r>
              <a:rPr lang="en-GB" sz="5500" b="1" dirty="0" smtClean="0"/>
              <a:t>Keeping the audience's </a:t>
            </a:r>
            <a:r>
              <a:rPr lang="en-GB" sz="5500" b="1" dirty="0" smtClean="0"/>
              <a:t>attention-</a:t>
            </a:r>
            <a:r>
              <a:rPr lang="en-GB" sz="5500" dirty="0" smtClean="0"/>
              <a:t> </a:t>
            </a:r>
            <a:r>
              <a:rPr lang="en-GB" sz="5500" dirty="0" smtClean="0"/>
              <a:t>how do you </a:t>
            </a:r>
            <a:r>
              <a:rPr lang="en-GB" sz="5500" dirty="0" smtClean="0"/>
              <a:t>keep the audience's attention throughout the rest of the </a:t>
            </a:r>
            <a:r>
              <a:rPr lang="en-GB" sz="5500" dirty="0" smtClean="0"/>
              <a:t>speech? The </a:t>
            </a:r>
            <a:r>
              <a:rPr lang="en-GB" sz="5500" dirty="0" smtClean="0"/>
              <a:t>beginning and the end or the first and last parts of a talk are what </a:t>
            </a:r>
            <a:r>
              <a:rPr lang="en-GB" sz="5500" dirty="0" smtClean="0"/>
              <a:t>listeners will remember </a:t>
            </a:r>
            <a:r>
              <a:rPr lang="en-GB" sz="5500" dirty="0" smtClean="0"/>
              <a:t>best. Think of ways </a:t>
            </a:r>
            <a:r>
              <a:rPr lang="en-GB" sz="5500" dirty="0" smtClean="0"/>
              <a:t>you</a:t>
            </a:r>
          </a:p>
          <a:p>
            <a:pPr lvl="0"/>
            <a:r>
              <a:rPr lang="en-GB" sz="5500" b="1" dirty="0" smtClean="0"/>
              <a:t>Signposting or </a:t>
            </a:r>
            <a:r>
              <a:rPr lang="en-GB" sz="5500" b="1" dirty="0" smtClean="0"/>
              <a:t>signalling </a:t>
            </a:r>
            <a:r>
              <a:rPr lang="en-GB" sz="5500" b="1" dirty="0" smtClean="0"/>
              <a:t>where you </a:t>
            </a:r>
            <a:r>
              <a:rPr lang="en-GB" sz="5500" b="1" dirty="0" smtClean="0"/>
              <a:t>are-</a:t>
            </a:r>
            <a:r>
              <a:rPr lang="en-GB" sz="5500" dirty="0" smtClean="0"/>
              <a:t>you need </a:t>
            </a:r>
            <a:r>
              <a:rPr lang="en-GB" sz="5500" dirty="0" smtClean="0"/>
              <a:t>to guide </a:t>
            </a:r>
            <a:r>
              <a:rPr lang="en-GB" sz="5500" dirty="0" smtClean="0"/>
              <a:t>the listener by using expressions to tell him/her where </a:t>
            </a:r>
            <a:r>
              <a:rPr lang="en-GB" sz="5500" dirty="0" smtClean="0"/>
              <a:t>you are going</a:t>
            </a:r>
            <a:r>
              <a:rPr lang="en-GB" sz="5500" dirty="0" smtClean="0"/>
              <a:t> </a:t>
            </a:r>
            <a:r>
              <a:rPr lang="en-GB" sz="5500" dirty="0" err="1" smtClean="0"/>
              <a:t>i.e</a:t>
            </a:r>
            <a:endParaRPr lang="en-GB" sz="5500" dirty="0" smtClean="0"/>
          </a:p>
          <a:p>
            <a:pPr lvl="1"/>
            <a:r>
              <a:rPr lang="en-GB" sz="5100" b="1" dirty="0" smtClean="0">
                <a:solidFill>
                  <a:srgbClr val="C00000"/>
                </a:solidFill>
              </a:rPr>
              <a:t>provide </a:t>
            </a:r>
            <a:r>
              <a:rPr lang="en-GB" sz="5100" b="1" dirty="0" smtClean="0">
                <a:solidFill>
                  <a:srgbClr val="C00000"/>
                </a:solidFill>
              </a:rPr>
              <a:t>clear links </a:t>
            </a:r>
            <a:r>
              <a:rPr lang="en-GB" sz="5100" dirty="0" smtClean="0">
                <a:solidFill>
                  <a:srgbClr val="C00000"/>
                </a:solidFill>
              </a:rPr>
              <a:t>(transitions) between main points, explanations and examples; </a:t>
            </a:r>
            <a:endParaRPr lang="en-GB" sz="5100" dirty="0" smtClean="0">
              <a:solidFill>
                <a:srgbClr val="C00000"/>
              </a:solidFill>
            </a:endParaRPr>
          </a:p>
          <a:p>
            <a:pPr lvl="1"/>
            <a:endParaRPr lang="en-GB" sz="5100" dirty="0" smtClean="0">
              <a:solidFill>
                <a:srgbClr val="C00000"/>
              </a:solidFill>
            </a:endParaRPr>
          </a:p>
          <a:p>
            <a:pPr lvl="1"/>
            <a:r>
              <a:rPr lang="en-GB" sz="5100" dirty="0" smtClean="0">
                <a:solidFill>
                  <a:srgbClr val="C00000"/>
                </a:solidFill>
              </a:rPr>
              <a:t>Move from one point to the next by using phrases (such as ‘Firstly ... secondly’ ... ‘finally’).</a:t>
            </a:r>
          </a:p>
          <a:p>
            <a:pPr lvl="1"/>
            <a:r>
              <a:rPr lang="en-GB" sz="5100" b="1" i="1" dirty="0" smtClean="0">
                <a:solidFill>
                  <a:srgbClr val="C00000"/>
                </a:solidFill>
              </a:rPr>
              <a:t>indicate the end of one section and the beginning of the next</a:t>
            </a:r>
            <a:r>
              <a:rPr lang="en-GB" sz="5100" dirty="0" smtClean="0">
                <a:solidFill>
                  <a:srgbClr val="C00000"/>
                </a:solidFill>
              </a:rPr>
              <a:t>. </a:t>
            </a:r>
            <a:r>
              <a:rPr lang="en-GB" sz="5100" dirty="0" err="1" smtClean="0">
                <a:solidFill>
                  <a:srgbClr val="C00000"/>
                </a:solidFill>
              </a:rPr>
              <a:t>Eg</a:t>
            </a:r>
            <a:r>
              <a:rPr lang="en-GB" sz="5100" dirty="0" smtClean="0">
                <a:solidFill>
                  <a:srgbClr val="C00000"/>
                </a:solidFill>
              </a:rPr>
              <a:t> </a:t>
            </a:r>
            <a:r>
              <a:rPr lang="en-GB" sz="5100" i="1" dirty="0" smtClean="0">
                <a:solidFill>
                  <a:srgbClr val="C00000"/>
                </a:solidFill>
              </a:rPr>
              <a:t>Now that we've seen... let us turn to…</a:t>
            </a:r>
            <a:r>
              <a:rPr lang="en-GB" sz="5100" dirty="0" smtClean="0">
                <a:solidFill>
                  <a:srgbClr val="C00000"/>
                </a:solidFill>
              </a:rPr>
              <a:t> ‘Another point is...’ ‘A contrary view to consider is’ ‘In conclusion’ </a:t>
            </a:r>
            <a:endParaRPr lang="en-GB" sz="5100" dirty="0" smtClean="0">
              <a:solidFill>
                <a:srgbClr val="C00000"/>
              </a:solidFill>
            </a:endParaRPr>
          </a:p>
          <a:p>
            <a:pPr lvl="1"/>
            <a:endParaRPr lang="en-GB" sz="5100" dirty="0" smtClean="0">
              <a:solidFill>
                <a:srgbClr val="C00000"/>
              </a:solidFill>
            </a:endParaRPr>
          </a:p>
          <a:p>
            <a:pPr lvl="1"/>
            <a:r>
              <a:rPr lang="en-GB" sz="5100" b="1" dirty="0" smtClean="0">
                <a:solidFill>
                  <a:srgbClr val="C00000"/>
                </a:solidFill>
              </a:rPr>
              <a:t>Introduce supporting evidence </a:t>
            </a:r>
            <a:r>
              <a:rPr lang="en-GB" sz="5100" dirty="0" smtClean="0">
                <a:solidFill>
                  <a:srgbClr val="C00000"/>
                </a:solidFill>
              </a:rPr>
              <a:t>‘For example ...’ ‘[Author name] states that...</a:t>
            </a:r>
          </a:p>
          <a:p>
            <a:endParaRPr lang="en-GB"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3. Conclusion</a:t>
            </a:r>
            <a:endParaRPr lang="en-GB" dirty="0"/>
          </a:p>
        </p:txBody>
      </p:sp>
      <p:sp>
        <p:nvSpPr>
          <p:cNvPr id="3" name="Content Placeholder 2"/>
          <p:cNvSpPr>
            <a:spLocks noGrp="1"/>
          </p:cNvSpPr>
          <p:nvPr>
            <p:ph idx="1"/>
          </p:nvPr>
        </p:nvSpPr>
        <p:spPr/>
        <p:txBody>
          <a:bodyPr>
            <a:normAutofit fontScale="92500" lnSpcReduction="10000"/>
          </a:bodyPr>
          <a:lstStyle/>
          <a:p>
            <a:pPr marL="342900" lvl="1" indent="-342900">
              <a:buFont typeface="Wingdings" pitchFamily="2" charset="2"/>
              <a:buChar char="l"/>
            </a:pPr>
            <a:r>
              <a:rPr lang="en-US" dirty="0" smtClean="0">
                <a:solidFill>
                  <a:schemeClr val="accent4">
                    <a:lumMod val="50000"/>
                    <a:lumOff val="50000"/>
                  </a:schemeClr>
                </a:solidFill>
              </a:rPr>
              <a:t>A speech is like a love affair; any fool can start one but to end it requires considerable skill. - Lord </a:t>
            </a:r>
            <a:r>
              <a:rPr lang="en-US" dirty="0" err="1" smtClean="0">
                <a:solidFill>
                  <a:schemeClr val="accent4">
                    <a:lumMod val="50000"/>
                    <a:lumOff val="50000"/>
                  </a:schemeClr>
                </a:solidFill>
              </a:rPr>
              <a:t>Mancraft</a:t>
            </a:r>
            <a:r>
              <a:rPr lang="en-US" dirty="0" smtClean="0">
                <a:solidFill>
                  <a:schemeClr val="accent4">
                    <a:lumMod val="50000"/>
                    <a:lumOff val="50000"/>
                  </a:schemeClr>
                </a:solidFill>
              </a:rPr>
              <a:t> (1914-1987</a:t>
            </a:r>
            <a:r>
              <a:rPr lang="en-US" dirty="0" smtClean="0">
                <a:solidFill>
                  <a:schemeClr val="accent4">
                    <a:lumMod val="50000"/>
                    <a:lumOff val="50000"/>
                  </a:schemeClr>
                </a:solidFill>
              </a:rPr>
              <a:t>)</a:t>
            </a:r>
            <a:endParaRPr lang="en-GB" dirty="0" smtClean="0"/>
          </a:p>
          <a:p>
            <a:r>
              <a:rPr lang="en-GB" dirty="0" smtClean="0"/>
              <a:t>The end of a presentation should be as carefully orchestrated as the other sections. For </a:t>
            </a:r>
            <a:r>
              <a:rPr lang="en-GB" dirty="0" smtClean="0"/>
              <a:t>example:</a:t>
            </a:r>
          </a:p>
          <a:p>
            <a:r>
              <a:rPr lang="en-GB" dirty="0" smtClean="0"/>
              <a:t>Tell </a:t>
            </a:r>
            <a:r>
              <a:rPr lang="en-GB" dirty="0" smtClean="0"/>
              <a:t>the audience you are about to bring your remarks to a </a:t>
            </a:r>
            <a:r>
              <a:rPr lang="en-GB" dirty="0" smtClean="0"/>
              <a:t>close.</a:t>
            </a:r>
          </a:p>
          <a:p>
            <a:r>
              <a:rPr lang="en-GB" dirty="0" smtClean="0"/>
              <a:t>Briefly </a:t>
            </a:r>
            <a:r>
              <a:rPr lang="en-GB" dirty="0" smtClean="0"/>
              <a:t>summarize your main </a:t>
            </a:r>
            <a:r>
              <a:rPr lang="en-GB" dirty="0" smtClean="0"/>
              <a:t>points.</a:t>
            </a:r>
          </a:p>
          <a:p>
            <a:r>
              <a:rPr lang="en-GB" dirty="0" smtClean="0"/>
              <a:t>Make </a:t>
            </a:r>
            <a:r>
              <a:rPr lang="en-GB" dirty="0" smtClean="0"/>
              <a:t>a memorable parting statement.</a:t>
            </a:r>
            <a:endParaRPr lang="en-GB"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How to end your speech/talk</a:t>
            </a:r>
            <a:endParaRPr lang="en-GB" dirty="0"/>
          </a:p>
        </p:txBody>
      </p:sp>
      <p:sp>
        <p:nvSpPr>
          <p:cNvPr id="3" name="Content Placeholder 2"/>
          <p:cNvSpPr>
            <a:spLocks noGrp="1"/>
          </p:cNvSpPr>
          <p:nvPr>
            <p:ph idx="1"/>
          </p:nvPr>
        </p:nvSpPr>
        <p:spPr/>
        <p:txBody>
          <a:bodyPr>
            <a:normAutofit fontScale="70000" lnSpcReduction="20000"/>
          </a:bodyPr>
          <a:lstStyle/>
          <a:p>
            <a:r>
              <a:rPr lang="en-GB" dirty="0" smtClean="0"/>
              <a:t>Signal </a:t>
            </a:r>
            <a:r>
              <a:rPr lang="en-GB" dirty="0" smtClean="0"/>
              <a:t>your conclusion with a </a:t>
            </a:r>
            <a:r>
              <a:rPr lang="en-GB" dirty="0" smtClean="0"/>
              <a:t>transition.</a:t>
            </a:r>
          </a:p>
          <a:p>
            <a:pPr marL="514350" indent="-514350">
              <a:buFont typeface="+mj-lt"/>
              <a:buAutoNum type="alphaLcParenR"/>
            </a:pPr>
            <a:r>
              <a:rPr lang="en-GB" b="1" dirty="0" smtClean="0"/>
              <a:t>Summarize </a:t>
            </a:r>
            <a:r>
              <a:rPr lang="en-GB" b="1" dirty="0" smtClean="0"/>
              <a:t>your </a:t>
            </a:r>
            <a:r>
              <a:rPr lang="en-GB" b="1" dirty="0" smtClean="0"/>
              <a:t>points- </a:t>
            </a:r>
            <a:r>
              <a:rPr lang="en-GB" dirty="0" smtClean="0"/>
              <a:t>As we sum </a:t>
            </a:r>
            <a:r>
              <a:rPr lang="en-GB" i="1" dirty="0" smtClean="0"/>
              <a:t>up… just to recap what we discussed today…So</a:t>
            </a:r>
            <a:r>
              <a:rPr lang="en-GB" i="1" dirty="0" smtClean="0"/>
              <a:t>, as we have seen today.... </a:t>
            </a:r>
            <a:r>
              <a:rPr lang="en-GB" i="1" dirty="0" smtClean="0"/>
              <a:t>As </a:t>
            </a:r>
            <a:r>
              <a:rPr lang="en-GB" i="1" dirty="0" smtClean="0"/>
              <a:t>I have tried to explain this morning.... </a:t>
            </a:r>
            <a:endParaRPr lang="en-GB" dirty="0" smtClean="0"/>
          </a:p>
          <a:p>
            <a:pPr marL="514350" indent="-514350">
              <a:buFont typeface="+mj-lt"/>
              <a:buAutoNum type="alphaLcParenR"/>
            </a:pPr>
            <a:r>
              <a:rPr lang="en-GB" b="1" dirty="0" smtClean="0"/>
              <a:t>Recommendations</a:t>
            </a:r>
            <a:r>
              <a:rPr lang="en-GB" dirty="0" smtClean="0"/>
              <a:t>– </a:t>
            </a:r>
            <a:r>
              <a:rPr lang="en-US" altLang="el-GR" dirty="0" smtClean="0"/>
              <a:t>If your presentation includes a recommendation, particularly one requiring action on the part of the audience, state it clearly as part of your ending. Plan the precise words you will use in your recommendation. </a:t>
            </a:r>
            <a:r>
              <a:rPr lang="en-GB" dirty="0" smtClean="0"/>
              <a:t> </a:t>
            </a:r>
            <a:r>
              <a:rPr lang="en-GB" dirty="0" err="1" smtClean="0"/>
              <a:t>eg</a:t>
            </a:r>
            <a:r>
              <a:rPr lang="en-GB" dirty="0" smtClean="0"/>
              <a:t> </a:t>
            </a:r>
            <a:r>
              <a:rPr lang="en-GB" i="1" dirty="0" smtClean="0"/>
              <a:t>In the light of what we have seen today I suggest that... </a:t>
            </a:r>
            <a:r>
              <a:rPr lang="en-GB" i="1" dirty="0" smtClean="0"/>
              <a:t>As I conclude, I would like to recommend the following…</a:t>
            </a:r>
            <a:endParaRPr lang="en-GB" dirty="0" smtClean="0"/>
          </a:p>
          <a:p>
            <a:pPr marL="514350" indent="-514350">
              <a:buFont typeface="+mj-lt"/>
              <a:buAutoNum type="alphaLcParenR"/>
            </a:pPr>
            <a:r>
              <a:rPr lang="en-GB" b="1" dirty="0" smtClean="0"/>
              <a:t>Thank the audience</a:t>
            </a:r>
            <a:r>
              <a:rPr lang="en-GB" dirty="0" smtClean="0"/>
              <a:t>-end </a:t>
            </a:r>
            <a:r>
              <a:rPr lang="en-GB" dirty="0" err="1" smtClean="0"/>
              <a:t>with,“Thank</a:t>
            </a:r>
            <a:r>
              <a:rPr lang="en-GB" dirty="0" smtClean="0"/>
              <a:t> You</a:t>
            </a:r>
            <a:r>
              <a:rPr lang="en-GB" dirty="0" smtClean="0"/>
              <a:t>.”</a:t>
            </a:r>
          </a:p>
          <a:p>
            <a:pPr marL="514350" indent="-514350">
              <a:buFont typeface="+mj-lt"/>
              <a:buAutoNum type="alphaLcParenR"/>
            </a:pPr>
            <a:r>
              <a:rPr lang="en-GB" b="1" dirty="0" smtClean="0"/>
              <a:t>Invite question time-If </a:t>
            </a:r>
            <a:r>
              <a:rPr lang="en-GB" dirty="0" smtClean="0"/>
              <a:t>answering questions tell your audience," I'll </a:t>
            </a:r>
            <a:r>
              <a:rPr lang="en-GB" dirty="0" smtClean="0"/>
              <a:t>now be happy to answer any questions.”</a:t>
            </a:r>
          </a:p>
          <a:p>
            <a:endParaRPr lang="en-GB"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Answering </a:t>
            </a:r>
            <a:r>
              <a:rPr lang="en-GB" dirty="0" smtClean="0"/>
              <a:t>questions</a:t>
            </a:r>
            <a:endParaRPr lang="en-GB" dirty="0"/>
          </a:p>
        </p:txBody>
      </p:sp>
      <p:sp>
        <p:nvSpPr>
          <p:cNvPr id="3" name="Content Placeholder 2"/>
          <p:cNvSpPr>
            <a:spLocks noGrp="1"/>
          </p:cNvSpPr>
          <p:nvPr>
            <p:ph idx="1"/>
          </p:nvPr>
        </p:nvSpPr>
        <p:spPr/>
        <p:txBody>
          <a:bodyPr>
            <a:normAutofit fontScale="77500" lnSpcReduction="20000"/>
          </a:bodyPr>
          <a:lstStyle/>
          <a:p>
            <a:r>
              <a:rPr lang="en-GB" dirty="0" smtClean="0"/>
              <a:t>After </a:t>
            </a:r>
            <a:r>
              <a:rPr lang="en-GB" dirty="0" smtClean="0"/>
              <a:t>your presentation, members of your tutorial may ask </a:t>
            </a:r>
            <a:r>
              <a:rPr lang="en-GB" dirty="0" smtClean="0"/>
              <a:t>you questions</a:t>
            </a:r>
            <a:r>
              <a:rPr lang="en-GB" dirty="0" smtClean="0"/>
              <a:t>. Don’t be afraid of questions; they are a positive </a:t>
            </a:r>
            <a:r>
              <a:rPr lang="en-GB" dirty="0" smtClean="0"/>
              <a:t>sign. They </a:t>
            </a:r>
            <a:r>
              <a:rPr lang="en-GB" dirty="0" smtClean="0"/>
              <a:t>show that the audience is listening and interested.</a:t>
            </a:r>
          </a:p>
          <a:p>
            <a:r>
              <a:rPr lang="en-GB" dirty="0" smtClean="0"/>
              <a:t>Listen </a:t>
            </a:r>
            <a:r>
              <a:rPr lang="en-GB" dirty="0" smtClean="0"/>
              <a:t>carefully to the question. </a:t>
            </a:r>
            <a:endParaRPr lang="en-GB" dirty="0" smtClean="0"/>
          </a:p>
          <a:p>
            <a:r>
              <a:rPr lang="en-GB" dirty="0" smtClean="0"/>
              <a:t>Repeat </a:t>
            </a:r>
            <a:r>
              <a:rPr lang="en-GB" dirty="0" smtClean="0"/>
              <a:t>or </a:t>
            </a:r>
            <a:r>
              <a:rPr lang="en-GB" dirty="0" smtClean="0"/>
              <a:t>paraphrase the </a:t>
            </a:r>
            <a:r>
              <a:rPr lang="en-GB" dirty="0" smtClean="0"/>
              <a:t>question so you are sure you understand it and </a:t>
            </a:r>
            <a:r>
              <a:rPr lang="en-GB" dirty="0" smtClean="0"/>
              <a:t>so everyone </a:t>
            </a:r>
            <a:r>
              <a:rPr lang="en-GB" dirty="0" smtClean="0"/>
              <a:t>in the audience hears it.</a:t>
            </a:r>
          </a:p>
          <a:p>
            <a:r>
              <a:rPr lang="en-GB" dirty="0" smtClean="0"/>
              <a:t>If </a:t>
            </a:r>
            <a:r>
              <a:rPr lang="en-GB" dirty="0" smtClean="0"/>
              <a:t>it is a long question, try breaking it up into sections, </a:t>
            </a:r>
            <a:r>
              <a:rPr lang="en-GB" dirty="0" smtClean="0"/>
              <a:t>and answer </a:t>
            </a:r>
            <a:r>
              <a:rPr lang="en-GB" dirty="0" smtClean="0"/>
              <a:t>them one by one</a:t>
            </a:r>
            <a:r>
              <a:rPr lang="en-GB" dirty="0" smtClean="0"/>
              <a:t>.</a:t>
            </a:r>
          </a:p>
          <a:p>
            <a:r>
              <a:rPr lang="en-GB" dirty="0" smtClean="0"/>
              <a:t>Be brief and to the point and avoid introducing new</a:t>
            </a:r>
          </a:p>
          <a:p>
            <a:r>
              <a:rPr lang="en-GB" dirty="0" smtClean="0"/>
              <a:t>information.</a:t>
            </a:r>
            <a:endParaRPr lang="en-GB"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Dealing with difficult </a:t>
            </a:r>
            <a:r>
              <a:rPr lang="en-GB" dirty="0" smtClean="0"/>
              <a:t>questions</a:t>
            </a:r>
            <a:endParaRPr lang="en-GB" dirty="0"/>
          </a:p>
        </p:txBody>
      </p:sp>
      <p:sp>
        <p:nvSpPr>
          <p:cNvPr id="3" name="Content Placeholder 2"/>
          <p:cNvSpPr>
            <a:spLocks noGrp="1"/>
          </p:cNvSpPr>
          <p:nvPr>
            <p:ph idx="1"/>
          </p:nvPr>
        </p:nvSpPr>
        <p:spPr/>
        <p:txBody>
          <a:bodyPr>
            <a:normAutofit/>
          </a:bodyPr>
          <a:lstStyle/>
          <a:p>
            <a:r>
              <a:rPr lang="en-GB" dirty="0" smtClean="0"/>
              <a:t>1</a:t>
            </a:r>
            <a:r>
              <a:rPr lang="en-GB" dirty="0" smtClean="0"/>
              <a:t>If you don’t know the answer to the question, it’s OK to </a:t>
            </a:r>
            <a:r>
              <a:rPr lang="en-GB" dirty="0" smtClean="0"/>
              <a:t>say so </a:t>
            </a:r>
            <a:r>
              <a:rPr lang="en-GB" dirty="0" smtClean="0"/>
              <a:t>- you can’t know absolutely everything about your topic.</a:t>
            </a:r>
          </a:p>
          <a:p>
            <a:r>
              <a:rPr lang="en-GB" dirty="0" smtClean="0"/>
              <a:t>Get the group involved by opening the question up to </a:t>
            </a:r>
            <a:r>
              <a:rPr lang="en-GB" dirty="0" smtClean="0"/>
              <a:t>the audience </a:t>
            </a:r>
            <a:r>
              <a:rPr lang="en-GB" dirty="0" smtClean="0"/>
              <a:t>and letting someone else answer it! If no </a:t>
            </a:r>
            <a:r>
              <a:rPr lang="en-GB" dirty="0" smtClean="0"/>
              <a:t>one else </a:t>
            </a:r>
            <a:r>
              <a:rPr lang="en-GB" dirty="0" smtClean="0"/>
              <a:t>can, you can always offer to find out the answer </a:t>
            </a:r>
            <a:r>
              <a:rPr lang="en-GB" dirty="0" smtClean="0"/>
              <a:t>for them </a:t>
            </a:r>
            <a:r>
              <a:rPr lang="en-GB" dirty="0" smtClean="0"/>
              <a:t>at a later date.</a:t>
            </a:r>
            <a:endParaRPr lang="en-GB"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AutoShape 2"/>
          <p:cNvSpPr>
            <a:spLocks noGrp="1" noChangeArrowheads="1"/>
          </p:cNvSpPr>
          <p:nvPr>
            <p:ph type="title"/>
          </p:nvPr>
        </p:nvSpPr>
        <p:spPr/>
        <p:txBody>
          <a:bodyPr/>
          <a:lstStyle/>
          <a:p>
            <a:pPr eaLnBrk="1" hangingPunct="1"/>
            <a:r>
              <a:rPr lang="tr-TR" smtClean="0"/>
              <a:t>Delivering the Speech</a:t>
            </a:r>
          </a:p>
        </p:txBody>
      </p:sp>
      <p:sp>
        <p:nvSpPr>
          <p:cNvPr id="41987" name="Rectangle 3"/>
          <p:cNvSpPr>
            <a:spLocks noGrp="1" noChangeArrowheads="1"/>
          </p:cNvSpPr>
          <p:nvPr>
            <p:ph type="body" idx="1"/>
          </p:nvPr>
        </p:nvSpPr>
        <p:spPr/>
        <p:txBody>
          <a:bodyPr/>
          <a:lstStyle/>
          <a:p>
            <a:pPr eaLnBrk="1" hangingPunct="1"/>
            <a:r>
              <a:rPr lang="tr-TR" sz="3200" dirty="0" smtClean="0"/>
              <a:t>Characterized </a:t>
            </a:r>
            <a:r>
              <a:rPr lang="tr-TR" sz="3200" dirty="0" smtClean="0"/>
              <a:t>as;</a:t>
            </a:r>
          </a:p>
          <a:p>
            <a:pPr lvl="1" eaLnBrk="1" hangingPunct="1"/>
            <a:r>
              <a:rPr lang="tr-TR" sz="3200" dirty="0" smtClean="0"/>
              <a:t>Impromptu speeches</a:t>
            </a:r>
          </a:p>
          <a:p>
            <a:pPr lvl="1" eaLnBrk="1" hangingPunct="1"/>
            <a:r>
              <a:rPr lang="tr-TR" sz="3200" dirty="0" smtClean="0"/>
              <a:t>Written speeches</a:t>
            </a:r>
          </a:p>
          <a:p>
            <a:pPr lvl="1" eaLnBrk="1" hangingPunct="1"/>
            <a:r>
              <a:rPr lang="tr-TR" sz="3200" dirty="0" smtClean="0"/>
              <a:t>Memorization</a:t>
            </a:r>
          </a:p>
          <a:p>
            <a:pPr lvl="1" eaLnBrk="1" hangingPunct="1"/>
            <a:r>
              <a:rPr lang="tr-TR" sz="3200" dirty="0" smtClean="0"/>
              <a:t>Extemporaneous speeches</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AutoShape 2"/>
          <p:cNvSpPr>
            <a:spLocks noGrp="1" noChangeArrowheads="1"/>
          </p:cNvSpPr>
          <p:nvPr>
            <p:ph type="title"/>
          </p:nvPr>
        </p:nvSpPr>
        <p:spPr/>
        <p:txBody>
          <a:bodyPr/>
          <a:lstStyle/>
          <a:p>
            <a:pPr eaLnBrk="1" hangingPunct="1"/>
            <a:r>
              <a:rPr lang="tr-TR" smtClean="0"/>
              <a:t>Delivering the speech</a:t>
            </a:r>
          </a:p>
        </p:txBody>
      </p:sp>
      <p:sp>
        <p:nvSpPr>
          <p:cNvPr id="43011" name="Rectangle 3"/>
          <p:cNvSpPr>
            <a:spLocks noGrp="1" noChangeArrowheads="1"/>
          </p:cNvSpPr>
          <p:nvPr>
            <p:ph type="body" idx="1"/>
          </p:nvPr>
        </p:nvSpPr>
        <p:spPr/>
        <p:txBody>
          <a:bodyPr>
            <a:normAutofit fontScale="77500" lnSpcReduction="20000"/>
          </a:bodyPr>
          <a:lstStyle/>
          <a:p>
            <a:pPr eaLnBrk="1" hangingPunct="1">
              <a:buFont typeface="Wingdings" pitchFamily="2" charset="2"/>
              <a:buNone/>
            </a:pPr>
            <a:r>
              <a:rPr lang="tr-TR" b="1" dirty="0" smtClean="0">
                <a:solidFill>
                  <a:srgbClr val="FF3399"/>
                </a:solidFill>
              </a:rPr>
              <a:t>Impromptu Speeches</a:t>
            </a:r>
          </a:p>
          <a:p>
            <a:pPr eaLnBrk="1" hangingPunct="1"/>
            <a:r>
              <a:rPr lang="tr-TR" dirty="0" smtClean="0"/>
              <a:t>Occur when a person is asked to speak without time for planning</a:t>
            </a:r>
          </a:p>
          <a:p>
            <a:pPr eaLnBrk="1" hangingPunct="1"/>
            <a:r>
              <a:rPr lang="tr-TR" dirty="0" smtClean="0"/>
              <a:t>Require the speaker to quickly organize his/her thoughts into a coherent </a:t>
            </a:r>
            <a:r>
              <a:rPr lang="tr-TR" dirty="0" smtClean="0"/>
              <a:t>presentation</a:t>
            </a:r>
            <a:endParaRPr lang="en-GB" dirty="0" smtClean="0"/>
          </a:p>
          <a:p>
            <a:pPr>
              <a:lnSpc>
                <a:spcPct val="90000"/>
              </a:lnSpc>
              <a:buNone/>
            </a:pPr>
            <a:r>
              <a:rPr lang="tr-TR" b="1" dirty="0" smtClean="0">
                <a:solidFill>
                  <a:srgbClr val="FF3399"/>
                </a:solidFill>
              </a:rPr>
              <a:t>Memorized Speeches</a:t>
            </a:r>
          </a:p>
          <a:p>
            <a:pPr>
              <a:lnSpc>
                <a:spcPct val="90000"/>
              </a:lnSpc>
            </a:pPr>
            <a:r>
              <a:rPr lang="tr-TR" dirty="0" smtClean="0"/>
              <a:t>The least popular presentation mode in business</a:t>
            </a:r>
          </a:p>
          <a:p>
            <a:pPr>
              <a:lnSpc>
                <a:spcPct val="90000"/>
              </a:lnSpc>
            </a:pPr>
            <a:r>
              <a:rPr lang="tr-TR" dirty="0" smtClean="0"/>
              <a:t>Requires a great deal of time</a:t>
            </a:r>
          </a:p>
          <a:p>
            <a:pPr>
              <a:lnSpc>
                <a:spcPct val="90000"/>
              </a:lnSpc>
            </a:pPr>
            <a:r>
              <a:rPr lang="tr-TR" dirty="0" smtClean="0"/>
              <a:t>May sound monotonic and stilled</a:t>
            </a:r>
          </a:p>
          <a:p>
            <a:pPr>
              <a:lnSpc>
                <a:spcPct val="90000"/>
              </a:lnSpc>
            </a:pPr>
            <a:r>
              <a:rPr lang="tr-TR" dirty="0" smtClean="0"/>
              <a:t>Have disadvantage like being unable to process feedback from the audience and make approppriate modifications</a:t>
            </a:r>
          </a:p>
          <a:p>
            <a:pPr eaLnBrk="1" hangingPunct="1"/>
            <a:endParaRPr lang="tr-TR" dirty="0" smtClean="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AutoShape 2"/>
          <p:cNvSpPr>
            <a:spLocks noGrp="1" noChangeArrowheads="1"/>
          </p:cNvSpPr>
          <p:nvPr>
            <p:ph type="title"/>
          </p:nvPr>
        </p:nvSpPr>
        <p:spPr/>
        <p:txBody>
          <a:bodyPr/>
          <a:lstStyle/>
          <a:p>
            <a:pPr eaLnBrk="1" hangingPunct="1"/>
            <a:r>
              <a:rPr lang="tr-TR" smtClean="0"/>
              <a:t>Delivering the speech</a:t>
            </a:r>
          </a:p>
        </p:txBody>
      </p:sp>
      <p:sp>
        <p:nvSpPr>
          <p:cNvPr id="46083" name="Rectangle 3"/>
          <p:cNvSpPr>
            <a:spLocks noGrp="1" noChangeArrowheads="1"/>
          </p:cNvSpPr>
          <p:nvPr>
            <p:ph type="body" idx="1"/>
          </p:nvPr>
        </p:nvSpPr>
        <p:spPr>
          <a:xfrm>
            <a:off x="838200" y="2362200"/>
            <a:ext cx="8305800" cy="4495800"/>
          </a:xfrm>
        </p:spPr>
        <p:txBody>
          <a:bodyPr/>
          <a:lstStyle/>
          <a:p>
            <a:pPr eaLnBrk="1" hangingPunct="1">
              <a:buFont typeface="Wingdings" pitchFamily="2" charset="2"/>
              <a:buNone/>
            </a:pPr>
            <a:r>
              <a:rPr lang="tr-TR" b="1" dirty="0" smtClean="0">
                <a:solidFill>
                  <a:srgbClr val="FF3399"/>
                </a:solidFill>
              </a:rPr>
              <a:t>Extemporaneous Speeches</a:t>
            </a:r>
          </a:p>
          <a:p>
            <a:pPr eaLnBrk="1" hangingPunct="1"/>
            <a:r>
              <a:rPr lang="tr-TR" dirty="0" smtClean="0"/>
              <a:t>Spontaneously delivered </a:t>
            </a:r>
          </a:p>
          <a:p>
            <a:pPr eaLnBrk="1" hangingPunct="1"/>
            <a:r>
              <a:rPr lang="tr-TR" dirty="0" smtClean="0"/>
              <a:t>Thoroughly researched and designed</a:t>
            </a:r>
          </a:p>
          <a:p>
            <a:pPr eaLnBrk="1" hangingPunct="1"/>
            <a:r>
              <a:rPr lang="tr-TR" dirty="0" smtClean="0"/>
              <a:t>Prefferable to other styles</a:t>
            </a:r>
          </a:p>
          <a:p>
            <a:pPr eaLnBrk="1" hangingPunct="1"/>
            <a:r>
              <a:rPr lang="tr-TR" dirty="0" smtClean="0"/>
              <a:t>Allows the speaker to show a wide range of emotion, movement and vocal inflection</a:t>
            </a:r>
          </a:p>
          <a:p>
            <a:pPr eaLnBrk="1" hangingPunct="1"/>
            <a:r>
              <a:rPr lang="tr-TR" dirty="0" smtClean="0"/>
              <a:t>Seems more genuine and convinvcing to the audience</a:t>
            </a:r>
          </a:p>
          <a:p>
            <a:pPr eaLnBrk="1" hangingPunct="1"/>
            <a:r>
              <a:rPr lang="tr-TR" dirty="0" smtClean="0"/>
              <a:t>Most natural mode of presentations</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AutoShape 2"/>
          <p:cNvSpPr>
            <a:spLocks noGrp="1" noChangeArrowheads="1"/>
          </p:cNvSpPr>
          <p:nvPr>
            <p:ph type="title"/>
          </p:nvPr>
        </p:nvSpPr>
        <p:spPr/>
        <p:txBody>
          <a:bodyPr/>
          <a:lstStyle/>
          <a:p>
            <a:pPr eaLnBrk="1" hangingPunct="1"/>
            <a:r>
              <a:rPr lang="tr-TR" smtClean="0"/>
              <a:t>Delivering the speech</a:t>
            </a:r>
          </a:p>
        </p:txBody>
      </p:sp>
      <p:sp>
        <p:nvSpPr>
          <p:cNvPr id="44035" name="Rectangle 3"/>
          <p:cNvSpPr>
            <a:spLocks noGrp="1" noChangeArrowheads="1"/>
          </p:cNvSpPr>
          <p:nvPr>
            <p:ph type="body" idx="1"/>
          </p:nvPr>
        </p:nvSpPr>
        <p:spPr/>
        <p:txBody>
          <a:bodyPr/>
          <a:lstStyle/>
          <a:p>
            <a:pPr eaLnBrk="1" hangingPunct="1">
              <a:buFont typeface="Wingdings" pitchFamily="2" charset="2"/>
              <a:buNone/>
            </a:pPr>
            <a:r>
              <a:rPr lang="tr-TR" b="1" dirty="0" smtClean="0">
                <a:solidFill>
                  <a:srgbClr val="FF3399"/>
                </a:solidFill>
              </a:rPr>
              <a:t>Written Speeches</a:t>
            </a:r>
          </a:p>
          <a:p>
            <a:pPr eaLnBrk="1" hangingPunct="1"/>
            <a:r>
              <a:rPr lang="tr-TR" dirty="0" smtClean="0"/>
              <a:t>Read from a prepared manuscript</a:t>
            </a:r>
          </a:p>
          <a:p>
            <a:pPr eaLnBrk="1" hangingPunct="1"/>
            <a:r>
              <a:rPr lang="tr-TR" dirty="0" smtClean="0"/>
              <a:t>Useful when the materail is highly technical and the speaker wants to ensure accuracy</a:t>
            </a:r>
          </a:p>
          <a:p>
            <a:pPr eaLnBrk="1" hangingPunct="1"/>
            <a:r>
              <a:rPr lang="tr-TR" dirty="0" smtClean="0"/>
              <a:t>Have some disadvantages as breaking the eye-contact, limiting the movement of speakers gestures and mimics</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smtClean="0"/>
              <a:t>Be </a:t>
            </a:r>
            <a:r>
              <a:rPr lang="en-GB" dirty="0" smtClean="0"/>
              <a:t>enthusiastic about your topic. </a:t>
            </a:r>
          </a:p>
          <a:p>
            <a:r>
              <a:rPr lang="en-GB" dirty="0" smtClean="0"/>
              <a:t>Smile</a:t>
            </a:r>
            <a:r>
              <a:rPr lang="en-GB" dirty="0" smtClean="0"/>
              <a:t>.</a:t>
            </a:r>
            <a:endParaRPr lang="en-GB"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Effective Delivery techniques</a:t>
            </a:r>
            <a:endParaRPr lang="en-GB" dirty="0"/>
          </a:p>
        </p:txBody>
      </p:sp>
      <p:sp>
        <p:nvSpPr>
          <p:cNvPr id="3" name="Content Placeholder 2"/>
          <p:cNvSpPr>
            <a:spLocks noGrp="1"/>
          </p:cNvSpPr>
          <p:nvPr>
            <p:ph idx="1"/>
          </p:nvPr>
        </p:nvSpPr>
        <p:spPr/>
        <p:txBody>
          <a:bodyPr>
            <a:normAutofit fontScale="70000" lnSpcReduction="20000"/>
          </a:bodyPr>
          <a:lstStyle/>
          <a:p>
            <a:pPr marL="457200" indent="-457200">
              <a:lnSpc>
                <a:spcPct val="120000"/>
              </a:lnSpc>
              <a:buNone/>
            </a:pPr>
            <a:r>
              <a:rPr lang="en-US" altLang="el-GR" b="1" dirty="0" smtClean="0"/>
              <a:t>Key Factors for a Successful Presentation</a:t>
            </a:r>
            <a:endParaRPr lang="en-US" altLang="el-GR" dirty="0" smtClean="0"/>
          </a:p>
          <a:p>
            <a:r>
              <a:rPr lang="en-GB" i="1" dirty="0" smtClean="0"/>
              <a:t>Use appropriate language and avoid </a:t>
            </a:r>
            <a:r>
              <a:rPr lang="en-GB" i="1" dirty="0" smtClean="0"/>
              <a:t>jargon</a:t>
            </a:r>
          </a:p>
          <a:p>
            <a:r>
              <a:rPr lang="en-GB" i="1" dirty="0" smtClean="0"/>
              <a:t>Pace your speech suitably</a:t>
            </a:r>
          </a:p>
          <a:p>
            <a:r>
              <a:rPr lang="en-GB" i="1" dirty="0" smtClean="0"/>
              <a:t>Use notes-</a:t>
            </a:r>
            <a:r>
              <a:rPr lang="en-GB" i="1" dirty="0" err="1" smtClean="0"/>
              <a:t>eg</a:t>
            </a:r>
            <a:r>
              <a:rPr lang="en-GB" i="1" dirty="0" smtClean="0"/>
              <a:t>  </a:t>
            </a:r>
            <a:r>
              <a:rPr lang="en-GB" i="1" dirty="0" smtClean="0"/>
              <a:t>main </a:t>
            </a:r>
            <a:r>
              <a:rPr lang="en-GB" i="1" dirty="0" smtClean="0"/>
              <a:t>points, which example to use  and when, when to refer to visuals</a:t>
            </a:r>
          </a:p>
          <a:p>
            <a:r>
              <a:rPr lang="en-GB" dirty="0" smtClean="0"/>
              <a:t>Emphasize key points verbally, non-verbally and </a:t>
            </a:r>
            <a:r>
              <a:rPr lang="en-GB" dirty="0" smtClean="0"/>
              <a:t>vocally</a:t>
            </a:r>
          </a:p>
          <a:p>
            <a:r>
              <a:rPr lang="en-GB" dirty="0" smtClean="0"/>
              <a:t>Be fluent –avoid many “</a:t>
            </a:r>
            <a:r>
              <a:rPr lang="en-GB" dirty="0" err="1" smtClean="0"/>
              <a:t>umms</a:t>
            </a:r>
            <a:r>
              <a:rPr lang="en-GB" dirty="0" smtClean="0"/>
              <a:t>”, “</a:t>
            </a:r>
            <a:r>
              <a:rPr lang="en-GB" dirty="0" err="1" smtClean="0"/>
              <a:t>aahh</a:t>
            </a:r>
            <a:r>
              <a:rPr lang="en-GB" dirty="0" smtClean="0"/>
              <a:t>”, “you know”, “yeah”</a:t>
            </a:r>
          </a:p>
          <a:p>
            <a:r>
              <a:rPr lang="en-GB" dirty="0" smtClean="0"/>
              <a:t>Be dynamic. Use </a:t>
            </a:r>
            <a:r>
              <a:rPr lang="en-GB" dirty="0" smtClean="0"/>
              <a:t>vocal variations and avoid monotone </a:t>
            </a:r>
          </a:p>
          <a:p>
            <a:r>
              <a:rPr lang="en-GB" dirty="0" smtClean="0"/>
              <a:t>Be varied, e.g. intersperse talk with graphs, slides or pieces of video that the audience can look at as a break from listening</a:t>
            </a:r>
            <a:endParaRPr lang="en-GB"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lnSpcReduction="10000"/>
          </a:bodyPr>
          <a:lstStyle/>
          <a:p>
            <a:pPr lvl="0"/>
            <a:r>
              <a:rPr lang="en-GB" dirty="0" smtClean="0"/>
              <a:t> Include carefully chosen examples – as a bridge between what the listener knows and is familiar with and the new material being introduced</a:t>
            </a:r>
            <a:r>
              <a:rPr lang="en-GB" dirty="0" smtClean="0"/>
              <a:t>.</a:t>
            </a:r>
            <a:endParaRPr lang="en-GB" dirty="0" smtClean="0"/>
          </a:p>
          <a:p>
            <a:pPr lvl="0"/>
            <a:r>
              <a:rPr lang="en-GB" dirty="0" smtClean="0"/>
              <a:t>Avoid distractions, e.g. pacing around, playing with a pen or pointer, over use of certain stock phrases. Gain control of body language</a:t>
            </a:r>
            <a:r>
              <a:rPr lang="en-GB" dirty="0" smtClean="0"/>
              <a:t>.</a:t>
            </a:r>
            <a:endParaRPr lang="en-GB" dirty="0" smtClean="0"/>
          </a:p>
          <a:p>
            <a:pPr lvl="0"/>
            <a:r>
              <a:rPr lang="en-GB" dirty="0" smtClean="0"/>
              <a:t> Rehearse what is going to be said. </a:t>
            </a:r>
          </a:p>
          <a:p>
            <a:endParaRPr lang="en-GB"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Body language during your </a:t>
            </a:r>
            <a:r>
              <a:rPr lang="en-GB" dirty="0" smtClean="0"/>
              <a:t>presentation</a:t>
            </a:r>
            <a:endParaRPr lang="en-GB" dirty="0"/>
          </a:p>
        </p:txBody>
      </p:sp>
      <p:sp>
        <p:nvSpPr>
          <p:cNvPr id="3" name="Content Placeholder 2"/>
          <p:cNvSpPr>
            <a:spLocks noGrp="1"/>
          </p:cNvSpPr>
          <p:nvPr>
            <p:ph idx="1"/>
          </p:nvPr>
        </p:nvSpPr>
        <p:spPr/>
        <p:txBody>
          <a:bodyPr>
            <a:normAutofit fontScale="55000" lnSpcReduction="20000"/>
          </a:bodyPr>
          <a:lstStyle/>
          <a:p>
            <a:pPr lvl="0"/>
            <a:r>
              <a:rPr lang="en-GB" dirty="0" smtClean="0"/>
              <a:t>Behave </a:t>
            </a:r>
            <a:r>
              <a:rPr lang="en-GB" dirty="0" smtClean="0"/>
              <a:t>enthusiastically:</a:t>
            </a:r>
          </a:p>
          <a:p>
            <a:r>
              <a:rPr lang="en-GB" dirty="0" smtClean="0"/>
              <a:t>Maintain eye contact. Only look at notes or slides very briefly. Sweep the room with your gaze, pausing briefly on various people.</a:t>
            </a:r>
          </a:p>
          <a:p>
            <a:r>
              <a:rPr lang="en-GB" dirty="0" smtClean="0"/>
              <a:t>Be aware of your body </a:t>
            </a:r>
            <a:r>
              <a:rPr lang="en-GB" dirty="0" smtClean="0"/>
              <a:t>posture Stand tall  with your weight evenly on both feet, and shoulders back</a:t>
            </a:r>
            <a:r>
              <a:rPr lang="en-GB" dirty="0" smtClean="0"/>
              <a:t>.</a:t>
            </a:r>
          </a:p>
          <a:p>
            <a:pPr lvl="0"/>
            <a:r>
              <a:rPr lang="en-GB" dirty="0" smtClean="0"/>
              <a:t>Anxiety and Nerves -If you are feeling </a:t>
            </a:r>
            <a:r>
              <a:rPr lang="en-GB" dirty="0" smtClean="0"/>
              <a:t>anxious</a:t>
            </a:r>
            <a:r>
              <a:rPr lang="en-GB" dirty="0" smtClean="0"/>
              <a:t>, try taking deep breaths before you start and focus on speaking slowly.</a:t>
            </a:r>
            <a:r>
              <a:rPr lang="en-GB" dirty="0" smtClean="0"/>
              <a:t> </a:t>
            </a:r>
            <a:r>
              <a:rPr lang="en-GB" dirty="0" smtClean="0"/>
              <a:t>act ‘as if’ you are confident and relaxed (even if you do not feel it) and make your introduction without reading from your notes too much. </a:t>
            </a:r>
          </a:p>
          <a:p>
            <a:pPr lvl="0"/>
            <a:r>
              <a:rPr lang="en-GB" dirty="0" smtClean="0"/>
              <a:t>Be audible</a:t>
            </a:r>
          </a:p>
          <a:p>
            <a:pPr lvl="0"/>
            <a:r>
              <a:rPr lang="en-GB" dirty="0" smtClean="0"/>
              <a:t>speak </a:t>
            </a:r>
            <a:r>
              <a:rPr lang="en-GB" dirty="0" smtClean="0"/>
              <a:t>clearly and at a conversational, appropriate speed</a:t>
            </a:r>
            <a:r>
              <a:rPr lang="en-GB" dirty="0" smtClean="0"/>
              <a:t>.</a:t>
            </a:r>
          </a:p>
          <a:p>
            <a:pPr lvl="0"/>
            <a:r>
              <a:rPr lang="en-GB" dirty="0" smtClean="0"/>
              <a:t>Varying the tone, pitch, rate and other vocal features can communicate enthusiasm and can create a sense of interest in the listener. </a:t>
            </a:r>
          </a:p>
          <a:p>
            <a:pPr lvl="0"/>
            <a:r>
              <a:rPr lang="en-GB" dirty="0" smtClean="0"/>
              <a:t>Pause before key points and stress key parts of the sentence by using change in tone</a:t>
            </a:r>
            <a:r>
              <a:rPr lang="en-GB" dirty="0" smtClean="0"/>
              <a:t>. </a:t>
            </a:r>
            <a:endParaRPr lang="en-GB" dirty="0" smtClean="0"/>
          </a:p>
          <a:p>
            <a:endParaRPr lang="en-GB"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Do’s and Don’ts</a:t>
            </a:r>
            <a:endParaRPr lang="en-GB" dirty="0"/>
          </a:p>
        </p:txBody>
      </p:sp>
      <p:graphicFrame>
        <p:nvGraphicFramePr>
          <p:cNvPr id="4" name="Content Placeholder 3"/>
          <p:cNvGraphicFramePr>
            <a:graphicFrameLocks noGrp="1"/>
          </p:cNvGraphicFramePr>
          <p:nvPr>
            <p:ph idx="1"/>
          </p:nvPr>
        </p:nvGraphicFramePr>
        <p:xfrm>
          <a:off x="971599" y="2564905"/>
          <a:ext cx="7128793" cy="3744414"/>
        </p:xfrm>
        <a:graphic>
          <a:graphicData uri="http://schemas.openxmlformats.org/drawingml/2006/table">
            <a:tbl>
              <a:tblPr/>
              <a:tblGrid>
                <a:gridCol w="3663415"/>
                <a:gridCol w="3465378"/>
              </a:tblGrid>
              <a:tr h="416046">
                <a:tc>
                  <a:txBody>
                    <a:bodyPr/>
                    <a:lstStyle/>
                    <a:p>
                      <a:pPr algn="just">
                        <a:lnSpc>
                          <a:spcPct val="115000"/>
                        </a:lnSpc>
                        <a:spcAft>
                          <a:spcPts val="0"/>
                        </a:spcAft>
                      </a:pPr>
                      <a:r>
                        <a:rPr lang="en-GB" sz="1200" dirty="0" smtClean="0">
                          <a:latin typeface="Book Antiqua"/>
                          <a:ea typeface="Times New Roman"/>
                          <a:cs typeface="Arial"/>
                        </a:rPr>
                        <a:t>Avoid</a:t>
                      </a:r>
                      <a:endParaRPr lang="en-GB" sz="1100" dirty="0">
                        <a:latin typeface="Calibri"/>
                        <a:ea typeface="Calibri"/>
                        <a:cs typeface="Times New Roman"/>
                      </a:endParaRPr>
                    </a:p>
                  </a:txBody>
                  <a:tcPr marL="63500" marR="63500" marT="31750" marB="3175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00"/>
                    </a:solidFill>
                  </a:tcPr>
                </a:tc>
                <a:tc>
                  <a:txBody>
                    <a:bodyPr/>
                    <a:lstStyle/>
                    <a:p>
                      <a:pPr algn="just">
                        <a:lnSpc>
                          <a:spcPct val="115000"/>
                        </a:lnSpc>
                        <a:spcAft>
                          <a:spcPts val="0"/>
                        </a:spcAft>
                      </a:pPr>
                      <a:r>
                        <a:rPr lang="en-GB" sz="1200" dirty="0">
                          <a:latin typeface="Book Antiqua"/>
                          <a:ea typeface="Times New Roman"/>
                          <a:cs typeface="Arial"/>
                        </a:rPr>
                        <a:t>Encourage</a:t>
                      </a:r>
                      <a:endParaRPr lang="en-GB" sz="1100" dirty="0">
                        <a:latin typeface="Calibri"/>
                        <a:ea typeface="Calibri"/>
                        <a:cs typeface="Times New Roman"/>
                      </a:endParaRPr>
                    </a:p>
                  </a:txBody>
                  <a:tcPr marL="63500" marR="63500" marT="31750" marB="3175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00"/>
                    </a:solidFill>
                  </a:tcPr>
                </a:tc>
              </a:tr>
              <a:tr h="416046">
                <a:tc>
                  <a:txBody>
                    <a:bodyPr/>
                    <a:lstStyle/>
                    <a:p>
                      <a:pPr algn="just">
                        <a:lnSpc>
                          <a:spcPct val="115000"/>
                        </a:lnSpc>
                        <a:spcAft>
                          <a:spcPts val="0"/>
                        </a:spcAft>
                      </a:pPr>
                      <a:r>
                        <a:rPr lang="en-GB" sz="1200">
                          <a:latin typeface="Book Antiqua"/>
                          <a:ea typeface="Times New Roman"/>
                          <a:cs typeface="Arial"/>
                        </a:rPr>
                        <a:t>Folded arms</a:t>
                      </a:r>
                      <a:endParaRPr lang="en-GB" sz="1100">
                        <a:latin typeface="Calibri"/>
                        <a:ea typeface="Calibri"/>
                        <a:cs typeface="Times New Roman"/>
                      </a:endParaRPr>
                    </a:p>
                  </a:txBody>
                  <a:tcPr marL="63500" marR="63500" marT="31750" marB="3175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tcPr>
                </a:tc>
                <a:tc>
                  <a:txBody>
                    <a:bodyPr/>
                    <a:lstStyle/>
                    <a:p>
                      <a:pPr algn="just">
                        <a:lnSpc>
                          <a:spcPct val="115000"/>
                        </a:lnSpc>
                        <a:spcAft>
                          <a:spcPts val="0"/>
                        </a:spcAft>
                      </a:pPr>
                      <a:r>
                        <a:rPr lang="en-GB" sz="1200">
                          <a:latin typeface="Book Antiqua"/>
                          <a:ea typeface="Times New Roman"/>
                          <a:cs typeface="Arial"/>
                        </a:rPr>
                        <a:t>Positive hand movements</a:t>
                      </a:r>
                      <a:endParaRPr lang="en-GB" sz="1100">
                        <a:latin typeface="Calibri"/>
                        <a:ea typeface="Calibri"/>
                        <a:cs typeface="Times New Roman"/>
                      </a:endParaRPr>
                    </a:p>
                  </a:txBody>
                  <a:tcPr marL="63500" marR="63500" marT="31750" marB="3175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tcPr>
                </a:tc>
              </a:tr>
              <a:tr h="416046">
                <a:tc>
                  <a:txBody>
                    <a:bodyPr/>
                    <a:lstStyle/>
                    <a:p>
                      <a:pPr algn="just">
                        <a:lnSpc>
                          <a:spcPct val="115000"/>
                        </a:lnSpc>
                        <a:spcAft>
                          <a:spcPts val="0"/>
                        </a:spcAft>
                      </a:pPr>
                      <a:r>
                        <a:rPr lang="en-GB" sz="1200">
                          <a:latin typeface="Book Antiqua"/>
                          <a:ea typeface="Times New Roman"/>
                          <a:cs typeface="Arial"/>
                        </a:rPr>
                        <a:t>Arms acting as a barrier</a:t>
                      </a:r>
                      <a:endParaRPr lang="en-GB" sz="1100">
                        <a:latin typeface="Calibri"/>
                        <a:ea typeface="Calibri"/>
                        <a:cs typeface="Times New Roman"/>
                      </a:endParaRPr>
                    </a:p>
                  </a:txBody>
                  <a:tcPr marL="63500" marR="63500" marT="31750" marB="3175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tcPr>
                </a:tc>
                <a:tc>
                  <a:txBody>
                    <a:bodyPr/>
                    <a:lstStyle/>
                    <a:p>
                      <a:pPr algn="just">
                        <a:lnSpc>
                          <a:spcPct val="115000"/>
                        </a:lnSpc>
                        <a:spcAft>
                          <a:spcPts val="0"/>
                        </a:spcAft>
                      </a:pPr>
                      <a:r>
                        <a:rPr lang="en-GB" sz="1200">
                          <a:latin typeface="Book Antiqua"/>
                          <a:ea typeface="Times New Roman"/>
                          <a:cs typeface="Arial"/>
                        </a:rPr>
                        <a:t>Eye contact</a:t>
                      </a:r>
                      <a:endParaRPr lang="en-GB" sz="1100">
                        <a:latin typeface="Calibri"/>
                        <a:ea typeface="Calibri"/>
                        <a:cs typeface="Times New Roman"/>
                      </a:endParaRPr>
                    </a:p>
                  </a:txBody>
                  <a:tcPr marL="63500" marR="63500" marT="31750" marB="3175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tcPr>
                </a:tc>
              </a:tr>
              <a:tr h="416046">
                <a:tc>
                  <a:txBody>
                    <a:bodyPr/>
                    <a:lstStyle/>
                    <a:p>
                      <a:pPr algn="just">
                        <a:lnSpc>
                          <a:spcPct val="115000"/>
                        </a:lnSpc>
                        <a:spcAft>
                          <a:spcPts val="0"/>
                        </a:spcAft>
                      </a:pPr>
                      <a:r>
                        <a:rPr lang="en-GB" sz="1200">
                          <a:latin typeface="Book Antiqua"/>
                          <a:ea typeface="Times New Roman"/>
                          <a:cs typeface="Arial"/>
                        </a:rPr>
                        <a:t>Steeple fingers</a:t>
                      </a:r>
                      <a:endParaRPr lang="en-GB" sz="1100">
                        <a:latin typeface="Calibri"/>
                        <a:ea typeface="Calibri"/>
                        <a:cs typeface="Times New Roman"/>
                      </a:endParaRPr>
                    </a:p>
                  </a:txBody>
                  <a:tcPr marL="63500" marR="63500" marT="31750" marB="3175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tcPr>
                </a:tc>
                <a:tc>
                  <a:txBody>
                    <a:bodyPr/>
                    <a:lstStyle/>
                    <a:p>
                      <a:pPr algn="just">
                        <a:lnSpc>
                          <a:spcPct val="115000"/>
                        </a:lnSpc>
                        <a:spcAft>
                          <a:spcPts val="0"/>
                        </a:spcAft>
                      </a:pPr>
                      <a:r>
                        <a:rPr lang="en-GB" sz="1200">
                          <a:latin typeface="Book Antiqua"/>
                          <a:ea typeface="Times New Roman"/>
                          <a:cs typeface="Arial"/>
                        </a:rPr>
                        <a:t>Smiling</a:t>
                      </a:r>
                      <a:endParaRPr lang="en-GB" sz="1100">
                        <a:latin typeface="Calibri"/>
                        <a:ea typeface="Calibri"/>
                        <a:cs typeface="Times New Roman"/>
                      </a:endParaRPr>
                    </a:p>
                  </a:txBody>
                  <a:tcPr marL="63500" marR="63500" marT="31750" marB="3175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tcPr>
                </a:tc>
              </a:tr>
              <a:tr h="416046">
                <a:tc>
                  <a:txBody>
                    <a:bodyPr/>
                    <a:lstStyle/>
                    <a:p>
                      <a:pPr algn="just">
                        <a:lnSpc>
                          <a:spcPct val="115000"/>
                        </a:lnSpc>
                        <a:spcAft>
                          <a:spcPts val="0"/>
                        </a:spcAft>
                      </a:pPr>
                      <a:r>
                        <a:rPr lang="en-GB" sz="1200">
                          <a:latin typeface="Book Antiqua"/>
                          <a:ea typeface="Times New Roman"/>
                          <a:cs typeface="Arial"/>
                        </a:rPr>
                        <a:t>Clutching anything tightly</a:t>
                      </a:r>
                      <a:endParaRPr lang="en-GB" sz="1100">
                        <a:latin typeface="Calibri"/>
                        <a:ea typeface="Calibri"/>
                        <a:cs typeface="Times New Roman"/>
                      </a:endParaRPr>
                    </a:p>
                  </a:txBody>
                  <a:tcPr marL="63500" marR="63500" marT="31750" marB="3175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tcPr>
                </a:tc>
                <a:tc>
                  <a:txBody>
                    <a:bodyPr/>
                    <a:lstStyle/>
                    <a:p>
                      <a:pPr algn="just">
                        <a:lnSpc>
                          <a:spcPct val="115000"/>
                        </a:lnSpc>
                        <a:spcAft>
                          <a:spcPts val="0"/>
                        </a:spcAft>
                      </a:pPr>
                      <a:r>
                        <a:rPr lang="en-GB" sz="1200" dirty="0">
                          <a:latin typeface="Book Antiqua"/>
                          <a:ea typeface="Times New Roman"/>
                          <a:cs typeface="Arial"/>
                        </a:rPr>
                        <a:t>Some movement</a:t>
                      </a:r>
                      <a:endParaRPr lang="en-GB" sz="1100" dirty="0">
                        <a:latin typeface="Calibri"/>
                        <a:ea typeface="Calibri"/>
                        <a:cs typeface="Times New Roman"/>
                      </a:endParaRPr>
                    </a:p>
                  </a:txBody>
                  <a:tcPr marL="63500" marR="63500" marT="31750" marB="3175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tcPr>
                </a:tc>
              </a:tr>
              <a:tr h="416046">
                <a:tc>
                  <a:txBody>
                    <a:bodyPr/>
                    <a:lstStyle/>
                    <a:p>
                      <a:pPr algn="just">
                        <a:lnSpc>
                          <a:spcPct val="115000"/>
                        </a:lnSpc>
                        <a:spcAft>
                          <a:spcPts val="0"/>
                        </a:spcAft>
                      </a:pPr>
                      <a:r>
                        <a:rPr lang="en-GB" sz="1200">
                          <a:latin typeface="Book Antiqua"/>
                          <a:ea typeface="Times New Roman"/>
                          <a:cs typeface="Arial"/>
                        </a:rPr>
                        <a:t>Hand holding/wringing</a:t>
                      </a:r>
                      <a:endParaRPr lang="en-GB" sz="1100">
                        <a:latin typeface="Calibri"/>
                        <a:ea typeface="Calibri"/>
                        <a:cs typeface="Times New Roman"/>
                      </a:endParaRPr>
                    </a:p>
                  </a:txBody>
                  <a:tcPr marL="63500" marR="63500" marT="31750" marB="3175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tcPr>
                </a:tc>
                <a:tc>
                  <a:txBody>
                    <a:bodyPr/>
                    <a:lstStyle/>
                    <a:p>
                      <a:pPr algn="just">
                        <a:lnSpc>
                          <a:spcPct val="115000"/>
                        </a:lnSpc>
                        <a:spcAft>
                          <a:spcPts val="0"/>
                        </a:spcAft>
                      </a:pPr>
                      <a:r>
                        <a:rPr lang="en-GB" sz="1200">
                          <a:latin typeface="Book Antiqua"/>
                          <a:ea typeface="Times New Roman"/>
                          <a:cs typeface="Arial"/>
                        </a:rPr>
                        <a:t>Standing open and grounded</a:t>
                      </a:r>
                      <a:endParaRPr lang="en-GB" sz="1100">
                        <a:latin typeface="Calibri"/>
                        <a:ea typeface="Calibri"/>
                        <a:cs typeface="Times New Roman"/>
                      </a:endParaRPr>
                    </a:p>
                  </a:txBody>
                  <a:tcPr marL="63500" marR="63500" marT="31750" marB="3175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tcPr>
                </a:tc>
              </a:tr>
              <a:tr h="416046">
                <a:tc>
                  <a:txBody>
                    <a:bodyPr/>
                    <a:lstStyle/>
                    <a:p>
                      <a:pPr algn="just">
                        <a:lnSpc>
                          <a:spcPct val="115000"/>
                        </a:lnSpc>
                        <a:spcAft>
                          <a:spcPts val="0"/>
                        </a:spcAft>
                      </a:pPr>
                      <a:r>
                        <a:rPr lang="en-GB" sz="1200">
                          <a:latin typeface="Book Antiqua"/>
                          <a:ea typeface="Times New Roman"/>
                          <a:cs typeface="Arial"/>
                        </a:rPr>
                        <a:t>Going on tip toe</a:t>
                      </a:r>
                      <a:endParaRPr lang="en-GB" sz="1100">
                        <a:latin typeface="Calibri"/>
                        <a:ea typeface="Calibri"/>
                        <a:cs typeface="Times New Roman"/>
                      </a:endParaRPr>
                    </a:p>
                  </a:txBody>
                  <a:tcPr marL="63500" marR="63500" marT="31750" marB="3175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tcPr>
                </a:tc>
                <a:tc>
                  <a:txBody>
                    <a:bodyPr/>
                    <a:lstStyle/>
                    <a:p>
                      <a:pPr algn="just">
                        <a:lnSpc>
                          <a:spcPct val="115000"/>
                        </a:lnSpc>
                        <a:spcAft>
                          <a:spcPts val="0"/>
                        </a:spcAft>
                      </a:pPr>
                      <a:r>
                        <a:rPr lang="en-GB" sz="1200">
                          <a:latin typeface="Book Antiqua"/>
                          <a:ea typeface="Times New Roman"/>
                          <a:cs typeface="Arial"/>
                        </a:rPr>
                        <a:t>Open hands</a:t>
                      </a:r>
                      <a:endParaRPr lang="en-GB" sz="1100">
                        <a:latin typeface="Calibri"/>
                        <a:ea typeface="Calibri"/>
                        <a:cs typeface="Times New Roman"/>
                      </a:endParaRPr>
                    </a:p>
                  </a:txBody>
                  <a:tcPr marL="63500" marR="63500" marT="31750" marB="3175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tcPr>
                </a:tc>
              </a:tr>
              <a:tr h="416046">
                <a:tc>
                  <a:txBody>
                    <a:bodyPr/>
                    <a:lstStyle/>
                    <a:p>
                      <a:pPr algn="just">
                        <a:lnSpc>
                          <a:spcPct val="115000"/>
                        </a:lnSpc>
                        <a:spcAft>
                          <a:spcPts val="0"/>
                        </a:spcAft>
                      </a:pPr>
                      <a:r>
                        <a:rPr lang="en-GB" sz="1200">
                          <a:latin typeface="Book Antiqua"/>
                          <a:ea typeface="Times New Roman"/>
                          <a:cs typeface="Arial"/>
                        </a:rPr>
                        <a:t>Fiddling</a:t>
                      </a:r>
                      <a:endParaRPr lang="en-GB" sz="1100">
                        <a:latin typeface="Calibri"/>
                        <a:ea typeface="Calibri"/>
                        <a:cs typeface="Times New Roman"/>
                      </a:endParaRPr>
                    </a:p>
                  </a:txBody>
                  <a:tcPr marL="63500" marR="63500" marT="31750" marB="3175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tcPr>
                </a:tc>
                <a:tc>
                  <a:txBody>
                    <a:bodyPr/>
                    <a:lstStyle/>
                    <a:p>
                      <a:pPr algn="just">
                        <a:lnSpc>
                          <a:spcPct val="115000"/>
                        </a:lnSpc>
                        <a:spcAft>
                          <a:spcPts val="0"/>
                        </a:spcAft>
                      </a:pPr>
                      <a:r>
                        <a:rPr lang="en-GB" sz="1200">
                          <a:latin typeface="Book Antiqua"/>
                          <a:ea typeface="Times New Roman"/>
                          <a:cs typeface="Arial"/>
                        </a:rPr>
                        <a:t> </a:t>
                      </a:r>
                      <a:endParaRPr lang="en-GB" sz="1100">
                        <a:latin typeface="Calibri"/>
                        <a:ea typeface="Calibri"/>
                        <a:cs typeface="Times New Roman"/>
                      </a:endParaRPr>
                    </a:p>
                  </a:txBody>
                  <a:tcPr marL="63500" marR="63500" marT="31750" marB="3175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tcPr>
                </a:tc>
              </a:tr>
              <a:tr h="416046">
                <a:tc>
                  <a:txBody>
                    <a:bodyPr/>
                    <a:lstStyle/>
                    <a:p>
                      <a:pPr algn="just">
                        <a:lnSpc>
                          <a:spcPct val="115000"/>
                        </a:lnSpc>
                        <a:spcAft>
                          <a:spcPts val="0"/>
                        </a:spcAft>
                      </a:pPr>
                      <a:r>
                        <a:rPr lang="en-GB" sz="1200">
                          <a:latin typeface="Book Antiqua"/>
                          <a:ea typeface="Times New Roman"/>
                          <a:cs typeface="Arial"/>
                        </a:rPr>
                        <a:t>Hands in pockets</a:t>
                      </a:r>
                      <a:endParaRPr lang="en-GB" sz="1100">
                        <a:latin typeface="Calibri"/>
                        <a:ea typeface="Calibri"/>
                        <a:cs typeface="Times New Roman"/>
                      </a:endParaRPr>
                    </a:p>
                  </a:txBody>
                  <a:tcPr marL="63500" marR="63500" marT="31750" marB="3175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tcPr>
                </a:tc>
                <a:tc>
                  <a:txBody>
                    <a:bodyPr/>
                    <a:lstStyle/>
                    <a:p>
                      <a:pPr>
                        <a:lnSpc>
                          <a:spcPct val="115000"/>
                        </a:lnSpc>
                      </a:pPr>
                      <a:endParaRPr lang="en-GB" sz="1100" dirty="0">
                        <a:latin typeface="Calibri"/>
                      </a:endParaRPr>
                    </a:p>
                  </a:txBody>
                  <a:tcPr marL="0" marR="0" marT="0" marB="0" anchor="ctr">
                    <a:lnL w="12700" cap="flat" cmpd="sng" algn="ctr">
                      <a:solidFill>
                        <a:srgbClr val="E4E4E4"/>
                      </a:solidFill>
                      <a:prstDash val="solid"/>
                      <a:round/>
                      <a:headEnd type="none" w="med" len="med"/>
                      <a:tailEnd type="none" w="med" len="med"/>
                    </a:lnL>
                    <a:lnR>
                      <a:noFill/>
                    </a:lnR>
                    <a:lnT w="12700" cap="flat" cmpd="sng" algn="ctr">
                      <a:solidFill>
                        <a:srgbClr val="E4E4E4"/>
                      </a:solidFill>
                      <a:prstDash val="solid"/>
                      <a:round/>
                      <a:headEnd type="none" w="med" len="med"/>
                      <a:tailEnd type="none" w="med" len="med"/>
                    </a:lnT>
                    <a:lnB>
                      <a:noFill/>
                    </a:lnB>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Handling of visual aids</a:t>
            </a:r>
            <a:endParaRPr lang="en-GB" dirty="0"/>
          </a:p>
        </p:txBody>
      </p:sp>
      <p:sp>
        <p:nvSpPr>
          <p:cNvPr id="3" name="Content Placeholder 2"/>
          <p:cNvSpPr>
            <a:spLocks noGrp="1"/>
          </p:cNvSpPr>
          <p:nvPr>
            <p:ph idx="1"/>
          </p:nvPr>
        </p:nvSpPr>
        <p:spPr/>
        <p:txBody>
          <a:bodyPr>
            <a:normAutofit fontScale="77500" lnSpcReduction="20000"/>
          </a:bodyPr>
          <a:lstStyle/>
          <a:p>
            <a:r>
              <a:rPr lang="en-GB" b="1" dirty="0" smtClean="0"/>
              <a:t>Why use visuals?</a:t>
            </a:r>
            <a:endParaRPr lang="en-GB" dirty="0" smtClean="0"/>
          </a:p>
          <a:p>
            <a:pPr lvl="0"/>
            <a:r>
              <a:rPr lang="en-GB" dirty="0" smtClean="0"/>
              <a:t>to focus the audience's attention </a:t>
            </a:r>
          </a:p>
          <a:p>
            <a:pPr lvl="0"/>
            <a:r>
              <a:rPr lang="en-GB" dirty="0" smtClean="0"/>
              <a:t>to illustrate points easier to understand in visual form but difficult in a verbal form (e.g. statistics) </a:t>
            </a:r>
          </a:p>
          <a:p>
            <a:pPr lvl="0"/>
            <a:r>
              <a:rPr lang="en-GB" dirty="0" smtClean="0"/>
              <a:t>to reinforce ideas </a:t>
            </a:r>
          </a:p>
          <a:p>
            <a:pPr lvl="0"/>
            <a:r>
              <a:rPr lang="en-GB" dirty="0" smtClean="0"/>
              <a:t>to change focus from aural/oral to visual </a:t>
            </a:r>
          </a:p>
          <a:p>
            <a:pPr lvl="0"/>
            <a:r>
              <a:rPr lang="en-GB" dirty="0" smtClean="0"/>
              <a:t>to involve and motivate the audience </a:t>
            </a:r>
          </a:p>
          <a:p>
            <a:pPr lvl="0"/>
            <a:r>
              <a:rPr lang="en-GB" dirty="0" smtClean="0"/>
              <a:t>to involve all the senses </a:t>
            </a:r>
          </a:p>
          <a:p>
            <a:pPr lvl="0"/>
            <a:r>
              <a:rPr lang="en-GB" dirty="0" smtClean="0"/>
              <a:t>to help the </a:t>
            </a:r>
            <a:r>
              <a:rPr lang="en-GB" dirty="0" smtClean="0"/>
              <a:t>speaker</a:t>
            </a:r>
          </a:p>
          <a:p>
            <a:pPr lvl="0"/>
            <a:r>
              <a:rPr lang="en-GB" dirty="0" smtClean="0"/>
              <a:t>Examples: graphs, charts, videos, pictures, drawings etc</a:t>
            </a:r>
            <a:endParaRPr lang="en-GB" dirty="0" smtClean="0"/>
          </a:p>
          <a:p>
            <a:endParaRPr lang="en-GB"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b="1" dirty="0" smtClean="0"/>
              <a:t>What should you put on a visual? </a:t>
            </a:r>
            <a:endParaRPr lang="en-GB" dirty="0" smtClean="0"/>
          </a:p>
          <a:p>
            <a:pPr lvl="0"/>
            <a:r>
              <a:rPr lang="en-GB" dirty="0" smtClean="0"/>
              <a:t>key words </a:t>
            </a:r>
          </a:p>
          <a:p>
            <a:pPr lvl="0"/>
            <a:r>
              <a:rPr lang="en-GB" dirty="0" smtClean="0"/>
              <a:t>technical words </a:t>
            </a:r>
          </a:p>
          <a:p>
            <a:pPr lvl="0"/>
            <a:r>
              <a:rPr lang="en-GB" dirty="0" smtClean="0"/>
              <a:t>lists</a:t>
            </a:r>
          </a:p>
          <a:p>
            <a:pPr lvl="0"/>
            <a:r>
              <a:rPr lang="en-GB" dirty="0" smtClean="0"/>
              <a:t>examples </a:t>
            </a:r>
          </a:p>
          <a:p>
            <a:pPr lvl="0"/>
            <a:r>
              <a:rPr lang="en-GB" dirty="0" smtClean="0"/>
              <a:t>diagrams </a:t>
            </a:r>
          </a:p>
          <a:p>
            <a:endParaRPr lang="en-GB" dirty="0"/>
          </a:p>
        </p:txBody>
      </p:sp>
    </p:spTree>
  </p:cSld>
  <p:clrMapOvr>
    <a:masterClrMapping/>
  </p:clrMapOvr>
</p:sld>
</file>

<file path=ppt/theme/theme1.xml><?xml version="1.0" encoding="utf-8"?>
<a:theme xmlns:a="http://schemas.openxmlformats.org/drawingml/2006/main" name="Theme1">
  <a:themeElements>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Capsul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81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381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5584</TotalTime>
  <Words>3668</Words>
  <Application>Microsoft Office PowerPoint</Application>
  <PresentationFormat>On-screen Show (4:3)</PresentationFormat>
  <Paragraphs>340</Paragraphs>
  <Slides>56</Slides>
  <Notes>3</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56</vt:i4>
      </vt:variant>
    </vt:vector>
  </HeadingPairs>
  <TitlesOfParts>
    <vt:vector size="58" baseType="lpstr">
      <vt:lpstr>Theme1</vt:lpstr>
      <vt:lpstr>Microsoft Excel Worksheet</vt:lpstr>
      <vt:lpstr>LECTURE 7</vt:lpstr>
      <vt:lpstr>Oral Communication</vt:lpstr>
      <vt:lpstr>Introduction</vt:lpstr>
      <vt:lpstr>Expected learning Outcomes</vt:lpstr>
      <vt:lpstr>Definition of terms</vt:lpstr>
      <vt:lpstr>What is Oral presentation?</vt:lpstr>
      <vt:lpstr>Oral presentation and public speaking: synonymous?</vt:lpstr>
      <vt:lpstr>Slide 8</vt:lpstr>
      <vt:lpstr>Some examples of short oral Presentations</vt:lpstr>
      <vt:lpstr>Examples of Long Formal  Presentations</vt:lpstr>
      <vt:lpstr>Purposes of Oral Presentation </vt:lpstr>
      <vt:lpstr>a) Informative speeches</vt:lpstr>
      <vt:lpstr>b. Persuasive speeches</vt:lpstr>
      <vt:lpstr>c. Motivational speeches</vt:lpstr>
      <vt:lpstr>4. Entertaining speeches</vt:lpstr>
      <vt:lpstr>Qualities of a good Speaker </vt:lpstr>
      <vt:lpstr>Slide 17</vt:lpstr>
      <vt:lpstr>Steps for Planning a Successful Oral Presentation</vt:lpstr>
      <vt:lpstr>Step 1:Set your objective</vt:lpstr>
      <vt:lpstr>Step 2: Decide on the main purpose of your talk </vt:lpstr>
      <vt:lpstr>Step 3:Analyze your audience</vt:lpstr>
      <vt:lpstr>Analyzing your audience</vt:lpstr>
      <vt:lpstr>Step 4:Know your setting</vt:lpstr>
      <vt:lpstr>Step 5: Research your topic</vt:lpstr>
      <vt:lpstr>Write your presentation outline</vt:lpstr>
      <vt:lpstr>Slide 26</vt:lpstr>
      <vt:lpstr>STRUCTURING YOUR PRESENTATION</vt:lpstr>
      <vt:lpstr>Outlining Your Presentation</vt:lpstr>
      <vt:lpstr>1. Introduction</vt:lpstr>
      <vt:lpstr>The structure of an introduction</vt:lpstr>
      <vt:lpstr>2. Greet the audience</vt:lpstr>
      <vt:lpstr>3. Introduce yourself, (name, position, and company) </vt:lpstr>
      <vt:lpstr>Slide 33</vt:lpstr>
      <vt:lpstr>4.Introduce  the subject </vt:lpstr>
      <vt:lpstr>Slide 35</vt:lpstr>
      <vt:lpstr>Slide 36</vt:lpstr>
      <vt:lpstr>5. Give your objectives (purpose, aim, goals) </vt:lpstr>
      <vt:lpstr>6.Announce your outline.</vt:lpstr>
      <vt:lpstr>7.Questions and comments from the audience. </vt:lpstr>
      <vt:lpstr>2. THE MIDDLE (The Main Body)</vt:lpstr>
      <vt:lpstr>Slide 41</vt:lpstr>
      <vt:lpstr>3. Conclusion</vt:lpstr>
      <vt:lpstr>How to end your speech/talk</vt:lpstr>
      <vt:lpstr>Answering questions</vt:lpstr>
      <vt:lpstr>Dealing with difficult questions</vt:lpstr>
      <vt:lpstr>Delivering the Speech</vt:lpstr>
      <vt:lpstr>Delivering the speech</vt:lpstr>
      <vt:lpstr>Delivering the speech</vt:lpstr>
      <vt:lpstr>Delivering the speech</vt:lpstr>
      <vt:lpstr>Slide 50</vt:lpstr>
      <vt:lpstr>Effective Delivery techniques</vt:lpstr>
      <vt:lpstr>Slide 52</vt:lpstr>
      <vt:lpstr>Body language during your presentation</vt:lpstr>
      <vt:lpstr>Do’s and Don’ts</vt:lpstr>
      <vt:lpstr>Handling of visual aids</vt:lpstr>
      <vt:lpstr>Slide 56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7</dc:title>
  <dc:creator>Caren Ogola</dc:creator>
  <cp:lastModifiedBy>Caren Ogola</cp:lastModifiedBy>
  <cp:revision>189</cp:revision>
  <dcterms:created xsi:type="dcterms:W3CDTF">2021-04-23T09:59:12Z</dcterms:created>
  <dcterms:modified xsi:type="dcterms:W3CDTF">2021-04-27T07:03:18Z</dcterms:modified>
</cp:coreProperties>
</file>