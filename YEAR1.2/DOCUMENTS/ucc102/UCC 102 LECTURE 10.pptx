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57" r:id="rId4"/>
    <p:sldId id="259" r:id="rId5"/>
    <p:sldId id="260" r:id="rId6"/>
    <p:sldId id="261" r:id="rId7"/>
    <p:sldId id="262" r:id="rId8"/>
    <p:sldId id="263" r:id="rId9"/>
    <p:sldId id="264" r:id="rId10"/>
    <p:sldId id="265" r:id="rId11"/>
    <p:sldId id="266" r:id="rId12"/>
    <p:sldId id="280" r:id="rId13"/>
    <p:sldId id="281" r:id="rId14"/>
    <p:sldId id="267" r:id="rId15"/>
    <p:sldId id="268" r:id="rId16"/>
    <p:sldId id="269" r:id="rId17"/>
    <p:sldId id="270" r:id="rId18"/>
    <p:sldId id="271" r:id="rId19"/>
    <p:sldId id="272" r:id="rId20"/>
    <p:sldId id="274" r:id="rId21"/>
    <p:sldId id="275" r:id="rId22"/>
    <p:sldId id="276" r:id="rId23"/>
    <p:sldId id="277" r:id="rId24"/>
    <p:sldId id="278"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060" y="-7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5CB280AA-2E4C-4752-84A0-465FB46095CE}" type="datetimeFigureOut">
              <a:rPr lang="en-GB" smtClean="0"/>
              <a:pPr/>
              <a:t>19/05/2021</a:t>
            </a:fld>
            <a:endParaRPr lang="en-GB"/>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GB"/>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3843609D-F221-4DC0-9A73-5E60AE148BB8}"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CB280AA-2E4C-4752-84A0-465FB46095CE}" type="datetimeFigureOut">
              <a:rPr lang="en-GB" smtClean="0"/>
              <a:pPr/>
              <a:t>19/05/2021</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3843609D-F221-4DC0-9A73-5E60AE148BB8}"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5CB280AA-2E4C-4752-84A0-465FB46095CE}" type="datetimeFigureOut">
              <a:rPr lang="en-GB" smtClean="0"/>
              <a:pPr/>
              <a:t>19/05/2021</a:t>
            </a:fld>
            <a:endParaRPr lang="en-GB"/>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GB"/>
          </a:p>
        </p:txBody>
      </p:sp>
      <p:sp>
        <p:nvSpPr>
          <p:cNvPr id="6" name="Slide Number Placeholder 5"/>
          <p:cNvSpPr>
            <a:spLocks noGrp="1"/>
          </p:cNvSpPr>
          <p:nvPr>
            <p:ph type="sldNum" sz="quarter" idx="12"/>
          </p:nvPr>
        </p:nvSpPr>
        <p:spPr>
          <a:xfrm>
            <a:off x="6733952" y="6555112"/>
            <a:ext cx="588336" cy="228600"/>
          </a:xfrm>
        </p:spPr>
        <p:txBody>
          <a:bodyPr/>
          <a:lstStyle>
            <a:extLst/>
          </a:lstStyle>
          <a:p>
            <a:fld id="{3843609D-F221-4DC0-9A73-5E60AE148BB8}"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CB280AA-2E4C-4752-84A0-465FB46095CE}" type="datetimeFigureOut">
              <a:rPr lang="en-GB" smtClean="0"/>
              <a:pPr/>
              <a:t>19/05/2021</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3843609D-F221-4DC0-9A73-5E60AE148BB8}"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CB280AA-2E4C-4752-84A0-465FB46095CE}" type="datetimeFigureOut">
              <a:rPr lang="en-GB" smtClean="0"/>
              <a:pPr/>
              <a:t>19/05/2021</a:t>
            </a:fld>
            <a:endParaRPr lang="en-GB"/>
          </a:p>
        </p:txBody>
      </p:sp>
      <p:sp>
        <p:nvSpPr>
          <p:cNvPr id="8" name="Footer Placeholder 7"/>
          <p:cNvSpPr>
            <a:spLocks noGrp="1"/>
          </p:cNvSpPr>
          <p:nvPr>
            <p:ph type="ftr" sz="quarter" idx="11"/>
          </p:nvPr>
        </p:nvSpPr>
        <p:spPr/>
        <p:txBody>
          <a:bodyPr/>
          <a:lstStyle>
            <a:extLst/>
          </a:lstStyle>
          <a:p>
            <a:endParaRPr lang="en-GB"/>
          </a:p>
        </p:txBody>
      </p:sp>
      <p:sp>
        <p:nvSpPr>
          <p:cNvPr id="9" name="Slide Number Placeholder 8"/>
          <p:cNvSpPr>
            <a:spLocks noGrp="1"/>
          </p:cNvSpPr>
          <p:nvPr>
            <p:ph type="sldNum" sz="quarter" idx="12"/>
          </p:nvPr>
        </p:nvSpPr>
        <p:spPr/>
        <p:txBody>
          <a:bodyPr/>
          <a:lstStyle>
            <a:extLst/>
          </a:lstStyle>
          <a:p>
            <a:fld id="{3843609D-F221-4DC0-9A73-5E60AE148BB8}"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5CB280AA-2E4C-4752-84A0-465FB46095CE}" type="datetimeFigureOut">
              <a:rPr lang="en-GB" smtClean="0"/>
              <a:pPr/>
              <a:t>19/05/2021</a:t>
            </a:fld>
            <a:endParaRPr lang="en-GB"/>
          </a:p>
        </p:txBody>
      </p:sp>
      <p:sp>
        <p:nvSpPr>
          <p:cNvPr id="4" name="Footer Placeholder 3"/>
          <p:cNvSpPr>
            <a:spLocks noGrp="1"/>
          </p:cNvSpPr>
          <p:nvPr>
            <p:ph type="ftr" sz="quarter" idx="11"/>
          </p:nvPr>
        </p:nvSpPr>
        <p:spPr/>
        <p:txBody>
          <a:bodyPr/>
          <a:lstStyle>
            <a:extLst/>
          </a:lstStyle>
          <a:p>
            <a:endParaRPr lang="en-GB"/>
          </a:p>
        </p:txBody>
      </p:sp>
      <p:sp>
        <p:nvSpPr>
          <p:cNvPr id="5" name="Slide Number Placeholder 4"/>
          <p:cNvSpPr>
            <a:spLocks noGrp="1"/>
          </p:cNvSpPr>
          <p:nvPr>
            <p:ph type="sldNum" sz="quarter" idx="12"/>
          </p:nvPr>
        </p:nvSpPr>
        <p:spPr/>
        <p:txBody>
          <a:bodyPr/>
          <a:lstStyle>
            <a:extLst/>
          </a:lstStyle>
          <a:p>
            <a:fld id="{3843609D-F221-4DC0-9A73-5E60AE148BB8}"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5CB280AA-2E4C-4752-84A0-465FB46095CE}" type="datetimeFigureOut">
              <a:rPr lang="en-GB" smtClean="0"/>
              <a:pPr/>
              <a:t>19/05/2021</a:t>
            </a:fld>
            <a:endParaRPr lang="en-GB"/>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GB"/>
          </a:p>
        </p:txBody>
      </p:sp>
      <p:sp>
        <p:nvSpPr>
          <p:cNvPr id="4" name="Slide Number Placeholder 3"/>
          <p:cNvSpPr>
            <a:spLocks noGrp="1"/>
          </p:cNvSpPr>
          <p:nvPr>
            <p:ph type="sldNum" sz="quarter" idx="12"/>
          </p:nvPr>
        </p:nvSpPr>
        <p:spPr/>
        <p:txBody>
          <a:bodyPr/>
          <a:lstStyle>
            <a:extLst/>
          </a:lstStyle>
          <a:p>
            <a:fld id="{3843609D-F221-4DC0-9A73-5E60AE148BB8}"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CB280AA-2E4C-4752-84A0-465FB46095CE}" type="datetimeFigureOut">
              <a:rPr lang="en-GB" smtClean="0"/>
              <a:pPr/>
              <a:t>19/05/2021</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3843609D-F221-4DC0-9A73-5E60AE148BB8}"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5CB280AA-2E4C-4752-84A0-465FB46095CE}" type="datetimeFigureOut">
              <a:rPr lang="en-GB" smtClean="0"/>
              <a:pPr/>
              <a:t>19/05/2021</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3843609D-F221-4DC0-9A73-5E60AE148BB8}" type="slidenum">
              <a:rPr lang="en-GB" smtClean="0"/>
              <a:pPr/>
              <a:t>‹#›</a:t>
            </a:fld>
            <a:endParaRPr lang="en-GB"/>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CB280AA-2E4C-4752-84A0-465FB46095CE}" type="datetimeFigureOut">
              <a:rPr lang="en-GB" smtClean="0"/>
              <a:pPr/>
              <a:t>19/05/2021</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3843609D-F221-4DC0-9A73-5E60AE148BB8}"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5CB280AA-2E4C-4752-84A0-465FB46095CE}" type="datetimeFigureOut">
              <a:rPr lang="en-GB" smtClean="0"/>
              <a:pPr/>
              <a:t>19/05/2021</a:t>
            </a:fld>
            <a:endParaRPr lang="en-GB"/>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GB"/>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3843609D-F221-4DC0-9A73-5E60AE148BB8}"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5CB280AA-2E4C-4752-84A0-465FB46095CE}" type="datetimeFigureOut">
              <a:rPr lang="en-GB" smtClean="0"/>
              <a:pPr/>
              <a:t>19/05/2021</a:t>
            </a:fld>
            <a:endParaRPr lang="en-GB"/>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GB"/>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3843609D-F221-4DC0-9A73-5E60AE148BB8}"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LECTURE 10</a:t>
            </a:r>
            <a:endParaRPr lang="en-GB" dirty="0"/>
          </a:p>
        </p:txBody>
      </p:sp>
      <p:sp>
        <p:nvSpPr>
          <p:cNvPr id="3" name="Subtitle 2"/>
          <p:cNvSpPr>
            <a:spLocks noGrp="1"/>
          </p:cNvSpPr>
          <p:nvPr>
            <p:ph type="subTitle" idx="1"/>
          </p:nvPr>
        </p:nvSpPr>
        <p:spPr/>
        <p:txBody>
          <a:bodyPr/>
          <a:lstStyle/>
          <a:p>
            <a:r>
              <a:rPr lang="en-US" dirty="0"/>
              <a:t>NONVERBAL COMMUNICATION SKILLS</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Learning outcomes</a:t>
            </a:r>
            <a:endParaRPr lang="en-GB" dirty="0"/>
          </a:p>
        </p:txBody>
      </p:sp>
      <p:sp>
        <p:nvSpPr>
          <p:cNvPr id="3" name="Content Placeholder 2"/>
          <p:cNvSpPr>
            <a:spLocks noGrp="1"/>
          </p:cNvSpPr>
          <p:nvPr>
            <p:ph idx="1"/>
          </p:nvPr>
        </p:nvSpPr>
        <p:spPr/>
        <p:txBody>
          <a:bodyPr/>
          <a:lstStyle/>
          <a:p>
            <a:pPr lvl="0"/>
            <a:r>
              <a:rPr lang="en-GB" dirty="0" smtClean="0"/>
              <a:t>Define nonverbal communication.</a:t>
            </a:r>
          </a:p>
          <a:p>
            <a:pPr lvl="0"/>
            <a:r>
              <a:rPr lang="en-GB" dirty="0" smtClean="0"/>
              <a:t>Discuss </a:t>
            </a:r>
            <a:r>
              <a:rPr lang="en-GB" dirty="0" smtClean="0"/>
              <a:t>the principles of nonverbal communication.</a:t>
            </a:r>
          </a:p>
          <a:p>
            <a:pPr lvl="0"/>
            <a:r>
              <a:rPr lang="en-GB" dirty="0" smtClean="0"/>
              <a:t>Provide examples of the functions of nonverbal communication.</a:t>
            </a:r>
          </a:p>
          <a:p>
            <a:pPr lvl="0"/>
            <a:r>
              <a:rPr lang="en-US" dirty="0" smtClean="0"/>
              <a:t>effectually read body language cues from people and respond to them appropriately.</a:t>
            </a:r>
            <a:endParaRPr lang="en-GB" dirty="0" smtClean="0"/>
          </a:p>
          <a:p>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a:t>
            </a:r>
            <a:endParaRPr lang="en-GB" dirty="0"/>
          </a:p>
        </p:txBody>
      </p:sp>
      <p:sp>
        <p:nvSpPr>
          <p:cNvPr id="3" name="Content Placeholder 2"/>
          <p:cNvSpPr>
            <a:spLocks noGrp="1"/>
          </p:cNvSpPr>
          <p:nvPr>
            <p:ph idx="1"/>
          </p:nvPr>
        </p:nvSpPr>
        <p:spPr/>
        <p:txBody>
          <a:bodyPr>
            <a:normAutofit fontScale="92500" lnSpcReduction="20000"/>
          </a:bodyPr>
          <a:lstStyle/>
          <a:p>
            <a:r>
              <a:rPr lang="en-US" dirty="0" smtClean="0"/>
              <a:t>much of the meaning we derive from communication, comes from non-verbal cues.</a:t>
            </a:r>
          </a:p>
          <a:p>
            <a:r>
              <a:rPr lang="en-US" dirty="0" smtClean="0"/>
              <a:t>Although we may express meaning verbally, the non-verbal cues play a critical role in conveying the meaning and forming judgments about others. </a:t>
            </a:r>
            <a:endParaRPr lang="en-US" dirty="0" smtClean="0"/>
          </a:p>
          <a:p>
            <a:r>
              <a:rPr lang="en-US" dirty="0" smtClean="0"/>
              <a:t>Most often </a:t>
            </a:r>
            <a:r>
              <a:rPr lang="en-US" dirty="0" smtClean="0"/>
              <a:t>we give a deeper meaning to our </a:t>
            </a:r>
            <a:r>
              <a:rPr lang="en-US" dirty="0" smtClean="0"/>
              <a:t>words and convey </a:t>
            </a:r>
            <a:r>
              <a:rPr lang="en-US" dirty="0" smtClean="0"/>
              <a:t>our emotions and feelings,  </a:t>
            </a:r>
            <a:r>
              <a:rPr lang="en-US" dirty="0" smtClean="0"/>
              <a:t>through </a:t>
            </a:r>
            <a:r>
              <a:rPr lang="en-US" dirty="0" smtClean="0"/>
              <a:t>wordless cues such as tone, </a:t>
            </a:r>
            <a:r>
              <a:rPr lang="en-US" dirty="0" smtClean="0"/>
              <a:t>gestures,  </a:t>
            </a:r>
            <a:r>
              <a:rPr lang="en-US" dirty="0" smtClean="0"/>
              <a:t>facial </a:t>
            </a:r>
            <a:r>
              <a:rPr lang="en-US" dirty="0" smtClean="0"/>
              <a:t>expressions etc</a:t>
            </a:r>
            <a:endParaRPr lang="en-US" dirty="0" smtClean="0"/>
          </a:p>
          <a:p>
            <a:r>
              <a:rPr lang="en-US" b="1" dirty="0" smtClean="0"/>
              <a:t>NB</a:t>
            </a:r>
            <a:r>
              <a:rPr lang="en-US" dirty="0" smtClean="0"/>
              <a:t> verbal </a:t>
            </a:r>
            <a:r>
              <a:rPr lang="en-US" dirty="0" smtClean="0"/>
              <a:t>and nonverbal messages may conflict </a:t>
            </a:r>
            <a:r>
              <a:rPr lang="en-US" dirty="0" err="1" smtClean="0"/>
              <a:t>eg</a:t>
            </a:r>
            <a:r>
              <a:rPr lang="en-US" dirty="0" smtClean="0"/>
              <a:t> a person may say one thing but communicate something totally different through vocal intonation and body language. </a:t>
            </a:r>
            <a:endParaRPr lang="en-GB" dirty="0" smtClean="0"/>
          </a:p>
          <a:p>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cap="none" dirty="0" smtClean="0"/>
              <a:t>What  is non verbal communication?</a:t>
            </a:r>
            <a:endParaRPr lang="en-GB" cap="none" dirty="0"/>
          </a:p>
        </p:txBody>
      </p:sp>
      <p:sp>
        <p:nvSpPr>
          <p:cNvPr id="3" name="Content Placeholder 2"/>
          <p:cNvSpPr>
            <a:spLocks noGrp="1"/>
          </p:cNvSpPr>
          <p:nvPr>
            <p:ph idx="1"/>
          </p:nvPr>
        </p:nvSpPr>
        <p:spPr/>
        <p:txBody>
          <a:bodyPr>
            <a:normAutofit/>
          </a:bodyPr>
          <a:lstStyle/>
          <a:p>
            <a:r>
              <a:rPr lang="en-US" dirty="0" smtClean="0"/>
              <a:t>communication that occurs without the use of words(oral or written word)</a:t>
            </a:r>
            <a:endParaRPr lang="en-GB" dirty="0" smtClean="0"/>
          </a:p>
          <a:p>
            <a:pPr lvl="0"/>
            <a:r>
              <a:rPr lang="en-US" dirty="0" smtClean="0"/>
              <a:t>Instead, it relies on various non-verbal cues like physical movements, </a:t>
            </a:r>
            <a:r>
              <a:rPr lang="en-US" dirty="0" smtClean="0"/>
              <a:t>colors</a:t>
            </a:r>
            <a:r>
              <a:rPr lang="en-US" dirty="0" smtClean="0"/>
              <a:t>, signs, symbols, </a:t>
            </a:r>
            <a:r>
              <a:rPr lang="en-US" dirty="0" smtClean="0"/>
              <a:t>etc</a:t>
            </a:r>
            <a:r>
              <a:rPr lang="en-US" dirty="0" smtClean="0"/>
              <a:t>. to express feelings, attitudes or information.</a:t>
            </a:r>
            <a:endParaRPr lang="en-GB" dirty="0" smtClean="0"/>
          </a:p>
          <a:p>
            <a:pPr lvl="0"/>
            <a:r>
              <a:rPr lang="en-US" dirty="0" smtClean="0"/>
              <a:t>Although no word is used in non-verbal communication, it can effectively communicate many human feelings more accurately than verbal methods of communication.</a:t>
            </a:r>
            <a:endParaRPr lang="en-GB" dirty="0" smtClean="0"/>
          </a:p>
          <a:p>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cap="none" dirty="0" smtClean="0"/>
              <a:t>Characteristics of non-verbal communication</a:t>
            </a:r>
            <a:endParaRPr lang="en-GB" cap="none" dirty="0"/>
          </a:p>
        </p:txBody>
      </p:sp>
      <p:sp>
        <p:nvSpPr>
          <p:cNvPr id="3" name="Content Placeholder 2"/>
          <p:cNvSpPr>
            <a:spLocks noGrp="1"/>
          </p:cNvSpPr>
          <p:nvPr>
            <p:ph idx="1"/>
          </p:nvPr>
        </p:nvSpPr>
        <p:spPr/>
        <p:txBody>
          <a:bodyPr>
            <a:normAutofit fontScale="92500"/>
          </a:bodyPr>
          <a:lstStyle/>
          <a:p>
            <a:pPr lvl="0"/>
            <a:r>
              <a:rPr lang="en-GB" b="1" i="1" dirty="0" smtClean="0"/>
              <a:t>intentional </a:t>
            </a:r>
            <a:r>
              <a:rPr lang="en-GB" b="1" i="1" dirty="0" smtClean="0"/>
              <a:t>or unintentional</a:t>
            </a:r>
            <a:r>
              <a:rPr lang="en-GB" dirty="0" smtClean="0"/>
              <a:t>-when people communicate nonverbally, they are unaware of it.</a:t>
            </a:r>
          </a:p>
          <a:p>
            <a:pPr lvl="0"/>
            <a:r>
              <a:rPr lang="en-GB" dirty="0" smtClean="0"/>
              <a:t>It is </a:t>
            </a:r>
            <a:r>
              <a:rPr lang="en-GB" b="1" dirty="0" smtClean="0"/>
              <a:t>primary</a:t>
            </a:r>
            <a:r>
              <a:rPr lang="en-GB" dirty="0" smtClean="0"/>
              <a:t>- it takes precedence over verbal communication.</a:t>
            </a:r>
          </a:p>
          <a:p>
            <a:pPr lvl="0"/>
            <a:r>
              <a:rPr lang="en-GB" b="1" dirty="0" smtClean="0"/>
              <a:t>Ambiguous-</a:t>
            </a:r>
            <a:r>
              <a:rPr lang="en-GB" dirty="0" smtClean="0"/>
              <a:t> nonverbal behaviour may have different meanings depending on the user’s personality, family influences, and culture.</a:t>
            </a:r>
          </a:p>
          <a:p>
            <a:pPr lvl="0"/>
            <a:r>
              <a:rPr lang="en-GB" b="1" dirty="0" smtClean="0"/>
              <a:t>Continuous</a:t>
            </a:r>
            <a:r>
              <a:rPr lang="en-GB" dirty="0" smtClean="0"/>
              <a:t>- we are constantly communicating through nonverbal behaviours.</a:t>
            </a:r>
          </a:p>
          <a:p>
            <a:r>
              <a:rPr lang="en-GB" b="1" dirty="0" smtClean="0"/>
              <a:t>multi-channelled</a:t>
            </a:r>
            <a:r>
              <a:rPr lang="en-GB" dirty="0" smtClean="0"/>
              <a:t>- we use a variety of cues to make an interpretation.</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cap="none" dirty="0" smtClean="0"/>
              <a:t>Types of nonverbal communication</a:t>
            </a:r>
            <a:endParaRPr lang="en-GB" cap="none" dirty="0"/>
          </a:p>
        </p:txBody>
      </p:sp>
      <p:sp>
        <p:nvSpPr>
          <p:cNvPr id="3" name="Content Placeholder 2"/>
          <p:cNvSpPr>
            <a:spLocks noGrp="1"/>
          </p:cNvSpPr>
          <p:nvPr>
            <p:ph idx="1"/>
          </p:nvPr>
        </p:nvSpPr>
        <p:spPr/>
        <p:txBody>
          <a:bodyPr/>
          <a:lstStyle/>
          <a:p>
            <a:r>
              <a:rPr lang="en-US" b="1" dirty="0" smtClean="0"/>
              <a:t>Kinesics</a:t>
            </a:r>
            <a:endParaRPr lang="en-GB" dirty="0" smtClean="0"/>
          </a:p>
          <a:p>
            <a:r>
              <a:rPr lang="en-US" b="1" dirty="0" smtClean="0"/>
              <a:t>Paralanguage</a:t>
            </a:r>
            <a:endParaRPr lang="en-GB" dirty="0" smtClean="0"/>
          </a:p>
          <a:p>
            <a:r>
              <a:rPr lang="en-US" b="1" dirty="0" smtClean="0"/>
              <a:t>Proxemics</a:t>
            </a:r>
            <a:endParaRPr lang="en-GB" dirty="0" smtClean="0"/>
          </a:p>
          <a:p>
            <a:r>
              <a:rPr lang="en-US" b="1" dirty="0" smtClean="0"/>
              <a:t>Chronemics</a:t>
            </a:r>
            <a:endParaRPr lang="en-GB" dirty="0" smtClean="0"/>
          </a:p>
          <a:p>
            <a:r>
              <a:rPr lang="en-US" b="1" dirty="0" smtClean="0"/>
              <a:t>Aesthetics</a:t>
            </a:r>
            <a:endParaRPr lang="en-GB" dirty="0" smtClean="0"/>
          </a:p>
          <a:p>
            <a:r>
              <a:rPr lang="en-US" b="1" dirty="0" smtClean="0"/>
              <a:t>Artifacts</a:t>
            </a:r>
            <a:endParaRPr lang="en-GB" dirty="0" smtClean="0"/>
          </a:p>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cap="none" dirty="0" smtClean="0"/>
              <a:t>a) Kinesics</a:t>
            </a:r>
            <a:endParaRPr lang="en-GB" i="1" cap="none" dirty="0"/>
          </a:p>
        </p:txBody>
      </p:sp>
      <p:sp>
        <p:nvSpPr>
          <p:cNvPr id="3" name="Content Placeholder 2"/>
          <p:cNvSpPr>
            <a:spLocks noGrp="1"/>
          </p:cNvSpPr>
          <p:nvPr>
            <p:ph idx="1"/>
          </p:nvPr>
        </p:nvSpPr>
        <p:spPr/>
        <p:txBody>
          <a:bodyPr>
            <a:normAutofit fontScale="85000" lnSpcReduction="20000"/>
          </a:bodyPr>
          <a:lstStyle/>
          <a:p>
            <a:r>
              <a:rPr lang="en-US" dirty="0" smtClean="0"/>
              <a:t>Derives from Greek word </a:t>
            </a:r>
            <a:r>
              <a:rPr lang="en-US" dirty="0" smtClean="0"/>
              <a:t>“</a:t>
            </a:r>
            <a:r>
              <a:rPr lang="en-US" i="1" dirty="0" smtClean="0">
                <a:solidFill>
                  <a:srgbClr val="0070C0"/>
                </a:solidFill>
              </a:rPr>
              <a:t>kinesis”</a:t>
            </a:r>
            <a:r>
              <a:rPr lang="en-US" i="1" dirty="0" smtClean="0"/>
              <a:t>,</a:t>
            </a:r>
            <a:r>
              <a:rPr lang="en-US" dirty="0" smtClean="0"/>
              <a:t> </a:t>
            </a:r>
            <a:r>
              <a:rPr lang="en-US" dirty="0" smtClean="0"/>
              <a:t>meaning movement </a:t>
            </a:r>
          </a:p>
          <a:p>
            <a:r>
              <a:rPr lang="en-US" dirty="0" smtClean="0"/>
              <a:t>It is </a:t>
            </a:r>
            <a:r>
              <a:rPr lang="en-GB" dirty="0" smtClean="0"/>
              <a:t>concerned with the interpretation of nonverbal behaviours that are associated with </a:t>
            </a:r>
            <a:r>
              <a:rPr lang="en-GB" b="1" dirty="0" smtClean="0"/>
              <a:t>gestures,</a:t>
            </a:r>
            <a:r>
              <a:rPr lang="en-GB" dirty="0" smtClean="0"/>
              <a:t> </a:t>
            </a:r>
            <a:r>
              <a:rPr lang="en-GB" b="1" dirty="0" smtClean="0"/>
              <a:t>posture, facial expression </a:t>
            </a:r>
            <a:r>
              <a:rPr lang="en-GB" dirty="0" smtClean="0"/>
              <a:t>and </a:t>
            </a:r>
            <a:r>
              <a:rPr lang="en-GB" b="1" dirty="0" smtClean="0"/>
              <a:t>eye contact </a:t>
            </a:r>
            <a:endParaRPr lang="en-GB" b="1" dirty="0" smtClean="0"/>
          </a:p>
          <a:p>
            <a:r>
              <a:rPr lang="en-GB" dirty="0" smtClean="0"/>
              <a:t>In simple terms it is </a:t>
            </a:r>
            <a:r>
              <a:rPr lang="en-GB" dirty="0" smtClean="0"/>
              <a:t>a scientific study of </a:t>
            </a:r>
            <a:r>
              <a:rPr lang="en-GB" dirty="0" smtClean="0"/>
              <a:t>body language</a:t>
            </a:r>
            <a:endParaRPr lang="en-US" dirty="0" smtClean="0"/>
          </a:p>
          <a:p>
            <a:r>
              <a:rPr lang="en-US" b="1" i="1" dirty="0" smtClean="0"/>
              <a:t>7types  of kinesics</a:t>
            </a:r>
            <a:endParaRPr lang="en-GB" b="1" i="1" dirty="0" smtClean="0"/>
          </a:p>
          <a:p>
            <a:pPr lvl="0"/>
            <a:r>
              <a:rPr lang="en-US" b="1" i="1" dirty="0" err="1" smtClean="0">
                <a:solidFill>
                  <a:srgbClr val="FF0000"/>
                </a:solidFill>
              </a:rPr>
              <a:t>i</a:t>
            </a:r>
            <a:r>
              <a:rPr lang="en-US" b="1" i="1" dirty="0" smtClean="0">
                <a:solidFill>
                  <a:srgbClr val="FF0000"/>
                </a:solidFill>
              </a:rPr>
              <a:t>) Emblems</a:t>
            </a:r>
            <a:r>
              <a:rPr lang="en-US" dirty="0" smtClean="0"/>
              <a:t>- nonverbal acts that have a direct verbal translation </a:t>
            </a:r>
            <a:r>
              <a:rPr lang="en-US" dirty="0" err="1" smtClean="0"/>
              <a:t>eg</a:t>
            </a:r>
            <a:r>
              <a:rPr lang="en-US" dirty="0" smtClean="0"/>
              <a:t> using thumbs and index finger for example, to form a circle, with the other three fingers outstretched, is a signal meaning “everything is all right”</a:t>
            </a:r>
          </a:p>
          <a:p>
            <a:pPr lvl="0"/>
            <a:r>
              <a:rPr lang="en-US" b="1" i="1" dirty="0" smtClean="0">
                <a:solidFill>
                  <a:srgbClr val="FF0000"/>
                </a:solidFill>
              </a:rPr>
              <a:t>ii) Affect-</a:t>
            </a:r>
            <a:r>
              <a:rPr lang="en-US" dirty="0" smtClean="0"/>
              <a:t>facial configurations that show emotions and feelings such as sadness or happiness </a:t>
            </a:r>
            <a:r>
              <a:rPr lang="en-US" dirty="0" err="1" smtClean="0"/>
              <a:t>eg</a:t>
            </a:r>
            <a:r>
              <a:rPr lang="en-US" dirty="0" smtClean="0"/>
              <a:t> Pouting, winking, and raising eyelids or eye brows</a:t>
            </a:r>
            <a:endParaRPr lang="en-GB" dirty="0" smtClean="0"/>
          </a:p>
          <a:p>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lvl="0"/>
            <a:r>
              <a:rPr lang="en-US" b="1" i="1" dirty="0" smtClean="0">
                <a:solidFill>
                  <a:srgbClr val="FF0000"/>
                </a:solidFill>
              </a:rPr>
              <a:t>iii) Illustrators </a:t>
            </a:r>
            <a:r>
              <a:rPr lang="en-US" dirty="0" smtClean="0"/>
              <a:t>–reinforce verbal messages. </a:t>
            </a:r>
            <a:r>
              <a:rPr lang="en-US" dirty="0" err="1" smtClean="0"/>
              <a:t>eg</a:t>
            </a:r>
            <a:r>
              <a:rPr lang="en-US" dirty="0" smtClean="0"/>
              <a:t> </a:t>
            </a:r>
            <a:r>
              <a:rPr lang="en-US" dirty="0" smtClean="0"/>
              <a:t>Nodding one’s head when you say yes, shaking your head when you say no, stroking your stomach when you say you are hungry . </a:t>
            </a:r>
            <a:endParaRPr lang="en-GB" dirty="0" smtClean="0"/>
          </a:p>
          <a:p>
            <a:pPr lvl="0"/>
            <a:r>
              <a:rPr lang="en-US" b="1" i="1" dirty="0" smtClean="0">
                <a:solidFill>
                  <a:srgbClr val="FF0000"/>
                </a:solidFill>
              </a:rPr>
              <a:t>iv) Regulators</a:t>
            </a:r>
            <a:r>
              <a:rPr lang="en-US" dirty="0" smtClean="0"/>
              <a:t> –control the flow or pace of communication, </a:t>
            </a:r>
            <a:r>
              <a:rPr lang="en-US" dirty="0" err="1" smtClean="0"/>
              <a:t>eg</a:t>
            </a:r>
            <a:r>
              <a:rPr lang="en-US" dirty="0" smtClean="0"/>
              <a:t>  shifting, moving away when you want the conversation to stop, looking at the floor or looking away when you are disinterested, or yawning and looking at your watch when you are bored.</a:t>
            </a:r>
            <a:endParaRPr lang="en-GB" dirty="0" smtClean="0"/>
          </a:p>
          <a:p>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pPr lvl="0"/>
            <a:r>
              <a:rPr lang="en-US" dirty="0" smtClean="0">
                <a:solidFill>
                  <a:srgbClr val="FF0000"/>
                </a:solidFill>
              </a:rPr>
              <a:t>V) Adaptors </a:t>
            </a:r>
            <a:r>
              <a:rPr lang="en-US" dirty="0" smtClean="0"/>
              <a:t>–are movements that we might fully perform in private, but only partially in public. They include such acts as restless movements of hands and feet, tapping fingers, </a:t>
            </a:r>
            <a:endParaRPr lang="en-US" dirty="0" smtClean="0"/>
          </a:p>
          <a:p>
            <a:r>
              <a:rPr lang="en-US" dirty="0" smtClean="0">
                <a:solidFill>
                  <a:srgbClr val="FF0000"/>
                </a:solidFill>
              </a:rPr>
              <a:t>Vi)Walk </a:t>
            </a:r>
            <a:r>
              <a:rPr lang="en-US" dirty="0" smtClean="0">
                <a:solidFill>
                  <a:srgbClr val="FF0000"/>
                </a:solidFill>
              </a:rPr>
              <a:t>and stance </a:t>
            </a:r>
            <a:r>
              <a:rPr lang="en-US" dirty="0" smtClean="0"/>
              <a:t>– walking style may give clues </a:t>
            </a:r>
            <a:r>
              <a:rPr lang="en-US" dirty="0" smtClean="0"/>
              <a:t>about </a:t>
            </a:r>
            <a:r>
              <a:rPr lang="en-US" dirty="0" smtClean="0"/>
              <a:t>a person’s status</a:t>
            </a:r>
            <a:r>
              <a:rPr lang="en-US" dirty="0" smtClean="0"/>
              <a:t>, mood, ethnic and cultural </a:t>
            </a:r>
            <a:r>
              <a:rPr lang="en-US" dirty="0" smtClean="0"/>
              <a:t>affiliation </a:t>
            </a:r>
            <a:r>
              <a:rPr lang="en-US" dirty="0" err="1" smtClean="0"/>
              <a:t>eg</a:t>
            </a:r>
            <a:r>
              <a:rPr lang="en-US" dirty="0" smtClean="0"/>
              <a:t> detectives </a:t>
            </a:r>
            <a:r>
              <a:rPr lang="en-US" dirty="0" smtClean="0"/>
              <a:t>and airline security personnel are trained to pick out suspicious people by the way they walk, and blind people can identify others by the sound of their footsteps. </a:t>
            </a:r>
            <a:endParaRPr lang="en-US" dirty="0" smtClean="0"/>
          </a:p>
          <a:p>
            <a:r>
              <a:rPr lang="en-US" dirty="0" smtClean="0"/>
              <a:t>walking  </a:t>
            </a:r>
            <a:r>
              <a:rPr lang="en-US" dirty="0" smtClean="0"/>
              <a:t>with </a:t>
            </a:r>
            <a:r>
              <a:rPr lang="en-US" dirty="0" smtClean="0"/>
              <a:t>head held high</a:t>
            </a:r>
            <a:r>
              <a:rPr lang="en-US" dirty="0" smtClean="0"/>
              <a:t>, </a:t>
            </a:r>
            <a:r>
              <a:rPr lang="en-US" dirty="0" smtClean="0"/>
              <a:t>shoulders back-confidence</a:t>
            </a:r>
            <a:endParaRPr lang="en-GB" dirty="0" smtClean="0"/>
          </a:p>
          <a:p>
            <a:pPr lvl="0">
              <a:buNone/>
            </a:pPr>
            <a:endParaRPr lang="en-GB" dirty="0" smtClean="0"/>
          </a:p>
          <a:p>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lvl="0"/>
            <a:r>
              <a:rPr lang="en-US" dirty="0" smtClean="0">
                <a:solidFill>
                  <a:srgbClr val="FF0000"/>
                </a:solidFill>
              </a:rPr>
              <a:t>v</a:t>
            </a:r>
            <a:r>
              <a:rPr lang="en-US" dirty="0" smtClean="0">
                <a:solidFill>
                  <a:srgbClr val="FF0000"/>
                </a:solidFill>
              </a:rPr>
              <a:t>ii) Face </a:t>
            </a:r>
            <a:r>
              <a:rPr lang="en-US" dirty="0" smtClean="0">
                <a:solidFill>
                  <a:srgbClr val="FF0000"/>
                </a:solidFill>
              </a:rPr>
              <a:t>and </a:t>
            </a:r>
            <a:r>
              <a:rPr lang="en-US" dirty="0" smtClean="0">
                <a:solidFill>
                  <a:srgbClr val="FF0000"/>
                </a:solidFill>
              </a:rPr>
              <a:t>eyes</a:t>
            </a:r>
            <a:endParaRPr lang="en-US" dirty="0" smtClean="0"/>
          </a:p>
          <a:p>
            <a:pPr lvl="0">
              <a:buFont typeface="Wingdings" pitchFamily="2" charset="2"/>
              <a:buChar char="Ø"/>
            </a:pPr>
            <a:r>
              <a:rPr lang="en-US" dirty="0" smtClean="0"/>
              <a:t>Frowns </a:t>
            </a:r>
            <a:r>
              <a:rPr lang="en-US" dirty="0" smtClean="0"/>
              <a:t>and pupils dilating or contracting </a:t>
            </a:r>
            <a:r>
              <a:rPr lang="en-US" dirty="0" smtClean="0"/>
              <a:t>can reveal </a:t>
            </a:r>
            <a:r>
              <a:rPr lang="en-US" dirty="0" smtClean="0"/>
              <a:t>a lot about a </a:t>
            </a:r>
            <a:r>
              <a:rPr lang="en-US" dirty="0" smtClean="0"/>
              <a:t>person’s personality. </a:t>
            </a:r>
          </a:p>
          <a:p>
            <a:pPr lvl="0">
              <a:buFont typeface="Wingdings" pitchFamily="2" charset="2"/>
              <a:buChar char="Ø"/>
            </a:pPr>
            <a:r>
              <a:rPr lang="en-US" dirty="0" smtClean="0"/>
              <a:t>Dilated pupils -friendly</a:t>
            </a:r>
            <a:r>
              <a:rPr lang="en-US" dirty="0" smtClean="0"/>
              <a:t>, inviting and approachable, </a:t>
            </a:r>
            <a:endParaRPr lang="en-US" dirty="0" smtClean="0"/>
          </a:p>
          <a:p>
            <a:pPr lvl="0">
              <a:buFont typeface="Wingdings" pitchFamily="2" charset="2"/>
              <a:buChar char="Ø"/>
            </a:pPr>
            <a:r>
              <a:rPr lang="en-US" dirty="0" smtClean="0"/>
              <a:t>Contracted pupils- mean</a:t>
            </a:r>
            <a:r>
              <a:rPr lang="en-US" dirty="0" smtClean="0"/>
              <a:t>, cold and no nonsense by nature.</a:t>
            </a:r>
            <a:endParaRPr lang="en-GB" dirty="0" smtClean="0"/>
          </a:p>
          <a:p>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cap="none" dirty="0" smtClean="0"/>
              <a:t>b) Paralanguage</a:t>
            </a:r>
            <a:endParaRPr lang="en-GB" i="1" cap="none" dirty="0"/>
          </a:p>
        </p:txBody>
      </p:sp>
      <p:sp>
        <p:nvSpPr>
          <p:cNvPr id="3" name="Content Placeholder 2"/>
          <p:cNvSpPr>
            <a:spLocks noGrp="1"/>
          </p:cNvSpPr>
          <p:nvPr>
            <p:ph idx="1"/>
          </p:nvPr>
        </p:nvSpPr>
        <p:spPr/>
        <p:txBody>
          <a:bodyPr>
            <a:normAutofit fontScale="85000" lnSpcReduction="10000"/>
          </a:bodyPr>
          <a:lstStyle/>
          <a:p>
            <a:r>
              <a:rPr lang="en-GB" dirty="0" smtClean="0"/>
              <a:t>Refers to the </a:t>
            </a:r>
            <a:r>
              <a:rPr lang="en-GB" dirty="0" smtClean="0"/>
              <a:t>voice cues that accompany spoken words. </a:t>
            </a:r>
            <a:endParaRPr lang="en-GB" dirty="0" smtClean="0"/>
          </a:p>
          <a:p>
            <a:r>
              <a:rPr lang="en-GB" dirty="0" smtClean="0"/>
              <a:t>It </a:t>
            </a:r>
            <a:r>
              <a:rPr lang="en-GB" dirty="0" smtClean="0"/>
              <a:t>is concerned with the sound of the voice and the range of meanings that people convey through their voices rather than the words they use. </a:t>
            </a:r>
            <a:r>
              <a:rPr lang="en-US" dirty="0" smtClean="0"/>
              <a:t>vocal codes can tell </a:t>
            </a:r>
            <a:r>
              <a:rPr lang="en-US" dirty="0" smtClean="0"/>
              <a:t>the sex, age, and stance of a speaker, the emotions, feelings etc of a speaker. </a:t>
            </a:r>
            <a:endParaRPr lang="en-US" dirty="0" smtClean="0"/>
          </a:p>
          <a:p>
            <a:r>
              <a:rPr lang="en-GB" dirty="0" smtClean="0"/>
              <a:t>The meaning of what you express is contained, in part, in the words you say, but </a:t>
            </a:r>
            <a:r>
              <a:rPr lang="en-GB" i="1" dirty="0" smtClean="0"/>
              <a:t>how you say it</a:t>
            </a:r>
            <a:r>
              <a:rPr lang="en-GB" dirty="0" smtClean="0"/>
              <a:t> also contains powerful meanings. For example, the word “Yes”, can completely convey different meanings, even in the exact same sentence, depending on </a:t>
            </a:r>
            <a:r>
              <a:rPr lang="en-GB" i="1" dirty="0" smtClean="0"/>
              <a:t>how</a:t>
            </a:r>
            <a:r>
              <a:rPr lang="en-GB" dirty="0" smtClean="0"/>
              <a:t> it is said—whether it is spoken sincerely or sarcastically. The “how”—you say something—is referred to as </a:t>
            </a:r>
            <a:r>
              <a:rPr lang="en-GB" dirty="0" smtClean="0"/>
              <a:t>paralanguage</a:t>
            </a:r>
            <a:endParaRPr lang="en-GB" i="1"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a:bodyPr>
          <a:lstStyle/>
          <a:p>
            <a:r>
              <a:rPr lang="en-GB" dirty="0" smtClean="0"/>
              <a:t>two </a:t>
            </a:r>
            <a:r>
              <a:rPr lang="en-GB" dirty="0" smtClean="0"/>
              <a:t>main categories of </a:t>
            </a:r>
            <a:r>
              <a:rPr lang="en-GB" dirty="0" smtClean="0"/>
              <a:t>paralanguage: </a:t>
            </a:r>
            <a:r>
              <a:rPr lang="en-GB" dirty="0" smtClean="0">
                <a:solidFill>
                  <a:srgbClr val="FF0000"/>
                </a:solidFill>
              </a:rPr>
              <a:t>vocal</a:t>
            </a:r>
            <a:r>
              <a:rPr lang="en-GB" b="1" i="1" dirty="0" smtClean="0">
                <a:solidFill>
                  <a:srgbClr val="FF0000"/>
                </a:solidFill>
              </a:rPr>
              <a:t> </a:t>
            </a:r>
            <a:r>
              <a:rPr lang="en-GB" b="1" i="1" dirty="0" smtClean="0">
                <a:solidFill>
                  <a:srgbClr val="FF0000"/>
                </a:solidFill>
              </a:rPr>
              <a:t>characteristics</a:t>
            </a:r>
            <a:r>
              <a:rPr lang="en-GB" b="1" i="1" dirty="0" smtClean="0"/>
              <a:t> </a:t>
            </a:r>
            <a:r>
              <a:rPr lang="en-GB" i="1" dirty="0" smtClean="0"/>
              <a:t>and </a:t>
            </a:r>
            <a:r>
              <a:rPr lang="en-GB" b="1" i="1" dirty="0" smtClean="0">
                <a:solidFill>
                  <a:srgbClr val="FF0000"/>
                </a:solidFill>
              </a:rPr>
              <a:t>vocal interferences</a:t>
            </a:r>
            <a:r>
              <a:rPr lang="en-GB" b="1" i="1" dirty="0" smtClean="0">
                <a:solidFill>
                  <a:srgbClr val="FF0000"/>
                </a:solidFill>
              </a:rPr>
              <a:t>.</a:t>
            </a:r>
          </a:p>
          <a:p>
            <a:pPr>
              <a:buNone/>
            </a:pPr>
            <a:r>
              <a:rPr lang="en-GB" b="1" dirty="0" err="1" smtClean="0"/>
              <a:t>i</a:t>
            </a:r>
            <a:r>
              <a:rPr lang="en-GB" b="1" dirty="0" smtClean="0"/>
              <a:t>) Vocal characteristics </a:t>
            </a:r>
            <a:r>
              <a:rPr lang="en-GB" dirty="0" smtClean="0"/>
              <a:t>include:</a:t>
            </a:r>
          </a:p>
          <a:p>
            <a:pPr lvl="1"/>
            <a:r>
              <a:rPr lang="en-GB" b="1" dirty="0" smtClean="0">
                <a:solidFill>
                  <a:schemeClr val="accent1"/>
                </a:solidFill>
              </a:rPr>
              <a:t>the pitch </a:t>
            </a:r>
            <a:r>
              <a:rPr lang="en-GB" dirty="0" smtClean="0">
                <a:solidFill>
                  <a:schemeClr val="accent1"/>
                </a:solidFill>
              </a:rPr>
              <a:t>the </a:t>
            </a:r>
            <a:r>
              <a:rPr lang="en-GB" dirty="0" smtClean="0">
                <a:solidFill>
                  <a:schemeClr val="accent1"/>
                </a:solidFill>
              </a:rPr>
              <a:t>highness or lowness of your </a:t>
            </a:r>
            <a:r>
              <a:rPr lang="en-GB" dirty="0" smtClean="0">
                <a:solidFill>
                  <a:schemeClr val="accent1"/>
                </a:solidFill>
              </a:rPr>
              <a:t>voice </a:t>
            </a:r>
          </a:p>
          <a:p>
            <a:pPr lvl="1"/>
            <a:r>
              <a:rPr lang="en-GB" b="1" dirty="0" smtClean="0">
                <a:solidFill>
                  <a:schemeClr val="accent1"/>
                </a:solidFill>
              </a:rPr>
              <a:t>volume</a:t>
            </a:r>
            <a:r>
              <a:rPr lang="en-GB" dirty="0" smtClean="0">
                <a:solidFill>
                  <a:schemeClr val="accent1"/>
                </a:solidFill>
              </a:rPr>
              <a:t> -how </a:t>
            </a:r>
            <a:r>
              <a:rPr lang="en-GB" dirty="0" smtClean="0">
                <a:solidFill>
                  <a:schemeClr val="accent1"/>
                </a:solidFill>
              </a:rPr>
              <a:t>loudly or softly you </a:t>
            </a:r>
            <a:r>
              <a:rPr lang="en-GB" dirty="0" smtClean="0">
                <a:solidFill>
                  <a:schemeClr val="accent1"/>
                </a:solidFill>
              </a:rPr>
              <a:t>speak</a:t>
            </a:r>
          </a:p>
          <a:p>
            <a:pPr lvl="1"/>
            <a:r>
              <a:rPr lang="en-GB" b="1" dirty="0" smtClean="0">
                <a:solidFill>
                  <a:schemeClr val="accent1"/>
                </a:solidFill>
              </a:rPr>
              <a:t>Pace-</a:t>
            </a:r>
            <a:r>
              <a:rPr lang="en-GB" dirty="0" smtClean="0">
                <a:solidFill>
                  <a:schemeClr val="accent1"/>
                </a:solidFill>
              </a:rPr>
              <a:t>rate/the </a:t>
            </a:r>
            <a:r>
              <a:rPr lang="en-GB" dirty="0" smtClean="0">
                <a:solidFill>
                  <a:schemeClr val="accent1"/>
                </a:solidFill>
              </a:rPr>
              <a:t>speed at which you </a:t>
            </a:r>
            <a:r>
              <a:rPr lang="en-GB" dirty="0" smtClean="0">
                <a:solidFill>
                  <a:schemeClr val="accent1"/>
                </a:solidFill>
              </a:rPr>
              <a:t>speak</a:t>
            </a:r>
          </a:p>
          <a:p>
            <a:pPr lvl="1"/>
            <a:r>
              <a:rPr lang="en-GB" b="1" dirty="0" smtClean="0">
                <a:solidFill>
                  <a:schemeClr val="accent1"/>
                </a:solidFill>
              </a:rPr>
              <a:t>voice </a:t>
            </a:r>
            <a:r>
              <a:rPr lang="en-GB" b="1" dirty="0" smtClean="0">
                <a:solidFill>
                  <a:schemeClr val="accent1"/>
                </a:solidFill>
              </a:rPr>
              <a:t>quality </a:t>
            </a:r>
            <a:r>
              <a:rPr lang="en-GB" dirty="0" smtClean="0">
                <a:solidFill>
                  <a:schemeClr val="accent1"/>
                </a:solidFill>
              </a:rPr>
              <a:t>-how </a:t>
            </a:r>
            <a:r>
              <a:rPr lang="en-GB" dirty="0" smtClean="0">
                <a:solidFill>
                  <a:schemeClr val="accent1"/>
                </a:solidFill>
              </a:rPr>
              <a:t>pleasant or unpleasant your voice sound).</a:t>
            </a:r>
            <a:r>
              <a:rPr lang="en-GB" dirty="0" smtClean="0"/>
              <a:t> </a:t>
            </a:r>
            <a:endParaRPr lang="en-GB" dirty="0" smtClean="0"/>
          </a:p>
          <a:p>
            <a:r>
              <a:rPr lang="en-GB" dirty="0" smtClean="0"/>
              <a:t>Each </a:t>
            </a:r>
            <a:r>
              <a:rPr lang="en-GB" dirty="0" smtClean="0"/>
              <a:t>of these characteristics plays a part in the impression others have of </a:t>
            </a:r>
            <a:r>
              <a:rPr lang="en-GB" dirty="0" smtClean="0"/>
              <a:t>you </a:t>
            </a:r>
            <a:r>
              <a:rPr lang="en-GB" dirty="0" err="1" smtClean="0"/>
              <a:t>eg</a:t>
            </a:r>
            <a:r>
              <a:rPr lang="en-GB" dirty="0" smtClean="0"/>
              <a:t> a </a:t>
            </a:r>
            <a:r>
              <a:rPr lang="en-GB" dirty="0" smtClean="0"/>
              <a:t>loud voice is usually associated with aggressiveness; people who speak quickly are said to be nervous.</a:t>
            </a:r>
            <a:endParaRPr lang="en-GB" b="1" i="1"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b="1" dirty="0" smtClean="0"/>
              <a:t>ii) Vocal interferences- </a:t>
            </a:r>
            <a:r>
              <a:rPr lang="en-GB" dirty="0" smtClean="0"/>
              <a:t>are the </a:t>
            </a:r>
            <a:r>
              <a:rPr lang="en-GB" dirty="0" smtClean="0"/>
              <a:t>sounds, pauses </a:t>
            </a:r>
            <a:r>
              <a:rPr lang="en-GB" dirty="0" smtClean="0"/>
              <a:t>and words we use when we hesitate or are not sure of the right </a:t>
            </a:r>
            <a:r>
              <a:rPr lang="en-GB" dirty="0" smtClean="0"/>
              <a:t>word </a:t>
            </a:r>
            <a:r>
              <a:rPr lang="en-GB" dirty="0" err="1" smtClean="0"/>
              <a:t>eg</a:t>
            </a:r>
            <a:r>
              <a:rPr lang="en-GB" dirty="0" smtClean="0"/>
              <a:t> “uh</a:t>
            </a:r>
            <a:r>
              <a:rPr lang="en-GB" dirty="0" smtClean="0"/>
              <a:t>”, “</a:t>
            </a:r>
            <a:r>
              <a:rPr lang="en-GB" dirty="0" err="1" smtClean="0"/>
              <a:t>er</a:t>
            </a:r>
            <a:r>
              <a:rPr lang="en-GB" dirty="0" smtClean="0"/>
              <a:t>”, “well</a:t>
            </a:r>
            <a:r>
              <a:rPr lang="en-GB" dirty="0" smtClean="0"/>
              <a:t>”, “</a:t>
            </a:r>
            <a:r>
              <a:rPr lang="en-GB" dirty="0" smtClean="0"/>
              <a:t>you know” </a:t>
            </a:r>
            <a:r>
              <a:rPr lang="en-GB" dirty="0" smtClean="0"/>
              <a:t>etc </a:t>
            </a:r>
          </a:p>
          <a:p>
            <a:r>
              <a:rPr lang="en-GB" dirty="0" smtClean="0"/>
              <a:t>These may </a:t>
            </a:r>
            <a:r>
              <a:rPr lang="en-GB" dirty="0" smtClean="0"/>
              <a:t>indicate that we are searching for the right word. </a:t>
            </a:r>
            <a:endParaRPr lang="en-GB" dirty="0" smtClean="0"/>
          </a:p>
          <a:p>
            <a:r>
              <a:rPr lang="en-GB" b="1" dirty="0" smtClean="0"/>
              <a:t>Note-</a:t>
            </a:r>
            <a:r>
              <a:rPr lang="en-GB" dirty="0" smtClean="0"/>
              <a:t>such </a:t>
            </a:r>
            <a:r>
              <a:rPr lang="en-GB" dirty="0" smtClean="0"/>
              <a:t>interferences may become a problem when they pop up too frequently as they can interrupt your listener’s concentration and comprehension. </a:t>
            </a: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cap="none" dirty="0" smtClean="0"/>
              <a:t>b) Proxemics</a:t>
            </a:r>
            <a:endParaRPr lang="en-GB" i="1" cap="none" dirty="0"/>
          </a:p>
        </p:txBody>
      </p:sp>
      <p:sp>
        <p:nvSpPr>
          <p:cNvPr id="3" name="Content Placeholder 2"/>
          <p:cNvSpPr>
            <a:spLocks noGrp="1"/>
          </p:cNvSpPr>
          <p:nvPr>
            <p:ph idx="1"/>
          </p:nvPr>
        </p:nvSpPr>
        <p:spPr/>
        <p:txBody>
          <a:bodyPr>
            <a:normAutofit lnSpcReduction="10000"/>
          </a:bodyPr>
          <a:lstStyle/>
          <a:p>
            <a:r>
              <a:rPr lang="en-US" dirty="0" smtClean="0"/>
              <a:t>This </a:t>
            </a:r>
            <a:r>
              <a:rPr lang="en-US" dirty="0" smtClean="0"/>
              <a:t>is also referred to as </a:t>
            </a:r>
            <a:r>
              <a:rPr lang="en-US" dirty="0" smtClean="0"/>
              <a:t>space, </a:t>
            </a:r>
            <a:r>
              <a:rPr lang="en-US" dirty="0" err="1" smtClean="0"/>
              <a:t>i.e</a:t>
            </a:r>
            <a:r>
              <a:rPr lang="en-US" dirty="0" smtClean="0"/>
              <a:t> the </a:t>
            </a:r>
            <a:r>
              <a:rPr lang="en-US" dirty="0" smtClean="0"/>
              <a:t>space around the speakers; how they use their territory. </a:t>
            </a:r>
            <a:endParaRPr lang="en-US" dirty="0" smtClean="0"/>
          </a:p>
          <a:p>
            <a:r>
              <a:rPr lang="en-US" dirty="0" smtClean="0"/>
              <a:t>every </a:t>
            </a:r>
            <a:r>
              <a:rPr lang="en-US" dirty="0" smtClean="0"/>
              <a:t>person is surrounded by </a:t>
            </a:r>
            <a:r>
              <a:rPr lang="en-US" i="1" dirty="0" smtClean="0"/>
              <a:t>a psychological bubble of space</a:t>
            </a:r>
            <a:r>
              <a:rPr lang="en-US" dirty="0" smtClean="0"/>
              <a:t>. This bubble can contract or expand depending on </a:t>
            </a:r>
            <a:r>
              <a:rPr lang="en-US" dirty="0" smtClean="0"/>
              <a:t>emotional </a:t>
            </a:r>
            <a:r>
              <a:rPr lang="en-US" dirty="0" smtClean="0"/>
              <a:t>state and cultural background.</a:t>
            </a:r>
            <a:endParaRPr lang="en-GB" dirty="0" smtClean="0"/>
          </a:p>
          <a:p>
            <a:r>
              <a:rPr lang="en-US" dirty="0" smtClean="0"/>
              <a:t>4 types of  distance in communication:</a:t>
            </a:r>
          </a:p>
          <a:p>
            <a:pPr lvl="1"/>
            <a:r>
              <a:rPr lang="en-US" dirty="0" smtClean="0">
                <a:solidFill>
                  <a:srgbClr val="FF0000"/>
                </a:solidFill>
              </a:rPr>
              <a:t>Intimate </a:t>
            </a:r>
            <a:r>
              <a:rPr lang="en-US" dirty="0" smtClean="0">
                <a:solidFill>
                  <a:srgbClr val="FF0000"/>
                </a:solidFill>
              </a:rPr>
              <a:t>distance </a:t>
            </a:r>
            <a:r>
              <a:rPr lang="en-US" dirty="0" smtClean="0"/>
              <a:t>0-18 </a:t>
            </a:r>
            <a:r>
              <a:rPr lang="en-US" dirty="0" smtClean="0"/>
              <a:t>inches(close relationships)</a:t>
            </a:r>
            <a:r>
              <a:rPr lang="en-US" dirty="0" smtClean="0">
                <a:solidFill>
                  <a:srgbClr val="FF0000"/>
                </a:solidFill>
              </a:rPr>
              <a:t>                                                              </a:t>
            </a:r>
          </a:p>
          <a:p>
            <a:pPr lvl="1"/>
            <a:r>
              <a:rPr lang="en-US" dirty="0" smtClean="0">
                <a:solidFill>
                  <a:srgbClr val="FF0000"/>
                </a:solidFill>
              </a:rPr>
              <a:t>Personal distance</a:t>
            </a:r>
          </a:p>
          <a:p>
            <a:pPr lvl="1"/>
            <a:r>
              <a:rPr lang="en-US" dirty="0" smtClean="0">
                <a:solidFill>
                  <a:srgbClr val="FF0000"/>
                </a:solidFill>
              </a:rPr>
              <a:t>Social </a:t>
            </a:r>
            <a:r>
              <a:rPr lang="en-US" dirty="0" smtClean="0">
                <a:solidFill>
                  <a:srgbClr val="FF0000"/>
                </a:solidFill>
              </a:rPr>
              <a:t>distance </a:t>
            </a:r>
            <a:r>
              <a:rPr lang="en-US" dirty="0" smtClean="0">
                <a:solidFill>
                  <a:srgbClr val="FF0000"/>
                </a:solidFill>
              </a:rPr>
              <a:t>                                                                   </a:t>
            </a:r>
          </a:p>
          <a:p>
            <a:pPr lvl="1"/>
            <a:r>
              <a:rPr lang="en-US" dirty="0" smtClean="0">
                <a:solidFill>
                  <a:srgbClr val="FF0000"/>
                </a:solidFill>
              </a:rPr>
              <a:t>Public </a:t>
            </a:r>
            <a:r>
              <a:rPr lang="en-US" dirty="0" smtClean="0">
                <a:solidFill>
                  <a:srgbClr val="FF0000"/>
                </a:solidFill>
              </a:rPr>
              <a:t>distance</a:t>
            </a:r>
            <a:endParaRPr lang="en-GB" dirty="0" smtClean="0">
              <a:solidFill>
                <a:srgbClr val="FF0000"/>
              </a:solidFill>
            </a:endParaRPr>
          </a:p>
          <a:p>
            <a:endParaRPr lang="en-GB" dirty="0" smtClean="0"/>
          </a:p>
          <a:p>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lvl="0"/>
            <a:r>
              <a:rPr lang="en-US" b="1" i="1" dirty="0" smtClean="0"/>
              <a:t>Intimate distance</a:t>
            </a:r>
            <a:r>
              <a:rPr lang="en-US" dirty="0" smtClean="0"/>
              <a:t> </a:t>
            </a:r>
            <a:r>
              <a:rPr lang="en-US" dirty="0" smtClean="0"/>
              <a:t>–approx 0-18 </a:t>
            </a:r>
            <a:r>
              <a:rPr lang="en-US" dirty="0" smtClean="0"/>
              <a:t>inches, reminiscent during sexual contact, kissing, caressing, protecting and comforting among others. </a:t>
            </a:r>
            <a:endParaRPr lang="en-US" dirty="0" smtClean="0"/>
          </a:p>
          <a:p>
            <a:pPr lvl="0"/>
            <a:r>
              <a:rPr lang="en-US" dirty="0" smtClean="0"/>
              <a:t>communicates  </a:t>
            </a:r>
            <a:r>
              <a:rPr lang="en-US" dirty="0" smtClean="0"/>
              <a:t>a close relationship. </a:t>
            </a:r>
            <a:endParaRPr lang="en-US" dirty="0" smtClean="0"/>
          </a:p>
          <a:p>
            <a:pPr lvl="0"/>
            <a:r>
              <a:rPr lang="en-US" dirty="0" smtClean="0"/>
              <a:t>When </a:t>
            </a:r>
            <a:r>
              <a:rPr lang="en-US" dirty="0" smtClean="0"/>
              <a:t>forced into intimate distance with strangers-as on an elevator, we tend to use other nonverbal cues to reestablish our separateness. So we avoid eye contact, fold our arms, or hold a briefcase or purse in front of our body.  </a:t>
            </a:r>
            <a:endParaRPr lang="en-GB" dirty="0" smtClean="0"/>
          </a:p>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92500" lnSpcReduction="10000"/>
          </a:bodyPr>
          <a:lstStyle/>
          <a:p>
            <a:pPr lvl="0"/>
            <a:r>
              <a:rPr lang="en-US" b="1" i="1" dirty="0" smtClean="0"/>
              <a:t>Personal distance</a:t>
            </a:r>
            <a:r>
              <a:rPr lang="en-US" dirty="0" smtClean="0"/>
              <a:t> is defined as a 4-foot bubble. This is the distance preferred by most conversation partners in a public setting. Touch is still possible, but it is limited to brief pats of emphasis and reassurance.</a:t>
            </a:r>
            <a:endParaRPr lang="en-GB" dirty="0" smtClean="0"/>
          </a:p>
          <a:p>
            <a:pPr lvl="0"/>
            <a:r>
              <a:rPr lang="en-US" b="1" i="1" dirty="0" smtClean="0"/>
              <a:t>Social distance</a:t>
            </a:r>
            <a:r>
              <a:rPr lang="en-US" dirty="0" smtClean="0"/>
              <a:t> is represented by 4-12 foot zone. This is commonly used during business transactions or social exchanges for example, by a boss to his secretary, teacher to his pupil</a:t>
            </a:r>
            <a:r>
              <a:rPr lang="en-US" dirty="0" smtClean="0"/>
              <a:t>.</a:t>
            </a:r>
          </a:p>
          <a:p>
            <a:r>
              <a:rPr lang="en-US" b="1" i="1" dirty="0" smtClean="0"/>
              <a:t>Public distance</a:t>
            </a:r>
            <a:r>
              <a:rPr lang="en-US" dirty="0" smtClean="0"/>
              <a:t> represented by 12 feet to more than 25 feet. For example, facilitators in lecture rooms, speakers at public gatherings, churches, mosques, and in courtrooms.</a:t>
            </a:r>
            <a:endParaRPr lang="en-GB" dirty="0" smtClean="0"/>
          </a:p>
          <a:p>
            <a:pPr lvl="0"/>
            <a:endParaRPr lang="en-GB" dirty="0" smtClean="0"/>
          </a:p>
          <a:p>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cap="none" dirty="0" smtClean="0"/>
              <a:t>c) </a:t>
            </a:r>
            <a:r>
              <a:rPr lang="en-US" i="1" cap="none" dirty="0" err="1" smtClean="0"/>
              <a:t>chronemics</a:t>
            </a:r>
            <a:endParaRPr lang="en-GB" i="1" cap="none" dirty="0"/>
          </a:p>
        </p:txBody>
      </p:sp>
      <p:sp>
        <p:nvSpPr>
          <p:cNvPr id="3" name="Content Placeholder 2"/>
          <p:cNvSpPr>
            <a:spLocks noGrp="1"/>
          </p:cNvSpPr>
          <p:nvPr>
            <p:ph idx="1"/>
          </p:nvPr>
        </p:nvSpPr>
        <p:spPr/>
        <p:txBody>
          <a:bodyPr>
            <a:normAutofit fontScale="92500" lnSpcReduction="10000"/>
          </a:bodyPr>
          <a:lstStyle/>
          <a:p>
            <a:r>
              <a:rPr lang="en-GB" dirty="0" smtClean="0"/>
              <a:t>the study of a person’s use of time. </a:t>
            </a:r>
            <a:endParaRPr lang="en-GB" dirty="0" smtClean="0"/>
          </a:p>
          <a:p>
            <a:r>
              <a:rPr lang="en-GB" dirty="0" err="1" smtClean="0"/>
              <a:t>Chronemics</a:t>
            </a:r>
            <a:r>
              <a:rPr lang="en-GB" dirty="0" smtClean="0"/>
              <a:t> </a:t>
            </a:r>
            <a:r>
              <a:rPr lang="en-GB" dirty="0" smtClean="0"/>
              <a:t>help us to understand how people perceive and structure time in their dialogue and relationships with others</a:t>
            </a:r>
            <a:r>
              <a:rPr lang="en-GB" dirty="0" smtClean="0"/>
              <a:t>.</a:t>
            </a:r>
          </a:p>
          <a:p>
            <a:r>
              <a:rPr lang="en-US" dirty="0" smtClean="0"/>
              <a:t>In western culture, time is viewed as valuable and  </a:t>
            </a:r>
            <a:r>
              <a:rPr lang="en-US" dirty="0" smtClean="0"/>
              <a:t>of great significance, </a:t>
            </a:r>
            <a:r>
              <a:rPr lang="en-US" dirty="0" smtClean="0"/>
              <a:t>hence punctuality is </a:t>
            </a:r>
            <a:r>
              <a:rPr lang="en-US" dirty="0" smtClean="0"/>
              <a:t>used as a measure of efficiency or effectiveness. </a:t>
            </a:r>
            <a:endParaRPr lang="en-US" dirty="0" smtClean="0"/>
          </a:p>
          <a:p>
            <a:r>
              <a:rPr lang="en-GB" dirty="0" smtClean="0"/>
              <a:t>The way time is structured may sends messages related to immediacy and closeness</a:t>
            </a:r>
          </a:p>
          <a:p>
            <a:r>
              <a:rPr lang="en-GB" dirty="0" smtClean="0"/>
              <a:t>Spending time with another person sends the message that the person is important and reflects a desire to develop or maintain a close relationship.</a:t>
            </a:r>
          </a:p>
          <a:p>
            <a:endParaRPr lang="en-US" dirty="0" smtClean="0"/>
          </a:p>
          <a:p>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cap="none" dirty="0" smtClean="0"/>
              <a:t>d) Aesthetics</a:t>
            </a:r>
            <a:endParaRPr lang="en-GB" i="1" cap="none" dirty="0"/>
          </a:p>
        </p:txBody>
      </p:sp>
      <p:sp>
        <p:nvSpPr>
          <p:cNvPr id="3" name="Content Placeholder 2"/>
          <p:cNvSpPr>
            <a:spLocks noGrp="1"/>
          </p:cNvSpPr>
          <p:nvPr>
            <p:ph idx="1"/>
          </p:nvPr>
        </p:nvSpPr>
        <p:spPr/>
        <p:txBody>
          <a:bodyPr>
            <a:normAutofit fontScale="92500" lnSpcReduction="10000"/>
          </a:bodyPr>
          <a:lstStyle/>
          <a:p>
            <a:r>
              <a:rPr lang="en-US" dirty="0" smtClean="0"/>
              <a:t>The use of </a:t>
            </a:r>
            <a:r>
              <a:rPr lang="en-US" dirty="0" err="1" smtClean="0"/>
              <a:t>colour</a:t>
            </a:r>
            <a:r>
              <a:rPr lang="en-US" dirty="0" smtClean="0"/>
              <a:t> or </a:t>
            </a:r>
            <a:r>
              <a:rPr lang="en-US" dirty="0" smtClean="0"/>
              <a:t>music to communicate a </a:t>
            </a:r>
            <a:r>
              <a:rPr lang="en-US" dirty="0" smtClean="0"/>
              <a:t>message or mood </a:t>
            </a:r>
            <a:endParaRPr lang="en-US" dirty="0" smtClean="0"/>
          </a:p>
          <a:p>
            <a:r>
              <a:rPr lang="en-US" dirty="0" smtClean="0"/>
              <a:t>For </a:t>
            </a:r>
            <a:r>
              <a:rPr lang="en-US" dirty="0" smtClean="0"/>
              <a:t>example, strolling through a supermarket, the music is slow and comfortable; the owner wants you to move slowly through the store, seeing everything there is to buy. </a:t>
            </a:r>
            <a:endParaRPr lang="en-US" dirty="0" smtClean="0"/>
          </a:p>
          <a:p>
            <a:r>
              <a:rPr lang="en-US" dirty="0" smtClean="0"/>
              <a:t>Music </a:t>
            </a:r>
            <a:r>
              <a:rPr lang="en-US" dirty="0" smtClean="0"/>
              <a:t>has a therapeutic effect and depending on the kind of music played at specific events, the communication may be deemed effective or not</a:t>
            </a:r>
            <a:r>
              <a:rPr lang="en-US" dirty="0" smtClean="0"/>
              <a:t>.</a:t>
            </a:r>
          </a:p>
          <a:p>
            <a:r>
              <a:rPr lang="en-US" dirty="0" err="1" smtClean="0"/>
              <a:t>Colour</a:t>
            </a:r>
            <a:r>
              <a:rPr lang="en-US" dirty="0" smtClean="0"/>
              <a:t> has a significant effect on </a:t>
            </a:r>
            <a:r>
              <a:rPr lang="en-US" dirty="0" smtClean="0"/>
              <a:t>people </a:t>
            </a:r>
            <a:r>
              <a:rPr lang="en-US" dirty="0" err="1" smtClean="0"/>
              <a:t>eg</a:t>
            </a:r>
            <a:r>
              <a:rPr lang="en-US" dirty="0" smtClean="0"/>
              <a:t>  </a:t>
            </a:r>
            <a:r>
              <a:rPr lang="en-US" dirty="0" smtClean="0"/>
              <a:t>patients at hospitals, prisoners, and children. Some </a:t>
            </a:r>
            <a:r>
              <a:rPr lang="en-US" dirty="0" err="1" smtClean="0"/>
              <a:t>colours</a:t>
            </a:r>
            <a:r>
              <a:rPr lang="en-US" dirty="0" smtClean="0"/>
              <a:t> can make a person look sick or powerful </a:t>
            </a:r>
            <a:r>
              <a:rPr lang="en-US" dirty="0" smtClean="0"/>
              <a:t>depending</a:t>
            </a:r>
            <a:endParaRPr lang="en-GB" dirty="0" smtClean="0"/>
          </a:p>
          <a:p>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cap="none" dirty="0" smtClean="0"/>
              <a:t>e) Artifacts</a:t>
            </a:r>
            <a:endParaRPr lang="en-GB" i="1" cap="none" dirty="0"/>
          </a:p>
        </p:txBody>
      </p:sp>
      <p:sp>
        <p:nvSpPr>
          <p:cNvPr id="3" name="Content Placeholder 2"/>
          <p:cNvSpPr>
            <a:spLocks noGrp="1"/>
          </p:cNvSpPr>
          <p:nvPr>
            <p:ph idx="1"/>
          </p:nvPr>
        </p:nvSpPr>
        <p:spPr/>
        <p:txBody>
          <a:bodyPr/>
          <a:lstStyle/>
          <a:p>
            <a:r>
              <a:rPr lang="en-US" dirty="0" smtClean="0"/>
              <a:t>Artifacts </a:t>
            </a:r>
            <a:r>
              <a:rPr lang="en-US" dirty="0" smtClean="0"/>
              <a:t>are ornaments or adornments we display that hold communicative potential, including the clothing that a person wears, make-up, eye glasses, hairstyles, cosmetics and jewelry among others. These carry distinct messages. Dress conservatively but appropriately for your age and social standing.</a:t>
            </a:r>
            <a:endParaRPr lang="en-GB" dirty="0" smtClean="0"/>
          </a:p>
          <a:p>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cap="none" dirty="0" smtClean="0"/>
              <a:t>Roles of non-verbal codes in  verbal communication </a:t>
            </a:r>
            <a:endParaRPr lang="en-GB" cap="none" dirty="0"/>
          </a:p>
        </p:txBody>
      </p:sp>
      <p:sp>
        <p:nvSpPr>
          <p:cNvPr id="3" name="Content Placeholder 2"/>
          <p:cNvSpPr>
            <a:spLocks noGrp="1"/>
          </p:cNvSpPr>
          <p:nvPr>
            <p:ph idx="1"/>
          </p:nvPr>
        </p:nvSpPr>
        <p:spPr/>
        <p:txBody>
          <a:bodyPr>
            <a:normAutofit fontScale="85000" lnSpcReduction="20000"/>
          </a:bodyPr>
          <a:lstStyle/>
          <a:p>
            <a:pPr lvl="0"/>
            <a:r>
              <a:rPr lang="en-US" b="1" dirty="0" smtClean="0"/>
              <a:t>Repetition</a:t>
            </a:r>
            <a:r>
              <a:rPr lang="en-US" dirty="0" smtClean="0"/>
              <a:t>: It repeats and often strengthens the message you’re making verbally.</a:t>
            </a:r>
            <a:endParaRPr lang="en-GB" dirty="0" smtClean="0"/>
          </a:p>
          <a:p>
            <a:pPr lvl="0"/>
            <a:r>
              <a:rPr lang="en-US" b="1" dirty="0" smtClean="0"/>
              <a:t>Contradiction:</a:t>
            </a:r>
            <a:r>
              <a:rPr lang="en-US" dirty="0" smtClean="0"/>
              <a:t> It can contradict the message you’re trying to convey, thus indicating to your listener that you may not be telling the truth.</a:t>
            </a:r>
            <a:endParaRPr lang="en-GB" dirty="0" smtClean="0"/>
          </a:p>
          <a:p>
            <a:pPr lvl="0"/>
            <a:r>
              <a:rPr lang="en-US" b="1" dirty="0" smtClean="0"/>
              <a:t>Substitution:</a:t>
            </a:r>
            <a:r>
              <a:rPr lang="en-US" dirty="0" smtClean="0"/>
              <a:t> It can substitute for a verbal message. For example, your facial expression often conveys a far more vivid message than words ever can.</a:t>
            </a:r>
            <a:endParaRPr lang="en-GB" dirty="0" smtClean="0"/>
          </a:p>
          <a:p>
            <a:pPr lvl="0"/>
            <a:r>
              <a:rPr lang="en-US" b="1" dirty="0" smtClean="0"/>
              <a:t>Complementing: </a:t>
            </a:r>
            <a:r>
              <a:rPr lang="en-US" dirty="0" smtClean="0"/>
              <a:t>It may add to or complement your verbal message. As a boss, if you pat an employee on the back in addition to giving praise, it can increase the impact of your message.</a:t>
            </a:r>
            <a:endParaRPr lang="en-GB" dirty="0" smtClean="0"/>
          </a:p>
          <a:p>
            <a:pPr lvl="0"/>
            <a:r>
              <a:rPr lang="en-US" b="1" dirty="0" smtClean="0"/>
              <a:t>Accent:</a:t>
            </a:r>
            <a:r>
              <a:rPr lang="en-US" dirty="0" smtClean="0"/>
              <a:t> </a:t>
            </a:r>
            <a:r>
              <a:rPr lang="en-US" dirty="0" smtClean="0"/>
              <a:t>It may </a:t>
            </a:r>
            <a:r>
              <a:rPr lang="en-US" dirty="0" smtClean="0"/>
              <a:t>reinforce </a:t>
            </a:r>
            <a:r>
              <a:rPr lang="en-US" dirty="0" smtClean="0"/>
              <a:t>or underline a verbal message. </a:t>
            </a:r>
            <a:r>
              <a:rPr lang="en-US" dirty="0" err="1" smtClean="0"/>
              <a:t>Eg</a:t>
            </a:r>
            <a:r>
              <a:rPr lang="en-US" dirty="0" smtClean="0"/>
              <a:t> </a:t>
            </a:r>
            <a:r>
              <a:rPr lang="en-GB" dirty="0" smtClean="0"/>
              <a:t>“I’m </a:t>
            </a:r>
            <a:r>
              <a:rPr lang="en-GB" b="1" dirty="0" smtClean="0"/>
              <a:t>VERY</a:t>
            </a:r>
            <a:r>
              <a:rPr lang="en-GB" dirty="0" smtClean="0"/>
              <a:t> angry with </a:t>
            </a:r>
            <a:r>
              <a:rPr lang="en-GB" dirty="0" err="1" smtClean="0"/>
              <a:t>yo</a:t>
            </a:r>
            <a:r>
              <a:rPr lang="en-US" dirty="0" smtClean="0"/>
              <a:t>u to </a:t>
            </a:r>
            <a:r>
              <a:rPr lang="en-US" dirty="0" smtClean="0"/>
              <a:t>underline the importance of your message.</a:t>
            </a:r>
            <a:endParaRPr lang="en-GB" dirty="0" smtClean="0"/>
          </a:p>
          <a:p>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cap="none" dirty="0" smtClean="0"/>
              <a:t>Problems of nonverbal communication</a:t>
            </a:r>
            <a:endParaRPr lang="en-GB" i="1" cap="none" dirty="0"/>
          </a:p>
        </p:txBody>
      </p:sp>
      <p:sp>
        <p:nvSpPr>
          <p:cNvPr id="3" name="Content Placeholder 2"/>
          <p:cNvSpPr>
            <a:spLocks noGrp="1"/>
          </p:cNvSpPr>
          <p:nvPr>
            <p:ph idx="1"/>
          </p:nvPr>
        </p:nvSpPr>
        <p:spPr/>
        <p:txBody>
          <a:bodyPr>
            <a:normAutofit lnSpcReduction="10000"/>
          </a:bodyPr>
          <a:lstStyle/>
          <a:p>
            <a:r>
              <a:rPr lang="en-US" dirty="0" smtClean="0"/>
              <a:t>Nonverbal </a:t>
            </a:r>
            <a:r>
              <a:rPr lang="en-US" dirty="0" smtClean="0"/>
              <a:t>communication is responsible for much of the misunderstanding that occurs during communication. </a:t>
            </a:r>
            <a:endParaRPr lang="en-US" dirty="0" smtClean="0"/>
          </a:p>
          <a:p>
            <a:r>
              <a:rPr lang="en-US" dirty="0" smtClean="0"/>
              <a:t>Just </a:t>
            </a:r>
            <a:r>
              <a:rPr lang="en-US" dirty="0" smtClean="0"/>
              <a:t>as people have difficulty interpreting verbal symbols, so do they struggle to interpret nonverbal codes. </a:t>
            </a:r>
            <a:endParaRPr lang="en-US" dirty="0" smtClean="0"/>
          </a:p>
          <a:p>
            <a:r>
              <a:rPr lang="en-US" dirty="0" smtClean="0"/>
              <a:t>The </a:t>
            </a:r>
            <a:r>
              <a:rPr lang="en-US" dirty="0" smtClean="0"/>
              <a:t>ambiguity of nonverbal communication occurs for two reasons: </a:t>
            </a:r>
            <a:endParaRPr lang="en-US" dirty="0" smtClean="0"/>
          </a:p>
          <a:p>
            <a:pPr lvl="1"/>
            <a:r>
              <a:rPr lang="en-US" dirty="0" smtClean="0">
                <a:solidFill>
                  <a:srgbClr val="0070C0"/>
                </a:solidFill>
              </a:rPr>
              <a:t>People </a:t>
            </a:r>
            <a:r>
              <a:rPr lang="en-US" dirty="0" smtClean="0">
                <a:solidFill>
                  <a:srgbClr val="0070C0"/>
                </a:solidFill>
              </a:rPr>
              <a:t>use the same code to communicate a variety of meanings, and </a:t>
            </a:r>
            <a:endParaRPr lang="en-US" dirty="0" smtClean="0">
              <a:solidFill>
                <a:srgbClr val="0070C0"/>
              </a:solidFill>
            </a:endParaRPr>
          </a:p>
          <a:p>
            <a:pPr lvl="1"/>
            <a:r>
              <a:rPr lang="en-US" dirty="0" smtClean="0">
                <a:solidFill>
                  <a:srgbClr val="0070C0"/>
                </a:solidFill>
              </a:rPr>
              <a:t>they </a:t>
            </a:r>
            <a:r>
              <a:rPr lang="en-US" dirty="0" smtClean="0">
                <a:solidFill>
                  <a:srgbClr val="0070C0"/>
                </a:solidFill>
              </a:rPr>
              <a:t>use a variety of codes </a:t>
            </a:r>
            <a:r>
              <a:rPr lang="en-US" dirty="0" smtClean="0">
                <a:solidFill>
                  <a:srgbClr val="0070C0"/>
                </a:solidFill>
              </a:rPr>
              <a:t>to communicate </a:t>
            </a:r>
            <a:r>
              <a:rPr lang="en-US" dirty="0" smtClean="0">
                <a:solidFill>
                  <a:srgbClr val="0070C0"/>
                </a:solidFill>
              </a:rPr>
              <a:t>the same meaning</a:t>
            </a:r>
            <a:endParaRPr lang="en-GB" dirty="0">
              <a:solidFill>
                <a:srgbClr val="0070C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r>
              <a:rPr lang="en-US" b="1" dirty="0" err="1" smtClean="0"/>
              <a:t>i</a:t>
            </a:r>
            <a:r>
              <a:rPr lang="en-US" b="1" dirty="0" smtClean="0"/>
              <a:t>) One </a:t>
            </a:r>
            <a:r>
              <a:rPr lang="en-US" b="1" dirty="0" smtClean="0"/>
              <a:t>Code </a:t>
            </a:r>
            <a:r>
              <a:rPr lang="en-US" b="1" dirty="0" smtClean="0"/>
              <a:t>-a </a:t>
            </a:r>
            <a:r>
              <a:rPr lang="en-US" b="1" dirty="0" smtClean="0"/>
              <a:t>Variety of </a:t>
            </a:r>
            <a:r>
              <a:rPr lang="en-US" b="1" dirty="0" smtClean="0"/>
              <a:t>Meanings-</a:t>
            </a:r>
            <a:r>
              <a:rPr lang="en-US" dirty="0" smtClean="0"/>
              <a:t> one code may communicate several different meanings. </a:t>
            </a:r>
            <a:r>
              <a:rPr lang="en-US" dirty="0" err="1" smtClean="0"/>
              <a:t>Eg</a:t>
            </a:r>
            <a:r>
              <a:rPr lang="en-US" dirty="0" smtClean="0"/>
              <a:t> </a:t>
            </a:r>
          </a:p>
          <a:p>
            <a:pPr>
              <a:buFont typeface="Wingdings" pitchFamily="2" charset="2"/>
              <a:buChar char="ü"/>
            </a:pPr>
            <a:r>
              <a:rPr lang="en-US" i="1" dirty="0" smtClean="0">
                <a:solidFill>
                  <a:srgbClr val="FF0000"/>
                </a:solidFill>
              </a:rPr>
              <a:t>raising </a:t>
            </a:r>
            <a:r>
              <a:rPr lang="en-US" i="1" dirty="0" smtClean="0">
                <a:solidFill>
                  <a:srgbClr val="FF0000"/>
                </a:solidFill>
              </a:rPr>
              <a:t>your right hand </a:t>
            </a:r>
            <a:r>
              <a:rPr lang="en-US" i="1" dirty="0" smtClean="0"/>
              <a:t>may mean that you are taking an oath, you are demonstrating for a cause, you are indicating </a:t>
            </a:r>
            <a:r>
              <a:rPr lang="en-US" i="1" dirty="0" smtClean="0"/>
              <a:t>that </a:t>
            </a:r>
            <a:r>
              <a:rPr lang="en-US" i="1" dirty="0" smtClean="0"/>
              <a:t>you would like to answer a question, a physician is examining your right side, or you want a taxi to stop for you. </a:t>
            </a:r>
            <a:endParaRPr lang="en-US" i="1" dirty="0" smtClean="0"/>
          </a:p>
          <a:p>
            <a:pPr>
              <a:buFont typeface="Wingdings" pitchFamily="2" charset="2"/>
              <a:buChar char="ü"/>
            </a:pPr>
            <a:r>
              <a:rPr lang="en-US" i="1" dirty="0" smtClean="0">
                <a:solidFill>
                  <a:srgbClr val="FF0000"/>
                </a:solidFill>
              </a:rPr>
              <a:t>standing </a:t>
            </a:r>
            <a:r>
              <a:rPr lang="en-US" i="1" dirty="0" smtClean="0">
                <a:solidFill>
                  <a:srgbClr val="FF0000"/>
                </a:solidFill>
              </a:rPr>
              <a:t>close to someone </a:t>
            </a:r>
            <a:r>
              <a:rPr lang="en-US" i="1" dirty="0" smtClean="0"/>
              <a:t>-a </a:t>
            </a:r>
            <a:r>
              <a:rPr lang="en-US" i="1" dirty="0" smtClean="0"/>
              <a:t>feeling of affection, because the room is crowded, or because you have difficulty hearing.</a:t>
            </a:r>
            <a:endParaRPr lang="en-GB" i="1" dirty="0" smtClean="0"/>
          </a:p>
          <a:p>
            <a:endParaRPr lang="en-GB" dirty="0" smtClean="0"/>
          </a:p>
          <a:p>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US" b="1" dirty="0" smtClean="0"/>
              <a:t>Emoticons</a:t>
            </a:r>
            <a:r>
              <a:rPr lang="en-US" dirty="0" smtClean="0"/>
              <a:t> </a:t>
            </a:r>
            <a:r>
              <a:rPr lang="en-US" dirty="0" smtClean="0"/>
              <a:t>–these are use to </a:t>
            </a:r>
            <a:r>
              <a:rPr lang="en-US" dirty="0" smtClean="0"/>
              <a:t>convey your feelings to another person electronically. </a:t>
            </a:r>
            <a:r>
              <a:rPr lang="en-US" dirty="0" smtClean="0"/>
              <a:t>These can be  </a:t>
            </a:r>
            <a:r>
              <a:rPr lang="en-US" dirty="0" smtClean="0"/>
              <a:t>difficult to interpret. </a:t>
            </a:r>
            <a:endParaRPr lang="en-US" dirty="0" smtClean="0"/>
          </a:p>
          <a:p>
            <a:r>
              <a:rPr lang="en-US" dirty="0" smtClean="0"/>
              <a:t>No </a:t>
            </a:r>
            <a:r>
              <a:rPr lang="en-US" dirty="0" smtClean="0"/>
              <a:t>absolute, standard definitions exist for individual emoticons, but many people have common understandings for a variety of these symbols. </a:t>
            </a:r>
            <a:endParaRPr lang="en-US" dirty="0" smtClean="0"/>
          </a:p>
          <a:p>
            <a:r>
              <a:rPr lang="en-US" dirty="0" smtClean="0"/>
              <a:t>Generally</a:t>
            </a:r>
            <a:r>
              <a:rPr lang="en-US" dirty="0" smtClean="0"/>
              <a:t>, emoticons are made to resemble a </a:t>
            </a:r>
            <a:r>
              <a:rPr lang="en-US" dirty="0" smtClean="0"/>
              <a:t>face, gestures walk and stance etc. </a:t>
            </a: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r>
              <a:rPr lang="en-US" b="1" dirty="0" smtClean="0"/>
              <a:t>A Variety of </a:t>
            </a:r>
            <a:r>
              <a:rPr lang="en-US" b="1" dirty="0" smtClean="0"/>
              <a:t>Codes-the </a:t>
            </a:r>
            <a:r>
              <a:rPr lang="en-US" b="1" dirty="0" smtClean="0"/>
              <a:t>Same </a:t>
            </a:r>
            <a:r>
              <a:rPr lang="en-US" b="1" dirty="0" smtClean="0"/>
              <a:t>Meaning</a:t>
            </a:r>
            <a:r>
              <a:rPr lang="en-GB" dirty="0" smtClean="0"/>
              <a:t>- </a:t>
            </a:r>
            <a:r>
              <a:rPr lang="en-US" dirty="0" err="1" smtClean="0"/>
              <a:t>e</a:t>
            </a:r>
            <a:r>
              <a:rPr lang="en-US" dirty="0" err="1" smtClean="0"/>
              <a:t>g</a:t>
            </a:r>
            <a:r>
              <a:rPr lang="en-US" dirty="0" smtClean="0"/>
              <a:t> </a:t>
            </a:r>
          </a:p>
          <a:p>
            <a:pPr>
              <a:buFont typeface="Wingdings" pitchFamily="2" charset="2"/>
              <a:buChar char="Ø"/>
            </a:pPr>
            <a:r>
              <a:rPr lang="en-US" i="1" dirty="0" smtClean="0">
                <a:solidFill>
                  <a:srgbClr val="FF0000"/>
                </a:solidFill>
              </a:rPr>
              <a:t>to communicate </a:t>
            </a:r>
            <a:r>
              <a:rPr lang="en-US" i="1" dirty="0" smtClean="0">
                <a:solidFill>
                  <a:srgbClr val="FF0000"/>
                </a:solidFill>
              </a:rPr>
              <a:t>love or </a:t>
            </a:r>
            <a:r>
              <a:rPr lang="en-US" i="1" dirty="0" smtClean="0">
                <a:solidFill>
                  <a:srgbClr val="FF0000"/>
                </a:solidFill>
              </a:rPr>
              <a:t>affection</a:t>
            </a:r>
            <a:r>
              <a:rPr lang="en-US" dirty="0" smtClean="0"/>
              <a:t>-you may:</a:t>
            </a:r>
          </a:p>
          <a:p>
            <a:pPr lvl="1">
              <a:buFont typeface="Wingdings" pitchFamily="2" charset="2"/>
              <a:buChar char="Ø"/>
            </a:pPr>
            <a:r>
              <a:rPr lang="en-US" dirty="0" smtClean="0"/>
              <a:t>sit </a:t>
            </a:r>
            <a:r>
              <a:rPr lang="en-US" dirty="0" smtClean="0"/>
              <a:t>or stand more closely to someone you </a:t>
            </a:r>
            <a:r>
              <a:rPr lang="en-US" dirty="0" smtClean="0"/>
              <a:t>love</a:t>
            </a:r>
          </a:p>
          <a:p>
            <a:pPr lvl="1">
              <a:buFont typeface="Wingdings" pitchFamily="2" charset="2"/>
              <a:buChar char="Ø"/>
            </a:pPr>
            <a:r>
              <a:rPr lang="en-US" dirty="0" smtClean="0"/>
              <a:t>speak </a:t>
            </a:r>
            <a:r>
              <a:rPr lang="en-US" dirty="0" smtClean="0"/>
              <a:t>more softly, </a:t>
            </a:r>
            <a:endParaRPr lang="en-US" dirty="0" smtClean="0"/>
          </a:p>
          <a:p>
            <a:pPr lvl="1">
              <a:buFont typeface="Wingdings" pitchFamily="2" charset="2"/>
              <a:buChar char="Ø"/>
            </a:pPr>
            <a:r>
              <a:rPr lang="en-US" dirty="0" smtClean="0"/>
              <a:t>use </a:t>
            </a:r>
            <a:r>
              <a:rPr lang="en-US" dirty="0" smtClean="0"/>
              <a:t>a certain vocal </a:t>
            </a:r>
            <a:r>
              <a:rPr lang="en-US" dirty="0" smtClean="0"/>
              <a:t>intonation</a:t>
            </a:r>
          </a:p>
          <a:p>
            <a:pPr lvl="1">
              <a:buFont typeface="Wingdings" pitchFamily="2" charset="2"/>
              <a:buChar char="Ø"/>
            </a:pPr>
            <a:r>
              <a:rPr lang="en-US" dirty="0" smtClean="0"/>
              <a:t>alter </a:t>
            </a:r>
            <a:r>
              <a:rPr lang="en-US" dirty="0" smtClean="0"/>
              <a:t>how quickly you speak when you communicate with someone with whom you are </a:t>
            </a:r>
            <a:r>
              <a:rPr lang="en-US" dirty="0" smtClean="0"/>
              <a:t>affectionate</a:t>
            </a:r>
          </a:p>
          <a:p>
            <a:pPr lvl="1">
              <a:buFont typeface="Wingdings" pitchFamily="2" charset="2"/>
              <a:buChar char="Ø"/>
            </a:pPr>
            <a:r>
              <a:rPr lang="en-US" dirty="0" smtClean="0"/>
              <a:t>dress </a:t>
            </a:r>
            <a:r>
              <a:rPr lang="en-US" dirty="0" smtClean="0"/>
              <a:t>differently when you are going to be in the company of someone you love.</a:t>
            </a:r>
            <a:endParaRPr lang="en-GB" dirty="0" smtClean="0"/>
          </a:p>
          <a:p>
            <a:endParaRPr lang="en-GB"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2397</TotalTime>
  <Words>1832</Words>
  <Application>Microsoft Office PowerPoint</Application>
  <PresentationFormat>On-screen Show (4:3)</PresentationFormat>
  <Paragraphs>111</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Opulent</vt:lpstr>
      <vt:lpstr>LECTURE 10</vt:lpstr>
      <vt:lpstr>Learning outcomes</vt:lpstr>
      <vt:lpstr>Introduction</vt:lpstr>
      <vt:lpstr>What  is non verbal communication?</vt:lpstr>
      <vt:lpstr>Characteristics of non-verbal communication</vt:lpstr>
      <vt:lpstr>Types of nonverbal communication</vt:lpstr>
      <vt:lpstr>a) Kinesics</vt:lpstr>
      <vt:lpstr>Slide 8</vt:lpstr>
      <vt:lpstr>Slide 9</vt:lpstr>
      <vt:lpstr>Slide 10</vt:lpstr>
      <vt:lpstr>b) Paralanguage</vt:lpstr>
      <vt:lpstr>Slide 12</vt:lpstr>
      <vt:lpstr>Slide 13</vt:lpstr>
      <vt:lpstr>b) Proxemics</vt:lpstr>
      <vt:lpstr>Slide 15</vt:lpstr>
      <vt:lpstr>Slide 16</vt:lpstr>
      <vt:lpstr>c) chronemics</vt:lpstr>
      <vt:lpstr>d) Aesthetics</vt:lpstr>
      <vt:lpstr>e) Artifacts</vt:lpstr>
      <vt:lpstr>Roles of non-verbal codes in  verbal communication </vt:lpstr>
      <vt:lpstr>Problems of nonverbal communication</vt:lpstr>
      <vt:lpstr>Slide 22</vt:lpstr>
      <vt:lpstr>Slide 23</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10</dc:title>
  <dc:creator>Caren Ogola</dc:creator>
  <cp:lastModifiedBy>Caren Ogola</cp:lastModifiedBy>
  <cp:revision>85</cp:revision>
  <dcterms:created xsi:type="dcterms:W3CDTF">2021-05-18T05:19:14Z</dcterms:created>
  <dcterms:modified xsi:type="dcterms:W3CDTF">2021-05-21T07:48:52Z</dcterms:modified>
</cp:coreProperties>
</file>