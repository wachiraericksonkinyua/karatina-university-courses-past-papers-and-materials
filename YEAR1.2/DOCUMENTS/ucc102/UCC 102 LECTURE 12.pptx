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diagrams/drawing2.xml" ContentType="application/vnd.ms-office.drawingml.diagramDrawing+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diagrams/quickStyle2.xml" ContentType="application/vnd.openxmlformats-officedocument.drawingml.diagramStyl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diagrams/layout2.xml" ContentType="application/vnd.openxmlformats-officedocument.drawingml.diagramLayout+xml"/>
  <Override PartName="/ppt/diagrams/layout1.xml" ContentType="application/vnd.openxmlformats-officedocument.drawingml.diagramLayout+xml"/>
  <Override PartName="/ppt/diagrams/data2.xml" ContentType="application/vnd.openxmlformats-officedocument.drawingml.diagramData+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diagrams/data1.xml" ContentType="application/vnd.openxmlformats-officedocument.drawingml.diagramData+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diagrams/colors2.xml" ContentType="application/vnd.openxmlformats-officedocument.drawingml.diagramColors+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diagrams/drawing1.xml" ContentType="application/vnd.ms-office.drawingml.diagramDrawing+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Default Extension="jpeg" ContentType="image/jpeg"/>
  <Override PartName="/ppt/slideLayouts/slideLayout3.xml" ContentType="application/vnd.openxmlformats-officedocument.presentationml.slideLayout+xml"/>
  <Override PartName="/ppt/diagrams/quickStyle1.xml" ContentType="application/vnd.openxmlformats-officedocument.drawingml.diagramStyl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61" r:id="rId3"/>
    <p:sldId id="258" r:id="rId4"/>
    <p:sldId id="259" r:id="rId5"/>
    <p:sldId id="274" r:id="rId6"/>
    <p:sldId id="310" r:id="rId7"/>
    <p:sldId id="263" r:id="rId8"/>
    <p:sldId id="264" r:id="rId9"/>
    <p:sldId id="265" r:id="rId10"/>
    <p:sldId id="311" r:id="rId11"/>
    <p:sldId id="280" r:id="rId12"/>
    <p:sldId id="281" r:id="rId13"/>
    <p:sldId id="282" r:id="rId14"/>
    <p:sldId id="276" r:id="rId15"/>
    <p:sldId id="277" r:id="rId16"/>
    <p:sldId id="278" r:id="rId17"/>
    <p:sldId id="283" r:id="rId18"/>
    <p:sldId id="284" r:id="rId19"/>
    <p:sldId id="285" r:id="rId20"/>
    <p:sldId id="286" r:id="rId21"/>
    <p:sldId id="287" r:id="rId22"/>
    <p:sldId id="306" r:id="rId23"/>
    <p:sldId id="309" r:id="rId24"/>
    <p:sldId id="307" r:id="rId25"/>
    <p:sldId id="288" r:id="rId26"/>
    <p:sldId id="289" r:id="rId27"/>
    <p:sldId id="308" r:id="rId28"/>
    <p:sldId id="291" r:id="rId29"/>
    <p:sldId id="295" r:id="rId30"/>
    <p:sldId id="297" r:id="rId31"/>
    <p:sldId id="298" r:id="rId32"/>
    <p:sldId id="299" r:id="rId33"/>
    <p:sldId id="300" r:id="rId34"/>
    <p:sldId id="301" r:id="rId35"/>
    <p:sldId id="302" r:id="rId36"/>
    <p:sldId id="303" r:id="rId37"/>
    <p:sldId id="304" r:id="rId38"/>
    <p:sldId id="305" r:id="rId3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7" d="100"/>
          <a:sy n="67" d="100"/>
        </p:scale>
        <p:origin x="-1088" y="-7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E34D9C6-3E18-42F2-804D-C2D1E5BA0D41}"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GB"/>
        </a:p>
      </dgm:t>
    </dgm:pt>
    <dgm:pt modelId="{4B6B170F-E80E-45A7-A65B-19043C19B642}">
      <dgm:prSet phldrT="[Text]"/>
      <dgm:spPr/>
      <dgm:t>
        <a:bodyPr/>
        <a:lstStyle/>
        <a:p>
          <a:r>
            <a:rPr lang="en-GB" dirty="0" smtClean="0"/>
            <a:t>1. Topic sentence</a:t>
          </a:r>
          <a:endParaRPr lang="en-GB" dirty="0"/>
        </a:p>
      </dgm:t>
    </dgm:pt>
    <dgm:pt modelId="{6A46A0F7-C318-4C19-A301-A1FA643E969A}" type="parTrans" cxnId="{21BF1CBE-0AAE-4722-9DDF-AC8EFC5E9085}">
      <dgm:prSet/>
      <dgm:spPr/>
      <dgm:t>
        <a:bodyPr/>
        <a:lstStyle/>
        <a:p>
          <a:endParaRPr lang="en-GB"/>
        </a:p>
      </dgm:t>
    </dgm:pt>
    <dgm:pt modelId="{5429FD7E-705F-405F-956C-C853B39829B5}" type="sibTrans" cxnId="{21BF1CBE-0AAE-4722-9DDF-AC8EFC5E9085}">
      <dgm:prSet/>
      <dgm:spPr/>
      <dgm:t>
        <a:bodyPr/>
        <a:lstStyle/>
        <a:p>
          <a:endParaRPr lang="en-GB"/>
        </a:p>
      </dgm:t>
    </dgm:pt>
    <dgm:pt modelId="{53458682-1B0B-4C41-A8B0-F6E47614D731}">
      <dgm:prSet phldrT="[Text]" custT="1"/>
      <dgm:spPr/>
      <dgm:t>
        <a:bodyPr/>
        <a:lstStyle/>
        <a:p>
          <a:r>
            <a:rPr lang="en-GB" sz="2000" i="1" dirty="0" smtClean="0"/>
            <a:t>It is the most important sentence in a paragraph it states the main idea of a paragraph</a:t>
          </a:r>
          <a:endParaRPr lang="en-GB" sz="2000" dirty="0"/>
        </a:p>
      </dgm:t>
    </dgm:pt>
    <dgm:pt modelId="{A51687A1-3A5D-4BC1-9F66-7741904B6C95}" type="parTrans" cxnId="{7DE4C11F-477A-4D36-A06B-9B846071BC19}">
      <dgm:prSet/>
      <dgm:spPr/>
      <dgm:t>
        <a:bodyPr/>
        <a:lstStyle/>
        <a:p>
          <a:endParaRPr lang="en-GB"/>
        </a:p>
      </dgm:t>
    </dgm:pt>
    <dgm:pt modelId="{608740F3-A6F0-431A-B19C-2646DE0749C7}" type="sibTrans" cxnId="{7DE4C11F-477A-4D36-A06B-9B846071BC19}">
      <dgm:prSet/>
      <dgm:spPr/>
      <dgm:t>
        <a:bodyPr/>
        <a:lstStyle/>
        <a:p>
          <a:endParaRPr lang="en-GB"/>
        </a:p>
      </dgm:t>
    </dgm:pt>
    <dgm:pt modelId="{D84DC924-113E-4E25-8144-4EEC44AE8D6B}">
      <dgm:prSet phldrT="[Text]"/>
      <dgm:spPr/>
      <dgm:t>
        <a:bodyPr/>
        <a:lstStyle/>
        <a:p>
          <a:r>
            <a:rPr lang="en-GB" dirty="0" smtClean="0"/>
            <a:t>2. Supporting sentence</a:t>
          </a:r>
          <a:endParaRPr lang="en-GB" dirty="0"/>
        </a:p>
      </dgm:t>
    </dgm:pt>
    <dgm:pt modelId="{B6719403-1CA9-4D7C-A9DA-0623D17CEEBF}" type="parTrans" cxnId="{198D16CE-87F1-47C3-BDFC-C75F9CD72A5F}">
      <dgm:prSet/>
      <dgm:spPr/>
      <dgm:t>
        <a:bodyPr/>
        <a:lstStyle/>
        <a:p>
          <a:endParaRPr lang="en-GB"/>
        </a:p>
      </dgm:t>
    </dgm:pt>
    <dgm:pt modelId="{722940E3-E401-4932-8350-1D98C04F3539}" type="sibTrans" cxnId="{198D16CE-87F1-47C3-BDFC-C75F9CD72A5F}">
      <dgm:prSet/>
      <dgm:spPr/>
      <dgm:t>
        <a:bodyPr/>
        <a:lstStyle/>
        <a:p>
          <a:endParaRPr lang="en-GB"/>
        </a:p>
      </dgm:t>
    </dgm:pt>
    <dgm:pt modelId="{4D991B5E-F0A7-44F4-A036-D4DB78D80861}">
      <dgm:prSet phldrT="[Text]"/>
      <dgm:spPr/>
      <dgm:t>
        <a:bodyPr/>
        <a:lstStyle/>
        <a:p>
          <a:r>
            <a:rPr lang="en-GB" dirty="0" smtClean="0"/>
            <a:t>Help explain the topic; supports the These are sentences that providing details, facts, examples, etc that help expound the main idea</a:t>
          </a:r>
          <a:endParaRPr lang="en-GB" dirty="0"/>
        </a:p>
      </dgm:t>
    </dgm:pt>
    <dgm:pt modelId="{6170F260-CC46-48E7-B293-5305352FD876}" type="parTrans" cxnId="{776152F2-2FE8-49AC-94F7-7441E9B2AC0A}">
      <dgm:prSet/>
      <dgm:spPr/>
      <dgm:t>
        <a:bodyPr/>
        <a:lstStyle/>
        <a:p>
          <a:endParaRPr lang="en-GB"/>
        </a:p>
      </dgm:t>
    </dgm:pt>
    <dgm:pt modelId="{CD8B7B21-C74C-4140-91EA-0BB9060E11D8}" type="sibTrans" cxnId="{776152F2-2FE8-49AC-94F7-7441E9B2AC0A}">
      <dgm:prSet/>
      <dgm:spPr/>
      <dgm:t>
        <a:bodyPr/>
        <a:lstStyle/>
        <a:p>
          <a:endParaRPr lang="en-GB"/>
        </a:p>
      </dgm:t>
    </dgm:pt>
    <dgm:pt modelId="{5D38D75A-BA60-41A3-88CB-13E082755A6B}">
      <dgm:prSet phldrT="[Text]"/>
      <dgm:spPr/>
      <dgm:t>
        <a:bodyPr/>
        <a:lstStyle/>
        <a:p>
          <a:r>
            <a:rPr lang="en-GB" dirty="0" smtClean="0"/>
            <a:t>Clincher/concluding sentence</a:t>
          </a:r>
          <a:endParaRPr lang="en-GB" dirty="0"/>
        </a:p>
      </dgm:t>
    </dgm:pt>
    <dgm:pt modelId="{55C49CDB-35AD-45AB-9A69-5FAABC3A800E}" type="parTrans" cxnId="{FAAE82ED-7C03-4BD4-A619-B4DCF6E9E399}">
      <dgm:prSet/>
      <dgm:spPr/>
      <dgm:t>
        <a:bodyPr/>
        <a:lstStyle/>
        <a:p>
          <a:endParaRPr lang="en-GB"/>
        </a:p>
      </dgm:t>
    </dgm:pt>
    <dgm:pt modelId="{A0E22280-4DD5-4994-9E17-8C6CDA14F1BA}" type="sibTrans" cxnId="{FAAE82ED-7C03-4BD4-A619-B4DCF6E9E399}">
      <dgm:prSet/>
      <dgm:spPr/>
      <dgm:t>
        <a:bodyPr/>
        <a:lstStyle/>
        <a:p>
          <a:endParaRPr lang="en-GB"/>
        </a:p>
      </dgm:t>
    </dgm:pt>
    <dgm:pt modelId="{4635D35A-297F-4202-9664-A94E06BE0A0D}">
      <dgm:prSet phldrT="[Text]"/>
      <dgm:spPr/>
      <dgm:t>
        <a:bodyPr/>
        <a:lstStyle/>
        <a:p>
          <a:r>
            <a:rPr lang="en-GB" dirty="0" smtClean="0"/>
            <a:t>Provide a logical conclusion based on the information provided by the supporting sentences </a:t>
          </a:r>
          <a:endParaRPr lang="en-GB" dirty="0"/>
        </a:p>
      </dgm:t>
    </dgm:pt>
    <dgm:pt modelId="{92CD174A-1F4E-4B2E-B971-1DFAEEDF681C}" type="parTrans" cxnId="{7A7236B9-CC6B-442C-A8CD-D8C31E70D288}">
      <dgm:prSet/>
      <dgm:spPr/>
      <dgm:t>
        <a:bodyPr/>
        <a:lstStyle/>
        <a:p>
          <a:endParaRPr lang="en-GB"/>
        </a:p>
      </dgm:t>
    </dgm:pt>
    <dgm:pt modelId="{A6DEDEC0-1E64-4447-A2EB-40A01D954520}" type="sibTrans" cxnId="{7A7236B9-CC6B-442C-A8CD-D8C31E70D288}">
      <dgm:prSet/>
      <dgm:spPr/>
      <dgm:t>
        <a:bodyPr/>
        <a:lstStyle/>
        <a:p>
          <a:endParaRPr lang="en-GB"/>
        </a:p>
      </dgm:t>
    </dgm:pt>
    <dgm:pt modelId="{92EE8506-F2CB-495D-AE81-A3216F254D5E}">
      <dgm:prSet phldrT="[Text]"/>
      <dgm:spPr/>
      <dgm:t>
        <a:bodyPr/>
        <a:lstStyle/>
        <a:p>
          <a:r>
            <a:rPr lang="en-GB" dirty="0" smtClean="0"/>
            <a:t>It is used to cement the main idea in the readers mind</a:t>
          </a:r>
          <a:endParaRPr lang="en-GB" dirty="0"/>
        </a:p>
      </dgm:t>
    </dgm:pt>
    <dgm:pt modelId="{C1DA33AD-F72F-40C2-96E9-7FCADA7C83C9}" type="parTrans" cxnId="{6BA6BDF3-3D67-4109-9DBE-F634D2A9EFFB}">
      <dgm:prSet/>
      <dgm:spPr/>
      <dgm:t>
        <a:bodyPr/>
        <a:lstStyle/>
        <a:p>
          <a:endParaRPr lang="en-GB"/>
        </a:p>
      </dgm:t>
    </dgm:pt>
    <dgm:pt modelId="{17E56BFB-3D83-4267-BF95-770095EC980B}" type="sibTrans" cxnId="{6BA6BDF3-3D67-4109-9DBE-F634D2A9EFFB}">
      <dgm:prSet/>
      <dgm:spPr/>
      <dgm:t>
        <a:bodyPr/>
        <a:lstStyle/>
        <a:p>
          <a:endParaRPr lang="en-GB"/>
        </a:p>
      </dgm:t>
    </dgm:pt>
    <dgm:pt modelId="{473AE3C0-3344-4FCB-B38E-7F532F144486}">
      <dgm:prSet custT="1"/>
      <dgm:spPr/>
      <dgm:t>
        <a:bodyPr/>
        <a:lstStyle/>
        <a:p>
          <a:r>
            <a:rPr lang="en-GB" sz="2000" i="1" dirty="0" smtClean="0"/>
            <a:t>It has two parts: topic and controlling idea </a:t>
          </a:r>
          <a:r>
            <a:rPr lang="en-GB" sz="2000" i="1" dirty="0" err="1" smtClean="0"/>
            <a:t>eg</a:t>
          </a:r>
          <a:endParaRPr lang="en-GB" sz="2000" dirty="0"/>
        </a:p>
      </dgm:t>
    </dgm:pt>
    <dgm:pt modelId="{0DEB0D37-225E-4D81-B18D-E2A3649AC2AC}" type="parTrans" cxnId="{7D08353A-3A9A-4E61-8F5B-6DF75F1CC9C7}">
      <dgm:prSet/>
      <dgm:spPr/>
      <dgm:t>
        <a:bodyPr/>
        <a:lstStyle/>
        <a:p>
          <a:endParaRPr lang="en-GB"/>
        </a:p>
      </dgm:t>
    </dgm:pt>
    <dgm:pt modelId="{FDCB1311-DE12-458F-9B6B-18CB9C0C6643}" type="sibTrans" cxnId="{7D08353A-3A9A-4E61-8F5B-6DF75F1CC9C7}">
      <dgm:prSet/>
      <dgm:spPr/>
      <dgm:t>
        <a:bodyPr/>
        <a:lstStyle/>
        <a:p>
          <a:endParaRPr lang="en-GB"/>
        </a:p>
      </dgm:t>
    </dgm:pt>
    <dgm:pt modelId="{E652742A-EFF4-415C-B7E4-8506CBBACE09}">
      <dgm:prSet custT="1"/>
      <dgm:spPr/>
      <dgm:t>
        <a:bodyPr/>
        <a:lstStyle/>
        <a:p>
          <a:r>
            <a:rPr lang="en-GB" sz="2000" i="1" dirty="0" err="1" smtClean="0">
              <a:solidFill>
                <a:srgbClr val="FF0000"/>
              </a:solidFill>
            </a:rPr>
            <a:t>Hawassa</a:t>
          </a:r>
          <a:r>
            <a:rPr lang="en-GB" sz="2000" i="1" dirty="0" smtClean="0">
              <a:solidFill>
                <a:srgbClr val="FF0000"/>
              </a:solidFill>
            </a:rPr>
            <a:t> </a:t>
          </a:r>
          <a:r>
            <a:rPr lang="en-GB" sz="2000" i="1" u="sng" dirty="0" smtClean="0"/>
            <a:t>is one of the most beautiful cities of the country</a:t>
          </a:r>
          <a:endParaRPr lang="en-GB" sz="2000" dirty="0"/>
        </a:p>
      </dgm:t>
    </dgm:pt>
    <dgm:pt modelId="{E762326C-1CEE-4444-B5CF-7D362A4EA0D2}" type="parTrans" cxnId="{EFF5672E-DCC0-4BF6-9C17-D74556BE44BE}">
      <dgm:prSet/>
      <dgm:spPr/>
      <dgm:t>
        <a:bodyPr/>
        <a:lstStyle/>
        <a:p>
          <a:endParaRPr lang="en-GB"/>
        </a:p>
      </dgm:t>
    </dgm:pt>
    <dgm:pt modelId="{F19DAC98-9405-4970-B1E3-2AC1493E9970}" type="sibTrans" cxnId="{EFF5672E-DCC0-4BF6-9C17-D74556BE44BE}">
      <dgm:prSet/>
      <dgm:spPr/>
      <dgm:t>
        <a:bodyPr/>
        <a:lstStyle/>
        <a:p>
          <a:endParaRPr lang="en-GB"/>
        </a:p>
      </dgm:t>
    </dgm:pt>
    <dgm:pt modelId="{A7119BE3-2B33-40F2-8CB1-72A2A2C54E0B}" type="pres">
      <dgm:prSet presAssocID="{CE34D9C6-3E18-42F2-804D-C2D1E5BA0D41}" presName="Name0" presStyleCnt="0">
        <dgm:presLayoutVars>
          <dgm:dir/>
          <dgm:animLvl val="lvl"/>
          <dgm:resizeHandles val="exact"/>
        </dgm:presLayoutVars>
      </dgm:prSet>
      <dgm:spPr/>
      <dgm:t>
        <a:bodyPr/>
        <a:lstStyle/>
        <a:p>
          <a:endParaRPr lang="en-GB"/>
        </a:p>
      </dgm:t>
    </dgm:pt>
    <dgm:pt modelId="{4B729C88-BD5E-4B26-9A95-69C77A7E4F53}" type="pres">
      <dgm:prSet presAssocID="{4B6B170F-E80E-45A7-A65B-19043C19B642}" presName="linNode" presStyleCnt="0"/>
      <dgm:spPr/>
    </dgm:pt>
    <dgm:pt modelId="{F7C6D13A-7B4F-495C-9F46-3BDB1C674AE1}" type="pres">
      <dgm:prSet presAssocID="{4B6B170F-E80E-45A7-A65B-19043C19B642}" presName="parentText" presStyleLbl="node1" presStyleIdx="0" presStyleCnt="3">
        <dgm:presLayoutVars>
          <dgm:chMax val="1"/>
          <dgm:bulletEnabled val="1"/>
        </dgm:presLayoutVars>
      </dgm:prSet>
      <dgm:spPr/>
      <dgm:t>
        <a:bodyPr/>
        <a:lstStyle/>
        <a:p>
          <a:endParaRPr lang="en-GB"/>
        </a:p>
      </dgm:t>
    </dgm:pt>
    <dgm:pt modelId="{2560FD01-F17C-46B1-8AD5-320876DCD9A7}" type="pres">
      <dgm:prSet presAssocID="{4B6B170F-E80E-45A7-A65B-19043C19B642}" presName="descendantText" presStyleLbl="alignAccFollowNode1" presStyleIdx="0" presStyleCnt="3">
        <dgm:presLayoutVars>
          <dgm:bulletEnabled val="1"/>
        </dgm:presLayoutVars>
      </dgm:prSet>
      <dgm:spPr/>
      <dgm:t>
        <a:bodyPr/>
        <a:lstStyle/>
        <a:p>
          <a:endParaRPr lang="en-GB"/>
        </a:p>
      </dgm:t>
    </dgm:pt>
    <dgm:pt modelId="{227B588E-369F-4A10-9795-F9AA95233865}" type="pres">
      <dgm:prSet presAssocID="{5429FD7E-705F-405F-956C-C853B39829B5}" presName="sp" presStyleCnt="0"/>
      <dgm:spPr/>
    </dgm:pt>
    <dgm:pt modelId="{2BF61AE4-66B4-4D0E-968F-425A340054C1}" type="pres">
      <dgm:prSet presAssocID="{D84DC924-113E-4E25-8144-4EEC44AE8D6B}" presName="linNode" presStyleCnt="0"/>
      <dgm:spPr/>
    </dgm:pt>
    <dgm:pt modelId="{5A808C45-F2FC-44C6-8121-94FB55DF6A1B}" type="pres">
      <dgm:prSet presAssocID="{D84DC924-113E-4E25-8144-4EEC44AE8D6B}" presName="parentText" presStyleLbl="node1" presStyleIdx="1" presStyleCnt="3">
        <dgm:presLayoutVars>
          <dgm:chMax val="1"/>
          <dgm:bulletEnabled val="1"/>
        </dgm:presLayoutVars>
      </dgm:prSet>
      <dgm:spPr/>
      <dgm:t>
        <a:bodyPr/>
        <a:lstStyle/>
        <a:p>
          <a:endParaRPr lang="en-GB"/>
        </a:p>
      </dgm:t>
    </dgm:pt>
    <dgm:pt modelId="{FD9ED72A-073A-4443-8DC8-DF7BE078D57B}" type="pres">
      <dgm:prSet presAssocID="{D84DC924-113E-4E25-8144-4EEC44AE8D6B}" presName="descendantText" presStyleLbl="alignAccFollowNode1" presStyleIdx="1" presStyleCnt="3">
        <dgm:presLayoutVars>
          <dgm:bulletEnabled val="1"/>
        </dgm:presLayoutVars>
      </dgm:prSet>
      <dgm:spPr/>
      <dgm:t>
        <a:bodyPr/>
        <a:lstStyle/>
        <a:p>
          <a:endParaRPr lang="en-GB"/>
        </a:p>
      </dgm:t>
    </dgm:pt>
    <dgm:pt modelId="{B0F58377-5A56-477F-8879-72FA5B99A4EA}" type="pres">
      <dgm:prSet presAssocID="{722940E3-E401-4932-8350-1D98C04F3539}" presName="sp" presStyleCnt="0"/>
      <dgm:spPr/>
    </dgm:pt>
    <dgm:pt modelId="{709A12AF-B2E4-4C61-98DD-DA63A24087BF}" type="pres">
      <dgm:prSet presAssocID="{5D38D75A-BA60-41A3-88CB-13E082755A6B}" presName="linNode" presStyleCnt="0"/>
      <dgm:spPr/>
    </dgm:pt>
    <dgm:pt modelId="{CF5B7EE0-1FC5-4A54-845E-0C74CEE38332}" type="pres">
      <dgm:prSet presAssocID="{5D38D75A-BA60-41A3-88CB-13E082755A6B}" presName="parentText" presStyleLbl="node1" presStyleIdx="2" presStyleCnt="3">
        <dgm:presLayoutVars>
          <dgm:chMax val="1"/>
          <dgm:bulletEnabled val="1"/>
        </dgm:presLayoutVars>
      </dgm:prSet>
      <dgm:spPr/>
      <dgm:t>
        <a:bodyPr/>
        <a:lstStyle/>
        <a:p>
          <a:endParaRPr lang="en-GB"/>
        </a:p>
      </dgm:t>
    </dgm:pt>
    <dgm:pt modelId="{C34C1948-8AA6-4279-BB41-BA6AC1A9A7DE}" type="pres">
      <dgm:prSet presAssocID="{5D38D75A-BA60-41A3-88CB-13E082755A6B}" presName="descendantText" presStyleLbl="alignAccFollowNode1" presStyleIdx="2" presStyleCnt="3">
        <dgm:presLayoutVars>
          <dgm:bulletEnabled val="1"/>
        </dgm:presLayoutVars>
      </dgm:prSet>
      <dgm:spPr/>
      <dgm:t>
        <a:bodyPr/>
        <a:lstStyle/>
        <a:p>
          <a:endParaRPr lang="en-GB"/>
        </a:p>
      </dgm:t>
    </dgm:pt>
  </dgm:ptLst>
  <dgm:cxnLst>
    <dgm:cxn modelId="{198D16CE-87F1-47C3-BDFC-C75F9CD72A5F}" srcId="{CE34D9C6-3E18-42F2-804D-C2D1E5BA0D41}" destId="{D84DC924-113E-4E25-8144-4EEC44AE8D6B}" srcOrd="1" destOrd="0" parTransId="{B6719403-1CA9-4D7C-A9DA-0623D17CEEBF}" sibTransId="{722940E3-E401-4932-8350-1D98C04F3539}"/>
    <dgm:cxn modelId="{EFF5672E-DCC0-4BF6-9C17-D74556BE44BE}" srcId="{4B6B170F-E80E-45A7-A65B-19043C19B642}" destId="{E652742A-EFF4-415C-B7E4-8506CBBACE09}" srcOrd="2" destOrd="0" parTransId="{E762326C-1CEE-4444-B5CF-7D362A4EA0D2}" sibTransId="{F19DAC98-9405-4970-B1E3-2AC1493E9970}"/>
    <dgm:cxn modelId="{21BF1CBE-0AAE-4722-9DDF-AC8EFC5E9085}" srcId="{CE34D9C6-3E18-42F2-804D-C2D1E5BA0D41}" destId="{4B6B170F-E80E-45A7-A65B-19043C19B642}" srcOrd="0" destOrd="0" parTransId="{6A46A0F7-C318-4C19-A301-A1FA643E969A}" sibTransId="{5429FD7E-705F-405F-956C-C853B39829B5}"/>
    <dgm:cxn modelId="{B0F97382-F5ED-474A-AB3D-C660BC8A10E4}" type="presOf" srcId="{473AE3C0-3344-4FCB-B38E-7F532F144486}" destId="{2560FD01-F17C-46B1-8AD5-320876DCD9A7}" srcOrd="0" destOrd="1" presId="urn:microsoft.com/office/officeart/2005/8/layout/vList5"/>
    <dgm:cxn modelId="{F4894A74-1E73-4909-958C-AEF69AFF8D4D}" type="presOf" srcId="{E652742A-EFF4-415C-B7E4-8506CBBACE09}" destId="{2560FD01-F17C-46B1-8AD5-320876DCD9A7}" srcOrd="0" destOrd="2" presId="urn:microsoft.com/office/officeart/2005/8/layout/vList5"/>
    <dgm:cxn modelId="{7A7236B9-CC6B-442C-A8CD-D8C31E70D288}" srcId="{5D38D75A-BA60-41A3-88CB-13E082755A6B}" destId="{4635D35A-297F-4202-9664-A94E06BE0A0D}" srcOrd="0" destOrd="0" parTransId="{92CD174A-1F4E-4B2E-B971-1DFAEEDF681C}" sibTransId="{A6DEDEC0-1E64-4447-A2EB-40A01D954520}"/>
    <dgm:cxn modelId="{64539DBE-0828-41F3-B073-8B3E65CC5D19}" type="presOf" srcId="{4B6B170F-E80E-45A7-A65B-19043C19B642}" destId="{F7C6D13A-7B4F-495C-9F46-3BDB1C674AE1}" srcOrd="0" destOrd="0" presId="urn:microsoft.com/office/officeart/2005/8/layout/vList5"/>
    <dgm:cxn modelId="{FAAE82ED-7C03-4BD4-A619-B4DCF6E9E399}" srcId="{CE34D9C6-3E18-42F2-804D-C2D1E5BA0D41}" destId="{5D38D75A-BA60-41A3-88CB-13E082755A6B}" srcOrd="2" destOrd="0" parTransId="{55C49CDB-35AD-45AB-9A69-5FAABC3A800E}" sibTransId="{A0E22280-4DD5-4994-9E17-8C6CDA14F1BA}"/>
    <dgm:cxn modelId="{100E1FE4-D57C-4F4A-97B8-1832B86309CB}" type="presOf" srcId="{5D38D75A-BA60-41A3-88CB-13E082755A6B}" destId="{CF5B7EE0-1FC5-4A54-845E-0C74CEE38332}" srcOrd="0" destOrd="0" presId="urn:microsoft.com/office/officeart/2005/8/layout/vList5"/>
    <dgm:cxn modelId="{AAE5EF10-5CFD-47EA-B880-8B8EBC7D4199}" type="presOf" srcId="{4D991B5E-F0A7-44F4-A036-D4DB78D80861}" destId="{FD9ED72A-073A-4443-8DC8-DF7BE078D57B}" srcOrd="0" destOrd="0" presId="urn:microsoft.com/office/officeart/2005/8/layout/vList5"/>
    <dgm:cxn modelId="{7D08353A-3A9A-4E61-8F5B-6DF75F1CC9C7}" srcId="{4B6B170F-E80E-45A7-A65B-19043C19B642}" destId="{473AE3C0-3344-4FCB-B38E-7F532F144486}" srcOrd="1" destOrd="0" parTransId="{0DEB0D37-225E-4D81-B18D-E2A3649AC2AC}" sibTransId="{FDCB1311-DE12-458F-9B6B-18CB9C0C6643}"/>
    <dgm:cxn modelId="{6BA6BDF3-3D67-4109-9DBE-F634D2A9EFFB}" srcId="{5D38D75A-BA60-41A3-88CB-13E082755A6B}" destId="{92EE8506-F2CB-495D-AE81-A3216F254D5E}" srcOrd="1" destOrd="0" parTransId="{C1DA33AD-F72F-40C2-96E9-7FCADA7C83C9}" sibTransId="{17E56BFB-3D83-4267-BF95-770095EC980B}"/>
    <dgm:cxn modelId="{4F36AF3C-FFA0-4DD1-AD2B-9E338CDEB7AB}" type="presOf" srcId="{92EE8506-F2CB-495D-AE81-A3216F254D5E}" destId="{C34C1948-8AA6-4279-BB41-BA6AC1A9A7DE}" srcOrd="0" destOrd="1" presId="urn:microsoft.com/office/officeart/2005/8/layout/vList5"/>
    <dgm:cxn modelId="{B96F9496-3C7B-405D-98BD-7F68234FAAB6}" type="presOf" srcId="{D84DC924-113E-4E25-8144-4EEC44AE8D6B}" destId="{5A808C45-F2FC-44C6-8121-94FB55DF6A1B}" srcOrd="0" destOrd="0" presId="urn:microsoft.com/office/officeart/2005/8/layout/vList5"/>
    <dgm:cxn modelId="{C3502F00-3A63-4ECB-B314-B7043D7C0B77}" type="presOf" srcId="{CE34D9C6-3E18-42F2-804D-C2D1E5BA0D41}" destId="{A7119BE3-2B33-40F2-8CB1-72A2A2C54E0B}" srcOrd="0" destOrd="0" presId="urn:microsoft.com/office/officeart/2005/8/layout/vList5"/>
    <dgm:cxn modelId="{7DE4C11F-477A-4D36-A06B-9B846071BC19}" srcId="{4B6B170F-E80E-45A7-A65B-19043C19B642}" destId="{53458682-1B0B-4C41-A8B0-F6E47614D731}" srcOrd="0" destOrd="0" parTransId="{A51687A1-3A5D-4BC1-9F66-7741904B6C95}" sibTransId="{608740F3-A6F0-431A-B19C-2646DE0749C7}"/>
    <dgm:cxn modelId="{32AC4A1C-6888-46E6-9B2D-5AC441C8584E}" type="presOf" srcId="{4635D35A-297F-4202-9664-A94E06BE0A0D}" destId="{C34C1948-8AA6-4279-BB41-BA6AC1A9A7DE}" srcOrd="0" destOrd="0" presId="urn:microsoft.com/office/officeart/2005/8/layout/vList5"/>
    <dgm:cxn modelId="{776152F2-2FE8-49AC-94F7-7441E9B2AC0A}" srcId="{D84DC924-113E-4E25-8144-4EEC44AE8D6B}" destId="{4D991B5E-F0A7-44F4-A036-D4DB78D80861}" srcOrd="0" destOrd="0" parTransId="{6170F260-CC46-48E7-B293-5305352FD876}" sibTransId="{CD8B7B21-C74C-4140-91EA-0BB9060E11D8}"/>
    <dgm:cxn modelId="{253ADB43-8857-4709-9417-9626521DF065}" type="presOf" srcId="{53458682-1B0B-4C41-A8B0-F6E47614D731}" destId="{2560FD01-F17C-46B1-8AD5-320876DCD9A7}" srcOrd="0" destOrd="0" presId="urn:microsoft.com/office/officeart/2005/8/layout/vList5"/>
    <dgm:cxn modelId="{5890E42A-F8D2-4F66-95EF-34A059FD2486}" type="presParOf" srcId="{A7119BE3-2B33-40F2-8CB1-72A2A2C54E0B}" destId="{4B729C88-BD5E-4B26-9A95-69C77A7E4F53}" srcOrd="0" destOrd="0" presId="urn:microsoft.com/office/officeart/2005/8/layout/vList5"/>
    <dgm:cxn modelId="{DDB9A11C-3E25-417A-A7A7-FB8C36E7FB7E}" type="presParOf" srcId="{4B729C88-BD5E-4B26-9A95-69C77A7E4F53}" destId="{F7C6D13A-7B4F-495C-9F46-3BDB1C674AE1}" srcOrd="0" destOrd="0" presId="urn:microsoft.com/office/officeart/2005/8/layout/vList5"/>
    <dgm:cxn modelId="{4739C764-FC0D-4B02-A016-8B32EFAA708E}" type="presParOf" srcId="{4B729C88-BD5E-4B26-9A95-69C77A7E4F53}" destId="{2560FD01-F17C-46B1-8AD5-320876DCD9A7}" srcOrd="1" destOrd="0" presId="urn:microsoft.com/office/officeart/2005/8/layout/vList5"/>
    <dgm:cxn modelId="{4F51F78C-5A15-4B3D-BAF1-7EA76AAA3772}" type="presParOf" srcId="{A7119BE3-2B33-40F2-8CB1-72A2A2C54E0B}" destId="{227B588E-369F-4A10-9795-F9AA95233865}" srcOrd="1" destOrd="0" presId="urn:microsoft.com/office/officeart/2005/8/layout/vList5"/>
    <dgm:cxn modelId="{F9F8A06F-E8D1-47CF-94A3-3462E14B64BA}" type="presParOf" srcId="{A7119BE3-2B33-40F2-8CB1-72A2A2C54E0B}" destId="{2BF61AE4-66B4-4D0E-968F-425A340054C1}" srcOrd="2" destOrd="0" presId="urn:microsoft.com/office/officeart/2005/8/layout/vList5"/>
    <dgm:cxn modelId="{191B3C48-902F-431F-B3D1-CCE9593D5341}" type="presParOf" srcId="{2BF61AE4-66B4-4D0E-968F-425A340054C1}" destId="{5A808C45-F2FC-44C6-8121-94FB55DF6A1B}" srcOrd="0" destOrd="0" presId="urn:microsoft.com/office/officeart/2005/8/layout/vList5"/>
    <dgm:cxn modelId="{6EA683F0-01C2-486C-8043-AB77336FAFFE}" type="presParOf" srcId="{2BF61AE4-66B4-4D0E-968F-425A340054C1}" destId="{FD9ED72A-073A-4443-8DC8-DF7BE078D57B}" srcOrd="1" destOrd="0" presId="urn:microsoft.com/office/officeart/2005/8/layout/vList5"/>
    <dgm:cxn modelId="{9AB920AD-D0B0-48FD-A021-6FC51F5A31DD}" type="presParOf" srcId="{A7119BE3-2B33-40F2-8CB1-72A2A2C54E0B}" destId="{B0F58377-5A56-477F-8879-72FA5B99A4EA}" srcOrd="3" destOrd="0" presId="urn:microsoft.com/office/officeart/2005/8/layout/vList5"/>
    <dgm:cxn modelId="{9C95FD73-DA3C-43DE-B61B-C0C7570D90B9}" type="presParOf" srcId="{A7119BE3-2B33-40F2-8CB1-72A2A2C54E0B}" destId="{709A12AF-B2E4-4C61-98DD-DA63A24087BF}" srcOrd="4" destOrd="0" presId="urn:microsoft.com/office/officeart/2005/8/layout/vList5"/>
    <dgm:cxn modelId="{780E2B10-A36C-4058-8343-5A7AD280FE7F}" type="presParOf" srcId="{709A12AF-B2E4-4C61-98DD-DA63A24087BF}" destId="{CF5B7EE0-1FC5-4A54-845E-0C74CEE38332}" srcOrd="0" destOrd="0" presId="urn:microsoft.com/office/officeart/2005/8/layout/vList5"/>
    <dgm:cxn modelId="{24C7E9B5-3BBE-4C8A-A30A-8874EC2D9628}" type="presParOf" srcId="{709A12AF-B2E4-4C61-98DD-DA63A24087BF}" destId="{C34C1948-8AA6-4279-BB41-BA6AC1A9A7DE}" srcOrd="1" destOrd="0" presId="urn:microsoft.com/office/officeart/2005/8/layout/vList5"/>
  </dgm:cxnLst>
  <dgm:bg>
    <a:solidFill>
      <a:schemeClr val="accent4"/>
    </a:solidFill>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771FE76-526E-405D-AD1A-0C80779484BF}" type="doc">
      <dgm:prSet loTypeId="urn:microsoft.com/office/officeart/2005/8/layout/radial5" loCatId="relationship" qsTypeId="urn:microsoft.com/office/officeart/2005/8/quickstyle/simple1" qsCatId="simple" csTypeId="urn:microsoft.com/office/officeart/2005/8/colors/colorful1" csCatId="colorful" phldr="1"/>
      <dgm:spPr/>
      <dgm:t>
        <a:bodyPr/>
        <a:lstStyle/>
        <a:p>
          <a:endParaRPr lang="en-GB"/>
        </a:p>
      </dgm:t>
    </dgm:pt>
    <dgm:pt modelId="{E01EA408-BDFF-4AD3-8B6C-003B857BB36E}">
      <dgm:prSet phldrT="[Text]"/>
      <dgm:spPr/>
      <dgm:t>
        <a:bodyPr/>
        <a:lstStyle/>
        <a:p>
          <a:r>
            <a:rPr lang="en-GB" dirty="0" smtClean="0"/>
            <a:t>FOUR ELEMENTS </a:t>
          </a:r>
          <a:endParaRPr lang="en-GB" dirty="0"/>
        </a:p>
      </dgm:t>
    </dgm:pt>
    <dgm:pt modelId="{55C137FB-6032-4BF6-8980-AE964773C6EE}" type="parTrans" cxnId="{948DAA5A-20D6-4A50-88F3-7FE44E284B2C}">
      <dgm:prSet/>
      <dgm:spPr/>
      <dgm:t>
        <a:bodyPr/>
        <a:lstStyle/>
        <a:p>
          <a:endParaRPr lang="en-GB"/>
        </a:p>
      </dgm:t>
    </dgm:pt>
    <dgm:pt modelId="{31EFC899-B308-4FF0-BE31-60374D3C7EB9}" type="sibTrans" cxnId="{948DAA5A-20D6-4A50-88F3-7FE44E284B2C}">
      <dgm:prSet/>
      <dgm:spPr/>
      <dgm:t>
        <a:bodyPr/>
        <a:lstStyle/>
        <a:p>
          <a:endParaRPr lang="en-GB"/>
        </a:p>
      </dgm:t>
    </dgm:pt>
    <dgm:pt modelId="{56C3E98D-9B32-47AC-B538-75192EDFE9DC}">
      <dgm:prSet phldrT="[Text]"/>
      <dgm:spPr/>
      <dgm:t>
        <a:bodyPr/>
        <a:lstStyle/>
        <a:p>
          <a:r>
            <a:rPr lang="en-GB" dirty="0" smtClean="0"/>
            <a:t>UNITY</a:t>
          </a:r>
          <a:endParaRPr lang="en-GB" dirty="0"/>
        </a:p>
      </dgm:t>
    </dgm:pt>
    <dgm:pt modelId="{747F9265-F1D1-4807-9C2C-12FD6EA07525}" type="parTrans" cxnId="{96D9BCAB-7DF7-459A-A4F6-9B1787EEC1E8}">
      <dgm:prSet/>
      <dgm:spPr/>
      <dgm:t>
        <a:bodyPr/>
        <a:lstStyle/>
        <a:p>
          <a:endParaRPr lang="en-GB"/>
        </a:p>
      </dgm:t>
    </dgm:pt>
    <dgm:pt modelId="{D0F72346-35D0-4EB4-ABB8-F19F8B9F2FFC}" type="sibTrans" cxnId="{96D9BCAB-7DF7-459A-A4F6-9B1787EEC1E8}">
      <dgm:prSet/>
      <dgm:spPr/>
      <dgm:t>
        <a:bodyPr/>
        <a:lstStyle/>
        <a:p>
          <a:endParaRPr lang="en-GB"/>
        </a:p>
      </dgm:t>
    </dgm:pt>
    <dgm:pt modelId="{700CEB8B-7245-4745-9320-8E4EA59A0723}">
      <dgm:prSet phldrT="[Text]"/>
      <dgm:spPr/>
      <dgm:t>
        <a:bodyPr/>
        <a:lstStyle/>
        <a:p>
          <a:r>
            <a:rPr lang="en-GB" dirty="0" smtClean="0"/>
            <a:t>VARIETY</a:t>
          </a:r>
          <a:endParaRPr lang="en-GB" dirty="0"/>
        </a:p>
      </dgm:t>
    </dgm:pt>
    <dgm:pt modelId="{A377287E-2320-4557-BC34-AAB01AD7F954}" type="parTrans" cxnId="{42966A16-3499-4319-A30F-C21116B600E5}">
      <dgm:prSet/>
      <dgm:spPr/>
      <dgm:t>
        <a:bodyPr/>
        <a:lstStyle/>
        <a:p>
          <a:endParaRPr lang="en-GB"/>
        </a:p>
      </dgm:t>
    </dgm:pt>
    <dgm:pt modelId="{0FB61424-5D38-4B8E-85E5-69EAF86B8F00}" type="sibTrans" cxnId="{42966A16-3499-4319-A30F-C21116B600E5}">
      <dgm:prSet/>
      <dgm:spPr/>
      <dgm:t>
        <a:bodyPr/>
        <a:lstStyle/>
        <a:p>
          <a:endParaRPr lang="en-GB"/>
        </a:p>
      </dgm:t>
    </dgm:pt>
    <dgm:pt modelId="{C31E246D-00E7-408C-BF47-A78C04FCA7C0}">
      <dgm:prSet phldrT="[Text]"/>
      <dgm:spPr/>
      <dgm:t>
        <a:bodyPr/>
        <a:lstStyle/>
        <a:p>
          <a:r>
            <a:rPr lang="en-GB" dirty="0" smtClean="0"/>
            <a:t>COMPLETENESS</a:t>
          </a:r>
          <a:endParaRPr lang="en-GB" dirty="0"/>
        </a:p>
      </dgm:t>
    </dgm:pt>
    <dgm:pt modelId="{20001ECC-0254-470D-8B09-FE4EB1D0411A}" type="parTrans" cxnId="{10B46AE5-263D-44F0-873D-67AD06086481}">
      <dgm:prSet/>
      <dgm:spPr/>
      <dgm:t>
        <a:bodyPr/>
        <a:lstStyle/>
        <a:p>
          <a:endParaRPr lang="en-GB"/>
        </a:p>
      </dgm:t>
    </dgm:pt>
    <dgm:pt modelId="{7BF0776D-1149-42C7-B630-F484A1084379}" type="sibTrans" cxnId="{10B46AE5-263D-44F0-873D-67AD06086481}">
      <dgm:prSet/>
      <dgm:spPr/>
      <dgm:t>
        <a:bodyPr/>
        <a:lstStyle/>
        <a:p>
          <a:endParaRPr lang="en-GB"/>
        </a:p>
      </dgm:t>
    </dgm:pt>
    <dgm:pt modelId="{CB8801B7-FA36-4E23-87E1-770E1854D7A7}">
      <dgm:prSet phldrT="[Text]"/>
      <dgm:spPr/>
      <dgm:t>
        <a:bodyPr/>
        <a:lstStyle/>
        <a:p>
          <a:r>
            <a:rPr lang="en-GB" dirty="0" smtClean="0"/>
            <a:t>COHERENCE</a:t>
          </a:r>
          <a:endParaRPr lang="en-GB" dirty="0"/>
        </a:p>
      </dgm:t>
    </dgm:pt>
    <dgm:pt modelId="{B4DD48A9-102C-463E-AA26-3BEBD41EA5D2}" type="parTrans" cxnId="{DD8B7DA7-241A-4530-B2BE-775E54C4A743}">
      <dgm:prSet/>
      <dgm:spPr/>
      <dgm:t>
        <a:bodyPr/>
        <a:lstStyle/>
        <a:p>
          <a:endParaRPr lang="en-GB"/>
        </a:p>
      </dgm:t>
    </dgm:pt>
    <dgm:pt modelId="{BE734790-AF6D-4761-881B-1801C375B160}" type="sibTrans" cxnId="{DD8B7DA7-241A-4530-B2BE-775E54C4A743}">
      <dgm:prSet/>
      <dgm:spPr/>
      <dgm:t>
        <a:bodyPr/>
        <a:lstStyle/>
        <a:p>
          <a:endParaRPr lang="en-GB"/>
        </a:p>
      </dgm:t>
    </dgm:pt>
    <dgm:pt modelId="{0E63E8A9-FF93-4A84-8083-37EA4375F7A0}" type="pres">
      <dgm:prSet presAssocID="{E771FE76-526E-405D-AD1A-0C80779484BF}" presName="Name0" presStyleCnt="0">
        <dgm:presLayoutVars>
          <dgm:chMax val="1"/>
          <dgm:dir/>
          <dgm:animLvl val="ctr"/>
          <dgm:resizeHandles val="exact"/>
        </dgm:presLayoutVars>
      </dgm:prSet>
      <dgm:spPr/>
      <dgm:t>
        <a:bodyPr/>
        <a:lstStyle/>
        <a:p>
          <a:endParaRPr lang="en-GB"/>
        </a:p>
      </dgm:t>
    </dgm:pt>
    <dgm:pt modelId="{5BF585B1-7E2B-4BD2-BB0D-5E901994D822}" type="pres">
      <dgm:prSet presAssocID="{E01EA408-BDFF-4AD3-8B6C-003B857BB36E}" presName="centerShape" presStyleLbl="node0" presStyleIdx="0" presStyleCnt="1" custScaleX="146897"/>
      <dgm:spPr/>
      <dgm:t>
        <a:bodyPr/>
        <a:lstStyle/>
        <a:p>
          <a:endParaRPr lang="en-GB"/>
        </a:p>
      </dgm:t>
    </dgm:pt>
    <dgm:pt modelId="{21540479-538F-403C-B8E6-7DCB47E34ADF}" type="pres">
      <dgm:prSet presAssocID="{747F9265-F1D1-4807-9C2C-12FD6EA07525}" presName="parTrans" presStyleLbl="sibTrans2D1" presStyleIdx="0" presStyleCnt="4"/>
      <dgm:spPr/>
      <dgm:t>
        <a:bodyPr/>
        <a:lstStyle/>
        <a:p>
          <a:endParaRPr lang="en-GB"/>
        </a:p>
      </dgm:t>
    </dgm:pt>
    <dgm:pt modelId="{5019039B-B011-43A3-9F74-EF5725412625}" type="pres">
      <dgm:prSet presAssocID="{747F9265-F1D1-4807-9C2C-12FD6EA07525}" presName="connectorText" presStyleLbl="sibTrans2D1" presStyleIdx="0" presStyleCnt="4"/>
      <dgm:spPr/>
      <dgm:t>
        <a:bodyPr/>
        <a:lstStyle/>
        <a:p>
          <a:endParaRPr lang="en-GB"/>
        </a:p>
      </dgm:t>
    </dgm:pt>
    <dgm:pt modelId="{5601967F-057B-4251-834A-313AF1E93AF7}" type="pres">
      <dgm:prSet presAssocID="{56C3E98D-9B32-47AC-B538-75192EDFE9DC}" presName="node" presStyleLbl="node1" presStyleIdx="0" presStyleCnt="4">
        <dgm:presLayoutVars>
          <dgm:bulletEnabled val="1"/>
        </dgm:presLayoutVars>
      </dgm:prSet>
      <dgm:spPr/>
      <dgm:t>
        <a:bodyPr/>
        <a:lstStyle/>
        <a:p>
          <a:endParaRPr lang="en-GB"/>
        </a:p>
      </dgm:t>
    </dgm:pt>
    <dgm:pt modelId="{78CFC492-34FA-46EB-ABFE-D9FB297E1801}" type="pres">
      <dgm:prSet presAssocID="{A377287E-2320-4557-BC34-AAB01AD7F954}" presName="parTrans" presStyleLbl="sibTrans2D1" presStyleIdx="1" presStyleCnt="4"/>
      <dgm:spPr/>
      <dgm:t>
        <a:bodyPr/>
        <a:lstStyle/>
        <a:p>
          <a:endParaRPr lang="en-GB"/>
        </a:p>
      </dgm:t>
    </dgm:pt>
    <dgm:pt modelId="{179582B5-28F3-4517-8208-DA25EABF452B}" type="pres">
      <dgm:prSet presAssocID="{A377287E-2320-4557-BC34-AAB01AD7F954}" presName="connectorText" presStyleLbl="sibTrans2D1" presStyleIdx="1" presStyleCnt="4"/>
      <dgm:spPr/>
      <dgm:t>
        <a:bodyPr/>
        <a:lstStyle/>
        <a:p>
          <a:endParaRPr lang="en-GB"/>
        </a:p>
      </dgm:t>
    </dgm:pt>
    <dgm:pt modelId="{7123B102-0238-4516-8AA5-0914CD485119}" type="pres">
      <dgm:prSet presAssocID="{700CEB8B-7245-4745-9320-8E4EA59A0723}" presName="node" presStyleLbl="node1" presStyleIdx="1" presStyleCnt="4">
        <dgm:presLayoutVars>
          <dgm:bulletEnabled val="1"/>
        </dgm:presLayoutVars>
      </dgm:prSet>
      <dgm:spPr/>
      <dgm:t>
        <a:bodyPr/>
        <a:lstStyle/>
        <a:p>
          <a:endParaRPr lang="en-GB"/>
        </a:p>
      </dgm:t>
    </dgm:pt>
    <dgm:pt modelId="{09753D94-9809-4D9F-80F5-4068FD6A3001}" type="pres">
      <dgm:prSet presAssocID="{20001ECC-0254-470D-8B09-FE4EB1D0411A}" presName="parTrans" presStyleLbl="sibTrans2D1" presStyleIdx="2" presStyleCnt="4"/>
      <dgm:spPr/>
      <dgm:t>
        <a:bodyPr/>
        <a:lstStyle/>
        <a:p>
          <a:endParaRPr lang="en-GB"/>
        </a:p>
      </dgm:t>
    </dgm:pt>
    <dgm:pt modelId="{3FD37DBF-104A-4C2E-A338-1ABA14E39B23}" type="pres">
      <dgm:prSet presAssocID="{20001ECC-0254-470D-8B09-FE4EB1D0411A}" presName="connectorText" presStyleLbl="sibTrans2D1" presStyleIdx="2" presStyleCnt="4"/>
      <dgm:spPr/>
      <dgm:t>
        <a:bodyPr/>
        <a:lstStyle/>
        <a:p>
          <a:endParaRPr lang="en-GB"/>
        </a:p>
      </dgm:t>
    </dgm:pt>
    <dgm:pt modelId="{652B2661-4020-4410-8114-4F8129732DAD}" type="pres">
      <dgm:prSet presAssocID="{C31E246D-00E7-408C-BF47-A78C04FCA7C0}" presName="node" presStyleLbl="node1" presStyleIdx="2" presStyleCnt="4">
        <dgm:presLayoutVars>
          <dgm:bulletEnabled val="1"/>
        </dgm:presLayoutVars>
      </dgm:prSet>
      <dgm:spPr/>
      <dgm:t>
        <a:bodyPr/>
        <a:lstStyle/>
        <a:p>
          <a:endParaRPr lang="en-GB"/>
        </a:p>
      </dgm:t>
    </dgm:pt>
    <dgm:pt modelId="{896D6BF5-FCC6-4436-9312-CDB3EDD96B27}" type="pres">
      <dgm:prSet presAssocID="{B4DD48A9-102C-463E-AA26-3BEBD41EA5D2}" presName="parTrans" presStyleLbl="sibTrans2D1" presStyleIdx="3" presStyleCnt="4"/>
      <dgm:spPr/>
      <dgm:t>
        <a:bodyPr/>
        <a:lstStyle/>
        <a:p>
          <a:endParaRPr lang="en-GB"/>
        </a:p>
      </dgm:t>
    </dgm:pt>
    <dgm:pt modelId="{4C9C9019-75C5-4090-BBF3-2755910BC073}" type="pres">
      <dgm:prSet presAssocID="{B4DD48A9-102C-463E-AA26-3BEBD41EA5D2}" presName="connectorText" presStyleLbl="sibTrans2D1" presStyleIdx="3" presStyleCnt="4"/>
      <dgm:spPr/>
      <dgm:t>
        <a:bodyPr/>
        <a:lstStyle/>
        <a:p>
          <a:endParaRPr lang="en-GB"/>
        </a:p>
      </dgm:t>
    </dgm:pt>
    <dgm:pt modelId="{1E2C4AD1-3F0B-4340-8C94-71141CAACC31}" type="pres">
      <dgm:prSet presAssocID="{CB8801B7-FA36-4E23-87E1-770E1854D7A7}" presName="node" presStyleLbl="node1" presStyleIdx="3" presStyleCnt="4" custScaleX="126835">
        <dgm:presLayoutVars>
          <dgm:bulletEnabled val="1"/>
        </dgm:presLayoutVars>
      </dgm:prSet>
      <dgm:spPr/>
      <dgm:t>
        <a:bodyPr/>
        <a:lstStyle/>
        <a:p>
          <a:endParaRPr lang="en-GB"/>
        </a:p>
      </dgm:t>
    </dgm:pt>
  </dgm:ptLst>
  <dgm:cxnLst>
    <dgm:cxn modelId="{42966A16-3499-4319-A30F-C21116B600E5}" srcId="{E01EA408-BDFF-4AD3-8B6C-003B857BB36E}" destId="{700CEB8B-7245-4745-9320-8E4EA59A0723}" srcOrd="1" destOrd="0" parTransId="{A377287E-2320-4557-BC34-AAB01AD7F954}" sibTransId="{0FB61424-5D38-4B8E-85E5-69EAF86B8F00}"/>
    <dgm:cxn modelId="{FAB4EAE1-1CB5-4C67-951C-D32C910F1FC8}" type="presOf" srcId="{20001ECC-0254-470D-8B09-FE4EB1D0411A}" destId="{09753D94-9809-4D9F-80F5-4068FD6A3001}" srcOrd="0" destOrd="0" presId="urn:microsoft.com/office/officeart/2005/8/layout/radial5"/>
    <dgm:cxn modelId="{C79E1D2C-EE93-4C0B-A13F-8265D79E7590}" type="presOf" srcId="{A377287E-2320-4557-BC34-AAB01AD7F954}" destId="{78CFC492-34FA-46EB-ABFE-D9FB297E1801}" srcOrd="0" destOrd="0" presId="urn:microsoft.com/office/officeart/2005/8/layout/radial5"/>
    <dgm:cxn modelId="{C4F30EBD-934C-4D72-A914-B7D5A3941D58}" type="presOf" srcId="{E771FE76-526E-405D-AD1A-0C80779484BF}" destId="{0E63E8A9-FF93-4A84-8083-37EA4375F7A0}" srcOrd="0" destOrd="0" presId="urn:microsoft.com/office/officeart/2005/8/layout/radial5"/>
    <dgm:cxn modelId="{13B749C1-9A69-4D35-8684-18647991DBAE}" type="presOf" srcId="{C31E246D-00E7-408C-BF47-A78C04FCA7C0}" destId="{652B2661-4020-4410-8114-4F8129732DAD}" srcOrd="0" destOrd="0" presId="urn:microsoft.com/office/officeart/2005/8/layout/radial5"/>
    <dgm:cxn modelId="{C8AFA797-AF35-4A83-B7BC-BC6D32C63300}" type="presOf" srcId="{20001ECC-0254-470D-8B09-FE4EB1D0411A}" destId="{3FD37DBF-104A-4C2E-A338-1ABA14E39B23}" srcOrd="1" destOrd="0" presId="urn:microsoft.com/office/officeart/2005/8/layout/radial5"/>
    <dgm:cxn modelId="{948DAA5A-20D6-4A50-88F3-7FE44E284B2C}" srcId="{E771FE76-526E-405D-AD1A-0C80779484BF}" destId="{E01EA408-BDFF-4AD3-8B6C-003B857BB36E}" srcOrd="0" destOrd="0" parTransId="{55C137FB-6032-4BF6-8980-AE964773C6EE}" sibTransId="{31EFC899-B308-4FF0-BE31-60374D3C7EB9}"/>
    <dgm:cxn modelId="{6C79D0DC-EDB7-4FEF-B286-EBD3EE2A0360}" type="presOf" srcId="{B4DD48A9-102C-463E-AA26-3BEBD41EA5D2}" destId="{4C9C9019-75C5-4090-BBF3-2755910BC073}" srcOrd="1" destOrd="0" presId="urn:microsoft.com/office/officeart/2005/8/layout/radial5"/>
    <dgm:cxn modelId="{19D7FCC4-1A22-4770-BAF9-C7CDE87C0124}" type="presOf" srcId="{56C3E98D-9B32-47AC-B538-75192EDFE9DC}" destId="{5601967F-057B-4251-834A-313AF1E93AF7}" srcOrd="0" destOrd="0" presId="urn:microsoft.com/office/officeart/2005/8/layout/radial5"/>
    <dgm:cxn modelId="{2F9C277E-2428-4C3D-9A71-88FA5486FD80}" type="presOf" srcId="{A377287E-2320-4557-BC34-AAB01AD7F954}" destId="{179582B5-28F3-4517-8208-DA25EABF452B}" srcOrd="1" destOrd="0" presId="urn:microsoft.com/office/officeart/2005/8/layout/radial5"/>
    <dgm:cxn modelId="{23BB27AD-9AB1-43F9-B94B-38F4C17F1257}" type="presOf" srcId="{CB8801B7-FA36-4E23-87E1-770E1854D7A7}" destId="{1E2C4AD1-3F0B-4340-8C94-71141CAACC31}" srcOrd="0" destOrd="0" presId="urn:microsoft.com/office/officeart/2005/8/layout/radial5"/>
    <dgm:cxn modelId="{AC067C6C-8028-4949-94E7-0C3FEE8E3E37}" type="presOf" srcId="{747F9265-F1D1-4807-9C2C-12FD6EA07525}" destId="{5019039B-B011-43A3-9F74-EF5725412625}" srcOrd="1" destOrd="0" presId="urn:microsoft.com/office/officeart/2005/8/layout/radial5"/>
    <dgm:cxn modelId="{10B46AE5-263D-44F0-873D-67AD06086481}" srcId="{E01EA408-BDFF-4AD3-8B6C-003B857BB36E}" destId="{C31E246D-00E7-408C-BF47-A78C04FCA7C0}" srcOrd="2" destOrd="0" parTransId="{20001ECC-0254-470D-8B09-FE4EB1D0411A}" sibTransId="{7BF0776D-1149-42C7-B630-F484A1084379}"/>
    <dgm:cxn modelId="{33AAA3E1-9D17-487C-9392-DE6E23181335}" type="presOf" srcId="{E01EA408-BDFF-4AD3-8B6C-003B857BB36E}" destId="{5BF585B1-7E2B-4BD2-BB0D-5E901994D822}" srcOrd="0" destOrd="0" presId="urn:microsoft.com/office/officeart/2005/8/layout/radial5"/>
    <dgm:cxn modelId="{DD8B7DA7-241A-4530-B2BE-775E54C4A743}" srcId="{E01EA408-BDFF-4AD3-8B6C-003B857BB36E}" destId="{CB8801B7-FA36-4E23-87E1-770E1854D7A7}" srcOrd="3" destOrd="0" parTransId="{B4DD48A9-102C-463E-AA26-3BEBD41EA5D2}" sibTransId="{BE734790-AF6D-4761-881B-1801C375B160}"/>
    <dgm:cxn modelId="{96D9BCAB-7DF7-459A-A4F6-9B1787EEC1E8}" srcId="{E01EA408-BDFF-4AD3-8B6C-003B857BB36E}" destId="{56C3E98D-9B32-47AC-B538-75192EDFE9DC}" srcOrd="0" destOrd="0" parTransId="{747F9265-F1D1-4807-9C2C-12FD6EA07525}" sibTransId="{D0F72346-35D0-4EB4-ABB8-F19F8B9F2FFC}"/>
    <dgm:cxn modelId="{9E367950-668D-45F9-8482-2B3D6728EE30}" type="presOf" srcId="{747F9265-F1D1-4807-9C2C-12FD6EA07525}" destId="{21540479-538F-403C-B8E6-7DCB47E34ADF}" srcOrd="0" destOrd="0" presId="urn:microsoft.com/office/officeart/2005/8/layout/radial5"/>
    <dgm:cxn modelId="{A5663052-F5C2-48DE-84F1-AC0CCC3B4E87}" type="presOf" srcId="{B4DD48A9-102C-463E-AA26-3BEBD41EA5D2}" destId="{896D6BF5-FCC6-4436-9312-CDB3EDD96B27}" srcOrd="0" destOrd="0" presId="urn:microsoft.com/office/officeart/2005/8/layout/radial5"/>
    <dgm:cxn modelId="{6B9C9BC9-1387-40CA-A5CB-3C0BC4F4A462}" type="presOf" srcId="{700CEB8B-7245-4745-9320-8E4EA59A0723}" destId="{7123B102-0238-4516-8AA5-0914CD485119}" srcOrd="0" destOrd="0" presId="urn:microsoft.com/office/officeart/2005/8/layout/radial5"/>
    <dgm:cxn modelId="{E8BB0087-B9ED-4862-B35B-818889D2F7E1}" type="presParOf" srcId="{0E63E8A9-FF93-4A84-8083-37EA4375F7A0}" destId="{5BF585B1-7E2B-4BD2-BB0D-5E901994D822}" srcOrd="0" destOrd="0" presId="urn:microsoft.com/office/officeart/2005/8/layout/radial5"/>
    <dgm:cxn modelId="{268A7D4C-4C07-4D97-8106-A7978E077C9A}" type="presParOf" srcId="{0E63E8A9-FF93-4A84-8083-37EA4375F7A0}" destId="{21540479-538F-403C-B8E6-7DCB47E34ADF}" srcOrd="1" destOrd="0" presId="urn:microsoft.com/office/officeart/2005/8/layout/radial5"/>
    <dgm:cxn modelId="{5FAE74C5-D84F-41E7-B2E0-AFC6161F6108}" type="presParOf" srcId="{21540479-538F-403C-B8E6-7DCB47E34ADF}" destId="{5019039B-B011-43A3-9F74-EF5725412625}" srcOrd="0" destOrd="0" presId="urn:microsoft.com/office/officeart/2005/8/layout/radial5"/>
    <dgm:cxn modelId="{61F7938D-0F78-4E75-8467-35D6797A0462}" type="presParOf" srcId="{0E63E8A9-FF93-4A84-8083-37EA4375F7A0}" destId="{5601967F-057B-4251-834A-313AF1E93AF7}" srcOrd="2" destOrd="0" presId="urn:microsoft.com/office/officeart/2005/8/layout/radial5"/>
    <dgm:cxn modelId="{F80941B4-D23F-44D9-ABE7-8723A991F4B1}" type="presParOf" srcId="{0E63E8A9-FF93-4A84-8083-37EA4375F7A0}" destId="{78CFC492-34FA-46EB-ABFE-D9FB297E1801}" srcOrd="3" destOrd="0" presId="urn:microsoft.com/office/officeart/2005/8/layout/radial5"/>
    <dgm:cxn modelId="{CBA87AB6-EFA8-498E-920C-87FA990C3A9E}" type="presParOf" srcId="{78CFC492-34FA-46EB-ABFE-D9FB297E1801}" destId="{179582B5-28F3-4517-8208-DA25EABF452B}" srcOrd="0" destOrd="0" presId="urn:microsoft.com/office/officeart/2005/8/layout/radial5"/>
    <dgm:cxn modelId="{17171FD9-EB40-4B27-88AE-CC567B57682B}" type="presParOf" srcId="{0E63E8A9-FF93-4A84-8083-37EA4375F7A0}" destId="{7123B102-0238-4516-8AA5-0914CD485119}" srcOrd="4" destOrd="0" presId="urn:microsoft.com/office/officeart/2005/8/layout/radial5"/>
    <dgm:cxn modelId="{FE96B100-44D1-46FC-A9B5-3E671F883330}" type="presParOf" srcId="{0E63E8A9-FF93-4A84-8083-37EA4375F7A0}" destId="{09753D94-9809-4D9F-80F5-4068FD6A3001}" srcOrd="5" destOrd="0" presId="urn:microsoft.com/office/officeart/2005/8/layout/radial5"/>
    <dgm:cxn modelId="{B9D057F5-A435-49F2-AD5E-4AF7DDB98416}" type="presParOf" srcId="{09753D94-9809-4D9F-80F5-4068FD6A3001}" destId="{3FD37DBF-104A-4C2E-A338-1ABA14E39B23}" srcOrd="0" destOrd="0" presId="urn:microsoft.com/office/officeart/2005/8/layout/radial5"/>
    <dgm:cxn modelId="{543101C3-F695-4B7B-A134-2BBAD6747E97}" type="presParOf" srcId="{0E63E8A9-FF93-4A84-8083-37EA4375F7A0}" destId="{652B2661-4020-4410-8114-4F8129732DAD}" srcOrd="6" destOrd="0" presId="urn:microsoft.com/office/officeart/2005/8/layout/radial5"/>
    <dgm:cxn modelId="{F69E363A-53FF-4F62-AA65-E4C1CA25BD9E}" type="presParOf" srcId="{0E63E8A9-FF93-4A84-8083-37EA4375F7A0}" destId="{896D6BF5-FCC6-4436-9312-CDB3EDD96B27}" srcOrd="7" destOrd="0" presId="urn:microsoft.com/office/officeart/2005/8/layout/radial5"/>
    <dgm:cxn modelId="{2C0E20F2-4A9C-41DB-8664-CC1952C21AA9}" type="presParOf" srcId="{896D6BF5-FCC6-4436-9312-CDB3EDD96B27}" destId="{4C9C9019-75C5-4090-BBF3-2755910BC073}" srcOrd="0" destOrd="0" presId="urn:microsoft.com/office/officeart/2005/8/layout/radial5"/>
    <dgm:cxn modelId="{F0774A70-91A8-4AF4-85A7-EF302FA53D4E}" type="presParOf" srcId="{0E63E8A9-FF93-4A84-8083-37EA4375F7A0}" destId="{1E2C4AD1-3F0B-4340-8C94-71141CAACC31}" srcOrd="8" destOrd="0" presId="urn:microsoft.com/office/officeart/2005/8/layout/radial5"/>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2560FD01-F17C-46B1-8AD5-320876DCD9A7}">
      <dsp:nvSpPr>
        <dsp:cNvPr id="0" name=""/>
        <dsp:cNvSpPr/>
      </dsp:nvSpPr>
      <dsp:spPr>
        <a:xfrm rot="5400000">
          <a:off x="4598343" y="-1625955"/>
          <a:ext cx="1373777" cy="497433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7160" tIns="68580" rIns="137160" bIns="68580" numCol="1" spcCol="1270" anchor="ctr" anchorCtr="0">
          <a:noAutofit/>
        </a:bodyPr>
        <a:lstStyle/>
        <a:p>
          <a:pPr marL="228600" lvl="1" indent="-228600" algn="l" defTabSz="889000">
            <a:lnSpc>
              <a:spcPct val="90000"/>
            </a:lnSpc>
            <a:spcBef>
              <a:spcPct val="0"/>
            </a:spcBef>
            <a:spcAft>
              <a:spcPct val="15000"/>
            </a:spcAft>
            <a:buChar char="••"/>
          </a:pPr>
          <a:r>
            <a:rPr lang="en-GB" sz="2000" i="1" kern="1200" dirty="0" smtClean="0"/>
            <a:t>It is the most important sentence in a paragraph it states the main idea of a paragraph</a:t>
          </a:r>
          <a:endParaRPr lang="en-GB" sz="2000" kern="1200" dirty="0"/>
        </a:p>
        <a:p>
          <a:pPr marL="228600" lvl="1" indent="-228600" algn="l" defTabSz="889000">
            <a:lnSpc>
              <a:spcPct val="90000"/>
            </a:lnSpc>
            <a:spcBef>
              <a:spcPct val="0"/>
            </a:spcBef>
            <a:spcAft>
              <a:spcPct val="15000"/>
            </a:spcAft>
            <a:buChar char="••"/>
          </a:pPr>
          <a:r>
            <a:rPr lang="en-GB" sz="2000" i="1" kern="1200" dirty="0" smtClean="0"/>
            <a:t>It has two parts: topic and controlling idea </a:t>
          </a:r>
          <a:r>
            <a:rPr lang="en-GB" sz="2000" i="1" kern="1200" dirty="0" err="1" smtClean="0"/>
            <a:t>eg</a:t>
          </a:r>
          <a:endParaRPr lang="en-GB" sz="2000" kern="1200" dirty="0"/>
        </a:p>
        <a:p>
          <a:pPr marL="228600" lvl="1" indent="-228600" algn="l" defTabSz="889000">
            <a:lnSpc>
              <a:spcPct val="90000"/>
            </a:lnSpc>
            <a:spcBef>
              <a:spcPct val="0"/>
            </a:spcBef>
            <a:spcAft>
              <a:spcPct val="15000"/>
            </a:spcAft>
            <a:buChar char="••"/>
          </a:pPr>
          <a:r>
            <a:rPr lang="en-GB" sz="2000" i="1" kern="1200" dirty="0" err="1" smtClean="0">
              <a:solidFill>
                <a:srgbClr val="FF0000"/>
              </a:solidFill>
            </a:rPr>
            <a:t>Hawassa</a:t>
          </a:r>
          <a:r>
            <a:rPr lang="en-GB" sz="2000" i="1" kern="1200" dirty="0" smtClean="0">
              <a:solidFill>
                <a:srgbClr val="FF0000"/>
              </a:solidFill>
            </a:rPr>
            <a:t> </a:t>
          </a:r>
          <a:r>
            <a:rPr lang="en-GB" sz="2000" i="1" u="sng" kern="1200" dirty="0" smtClean="0"/>
            <a:t>is one of the most beautiful cities of the country</a:t>
          </a:r>
          <a:endParaRPr lang="en-GB" sz="2000" kern="1200" dirty="0"/>
        </a:p>
      </dsp:txBody>
      <dsp:txXfrm rot="5400000">
        <a:off x="4598343" y="-1625955"/>
        <a:ext cx="1373777" cy="4974336"/>
      </dsp:txXfrm>
    </dsp:sp>
    <dsp:sp modelId="{F7C6D13A-7B4F-495C-9F46-3BDB1C674AE1}">
      <dsp:nvSpPr>
        <dsp:cNvPr id="0" name=""/>
        <dsp:cNvSpPr/>
      </dsp:nvSpPr>
      <dsp:spPr>
        <a:xfrm>
          <a:off x="0" y="2601"/>
          <a:ext cx="2798064" cy="171722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lvl="0" algn="ctr" defTabSz="1066800">
            <a:lnSpc>
              <a:spcPct val="90000"/>
            </a:lnSpc>
            <a:spcBef>
              <a:spcPct val="0"/>
            </a:spcBef>
            <a:spcAft>
              <a:spcPct val="35000"/>
            </a:spcAft>
          </a:pPr>
          <a:r>
            <a:rPr lang="en-GB" sz="2400" kern="1200" dirty="0" smtClean="0"/>
            <a:t>1. Topic sentence</a:t>
          </a:r>
          <a:endParaRPr lang="en-GB" sz="2400" kern="1200" dirty="0"/>
        </a:p>
      </dsp:txBody>
      <dsp:txXfrm>
        <a:off x="0" y="2601"/>
        <a:ext cx="2798064" cy="1717222"/>
      </dsp:txXfrm>
    </dsp:sp>
    <dsp:sp modelId="{FD9ED72A-073A-4443-8DC8-DF7BE078D57B}">
      <dsp:nvSpPr>
        <dsp:cNvPr id="0" name=""/>
        <dsp:cNvSpPr/>
      </dsp:nvSpPr>
      <dsp:spPr>
        <a:xfrm rot="5400000">
          <a:off x="4598343" y="177127"/>
          <a:ext cx="1373777" cy="497433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2390" tIns="36195" rIns="72390" bIns="36195" numCol="1" spcCol="1270" anchor="ctr" anchorCtr="0">
          <a:noAutofit/>
        </a:bodyPr>
        <a:lstStyle/>
        <a:p>
          <a:pPr marL="171450" lvl="1" indent="-171450" algn="l" defTabSz="844550">
            <a:lnSpc>
              <a:spcPct val="90000"/>
            </a:lnSpc>
            <a:spcBef>
              <a:spcPct val="0"/>
            </a:spcBef>
            <a:spcAft>
              <a:spcPct val="15000"/>
            </a:spcAft>
            <a:buChar char="••"/>
          </a:pPr>
          <a:r>
            <a:rPr lang="en-GB" sz="1900" kern="1200" dirty="0" smtClean="0"/>
            <a:t>Help explain the topic; supports the These are sentences that providing details, facts, examples, etc that help expound the main idea</a:t>
          </a:r>
          <a:endParaRPr lang="en-GB" sz="1900" kern="1200" dirty="0"/>
        </a:p>
      </dsp:txBody>
      <dsp:txXfrm rot="5400000">
        <a:off x="4598343" y="177127"/>
        <a:ext cx="1373777" cy="4974336"/>
      </dsp:txXfrm>
    </dsp:sp>
    <dsp:sp modelId="{5A808C45-F2FC-44C6-8121-94FB55DF6A1B}">
      <dsp:nvSpPr>
        <dsp:cNvPr id="0" name=""/>
        <dsp:cNvSpPr/>
      </dsp:nvSpPr>
      <dsp:spPr>
        <a:xfrm>
          <a:off x="0" y="1805684"/>
          <a:ext cx="2798064" cy="171722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lvl="0" algn="ctr" defTabSz="1066800">
            <a:lnSpc>
              <a:spcPct val="90000"/>
            </a:lnSpc>
            <a:spcBef>
              <a:spcPct val="0"/>
            </a:spcBef>
            <a:spcAft>
              <a:spcPct val="35000"/>
            </a:spcAft>
          </a:pPr>
          <a:r>
            <a:rPr lang="en-GB" sz="2400" kern="1200" dirty="0" smtClean="0"/>
            <a:t>2. Supporting sentence</a:t>
          </a:r>
          <a:endParaRPr lang="en-GB" sz="2400" kern="1200" dirty="0"/>
        </a:p>
      </dsp:txBody>
      <dsp:txXfrm>
        <a:off x="0" y="1805684"/>
        <a:ext cx="2798064" cy="1717222"/>
      </dsp:txXfrm>
    </dsp:sp>
    <dsp:sp modelId="{C34C1948-8AA6-4279-BB41-BA6AC1A9A7DE}">
      <dsp:nvSpPr>
        <dsp:cNvPr id="0" name=""/>
        <dsp:cNvSpPr/>
      </dsp:nvSpPr>
      <dsp:spPr>
        <a:xfrm rot="5400000">
          <a:off x="4598343" y="1980211"/>
          <a:ext cx="1373777" cy="4974336"/>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2390" tIns="36195" rIns="72390" bIns="36195" numCol="1" spcCol="1270" anchor="ctr" anchorCtr="0">
          <a:noAutofit/>
        </a:bodyPr>
        <a:lstStyle/>
        <a:p>
          <a:pPr marL="171450" lvl="1" indent="-171450" algn="l" defTabSz="844550">
            <a:lnSpc>
              <a:spcPct val="90000"/>
            </a:lnSpc>
            <a:spcBef>
              <a:spcPct val="0"/>
            </a:spcBef>
            <a:spcAft>
              <a:spcPct val="15000"/>
            </a:spcAft>
            <a:buChar char="••"/>
          </a:pPr>
          <a:r>
            <a:rPr lang="en-GB" sz="1900" kern="1200" dirty="0" smtClean="0"/>
            <a:t>Provide a logical conclusion based on the information provided by the supporting sentences </a:t>
          </a:r>
          <a:endParaRPr lang="en-GB" sz="1900" kern="1200" dirty="0"/>
        </a:p>
        <a:p>
          <a:pPr marL="171450" lvl="1" indent="-171450" algn="l" defTabSz="844550">
            <a:lnSpc>
              <a:spcPct val="90000"/>
            </a:lnSpc>
            <a:spcBef>
              <a:spcPct val="0"/>
            </a:spcBef>
            <a:spcAft>
              <a:spcPct val="15000"/>
            </a:spcAft>
            <a:buChar char="••"/>
          </a:pPr>
          <a:r>
            <a:rPr lang="en-GB" sz="1900" kern="1200" dirty="0" smtClean="0"/>
            <a:t>It is used to cement the main idea in the readers mind</a:t>
          </a:r>
          <a:endParaRPr lang="en-GB" sz="1900" kern="1200" dirty="0"/>
        </a:p>
      </dsp:txBody>
      <dsp:txXfrm rot="5400000">
        <a:off x="4598343" y="1980211"/>
        <a:ext cx="1373777" cy="4974336"/>
      </dsp:txXfrm>
    </dsp:sp>
    <dsp:sp modelId="{CF5B7EE0-1FC5-4A54-845E-0C74CEE38332}">
      <dsp:nvSpPr>
        <dsp:cNvPr id="0" name=""/>
        <dsp:cNvSpPr/>
      </dsp:nvSpPr>
      <dsp:spPr>
        <a:xfrm>
          <a:off x="0" y="3608768"/>
          <a:ext cx="2798064" cy="171722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lvl="0" algn="ctr" defTabSz="1066800">
            <a:lnSpc>
              <a:spcPct val="90000"/>
            </a:lnSpc>
            <a:spcBef>
              <a:spcPct val="0"/>
            </a:spcBef>
            <a:spcAft>
              <a:spcPct val="35000"/>
            </a:spcAft>
          </a:pPr>
          <a:r>
            <a:rPr lang="en-GB" sz="2400" kern="1200" dirty="0" smtClean="0"/>
            <a:t>Clincher/concluding sentence</a:t>
          </a:r>
          <a:endParaRPr lang="en-GB" sz="2400" kern="1200" dirty="0"/>
        </a:p>
      </dsp:txBody>
      <dsp:txXfrm>
        <a:off x="0" y="3608768"/>
        <a:ext cx="2798064" cy="1717222"/>
      </dsp:txXfrm>
    </dsp:sp>
  </dsp:spTree>
</dsp:drawing>
</file>

<file path=ppt/diagrams/drawing2.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5BF585B1-7E2B-4BD2-BB0D-5E901994D822}">
      <dsp:nvSpPr>
        <dsp:cNvPr id="0" name=""/>
        <dsp:cNvSpPr/>
      </dsp:nvSpPr>
      <dsp:spPr>
        <a:xfrm>
          <a:off x="3195688" y="1755347"/>
          <a:ext cx="1559024" cy="1061304"/>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lvl="0" algn="ctr" defTabSz="755650">
            <a:lnSpc>
              <a:spcPct val="90000"/>
            </a:lnSpc>
            <a:spcBef>
              <a:spcPct val="0"/>
            </a:spcBef>
            <a:spcAft>
              <a:spcPct val="35000"/>
            </a:spcAft>
          </a:pPr>
          <a:r>
            <a:rPr lang="en-GB" sz="1700" kern="1200" dirty="0" smtClean="0"/>
            <a:t>FOUR ELEMENTS </a:t>
          </a:r>
          <a:endParaRPr lang="en-GB" sz="1700" kern="1200" dirty="0"/>
        </a:p>
      </dsp:txBody>
      <dsp:txXfrm>
        <a:off x="3195688" y="1755347"/>
        <a:ext cx="1559024" cy="1061304"/>
      </dsp:txXfrm>
    </dsp:sp>
    <dsp:sp modelId="{21540479-538F-403C-B8E6-7DCB47E34ADF}">
      <dsp:nvSpPr>
        <dsp:cNvPr id="0" name=""/>
        <dsp:cNvSpPr/>
      </dsp:nvSpPr>
      <dsp:spPr>
        <a:xfrm rot="16200000">
          <a:off x="3862425" y="1368526"/>
          <a:ext cx="225549" cy="360843"/>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44500">
            <a:lnSpc>
              <a:spcPct val="90000"/>
            </a:lnSpc>
            <a:spcBef>
              <a:spcPct val="0"/>
            </a:spcBef>
            <a:spcAft>
              <a:spcPct val="35000"/>
            </a:spcAft>
          </a:pPr>
          <a:endParaRPr lang="en-GB" sz="1000" kern="1200"/>
        </a:p>
      </dsp:txBody>
      <dsp:txXfrm rot="16200000">
        <a:off x="3862425" y="1368526"/>
        <a:ext cx="225549" cy="360843"/>
      </dsp:txXfrm>
    </dsp:sp>
    <dsp:sp modelId="{5601967F-057B-4251-834A-313AF1E93AF7}">
      <dsp:nvSpPr>
        <dsp:cNvPr id="0" name=""/>
        <dsp:cNvSpPr/>
      </dsp:nvSpPr>
      <dsp:spPr>
        <a:xfrm>
          <a:off x="3311885" y="3152"/>
          <a:ext cx="1326630" cy="1326630"/>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444500">
            <a:lnSpc>
              <a:spcPct val="90000"/>
            </a:lnSpc>
            <a:spcBef>
              <a:spcPct val="0"/>
            </a:spcBef>
            <a:spcAft>
              <a:spcPct val="35000"/>
            </a:spcAft>
          </a:pPr>
          <a:r>
            <a:rPr lang="en-GB" sz="1000" kern="1200" dirty="0" smtClean="0"/>
            <a:t>UNITY</a:t>
          </a:r>
          <a:endParaRPr lang="en-GB" sz="1000" kern="1200" dirty="0"/>
        </a:p>
      </dsp:txBody>
      <dsp:txXfrm>
        <a:off x="3311885" y="3152"/>
        <a:ext cx="1326630" cy="1326630"/>
      </dsp:txXfrm>
    </dsp:sp>
    <dsp:sp modelId="{78CFC492-34FA-46EB-ABFE-D9FB297E1801}">
      <dsp:nvSpPr>
        <dsp:cNvPr id="0" name=""/>
        <dsp:cNvSpPr/>
      </dsp:nvSpPr>
      <dsp:spPr>
        <a:xfrm>
          <a:off x="4793587" y="2105578"/>
          <a:ext cx="93653" cy="360843"/>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44500">
            <a:lnSpc>
              <a:spcPct val="90000"/>
            </a:lnSpc>
            <a:spcBef>
              <a:spcPct val="0"/>
            </a:spcBef>
            <a:spcAft>
              <a:spcPct val="35000"/>
            </a:spcAft>
          </a:pPr>
          <a:endParaRPr lang="en-GB" sz="1000" kern="1200"/>
        </a:p>
      </dsp:txBody>
      <dsp:txXfrm>
        <a:off x="4793587" y="2105578"/>
        <a:ext cx="93653" cy="360843"/>
      </dsp:txXfrm>
    </dsp:sp>
    <dsp:sp modelId="{7123B102-0238-4516-8AA5-0914CD485119}">
      <dsp:nvSpPr>
        <dsp:cNvPr id="0" name=""/>
        <dsp:cNvSpPr/>
      </dsp:nvSpPr>
      <dsp:spPr>
        <a:xfrm>
          <a:off x="4931417" y="1622684"/>
          <a:ext cx="1326630" cy="1326630"/>
        </a:xfrm>
        <a:prstGeom prst="ellips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444500">
            <a:lnSpc>
              <a:spcPct val="90000"/>
            </a:lnSpc>
            <a:spcBef>
              <a:spcPct val="0"/>
            </a:spcBef>
            <a:spcAft>
              <a:spcPct val="35000"/>
            </a:spcAft>
          </a:pPr>
          <a:r>
            <a:rPr lang="en-GB" sz="1000" kern="1200" dirty="0" smtClean="0"/>
            <a:t>VARIETY</a:t>
          </a:r>
          <a:endParaRPr lang="en-GB" sz="1000" kern="1200" dirty="0"/>
        </a:p>
      </dsp:txBody>
      <dsp:txXfrm>
        <a:off x="4931417" y="1622684"/>
        <a:ext cx="1326630" cy="1326630"/>
      </dsp:txXfrm>
    </dsp:sp>
    <dsp:sp modelId="{09753D94-9809-4D9F-80F5-4068FD6A3001}">
      <dsp:nvSpPr>
        <dsp:cNvPr id="0" name=""/>
        <dsp:cNvSpPr/>
      </dsp:nvSpPr>
      <dsp:spPr>
        <a:xfrm rot="5400000">
          <a:off x="3862425" y="2842629"/>
          <a:ext cx="225549" cy="360843"/>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44500">
            <a:lnSpc>
              <a:spcPct val="90000"/>
            </a:lnSpc>
            <a:spcBef>
              <a:spcPct val="0"/>
            </a:spcBef>
            <a:spcAft>
              <a:spcPct val="35000"/>
            </a:spcAft>
          </a:pPr>
          <a:endParaRPr lang="en-GB" sz="1000" kern="1200"/>
        </a:p>
      </dsp:txBody>
      <dsp:txXfrm rot="5400000">
        <a:off x="3862425" y="2842629"/>
        <a:ext cx="225549" cy="360843"/>
      </dsp:txXfrm>
    </dsp:sp>
    <dsp:sp modelId="{652B2661-4020-4410-8114-4F8129732DAD}">
      <dsp:nvSpPr>
        <dsp:cNvPr id="0" name=""/>
        <dsp:cNvSpPr/>
      </dsp:nvSpPr>
      <dsp:spPr>
        <a:xfrm>
          <a:off x="3311885" y="3242217"/>
          <a:ext cx="1326630" cy="1326630"/>
        </a:xfrm>
        <a:prstGeom prst="ellipse">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444500">
            <a:lnSpc>
              <a:spcPct val="90000"/>
            </a:lnSpc>
            <a:spcBef>
              <a:spcPct val="0"/>
            </a:spcBef>
            <a:spcAft>
              <a:spcPct val="35000"/>
            </a:spcAft>
          </a:pPr>
          <a:r>
            <a:rPr lang="en-GB" sz="1000" kern="1200" dirty="0" smtClean="0"/>
            <a:t>COMPLETENESS</a:t>
          </a:r>
          <a:endParaRPr lang="en-GB" sz="1000" kern="1200" dirty="0"/>
        </a:p>
      </dsp:txBody>
      <dsp:txXfrm>
        <a:off x="3311885" y="3242217"/>
        <a:ext cx="1326630" cy="1326630"/>
      </dsp:txXfrm>
    </dsp:sp>
    <dsp:sp modelId="{896D6BF5-FCC6-4436-9312-CDB3EDD96B27}">
      <dsp:nvSpPr>
        <dsp:cNvPr id="0" name=""/>
        <dsp:cNvSpPr/>
      </dsp:nvSpPr>
      <dsp:spPr>
        <a:xfrm>
          <a:off x="3195973" y="2105578"/>
          <a:ext cx="686" cy="360843"/>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44500">
            <a:lnSpc>
              <a:spcPct val="90000"/>
            </a:lnSpc>
            <a:spcBef>
              <a:spcPct val="0"/>
            </a:spcBef>
            <a:spcAft>
              <a:spcPct val="35000"/>
            </a:spcAft>
          </a:pPr>
          <a:endParaRPr lang="en-GB" sz="1000" kern="1200"/>
        </a:p>
      </dsp:txBody>
      <dsp:txXfrm>
        <a:off x="3195973" y="2105578"/>
        <a:ext cx="686" cy="360843"/>
      </dsp:txXfrm>
    </dsp:sp>
    <dsp:sp modelId="{1E2C4AD1-3F0B-4340-8C94-71141CAACC31}">
      <dsp:nvSpPr>
        <dsp:cNvPr id="0" name=""/>
        <dsp:cNvSpPr/>
      </dsp:nvSpPr>
      <dsp:spPr>
        <a:xfrm>
          <a:off x="1514351" y="1622684"/>
          <a:ext cx="1682631" cy="1326630"/>
        </a:xfrm>
        <a:prstGeom prst="ellipse">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444500">
            <a:lnSpc>
              <a:spcPct val="90000"/>
            </a:lnSpc>
            <a:spcBef>
              <a:spcPct val="0"/>
            </a:spcBef>
            <a:spcAft>
              <a:spcPct val="35000"/>
            </a:spcAft>
          </a:pPr>
          <a:r>
            <a:rPr lang="en-GB" sz="1000" kern="1200" dirty="0" smtClean="0"/>
            <a:t>COHERENCE</a:t>
          </a:r>
          <a:endParaRPr lang="en-GB" sz="1000" kern="1200" dirty="0"/>
        </a:p>
      </dsp:txBody>
      <dsp:txXfrm>
        <a:off x="1514351" y="1622684"/>
        <a:ext cx="1682631" cy="1326630"/>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647B606A-52A0-4A56-ABED-9877EF625673}" type="datetimeFigureOut">
              <a:rPr lang="en-GB" smtClean="0"/>
              <a:pPr/>
              <a:t>28/05/2021</a:t>
            </a:fld>
            <a:endParaRPr lang="en-GB"/>
          </a:p>
        </p:txBody>
      </p:sp>
      <p:sp>
        <p:nvSpPr>
          <p:cNvPr id="17" name="Footer Placeholder 16"/>
          <p:cNvSpPr>
            <a:spLocks noGrp="1"/>
          </p:cNvSpPr>
          <p:nvPr>
            <p:ph type="ftr" sz="quarter" idx="11"/>
          </p:nvPr>
        </p:nvSpPr>
        <p:spPr/>
        <p:txBody>
          <a:bodyPr/>
          <a:lstStyle/>
          <a:p>
            <a:endParaRPr lang="en-GB"/>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55BCF4E8-6478-472D-97E9-DFE76FDF9C65}" type="slidenum">
              <a:rPr lang="en-GB" smtClean="0"/>
              <a:pPr/>
              <a:t>‹#›</a:t>
            </a:fld>
            <a:endParaRPr lang="en-GB"/>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647B606A-52A0-4A56-ABED-9877EF625673}" type="datetimeFigureOut">
              <a:rPr lang="en-GB" smtClean="0"/>
              <a:pPr/>
              <a:t>28/05/2021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5BCF4E8-6478-472D-97E9-DFE76FDF9C65}" type="slidenum">
              <a:rPr lang="en-GB" smtClean="0"/>
              <a:pPr/>
              <a:t>‹#›</a:t>
            </a:fld>
            <a:endParaRPr lang="en-GB"/>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647B606A-52A0-4A56-ABED-9877EF625673}" type="datetimeFigureOut">
              <a:rPr lang="en-GB" smtClean="0"/>
              <a:pPr/>
              <a:t>28/05/2021</a:t>
            </a:fld>
            <a:endParaRPr lang="en-GB"/>
          </a:p>
        </p:txBody>
      </p:sp>
      <p:sp>
        <p:nvSpPr>
          <p:cNvPr id="5" name="Footer Placeholder 4"/>
          <p:cNvSpPr>
            <a:spLocks noGrp="1"/>
          </p:cNvSpPr>
          <p:nvPr>
            <p:ph type="ftr" sz="quarter" idx="11"/>
          </p:nvPr>
        </p:nvSpPr>
        <p:spPr>
          <a:xfrm>
            <a:off x="800100" y="6172200"/>
            <a:ext cx="4000500" cy="457200"/>
          </a:xfrm>
        </p:spPr>
        <p:txBody>
          <a:bodyPr/>
          <a:lstStyle/>
          <a:p>
            <a:endParaRPr lang="en-GB"/>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55BCF4E8-6478-472D-97E9-DFE76FDF9C65}" type="slidenum">
              <a:rPr lang="en-GB" smtClean="0"/>
              <a:pPr/>
              <a:t>‹#›</a:t>
            </a:fld>
            <a:endParaRPr lang="en-GB"/>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647B606A-52A0-4A56-ABED-9877EF625673}" type="datetimeFigureOut">
              <a:rPr lang="en-GB" smtClean="0"/>
              <a:pPr/>
              <a:t>28/05/2021</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5BCF4E8-6478-472D-97E9-DFE76FDF9C65}" type="slidenum">
              <a:rPr lang="en-GB" smtClean="0"/>
              <a:pPr/>
              <a:t>‹#›</a:t>
            </a:fld>
            <a:endParaRPr lang="en-GB"/>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647B606A-52A0-4A56-ABED-9877EF625673}" type="datetimeFigureOut">
              <a:rPr lang="en-GB" smtClean="0"/>
              <a:pPr/>
              <a:t>28/05/2021</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55BCF4E8-6478-472D-97E9-DFE76FDF9C65}" type="slidenum">
              <a:rPr lang="en-GB" smtClean="0"/>
              <a:pPr/>
              <a:t>‹#›</a:t>
            </a:fld>
            <a:endParaRPr lang="en-GB"/>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647B606A-52A0-4A56-ABED-9877EF625673}" type="datetimeFigureOut">
              <a:rPr lang="en-GB" smtClean="0"/>
              <a:pPr/>
              <a:t>28/05/2021</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55BCF4E8-6478-472D-97E9-DFE76FDF9C65}" type="slidenum">
              <a:rPr lang="en-GB" smtClean="0"/>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47B606A-52A0-4A56-ABED-9877EF625673}" type="datetimeFigureOut">
              <a:rPr lang="en-GB" smtClean="0"/>
              <a:pPr/>
              <a:t>28/05/2021</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55BCF4E8-6478-472D-97E9-DFE76FDF9C65}" type="slidenum">
              <a:rPr lang="en-GB" smtClean="0"/>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647B606A-52A0-4A56-ABED-9877EF625673}" type="datetimeFigureOut">
              <a:rPr lang="en-GB" smtClean="0"/>
              <a:pPr/>
              <a:t>28/05/2021</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5BCF4E8-6478-472D-97E9-DFE76FDF9C65}" type="slidenum">
              <a:rPr lang="en-GB" smtClean="0"/>
              <a:pPr/>
              <a:t>‹#›</a:t>
            </a:fld>
            <a:endParaRPr lang="en-GB"/>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647B606A-52A0-4A56-ABED-9877EF625673}" type="datetimeFigureOut">
              <a:rPr lang="en-GB" smtClean="0"/>
              <a:pPr/>
              <a:t>28/05/2021</a:t>
            </a:fld>
            <a:endParaRPr lang="en-GB"/>
          </a:p>
        </p:txBody>
      </p:sp>
      <p:sp>
        <p:nvSpPr>
          <p:cNvPr id="6" name="Footer Placeholder 5"/>
          <p:cNvSpPr>
            <a:spLocks noGrp="1"/>
          </p:cNvSpPr>
          <p:nvPr>
            <p:ph type="ftr" sz="quarter" idx="11"/>
          </p:nvPr>
        </p:nvSpPr>
        <p:spPr>
          <a:xfrm>
            <a:off x="914400" y="6172200"/>
            <a:ext cx="3886200" cy="457200"/>
          </a:xfrm>
        </p:spPr>
        <p:txBody>
          <a:bodyPr/>
          <a:lstStyle/>
          <a:p>
            <a:endParaRPr lang="en-GB"/>
          </a:p>
        </p:txBody>
      </p:sp>
      <p:sp>
        <p:nvSpPr>
          <p:cNvPr id="7" name="Slide Number Placeholder 6"/>
          <p:cNvSpPr>
            <a:spLocks noGrp="1"/>
          </p:cNvSpPr>
          <p:nvPr>
            <p:ph type="sldNum" sz="quarter" idx="12"/>
          </p:nvPr>
        </p:nvSpPr>
        <p:spPr>
          <a:xfrm>
            <a:off x="146304" y="6208776"/>
            <a:ext cx="457200" cy="457200"/>
          </a:xfrm>
        </p:spPr>
        <p:txBody>
          <a:bodyPr/>
          <a:lstStyle/>
          <a:p>
            <a:fld id="{55BCF4E8-6478-472D-97E9-DFE76FDF9C65}" type="slidenum">
              <a:rPr lang="en-GB" smtClean="0"/>
              <a:pPr/>
              <a:t>‹#›</a:t>
            </a:fld>
            <a:endParaRPr lang="en-GB"/>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smtClean="0"/>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647B606A-52A0-4A56-ABED-9877EF625673}" type="datetimeFigureOut">
              <a:rPr lang="en-GB" smtClean="0"/>
              <a:pPr/>
              <a:t>28/05/2021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5BCF4E8-6478-472D-97E9-DFE76FDF9C65}" type="slidenum">
              <a:rPr lang="en-GB" smtClean="0"/>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647B606A-52A0-4A56-ABED-9877EF625673}" type="datetimeFigureOut">
              <a:rPr lang="en-GB" smtClean="0"/>
              <a:pPr/>
              <a:t>28/05/2021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5BCF4E8-6478-472D-97E9-DFE76FDF9C65}" type="slidenum">
              <a:rPr lang="en-GB" smtClean="0"/>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647B606A-52A0-4A56-ABED-9877EF625673}" type="datetimeFigureOut">
              <a:rPr lang="en-GB" smtClean="0"/>
              <a:pPr/>
              <a:t>28/05/2021</a:t>
            </a:fld>
            <a:endParaRPr lang="en-GB"/>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GB"/>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55BCF4E8-6478-472D-97E9-DFE76FDF9C65}" type="slidenum">
              <a:rPr lang="en-GB" smtClean="0"/>
              <a:pPr/>
              <a:t>‹#›</a:t>
            </a:fld>
            <a:endParaRPr lang="en-GB"/>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GB" dirty="0" smtClean="0"/>
              <a:t>WRITING SKILLS</a:t>
            </a:r>
            <a:endParaRPr lang="en-GB" dirty="0"/>
          </a:p>
        </p:txBody>
      </p:sp>
      <p:sp>
        <p:nvSpPr>
          <p:cNvPr id="2" name="Title 1"/>
          <p:cNvSpPr>
            <a:spLocks noGrp="1"/>
          </p:cNvSpPr>
          <p:nvPr>
            <p:ph type="ctrTitle"/>
          </p:nvPr>
        </p:nvSpPr>
        <p:spPr/>
        <p:txBody>
          <a:bodyPr/>
          <a:lstStyle/>
          <a:p>
            <a:r>
              <a:rPr lang="en-GB" dirty="0" smtClean="0"/>
              <a:t>LECTURE 12</a:t>
            </a:r>
            <a:endParaRPr lang="en-GB"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Introduction</a:t>
            </a:r>
            <a:endParaRPr lang="en-GB" dirty="0"/>
          </a:p>
        </p:txBody>
      </p:sp>
      <p:sp>
        <p:nvSpPr>
          <p:cNvPr id="3" name="Content Placeholder 2"/>
          <p:cNvSpPr>
            <a:spLocks noGrp="1"/>
          </p:cNvSpPr>
          <p:nvPr>
            <p:ph sz="quarter" idx="1"/>
          </p:nvPr>
        </p:nvSpPr>
        <p:spPr/>
        <p:txBody>
          <a:bodyPr>
            <a:normAutofit fontScale="92500" lnSpcReduction="10000"/>
          </a:bodyPr>
          <a:lstStyle/>
          <a:p>
            <a:r>
              <a:rPr lang="en-GB" dirty="0" smtClean="0"/>
              <a:t>Writing skills are an important part of communication and an important part of our lives. </a:t>
            </a:r>
          </a:p>
          <a:p>
            <a:r>
              <a:rPr lang="en-GB" dirty="0" smtClean="0"/>
              <a:t>organization need  people who can communicate effectively both orally and in writing .You might be called upon to write a report, plan or strategy at work; write a grant Application </a:t>
            </a:r>
          </a:p>
          <a:p>
            <a:r>
              <a:rPr lang="en-GB" dirty="0" smtClean="0"/>
              <a:t>Some people develop writing skills as career like poets , writers , novelist etc or you may fancy communicating, your ideas online via a blog. And, of course ,a well written CV and cover letter is essential if you want a new job</a:t>
            </a:r>
          </a:p>
          <a:p>
            <a:r>
              <a:rPr lang="en-GB" dirty="0" smtClean="0"/>
              <a:t>Good writing skills allow you to communicate your message with clarity and ease to a far larger audience than through face-to-face or telephone conversation.</a:t>
            </a:r>
          </a:p>
          <a:p>
            <a:endParaRPr lang="en-GB"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What is writing?</a:t>
            </a:r>
            <a:endParaRPr lang="en-GB" dirty="0"/>
          </a:p>
        </p:txBody>
      </p:sp>
      <p:sp>
        <p:nvSpPr>
          <p:cNvPr id="3" name="Content Placeholder 2"/>
          <p:cNvSpPr>
            <a:spLocks noGrp="1"/>
          </p:cNvSpPr>
          <p:nvPr>
            <p:ph sz="quarter" idx="1"/>
          </p:nvPr>
        </p:nvSpPr>
        <p:spPr/>
        <p:txBody>
          <a:bodyPr/>
          <a:lstStyle/>
          <a:p>
            <a:r>
              <a:rPr lang="en-GB" dirty="0" smtClean="0"/>
              <a:t>putting letters or symbols on any surface </a:t>
            </a:r>
          </a:p>
          <a:p>
            <a:r>
              <a:rPr lang="en-GB" dirty="0" smtClean="0"/>
              <a:t>It is a skill that allows you to express your feelings and ideas on paper, to organize knowledge and beliefs into convincing arguments, and to convey meaning through well-constructed text.</a:t>
            </a:r>
            <a:endParaRPr lang="en-GB"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b="1" dirty="0" smtClean="0"/>
              <a:t>building blocks of written language</a:t>
            </a:r>
            <a:endParaRPr lang="en-GB" b="1" dirty="0"/>
          </a:p>
        </p:txBody>
      </p:sp>
      <p:graphicFrame>
        <p:nvGraphicFramePr>
          <p:cNvPr id="4" name="Content Placeholder 3"/>
          <p:cNvGraphicFramePr>
            <a:graphicFrameLocks noGrp="1"/>
          </p:cNvGraphicFramePr>
          <p:nvPr>
            <p:ph sz="quarter" idx="1"/>
          </p:nvPr>
        </p:nvGraphicFramePr>
        <p:xfrm>
          <a:off x="1619672" y="1340768"/>
          <a:ext cx="5904656" cy="5943600"/>
        </p:xfrm>
        <a:graphic>
          <a:graphicData uri="http://schemas.openxmlformats.org/drawingml/2006/table">
            <a:tbl>
              <a:tblPr firstRow="1" bandRow="1">
                <a:tableStyleId>{5C22544A-7EE6-4342-B048-85BDC9FD1C3A}</a:tableStyleId>
              </a:tblPr>
              <a:tblGrid>
                <a:gridCol w="5904656"/>
              </a:tblGrid>
              <a:tr h="4752528">
                <a:tc>
                  <a:txBody>
                    <a:bodyPr/>
                    <a:lstStyle/>
                    <a:p>
                      <a:pPr algn="ctr"/>
                      <a:r>
                        <a:rPr lang="en-GB" sz="3200" b="1" dirty="0" smtClean="0">
                          <a:solidFill>
                            <a:srgbClr val="FFC000"/>
                          </a:solidFill>
                        </a:rPr>
                        <a:t>Text</a:t>
                      </a:r>
                    </a:p>
                    <a:p>
                      <a:pPr algn="ctr"/>
                      <a:endParaRPr lang="en-GB" sz="3200" b="1" dirty="0" smtClean="0">
                        <a:solidFill>
                          <a:srgbClr val="FFC000"/>
                        </a:solidFill>
                      </a:endParaRPr>
                    </a:p>
                    <a:p>
                      <a:pPr algn="ctr"/>
                      <a:r>
                        <a:rPr lang="en-GB" sz="3200" b="1" dirty="0" smtClean="0">
                          <a:solidFill>
                            <a:srgbClr val="FFC000"/>
                          </a:solidFill>
                        </a:rPr>
                        <a:t>Paragraph</a:t>
                      </a:r>
                    </a:p>
                    <a:p>
                      <a:pPr algn="ctr"/>
                      <a:endParaRPr lang="en-GB" sz="3200" b="1" dirty="0" smtClean="0">
                        <a:solidFill>
                          <a:srgbClr val="FFC000"/>
                        </a:solidFill>
                      </a:endParaRPr>
                    </a:p>
                    <a:p>
                      <a:pPr algn="ctr"/>
                      <a:r>
                        <a:rPr lang="en-GB" sz="3200" b="1" dirty="0" smtClean="0">
                          <a:solidFill>
                            <a:srgbClr val="FFC000"/>
                          </a:solidFill>
                        </a:rPr>
                        <a:t>Sentence</a:t>
                      </a:r>
                    </a:p>
                    <a:p>
                      <a:pPr algn="ctr"/>
                      <a:endParaRPr lang="en-GB" sz="3200" b="1" dirty="0" smtClean="0">
                        <a:solidFill>
                          <a:srgbClr val="FFC000"/>
                        </a:solidFill>
                      </a:endParaRPr>
                    </a:p>
                    <a:p>
                      <a:pPr algn="ctr"/>
                      <a:r>
                        <a:rPr lang="en-GB" sz="3200" b="1" dirty="0" smtClean="0">
                          <a:solidFill>
                            <a:srgbClr val="FFC000"/>
                          </a:solidFill>
                        </a:rPr>
                        <a:t>Clause</a:t>
                      </a:r>
                    </a:p>
                    <a:p>
                      <a:pPr algn="ctr"/>
                      <a:endParaRPr lang="en-GB" sz="3200" b="1" dirty="0" smtClean="0">
                        <a:solidFill>
                          <a:srgbClr val="FFC000"/>
                        </a:solidFill>
                      </a:endParaRPr>
                    </a:p>
                    <a:p>
                      <a:pPr algn="ctr"/>
                      <a:r>
                        <a:rPr lang="en-GB" sz="3200" b="1" dirty="0" smtClean="0">
                          <a:solidFill>
                            <a:srgbClr val="FFC000"/>
                          </a:solidFill>
                        </a:rPr>
                        <a:t>phrase</a:t>
                      </a:r>
                    </a:p>
                    <a:p>
                      <a:pPr algn="ctr"/>
                      <a:endParaRPr lang="en-GB" sz="3200" b="1" dirty="0" smtClean="0">
                        <a:solidFill>
                          <a:srgbClr val="FFC000"/>
                        </a:solidFill>
                      </a:endParaRPr>
                    </a:p>
                    <a:p>
                      <a:pPr algn="ctr"/>
                      <a:r>
                        <a:rPr lang="en-GB" sz="3200" b="1" dirty="0" smtClean="0">
                          <a:solidFill>
                            <a:srgbClr val="FFC000"/>
                          </a:solidFill>
                        </a:rPr>
                        <a:t>word</a:t>
                      </a:r>
                    </a:p>
                    <a:p>
                      <a:endParaRPr lang="en-GB" sz="3200" b="1" dirty="0">
                        <a:solidFill>
                          <a:srgbClr val="FFC000"/>
                        </a:solidFill>
                      </a:endParaRPr>
                    </a:p>
                  </a:txBody>
                  <a:tcPr/>
                </a:tc>
              </a:tr>
            </a:tbl>
          </a:graphicData>
        </a:graphic>
      </p:graphicFrame>
      <p:sp>
        <p:nvSpPr>
          <p:cNvPr id="7" name="Up Arrow 6"/>
          <p:cNvSpPr/>
          <p:nvPr/>
        </p:nvSpPr>
        <p:spPr>
          <a:xfrm>
            <a:off x="4572000" y="5661248"/>
            <a:ext cx="72008" cy="792088"/>
          </a:xfrm>
          <a:prstGeom prst="up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Up Arrow 11"/>
          <p:cNvSpPr/>
          <p:nvPr/>
        </p:nvSpPr>
        <p:spPr>
          <a:xfrm>
            <a:off x="4572000" y="4725144"/>
            <a:ext cx="72008" cy="792088"/>
          </a:xfrm>
          <a:prstGeom prst="up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Up Arrow 12"/>
          <p:cNvSpPr/>
          <p:nvPr/>
        </p:nvSpPr>
        <p:spPr>
          <a:xfrm>
            <a:off x="4572000" y="3717032"/>
            <a:ext cx="72008" cy="792088"/>
          </a:xfrm>
          <a:prstGeom prst="up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Up Arrow 13"/>
          <p:cNvSpPr/>
          <p:nvPr/>
        </p:nvSpPr>
        <p:spPr>
          <a:xfrm>
            <a:off x="4572000" y="2780928"/>
            <a:ext cx="72008" cy="792088"/>
          </a:xfrm>
          <a:prstGeom prst="up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Up Arrow 14"/>
          <p:cNvSpPr/>
          <p:nvPr/>
        </p:nvSpPr>
        <p:spPr>
          <a:xfrm>
            <a:off x="4572000" y="1772816"/>
            <a:ext cx="72008" cy="792088"/>
          </a:xfrm>
          <a:prstGeom prst="up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sz="quarter" idx="1"/>
          </p:nvPr>
        </p:nvSpPr>
        <p:spPr/>
        <p:txBody>
          <a:bodyPr>
            <a:normAutofit fontScale="92500" lnSpcReduction="10000"/>
          </a:bodyPr>
          <a:lstStyle/>
          <a:p>
            <a:r>
              <a:rPr lang="en-GB" b="1" dirty="0" smtClean="0"/>
              <a:t>1. Simple sentence</a:t>
            </a:r>
            <a:r>
              <a:rPr lang="en-GB" dirty="0" smtClean="0"/>
              <a:t>-one independent clause </a:t>
            </a:r>
            <a:r>
              <a:rPr lang="en-GB" dirty="0" err="1" smtClean="0"/>
              <a:t>eg</a:t>
            </a:r>
            <a:r>
              <a:rPr lang="en-GB" dirty="0" smtClean="0"/>
              <a:t> </a:t>
            </a:r>
            <a:r>
              <a:rPr lang="en-GB" dirty="0" smtClean="0">
                <a:solidFill>
                  <a:schemeClr val="accent2"/>
                </a:solidFill>
              </a:rPr>
              <a:t>Tom enjoys reading  novels</a:t>
            </a:r>
          </a:p>
          <a:p>
            <a:r>
              <a:rPr lang="en-GB" dirty="0" smtClean="0"/>
              <a:t>Note: No commas separate compound elements (subject, direct object, subjective complement in a simple sentence</a:t>
            </a:r>
          </a:p>
          <a:p>
            <a:r>
              <a:rPr lang="en-GB" b="1" dirty="0" smtClean="0"/>
              <a:t>2. Compound sentence</a:t>
            </a:r>
            <a:r>
              <a:rPr lang="en-GB" dirty="0" smtClean="0"/>
              <a:t>-two independent clauses joined by:</a:t>
            </a:r>
          </a:p>
          <a:p>
            <a:pPr lvl="1">
              <a:buFont typeface="Wingdings" pitchFamily="2" charset="2"/>
              <a:buChar char="v"/>
            </a:pPr>
            <a:r>
              <a:rPr lang="en-GB" dirty="0" smtClean="0"/>
              <a:t> a coordinating conjunction</a:t>
            </a:r>
            <a:r>
              <a:rPr lang="en-GB" i="1" dirty="0" smtClean="0"/>
              <a:t>-</a:t>
            </a:r>
            <a:r>
              <a:rPr lang="en-GB" i="1" dirty="0" smtClean="0">
                <a:solidFill>
                  <a:srgbClr val="00B050"/>
                </a:solidFill>
              </a:rPr>
              <a:t>for,, but, or, yet, so</a:t>
            </a:r>
          </a:p>
          <a:p>
            <a:pPr lvl="1">
              <a:buFont typeface="Wingdings" pitchFamily="2" charset="2"/>
              <a:buChar char="v"/>
            </a:pPr>
            <a:r>
              <a:rPr lang="en-GB" dirty="0" smtClean="0"/>
              <a:t>A conjunctive adverb </a:t>
            </a:r>
            <a:r>
              <a:rPr lang="en-GB" dirty="0" err="1" smtClean="0"/>
              <a:t>eg</a:t>
            </a:r>
            <a:r>
              <a:rPr lang="en-GB" dirty="0" smtClean="0"/>
              <a:t> however, therefore, thus </a:t>
            </a:r>
          </a:p>
          <a:p>
            <a:pPr lvl="1">
              <a:buFont typeface="Wingdings" pitchFamily="2" charset="2"/>
              <a:buChar char="v"/>
            </a:pPr>
            <a:r>
              <a:rPr lang="en-GB" dirty="0" smtClean="0"/>
              <a:t>A semicolon alone</a:t>
            </a:r>
          </a:p>
          <a:p>
            <a:r>
              <a:rPr lang="en-GB" dirty="0" smtClean="0"/>
              <a:t>Example</a:t>
            </a:r>
          </a:p>
          <a:p>
            <a:r>
              <a:rPr lang="en-GB" dirty="0" smtClean="0">
                <a:solidFill>
                  <a:srgbClr val="FF0000"/>
                </a:solidFill>
              </a:rPr>
              <a:t>Tom reads novels, but  </a:t>
            </a:r>
            <a:r>
              <a:rPr lang="en-GB" dirty="0" smtClean="0">
                <a:solidFill>
                  <a:srgbClr val="FF0000"/>
                </a:solidFill>
              </a:rPr>
              <a:t>Jack read </a:t>
            </a:r>
            <a:r>
              <a:rPr lang="en-GB" dirty="0" smtClean="0">
                <a:solidFill>
                  <a:srgbClr val="FF0000"/>
                </a:solidFill>
              </a:rPr>
              <a:t>newspapers </a:t>
            </a:r>
          </a:p>
          <a:p>
            <a:r>
              <a:rPr lang="en-GB" dirty="0" smtClean="0">
                <a:solidFill>
                  <a:srgbClr val="FF0000"/>
                </a:solidFill>
              </a:rPr>
              <a:t>Tom reads novels; however, Jack reads newspapers</a:t>
            </a:r>
          </a:p>
          <a:p>
            <a:r>
              <a:rPr lang="en-GB" dirty="0" smtClean="0">
                <a:solidFill>
                  <a:srgbClr val="FF0000"/>
                </a:solidFill>
              </a:rPr>
              <a:t>Tom reads novels; </a:t>
            </a:r>
            <a:r>
              <a:rPr lang="en-GB" dirty="0" smtClean="0">
                <a:solidFill>
                  <a:srgbClr val="FF0000"/>
                </a:solidFill>
              </a:rPr>
              <a:t>Jack read </a:t>
            </a:r>
            <a:r>
              <a:rPr lang="en-GB" dirty="0" smtClean="0">
                <a:solidFill>
                  <a:srgbClr val="FF0000"/>
                </a:solidFill>
              </a:rPr>
              <a:t>newspapers</a:t>
            </a:r>
          </a:p>
          <a:p>
            <a:endParaRPr lang="en-GB" dirty="0" smtClean="0">
              <a:solidFill>
                <a:srgbClr val="FF0000"/>
              </a:solidFill>
            </a:endParaRPr>
          </a:p>
          <a:p>
            <a:endParaRPr lang="en-GB"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sz="quarter" idx="1"/>
          </p:nvPr>
        </p:nvSpPr>
        <p:spPr/>
        <p:txBody>
          <a:bodyPr/>
          <a:lstStyle/>
          <a:p>
            <a:r>
              <a:rPr lang="en-GB" b="1" dirty="0" smtClean="0"/>
              <a:t>3. Complex sentence</a:t>
            </a:r>
            <a:r>
              <a:rPr lang="en-GB" dirty="0" smtClean="0"/>
              <a:t>-one independent clause (headed by a subordinating </a:t>
            </a:r>
            <a:r>
              <a:rPr lang="en-GB" dirty="0" smtClean="0"/>
              <a:t>conjunction </a:t>
            </a:r>
            <a:r>
              <a:rPr lang="en-GB" dirty="0" smtClean="0"/>
              <a:t>or relative pronoun) joined to an independent clause</a:t>
            </a:r>
          </a:p>
          <a:p>
            <a:r>
              <a:rPr lang="en-GB" dirty="0" smtClean="0">
                <a:solidFill>
                  <a:srgbClr val="FF0000"/>
                </a:solidFill>
              </a:rPr>
              <a:t>Although Tom reads novels</a:t>
            </a:r>
            <a:r>
              <a:rPr lang="en-GB" dirty="0" smtClean="0"/>
              <a:t>, </a:t>
            </a:r>
            <a:r>
              <a:rPr lang="en-GB" dirty="0" smtClean="0">
                <a:solidFill>
                  <a:srgbClr val="00B0F0"/>
                </a:solidFill>
              </a:rPr>
              <a:t>Jack reads newspapers</a:t>
            </a:r>
          </a:p>
          <a:p>
            <a:r>
              <a:rPr lang="en-GB" dirty="0" smtClean="0">
                <a:solidFill>
                  <a:srgbClr val="FF0000"/>
                </a:solidFill>
              </a:rPr>
              <a:t>People </a:t>
            </a:r>
            <a:r>
              <a:rPr lang="en-GB" dirty="0" smtClean="0">
                <a:solidFill>
                  <a:srgbClr val="00B050"/>
                </a:solidFill>
              </a:rPr>
              <a:t>who  read novels</a:t>
            </a:r>
            <a:r>
              <a:rPr lang="en-GB" dirty="0" smtClean="0">
                <a:solidFill>
                  <a:srgbClr val="FF0000"/>
                </a:solidFill>
              </a:rPr>
              <a:t> rarely </a:t>
            </a:r>
            <a:r>
              <a:rPr lang="en-GB" dirty="0" smtClean="0">
                <a:solidFill>
                  <a:srgbClr val="FF0000"/>
                </a:solidFill>
              </a:rPr>
              <a:t>read newspapers</a:t>
            </a:r>
            <a:endParaRPr lang="en-GB" dirty="0" smtClean="0">
              <a:solidFill>
                <a:srgbClr val="FF0000"/>
              </a:solidFill>
            </a:endParaRPr>
          </a:p>
          <a:p>
            <a:r>
              <a:rPr lang="en-GB" dirty="0" smtClean="0">
                <a:solidFill>
                  <a:srgbClr val="FF0000"/>
                </a:solidFill>
              </a:rPr>
              <a:t>Tom, who  read novels,</a:t>
            </a:r>
            <a:r>
              <a:rPr lang="en-GB" dirty="0" smtClean="0"/>
              <a:t>  </a:t>
            </a:r>
            <a:r>
              <a:rPr lang="en-GB" dirty="0" smtClean="0">
                <a:solidFill>
                  <a:srgbClr val="00B0F0"/>
                </a:solidFill>
              </a:rPr>
              <a:t>rarely reads newspapers</a:t>
            </a:r>
          </a:p>
          <a:p>
            <a:r>
              <a:rPr lang="en-GB" b="1" dirty="0" smtClean="0"/>
              <a:t>4. Compound-complex sentence</a:t>
            </a:r>
            <a:r>
              <a:rPr lang="en-GB" dirty="0" smtClean="0"/>
              <a:t>-two independent clauses joined to one or more dependent clauses</a:t>
            </a:r>
          </a:p>
          <a:p>
            <a:r>
              <a:rPr lang="en-GB" dirty="0" smtClean="0"/>
              <a:t>While Tom reads novels,  </a:t>
            </a:r>
            <a:r>
              <a:rPr lang="en-GB" dirty="0" smtClean="0">
                <a:solidFill>
                  <a:srgbClr val="00B050"/>
                </a:solidFill>
              </a:rPr>
              <a:t>Jack only reads newspapers</a:t>
            </a:r>
            <a:r>
              <a:rPr lang="en-GB" dirty="0" smtClean="0"/>
              <a:t>, </a:t>
            </a:r>
            <a:r>
              <a:rPr lang="en-GB" dirty="0" smtClean="0">
                <a:solidFill>
                  <a:srgbClr val="FF0000"/>
                </a:solidFill>
              </a:rPr>
              <a:t>but </a:t>
            </a:r>
            <a:r>
              <a:rPr lang="en-GB" dirty="0" smtClean="0">
                <a:solidFill>
                  <a:srgbClr val="00B050"/>
                </a:solidFill>
              </a:rPr>
              <a:t>Allan only reads magazines</a:t>
            </a:r>
            <a:endParaRPr lang="en-GB" dirty="0" smtClean="0">
              <a:solidFill>
                <a:srgbClr val="00B050"/>
              </a:solidFill>
            </a:endParaRPr>
          </a:p>
          <a:p>
            <a:endParaRPr lang="en-GB"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WordArt 1026"/>
          <p:cNvSpPr>
            <a:spLocks noChangeArrowheads="1" noChangeShapeType="1" noTextEdit="1"/>
          </p:cNvSpPr>
          <p:nvPr/>
        </p:nvSpPr>
        <p:spPr bwMode="auto">
          <a:xfrm>
            <a:off x="381000" y="2971800"/>
            <a:ext cx="6096000" cy="1447800"/>
          </a:xfrm>
          <a:prstGeom prst="rect">
            <a:avLst/>
          </a:prstGeom>
        </p:spPr>
        <p:txBody>
          <a:bodyPr wrap="none" fromWordArt="1">
            <a:prstTxWarp prst="textPlain">
              <a:avLst>
                <a:gd name="adj" fmla="val 50000"/>
              </a:avLst>
            </a:prstTxWarp>
          </a:bodyPr>
          <a:lstStyle/>
          <a:p>
            <a:pPr algn="ctr"/>
            <a:r>
              <a:rPr lang="en-GB" sz="3600" kern="10" spc="-360">
                <a:ln w="12700">
                  <a:solidFill>
                    <a:srgbClr val="000099"/>
                  </a:solidFill>
                  <a:round/>
                  <a:headEnd/>
                  <a:tailEnd/>
                </a:ln>
                <a:solidFill>
                  <a:srgbClr val="33CCFF"/>
                </a:solidFill>
                <a:effectLst>
                  <a:outerShdw dist="125724" dir="18900000" algn="ctr" rotWithShape="0">
                    <a:srgbClr val="000099"/>
                  </a:outerShdw>
                </a:effectLst>
                <a:latin typeface="Impress BT"/>
              </a:rPr>
              <a:t>Writing Paragraphs</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7"/>
          <p:cNvSpPr>
            <a:spLocks noGrp="1" noChangeArrowheads="1"/>
          </p:cNvSpPr>
          <p:nvPr>
            <p:ph type="title"/>
          </p:nvPr>
        </p:nvSpPr>
        <p:spPr/>
        <p:txBody>
          <a:bodyPr/>
          <a:lstStyle/>
          <a:p>
            <a:pPr eaLnBrk="1" hangingPunct="1"/>
            <a:r>
              <a:rPr lang="en-US" smtClean="0"/>
              <a:t>What is a Paragraph?</a:t>
            </a:r>
          </a:p>
        </p:txBody>
      </p:sp>
      <p:sp>
        <p:nvSpPr>
          <p:cNvPr id="2056" name="Rectangle 8"/>
          <p:cNvSpPr>
            <a:spLocks noGrp="1" noChangeArrowheads="1"/>
          </p:cNvSpPr>
          <p:nvPr>
            <p:ph type="body" idx="1"/>
          </p:nvPr>
        </p:nvSpPr>
        <p:spPr/>
        <p:txBody>
          <a:bodyPr/>
          <a:lstStyle/>
          <a:p>
            <a:pPr eaLnBrk="1" hangingPunct="1"/>
            <a:r>
              <a:rPr lang="en-US" dirty="0" smtClean="0"/>
              <a:t>A paragraph is a group of sentences that tells about one subject or idea. </a:t>
            </a:r>
          </a:p>
          <a:p>
            <a:pPr eaLnBrk="1" hangingPunct="1">
              <a:buFontTx/>
              <a:buNone/>
            </a:pPr>
            <a:endParaRPr lang="en-US" dirty="0" smtClean="0"/>
          </a:p>
          <a:p>
            <a:pPr eaLnBrk="1" hangingPunct="1"/>
            <a:r>
              <a:rPr lang="en-US" dirty="0" smtClean="0"/>
              <a:t>Each sentence in a paragraph must give information about the topic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056"/>
                                        </p:tgtEl>
                                        <p:attrNameLst>
                                          <p:attrName>style.visibility</p:attrName>
                                        </p:attrNameLst>
                                      </p:cBhvr>
                                      <p:to>
                                        <p:strVal val="visible"/>
                                      </p:to>
                                    </p:set>
                                    <p:anim calcmode="lin" valueType="num">
                                      <p:cBhvr additive="base">
                                        <p:cTn id="7" dur="500" fill="hold"/>
                                        <p:tgtEl>
                                          <p:spTgt spid="2056"/>
                                        </p:tgtEl>
                                        <p:attrNameLst>
                                          <p:attrName>ppt_x</p:attrName>
                                        </p:attrNameLst>
                                      </p:cBhvr>
                                      <p:tavLst>
                                        <p:tav tm="0">
                                          <p:val>
                                            <p:strVal val="0-#ppt_w/2"/>
                                          </p:val>
                                        </p:tav>
                                        <p:tav tm="100000">
                                          <p:val>
                                            <p:strVal val="#ppt_x"/>
                                          </p:val>
                                        </p:tav>
                                      </p:tavLst>
                                    </p:anim>
                                    <p:anim calcmode="lin" valueType="num">
                                      <p:cBhvr additive="base">
                                        <p:cTn id="8" dur="500" fill="hold"/>
                                        <p:tgtEl>
                                          <p:spTgt spid="205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6"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en-US" smtClean="0"/>
              <a:t>Reasons to Write a Paragraph</a:t>
            </a:r>
          </a:p>
        </p:txBody>
      </p:sp>
      <p:sp>
        <p:nvSpPr>
          <p:cNvPr id="3075" name="Rectangle 3"/>
          <p:cNvSpPr>
            <a:spLocks noGrp="1" noChangeArrowheads="1"/>
          </p:cNvSpPr>
          <p:nvPr>
            <p:ph type="body" idx="1"/>
          </p:nvPr>
        </p:nvSpPr>
        <p:spPr/>
        <p:txBody>
          <a:bodyPr/>
          <a:lstStyle/>
          <a:p>
            <a:pPr eaLnBrk="1" hangingPunct="1"/>
            <a:r>
              <a:rPr lang="en-US" dirty="0" smtClean="0"/>
              <a:t>1. Describe something</a:t>
            </a:r>
          </a:p>
          <a:p>
            <a:pPr eaLnBrk="1" hangingPunct="1"/>
            <a:r>
              <a:rPr lang="en-US" dirty="0" smtClean="0"/>
              <a:t>2. Tell a story</a:t>
            </a:r>
          </a:p>
          <a:p>
            <a:pPr eaLnBrk="1" hangingPunct="1"/>
            <a:r>
              <a:rPr lang="en-US" dirty="0" smtClean="0"/>
              <a:t>3. Explain something</a:t>
            </a:r>
          </a:p>
          <a:p>
            <a:pPr eaLnBrk="1" hangingPunct="1"/>
            <a:r>
              <a:rPr lang="en-US" dirty="0" smtClean="0"/>
              <a:t>4. To Persuade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075">
                                            <p:txEl>
                                              <p:pRg st="0" end="0"/>
                                            </p:txEl>
                                          </p:spTgt>
                                        </p:tgtEl>
                                        <p:attrNameLst>
                                          <p:attrName>style.visibility</p:attrName>
                                        </p:attrNameLst>
                                      </p:cBhvr>
                                      <p:to>
                                        <p:strVal val="visible"/>
                                      </p:to>
                                    </p:set>
                                    <p:anim calcmode="lin" valueType="num">
                                      <p:cBhvr additive="base">
                                        <p:cTn id="7" dur="500" fill="hold"/>
                                        <p:tgtEl>
                                          <p:spTgt spid="3075">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307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3075">
                                            <p:txEl>
                                              <p:pRg st="1" end="1"/>
                                            </p:txEl>
                                          </p:spTgt>
                                        </p:tgtEl>
                                        <p:attrNameLst>
                                          <p:attrName>style.visibility</p:attrName>
                                        </p:attrNameLst>
                                      </p:cBhvr>
                                      <p:to>
                                        <p:strVal val="visible"/>
                                      </p:to>
                                    </p:set>
                                    <p:anim calcmode="lin" valueType="num">
                                      <p:cBhvr additive="base">
                                        <p:cTn id="13" dur="500" fill="hold"/>
                                        <p:tgtEl>
                                          <p:spTgt spid="3075">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307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3075">
                                            <p:txEl>
                                              <p:pRg st="2" end="2"/>
                                            </p:txEl>
                                          </p:spTgt>
                                        </p:tgtEl>
                                        <p:attrNameLst>
                                          <p:attrName>style.visibility</p:attrName>
                                        </p:attrNameLst>
                                      </p:cBhvr>
                                      <p:to>
                                        <p:strVal val="visible"/>
                                      </p:to>
                                    </p:set>
                                    <p:anim calcmode="lin" valueType="num">
                                      <p:cBhvr additive="base">
                                        <p:cTn id="19" dur="500" fill="hold"/>
                                        <p:tgtEl>
                                          <p:spTgt spid="3075">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307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3075">
                                            <p:txEl>
                                              <p:pRg st="3" end="3"/>
                                            </p:txEl>
                                          </p:spTgt>
                                        </p:tgtEl>
                                        <p:attrNameLst>
                                          <p:attrName>style.visibility</p:attrName>
                                        </p:attrNameLst>
                                      </p:cBhvr>
                                      <p:to>
                                        <p:strVal val="visible"/>
                                      </p:to>
                                    </p:set>
                                    <p:anim calcmode="lin" valueType="num">
                                      <p:cBhvr additive="base">
                                        <p:cTn id="25" dur="500" fill="hold"/>
                                        <p:tgtEl>
                                          <p:spTgt spid="3075">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3075">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5" grpId="0" build="p"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Parts of a paragraph</a:t>
            </a:r>
            <a:endParaRPr lang="en-GB" dirty="0"/>
          </a:p>
        </p:txBody>
      </p:sp>
      <p:graphicFrame>
        <p:nvGraphicFramePr>
          <p:cNvPr id="5" name="Content Placeholder 4"/>
          <p:cNvGraphicFramePr>
            <a:graphicFrameLocks noGrp="1"/>
          </p:cNvGraphicFramePr>
          <p:nvPr>
            <p:ph sz="quarter" idx="1"/>
          </p:nvPr>
        </p:nvGraphicFramePr>
        <p:xfrm>
          <a:off x="914400" y="1196752"/>
          <a:ext cx="7772400" cy="53285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pic>
        <p:nvPicPr>
          <p:cNvPr id="4" name="Content Placeholder 3" descr="My mother is neither tall nor heavy, but she’s the biggestperson in my life. There has been no other person with a greater..."/>
          <p:cNvPicPr>
            <a:picLocks noGrp="1"/>
          </p:cNvPicPr>
          <p:nvPr>
            <p:ph sz="quarter" idx="1"/>
          </p:nvPr>
        </p:nvPicPr>
        <p:blipFill>
          <a:blip r:embed="rId2" cstate="print"/>
          <a:srcRect/>
          <a:stretch>
            <a:fillRect/>
          </a:stretch>
        </p:blipFill>
        <p:spPr bwMode="auto">
          <a:xfrm>
            <a:off x="251520" y="548680"/>
            <a:ext cx="8784976" cy="6120680"/>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Qualities of a Good Paragraph</a:t>
            </a:r>
            <a:endParaRPr lang="en-GB" dirty="0"/>
          </a:p>
        </p:txBody>
      </p:sp>
      <p:graphicFrame>
        <p:nvGraphicFramePr>
          <p:cNvPr id="4" name="Content Placeholder 3"/>
          <p:cNvGraphicFramePr>
            <a:graphicFrameLocks noGrp="1"/>
          </p:cNvGraphicFramePr>
          <p:nvPr>
            <p:ph sz="quarter" idx="1"/>
          </p:nvPr>
        </p:nvGraphicFramePr>
        <p:xfrm>
          <a:off x="914400" y="1447800"/>
          <a:ext cx="777240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endParaRPr lang="en-GB" dirty="0"/>
          </a:p>
        </p:txBody>
      </p:sp>
      <p:sp>
        <p:nvSpPr>
          <p:cNvPr id="3" name="Content Placeholder 2"/>
          <p:cNvSpPr>
            <a:spLocks noGrp="1"/>
          </p:cNvSpPr>
          <p:nvPr>
            <p:ph sz="quarter" idx="1"/>
          </p:nvPr>
        </p:nvSpPr>
        <p:spPr/>
        <p:txBody>
          <a:bodyPr>
            <a:normAutofit/>
          </a:bodyPr>
          <a:lstStyle/>
          <a:p>
            <a:pPr lvl="0"/>
            <a:r>
              <a:rPr lang="en-GB" sz="2900" b="1" dirty="0" smtClean="0"/>
              <a:t>1. Unity:</a:t>
            </a:r>
            <a:r>
              <a:rPr lang="en-GB" sz="2900" dirty="0" smtClean="0"/>
              <a:t> </a:t>
            </a:r>
            <a:r>
              <a:rPr lang="en-GB" dirty="0" smtClean="0"/>
              <a:t>all sentences in a paragraph should say about only one main idea (raised in the </a:t>
            </a:r>
            <a:r>
              <a:rPr lang="en-GB" dirty="0" smtClean="0"/>
              <a:t>topic sentence</a:t>
            </a:r>
            <a:r>
              <a:rPr lang="en-GB" dirty="0" smtClean="0"/>
              <a:t>)</a:t>
            </a:r>
            <a:endParaRPr lang="en-GB" dirty="0" smtClean="0"/>
          </a:p>
          <a:p>
            <a:pPr lvl="0"/>
            <a:r>
              <a:rPr lang="en-GB" sz="2900" b="1" dirty="0" smtClean="0"/>
              <a:t>2. Coherence:</a:t>
            </a:r>
            <a:r>
              <a:rPr lang="en-GB" sz="2900" dirty="0" smtClean="0"/>
              <a:t> </a:t>
            </a:r>
            <a:r>
              <a:rPr lang="en-GB" dirty="0" smtClean="0"/>
              <a:t>all supporting sentences should be logically  arranged so that the reader can understand them easily; use transitions (cohesive words)</a:t>
            </a:r>
          </a:p>
          <a:p>
            <a:r>
              <a:rPr lang="en-GB" sz="2900" b="1" dirty="0" smtClean="0"/>
              <a:t>3. Completeness</a:t>
            </a:r>
            <a:r>
              <a:rPr lang="en-GB" sz="2900" dirty="0" smtClean="0"/>
              <a:t>: </a:t>
            </a:r>
            <a:r>
              <a:rPr lang="en-GB" dirty="0" smtClean="0"/>
              <a:t>the supporting sentences should adequately state the main idea </a:t>
            </a:r>
          </a:p>
          <a:p>
            <a:pPr lvl="0"/>
            <a:r>
              <a:rPr lang="en-GB" b="1" dirty="0" smtClean="0"/>
              <a:t>Sentence variety:</a:t>
            </a:r>
            <a:r>
              <a:rPr lang="en-GB" dirty="0" smtClean="0"/>
              <a:t> using variety of sentences in a paragraph length(long/short); type( simple, compound, complex, compound complex)</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STEPS OF PARAGRAPH WRITING</a:t>
            </a:r>
            <a:endParaRPr lang="en-GB" dirty="0"/>
          </a:p>
        </p:txBody>
      </p:sp>
      <p:sp>
        <p:nvSpPr>
          <p:cNvPr id="3" name="Content Placeholder 2"/>
          <p:cNvSpPr>
            <a:spLocks noGrp="1"/>
          </p:cNvSpPr>
          <p:nvPr>
            <p:ph sz="quarter" idx="1"/>
          </p:nvPr>
        </p:nvSpPr>
        <p:spPr/>
        <p:txBody>
          <a:bodyPr/>
          <a:lstStyle/>
          <a:p>
            <a:r>
              <a:rPr lang="en-GB" dirty="0" smtClean="0"/>
              <a:t>There are four main stages in which we have categorized paragraph writing so as to make it a lot easier for you to learn the art. The four stages of writing are:</a:t>
            </a:r>
          </a:p>
          <a:p>
            <a:pPr lvl="0"/>
            <a:r>
              <a:rPr lang="en-GB" dirty="0" smtClean="0"/>
              <a:t>Prewriting </a:t>
            </a:r>
          </a:p>
          <a:p>
            <a:pPr lvl="0"/>
            <a:r>
              <a:rPr lang="en-GB" dirty="0" smtClean="0"/>
              <a:t>Writing the First Draft </a:t>
            </a:r>
          </a:p>
          <a:p>
            <a:pPr lvl="0"/>
            <a:r>
              <a:rPr lang="en-GB" dirty="0" smtClean="0"/>
              <a:t>Editing and Proofreading </a:t>
            </a:r>
          </a:p>
          <a:p>
            <a:pPr lvl="0"/>
            <a:r>
              <a:rPr lang="en-GB" dirty="0" smtClean="0"/>
              <a:t>Writing the Final Copy (Publishing) </a:t>
            </a:r>
          </a:p>
          <a:p>
            <a:endParaRPr lang="en-GB"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METHODS OF PARAGRAPH DEVELOPMENT</a:t>
            </a:r>
            <a:endParaRPr lang="en-GB" dirty="0"/>
          </a:p>
        </p:txBody>
      </p:sp>
      <p:sp>
        <p:nvSpPr>
          <p:cNvPr id="3" name="Content Placeholder 2"/>
          <p:cNvSpPr>
            <a:spLocks noGrp="1"/>
          </p:cNvSpPr>
          <p:nvPr>
            <p:ph sz="quarter" idx="1"/>
          </p:nvPr>
        </p:nvSpPr>
        <p:spPr/>
        <p:txBody>
          <a:bodyPr/>
          <a:lstStyle/>
          <a:p>
            <a:pPr marL="514350" indent="-514350">
              <a:buFont typeface="+mj-lt"/>
              <a:buAutoNum type="arabicPeriod"/>
            </a:pPr>
            <a:r>
              <a:rPr lang="en-GB" b="1" dirty="0" smtClean="0"/>
              <a:t>Narration</a:t>
            </a:r>
          </a:p>
          <a:p>
            <a:pPr marL="514350" indent="-514350">
              <a:buFont typeface="+mj-lt"/>
              <a:buAutoNum type="arabicPeriod"/>
            </a:pPr>
            <a:r>
              <a:rPr lang="en-GB" b="1" dirty="0" smtClean="0"/>
              <a:t> process</a:t>
            </a:r>
          </a:p>
          <a:p>
            <a:pPr marL="514350" indent="-514350">
              <a:buFont typeface="+mj-lt"/>
              <a:buAutoNum type="arabicPeriod"/>
            </a:pPr>
            <a:r>
              <a:rPr lang="en-GB" b="1" dirty="0" smtClean="0"/>
              <a:t>Description</a:t>
            </a:r>
          </a:p>
          <a:p>
            <a:pPr marL="514350" indent="-514350">
              <a:buFont typeface="+mj-lt"/>
              <a:buAutoNum type="arabicPeriod"/>
            </a:pPr>
            <a:r>
              <a:rPr lang="en-GB" b="1" dirty="0" smtClean="0"/>
              <a:t>Illustration</a:t>
            </a:r>
          </a:p>
          <a:p>
            <a:pPr marL="514350" indent="-514350">
              <a:buFont typeface="+mj-lt"/>
              <a:buAutoNum type="arabicPeriod"/>
            </a:pPr>
            <a:r>
              <a:rPr lang="en-GB" b="1" dirty="0" smtClean="0"/>
              <a:t>compare-and-contrast</a:t>
            </a:r>
          </a:p>
          <a:p>
            <a:pPr marL="514350" indent="-514350">
              <a:buFont typeface="+mj-lt"/>
              <a:buAutoNum type="arabicPeriod"/>
            </a:pPr>
            <a:r>
              <a:rPr lang="en-GB" b="1" dirty="0" smtClean="0"/>
              <a:t>cause-and-effect</a:t>
            </a:r>
          </a:p>
          <a:p>
            <a:pPr marL="514350" indent="-514350">
              <a:buFont typeface="+mj-lt"/>
              <a:buAutoNum type="arabicPeriod"/>
            </a:pPr>
            <a:r>
              <a:rPr lang="en-GB" b="1" dirty="0" smtClean="0"/>
              <a:t>definition </a:t>
            </a:r>
          </a:p>
          <a:p>
            <a:pPr marL="514350" indent="-514350">
              <a:buFont typeface="+mj-lt"/>
              <a:buAutoNum type="arabicPeriod"/>
            </a:pPr>
            <a:r>
              <a:rPr lang="en-GB" b="1" dirty="0" smtClean="0"/>
              <a:t>classification</a:t>
            </a:r>
          </a:p>
          <a:p>
            <a:endParaRPr lang="en-GB"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dirty="0"/>
          </a:p>
        </p:txBody>
      </p:sp>
      <p:sp>
        <p:nvSpPr>
          <p:cNvPr id="3" name="Content Placeholder 2"/>
          <p:cNvSpPr>
            <a:spLocks noGrp="1"/>
          </p:cNvSpPr>
          <p:nvPr>
            <p:ph sz="quarter" idx="1"/>
          </p:nvPr>
        </p:nvSpPr>
        <p:spPr/>
        <p:txBody>
          <a:bodyPr>
            <a:normAutofit fontScale="92500" lnSpcReduction="20000"/>
          </a:bodyPr>
          <a:lstStyle/>
          <a:p>
            <a:r>
              <a:rPr lang="en-GB" b="1" dirty="0" smtClean="0"/>
              <a:t>NARRATION PARAGRAPH-are </a:t>
            </a:r>
            <a:r>
              <a:rPr lang="en-GB" dirty="0" smtClean="0"/>
              <a:t>most frequently used in fiction and personal statements.</a:t>
            </a:r>
          </a:p>
          <a:p>
            <a:r>
              <a:rPr lang="en-GB" dirty="0" smtClean="0"/>
              <a:t>Narration describes the passing of time and requires, accounting for sequential order of events and chronology </a:t>
            </a:r>
            <a:r>
              <a:rPr lang="en-GB" dirty="0" err="1" smtClean="0"/>
              <a:t>eg</a:t>
            </a:r>
            <a:r>
              <a:rPr lang="en-GB" dirty="0" smtClean="0"/>
              <a:t>  telling the reader a story. Examples:</a:t>
            </a:r>
          </a:p>
          <a:p>
            <a:r>
              <a:rPr lang="en-GB" dirty="0" smtClean="0"/>
              <a:t>a. </a:t>
            </a:r>
            <a:r>
              <a:rPr lang="en-GB" b="1" dirty="0" smtClean="0"/>
              <a:t>Yesterday, Fatima got up at seven o’clock and took a shower. After that she had breakfast, then rode the bus to work. When she got to work, she checked her email, then discussed the new business plan with her colleagues.</a:t>
            </a:r>
          </a:p>
          <a:p>
            <a:r>
              <a:rPr lang="en-GB" dirty="0" smtClean="0"/>
              <a:t>b. Every Monday after class, Miguel goes to the gym and practices karate for three hours. When he has finished, he goes shopping, then takes the bus home.</a:t>
            </a:r>
          </a:p>
          <a:p>
            <a:endParaRPr lang="en-GB" dirty="0" smtClean="0"/>
          </a:p>
          <a:p>
            <a:endParaRPr lang="en-GB"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sz="quarter" idx="1"/>
          </p:nvPr>
        </p:nvSpPr>
        <p:spPr/>
        <p:txBody>
          <a:bodyPr>
            <a:normAutofit fontScale="85000" lnSpcReduction="20000"/>
          </a:bodyPr>
          <a:lstStyle/>
          <a:p>
            <a:r>
              <a:rPr lang="en-GB" b="1" dirty="0" smtClean="0"/>
              <a:t>2. </a:t>
            </a:r>
            <a:r>
              <a:rPr lang="en-GB" b="1" i="1" dirty="0" smtClean="0"/>
              <a:t>PROCESS</a:t>
            </a:r>
            <a:endParaRPr lang="en-GB" dirty="0" smtClean="0"/>
          </a:p>
          <a:p>
            <a:r>
              <a:rPr lang="en-GB" dirty="0" smtClean="0"/>
              <a:t>Process means putting events in sequential or step-by-step order. In the following examples, notice how each step-by-step process also describes the passing of time.</a:t>
            </a:r>
          </a:p>
          <a:p>
            <a:r>
              <a:rPr lang="en-GB" dirty="0" smtClean="0"/>
              <a:t>a. When making tea, first boil water. Next, put a tea bag into a cup. When the water is boiling, pour the water into the cup. Finally, add milk and sugar as you prefer.</a:t>
            </a:r>
          </a:p>
          <a:p>
            <a:r>
              <a:rPr lang="en-GB" b="1" dirty="0" smtClean="0"/>
              <a:t>3. </a:t>
            </a:r>
            <a:r>
              <a:rPr lang="en-GB" b="1" i="1" dirty="0" smtClean="0"/>
              <a:t>DESCRIPTION</a:t>
            </a:r>
            <a:endParaRPr lang="en-GB" dirty="0" smtClean="0"/>
          </a:p>
          <a:p>
            <a:r>
              <a:rPr lang="en-GB" dirty="0" smtClean="0"/>
              <a:t>Description creates pictures of people, places and things using adjectives and adverbs. Description appeals to the senses: smell, sight, taste, hearing and touch.</a:t>
            </a:r>
          </a:p>
          <a:p>
            <a:r>
              <a:rPr lang="en-GB" dirty="0" smtClean="0"/>
              <a:t>a. Alexander, the keyboard player in the band, is wearing a black leather jacket, faded jeans and red cowboy boots.</a:t>
            </a:r>
          </a:p>
          <a:p>
            <a:r>
              <a:rPr lang="en-GB" dirty="0" smtClean="0"/>
              <a:t>b. The old man lived alone in an old house high on a rugged cliff overlooking a stormy sea.</a:t>
            </a:r>
            <a:endParaRPr lang="en-GB"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sz="quarter" idx="1"/>
          </p:nvPr>
        </p:nvSpPr>
        <p:spPr/>
        <p:txBody>
          <a:bodyPr>
            <a:normAutofit fontScale="92500" lnSpcReduction="10000"/>
          </a:bodyPr>
          <a:lstStyle/>
          <a:p>
            <a:r>
              <a:rPr lang="en-GB" b="1" dirty="0" smtClean="0"/>
              <a:t>4. </a:t>
            </a:r>
            <a:r>
              <a:rPr lang="en-GB" b="1" i="1" dirty="0" smtClean="0"/>
              <a:t>ILLUSTRATION</a:t>
            </a:r>
            <a:endParaRPr lang="en-GB" dirty="0" smtClean="0"/>
          </a:p>
          <a:p>
            <a:r>
              <a:rPr lang="en-GB" dirty="0" smtClean="0"/>
              <a:t>Illustration means example or supporting illustration, </a:t>
            </a:r>
            <a:r>
              <a:rPr lang="en-GB" dirty="0" err="1" smtClean="0"/>
              <a:t>eg</a:t>
            </a:r>
            <a:r>
              <a:rPr lang="en-GB" dirty="0" smtClean="0"/>
              <a:t>:</a:t>
            </a:r>
          </a:p>
          <a:p>
            <a:r>
              <a:rPr lang="en-GB" dirty="0" smtClean="0"/>
              <a:t>a. There are many places to go for a honeymoon. For example, many newlyweds go to Hawaii.</a:t>
            </a:r>
          </a:p>
          <a:p>
            <a:pPr>
              <a:buNone/>
            </a:pPr>
            <a:r>
              <a:rPr lang="en-GB" dirty="0" smtClean="0"/>
              <a:t> </a:t>
            </a:r>
          </a:p>
          <a:p>
            <a:r>
              <a:rPr lang="en-GB" b="1" dirty="0" smtClean="0"/>
              <a:t>5. </a:t>
            </a:r>
            <a:r>
              <a:rPr lang="en-GB" b="1" i="1" dirty="0" smtClean="0"/>
              <a:t>COMPARE-AND-CONTRAST</a:t>
            </a:r>
            <a:endParaRPr lang="en-GB" dirty="0" smtClean="0"/>
          </a:p>
          <a:p>
            <a:r>
              <a:rPr lang="en-GB" dirty="0" smtClean="0"/>
              <a:t>Compare-and-contrast describes the differences and similarities between two or more objects, people or ideas. Compare-and-contrast also describes differences in opinion, for example:</a:t>
            </a:r>
          </a:p>
          <a:p>
            <a:pPr>
              <a:buNone/>
            </a:pPr>
            <a:r>
              <a:rPr lang="en-GB" dirty="0" smtClean="0"/>
              <a:t>	</a:t>
            </a:r>
            <a:r>
              <a:rPr lang="en-GB" dirty="0" smtClean="0">
                <a:solidFill>
                  <a:srgbClr val="FF0000"/>
                </a:solidFill>
              </a:rPr>
              <a:t>Ivan believes that all high school students should wear school uniforms; however, Paula believes that students should have the right to choose what they want to wear.</a:t>
            </a:r>
          </a:p>
          <a:p>
            <a:endParaRPr lang="en-GB"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sz="quarter" idx="1"/>
          </p:nvPr>
        </p:nvSpPr>
        <p:spPr/>
        <p:txBody>
          <a:bodyPr>
            <a:normAutofit fontScale="92500" lnSpcReduction="10000"/>
          </a:bodyPr>
          <a:lstStyle/>
          <a:p>
            <a:r>
              <a:rPr lang="en-GB" b="1" dirty="0" smtClean="0"/>
              <a:t>6. </a:t>
            </a:r>
            <a:r>
              <a:rPr lang="en-GB" b="1" i="1" dirty="0" smtClean="0"/>
              <a:t>CAUSE-AND-EFFECT</a:t>
            </a:r>
            <a:endParaRPr lang="en-GB" dirty="0" smtClean="0"/>
          </a:p>
          <a:p>
            <a:r>
              <a:rPr lang="en-GB" dirty="0" smtClean="0"/>
              <a:t>Cause-and-effect means action and result. We use cause-and-effect to describe an action and the results, or consequences, of that action </a:t>
            </a:r>
            <a:r>
              <a:rPr lang="en-GB" dirty="0" err="1" smtClean="0"/>
              <a:t>eg</a:t>
            </a:r>
            <a:r>
              <a:rPr lang="en-GB" dirty="0" smtClean="0"/>
              <a:t> </a:t>
            </a:r>
          </a:p>
          <a:p>
            <a:r>
              <a:rPr lang="en-GB" dirty="0" smtClean="0">
                <a:solidFill>
                  <a:srgbClr val="FF0000"/>
                </a:solidFill>
              </a:rPr>
              <a:t>Mohammed studied hard and got a high TOEFL score.</a:t>
            </a:r>
          </a:p>
          <a:p>
            <a:pPr>
              <a:buNone/>
            </a:pPr>
            <a:endParaRPr lang="en-GB" dirty="0" smtClean="0"/>
          </a:p>
          <a:p>
            <a:r>
              <a:rPr lang="en-GB" b="1" dirty="0" smtClean="0"/>
              <a:t>7. </a:t>
            </a:r>
            <a:r>
              <a:rPr lang="en-GB" b="1" i="1" dirty="0" smtClean="0"/>
              <a:t>DEFINITION</a:t>
            </a:r>
            <a:endParaRPr lang="en-GB" dirty="0" smtClean="0"/>
          </a:p>
          <a:p>
            <a:r>
              <a:rPr lang="en-GB" dirty="0" smtClean="0"/>
              <a:t>A definition is a detailed description of a person, place, object or idea. The purpose of a definition is to give meaning, </a:t>
            </a:r>
            <a:r>
              <a:rPr lang="en-GB" dirty="0" err="1" smtClean="0"/>
              <a:t>eg</a:t>
            </a:r>
            <a:r>
              <a:rPr lang="en-GB" dirty="0" smtClean="0"/>
              <a:t>:</a:t>
            </a:r>
          </a:p>
          <a:p>
            <a:r>
              <a:rPr lang="en-GB" dirty="0" smtClean="0">
                <a:solidFill>
                  <a:srgbClr val="FF0000"/>
                </a:solidFill>
              </a:rPr>
              <a:t>TOEFL is an English language proficiency test developed and implemented by Educational Testing Services (ETS) located in Princeton, New Jersey.</a:t>
            </a:r>
          </a:p>
          <a:p>
            <a:endParaRPr lang="en-GB"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sz="quarter" idx="1"/>
          </p:nvPr>
        </p:nvSpPr>
        <p:spPr/>
        <p:txBody>
          <a:bodyPr>
            <a:normAutofit fontScale="92500" lnSpcReduction="20000"/>
          </a:bodyPr>
          <a:lstStyle/>
          <a:p>
            <a:r>
              <a:rPr lang="en-GB" b="1" dirty="0" smtClean="0"/>
              <a:t>8. </a:t>
            </a:r>
            <a:r>
              <a:rPr lang="en-GB" b="1" i="1" dirty="0" smtClean="0"/>
              <a:t>CLASSIFICATION</a:t>
            </a:r>
            <a:endParaRPr lang="en-GB" dirty="0" smtClean="0"/>
          </a:p>
          <a:p>
            <a:r>
              <a:rPr lang="en-GB" dirty="0" smtClean="0"/>
              <a:t>To classify means to put people, things or ideas into sub groups under a main topic, for example:</a:t>
            </a:r>
          </a:p>
          <a:p>
            <a:r>
              <a:rPr lang="en-GB" dirty="0" smtClean="0"/>
              <a:t>a. </a:t>
            </a:r>
            <a:r>
              <a:rPr lang="en-GB" dirty="0" smtClean="0">
                <a:solidFill>
                  <a:srgbClr val="FF0000"/>
                </a:solidFill>
              </a:rPr>
              <a:t>There are three kinds of wine: red, white and rosé.</a:t>
            </a:r>
          </a:p>
          <a:p>
            <a:r>
              <a:rPr lang="en-GB" dirty="0" smtClean="0">
                <a:solidFill>
                  <a:srgbClr val="FF0000"/>
                </a:solidFill>
              </a:rPr>
              <a:t>b. TOEFL, TOEIC and IELTS are English language proficiency tests.</a:t>
            </a:r>
          </a:p>
          <a:p>
            <a:r>
              <a:rPr lang="en-GB" b="1" i="1" dirty="0" smtClean="0"/>
              <a:t>9. ANALOGY</a:t>
            </a:r>
            <a:endParaRPr lang="en-GB" dirty="0" smtClean="0"/>
          </a:p>
          <a:p>
            <a:r>
              <a:rPr lang="en-GB" dirty="0" smtClean="0"/>
              <a:t>Analogy provides a method of comparing a subject to something else familiar to the audience. It gives examples of similar circumstances/conditions/contexts/concepts, for example:                    a. </a:t>
            </a:r>
            <a:r>
              <a:rPr lang="en-GB" dirty="0" smtClean="0">
                <a:solidFill>
                  <a:srgbClr val="FF0000"/>
                </a:solidFill>
              </a:rPr>
              <a:t>For an employee, Eliminating from work is similar to losing a limb.                                                                       </a:t>
            </a:r>
          </a:p>
          <a:p>
            <a:r>
              <a:rPr lang="en-GB" dirty="0" smtClean="0">
                <a:solidFill>
                  <a:srgbClr val="FF0000"/>
                </a:solidFill>
              </a:rPr>
              <a:t>c. Life is like a ladder – while one goes up, the other goes down.</a:t>
            </a:r>
          </a:p>
          <a:p>
            <a:endParaRPr lang="en-GB"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TYPES OF PARAGRAPH</a:t>
            </a:r>
            <a:endParaRPr lang="en-GB" dirty="0"/>
          </a:p>
        </p:txBody>
      </p:sp>
      <p:sp>
        <p:nvSpPr>
          <p:cNvPr id="3" name="Content Placeholder 2"/>
          <p:cNvSpPr>
            <a:spLocks noGrp="1"/>
          </p:cNvSpPr>
          <p:nvPr>
            <p:ph sz="quarter" idx="1"/>
          </p:nvPr>
        </p:nvSpPr>
        <p:spPr/>
        <p:txBody>
          <a:bodyPr/>
          <a:lstStyle/>
          <a:p>
            <a:r>
              <a:rPr lang="en-US" dirty="0" smtClean="0"/>
              <a:t>There are many types of paragraphs. These are:  </a:t>
            </a:r>
            <a:endParaRPr lang="en-US" dirty="0" smtClean="0"/>
          </a:p>
          <a:p>
            <a:pPr lvl="1"/>
            <a:r>
              <a:rPr lang="en-US" dirty="0" smtClean="0"/>
              <a:t>Expository </a:t>
            </a:r>
          </a:p>
          <a:p>
            <a:pPr lvl="1"/>
            <a:r>
              <a:rPr lang="en-US" dirty="0" smtClean="0"/>
              <a:t>descriptive </a:t>
            </a:r>
          </a:p>
          <a:p>
            <a:pPr lvl="1"/>
            <a:r>
              <a:rPr lang="en-US" dirty="0" smtClean="0"/>
              <a:t>Narrative </a:t>
            </a:r>
          </a:p>
          <a:p>
            <a:pPr lvl="1"/>
            <a:r>
              <a:rPr lang="en-US" dirty="0" smtClean="0"/>
              <a:t>Definition </a:t>
            </a:r>
          </a:p>
          <a:p>
            <a:pPr lvl="1"/>
            <a:r>
              <a:rPr lang="en-US" dirty="0" smtClean="0"/>
              <a:t>argumentative </a:t>
            </a:r>
            <a:endParaRPr lang="en-GB" b="1" dirty="0" smtClean="0"/>
          </a:p>
          <a:p>
            <a:endParaRPr lang="en-GB"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dirty="0"/>
          </a:p>
        </p:txBody>
      </p:sp>
      <p:sp>
        <p:nvSpPr>
          <p:cNvPr id="3" name="Content Placeholder 2"/>
          <p:cNvSpPr>
            <a:spLocks noGrp="1"/>
          </p:cNvSpPr>
          <p:nvPr>
            <p:ph sz="quarter" idx="1"/>
          </p:nvPr>
        </p:nvSpPr>
        <p:spPr/>
        <p:txBody>
          <a:bodyPr/>
          <a:lstStyle/>
          <a:p>
            <a:endParaRPr lang="en-GB" dirty="0" smtClean="0"/>
          </a:p>
          <a:p>
            <a:endParaRPr lang="en-GB" dirty="0"/>
          </a:p>
        </p:txBody>
      </p:sp>
      <p:pic>
        <p:nvPicPr>
          <p:cNvPr id="4" name="Picture 3" descr="NARRATION PARAGRAPH• are most frequently used in fictionand personal statements.• Requires consequently, accountingfor seq..."/>
          <p:cNvPicPr/>
          <p:nvPr/>
        </p:nvPicPr>
        <p:blipFill>
          <a:blip r:embed="rId2" cstate="print"/>
          <a:srcRect/>
          <a:stretch>
            <a:fillRect/>
          </a:stretch>
        </p:blipFill>
        <p:spPr bwMode="auto">
          <a:xfrm>
            <a:off x="971600" y="1268760"/>
            <a:ext cx="6783526" cy="4944582"/>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sz="quarter" idx="1"/>
          </p:nvPr>
        </p:nvSpPr>
        <p:spPr/>
        <p:txBody>
          <a:bodyPr/>
          <a:lstStyle/>
          <a:p>
            <a:r>
              <a:rPr lang="en-GB" b="1" dirty="0" smtClean="0"/>
              <a:t>Method of  narrative Paragraph  Development</a:t>
            </a:r>
            <a:endParaRPr lang="en-GB" dirty="0" smtClean="0"/>
          </a:p>
          <a:p>
            <a:r>
              <a:rPr lang="en-GB" dirty="0" smtClean="0"/>
              <a:t>-The topic sentence in narrative paragraph sets the scene, captures the reader’s attention or sets the story in motion. </a:t>
            </a:r>
          </a:p>
          <a:p>
            <a:r>
              <a:rPr lang="en-GB" dirty="0" smtClean="0"/>
              <a:t>- The supporting sentences then </a:t>
            </a:r>
            <a:r>
              <a:rPr lang="en-GB" u="sng" dirty="0" smtClean="0"/>
              <a:t>tell the story.</a:t>
            </a:r>
            <a:r>
              <a:rPr lang="en-GB" dirty="0" smtClean="0"/>
              <a:t> – these are events that make up the story.</a:t>
            </a:r>
          </a:p>
          <a:p>
            <a:r>
              <a:rPr lang="en-GB" dirty="0" smtClean="0"/>
              <a:t>- The concluding sentence gives </a:t>
            </a:r>
            <a:r>
              <a:rPr lang="en-GB" u="sng" dirty="0" smtClean="0"/>
              <a:t>the outcome</a:t>
            </a:r>
            <a:r>
              <a:rPr lang="en-GB" dirty="0" smtClean="0"/>
              <a:t> of the story.</a:t>
            </a:r>
          </a:p>
          <a:p>
            <a:endParaRPr lang="en-GB"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sz="quarter" idx="1"/>
          </p:nvPr>
        </p:nvSpPr>
        <p:spPr/>
        <p:txBody>
          <a:bodyPr>
            <a:normAutofit fontScale="85000" lnSpcReduction="20000"/>
          </a:bodyPr>
          <a:lstStyle/>
          <a:p>
            <a:r>
              <a:rPr lang="en-GB" b="1" dirty="0" smtClean="0"/>
              <a:t>Paragraph Organization Method</a:t>
            </a:r>
            <a:endParaRPr lang="en-GB" dirty="0" smtClean="0"/>
          </a:p>
          <a:p>
            <a:r>
              <a:rPr lang="en-GB" dirty="0" smtClean="0"/>
              <a:t>Use of </a:t>
            </a:r>
            <a:r>
              <a:rPr lang="en-GB" b="1" i="1" dirty="0" smtClean="0"/>
              <a:t>ch</a:t>
            </a:r>
            <a:r>
              <a:rPr lang="en-GB" b="1" i="1" u="sng" dirty="0" smtClean="0"/>
              <a:t>ronological</a:t>
            </a:r>
            <a:r>
              <a:rPr lang="en-GB" b="1" i="1" dirty="0" smtClean="0"/>
              <a:t> order</a:t>
            </a:r>
            <a:r>
              <a:rPr lang="en-GB" dirty="0" smtClean="0"/>
              <a:t> and </a:t>
            </a:r>
            <a:r>
              <a:rPr lang="en-GB" u="sng" dirty="0" smtClean="0"/>
              <a:t>transitions</a:t>
            </a:r>
            <a:r>
              <a:rPr lang="en-GB" dirty="0" smtClean="0"/>
              <a:t> to organize your narrative.</a:t>
            </a:r>
          </a:p>
          <a:p>
            <a:r>
              <a:rPr lang="en-GB" dirty="0" smtClean="0"/>
              <a:t>-The events that make up the story are usually presented in the order in which they happened. (This is called chronological order.)</a:t>
            </a:r>
          </a:p>
          <a:p>
            <a:r>
              <a:rPr lang="en-GB" dirty="0" smtClean="0"/>
              <a:t>- Writers use transition words and phrases to help readers understand the time order of events.</a:t>
            </a:r>
          </a:p>
          <a:p>
            <a:r>
              <a:rPr lang="en-GB" b="1" dirty="0" smtClean="0"/>
              <a:t>Choose point of view</a:t>
            </a:r>
            <a:r>
              <a:rPr lang="en-GB" dirty="0" smtClean="0"/>
              <a:t>- the person whose “voice” is telling the story in the narrative writing is called the narrator.</a:t>
            </a:r>
          </a:p>
          <a:p>
            <a:r>
              <a:rPr lang="en-GB" dirty="0" smtClean="0"/>
              <a:t>It can be the first  or third person narrator.</a:t>
            </a:r>
          </a:p>
          <a:p>
            <a:pPr lvl="0"/>
            <a:r>
              <a:rPr lang="en-GB" dirty="0" smtClean="0"/>
              <a:t>Use first person point of view if you are a character in the story.</a:t>
            </a:r>
          </a:p>
          <a:p>
            <a:pPr lvl="0"/>
            <a:r>
              <a:rPr lang="en-GB" dirty="0" smtClean="0"/>
              <a:t>Use third person point of view if you are reporting what happened to others.</a:t>
            </a:r>
          </a:p>
          <a:p>
            <a:r>
              <a:rPr lang="en-GB" b="1" dirty="0" smtClean="0"/>
              <a:t>Tense </a:t>
            </a:r>
            <a:endParaRPr lang="en-GB" dirty="0" smtClean="0"/>
          </a:p>
          <a:p>
            <a:r>
              <a:rPr lang="en-GB" dirty="0" smtClean="0"/>
              <a:t>Usually past simple tense is used</a:t>
            </a:r>
          </a:p>
          <a:p>
            <a:endParaRPr lang="en-GB"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b="1" dirty="0" smtClean="0"/>
              <a:t>Expository Paragraph</a:t>
            </a:r>
            <a:endParaRPr lang="en-GB" dirty="0"/>
          </a:p>
        </p:txBody>
      </p:sp>
      <p:sp>
        <p:nvSpPr>
          <p:cNvPr id="3" name="Content Placeholder 2"/>
          <p:cNvSpPr>
            <a:spLocks noGrp="1"/>
          </p:cNvSpPr>
          <p:nvPr>
            <p:ph sz="quarter" idx="1"/>
          </p:nvPr>
        </p:nvSpPr>
        <p:spPr/>
        <p:txBody>
          <a:bodyPr/>
          <a:lstStyle/>
          <a:p>
            <a:pPr lvl="0"/>
            <a:r>
              <a:rPr lang="en-GB" dirty="0" smtClean="0"/>
              <a:t>explains or informs ideas, object or phenomenon.</a:t>
            </a:r>
          </a:p>
          <a:p>
            <a:r>
              <a:rPr lang="en-GB" dirty="0" smtClean="0"/>
              <a:t>It explains, analyzes, defines, compare and illustrate. It answers questions like What? Why? How? What was the cause? The effect? Like what? Unlike what? It is also the kind of paragraph we write in reports or term papers or tests.</a:t>
            </a:r>
          </a:p>
          <a:p>
            <a:pPr lvl="0"/>
            <a:r>
              <a:rPr lang="en-GB" dirty="0" smtClean="0"/>
              <a:t>It can list facts, show cause and effect, compare and contrast, explain instructions/processes or gives sets of directions.</a:t>
            </a:r>
          </a:p>
          <a:p>
            <a:pPr lvl="0"/>
            <a:r>
              <a:rPr lang="en-GB" dirty="0" smtClean="0"/>
              <a:t>Examples of expository paragraph</a:t>
            </a:r>
          </a:p>
          <a:p>
            <a:endParaRPr lang="en-GB"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sz="quarter" idx="1"/>
          </p:nvPr>
        </p:nvSpPr>
        <p:spPr/>
        <p:txBody>
          <a:bodyPr>
            <a:normAutofit fontScale="70000" lnSpcReduction="20000"/>
          </a:bodyPr>
          <a:lstStyle/>
          <a:p>
            <a:r>
              <a:rPr lang="en-GB" dirty="0" smtClean="0"/>
              <a:t>1.   Topic sentence:           Rehearsing an orchestra is a painstaking process.</a:t>
            </a:r>
          </a:p>
          <a:p>
            <a:r>
              <a:rPr lang="en-GB" dirty="0" smtClean="0"/>
              <a:t>        Question raised:         What is this process?</a:t>
            </a:r>
          </a:p>
          <a:p>
            <a:r>
              <a:rPr lang="en-GB" dirty="0" smtClean="0"/>
              <a:t>        Way to explain:           Steps in a process</a:t>
            </a:r>
          </a:p>
          <a:p>
            <a:pPr lvl="0"/>
            <a:r>
              <a:rPr lang="en-GB" dirty="0" smtClean="0"/>
              <a:t>Topic sentence:       Every symphony orchestra has four main groups of musical </a:t>
            </a:r>
          </a:p>
          <a:p>
            <a:r>
              <a:rPr lang="en-GB" dirty="0" smtClean="0"/>
              <a:t>                                         instruments.</a:t>
            </a:r>
          </a:p>
          <a:p>
            <a:r>
              <a:rPr lang="en-GB" dirty="0" smtClean="0"/>
              <a:t>         Question raised:    What are the four groups?</a:t>
            </a:r>
          </a:p>
          <a:p>
            <a:r>
              <a:rPr lang="en-GB" dirty="0" smtClean="0"/>
              <a:t>         Way to explain:      Analysis</a:t>
            </a:r>
          </a:p>
          <a:p>
            <a:r>
              <a:rPr lang="en-GB" dirty="0" smtClean="0"/>
              <a:t>3.    Topic sentence:       There are many different types of plants.</a:t>
            </a:r>
          </a:p>
          <a:p>
            <a:r>
              <a:rPr lang="en-GB" dirty="0" smtClean="0"/>
              <a:t>        Question raised:     What makes one type different from the other?</a:t>
            </a:r>
          </a:p>
          <a:p>
            <a:r>
              <a:rPr lang="en-GB" dirty="0" smtClean="0"/>
              <a:t>         Way to explain:      Classification</a:t>
            </a:r>
          </a:p>
          <a:p>
            <a:r>
              <a:rPr lang="en-GB" dirty="0" smtClean="0"/>
              <a:t>Based on these, we can use the following methods of paragraph development.</a:t>
            </a:r>
          </a:p>
          <a:p>
            <a:pPr lvl="0"/>
            <a:r>
              <a:rPr lang="en-GB" dirty="0" smtClean="0"/>
              <a:t>Facts and examples(exemplification or illustration)</a:t>
            </a:r>
          </a:p>
          <a:p>
            <a:pPr lvl="0"/>
            <a:r>
              <a:rPr lang="en-GB" dirty="0" smtClean="0"/>
              <a:t>Steps in a process</a:t>
            </a:r>
          </a:p>
          <a:p>
            <a:pPr lvl="0"/>
            <a:r>
              <a:rPr lang="en-GB" dirty="0" smtClean="0"/>
              <a:t>Set of directions</a:t>
            </a:r>
          </a:p>
          <a:p>
            <a:pPr lvl="0"/>
            <a:r>
              <a:rPr lang="en-GB" dirty="0" smtClean="0"/>
              <a:t>Definition</a:t>
            </a:r>
          </a:p>
          <a:p>
            <a:endParaRPr lang="en-GB"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GB" b="1" dirty="0" smtClean="0"/>
              <a:t>Descriptive Paragraph</a:t>
            </a:r>
            <a:endParaRPr lang="en-GB" dirty="0"/>
          </a:p>
        </p:txBody>
      </p:sp>
      <p:sp>
        <p:nvSpPr>
          <p:cNvPr id="3" name="Content Placeholder 2"/>
          <p:cNvSpPr>
            <a:spLocks noGrp="1"/>
          </p:cNvSpPr>
          <p:nvPr>
            <p:ph sz="quarter" idx="1"/>
          </p:nvPr>
        </p:nvSpPr>
        <p:spPr/>
        <p:txBody>
          <a:bodyPr>
            <a:normAutofit fontScale="77500" lnSpcReduction="20000"/>
          </a:bodyPr>
          <a:lstStyle/>
          <a:p>
            <a:r>
              <a:rPr lang="en-GB" dirty="0" smtClean="0"/>
              <a:t>A descriptive paragraph paints </a:t>
            </a:r>
            <a:r>
              <a:rPr lang="en-GB" i="1" dirty="0" smtClean="0"/>
              <a:t>a vivid picture</a:t>
            </a:r>
            <a:r>
              <a:rPr lang="en-GB" dirty="0" smtClean="0"/>
              <a:t> of a person, an object or a scene</a:t>
            </a:r>
          </a:p>
          <a:p>
            <a:r>
              <a:rPr lang="en-GB" dirty="0" smtClean="0"/>
              <a:t>Types of Description</a:t>
            </a:r>
          </a:p>
          <a:p>
            <a:pPr lvl="0"/>
            <a:r>
              <a:rPr lang="en-GB" b="1" i="1" dirty="0" smtClean="0"/>
              <a:t>Objective</a:t>
            </a:r>
            <a:r>
              <a:rPr lang="en-GB" dirty="0" smtClean="0"/>
              <a:t> – reports accurate appearance of the thing being described /without writers impression/</a:t>
            </a:r>
          </a:p>
          <a:p>
            <a:pPr lvl="0"/>
            <a:r>
              <a:rPr lang="en-GB" b="1" i="1" dirty="0" smtClean="0"/>
              <a:t>Impressionistic </a:t>
            </a:r>
            <a:r>
              <a:rPr lang="en-GB" dirty="0" smtClean="0"/>
              <a:t>- the writer adds his/her own feeling, opinion and impression.</a:t>
            </a:r>
          </a:p>
          <a:p>
            <a:r>
              <a:rPr lang="en-GB" dirty="0" smtClean="0"/>
              <a:t>        The impression can be either +</a:t>
            </a:r>
            <a:r>
              <a:rPr lang="en-GB" dirty="0" err="1" smtClean="0"/>
              <a:t>ve</a:t>
            </a:r>
            <a:r>
              <a:rPr lang="en-GB" dirty="0" smtClean="0"/>
              <a:t> or -</a:t>
            </a:r>
            <a:r>
              <a:rPr lang="en-GB" dirty="0" err="1" smtClean="0"/>
              <a:t>ve</a:t>
            </a:r>
            <a:r>
              <a:rPr lang="en-GB" dirty="0" smtClean="0"/>
              <a:t>  </a:t>
            </a:r>
          </a:p>
          <a:p>
            <a:r>
              <a:rPr lang="en-GB" dirty="0" smtClean="0"/>
              <a:t>      +</a:t>
            </a:r>
            <a:r>
              <a:rPr lang="en-GB" dirty="0" err="1" smtClean="0"/>
              <a:t>ve</a:t>
            </a:r>
            <a:r>
              <a:rPr lang="en-GB" dirty="0" smtClean="0"/>
              <a:t> overall impression </a:t>
            </a:r>
            <a:r>
              <a:rPr lang="en-GB" dirty="0" err="1" smtClean="0"/>
              <a:t>eg</a:t>
            </a:r>
            <a:r>
              <a:rPr lang="en-GB" dirty="0" smtClean="0"/>
              <a:t> The sun glowed outside, inviting everyone indoors to leave what they were doing.</a:t>
            </a:r>
          </a:p>
          <a:p>
            <a:r>
              <a:rPr lang="en-GB" dirty="0" smtClean="0"/>
              <a:t>-</a:t>
            </a:r>
            <a:r>
              <a:rPr lang="en-GB" dirty="0" err="1" smtClean="0"/>
              <a:t>ve</a:t>
            </a:r>
            <a:r>
              <a:rPr lang="en-GB" dirty="0" smtClean="0"/>
              <a:t> overall impression  </a:t>
            </a:r>
            <a:r>
              <a:rPr lang="en-GB" dirty="0" err="1" smtClean="0"/>
              <a:t>eg</a:t>
            </a:r>
            <a:r>
              <a:rPr lang="en-GB" dirty="0" smtClean="0"/>
              <a:t> The sun fell in burning streaks though the trees, disturbing all who had no choice but to be in the streets.</a:t>
            </a:r>
          </a:p>
          <a:p>
            <a:r>
              <a:rPr lang="en-GB" dirty="0" smtClean="0"/>
              <a:t>The topic sentence of a descriptive paragraph will depend on the writer’s overall impression of the subject.</a:t>
            </a:r>
          </a:p>
          <a:p>
            <a:r>
              <a:rPr lang="en-GB" b="1" i="1" dirty="0" smtClean="0"/>
              <a:t>C. Scientific </a:t>
            </a:r>
            <a:r>
              <a:rPr lang="en-GB" dirty="0" smtClean="0"/>
              <a:t>- characterized by its objectivity, clarity and precision.</a:t>
            </a:r>
          </a:p>
          <a:p>
            <a:endParaRPr lang="en-GB"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sz="quarter" idx="1"/>
          </p:nvPr>
        </p:nvSpPr>
        <p:spPr/>
        <p:txBody>
          <a:bodyPr/>
          <a:lstStyle/>
          <a:p>
            <a:r>
              <a:rPr lang="en-GB" b="1" dirty="0" smtClean="0"/>
              <a:t>Methods of  descriptive paragraph   Development</a:t>
            </a:r>
            <a:endParaRPr lang="en-GB" dirty="0" smtClean="0"/>
          </a:p>
          <a:p>
            <a:pPr lvl="0"/>
            <a:r>
              <a:rPr lang="en-GB" dirty="0" smtClean="0"/>
              <a:t>Sensory details and figurative language</a:t>
            </a:r>
          </a:p>
          <a:p>
            <a:pPr lvl="0"/>
            <a:r>
              <a:rPr lang="en-GB" dirty="0" smtClean="0"/>
              <a:t>Spatial order</a:t>
            </a:r>
          </a:p>
          <a:p>
            <a:pPr lvl="0"/>
            <a:r>
              <a:rPr lang="en-GB" dirty="0" smtClean="0"/>
              <a:t>Compare and contrast (if you are describing two cars)</a:t>
            </a:r>
          </a:p>
          <a:p>
            <a:r>
              <a:rPr lang="en-GB" dirty="0" smtClean="0"/>
              <a:t>Examples of Descriptive Paragraph </a:t>
            </a:r>
          </a:p>
          <a:p>
            <a:r>
              <a:rPr lang="en-GB" dirty="0" smtClean="0"/>
              <a:t>☺ Describing a person</a:t>
            </a:r>
          </a:p>
          <a:p>
            <a:r>
              <a:rPr lang="en-GB" dirty="0" smtClean="0"/>
              <a:t> ☺ Describing a scene (place)</a:t>
            </a:r>
            <a:endParaRPr lang="en-GB"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GB" b="1" dirty="0" smtClean="0"/>
              <a:t>Argumentative Paragraph</a:t>
            </a:r>
            <a:endParaRPr lang="en-GB" dirty="0"/>
          </a:p>
        </p:txBody>
      </p:sp>
      <p:sp>
        <p:nvSpPr>
          <p:cNvPr id="3" name="Content Placeholder 2"/>
          <p:cNvSpPr>
            <a:spLocks noGrp="1"/>
          </p:cNvSpPr>
          <p:nvPr>
            <p:ph sz="quarter" idx="1"/>
          </p:nvPr>
        </p:nvSpPr>
        <p:spPr/>
        <p:txBody>
          <a:bodyPr>
            <a:normAutofit fontScale="85000" lnSpcReduction="20000"/>
          </a:bodyPr>
          <a:lstStyle/>
          <a:p>
            <a:r>
              <a:rPr lang="en-GB" dirty="0" smtClean="0"/>
              <a:t>An argumentative paragraph states an opinion and uses facts, examples, reasons, and the opinions of expects to convince readers.</a:t>
            </a:r>
          </a:p>
          <a:p>
            <a:r>
              <a:rPr lang="en-GB" dirty="0" smtClean="0"/>
              <a:t>- Purpose of argumentative writing is to share your view to readers (to convert the reader to writer’s way of thinking).</a:t>
            </a:r>
          </a:p>
          <a:p>
            <a:r>
              <a:rPr lang="en-GB" dirty="0" smtClean="0"/>
              <a:t>     - The challenge of persuasive writing is to win your readers over to your way of thinking.</a:t>
            </a:r>
          </a:p>
          <a:p>
            <a:r>
              <a:rPr lang="en-GB" b="1" dirty="0" smtClean="0"/>
              <a:t>                        Argumentative  Paragraph Development Method</a:t>
            </a:r>
            <a:endParaRPr lang="en-GB" dirty="0" smtClean="0"/>
          </a:p>
          <a:p>
            <a:r>
              <a:rPr lang="en-GB" dirty="0" smtClean="0"/>
              <a:t>The topic sentence in an argumentative paragraph asserts opinion, not fact. The supporting sentences back up the opinion. The most reliable kinds of support are:</a:t>
            </a:r>
          </a:p>
          <a:p>
            <a:r>
              <a:rPr lang="en-GB" dirty="0" smtClean="0"/>
              <a:t>                        -facts</a:t>
            </a:r>
          </a:p>
          <a:p>
            <a:r>
              <a:rPr lang="en-GB" dirty="0" smtClean="0"/>
              <a:t>                       -example</a:t>
            </a:r>
          </a:p>
          <a:p>
            <a:r>
              <a:rPr lang="en-GB" dirty="0" smtClean="0"/>
              <a:t>                       -reasons</a:t>
            </a:r>
          </a:p>
          <a:p>
            <a:r>
              <a:rPr lang="en-GB" dirty="0" smtClean="0"/>
              <a:t>                       -experts ‘opinion on the subject</a:t>
            </a:r>
          </a:p>
          <a:p>
            <a:endParaRPr lang="en-GB"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ESSAY WRITING</a:t>
            </a:r>
            <a:endParaRPr lang="en-GB" dirty="0"/>
          </a:p>
        </p:txBody>
      </p:sp>
      <p:sp>
        <p:nvSpPr>
          <p:cNvPr id="3" name="Content Placeholder 2"/>
          <p:cNvSpPr>
            <a:spLocks noGrp="1"/>
          </p:cNvSpPr>
          <p:nvPr>
            <p:ph sz="quarter" idx="1"/>
          </p:nvPr>
        </p:nvSpPr>
        <p:spPr/>
        <p:txBody>
          <a:bodyPr>
            <a:normAutofit/>
          </a:bodyPr>
          <a:lstStyle/>
          <a:p>
            <a:r>
              <a:rPr lang="en-GB" dirty="0" smtClean="0"/>
              <a:t>What is an essay?</a:t>
            </a:r>
          </a:p>
          <a:p>
            <a:pPr lvl="1"/>
            <a:r>
              <a:rPr lang="en-GB" dirty="0" smtClean="0"/>
              <a:t>is a relatively short composition.</a:t>
            </a:r>
          </a:p>
          <a:p>
            <a:pPr lvl="1"/>
            <a:r>
              <a:rPr lang="en-GB" dirty="0" smtClean="0"/>
              <a:t> a group of paragraphs that presents one main idea.</a:t>
            </a:r>
          </a:p>
          <a:p>
            <a:r>
              <a:rPr lang="en-US" b="1" i="1" dirty="0" smtClean="0"/>
              <a:t>Sections (structure) of an essay</a:t>
            </a:r>
            <a:endParaRPr lang="en-GB" b="1" dirty="0" smtClean="0"/>
          </a:p>
          <a:p>
            <a:r>
              <a:rPr lang="en-GB" dirty="0" smtClean="0"/>
              <a:t>A well-written essay has three major parts: </a:t>
            </a:r>
          </a:p>
          <a:p>
            <a:pPr lvl="0"/>
            <a:r>
              <a:rPr lang="en-GB" dirty="0" smtClean="0"/>
              <a:t>introductory paragraph </a:t>
            </a:r>
          </a:p>
          <a:p>
            <a:pPr lvl="0"/>
            <a:r>
              <a:rPr lang="en-GB" dirty="0" smtClean="0"/>
              <a:t>body of paragraphs and </a:t>
            </a:r>
          </a:p>
          <a:p>
            <a:pPr lvl="0"/>
            <a:r>
              <a:rPr lang="en-GB" dirty="0" smtClean="0"/>
              <a:t>concluding paragraph. </a:t>
            </a:r>
          </a:p>
          <a:p>
            <a:endParaRPr lang="en-GB"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sz="quarter" idx="1"/>
          </p:nvPr>
        </p:nvSpPr>
        <p:spPr/>
        <p:txBody>
          <a:bodyPr/>
          <a:lstStyle/>
          <a:p>
            <a:pPr lvl="0"/>
            <a:r>
              <a:rPr lang="en-GB" b="1" dirty="0" smtClean="0"/>
              <a:t>Introductory paragraph </a:t>
            </a:r>
            <a:endParaRPr lang="en-GB" dirty="0" smtClean="0"/>
          </a:p>
          <a:p>
            <a:r>
              <a:rPr lang="en-GB" dirty="0" smtClean="0"/>
              <a:t>  The purpose of the introduction is to let the reader know</a:t>
            </a:r>
          </a:p>
          <a:p>
            <a:r>
              <a:rPr lang="en-GB" dirty="0" smtClean="0"/>
              <a:t>     a) The topic</a:t>
            </a:r>
          </a:p>
          <a:p>
            <a:r>
              <a:rPr lang="en-GB" dirty="0" smtClean="0"/>
              <a:t>     b) The aspect of the topic being dealt with</a:t>
            </a:r>
          </a:p>
          <a:p>
            <a:r>
              <a:rPr lang="en-GB" dirty="0" smtClean="0"/>
              <a:t>     c)  The stand (attitude) taken by the writer to the topic.</a:t>
            </a:r>
          </a:p>
          <a:p>
            <a:endParaRPr lang="en-GB"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A good introduction</a:t>
            </a:r>
            <a:endParaRPr lang="en-GB" dirty="0"/>
          </a:p>
        </p:txBody>
      </p:sp>
      <p:sp>
        <p:nvSpPr>
          <p:cNvPr id="3" name="Content Placeholder 2"/>
          <p:cNvSpPr>
            <a:spLocks noGrp="1"/>
          </p:cNvSpPr>
          <p:nvPr>
            <p:ph sz="quarter" idx="1"/>
          </p:nvPr>
        </p:nvSpPr>
        <p:spPr/>
        <p:txBody>
          <a:bodyPr>
            <a:normAutofit/>
          </a:bodyPr>
          <a:lstStyle/>
          <a:p>
            <a:pPr lvl="1"/>
            <a:r>
              <a:rPr lang="en-GB" dirty="0" smtClean="0"/>
              <a:t>Opening sentences introducing to the topic of the essay</a:t>
            </a:r>
            <a:endParaRPr lang="en-GB" sz="2000" dirty="0" smtClean="0"/>
          </a:p>
          <a:p>
            <a:pPr lvl="1"/>
            <a:r>
              <a:rPr lang="en-GB" dirty="0" smtClean="0"/>
              <a:t>Background information on it (gradually leading to the analyzed aspect of the theme).</a:t>
            </a:r>
            <a:endParaRPr lang="en-GB" sz="2000" dirty="0" smtClean="0"/>
          </a:p>
          <a:p>
            <a:pPr lvl="1"/>
            <a:r>
              <a:rPr lang="en-GB" dirty="0" smtClean="0"/>
              <a:t>Literature techniques to grab the reader’s attention.</a:t>
            </a:r>
            <a:endParaRPr lang="en-GB" sz="2000" dirty="0" smtClean="0"/>
          </a:p>
          <a:p>
            <a:pPr lvl="1"/>
            <a:r>
              <a:rPr lang="en-GB" dirty="0" smtClean="0"/>
              <a:t>A strong </a:t>
            </a:r>
            <a:r>
              <a:rPr lang="en-GB" b="1" dirty="0" smtClean="0"/>
              <a:t>thesis statement </a:t>
            </a:r>
            <a:r>
              <a:rPr lang="en-GB" dirty="0" smtClean="0"/>
              <a:t>defining and stating</a:t>
            </a:r>
            <a:r>
              <a:rPr lang="en-GB" b="1" dirty="0" smtClean="0"/>
              <a:t> </a:t>
            </a:r>
            <a:r>
              <a:rPr lang="en-GB" dirty="0" smtClean="0"/>
              <a:t>the point the author is making in the essay, the paper’s main argument.</a:t>
            </a:r>
            <a:endParaRPr lang="en-GB" sz="2000" dirty="0" smtClean="0"/>
          </a:p>
          <a:p>
            <a:pPr lvl="1"/>
            <a:r>
              <a:rPr lang="en-GB" dirty="0" smtClean="0"/>
              <a:t>Introduction of any essay should be no longer than 1/10 of its length. </a:t>
            </a:r>
            <a:endParaRPr lang="en-GB" sz="2000" dirty="0" smtClean="0"/>
          </a:p>
          <a:p>
            <a:pPr lvl="1"/>
            <a:r>
              <a:rPr lang="en-GB" dirty="0" smtClean="0"/>
              <a:t>The content of an introduction has a deductive nature, as it leads the reader from the general views or positions on the analyzed topics to the specific narrow theme of the essay.</a:t>
            </a:r>
            <a:endParaRPr lang="en-GB" sz="2000" dirty="0" smtClean="0"/>
          </a:p>
          <a:p>
            <a:endParaRPr lang="en-GB"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smtClean="0"/>
              <a:t>How to Write an Introduction Paragraph</a:t>
            </a:r>
            <a:endParaRPr lang="en-GB" dirty="0"/>
          </a:p>
        </p:txBody>
      </p:sp>
      <p:sp>
        <p:nvSpPr>
          <p:cNvPr id="3" name="Content Placeholder 2"/>
          <p:cNvSpPr>
            <a:spLocks noGrp="1"/>
          </p:cNvSpPr>
          <p:nvPr>
            <p:ph sz="quarter" idx="1"/>
          </p:nvPr>
        </p:nvSpPr>
        <p:spPr/>
        <p:txBody>
          <a:bodyPr>
            <a:normAutofit fontScale="85000" lnSpcReduction="10000"/>
          </a:bodyPr>
          <a:lstStyle/>
          <a:p>
            <a:r>
              <a:rPr lang="en-GB" dirty="0" smtClean="0"/>
              <a:t>The introduction is the first part of your writing that the reader will see, and must capture their attention so they continue reading your work.</a:t>
            </a:r>
          </a:p>
          <a:p>
            <a:r>
              <a:rPr lang="en-GB" dirty="0" smtClean="0"/>
              <a:t>The introduction of any piece of writing is integral because it summarizes what the writer will say in his writing, and because it captures the attention of the reader and encourages the reader to continue reading. </a:t>
            </a:r>
          </a:p>
          <a:p>
            <a:r>
              <a:rPr lang="en-GB" b="1" dirty="0" smtClean="0"/>
              <a:t>The Elements of the Introduction</a:t>
            </a:r>
            <a:endParaRPr lang="en-GB" dirty="0" smtClean="0"/>
          </a:p>
          <a:p>
            <a:r>
              <a:rPr lang="en-GB" dirty="0" smtClean="0"/>
              <a:t>The introduction should include a few different elements, all of which help to capture the attention of the reader:</a:t>
            </a:r>
          </a:p>
          <a:p>
            <a:pPr lvl="0"/>
            <a:r>
              <a:rPr lang="en-GB" dirty="0" smtClean="0"/>
              <a:t>A hook sentence</a:t>
            </a:r>
          </a:p>
          <a:p>
            <a:pPr lvl="0"/>
            <a:r>
              <a:rPr lang="en-GB" dirty="0" smtClean="0"/>
              <a:t>A basic explanation of the topic</a:t>
            </a:r>
          </a:p>
          <a:p>
            <a:pPr lvl="0"/>
            <a:r>
              <a:rPr lang="en-GB" dirty="0" smtClean="0"/>
              <a:t>A “menu” of the points or arguments</a:t>
            </a:r>
          </a:p>
          <a:p>
            <a:pPr lvl="0"/>
            <a:r>
              <a:rPr lang="en-GB" dirty="0" smtClean="0"/>
              <a:t>A thesis statement</a:t>
            </a:r>
          </a:p>
          <a:p>
            <a:endParaRPr lang="en-GB"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sz="quarter" idx="1"/>
          </p:nvPr>
        </p:nvSpPr>
        <p:spPr/>
        <p:txBody>
          <a:bodyPr>
            <a:normAutofit fontScale="92500"/>
          </a:bodyPr>
          <a:lstStyle/>
          <a:p>
            <a:r>
              <a:rPr lang="en-GB" b="1" dirty="0" smtClean="0"/>
              <a:t>The Hook</a:t>
            </a:r>
            <a:r>
              <a:rPr lang="en-GB" dirty="0" smtClean="0"/>
              <a:t>- this is the first sentence in the introduction, and is what captures the reader’s attention right away. It must be interesting, but should also be general. example of a good hook in an introduction paragraph about </a:t>
            </a:r>
            <a:r>
              <a:rPr lang="en-GB" i="1" dirty="0" smtClean="0"/>
              <a:t>Romeo and Juliet </a:t>
            </a:r>
            <a:r>
              <a:rPr lang="en-GB" dirty="0" smtClean="0"/>
              <a:t>would be:</a:t>
            </a:r>
          </a:p>
          <a:p>
            <a:r>
              <a:rPr lang="en-GB" i="1" dirty="0" smtClean="0"/>
              <a:t>“The theme of disobedience towards parents by teenagers is universal, and is apparent even in the artistic works of the 1400s.”</a:t>
            </a:r>
            <a:endParaRPr lang="en-GB" dirty="0" smtClean="0"/>
          </a:p>
          <a:p>
            <a:r>
              <a:rPr lang="en-GB" b="1" dirty="0" smtClean="0"/>
              <a:t>The Explanation</a:t>
            </a:r>
            <a:r>
              <a:rPr lang="en-GB" dirty="0" smtClean="0"/>
              <a:t> -summarizes what the writing is about in a sentence</a:t>
            </a:r>
          </a:p>
          <a:p>
            <a:r>
              <a:rPr lang="en-GB" i="1" dirty="0" smtClean="0"/>
              <a:t>“This theme is clearly shown in Shakespeare’s work, Romeo and Juliet, as an ancient feud between their families forbids them from loving each other. They go against their parent’s wishes, and pay with their lives.”</a:t>
            </a:r>
            <a:endParaRPr lang="en-GB" dirty="0" smtClean="0"/>
          </a:p>
          <a:p>
            <a:endParaRPr lang="en-GB"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sz="quarter" idx="1"/>
          </p:nvPr>
        </p:nvSpPr>
        <p:spPr/>
        <p:txBody>
          <a:bodyPr>
            <a:normAutofit/>
          </a:bodyPr>
          <a:lstStyle/>
          <a:p>
            <a:r>
              <a:rPr lang="en-GB" b="1" dirty="0" smtClean="0"/>
              <a:t>The Menu</a:t>
            </a:r>
            <a:r>
              <a:rPr lang="en-GB" dirty="0" smtClean="0"/>
              <a:t>-explains what points (or arguments) that are going to be made in the rest of the writing. It should basically list, in sentence form, the points and a short explanation of the proofs or further information for each point: example:</a:t>
            </a:r>
          </a:p>
          <a:p>
            <a:r>
              <a:rPr lang="en-GB" i="1" dirty="0" smtClean="0"/>
              <a:t>“Both Romeo and Juliet are irresponsible, because they did not listen to the advice given to them by their respective advisors, Friar Lawrence and the Nurse. Also, both characters continued to see each other, and married each other behind their parent’s backs. Their actions led to the deaths of </a:t>
            </a:r>
            <a:r>
              <a:rPr lang="en-GB" i="1" dirty="0" err="1" smtClean="0"/>
              <a:t>Mercutio</a:t>
            </a:r>
            <a:r>
              <a:rPr lang="en-GB" i="1" dirty="0" smtClean="0"/>
              <a:t>, a friend of Romeo’s, and </a:t>
            </a:r>
            <a:r>
              <a:rPr lang="en-GB" i="1" dirty="0" err="1" smtClean="0"/>
              <a:t>Tybalt</a:t>
            </a:r>
            <a:r>
              <a:rPr lang="en-GB" i="1" dirty="0" smtClean="0"/>
              <a:t>, Juliet’s cousin.”</a:t>
            </a:r>
            <a:endParaRPr lang="en-GB" dirty="0" smtClean="0"/>
          </a:p>
          <a:p>
            <a:endParaRPr lang="en-GB"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sz="quarter" idx="1"/>
          </p:nvPr>
        </p:nvSpPr>
        <p:spPr/>
        <p:txBody>
          <a:bodyPr/>
          <a:lstStyle/>
          <a:p>
            <a:r>
              <a:rPr lang="en-GB" b="1" dirty="0" smtClean="0"/>
              <a:t>The Thesis Statement</a:t>
            </a:r>
            <a:endParaRPr lang="en-GB" dirty="0" smtClean="0"/>
          </a:p>
          <a:p>
            <a:r>
              <a:rPr lang="en-GB" dirty="0" smtClean="0"/>
              <a:t>The thesis statement is the last sentence of the introduction paragraph, and states definitively the position that the piece takes on the topic. It is the most specific part of the introduction. For example:</a:t>
            </a:r>
          </a:p>
          <a:p>
            <a:r>
              <a:rPr lang="en-GB" i="1" dirty="0" smtClean="0"/>
              <a:t>“For these reasons, the characters of Romeo and Juliet in Shakespeare’s Romeo and Juliet are irresponsible.”</a:t>
            </a:r>
            <a:endParaRPr lang="en-GB" dirty="0" smtClean="0"/>
          </a:p>
          <a:p>
            <a:r>
              <a:rPr lang="en-GB" dirty="0" smtClean="0"/>
              <a:t>Short and sweet, that’s what a thesis statement should generally look like.</a:t>
            </a:r>
          </a:p>
          <a:p>
            <a:endParaRPr lang="en-GB"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sz="quarter" idx="1"/>
          </p:nvPr>
        </p:nvSpPr>
        <p:spPr/>
        <p:txBody>
          <a:bodyPr>
            <a:normAutofit fontScale="85000" lnSpcReduction="20000"/>
          </a:bodyPr>
          <a:lstStyle/>
          <a:p>
            <a:pPr lvl="0"/>
            <a:r>
              <a:rPr lang="en-US" b="1" dirty="0" smtClean="0"/>
              <a:t>Body paragraphs</a:t>
            </a:r>
            <a:endParaRPr lang="en-GB" b="1" dirty="0" smtClean="0"/>
          </a:p>
          <a:p>
            <a:pPr lvl="0"/>
            <a:r>
              <a:rPr lang="en-GB" dirty="0" smtClean="0"/>
              <a:t>The body will typically consist of about three paragraphs, presenting points to support your argument. </a:t>
            </a:r>
          </a:p>
          <a:p>
            <a:pPr lvl="0"/>
            <a:r>
              <a:rPr lang="en-GB" dirty="0" smtClean="0"/>
              <a:t>You will have worked out your </a:t>
            </a:r>
            <a:r>
              <a:rPr lang="en-GB" b="1" i="1" dirty="0" smtClean="0"/>
              <a:t>ideas</a:t>
            </a:r>
            <a:r>
              <a:rPr lang="en-GB" dirty="0" smtClean="0"/>
              <a:t> in the planning stage, when </a:t>
            </a:r>
            <a:r>
              <a:rPr lang="en-GB" b="1" i="1" dirty="0" smtClean="0"/>
              <a:t>organizing</a:t>
            </a:r>
            <a:r>
              <a:rPr lang="en-GB" dirty="0" smtClean="0"/>
              <a:t> your ideas. Now it is simply a matter of </a:t>
            </a:r>
            <a:r>
              <a:rPr lang="en-GB" b="1" i="1" dirty="0" smtClean="0"/>
              <a:t>presenting one main point in each paragraph. </a:t>
            </a:r>
            <a:endParaRPr lang="en-GB" dirty="0" smtClean="0"/>
          </a:p>
          <a:p>
            <a:pPr lvl="0"/>
            <a:r>
              <a:rPr lang="en-GB" dirty="0" smtClean="0"/>
              <a:t>The body of a basic essay may have as many body paragraphs as it is necessary to prove the author’s argument of the thesis statement. </a:t>
            </a:r>
          </a:p>
          <a:p>
            <a:pPr lvl="0"/>
            <a:r>
              <a:rPr lang="en-GB" dirty="0" smtClean="0"/>
              <a:t>It is vital to keep in mind that each paragraph is supposed to have one main argument to analyze and has to reveal it in one solid thought in a sentence called the </a:t>
            </a:r>
            <a:r>
              <a:rPr lang="en-GB" b="1" dirty="0" smtClean="0"/>
              <a:t>topic sentence. </a:t>
            </a:r>
            <a:endParaRPr lang="en-GB" dirty="0" smtClean="0"/>
          </a:p>
          <a:p>
            <a:pPr lvl="0"/>
            <a:r>
              <a:rPr lang="en-GB" dirty="0" smtClean="0"/>
              <a:t>Therefore the number of the body paragraphs equals the amount of topic sentences.</a:t>
            </a:r>
          </a:p>
          <a:p>
            <a:pPr lvl="0"/>
            <a:r>
              <a:rPr lang="en-GB" dirty="0" smtClean="0"/>
              <a:t>Each body paragraph must be connected to following one with a logical link.</a:t>
            </a:r>
          </a:p>
          <a:p>
            <a:endParaRPr lang="en-GB"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sz="quarter" idx="1"/>
          </p:nvPr>
        </p:nvSpPr>
        <p:spPr/>
        <p:txBody>
          <a:bodyPr>
            <a:normAutofit fontScale="85000" lnSpcReduction="20000"/>
          </a:bodyPr>
          <a:lstStyle/>
          <a:p>
            <a:pPr lvl="0"/>
            <a:r>
              <a:rPr lang="en-US" b="1" dirty="0" smtClean="0"/>
              <a:t>concluding paragraph</a:t>
            </a:r>
            <a:endParaRPr lang="en-GB" b="1" dirty="0" smtClean="0"/>
          </a:p>
          <a:p>
            <a:pPr lvl="0"/>
            <a:r>
              <a:rPr lang="en-GB" dirty="0" smtClean="0"/>
              <a:t>The conclusion always deals with summing up the essays arguments revealed in the topic sentences and the therefore present substantial evidence to prove the thesis statement. </a:t>
            </a:r>
          </a:p>
          <a:p>
            <a:pPr lvl="0"/>
            <a:r>
              <a:rPr lang="en-GB" dirty="0" smtClean="0"/>
              <a:t>It is also important to mention the importance of the general conclusion of the essay.</a:t>
            </a:r>
          </a:p>
          <a:p>
            <a:pPr lvl="0"/>
            <a:r>
              <a:rPr lang="en-GB" dirty="0" smtClean="0"/>
              <a:t>It is usually written in one solid paragraph.</a:t>
            </a:r>
          </a:p>
          <a:p>
            <a:pPr lvl="0"/>
            <a:r>
              <a:rPr lang="en-US" b="1" dirty="0" smtClean="0"/>
              <a:t>concluding paragraph</a:t>
            </a:r>
            <a:endParaRPr lang="en-GB" b="1" dirty="0" smtClean="0"/>
          </a:p>
          <a:p>
            <a:pPr lvl="0"/>
            <a:r>
              <a:rPr lang="en-GB" dirty="0" smtClean="0"/>
              <a:t>The conclusion always deals with summing up the essays arguments revealed in the topic sentences and the therefore present substantial evidence to prove the thesis statement. </a:t>
            </a:r>
          </a:p>
          <a:p>
            <a:pPr lvl="0"/>
            <a:r>
              <a:rPr lang="en-GB" dirty="0" smtClean="0"/>
              <a:t>It is also important to mention the importance of the general conclusion of the essay.</a:t>
            </a:r>
          </a:p>
          <a:p>
            <a:pPr lvl="0"/>
            <a:r>
              <a:rPr lang="en-GB" dirty="0" smtClean="0"/>
              <a:t>It is usually written in one solid paragraph.</a:t>
            </a:r>
          </a:p>
          <a:p>
            <a:endParaRPr lang="en-GB"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5880</TotalTime>
  <Words>2765</Words>
  <Application>Microsoft Office PowerPoint</Application>
  <PresentationFormat>On-screen Show (4:3)</PresentationFormat>
  <Paragraphs>238</Paragraphs>
  <Slides>38</Slides>
  <Notes>0</Notes>
  <HiddenSlides>0</HiddenSlides>
  <MMClips>0</MMClips>
  <ScaleCrop>false</ScaleCrop>
  <HeadingPairs>
    <vt:vector size="4" baseType="variant">
      <vt:variant>
        <vt:lpstr>Theme</vt:lpstr>
      </vt:variant>
      <vt:variant>
        <vt:i4>1</vt:i4>
      </vt:variant>
      <vt:variant>
        <vt:lpstr>Slide Titles</vt:lpstr>
      </vt:variant>
      <vt:variant>
        <vt:i4>38</vt:i4>
      </vt:variant>
    </vt:vector>
  </HeadingPairs>
  <TitlesOfParts>
    <vt:vector size="39" baseType="lpstr">
      <vt:lpstr>Equity</vt:lpstr>
      <vt:lpstr>LECTURE 12</vt:lpstr>
      <vt:lpstr>Introduction</vt:lpstr>
      <vt:lpstr>What is writing?</vt:lpstr>
      <vt:lpstr>building blocks of written language</vt:lpstr>
      <vt:lpstr>Slide 5</vt:lpstr>
      <vt:lpstr>Slide 6</vt:lpstr>
      <vt:lpstr>Slide 7</vt:lpstr>
      <vt:lpstr>What is a Paragraph?</vt:lpstr>
      <vt:lpstr>Reasons to Write a Paragraph</vt:lpstr>
      <vt:lpstr>Parts of a paragraph</vt:lpstr>
      <vt:lpstr>Slide 11</vt:lpstr>
      <vt:lpstr>Qualities of a Good Paragraph</vt:lpstr>
      <vt:lpstr>Slide 13</vt:lpstr>
      <vt:lpstr>STEPS OF PARAGRAPH WRITING</vt:lpstr>
      <vt:lpstr>METHODS OF PARAGRAPH DEVELOPMENT</vt:lpstr>
      <vt:lpstr>Slide 16</vt:lpstr>
      <vt:lpstr>Slide 17</vt:lpstr>
      <vt:lpstr>Slide 18</vt:lpstr>
      <vt:lpstr>Slide 19</vt:lpstr>
      <vt:lpstr>Slide 20</vt:lpstr>
      <vt:lpstr>TYPES OF PARAGRAPH</vt:lpstr>
      <vt:lpstr>Slide 22</vt:lpstr>
      <vt:lpstr>Slide 23</vt:lpstr>
      <vt:lpstr>Slide 24</vt:lpstr>
      <vt:lpstr>Expository Paragraph</vt:lpstr>
      <vt:lpstr>Slide 26</vt:lpstr>
      <vt:lpstr>Descriptive Paragraph</vt:lpstr>
      <vt:lpstr>Slide 28</vt:lpstr>
      <vt:lpstr>Argumentative Paragraph</vt:lpstr>
      <vt:lpstr>ESSAY WRITING</vt:lpstr>
      <vt:lpstr>Slide 31</vt:lpstr>
      <vt:lpstr>A good introduction</vt:lpstr>
      <vt:lpstr>How to Write an Introduction Paragraph</vt:lpstr>
      <vt:lpstr>Slide 34</vt:lpstr>
      <vt:lpstr>Slide 35</vt:lpstr>
      <vt:lpstr>Slide 36</vt:lpstr>
      <vt:lpstr>Slide 37</vt:lpstr>
      <vt:lpstr>Slide 38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12</dc:title>
  <dc:creator>Caren Ogola</dc:creator>
  <cp:lastModifiedBy>Caren Ogola</cp:lastModifiedBy>
  <cp:revision>292</cp:revision>
  <dcterms:created xsi:type="dcterms:W3CDTF">2021-05-24T13:54:21Z</dcterms:created>
  <dcterms:modified xsi:type="dcterms:W3CDTF">2021-05-31T19:00:02Z</dcterms:modified>
</cp:coreProperties>
</file>