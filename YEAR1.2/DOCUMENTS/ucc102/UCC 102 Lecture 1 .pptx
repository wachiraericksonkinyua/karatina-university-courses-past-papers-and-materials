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 id="260" r:id="rId3"/>
    <p:sldId id="257" r:id="rId4"/>
    <p:sldId id="261" r:id="rId5"/>
    <p:sldId id="256" r:id="rId6"/>
    <p:sldId id="286" r:id="rId7"/>
    <p:sldId id="285" r:id="rId8"/>
    <p:sldId id="287" r:id="rId9"/>
    <p:sldId id="288" r:id="rId10"/>
    <p:sldId id="289" r:id="rId11"/>
    <p:sldId id="266" r:id="rId12"/>
    <p:sldId id="268" r:id="rId13"/>
    <p:sldId id="272" r:id="rId14"/>
    <p:sldId id="273" r:id="rId15"/>
    <p:sldId id="271" r:id="rId16"/>
    <p:sldId id="274" r:id="rId17"/>
    <p:sldId id="275" r:id="rId18"/>
    <p:sldId id="277" r:id="rId19"/>
    <p:sldId id="278" r:id="rId20"/>
    <p:sldId id="279" r:id="rId21"/>
    <p:sldId id="280" r:id="rId22"/>
    <p:sldId id="281" r:id="rId23"/>
    <p:sldId id="282" r:id="rId24"/>
    <p:sldId id="283" r:id="rId25"/>
    <p:sldId id="290" r:id="rId26"/>
    <p:sldId id="28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69" autoAdjust="0"/>
    <p:restoredTop sz="94660"/>
  </p:normalViewPr>
  <p:slideViewPr>
    <p:cSldViewPr>
      <p:cViewPr varScale="1">
        <p:scale>
          <a:sx n="67" d="100"/>
          <a:sy n="67" d="100"/>
        </p:scale>
        <p:origin x="-1056" y="-7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0A16DBCC-9582-4F73-B725-C04C57CA335B}" type="datetimeFigureOut">
              <a:rPr lang="en-GB" smtClean="0"/>
              <a:pPr/>
              <a:t>14/02/2022</a:t>
            </a:fld>
            <a:endParaRPr lang="en-GB"/>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GB"/>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4152B96-8245-4911-83A2-664071B750BC}"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0A16DBCC-9582-4F73-B725-C04C57CA335B}" type="datetimeFigureOut">
              <a:rPr lang="en-GB" smtClean="0"/>
              <a:pPr/>
              <a:t>14/02/2022</a:t>
            </a:fld>
            <a:endParaRPr lang="en-GB"/>
          </a:p>
        </p:txBody>
      </p:sp>
      <p:sp>
        <p:nvSpPr>
          <p:cNvPr id="9" name="Slide Number Placeholder 8"/>
          <p:cNvSpPr>
            <a:spLocks noGrp="1"/>
          </p:cNvSpPr>
          <p:nvPr>
            <p:ph type="sldNum" sz="quarter" idx="15"/>
          </p:nvPr>
        </p:nvSpPr>
        <p:spPr/>
        <p:txBody>
          <a:bodyPr rtlCol="0"/>
          <a:lstStyle/>
          <a:p>
            <a:fld id="{34152B96-8245-4911-83A2-664071B750BC}" type="slidenum">
              <a:rPr lang="en-GB" smtClean="0"/>
              <a:pPr/>
              <a:t>‹#›</a:t>
            </a:fld>
            <a:endParaRPr lang="en-GB"/>
          </a:p>
        </p:txBody>
      </p:sp>
      <p:sp>
        <p:nvSpPr>
          <p:cNvPr id="10" name="Footer Placeholder 9"/>
          <p:cNvSpPr>
            <a:spLocks noGrp="1"/>
          </p:cNvSpPr>
          <p:nvPr>
            <p:ph type="ftr" sz="quarter" idx="16"/>
          </p:nvPr>
        </p:nvSpPr>
        <p:spPr/>
        <p:txBody>
          <a:bodyPr rtlCol="0"/>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0A16DBCC-9582-4F73-B725-C04C57CA335B}" type="datetimeFigureOut">
              <a:rPr lang="en-GB" smtClean="0"/>
              <a:pPr/>
              <a:t>14/02/2022</a:t>
            </a:fld>
            <a:endParaRPr lang="en-GB"/>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GB"/>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4152B96-8245-4911-83A2-664071B750BC}" type="slidenum">
              <a:rPr lang="en-GB" smtClean="0"/>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A16DBCC-9582-4F73-B725-C04C57CA335B}" type="datetimeFigureOut">
              <a:rPr lang="en-GB" smtClean="0"/>
              <a:pPr/>
              <a:t>14/02/2022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4152B96-8245-4911-83A2-664071B750BC}" type="slidenum">
              <a:rPr lang="en-GB" smtClean="0"/>
              <a:pPr/>
              <a:t>‹#›</a:t>
            </a:fld>
            <a:endParaRPr lang="en-GB"/>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0A16DBCC-9582-4F73-B725-C04C57CA335B}" type="datetimeFigureOut">
              <a:rPr lang="en-GB" smtClean="0"/>
              <a:pPr/>
              <a:t>14/02/2022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4152B96-8245-4911-83A2-664071B750BC}" type="slidenum">
              <a:rPr lang="en-GB" smtClean="0"/>
              <a:pPr/>
              <a:t>‹#›</a:t>
            </a:fld>
            <a:endParaRPr lang="en-GB"/>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0A16DBCC-9582-4F73-B725-C04C57CA335B}" type="datetimeFigureOut">
              <a:rPr lang="en-GB" smtClean="0"/>
              <a:pPr/>
              <a:t>14/02/2022</a:t>
            </a:fld>
            <a:endParaRPr lang="en-GB"/>
          </a:p>
        </p:txBody>
      </p:sp>
      <p:sp>
        <p:nvSpPr>
          <p:cNvPr id="7" name="Slide Number Placeholder 6"/>
          <p:cNvSpPr>
            <a:spLocks noGrp="1"/>
          </p:cNvSpPr>
          <p:nvPr>
            <p:ph type="sldNum" sz="quarter" idx="11"/>
          </p:nvPr>
        </p:nvSpPr>
        <p:spPr/>
        <p:txBody>
          <a:bodyPr rtlCol="0"/>
          <a:lstStyle/>
          <a:p>
            <a:fld id="{34152B96-8245-4911-83A2-664071B750BC}" type="slidenum">
              <a:rPr lang="en-GB" smtClean="0"/>
              <a:pPr/>
              <a:t>‹#›</a:t>
            </a:fld>
            <a:endParaRPr lang="en-GB"/>
          </a:p>
        </p:txBody>
      </p:sp>
      <p:sp>
        <p:nvSpPr>
          <p:cNvPr id="8" name="Footer Placeholder 7"/>
          <p:cNvSpPr>
            <a:spLocks noGrp="1"/>
          </p:cNvSpPr>
          <p:nvPr>
            <p:ph type="ftr" sz="quarter" idx="12"/>
          </p:nvPr>
        </p:nvSpPr>
        <p:spPr/>
        <p:txBody>
          <a:bodyPr rtlCol="0"/>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16DBCC-9582-4F73-B725-C04C57CA335B}" type="datetimeFigureOut">
              <a:rPr lang="en-GB" smtClean="0"/>
              <a:pPr/>
              <a:t>14/02/2022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4152B96-8245-4911-83A2-664071B750BC}"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0A16DBCC-9582-4F73-B725-C04C57CA335B}" type="datetimeFigureOut">
              <a:rPr lang="en-GB" smtClean="0"/>
              <a:pPr/>
              <a:t>14/02/2022</a:t>
            </a:fld>
            <a:endParaRPr lang="en-GB"/>
          </a:p>
        </p:txBody>
      </p:sp>
      <p:sp>
        <p:nvSpPr>
          <p:cNvPr id="22" name="Slide Number Placeholder 21"/>
          <p:cNvSpPr>
            <a:spLocks noGrp="1"/>
          </p:cNvSpPr>
          <p:nvPr>
            <p:ph type="sldNum" sz="quarter" idx="15"/>
          </p:nvPr>
        </p:nvSpPr>
        <p:spPr/>
        <p:txBody>
          <a:bodyPr rtlCol="0"/>
          <a:lstStyle/>
          <a:p>
            <a:fld id="{34152B96-8245-4911-83A2-664071B750BC}" type="slidenum">
              <a:rPr lang="en-GB" smtClean="0"/>
              <a:pPr/>
              <a:t>‹#›</a:t>
            </a:fld>
            <a:endParaRPr lang="en-GB"/>
          </a:p>
        </p:txBody>
      </p:sp>
      <p:sp>
        <p:nvSpPr>
          <p:cNvPr id="23" name="Footer Placeholder 22"/>
          <p:cNvSpPr>
            <a:spLocks noGrp="1"/>
          </p:cNvSpPr>
          <p:nvPr>
            <p:ph type="ftr" sz="quarter" idx="16"/>
          </p:nvPr>
        </p:nvSpPr>
        <p:spPr/>
        <p:txBody>
          <a:bodyPr rtlCol="0"/>
          <a:lstStyle/>
          <a:p>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0A16DBCC-9582-4F73-B725-C04C57CA335B}" type="datetimeFigureOut">
              <a:rPr lang="en-GB" smtClean="0"/>
              <a:pPr/>
              <a:t>14/02/2022</a:t>
            </a:fld>
            <a:endParaRPr lang="en-GB"/>
          </a:p>
        </p:txBody>
      </p:sp>
      <p:sp>
        <p:nvSpPr>
          <p:cNvPr id="18" name="Slide Number Placeholder 17"/>
          <p:cNvSpPr>
            <a:spLocks noGrp="1"/>
          </p:cNvSpPr>
          <p:nvPr>
            <p:ph type="sldNum" sz="quarter" idx="11"/>
          </p:nvPr>
        </p:nvSpPr>
        <p:spPr/>
        <p:txBody>
          <a:bodyPr rtlCol="0"/>
          <a:lstStyle/>
          <a:p>
            <a:fld id="{34152B96-8245-4911-83A2-664071B750BC}" type="slidenum">
              <a:rPr lang="en-GB" smtClean="0"/>
              <a:pPr/>
              <a:t>‹#›</a:t>
            </a:fld>
            <a:endParaRPr lang="en-GB"/>
          </a:p>
        </p:txBody>
      </p:sp>
      <p:sp>
        <p:nvSpPr>
          <p:cNvPr id="21" name="Footer Placeholder 20"/>
          <p:cNvSpPr>
            <a:spLocks noGrp="1"/>
          </p:cNvSpPr>
          <p:nvPr>
            <p:ph type="ftr" sz="quarter" idx="12"/>
          </p:nvPr>
        </p:nvSpPr>
        <p:spPr/>
        <p:txBody>
          <a:bodyPr rtlCol="0"/>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A16DBCC-9582-4F73-B725-C04C57CA335B}" type="datetimeFigureOut">
              <a:rPr lang="en-GB" smtClean="0"/>
              <a:pPr/>
              <a:t>14/02/2022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4152B96-8245-4911-83A2-664071B750BC}"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A16DBCC-9582-4F73-B725-C04C57CA335B}" type="datetimeFigureOut">
              <a:rPr lang="en-GB" smtClean="0"/>
              <a:pPr/>
              <a:t>14/02/2022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4152B96-8245-4911-83A2-664071B750BC}"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A16DBCC-9582-4F73-B725-C04C57CA335B}" type="datetimeFigureOut">
              <a:rPr lang="en-GB" smtClean="0"/>
              <a:pPr/>
              <a:t>14/02/2022</a:t>
            </a:fld>
            <a:endParaRPr lang="en-GB"/>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GB"/>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4152B96-8245-4911-83A2-664071B750BC}"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finestquotes.com/author_quotes-author-Epictetus-page-0.htm" TargetMode="External"/><Relationship Id="rId7" Type="http://schemas.openxmlformats.org/officeDocument/2006/relationships/hyperlink" Target="http://www.goodreads.com/author/show/22294.Charlie_Kaufman" TargetMode="External"/><Relationship Id="rId2" Type="http://schemas.openxmlformats.org/officeDocument/2006/relationships/hyperlink" Target="http://www.finestquotes.com/author_quotes-author-William%20Butler%20Yeats-page-0.htm" TargetMode="External"/><Relationship Id="rId1" Type="http://schemas.openxmlformats.org/officeDocument/2006/relationships/slideLayout" Target="../slideLayouts/slideLayout2.xml"/><Relationship Id="rId6" Type="http://schemas.openxmlformats.org/officeDocument/2006/relationships/hyperlink" Target="http://www.goodreads.com/author/show/442126.Clay_Shirky" TargetMode="External"/><Relationship Id="rId5" Type="http://schemas.openxmlformats.org/officeDocument/2006/relationships/hyperlink" Target="http://www.goodreads.com/author/show/1221698.Neil_Gaiman" TargetMode="External"/><Relationship Id="rId4" Type="http://schemas.openxmlformats.org/officeDocument/2006/relationships/hyperlink" Target="http://www.finestquotes.com/author_quotes-author-Anthony%20Robbins-page-0.ht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UCC 102: COMMUNICATION SKILLS</a:t>
            </a:r>
            <a:endParaRPr lang="en-GB" dirty="0"/>
          </a:p>
        </p:txBody>
      </p:sp>
      <p:pic>
        <p:nvPicPr>
          <p:cNvPr id="1026" name="Picture 2" descr="Communication"/>
          <p:cNvPicPr>
            <a:picLocks noGrp="1" noChangeAspect="1" noChangeArrowheads="1"/>
          </p:cNvPicPr>
          <p:nvPr>
            <p:ph type="pic" idx="1"/>
          </p:nvPr>
        </p:nvPicPr>
        <p:blipFill>
          <a:blip r:embed="rId2" cstate="print"/>
          <a:srcRect l="13100" r="13100"/>
          <a:stretch>
            <a:fillRect/>
          </a:stretch>
        </p:blipFill>
        <p:spPr bwMode="auto">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smtClean="0"/>
              <a:t>UCC 102: COMMUNICATION SKILLS</a:t>
            </a:r>
            <a:endParaRPr lang="en-GB" dirty="0"/>
          </a:p>
        </p:txBody>
      </p:sp>
      <p:pic>
        <p:nvPicPr>
          <p:cNvPr id="8" name="Picture 9"/>
          <p:cNvPicPr>
            <a:picLocks noGrp="1" noChangeAspect="1" noChangeArrowheads="1"/>
          </p:cNvPicPr>
          <p:nvPr>
            <p:ph sz="quarter" idx="1"/>
          </p:nvPr>
        </p:nvPicPr>
        <p:blipFill>
          <a:blip r:embed="rId2" cstate="print"/>
          <a:srcRect/>
          <a:stretch>
            <a:fillRect/>
          </a:stretch>
        </p:blipFill>
        <p:spPr bwMode="auto">
          <a:xfrm>
            <a:off x="0" y="1556792"/>
            <a:ext cx="4283967" cy="3960440"/>
          </a:xfrm>
          <a:prstGeom prst="rect">
            <a:avLst/>
          </a:prstGeom>
          <a:noFill/>
          <a:ln w="9525">
            <a:noFill/>
            <a:miter lim="800000"/>
            <a:headEnd/>
            <a:tailEnd/>
          </a:ln>
        </p:spPr>
      </p:pic>
      <p:pic>
        <p:nvPicPr>
          <p:cNvPr id="9" name="Content Placeholder 8"/>
          <p:cNvPicPr>
            <a:picLocks noGrp="1" noChangeAspect="1" noChangeArrowheads="1"/>
          </p:cNvPicPr>
          <p:nvPr>
            <p:ph sz="quarter" idx="2"/>
          </p:nvPr>
        </p:nvPicPr>
        <p:blipFill>
          <a:blip r:embed="rId3" cstate="print"/>
          <a:srcRect/>
          <a:stretch>
            <a:fillRect/>
          </a:stretch>
        </p:blipFill>
        <p:spPr bwMode="auto">
          <a:xfrm>
            <a:off x="4283968" y="1700808"/>
            <a:ext cx="2739132" cy="3744416"/>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sz="quarter" idx="1"/>
          </p:nvPr>
        </p:nvSpPr>
        <p:spPr/>
        <p:txBody>
          <a:bodyPr>
            <a:normAutofit fontScale="85000" lnSpcReduction="20000"/>
          </a:bodyPr>
          <a:lstStyle/>
          <a:p>
            <a:endParaRPr lang="en-GB" dirty="0" smtClean="0"/>
          </a:p>
          <a:p>
            <a:r>
              <a:rPr lang="en-GB" dirty="0" smtClean="0"/>
              <a:t>Communication is a key element in any human activity. Communication is a learned skill. </a:t>
            </a:r>
          </a:p>
          <a:p>
            <a:r>
              <a:rPr lang="en-GB" dirty="0" smtClean="0"/>
              <a:t>most people are born with the physical ability to talk, however, not all can communicate well unless they make special efforts to develop and refine this communication skill. </a:t>
            </a:r>
          </a:p>
          <a:p>
            <a:r>
              <a:rPr lang="en-GB" dirty="0" smtClean="0"/>
              <a:t>Very often, we take the ease with which we communicate with each other for granted, so much so that we sometimes forget how complex the communication process actually is. </a:t>
            </a:r>
          </a:p>
          <a:p>
            <a:r>
              <a:rPr lang="en-GB" dirty="0" smtClean="0"/>
              <a:t>Communication takes place when we are supposedly at the same level of understanding and comprehension as other interlocutors. </a:t>
            </a:r>
          </a:p>
          <a:p>
            <a:r>
              <a:rPr lang="en-GB" dirty="0" smtClean="0"/>
              <a:t>Common forms of communication include speaking, writing, gestures, touch, using pictures and broadcasting. Communication is therefore not what is said whether verbally or non-verbally, but what is understood. </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dirty="0" smtClean="0"/>
              <a:t>Quotes about communication </a:t>
            </a:r>
            <a:endParaRPr lang="en-GB" dirty="0"/>
          </a:p>
        </p:txBody>
      </p:sp>
      <p:sp>
        <p:nvSpPr>
          <p:cNvPr id="6" name="Content Placeholder 5"/>
          <p:cNvSpPr>
            <a:spLocks noGrp="1"/>
          </p:cNvSpPr>
          <p:nvPr>
            <p:ph sz="quarter" idx="1"/>
          </p:nvPr>
        </p:nvSpPr>
        <p:spPr/>
        <p:txBody>
          <a:bodyPr>
            <a:normAutofit fontScale="85000" lnSpcReduction="20000"/>
          </a:bodyPr>
          <a:lstStyle/>
          <a:p>
            <a:r>
              <a:rPr lang="en-US" b="1" kern="0" dirty="0" smtClean="0">
                <a:solidFill>
                  <a:srgbClr val="002060"/>
                </a:solidFill>
                <a:latin typeface="normal verdana"/>
                <a:cs typeface="Times New Roman" pitchFamily="18" charset="0"/>
              </a:rPr>
              <a:t>You are not only responsible for what you say, but also for what you do not say."– Martin Luther </a:t>
            </a:r>
            <a:br>
              <a:rPr lang="en-US" b="1" kern="0" dirty="0" smtClean="0">
                <a:solidFill>
                  <a:srgbClr val="002060"/>
                </a:solidFill>
                <a:latin typeface="normal verdana"/>
                <a:cs typeface="Times New Roman" pitchFamily="18" charset="0"/>
              </a:rPr>
            </a:br>
            <a:r>
              <a:rPr lang="en-US" altLang="en-US" dirty="0" smtClean="0"/>
              <a:t>Think like a wise man but communicate in the language of the people.</a:t>
            </a:r>
            <a:r>
              <a:rPr lang="en-US" altLang="en-US" dirty="0" smtClean="0">
                <a:hlinkClick r:id="rId2" tooltip="Quotes by William Butler Yeats"/>
              </a:rPr>
              <a:t> William Butler Yeat</a:t>
            </a:r>
            <a:r>
              <a:rPr lang="en-US" altLang="en-US" dirty="0" smtClean="0"/>
              <a:t>s</a:t>
            </a:r>
          </a:p>
          <a:p>
            <a:r>
              <a:rPr lang="en-US" altLang="en-US" dirty="0" smtClean="0"/>
              <a:t>We have two and one mouth so that we can listen twice as much as we speak. </a:t>
            </a:r>
            <a:r>
              <a:rPr lang="en-US" altLang="en-US" dirty="0" smtClean="0">
                <a:hlinkClick r:id="rId3" tooltip="Quotes by Epictetus"/>
              </a:rPr>
              <a:t>Epictetus</a:t>
            </a:r>
            <a:endParaRPr lang="en-US" altLang="en-US" dirty="0" smtClean="0"/>
          </a:p>
          <a:p>
            <a:r>
              <a:rPr lang="en-US" altLang="en-US" dirty="0" smtClean="0"/>
              <a:t>Communication is the real work of leadership. </a:t>
            </a:r>
            <a:r>
              <a:rPr lang="en-US" altLang="en-US" dirty="0" err="1" smtClean="0">
                <a:solidFill>
                  <a:srgbClr val="FF0000"/>
                </a:solidFill>
              </a:rPr>
              <a:t>Nitin</a:t>
            </a:r>
            <a:r>
              <a:rPr lang="en-US" altLang="en-US" dirty="0" smtClean="0">
                <a:solidFill>
                  <a:srgbClr val="FF0000"/>
                </a:solidFill>
              </a:rPr>
              <a:t> </a:t>
            </a:r>
            <a:r>
              <a:rPr lang="en-US" altLang="en-US" dirty="0" err="1" smtClean="0">
                <a:solidFill>
                  <a:srgbClr val="FF0000"/>
                </a:solidFill>
              </a:rPr>
              <a:t>Nohria</a:t>
            </a:r>
            <a:endParaRPr lang="en-US" altLang="en-US" dirty="0" smtClean="0">
              <a:solidFill>
                <a:srgbClr val="FF0000"/>
              </a:solidFill>
            </a:endParaRPr>
          </a:p>
          <a:p>
            <a:r>
              <a:rPr lang="en-US" altLang="en-US" dirty="0" smtClean="0"/>
              <a:t>The way we communicate with others and with ourselves ultimately determines the quality of our lives.</a:t>
            </a:r>
            <a:r>
              <a:rPr lang="en-US" altLang="en-US" dirty="0" smtClean="0">
                <a:hlinkClick r:id="rId4" tooltip="Quotes by Anthony Robbins"/>
              </a:rPr>
              <a:t> Anthony Robbins</a:t>
            </a:r>
            <a:endParaRPr lang="en-US" altLang="en-US" dirty="0" smtClean="0"/>
          </a:p>
          <a:p>
            <a:r>
              <a:rPr lang="en-US" altLang="en-US" dirty="0" smtClean="0"/>
              <a:t>“Talk is free but the wise man chooses when to spend his words.” </a:t>
            </a:r>
            <a:r>
              <a:rPr lang="en-US" altLang="en-US" dirty="0" smtClean="0">
                <a:hlinkClick r:id="rId5"/>
              </a:rPr>
              <a:t>Neil </a:t>
            </a:r>
            <a:r>
              <a:rPr lang="en-US" altLang="en-US" dirty="0" err="1" smtClean="0">
                <a:hlinkClick r:id="rId5"/>
              </a:rPr>
              <a:t>Gaiman</a:t>
            </a:r>
            <a:endParaRPr lang="en-US" altLang="en-US" dirty="0" smtClean="0"/>
          </a:p>
          <a:p>
            <a:r>
              <a:rPr lang="en-US" altLang="en-US" dirty="0" smtClean="0"/>
              <a:t>When </a:t>
            </a:r>
            <a:r>
              <a:rPr lang="en-US" altLang="en-US" dirty="0" smtClean="0"/>
              <a:t>we change the way we communicate, we change society” </a:t>
            </a:r>
            <a:r>
              <a:rPr lang="en-US" altLang="en-US" dirty="0" smtClean="0">
                <a:hlinkClick r:id="rId6"/>
              </a:rPr>
              <a:t>Clay </a:t>
            </a:r>
            <a:r>
              <a:rPr lang="en-US" altLang="en-US" dirty="0" err="1" smtClean="0">
                <a:hlinkClick r:id="rId6"/>
              </a:rPr>
              <a:t>Shirky</a:t>
            </a:r>
            <a:endParaRPr lang="en-US" altLang="en-US" dirty="0" smtClean="0"/>
          </a:p>
          <a:p>
            <a:r>
              <a:rPr lang="en-US" altLang="en-US" dirty="0" smtClean="0"/>
              <a:t>“Constantly talking isn't necessarily communicating.” </a:t>
            </a:r>
            <a:r>
              <a:rPr lang="en-US" altLang="en-US" dirty="0" smtClean="0">
                <a:hlinkClick r:id="rId7"/>
              </a:rPr>
              <a:t>Charlie Kaufman</a:t>
            </a:r>
            <a:endParaRPr lang="en-US" altLang="en-US" dirty="0" smtClean="0"/>
          </a:p>
          <a:p>
            <a:endParaRPr lang="en-US" altLang="en-US" dirty="0" smtClean="0"/>
          </a:p>
          <a:p>
            <a:endParaRPr lang="en-US" altLang="en-US" dirty="0" smtClean="0"/>
          </a:p>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smtClean="0"/>
              <a:t>In this LECTURE!</a:t>
            </a:r>
            <a:endParaRPr lang="en-GB" dirty="0"/>
          </a:p>
        </p:txBody>
      </p:sp>
      <p:sp>
        <p:nvSpPr>
          <p:cNvPr id="5" name="Subtitle 4"/>
          <p:cNvSpPr>
            <a:spLocks noGrp="1"/>
          </p:cNvSpPr>
          <p:nvPr>
            <p:ph sz="quarter" idx="1"/>
          </p:nvPr>
        </p:nvSpPr>
        <p:spPr/>
        <p:txBody>
          <a:bodyPr/>
          <a:lstStyle/>
          <a:p>
            <a:r>
              <a:rPr lang="en-GB" dirty="0" smtClean="0"/>
              <a:t>By </a:t>
            </a:r>
            <a:r>
              <a:rPr lang="en-GB" dirty="0" smtClean="0"/>
              <a:t>the end of this lecture, you should be able to:</a:t>
            </a:r>
          </a:p>
          <a:p>
            <a:pPr lvl="1">
              <a:buFont typeface="Wingdings" pitchFamily="2" charset="2"/>
              <a:buChar char="q"/>
            </a:pPr>
            <a:r>
              <a:rPr lang="en-GB" dirty="0" smtClean="0">
                <a:solidFill>
                  <a:srgbClr val="0070C0"/>
                </a:solidFill>
              </a:rPr>
              <a:t>Define the term ‘Communication’</a:t>
            </a:r>
          </a:p>
          <a:p>
            <a:pPr lvl="1">
              <a:buFont typeface="Wingdings" pitchFamily="2" charset="2"/>
              <a:buChar char="q"/>
            </a:pPr>
            <a:r>
              <a:rPr lang="en-GB" dirty="0" smtClean="0">
                <a:solidFill>
                  <a:srgbClr val="0070C0"/>
                </a:solidFill>
              </a:rPr>
              <a:t>State the purpose of Communication</a:t>
            </a:r>
          </a:p>
          <a:p>
            <a:pPr lvl="1">
              <a:buFont typeface="Wingdings" pitchFamily="2" charset="2"/>
              <a:buChar char="q"/>
            </a:pPr>
            <a:r>
              <a:rPr lang="en-GB" dirty="0" smtClean="0">
                <a:solidFill>
                  <a:srgbClr val="0070C0"/>
                </a:solidFill>
              </a:rPr>
              <a:t>Explain the advantages of studying communication comprehensively</a:t>
            </a:r>
          </a:p>
          <a:p>
            <a:pPr lvl="1">
              <a:buFont typeface="Wingdings" pitchFamily="2" charset="2"/>
              <a:buChar char="q"/>
            </a:pPr>
            <a:r>
              <a:rPr lang="en-GB" dirty="0" smtClean="0">
                <a:solidFill>
                  <a:srgbClr val="0070C0"/>
                </a:solidFill>
              </a:rPr>
              <a:t>Describe the nature and characteristics of communication</a:t>
            </a:r>
          </a:p>
          <a:p>
            <a:pPr lvl="1">
              <a:buFont typeface="Wingdings" pitchFamily="2" charset="2"/>
              <a:buChar char="q"/>
            </a:pPr>
            <a:r>
              <a:rPr lang="en-GB" dirty="0" smtClean="0">
                <a:solidFill>
                  <a:srgbClr val="0070C0"/>
                </a:solidFill>
              </a:rPr>
              <a:t>Analyse the elements in the communication process.</a:t>
            </a:r>
          </a:p>
          <a:p>
            <a:pPr lvl="1">
              <a:buNone/>
            </a:pPr>
            <a:endParaRPr lang="en-GB" dirty="0" smtClean="0">
              <a:solidFill>
                <a:srgbClr val="0070C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smtClean="0"/>
              <a:t>	why study communication </a:t>
            </a:r>
            <a:endParaRPr lang="en-GB" dirty="0"/>
          </a:p>
        </p:txBody>
      </p:sp>
      <p:sp>
        <p:nvSpPr>
          <p:cNvPr id="7" name="Content Placeholder 6"/>
          <p:cNvSpPr>
            <a:spLocks noGrp="1"/>
          </p:cNvSpPr>
          <p:nvPr>
            <p:ph sz="quarter" idx="1"/>
          </p:nvPr>
        </p:nvSpPr>
        <p:spPr/>
        <p:txBody>
          <a:bodyPr/>
          <a:lstStyle/>
          <a:p>
            <a:endParaRPr lang="en-GB" dirty="0" smtClean="0"/>
          </a:p>
          <a:p>
            <a:endParaRPr lang="en-GB" dirty="0" smtClean="0"/>
          </a:p>
          <a:p>
            <a:pPr algn="ctr">
              <a:buNone/>
            </a:pPr>
            <a:r>
              <a:rPr lang="en-GB" sz="4000" b="1" dirty="0" smtClean="0"/>
              <a:t>Some </a:t>
            </a:r>
            <a:r>
              <a:rPr lang="en-GB" sz="4000" b="1" dirty="0" smtClean="0"/>
              <a:t>misperceptions</a:t>
            </a:r>
            <a:r>
              <a:rPr lang="en-GB" dirty="0" smtClean="0"/>
              <a:t/>
            </a:r>
            <a:br>
              <a:rPr lang="en-GB" dirty="0" smtClean="0"/>
            </a:br>
            <a:endParaRPr lang="en-GB" dirty="0" smtClean="0"/>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051720" y="620688"/>
            <a:ext cx="6172200" cy="2053590"/>
          </a:xfrm>
          <a:prstGeom prst="wedgeRectCallout">
            <a:avLst>
              <a:gd name="adj1" fmla="val 49676"/>
              <a:gd name="adj2" fmla="val 86413"/>
            </a:avLst>
          </a:prstGeom>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defRPr/>
            </a:pPr>
            <a:r>
              <a:rPr lang="en-US" b="1" i="1" dirty="0" smtClean="0">
                <a:latin typeface="Verdana" pitchFamily="34" charset="0"/>
              </a:rPr>
              <a:t>“As an engineer, my job is just to develop the best technical solution.  So why do I need communications skills? “</a:t>
            </a:r>
            <a:endParaRPr lang="en-US" b="1" dirty="0">
              <a:latin typeface="Verdana" pitchFamily="34" charset="0"/>
            </a:endParaRPr>
          </a:p>
        </p:txBody>
      </p:sp>
      <p:sp>
        <p:nvSpPr>
          <p:cNvPr id="5" name="Text Placeholder 4"/>
          <p:cNvSpPr>
            <a:spLocks noGrp="1"/>
          </p:cNvSpPr>
          <p:nvPr>
            <p:ph type="body" idx="1"/>
          </p:nvPr>
        </p:nvSpPr>
        <p:spPr>
          <a:xfrm>
            <a:off x="1907704" y="4365104"/>
            <a:ext cx="4320480" cy="1947664"/>
          </a:xfrm>
        </p:spPr>
        <p:txBody>
          <a:bodyPr/>
          <a:lstStyle/>
          <a:p>
            <a:r>
              <a:rPr lang="en-US" altLang="en-US" sz="2800" i="1" dirty="0" smtClean="0"/>
              <a:t>“This is a common view from engineers.  What are your thoughts?</a:t>
            </a:r>
          </a:p>
          <a:p>
            <a:endParaRPr lang="en-GB" dirty="0"/>
          </a:p>
        </p:txBody>
      </p:sp>
      <p:pic>
        <p:nvPicPr>
          <p:cNvPr id="14" name="Picture 2" descr="P:\PROMOTION, SUPPORT, CONTENT &amp; DEVELOPMENT\Stock Photos\22268755[1].jpg"/>
          <p:cNvPicPr>
            <a:picLocks noChangeAspect="1" noChangeArrowheads="1"/>
          </p:cNvPicPr>
          <p:nvPr/>
        </p:nvPicPr>
        <p:blipFill>
          <a:blip r:embed="rId2" cstate="print"/>
          <a:srcRect/>
          <a:stretch>
            <a:fillRect/>
          </a:stretch>
        </p:blipFill>
        <p:spPr bwMode="auto">
          <a:xfrm>
            <a:off x="6300192" y="3356992"/>
            <a:ext cx="2597150" cy="39020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a:stretch>
            <a:fillRect/>
          </a:stretch>
        </p:blipFill>
        <p:spPr bwMode="auto">
          <a:xfrm>
            <a:off x="251520" y="116632"/>
            <a:ext cx="8568952" cy="6284168"/>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lstStyle/>
          <a:p>
            <a:r>
              <a:rPr lang="en-GB" dirty="0" smtClean="0"/>
              <a:t>refers to the resourceful intellectuals, the elites, who have lots of ideas—</a:t>
            </a:r>
            <a:r>
              <a:rPr lang="en-GB" dirty="0" err="1" smtClean="0"/>
              <a:t>ideas</a:t>
            </a:r>
            <a:r>
              <a:rPr lang="en-GB" dirty="0" smtClean="0"/>
              <a:t> that can actually rule the world if only they are shared properly. Unfortunately, even resourceful people fail to deliver their contents because they are not able to communicate properly. </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smtClean="0"/>
              <a:t>Why Study Communication?</a:t>
            </a:r>
            <a:endParaRPr lang="en-GB" dirty="0"/>
          </a:p>
        </p:txBody>
      </p:sp>
      <p:sp>
        <p:nvSpPr>
          <p:cNvPr id="3" name="Content Placeholder 2"/>
          <p:cNvSpPr>
            <a:spLocks noGrp="1"/>
          </p:cNvSpPr>
          <p:nvPr>
            <p:ph sz="quarter" idx="1"/>
          </p:nvPr>
        </p:nvSpPr>
        <p:spPr/>
        <p:txBody>
          <a:bodyPr>
            <a:normAutofit fontScale="85000" lnSpcReduction="20000"/>
          </a:bodyPr>
          <a:lstStyle/>
          <a:p>
            <a:r>
              <a:rPr lang="en-US" altLang="en-US" dirty="0" smtClean="0"/>
              <a:t>Your Quality of Life Depends Primarily on Your Communication Skills</a:t>
            </a:r>
          </a:p>
          <a:p>
            <a:r>
              <a:rPr lang="en-US" dirty="0" smtClean="0"/>
              <a:t>1. </a:t>
            </a:r>
            <a:r>
              <a:rPr lang="en-US" i="1" dirty="0" smtClean="0"/>
              <a:t>Studying communication can improve the way you see yourself. </a:t>
            </a:r>
            <a:r>
              <a:rPr lang="en-US" dirty="0" smtClean="0"/>
              <a:t>Communication is “vital to the development of the whole person”</a:t>
            </a:r>
            <a:endParaRPr lang="en-GB" dirty="0" smtClean="0"/>
          </a:p>
          <a:p>
            <a:r>
              <a:rPr lang="en-US" i="1" dirty="0" smtClean="0"/>
              <a:t>2. Studying communication can improve the way others see you. </a:t>
            </a:r>
            <a:endParaRPr lang="en-GB" dirty="0" smtClean="0"/>
          </a:p>
          <a:p>
            <a:r>
              <a:rPr lang="en-US" i="1" dirty="0" smtClean="0"/>
              <a:t>3. Studying communication can increase what you know about human relationships. </a:t>
            </a:r>
            <a:r>
              <a:rPr lang="en-US" dirty="0" smtClean="0"/>
              <a:t>The field of communication includes learning about how people relate to</a:t>
            </a:r>
            <a:r>
              <a:rPr lang="en-US" i="1" dirty="0" smtClean="0"/>
              <a:t> </a:t>
            </a:r>
            <a:r>
              <a:rPr lang="en-US" dirty="0" smtClean="0"/>
              <a:t>each other and about what type of communication is appropriate for a given</a:t>
            </a:r>
            <a:r>
              <a:rPr lang="en-US" i="1" dirty="0" smtClean="0"/>
              <a:t> </a:t>
            </a:r>
            <a:r>
              <a:rPr lang="en-US" dirty="0" smtClean="0"/>
              <a:t>situation. </a:t>
            </a:r>
          </a:p>
          <a:p>
            <a:r>
              <a:rPr lang="en-US" i="1" dirty="0" smtClean="0"/>
              <a:t>.Studying communication can teach you important life skills. </a:t>
            </a:r>
            <a:r>
              <a:rPr lang="en-US" dirty="0" smtClean="0"/>
              <a:t>such as critical thinking, problem solving, decision making, conflict resolution, team building, and public speaking. </a:t>
            </a:r>
            <a:endParaRPr lang="en-GB" dirty="0" smtClean="0"/>
          </a:p>
          <a:p>
            <a:r>
              <a:rPr lang="en-US" i="1" dirty="0" smtClean="0"/>
              <a:t>5. Studying communication can help you exercise your constitutionally guaranteed freedom of speech.</a:t>
            </a:r>
            <a:endParaRPr lang="en-GB" dirty="0" smtClean="0"/>
          </a:p>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What is communication?</a:t>
            </a:r>
            <a:endParaRPr lang="en-GB" dirty="0"/>
          </a:p>
        </p:txBody>
      </p:sp>
      <p:sp>
        <p:nvSpPr>
          <p:cNvPr id="3" name="Content Placeholder 2"/>
          <p:cNvSpPr>
            <a:spLocks noGrp="1"/>
          </p:cNvSpPr>
          <p:nvPr>
            <p:ph sz="quarter" idx="1"/>
          </p:nvPr>
        </p:nvSpPr>
        <p:spPr/>
        <p:txBody>
          <a:bodyPr/>
          <a:lstStyle/>
          <a:p>
            <a:pPr algn="just"/>
            <a:r>
              <a:rPr lang="en-US" altLang="en-US" dirty="0" smtClean="0"/>
              <a:t>What do you think communication is? How would you define it</a:t>
            </a:r>
          </a:p>
          <a:p>
            <a:pPr algn="just"/>
            <a:endParaRPr lang="en-US" altLang="en-US" dirty="0" smtClean="0"/>
          </a:p>
          <a:p>
            <a:pPr algn="just">
              <a:buNone/>
            </a:pPr>
            <a:r>
              <a:rPr lang="en-US" altLang="en-US" dirty="0" smtClean="0"/>
              <a:t> </a:t>
            </a:r>
          </a:p>
          <a:p>
            <a:pPr algn="just"/>
            <a:r>
              <a:rPr lang="en-US" altLang="en-US" dirty="0" smtClean="0"/>
              <a:t>Take a few minutes to write down some of your thoughts…</a:t>
            </a:r>
          </a:p>
          <a:p>
            <a:endParaRPr lang="en-US" dirty="0" smtClean="0"/>
          </a:p>
          <a:p>
            <a:endParaRPr lang="en-GB" dirty="0"/>
          </a:p>
        </p:txBody>
      </p:sp>
      <p:pic>
        <p:nvPicPr>
          <p:cNvPr id="4" name="Picture 1028" descr="bd10499_"/>
          <p:cNvPicPr>
            <a:picLocks noChangeAspect="1" noChangeArrowheads="1"/>
          </p:cNvPicPr>
          <p:nvPr/>
        </p:nvPicPr>
        <p:blipFill>
          <a:blip r:embed="rId2" cstate="print"/>
          <a:srcRect/>
          <a:stretch>
            <a:fillRect/>
          </a:stretch>
        </p:blipFill>
        <p:spPr bwMode="auto">
          <a:xfrm>
            <a:off x="5181600" y="3694113"/>
            <a:ext cx="3125788" cy="2487612"/>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lstStyle/>
          <a:p>
            <a:r>
              <a:rPr lang="en-GB" dirty="0" smtClean="0"/>
              <a:t>The word communication originates from the Latin </a:t>
            </a:r>
            <a:r>
              <a:rPr lang="en-GB" dirty="0" err="1" smtClean="0">
                <a:solidFill>
                  <a:srgbClr val="00B050"/>
                </a:solidFill>
              </a:rPr>
              <a:t>communicare</a:t>
            </a:r>
            <a:r>
              <a:rPr lang="en-GB" dirty="0" smtClean="0"/>
              <a:t> and the French </a:t>
            </a:r>
            <a:r>
              <a:rPr lang="en-GB" dirty="0" err="1" smtClean="0">
                <a:solidFill>
                  <a:srgbClr val="00B050"/>
                </a:solidFill>
              </a:rPr>
              <a:t>communis</a:t>
            </a:r>
            <a:r>
              <a:rPr lang="en-GB" dirty="0" smtClean="0"/>
              <a:t>, both of which mean, </a:t>
            </a:r>
            <a:r>
              <a:rPr lang="en-GB" dirty="0" smtClean="0">
                <a:solidFill>
                  <a:srgbClr val="FF0000"/>
                </a:solidFill>
              </a:rPr>
              <a:t>‘common</a:t>
            </a:r>
            <a:r>
              <a:rPr lang="en-GB" dirty="0" smtClean="0"/>
              <a:t>.’</a:t>
            </a:r>
          </a:p>
          <a:p>
            <a:r>
              <a:rPr lang="en-GB" dirty="0" smtClean="0"/>
              <a:t>From this information about the origin of the word, we can note the importance given to the aspect of ‘commonality’ in communication.</a:t>
            </a:r>
          </a:p>
          <a:p>
            <a:endParaRPr lang="en-GB" dirty="0" smtClean="0"/>
          </a:p>
          <a:p>
            <a:r>
              <a:rPr lang="en-US" dirty="0" smtClean="0"/>
              <a:t>In simple words we can say that communication is the process of transmitting &amp; Receiving Messages.</a:t>
            </a:r>
          </a:p>
          <a:p>
            <a:endParaRPr lang="en-GB" dirty="0" smtClean="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lnSpcReduction="10000"/>
          </a:bodyPr>
          <a:lstStyle/>
          <a:p>
            <a:r>
              <a:rPr lang="en-GB" b="1" i="1" u="sng" dirty="0" smtClean="0"/>
              <a:t>Important to note</a:t>
            </a:r>
            <a:endParaRPr lang="en-GB" dirty="0" smtClean="0"/>
          </a:p>
          <a:p>
            <a:pPr lvl="0"/>
            <a:r>
              <a:rPr lang="en-GB" dirty="0" smtClean="0"/>
              <a:t>Communication is innate- we are all born with the ability to communicate </a:t>
            </a:r>
            <a:r>
              <a:rPr lang="en-GB" dirty="0" err="1" smtClean="0"/>
              <a:t>e.g</a:t>
            </a:r>
            <a:r>
              <a:rPr lang="en-GB" dirty="0" smtClean="0"/>
              <a:t> since you were a baby you have been communication. A baby's cry can mean so many things: hunger, discomfort etc.</a:t>
            </a:r>
          </a:p>
          <a:p>
            <a:pPr lvl="0"/>
            <a:r>
              <a:rPr lang="en-GB" dirty="0" smtClean="0"/>
              <a:t>Communication is intuitive-people can communicate without studying communication. However, if you want to be a good communicator, it is important for you to understand the theory of communication.</a:t>
            </a:r>
          </a:p>
          <a:p>
            <a:pPr lvl="0"/>
            <a:r>
              <a:rPr lang="en-GB" dirty="0" smtClean="0"/>
              <a:t>Communication is continuous-there is no definite beginning nor end. We send and receive messages simultaneously.</a:t>
            </a:r>
          </a:p>
          <a:p>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Purpose of communication </a:t>
            </a:r>
            <a:endParaRPr lang="en-GB" dirty="0"/>
          </a:p>
        </p:txBody>
      </p:sp>
      <p:sp>
        <p:nvSpPr>
          <p:cNvPr id="3" name="Content Placeholder 2"/>
          <p:cNvSpPr>
            <a:spLocks noGrp="1"/>
          </p:cNvSpPr>
          <p:nvPr>
            <p:ph sz="quarter" idx="1"/>
          </p:nvPr>
        </p:nvSpPr>
        <p:spPr/>
        <p:txBody>
          <a:bodyPr/>
          <a:lstStyle/>
          <a:p>
            <a:r>
              <a:rPr lang="en-GB" dirty="0" smtClean="0"/>
              <a:t>Communication in the business world is always purposeful. Understanding communication purposes helps the communicator to tailor their messages in order to achieve their intended purpose. </a:t>
            </a:r>
          </a:p>
          <a:p>
            <a:pPr lvl="0"/>
            <a:r>
              <a:rPr lang="en-GB" dirty="0" smtClean="0"/>
              <a:t>To inform</a:t>
            </a:r>
          </a:p>
          <a:p>
            <a:pPr lvl="0"/>
            <a:r>
              <a:rPr lang="en-GB" dirty="0" smtClean="0"/>
              <a:t>To persuade</a:t>
            </a:r>
          </a:p>
          <a:p>
            <a:pPr lvl="0"/>
            <a:r>
              <a:rPr lang="en-GB" dirty="0" smtClean="0"/>
              <a:t>To create good will</a:t>
            </a:r>
          </a:p>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do we communicate?</a:t>
            </a:r>
            <a:endParaRPr lang="en-GB" dirty="0"/>
          </a:p>
        </p:txBody>
      </p:sp>
      <p:sp>
        <p:nvSpPr>
          <p:cNvPr id="3" name="Content Placeholder 2"/>
          <p:cNvSpPr>
            <a:spLocks noGrp="1"/>
          </p:cNvSpPr>
          <p:nvPr>
            <p:ph sz="quarter" idx="1"/>
          </p:nvPr>
        </p:nvSpPr>
        <p:spPr/>
        <p:txBody>
          <a:bodyPr/>
          <a:lstStyle/>
          <a:p>
            <a:pPr>
              <a:lnSpc>
                <a:spcPct val="90000"/>
              </a:lnSpc>
              <a:buFontTx/>
              <a:buChar char="•"/>
            </a:pPr>
            <a:r>
              <a:rPr lang="en-US" altLang="en-US" dirty="0" smtClean="0"/>
              <a:t>We communicate to:</a:t>
            </a:r>
          </a:p>
          <a:p>
            <a:pPr lvl="1">
              <a:lnSpc>
                <a:spcPct val="90000"/>
              </a:lnSpc>
              <a:buFontTx/>
              <a:buChar char="•"/>
            </a:pPr>
            <a:r>
              <a:rPr lang="en-US" altLang="en-US" dirty="0" smtClean="0"/>
              <a:t>Share our ideas and opinions</a:t>
            </a:r>
          </a:p>
          <a:p>
            <a:pPr lvl="1">
              <a:lnSpc>
                <a:spcPct val="90000"/>
              </a:lnSpc>
              <a:buFontTx/>
              <a:buChar char="•"/>
            </a:pPr>
            <a:r>
              <a:rPr lang="en-US" altLang="en-US" dirty="0" smtClean="0"/>
              <a:t>Provide feedback to others</a:t>
            </a:r>
          </a:p>
          <a:p>
            <a:pPr lvl="1">
              <a:lnSpc>
                <a:spcPct val="90000"/>
              </a:lnSpc>
              <a:buFontTx/>
              <a:buChar char="•"/>
            </a:pPr>
            <a:r>
              <a:rPr lang="en-US" altLang="en-US" dirty="0" smtClean="0"/>
              <a:t>Get information from others</a:t>
            </a:r>
          </a:p>
          <a:p>
            <a:pPr lvl="1">
              <a:lnSpc>
                <a:spcPct val="90000"/>
              </a:lnSpc>
              <a:buFontTx/>
              <a:buChar char="•"/>
            </a:pPr>
            <a:r>
              <a:rPr lang="en-US" altLang="en-US" dirty="0" smtClean="0"/>
              <a:t>Gain power and influence</a:t>
            </a:r>
          </a:p>
          <a:p>
            <a:pPr lvl="1">
              <a:lnSpc>
                <a:spcPct val="90000"/>
              </a:lnSpc>
              <a:buFontTx/>
              <a:buChar char="•"/>
            </a:pPr>
            <a:r>
              <a:rPr lang="en-US" altLang="en-US" dirty="0" smtClean="0"/>
              <a:t>Develop social relationships</a:t>
            </a:r>
          </a:p>
          <a:p>
            <a:pPr lvl="1">
              <a:lnSpc>
                <a:spcPct val="90000"/>
              </a:lnSpc>
              <a:buFontTx/>
              <a:buChar char="•"/>
            </a:pPr>
            <a:r>
              <a:rPr lang="en-US" altLang="en-US" dirty="0" smtClean="0"/>
              <a:t>Maintain self-expression and our culture</a:t>
            </a:r>
          </a:p>
          <a:p>
            <a:pPr lvl="1">
              <a:lnSpc>
                <a:spcPct val="90000"/>
              </a:lnSpc>
              <a:buFontTx/>
              <a:buChar char="•"/>
            </a:pPr>
            <a:r>
              <a:rPr lang="en-US" altLang="en-US" dirty="0" smtClean="0"/>
              <a:t>and other ideas you may have thought of</a:t>
            </a:r>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Characteristics of Communication</a:t>
            </a:r>
            <a:endParaRPr lang="en-GB" dirty="0"/>
          </a:p>
        </p:txBody>
      </p:sp>
      <p:sp>
        <p:nvSpPr>
          <p:cNvPr id="3" name="Content Placeholder 2"/>
          <p:cNvSpPr>
            <a:spLocks noGrp="1"/>
          </p:cNvSpPr>
          <p:nvPr>
            <p:ph sz="quarter" idx="1"/>
          </p:nvPr>
        </p:nvSpPr>
        <p:spPr/>
        <p:txBody>
          <a:bodyPr>
            <a:normAutofit fontScale="92500" lnSpcReduction="20000"/>
          </a:bodyPr>
          <a:lstStyle/>
          <a:p>
            <a:r>
              <a:rPr lang="en-GB" dirty="0" smtClean="0"/>
              <a:t>Communication is a process. No message occurs in isolation; it is a process</a:t>
            </a:r>
          </a:p>
          <a:p>
            <a:r>
              <a:rPr lang="en-GB" dirty="0" smtClean="0"/>
              <a:t>Unavoidable</a:t>
            </a:r>
          </a:p>
          <a:p>
            <a:pPr lvl="0"/>
            <a:r>
              <a:rPr lang="en-GB" dirty="0" smtClean="0"/>
              <a:t>two way –communication can take place only when there are at least two people</a:t>
            </a:r>
          </a:p>
          <a:p>
            <a:r>
              <a:rPr lang="en-GB" dirty="0" smtClean="0"/>
              <a:t>dynamic. It is not static. It is continuous-goes beyond what we say </a:t>
            </a:r>
            <a:r>
              <a:rPr lang="en-GB" dirty="0" err="1" smtClean="0"/>
              <a:t>eg</a:t>
            </a:r>
            <a:r>
              <a:rPr lang="en-GB" dirty="0" smtClean="0"/>
              <a:t> gestures, tone of voice</a:t>
            </a:r>
          </a:p>
          <a:p>
            <a:r>
              <a:rPr lang="en-GB" dirty="0" smtClean="0"/>
              <a:t>symbolic.</a:t>
            </a:r>
          </a:p>
          <a:p>
            <a:r>
              <a:rPr lang="en-GB" dirty="0" smtClean="0"/>
              <a:t>contextual. Context affects communication</a:t>
            </a:r>
          </a:p>
          <a:p>
            <a:r>
              <a:rPr lang="en-GB" dirty="0" smtClean="0"/>
              <a:t>irreversible. Once words are out of the mouth or information written, sent and received, communication cannot be reversed</a:t>
            </a:r>
          </a:p>
          <a:p>
            <a:r>
              <a:rPr lang="en-GB" dirty="0" smtClean="0"/>
              <a:t>purposeful. Communication is purposive because it is done to achieve a goal for both the initiator and the receiver</a:t>
            </a:r>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
            </a:r>
            <a:br>
              <a:rPr lang="en-GB" dirty="0" smtClean="0"/>
            </a:br>
            <a:r>
              <a:rPr lang="en-GB" dirty="0" smtClean="0"/>
              <a:t/>
            </a:r>
            <a:br>
              <a:rPr lang="en-GB" dirty="0" smtClean="0"/>
            </a:br>
            <a:r>
              <a:rPr lang="en-GB" dirty="0" smtClean="0"/>
              <a:t/>
            </a:r>
            <a:br>
              <a:rPr lang="en-GB" dirty="0" smtClean="0"/>
            </a:br>
            <a:r>
              <a:rPr lang="en-GB" dirty="0" smtClean="0"/>
              <a:t/>
            </a:r>
            <a:br>
              <a:rPr lang="en-GB" dirty="0" smtClean="0"/>
            </a:br>
            <a:r>
              <a:rPr lang="en-GB" dirty="0" smtClean="0"/>
              <a:t/>
            </a:r>
            <a:br>
              <a:rPr lang="en-GB" dirty="0" smtClean="0"/>
            </a:br>
            <a:r>
              <a:rPr lang="en-GB" dirty="0" smtClean="0"/>
              <a:t/>
            </a:r>
            <a:br>
              <a:rPr lang="en-GB" dirty="0" smtClean="0"/>
            </a:br>
            <a:r>
              <a:rPr lang="en-GB" dirty="0" smtClean="0"/>
              <a:t/>
            </a:r>
            <a:br>
              <a:rPr lang="en-GB" dirty="0" smtClean="0"/>
            </a:br>
            <a:r>
              <a:rPr lang="en-GB" dirty="0" smtClean="0"/>
              <a:t/>
            </a:r>
            <a:br>
              <a:rPr lang="en-GB" dirty="0" smtClean="0"/>
            </a:br>
            <a:r>
              <a:rPr lang="en-GB" b="1" i="1" dirty="0" smtClean="0"/>
              <a:t>How does communication work?</a:t>
            </a:r>
            <a:r>
              <a:rPr lang="en-GB" b="1" dirty="0" smtClean="0"/>
              <a:t> </a:t>
            </a:r>
            <a:endParaRPr lang="en-GB" dirty="0"/>
          </a:p>
        </p:txBody>
      </p:sp>
      <p:sp>
        <p:nvSpPr>
          <p:cNvPr id="3" name="Content Placeholder 2"/>
          <p:cNvSpPr>
            <a:spLocks noGrp="1"/>
          </p:cNvSpPr>
          <p:nvPr>
            <p:ph sz="quarter" idx="1"/>
          </p:nvPr>
        </p:nvSpPr>
        <p:spPr/>
        <p:txBody>
          <a:bodyPr/>
          <a:lstStyle/>
          <a:p>
            <a:r>
              <a:rPr lang="en-GB" dirty="0" smtClean="0"/>
              <a:t>Elements of the communication process </a:t>
            </a:r>
            <a:endParaRPr lang="en-GB" dirty="0"/>
          </a:p>
        </p:txBody>
      </p:sp>
      <p:pic>
        <p:nvPicPr>
          <p:cNvPr id="4" name="Picture 2" descr="Process Communication"/>
          <p:cNvPicPr>
            <a:picLocks noChangeAspect="1" noChangeArrowheads="1"/>
          </p:cNvPicPr>
          <p:nvPr/>
        </p:nvPicPr>
        <p:blipFill>
          <a:blip r:embed="rId2" cstate="print"/>
          <a:srcRect/>
          <a:stretch>
            <a:fillRect/>
          </a:stretch>
        </p:blipFill>
        <p:spPr bwMode="auto">
          <a:xfrm>
            <a:off x="1547664" y="2708920"/>
            <a:ext cx="5715000" cy="3452267"/>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63613" y="647700"/>
            <a:ext cx="7885112" cy="457200"/>
          </a:xfrm>
        </p:spPr>
        <p:txBody>
          <a:bodyPr>
            <a:normAutofit fontScale="90000"/>
          </a:bodyPr>
          <a:lstStyle/>
          <a:p>
            <a:r>
              <a:rPr lang="en-US" sz="4800" b="1">
                <a:solidFill>
                  <a:schemeClr val="tx2"/>
                </a:solidFill>
              </a:rPr>
              <a:t>Sender (Encoder)</a:t>
            </a:r>
          </a:p>
        </p:txBody>
      </p:sp>
      <p:sp>
        <p:nvSpPr>
          <p:cNvPr id="18435" name="Rectangle 3"/>
          <p:cNvSpPr>
            <a:spLocks noGrp="1" noChangeArrowheads="1"/>
          </p:cNvSpPr>
          <p:nvPr>
            <p:ph sz="quarter" idx="1"/>
          </p:nvPr>
        </p:nvSpPr>
        <p:spPr>
          <a:xfrm>
            <a:off x="865188" y="1119188"/>
            <a:ext cx="7799387" cy="4943475"/>
          </a:xfrm>
        </p:spPr>
        <p:txBody>
          <a:bodyPr/>
          <a:lstStyle/>
          <a:p>
            <a:r>
              <a:rPr lang="en-US" dirty="0"/>
              <a:t>When you sending the message, you are the  “Encoder” </a:t>
            </a:r>
            <a:r>
              <a:rPr lang="en-US" dirty="0" smtClean="0"/>
              <a:t>.</a:t>
            </a:r>
          </a:p>
          <a:p>
            <a:r>
              <a:rPr lang="en-US" dirty="0" smtClean="0"/>
              <a:t>,</a:t>
            </a:r>
            <a:r>
              <a:rPr lang="en-GB" dirty="0" smtClean="0"/>
              <a:t> The sender is the person who has a message to be communicated. </a:t>
            </a:r>
            <a:r>
              <a:rPr lang="en-US" dirty="0" smtClean="0"/>
              <a:t> </a:t>
            </a:r>
          </a:p>
          <a:p>
            <a:r>
              <a:rPr lang="en-US" dirty="0" smtClean="0"/>
              <a:t>the source could be any individual or collection of individuals—one person, a group, or an entire organization. It could be a group of managers wanting to explain policy changes to employees, or it could be one employee explaining to another employee how to complete a certain task.</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Encoding</a:t>
            </a:r>
            <a:r>
              <a:rPr lang="en-GB" dirty="0" smtClean="0"/>
              <a:t/>
            </a:r>
            <a:br>
              <a:rPr lang="en-GB" dirty="0" smtClean="0"/>
            </a:br>
            <a:endParaRPr lang="en-GB" dirty="0"/>
          </a:p>
        </p:txBody>
      </p:sp>
      <p:sp>
        <p:nvSpPr>
          <p:cNvPr id="3" name="Content Placeholder 2"/>
          <p:cNvSpPr>
            <a:spLocks noGrp="1"/>
          </p:cNvSpPr>
          <p:nvPr>
            <p:ph sz="quarter" idx="1"/>
          </p:nvPr>
        </p:nvSpPr>
        <p:spPr/>
        <p:txBody>
          <a:bodyPr/>
          <a:lstStyle/>
          <a:p>
            <a:r>
              <a:rPr lang="en-GB" dirty="0" smtClean="0"/>
              <a:t>the process of formulating ideas, thoughts and feelings about objects and events such as words, symbols, charts or gestures and transforming them into some form of message.  The way the sender perceives, organizes and interprets the objects can affect the encoding process. The sender’s skills, attitude, knowledge and socio-cultural system also affects the encoding process.</a:t>
            </a:r>
          </a:p>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The message</a:t>
            </a:r>
            <a:br>
              <a:rPr lang="en-GB" b="1" dirty="0" smtClean="0"/>
            </a:br>
            <a:endParaRPr lang="en-GB" dirty="0"/>
          </a:p>
        </p:txBody>
      </p:sp>
      <p:sp>
        <p:nvSpPr>
          <p:cNvPr id="3" name="Content Placeholder 2"/>
          <p:cNvSpPr>
            <a:spLocks noGrp="1"/>
          </p:cNvSpPr>
          <p:nvPr>
            <p:ph sz="quarter" idx="1"/>
          </p:nvPr>
        </p:nvSpPr>
        <p:spPr/>
        <p:txBody>
          <a:bodyPr/>
          <a:lstStyle/>
          <a:p>
            <a:r>
              <a:rPr lang="en-GB" dirty="0" smtClean="0"/>
              <a:t>The outcome of the encoding process- can either be verbal or non-verbal. A verbal message is communicated by use of a language. Non-verbal communication touches the form of facial expressions, body posture, tone of voice, eye contact, touching, gestures and spatial distance.  </a:t>
            </a:r>
          </a:p>
          <a:p>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The medium</a:t>
            </a:r>
            <a:br>
              <a:rPr lang="en-GB" b="1" dirty="0" smtClean="0"/>
            </a:br>
            <a:endParaRPr lang="en-GB" dirty="0"/>
          </a:p>
        </p:txBody>
      </p:sp>
      <p:sp>
        <p:nvSpPr>
          <p:cNvPr id="3" name="Content Placeholder 2"/>
          <p:cNvSpPr>
            <a:spLocks noGrp="1"/>
          </p:cNvSpPr>
          <p:nvPr>
            <p:ph sz="quarter" idx="1"/>
          </p:nvPr>
        </p:nvSpPr>
        <p:spPr/>
        <p:txBody>
          <a:bodyPr/>
          <a:lstStyle/>
          <a:p>
            <a:r>
              <a:rPr lang="en-GB" dirty="0" smtClean="0"/>
              <a:t>This is the carrier of the message from the sender to the receiver.  The most common medium is face-to-face conversations, telephone conversations, group conferences, written reports, charts and internal memos.  The objective of the communication determines the type of medium to be used.</a:t>
            </a:r>
          </a:p>
          <a:p>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The receiver</a:t>
            </a:r>
            <a:br>
              <a:rPr lang="en-GB" b="1" dirty="0" smtClean="0"/>
            </a:br>
            <a:endParaRPr lang="en-GB" dirty="0"/>
          </a:p>
        </p:txBody>
      </p:sp>
      <p:sp>
        <p:nvSpPr>
          <p:cNvPr id="3" name="Content Placeholder 2"/>
          <p:cNvSpPr>
            <a:spLocks noGrp="1"/>
          </p:cNvSpPr>
          <p:nvPr>
            <p:ph sz="quarter" idx="1"/>
          </p:nvPr>
        </p:nvSpPr>
        <p:spPr/>
        <p:txBody>
          <a:bodyPr/>
          <a:lstStyle/>
          <a:p>
            <a:r>
              <a:rPr lang="en-US" dirty="0" smtClean="0"/>
              <a:t>the person who acquires the source's message. Like the source, the receiver can be an individual, a group, or an entire organization.</a:t>
            </a:r>
          </a:p>
          <a:p>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Decoding</a:t>
            </a:r>
            <a:r>
              <a:rPr lang="en-GB" dirty="0" smtClean="0"/>
              <a:t/>
            </a:r>
            <a:br>
              <a:rPr lang="en-GB" dirty="0" smtClean="0"/>
            </a:br>
            <a:endParaRPr lang="en-GB" dirty="0"/>
          </a:p>
        </p:txBody>
      </p:sp>
      <p:sp>
        <p:nvSpPr>
          <p:cNvPr id="3" name="Content Placeholder 2"/>
          <p:cNvSpPr>
            <a:spLocks noGrp="1"/>
          </p:cNvSpPr>
          <p:nvPr>
            <p:ph sz="quarter" idx="1"/>
          </p:nvPr>
        </p:nvSpPr>
        <p:spPr/>
        <p:txBody>
          <a:bodyPr/>
          <a:lstStyle/>
          <a:p>
            <a:r>
              <a:rPr lang="en-GB" dirty="0" smtClean="0"/>
              <a:t>Decoding refers to the process by which the receiver interprets the message and translates it into meaningful information.   When the receiver receives the message, he/she translates the message ideas, thoughts and feelings. The messages received are then interpreted into things or events that can convey some meaning to the receiver. Decoding is affected by the personal values and beliefs, perception and knowledge of the receiver.</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Feedback</a:t>
            </a:r>
            <a:r>
              <a:rPr lang="en-GB" dirty="0" smtClean="0"/>
              <a:t/>
            </a:r>
            <a:br>
              <a:rPr lang="en-GB" dirty="0" smtClean="0"/>
            </a:br>
            <a:endParaRPr lang="en-GB" dirty="0"/>
          </a:p>
        </p:txBody>
      </p:sp>
      <p:sp>
        <p:nvSpPr>
          <p:cNvPr id="3" name="Content Placeholder 2"/>
          <p:cNvSpPr>
            <a:spLocks noGrp="1"/>
          </p:cNvSpPr>
          <p:nvPr>
            <p:ph sz="quarter" idx="1"/>
          </p:nvPr>
        </p:nvSpPr>
        <p:spPr/>
        <p:txBody>
          <a:bodyPr/>
          <a:lstStyle/>
          <a:p>
            <a:r>
              <a:rPr lang="en-US" dirty="0" smtClean="0"/>
              <a:t>Feedback is the receiver's observable response(s) to a source's message. Such responses can be either of a verbal nature (for example, I don't agree with you; Yes, that is right!) or a nonverbal nature (for example, a frown, shaking one's head in disagreement, nodding in agreement). </a:t>
            </a:r>
            <a:r>
              <a:rPr lang="en-GB" dirty="0" smtClean="0"/>
              <a:t>Feedback enables the sender to know whether or not the message has been received and interpreted correctly.</a:t>
            </a:r>
          </a:p>
          <a:p>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whAt</a:t>
            </a:r>
            <a:r>
              <a:rPr lang="en-GB" dirty="0" smtClean="0"/>
              <a:t> have we learnt?</a:t>
            </a:r>
            <a:endParaRPr lang="en-GB" dirty="0"/>
          </a:p>
        </p:txBody>
      </p:sp>
      <p:sp>
        <p:nvSpPr>
          <p:cNvPr id="3" name="Content Placeholder 2"/>
          <p:cNvSpPr>
            <a:spLocks noGrp="1"/>
          </p:cNvSpPr>
          <p:nvPr>
            <p:ph sz="quarter" idx="1"/>
          </p:nvPr>
        </p:nvSpPr>
        <p:spPr/>
        <p:txBody>
          <a:bodyPr>
            <a:normAutofit fontScale="92500" lnSpcReduction="10000"/>
          </a:bodyPr>
          <a:lstStyle/>
          <a:p>
            <a:r>
              <a:rPr lang="en-GB" dirty="0" smtClean="0"/>
              <a:t>communication is a two-way process that results in shared meaning or common understanding </a:t>
            </a:r>
            <a:endParaRPr lang="en-GB" dirty="0" smtClean="0"/>
          </a:p>
          <a:p>
            <a:r>
              <a:rPr lang="en-GB" dirty="0" smtClean="0"/>
              <a:t>feedback is the receiver's response to the sender's message and can take different forms. </a:t>
            </a:r>
            <a:endParaRPr lang="en-GB" dirty="0" smtClean="0"/>
          </a:p>
          <a:p>
            <a:r>
              <a:rPr lang="en-GB" dirty="0" smtClean="0"/>
              <a:t>Communication takes place in different contexts: intrapersonal, interpersonal, small group, public, organizational or mass </a:t>
            </a:r>
            <a:endParaRPr lang="en-GB" dirty="0" smtClean="0"/>
          </a:p>
          <a:p>
            <a:r>
              <a:rPr lang="en-GB" dirty="0" smtClean="0"/>
              <a:t>A model can be used as a theoretical representation of the communication process. </a:t>
            </a:r>
            <a:endParaRPr lang="en-GB" dirty="0" smtClean="0"/>
          </a:p>
          <a:p>
            <a:r>
              <a:rPr lang="en-GB" dirty="0" smtClean="0"/>
              <a:t>communication can be affected by noise/ </a:t>
            </a:r>
            <a:r>
              <a:rPr lang="en-GB" dirty="0" smtClean="0"/>
              <a:t>barriers- anything that interferes </a:t>
            </a:r>
            <a:r>
              <a:rPr lang="en-GB" dirty="0" smtClean="0"/>
              <a:t>with the achievement of understanding between the sender and the </a:t>
            </a:r>
            <a:r>
              <a:rPr lang="en-GB" dirty="0" smtClean="0"/>
              <a:t>receiver.</a:t>
            </a:r>
            <a:endParaRPr lang="en-GB" smtClean="0"/>
          </a:p>
          <a:p>
            <a:r>
              <a:rPr lang="en-GB" smtClean="0"/>
              <a:t>A </a:t>
            </a:r>
            <a:r>
              <a:rPr lang="en-GB" dirty="0" smtClean="0"/>
              <a:t>good communicator will anticipate and try to avoid the barriers in the communication process </a:t>
            </a: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smtClean="0"/>
              <a:t>Noise</a:t>
            </a:r>
            <a:r>
              <a:rPr lang="en-GB" smtClean="0"/>
              <a:t/>
            </a:r>
            <a:br>
              <a:rPr lang="en-GB" smtClean="0"/>
            </a:br>
            <a:endParaRPr lang="en-GB"/>
          </a:p>
        </p:txBody>
      </p:sp>
      <p:sp>
        <p:nvSpPr>
          <p:cNvPr id="3" name="Content Placeholder 2"/>
          <p:cNvSpPr>
            <a:spLocks noGrp="1"/>
          </p:cNvSpPr>
          <p:nvPr>
            <p:ph sz="quarter" idx="1"/>
          </p:nvPr>
        </p:nvSpPr>
        <p:spPr/>
        <p:txBody>
          <a:bodyPr>
            <a:normAutofit/>
          </a:bodyPr>
          <a:lstStyle/>
          <a:p>
            <a:r>
              <a:rPr lang="en-GB" dirty="0" smtClean="0"/>
              <a:t>Noise is any factor that disturbs or interferes with the process of communication and hence in the understanding of the intended meaning of the message. Noise may be internal (e.g., an inattentive receiver) or external (e.g., conducting a conversation in noise of machines in an assembly line). The senders’ attitude, assumptions and perceptions can affect the encoding process adversely. The receivers’ attitudes towards the message and the sender can also distort the decoding process. Environmental sounds can also interfere with the transmission of a message.</a:t>
            </a:r>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8105</TotalTime>
  <Words>1443</Words>
  <Application>Microsoft Office PowerPoint</Application>
  <PresentationFormat>On-screen Show (4:3)</PresentationFormat>
  <Paragraphs>102</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Oriel</vt:lpstr>
      <vt:lpstr>UCC 102: COMMUNICATION SKILLS</vt:lpstr>
      <vt:lpstr>UCC 102: COMMUNICATION SKILLS</vt:lpstr>
      <vt:lpstr>INTRODUCTION</vt:lpstr>
      <vt:lpstr>Quotes about communication </vt:lpstr>
      <vt:lpstr>In this LECTURE!</vt:lpstr>
      <vt:lpstr> why study communication </vt:lpstr>
      <vt:lpstr>“As an engineer, my job is just to develop the best technical solution.  So why do I need communications skills? “</vt:lpstr>
      <vt:lpstr>Slide 8</vt:lpstr>
      <vt:lpstr>Slide 9</vt:lpstr>
      <vt:lpstr>Why Study Communication?</vt:lpstr>
      <vt:lpstr>What is communication?</vt:lpstr>
      <vt:lpstr>Slide 12</vt:lpstr>
      <vt:lpstr>Slide 13</vt:lpstr>
      <vt:lpstr>Purpose of communication </vt:lpstr>
      <vt:lpstr>Why do we communicate?</vt:lpstr>
      <vt:lpstr>Characteristics of Communication</vt:lpstr>
      <vt:lpstr>         How does communication work? </vt:lpstr>
      <vt:lpstr>Sender (Encoder)</vt:lpstr>
      <vt:lpstr>Encoding </vt:lpstr>
      <vt:lpstr>The message </vt:lpstr>
      <vt:lpstr>The medium </vt:lpstr>
      <vt:lpstr>The receiver </vt:lpstr>
      <vt:lpstr>Decoding </vt:lpstr>
      <vt:lpstr>Feedback </vt:lpstr>
      <vt:lpstr>whAt have we learnt?</vt:lpstr>
      <vt:lpstr>Noise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KARATINA UNIVERSITY UCC 102: COMMUNICATION SKILLS</dc:title>
  <dc:creator>Caren Ogola</dc:creator>
  <cp:lastModifiedBy>Caren Ogola</cp:lastModifiedBy>
  <cp:revision>352</cp:revision>
  <dcterms:created xsi:type="dcterms:W3CDTF">2021-03-11T19:06:49Z</dcterms:created>
  <dcterms:modified xsi:type="dcterms:W3CDTF">2022-02-14T04:53:54Z</dcterms:modified>
</cp:coreProperties>
</file>