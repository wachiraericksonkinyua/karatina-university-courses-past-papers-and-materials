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64" r:id="rId2"/>
    <p:sldId id="267" r:id="rId3"/>
    <p:sldId id="268" r:id="rId4"/>
    <p:sldId id="270" r:id="rId5"/>
    <p:sldId id="271" r:id="rId6"/>
    <p:sldId id="272" r:id="rId7"/>
    <p:sldId id="273" r:id="rId8"/>
    <p:sldId id="274" r:id="rId9"/>
    <p:sldId id="275" r:id="rId10"/>
    <p:sldId id="276" r:id="rId11"/>
    <p:sldId id="309" r:id="rId12"/>
    <p:sldId id="278" r:id="rId13"/>
    <p:sldId id="281" r:id="rId14"/>
    <p:sldId id="282" r:id="rId15"/>
    <p:sldId id="312" r:id="rId16"/>
    <p:sldId id="284" r:id="rId17"/>
    <p:sldId id="287" r:id="rId18"/>
    <p:sldId id="311" r:id="rId19"/>
    <p:sldId id="310" r:id="rId20"/>
    <p:sldId id="288" r:id="rId21"/>
    <p:sldId id="290" r:id="rId22"/>
    <p:sldId id="291" r:id="rId23"/>
    <p:sldId id="313" r:id="rId24"/>
    <p:sldId id="293" r:id="rId25"/>
    <p:sldId id="295" r:id="rId26"/>
    <p:sldId id="296" r:id="rId27"/>
    <p:sldId id="297" r:id="rId28"/>
    <p:sldId id="308" r:id="rId29"/>
    <p:sldId id="299" r:id="rId30"/>
    <p:sldId id="300" r:id="rId31"/>
    <p:sldId id="301" r:id="rId32"/>
    <p:sldId id="302" r:id="rId33"/>
    <p:sldId id="266" r:id="rId34"/>
    <p:sldId id="26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16" userDrawn="1">
          <p15:clr>
            <a:srgbClr val="A4A3A4"/>
          </p15:clr>
        </p15:guide>
        <p15:guide id="2" pos="39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uthor" initials="A" lastIdx="51" clrIdx="0"/>
  <p:cmAuthor id="7" name="Stevie St. John" initials="SSJ" lastIdx="52" clrIdx="7">
    <p:extLst/>
  </p:cmAuthor>
  <p:cmAuthor id="1" name="Barbara" initials="B" lastIdx="9" clrIdx="1"/>
  <p:cmAuthor id="8" name="Heather Griffin" initials="HG" lastIdx="20" clrIdx="8">
    <p:extLst>
      <p:ext uri="{19B8F6BF-5375-455C-9EA6-DF929625EA0E}">
        <p15:presenceInfo xmlns:p15="http://schemas.microsoft.com/office/powerpoint/2012/main" userId="Heather Griffin" providerId="None"/>
      </p:ext>
    </p:extLst>
  </p:cmAuthor>
  <p:cmAuthor id="2" name="JLB" initials="JLB" lastIdx="4" clrIdx="2">
    <p:extLst/>
  </p:cmAuthor>
  <p:cmAuthor id="3" name="Steve Rubin" initials="SR" lastIdx="2" clrIdx="3">
    <p:extLst/>
  </p:cmAuthor>
  <p:cmAuthor id="4" name="Heather Hetzler" initials="HH" lastIdx="15" clrIdx="4"/>
  <p:cmAuthor id="5" name="Catherine" initials="C" lastIdx="5" clrIdx="5">
    <p:extLst/>
  </p:cmAuthor>
  <p:cmAuthor id="6" name="Morgan Hetzler" initials="MH" lastIdx="31" clrIdx="6">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0909"/>
    <a:srgbClr val="D2D7E6"/>
    <a:srgbClr val="C1D5F3"/>
    <a:srgbClr val="228C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5" autoAdjust="0"/>
    <p:restoredTop sz="81508" autoAdjust="0"/>
  </p:normalViewPr>
  <p:slideViewPr>
    <p:cSldViewPr>
      <p:cViewPr varScale="1">
        <p:scale>
          <a:sx n="57" d="100"/>
          <a:sy n="57" d="100"/>
        </p:scale>
        <p:origin x="1218" y="42"/>
      </p:cViewPr>
      <p:guideLst>
        <p:guide orient="horz" pos="816"/>
        <p:guide pos="3984"/>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86" d="100"/>
          <a:sy n="86" d="100"/>
        </p:scale>
        <p:origin x="3786"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B6DA5F2-66C3-4954-8B0E-122A6C3B1CBD}" type="datetimeFigureOut">
              <a:rPr lang="en-US" smtClean="0"/>
              <a:t>2/25/2016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FCFAD7-CD95-429F-9EFD-1315F2719C86}" type="slidenum">
              <a:rPr lang="en-US" smtClean="0"/>
              <a:t>‹#›</a:t>
            </a:fld>
            <a:endParaRPr lang="en-US"/>
          </a:p>
        </p:txBody>
      </p:sp>
    </p:spTree>
    <p:extLst>
      <p:ext uri="{BB962C8B-B14F-4D97-AF65-F5344CB8AC3E}">
        <p14:creationId xmlns:p14="http://schemas.microsoft.com/office/powerpoint/2010/main" val="34126141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892484-3072-4666-8714-3B9BBEA18940}" type="datetimeFigureOut">
              <a:rPr lang="en-US" smtClean="0"/>
              <a:pPr/>
              <a:t>2/25/2016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3D1CA0-39BC-4E7A-9EE3-2C859D01C05C}" type="slidenum">
              <a:rPr lang="en-US" smtClean="0"/>
              <a:pPr/>
              <a:t>‹#›</a:t>
            </a:fld>
            <a:endParaRPr lang="en-US" dirty="0"/>
          </a:p>
        </p:txBody>
      </p:sp>
    </p:spTree>
    <p:extLst>
      <p:ext uri="{BB962C8B-B14F-4D97-AF65-F5344CB8AC3E}">
        <p14:creationId xmlns:p14="http://schemas.microsoft.com/office/powerpoint/2010/main" val="3908804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6"/>
          <p:cNvSpPr>
            <a:spLocks noGrp="1" noChangeArrowheads="1"/>
          </p:cNvSpPr>
          <p:nvPr>
            <p:ph type="ftr" sz="quarter" idx="4"/>
          </p:nvPr>
        </p:nvSpPr>
        <p:spPr>
          <a:noFill/>
        </p:spPr>
        <p:txBody>
          <a:bodyPr/>
          <a:lstStyle/>
          <a:p>
            <a:r>
              <a:rPr lang="en-US" dirty="0" smtClean="0">
                <a:cs typeface="Arial" charset="0"/>
              </a:rPr>
              <a:t>&lt;#&gt;</a:t>
            </a:r>
          </a:p>
        </p:txBody>
      </p:sp>
      <p:sp>
        <p:nvSpPr>
          <p:cNvPr id="16386" name="Rectangle 7"/>
          <p:cNvSpPr>
            <a:spLocks noGrp="1" noChangeArrowheads="1"/>
          </p:cNvSpPr>
          <p:nvPr>
            <p:ph type="sldNum" sz="quarter" idx="5"/>
          </p:nvPr>
        </p:nvSpPr>
        <p:spPr>
          <a:noFill/>
        </p:spPr>
        <p:txBody>
          <a:bodyPr/>
          <a:lstStyle/>
          <a:p>
            <a:fld id="{976DA6D4-0418-46D4-AD73-F430A82CE43B}" type="slidenum">
              <a:rPr lang="en-US" smtClean="0">
                <a:cs typeface="Arial" charset="0"/>
              </a:rPr>
              <a:pPr/>
              <a:t>1</a:t>
            </a:fld>
            <a:endParaRPr lang="en-US" dirty="0" smtClean="0">
              <a:cs typeface="Arial" charset="0"/>
            </a:endParaRPr>
          </a:p>
        </p:txBody>
      </p:sp>
      <p:sp>
        <p:nvSpPr>
          <p:cNvPr id="16387" name="Rectangle 2"/>
          <p:cNvSpPr>
            <a:spLocks noGrp="1" noRot="1" noChangeAspect="1" noChangeArrowheads="1" noTextEdit="1"/>
          </p:cNvSpPr>
          <p:nvPr>
            <p:ph type="sldImg"/>
          </p:nvPr>
        </p:nvSpPr>
        <p:spPr>
          <a:xfrm>
            <a:off x="381000" y="685800"/>
            <a:ext cx="6096000" cy="3429000"/>
          </a:xfrm>
          <a:ln/>
        </p:spPr>
      </p:sp>
      <p:sp>
        <p:nvSpPr>
          <p:cNvPr id="16388"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Welcome to Chapter 12 of Visualizing</a:t>
            </a:r>
            <a:r>
              <a:rPr lang="en-US" baseline="0" dirty="0" smtClean="0"/>
              <a:t> Technology, fifth edition, by Debra Geoghan. This chapter will cover program development.</a:t>
            </a:r>
            <a:endParaRPr lang="en-US" dirty="0" smtClean="0"/>
          </a:p>
        </p:txBody>
      </p:sp>
    </p:spTree>
    <p:extLst>
      <p:ext uri="{BB962C8B-B14F-4D97-AF65-F5344CB8AC3E}">
        <p14:creationId xmlns:p14="http://schemas.microsoft.com/office/powerpoint/2010/main" val="3673639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Chapter 12 Explains And Discusses The Program</a:t>
            </a:r>
            <a:r>
              <a:rPr lang="en-US" baseline="0" dirty="0" smtClean="0"/>
              <a:t> Development Life Cycle</a:t>
            </a:r>
            <a:r>
              <a:rPr lang="en-US" dirty="0" smtClean="0"/>
              <a:t>. The Chapter Objectives Are: </a:t>
            </a:r>
          </a:p>
          <a:p>
            <a:pPr marL="228600" indent="-228600">
              <a:buFont typeface="+mj-lt"/>
              <a:buAutoNum type="arabicPeriod"/>
            </a:pPr>
            <a:r>
              <a:rPr lang="en-US" dirty="0" smtClean="0"/>
              <a:t>Describe The System Development Life Cycle</a:t>
            </a:r>
          </a:p>
          <a:p>
            <a:pPr marL="228600" indent="-228600">
              <a:buFont typeface="+mj-lt"/>
              <a:buAutoNum type="arabicPeriod"/>
            </a:pPr>
            <a:r>
              <a:rPr lang="en-US" dirty="0" smtClean="0"/>
              <a:t>Describe The Program Development Cycle</a:t>
            </a:r>
          </a:p>
          <a:p>
            <a:pPr marL="228600" indent="-228600">
              <a:buFont typeface="+mj-lt"/>
              <a:buAutoNum type="arabicPeriod"/>
            </a:pPr>
            <a:r>
              <a:rPr lang="en-US" dirty="0" smtClean="0"/>
              <a:t>Compare Various Programming Languages</a:t>
            </a:r>
          </a:p>
          <a:p>
            <a:pPr marL="228600" indent="-228600">
              <a:buFont typeface="+mj-lt"/>
              <a:buAutoNum type="arabicPeriod"/>
            </a:pPr>
            <a:r>
              <a:rPr lang="en-US" dirty="0" smtClean="0"/>
              <a:t>Explain The Term </a:t>
            </a:r>
            <a:r>
              <a:rPr lang="en-US" i="1" dirty="0" smtClean="0"/>
              <a:t>Artificial Intelligence</a:t>
            </a:r>
            <a:endParaRPr lang="en-US" dirty="0" smtClean="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a:t>
            </a:fld>
            <a:endParaRPr lang="en-US" dirty="0"/>
          </a:p>
        </p:txBody>
      </p:sp>
    </p:spTree>
    <p:extLst>
      <p:ext uri="{BB962C8B-B14F-4D97-AF65-F5344CB8AC3E}">
        <p14:creationId xmlns:p14="http://schemas.microsoft.com/office/powerpoint/2010/main" val="580979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This objective explores </a:t>
            </a:r>
            <a:r>
              <a:rPr lang="en-US" sz="1200" dirty="0" smtClean="0"/>
              <a:t>models for developing an information system and </a:t>
            </a:r>
            <a:r>
              <a:rPr lang="en-US" dirty="0" smtClean="0"/>
              <a:t>the system development life cycle.</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3</a:t>
            </a:fld>
            <a:endParaRPr lang="en-US" dirty="0"/>
          </a:p>
        </p:txBody>
      </p:sp>
    </p:spTree>
    <p:extLst>
      <p:ext uri="{BB962C8B-B14F-4D97-AF65-F5344CB8AC3E}">
        <p14:creationId xmlns:p14="http://schemas.microsoft.com/office/powerpoint/2010/main" val="2129019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The System Development Life Cycle</a:t>
            </a:r>
            <a:r>
              <a:rPr lang="en-US" baseline="0" dirty="0" smtClean="0"/>
              <a:t> (</a:t>
            </a:r>
            <a:r>
              <a:rPr lang="en-US" dirty="0" smtClean="0"/>
              <a:t>SDLC) is sometimes referred to as the waterfall approach.</a:t>
            </a:r>
            <a:r>
              <a:rPr lang="en-US" baseline="0" dirty="0" smtClean="0"/>
              <a:t> In this process, </a:t>
            </a:r>
            <a:r>
              <a:rPr lang="en-US" dirty="0" smtClean="0"/>
              <a:t>each phase must be completed in order before the next phase </a:t>
            </a:r>
            <a:r>
              <a:rPr lang="en-US" dirty="0" smtClean="0"/>
              <a:t>begins. </a:t>
            </a:r>
            <a:r>
              <a:rPr lang="en-US" dirty="0" smtClean="0"/>
              <a:t>The process begins when there is a request for a new system or a replacement for an old one.</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4</a:t>
            </a:fld>
            <a:endParaRPr lang="en-US" dirty="0"/>
          </a:p>
        </p:txBody>
      </p:sp>
    </p:spTree>
    <p:extLst>
      <p:ext uri="{BB962C8B-B14F-4D97-AF65-F5344CB8AC3E}">
        <p14:creationId xmlns:p14="http://schemas.microsoft.com/office/powerpoint/2010/main" val="2546211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The steps</a:t>
            </a:r>
            <a:r>
              <a:rPr lang="en-US" baseline="0" dirty="0" smtClean="0"/>
              <a:t> in the System Development Life Cycle (SDLC) are t</a:t>
            </a:r>
            <a:r>
              <a:rPr lang="en-US" dirty="0" smtClean="0"/>
              <a:t>he planning stage, the analysis stage, the design phase, the implementation </a:t>
            </a:r>
            <a:r>
              <a:rPr lang="en-US" dirty="0" smtClean="0"/>
              <a:t>and testing stage</a:t>
            </a:r>
            <a:r>
              <a:rPr lang="en-US" dirty="0" smtClean="0"/>
              <a:t>, and maintenance stage. If during maintenance the system is determined not to meet the current</a:t>
            </a:r>
            <a:r>
              <a:rPr lang="en-US" baseline="0" dirty="0" smtClean="0"/>
              <a:t> needs of the business, the process returns to the planning stage.</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5</a:t>
            </a:fld>
            <a:endParaRPr lang="en-US" dirty="0"/>
          </a:p>
        </p:txBody>
      </p:sp>
    </p:spTree>
    <p:extLst>
      <p:ext uri="{BB962C8B-B14F-4D97-AF65-F5344CB8AC3E}">
        <p14:creationId xmlns:p14="http://schemas.microsoft.com/office/powerpoint/2010/main" val="2783611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In the planning phase, the project team is assembled and feasibility studies are completed. The project team consists of the stakeholders, software developer, and the project</a:t>
            </a:r>
            <a:r>
              <a:rPr lang="en-US" baseline="0" dirty="0" smtClean="0"/>
              <a:t> manager. </a:t>
            </a:r>
            <a:endParaRPr lang="en-US" dirty="0" smtClean="0"/>
          </a:p>
          <a:p>
            <a:r>
              <a:rPr lang="en-US" dirty="0" smtClean="0"/>
              <a:t>A feasibility study includes the creation of the terms of reference or project charter, which states the objectives and scope of the project, the timeline for the project, risks, participants, deliverables, and budget. </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6</a:t>
            </a:fld>
            <a:endParaRPr lang="en-US" dirty="0"/>
          </a:p>
        </p:txBody>
      </p:sp>
    </p:spTree>
    <p:extLst>
      <p:ext uri="{BB962C8B-B14F-4D97-AF65-F5344CB8AC3E}">
        <p14:creationId xmlns:p14="http://schemas.microsoft.com/office/powerpoint/2010/main" val="2264044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goal of the analysis phase is to produce the list of requirements. Data flow diagrams (DFD) are created to show the flow of data through the current system and to highlight its deficiencies. Requirements analysis produces information about existing business processes and the changes needed. The result is a logical model of the new system called a system specification report.</a:t>
            </a:r>
          </a:p>
          <a:p>
            <a:endParaRPr lang="en-US" dirty="0"/>
          </a:p>
        </p:txBody>
      </p:sp>
      <p:sp>
        <p:nvSpPr>
          <p:cNvPr id="4" name="Slide Number Placeholder 3"/>
          <p:cNvSpPr>
            <a:spLocks noGrp="1"/>
          </p:cNvSpPr>
          <p:nvPr>
            <p:ph type="sldNum" sz="quarter" idx="10"/>
          </p:nvPr>
        </p:nvSpPr>
        <p:spPr/>
        <p:txBody>
          <a:bodyPr/>
          <a:lstStyle/>
          <a:p>
            <a:fld id="{7F3D1CA0-39BC-4E7A-9EE3-2C859D01C05C}" type="slidenum">
              <a:rPr lang="en-US" smtClean="0"/>
              <a:pPr/>
              <a:t>7</a:t>
            </a:fld>
            <a:endParaRPr lang="en-US" dirty="0"/>
          </a:p>
        </p:txBody>
      </p:sp>
    </p:spTree>
    <p:extLst>
      <p:ext uri="{BB962C8B-B14F-4D97-AF65-F5344CB8AC3E}">
        <p14:creationId xmlns:p14="http://schemas.microsoft.com/office/powerpoint/2010/main" val="1010367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design phase, potential solutions are evaluated, and the best solution is selected. This step involves choosing the option that best meets the requirements using the most cost-effective methods</a:t>
            </a:r>
            <a:r>
              <a:rPr lang="en-US" baseline="0" dirty="0" smtClean="0"/>
              <a:t>,</a:t>
            </a:r>
            <a:r>
              <a:rPr lang="en-US" dirty="0" smtClean="0"/>
              <a:t> hardware, software, and human resources.</a:t>
            </a:r>
            <a:r>
              <a:rPr lang="en-US" baseline="0" dirty="0" smtClean="0"/>
              <a:t> In this phase, </a:t>
            </a:r>
            <a:r>
              <a:rPr lang="en-US" dirty="0" smtClean="0"/>
              <a:t>the designing of the system begins. If it’s determined that the system has to be built rather than purchased, then application specifications are written.</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7F3D1CA0-39BC-4E7A-9EE3-2C859D01C05C}" type="slidenum">
              <a:rPr lang="en-US" smtClean="0"/>
              <a:pPr/>
              <a:t>8</a:t>
            </a:fld>
            <a:endParaRPr lang="en-US" dirty="0"/>
          </a:p>
        </p:txBody>
      </p:sp>
    </p:spTree>
    <p:extLst>
      <p:ext uri="{BB962C8B-B14F-4D97-AF65-F5344CB8AC3E}">
        <p14:creationId xmlns:p14="http://schemas.microsoft.com/office/powerpoint/2010/main" val="1533943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During the implementation and testing phase, coding takes place and the system is installed. Programs are usually written in modules that undergo individual unit testing. Integration or link testing ensures that the modules work together. Volume testing assures that the system can handle the expected volume of data. Finally, acceptance testing verifies that the system does what it’s supposed to do. During this</a:t>
            </a:r>
            <a:r>
              <a:rPr lang="en-US" baseline="0" dirty="0" smtClean="0"/>
              <a:t> </a:t>
            </a:r>
            <a:r>
              <a:rPr lang="en-US" dirty="0" smtClean="0"/>
              <a:t>phase, training takes place</a:t>
            </a:r>
            <a:r>
              <a:rPr lang="en-US" baseline="0" dirty="0" smtClean="0"/>
              <a:t> and </a:t>
            </a:r>
            <a:r>
              <a:rPr lang="en-US" dirty="0" smtClean="0"/>
              <a:t>the system is installed and brought online.</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9</a:t>
            </a:fld>
            <a:endParaRPr lang="en-US" dirty="0"/>
          </a:p>
        </p:txBody>
      </p:sp>
    </p:spTree>
    <p:extLst>
      <p:ext uri="{BB962C8B-B14F-4D97-AF65-F5344CB8AC3E}">
        <p14:creationId xmlns:p14="http://schemas.microsoft.com/office/powerpoint/2010/main" val="4240467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The maintenance phase includes periodic reviews to ensure the system still meets the</a:t>
            </a:r>
            <a:r>
              <a:rPr lang="en-US" baseline="0" dirty="0" smtClean="0"/>
              <a:t> needs of the business</a:t>
            </a:r>
            <a:r>
              <a:rPr lang="en-US" dirty="0" smtClean="0"/>
              <a:t>. During this period, the system may change or be updated, security holes and bugs are fixed, and new features might be added. Users may need to be retrained and documentation updated as a result of these changes. Day-to-day operational maintenance includes monitoring performance, installing updates and patches, and creating and restoring backups. The maintenance phase is the longest phase.</a:t>
            </a:r>
          </a:p>
          <a:p>
            <a:endParaRPr lang="en-US" dirty="0"/>
          </a:p>
        </p:txBody>
      </p:sp>
      <p:sp>
        <p:nvSpPr>
          <p:cNvPr id="4" name="Slide Number Placeholder 3"/>
          <p:cNvSpPr>
            <a:spLocks noGrp="1"/>
          </p:cNvSpPr>
          <p:nvPr>
            <p:ph type="sldNum" sz="quarter" idx="10"/>
          </p:nvPr>
        </p:nvSpPr>
        <p:spPr/>
        <p:txBody>
          <a:bodyPr/>
          <a:lstStyle/>
          <a:p>
            <a:fld id="{7F3D1CA0-39BC-4E7A-9EE3-2C859D01C05C}" type="slidenum">
              <a:rPr lang="en-US" smtClean="0"/>
              <a:pPr/>
              <a:t>10</a:t>
            </a:fld>
            <a:endParaRPr lang="en-US" dirty="0"/>
          </a:p>
        </p:txBody>
      </p:sp>
    </p:spTree>
    <p:extLst>
      <p:ext uri="{BB962C8B-B14F-4D97-AF65-F5344CB8AC3E}">
        <p14:creationId xmlns:p14="http://schemas.microsoft.com/office/powerpoint/2010/main" val="3856346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r>
              <a:rPr lang="en-US" dirty="0" smtClean="0"/>
              <a:t>Joint Application Development (JAD) is a more collaborative process than the SDLC and involves the end user throughout the design and development of the project through a series of JAD </a:t>
            </a:r>
            <a:r>
              <a:rPr lang="en-US" dirty="0" smtClean="0"/>
              <a:t>sessions. </a:t>
            </a:r>
            <a:r>
              <a:rPr lang="en-US" dirty="0" smtClean="0"/>
              <a:t>Using JAD results in shorter development times because of the continued involvement of users throughout the development process.</a:t>
            </a:r>
          </a:p>
          <a:p>
            <a:pPr marL="0" indent="0">
              <a:buFont typeface="Arial" panose="020B0604020202020204" pitchFamily="34" charset="0"/>
              <a:buNone/>
            </a:pPr>
            <a:r>
              <a:rPr lang="en-US" dirty="0" smtClean="0"/>
              <a:t>Rapid Application Development (RAD) is an iterative process that uses prototyping and user testing of the designs.</a:t>
            </a:r>
          </a:p>
          <a:p>
            <a:pPr marL="0" indent="0">
              <a:buFont typeface="Arial" panose="020B0604020202020204" pitchFamily="34" charset="0"/>
              <a:buNone/>
            </a:pPr>
            <a:r>
              <a:rPr lang="en-US" dirty="0" smtClean="0"/>
              <a:t>Agile Development is an incremental and iterative process that uses short iterations or sprints with the project team stopping and reevaluating the direction of a project every two weeks. At the end of each iteration, testing is done, and stakeholders review progress and reevaluate priorities. Projects are adjusted along the way as needs and business conditions change. Agile Development is a rapid and adaptive development model.</a:t>
            </a:r>
            <a:endParaRPr lang="en-US" dirty="0"/>
          </a:p>
        </p:txBody>
      </p:sp>
      <p:sp>
        <p:nvSpPr>
          <p:cNvPr id="4" name="Slide Number Placeholder 3"/>
          <p:cNvSpPr>
            <a:spLocks noGrp="1"/>
          </p:cNvSpPr>
          <p:nvPr>
            <p:ph type="sldNum" sz="quarter" idx="10"/>
          </p:nvPr>
        </p:nvSpPr>
        <p:spPr/>
        <p:txBody>
          <a:bodyPr/>
          <a:lstStyle/>
          <a:p>
            <a:fld id="{7F3D1CA0-39BC-4E7A-9EE3-2C859D01C05C}" type="slidenum">
              <a:rPr lang="en-US" smtClean="0"/>
              <a:pPr/>
              <a:t>11</a:t>
            </a:fld>
            <a:endParaRPr lang="en-US" dirty="0"/>
          </a:p>
        </p:txBody>
      </p:sp>
    </p:spTree>
    <p:extLst>
      <p:ext uri="{BB962C8B-B14F-4D97-AF65-F5344CB8AC3E}">
        <p14:creationId xmlns:p14="http://schemas.microsoft.com/office/powerpoint/2010/main" val="689492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Objective 2 describes the Program Development Cycle.</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12</a:t>
            </a:fld>
            <a:endParaRPr lang="en-US" dirty="0"/>
          </a:p>
        </p:txBody>
      </p:sp>
    </p:spTree>
    <p:extLst>
      <p:ext uri="{BB962C8B-B14F-4D97-AF65-F5344CB8AC3E}">
        <p14:creationId xmlns:p14="http://schemas.microsoft.com/office/powerpoint/2010/main" val="1190265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An algorithm is a set of steps to solve a problem. It should be a clear and simple statement that breaks down the solution into small modules, each of which performs a single task. </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13</a:t>
            </a:fld>
            <a:endParaRPr lang="en-US" dirty="0"/>
          </a:p>
        </p:txBody>
      </p:sp>
    </p:spTree>
    <p:extLst>
      <p:ext uri="{BB962C8B-B14F-4D97-AF65-F5344CB8AC3E}">
        <p14:creationId xmlns:p14="http://schemas.microsoft.com/office/powerpoint/2010/main" val="534866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A flowchart is a graphic view of the algorithm. Flowcharts use arrows to show direction and other symbols to show actions and data. These are standard flowchart symbols used by most programmers. This flowchart illustrates the algorithm used to calculate your grade and includes a section of control structures. Control structures are used in flowcharts and pseudocode to show logic and the flow of data processing. Common control structures include sequence, selection, and loop.</a:t>
            </a:r>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14</a:t>
            </a:fld>
            <a:endParaRPr lang="en-US" dirty="0"/>
          </a:p>
        </p:txBody>
      </p:sp>
    </p:spTree>
    <p:extLst>
      <p:ext uri="{BB962C8B-B14F-4D97-AF65-F5344CB8AC3E}">
        <p14:creationId xmlns:p14="http://schemas.microsoft.com/office/powerpoint/2010/main" val="367918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Pseudocode expresses the steps of an algorithm using English-like statements that focus on logic, not syntax. It is close to what a program will look like, is not specific to any one programming language, and is not executable.</a:t>
            </a:r>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15</a:t>
            </a:fld>
            <a:endParaRPr lang="en-US" dirty="0"/>
          </a:p>
        </p:txBody>
      </p:sp>
    </p:spTree>
    <p:extLst>
      <p:ext uri="{BB962C8B-B14F-4D97-AF65-F5344CB8AC3E}">
        <p14:creationId xmlns:p14="http://schemas.microsoft.com/office/powerpoint/2010/main" val="772949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dirty="0" smtClean="0"/>
              <a:t>Coding, or computer programming, is the process of converting the algorithm into instructions the computer can understand. The type of task, platform to be run on, and the expertise of the programmer are all considerations. Different languages are optimized for different tasks, so choosing the right language will result in a better solution.</a:t>
            </a:r>
          </a:p>
          <a:p>
            <a:pPr marL="0" indent="0">
              <a:buNone/>
            </a:pPr>
            <a:r>
              <a:rPr lang="en-US" dirty="0" smtClean="0"/>
              <a:t>Coding is accomplished using either procedural programming or object-oriented programming. Syntax rules define the correct construction of commands in a programming language. </a:t>
            </a:r>
          </a:p>
          <a:p>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16</a:t>
            </a:fld>
            <a:endParaRPr lang="en-US" dirty="0"/>
          </a:p>
        </p:txBody>
      </p:sp>
    </p:spTree>
    <p:extLst>
      <p:ext uri="{BB962C8B-B14F-4D97-AF65-F5344CB8AC3E}">
        <p14:creationId xmlns:p14="http://schemas.microsoft.com/office/powerpoint/2010/main" val="238149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Debugging is the process of detecting and fixing errors in a computer program. There are three types of errors: syntax errors, logic errors, and runtime errors.</a:t>
            </a:r>
          </a:p>
          <a:p>
            <a:pPr marL="0" lvl="1" indent="0">
              <a:buFontTx/>
              <a:buNone/>
            </a:pPr>
            <a:endParaRPr lang="en-US" dirty="0" smtClean="0"/>
          </a:p>
          <a:p>
            <a:pPr marL="0" lvl="1" indent="0">
              <a:buFontTx/>
              <a:buNone/>
            </a:pPr>
            <a:r>
              <a:rPr lang="en-US" dirty="0" smtClean="0"/>
              <a:t>A syntax error is an error in the way the code is written. </a:t>
            </a:r>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17</a:t>
            </a:fld>
            <a:endParaRPr lang="en-US" dirty="0"/>
          </a:p>
        </p:txBody>
      </p:sp>
    </p:spTree>
    <p:extLst>
      <p:ext uri="{BB962C8B-B14F-4D97-AF65-F5344CB8AC3E}">
        <p14:creationId xmlns:p14="http://schemas.microsoft.com/office/powerpoint/2010/main" val="8705726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lvl="1" indent="0">
              <a:buFontTx/>
              <a:buNone/>
            </a:pPr>
            <a:r>
              <a:rPr lang="en-US" dirty="0" smtClean="0"/>
              <a:t>A </a:t>
            </a:r>
            <a:r>
              <a:rPr lang="en-US" dirty="0" smtClean="0"/>
              <a:t>logic error is an error in programming logic that results in an unexpected outcome. </a:t>
            </a:r>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18</a:t>
            </a:fld>
            <a:endParaRPr lang="en-US" dirty="0"/>
          </a:p>
        </p:txBody>
      </p:sp>
    </p:spTree>
    <p:extLst>
      <p:ext uri="{BB962C8B-B14F-4D97-AF65-F5344CB8AC3E}">
        <p14:creationId xmlns:p14="http://schemas.microsoft.com/office/powerpoint/2010/main" val="3155825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lvl="1" indent="0">
              <a:buFontTx/>
              <a:buNone/>
            </a:pPr>
            <a:r>
              <a:rPr lang="en-US" dirty="0" smtClean="0"/>
              <a:t>A runtime error occurs when the program is running and data or a command that is entered causes it to crash.</a:t>
            </a:r>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19</a:t>
            </a:fld>
            <a:endParaRPr lang="en-US" dirty="0"/>
          </a:p>
        </p:txBody>
      </p:sp>
    </p:spTree>
    <p:extLst>
      <p:ext uri="{BB962C8B-B14F-4D97-AF65-F5344CB8AC3E}">
        <p14:creationId xmlns:p14="http://schemas.microsoft.com/office/powerpoint/2010/main" val="20465586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indent="0">
              <a:buNone/>
            </a:pPr>
            <a:r>
              <a:rPr lang="en-US" dirty="0" smtClean="0"/>
              <a:t>Once the program has been debugged, it needs to be tested under actual working conditions; this is beta testing. Documentation is created throughout the programming cycle and written both for the user and for programmers. Documentation for users includes both print and online user manuals. For programmers, documentation includes comments within code and external documentation that outlines the project, problem, and design logic.</a:t>
            </a:r>
          </a:p>
          <a:p>
            <a:pPr marL="0" indent="0">
              <a:buNone/>
            </a:pPr>
            <a:r>
              <a:rPr lang="en-US" dirty="0" smtClean="0"/>
              <a:t> </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20</a:t>
            </a:fld>
            <a:endParaRPr lang="en-US" dirty="0"/>
          </a:p>
        </p:txBody>
      </p:sp>
    </p:spTree>
    <p:extLst>
      <p:ext uri="{BB962C8B-B14F-4D97-AF65-F5344CB8AC3E}">
        <p14:creationId xmlns:p14="http://schemas.microsoft.com/office/powerpoint/2010/main" val="4940244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Objective 3 compares various programming languages.</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21</a:t>
            </a:fld>
            <a:endParaRPr lang="en-US" dirty="0"/>
          </a:p>
        </p:txBody>
      </p:sp>
    </p:spTree>
    <p:extLst>
      <p:ext uri="{BB962C8B-B14F-4D97-AF65-F5344CB8AC3E}">
        <p14:creationId xmlns:p14="http://schemas.microsoft.com/office/powerpoint/2010/main" val="35935277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smtClean="0"/>
              <a:t>A first-generation language (1GL) is a machine language written in binary that can execute very quickly but takes a lot of effort to write and debug.</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smtClean="0"/>
              <a:t>A second-generation language (2GL) is an assembly language. It’s written with statements closer to what humans speak and has to be converted into a machine language by an assembler before the computer can execute it</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22</a:t>
            </a:fld>
            <a:endParaRPr lang="en-US" dirty="0"/>
          </a:p>
        </p:txBody>
      </p:sp>
    </p:spTree>
    <p:extLst>
      <p:ext uri="{BB962C8B-B14F-4D97-AF65-F5344CB8AC3E}">
        <p14:creationId xmlns:p14="http://schemas.microsoft.com/office/powerpoint/2010/main" val="2859771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smtClean="0"/>
              <a:t>Most modern programming languages are third-generation languages (3GLs). These include both procedural and object-oriented languages.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smtClean="0"/>
              <a:t>A fourth-generation language (4GL) is designed to be closer to natural language than a 3GL.</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smtClean="0"/>
              <a:t>A fifth-generation language (5GL) is a system a user can work with without writing code. The 5GL creates the code. 5GLs are primarily used in artificial intelligence applications.</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23</a:t>
            </a:fld>
            <a:endParaRPr lang="en-US" dirty="0"/>
          </a:p>
        </p:txBody>
      </p:sp>
    </p:spTree>
    <p:extLst>
      <p:ext uri="{BB962C8B-B14F-4D97-AF65-F5344CB8AC3E}">
        <p14:creationId xmlns:p14="http://schemas.microsoft.com/office/powerpoint/2010/main" val="16858529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dirty="0" smtClean="0"/>
              <a:t>A</a:t>
            </a:r>
            <a:r>
              <a:rPr lang="en-US" sz="1200" dirty="0" smtClean="0"/>
              <a:t> </a:t>
            </a:r>
            <a:r>
              <a:rPr lang="en-US" dirty="0" smtClean="0"/>
              <a:t>software development kit (SDK) is a bundle of libraries and tools that are developed for a particular platform. An integrated development environment (IDE) is a complete system for developing software, typically consisting of a code editor, one or more compilers, one or more SDKs, and a debugger. Platform-as-a-Service (PaaS) is an online programming environment used to develop, test and deploy custom applications.</a:t>
            </a:r>
          </a:p>
          <a:p>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24</a:t>
            </a:fld>
            <a:endParaRPr lang="en-US" dirty="0"/>
          </a:p>
        </p:txBody>
      </p:sp>
    </p:spTree>
    <p:extLst>
      <p:ext uri="{BB962C8B-B14F-4D97-AF65-F5344CB8AC3E}">
        <p14:creationId xmlns:p14="http://schemas.microsoft.com/office/powerpoint/2010/main" val="4211441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dirty="0" smtClean="0"/>
              <a:t>Developing web applications requires selecting the right language for the task. The simplest form of a webpage is a static HTML page. Modern webpages are rarely static. Dynamic elements such as menus, rollovers, searches, videos, and animation make web programming more complex.</a:t>
            </a:r>
          </a:p>
          <a:p>
            <a:pPr marL="0" indent="0">
              <a:buNone/>
            </a:pPr>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25</a:t>
            </a:fld>
            <a:endParaRPr lang="en-US" dirty="0"/>
          </a:p>
        </p:txBody>
      </p:sp>
    </p:spTree>
    <p:extLst>
      <p:ext uri="{BB962C8B-B14F-4D97-AF65-F5344CB8AC3E}">
        <p14:creationId xmlns:p14="http://schemas.microsoft.com/office/powerpoint/2010/main" val="3779849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A server-side program runs on a web server. Server-side programming languages include Perl, ASP, PHP, JSP, and ColdFusion. Because the processing takes place on the server side and results are sent to the clients as HTML, the client does not need to have special software</a:t>
            </a:r>
            <a:r>
              <a:rPr lang="en-US" baseline="0" dirty="0" smtClean="0"/>
              <a:t> – other than a browser.</a:t>
            </a:r>
            <a:endParaRPr lang="en-US" dirty="0" smtClean="0"/>
          </a:p>
          <a:p>
            <a:pPr marL="0" indent="0">
              <a:buNone/>
            </a:pPr>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26</a:t>
            </a:fld>
            <a:endParaRPr lang="en-US" dirty="0"/>
          </a:p>
        </p:txBody>
      </p:sp>
    </p:spTree>
    <p:extLst>
      <p:ext uri="{BB962C8B-B14F-4D97-AF65-F5344CB8AC3E}">
        <p14:creationId xmlns:p14="http://schemas.microsoft.com/office/powerpoint/2010/main" val="24016391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A client-side program runs on the client computer. The coding is done within a webpage, downloaded to the client computer, and compiled and executed by a browser or plug-in. The most popular client-side elements are JavaScript, ActiveX controls, and Java applets. Client-side programming is often called scripts and requires the user to have the proper browser and plug-in installed. </a:t>
            </a:r>
          </a:p>
          <a:p>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27</a:t>
            </a:fld>
            <a:endParaRPr lang="en-US" dirty="0"/>
          </a:p>
        </p:txBody>
      </p:sp>
    </p:spTree>
    <p:extLst>
      <p:ext uri="{BB962C8B-B14F-4D97-AF65-F5344CB8AC3E}">
        <p14:creationId xmlns:p14="http://schemas.microsoft.com/office/powerpoint/2010/main" val="12329745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Revenue from mobile apps for cell phones and tablets is expected to</a:t>
            </a:r>
            <a:r>
              <a:rPr lang="en-US" baseline="0" dirty="0" smtClean="0"/>
              <a:t> reach $92 billion by 2018. In order for a mobile app to be a success, the app needs to work well, have market appeal, and generate income. </a:t>
            </a:r>
          </a:p>
          <a:p>
            <a:endParaRPr lang="en-US" baseline="0" dirty="0" smtClean="0"/>
          </a:p>
          <a:p>
            <a:r>
              <a:rPr lang="en-US" baseline="0" dirty="0" smtClean="0"/>
              <a:t>Green computing is usually associated with the act of turning off hardware when not in use. However, green computing also refers to the writing of green code, code that runs on hardware with minimal impact.</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28</a:t>
            </a:fld>
            <a:endParaRPr lang="en-US" dirty="0"/>
          </a:p>
        </p:txBody>
      </p:sp>
    </p:spTree>
    <p:extLst>
      <p:ext uri="{BB962C8B-B14F-4D97-AF65-F5344CB8AC3E}">
        <p14:creationId xmlns:p14="http://schemas.microsoft.com/office/powerpoint/2010/main" val="31568050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i="0" baseline="0" dirty="0" smtClean="0"/>
              <a:t>Objective 4 explains the term artificial intelligence.</a:t>
            </a:r>
            <a:endParaRPr lang="en-US" sz="1200" i="0" kern="1200" dirty="0">
              <a:solidFill>
                <a:schemeClr val="tx1"/>
              </a:solidFill>
              <a:latin typeface="Arial" charset="0"/>
              <a:ea typeface="+mn-ea"/>
              <a:cs typeface="+mn-cs"/>
            </a:endParaRPr>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29</a:t>
            </a:fld>
            <a:endParaRPr lang="en-US" dirty="0"/>
          </a:p>
        </p:txBody>
      </p:sp>
    </p:spTree>
    <p:extLst>
      <p:ext uri="{BB962C8B-B14F-4D97-AF65-F5344CB8AC3E}">
        <p14:creationId xmlns:p14="http://schemas.microsoft.com/office/powerpoint/2010/main" val="18376784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Artificial intelligence (AI) is the branch of science concerned with making computers behave like humans. Modern applications include weather forecasting, speech and pattern recognition, science and engineering applications, and financial predictions. Two of the most common programming languages used in AI development are the 5G languages LISP and Prolog.</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30</a:t>
            </a:fld>
            <a:endParaRPr lang="en-US" dirty="0"/>
          </a:p>
        </p:txBody>
      </p:sp>
    </p:spTree>
    <p:extLst>
      <p:ext uri="{BB962C8B-B14F-4D97-AF65-F5344CB8AC3E}">
        <p14:creationId xmlns:p14="http://schemas.microsoft.com/office/powerpoint/2010/main" val="438573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An expert system is a computer programmed to make decisions in real-life situations. It is developed by knowledge engineers who study the way humans make decisions and translate that process into a set of rules. Expert systems diagnose illness, decide whether to approve a mortgage application, schedule delivery routes, and even play chess. An expert system uses fuzzy logic, which recognizes that not everything can be broken down to a true or false answer.</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31</a:t>
            </a:fld>
            <a:endParaRPr lang="en-US" dirty="0"/>
          </a:p>
        </p:txBody>
      </p:sp>
    </p:spTree>
    <p:extLst>
      <p:ext uri="{BB962C8B-B14F-4D97-AF65-F5344CB8AC3E}">
        <p14:creationId xmlns:p14="http://schemas.microsoft.com/office/powerpoint/2010/main" val="22834408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Neural networks simulate the way humans think by emulating the biological connections in our brains. Neural networks consist of several layers. Data is placed into the input layer and results into the output layer. The magic happens in the hidden,</a:t>
            </a:r>
            <a:r>
              <a:rPr lang="en-US" baseline="0" dirty="0" smtClean="0"/>
              <a:t> middle </a:t>
            </a:r>
            <a:r>
              <a:rPr lang="en-US" dirty="0" smtClean="0"/>
              <a:t>layer. A network is first trained by feeding in large amounts of data</a:t>
            </a:r>
            <a:r>
              <a:rPr lang="en-US" baseline="0" dirty="0" smtClean="0"/>
              <a:t> – both the input and expected output. This data is </a:t>
            </a:r>
            <a:r>
              <a:rPr lang="en-US" dirty="0" smtClean="0"/>
              <a:t>then used to create the processes of the middle layer. </a:t>
            </a:r>
            <a:endParaRPr lang="en-US" dirty="0"/>
          </a:p>
        </p:txBody>
      </p:sp>
      <p:sp>
        <p:nvSpPr>
          <p:cNvPr id="4" name="Footer Placeholder 3"/>
          <p:cNvSpPr>
            <a:spLocks noGrp="1"/>
          </p:cNvSpPr>
          <p:nvPr>
            <p:ph type="ftr" sz="quarter" idx="10"/>
          </p:nvPr>
        </p:nvSpPr>
        <p:spPr/>
        <p:txBody>
          <a:bodyPr/>
          <a:lstStyle/>
          <a:p>
            <a:pPr>
              <a:defRPr/>
            </a:pPr>
            <a:r>
              <a:rPr lang="en-US" dirty="0" smtClean="0"/>
              <a:t>&lt;#&gt;</a:t>
            </a:r>
            <a:endParaRPr lang="en-US" dirty="0"/>
          </a:p>
        </p:txBody>
      </p:sp>
      <p:sp>
        <p:nvSpPr>
          <p:cNvPr id="5" name="Slide Number Placeholder 4"/>
          <p:cNvSpPr>
            <a:spLocks noGrp="1"/>
          </p:cNvSpPr>
          <p:nvPr>
            <p:ph type="sldNum" sz="quarter" idx="11"/>
          </p:nvPr>
        </p:nvSpPr>
        <p:spPr/>
        <p:txBody>
          <a:bodyPr/>
          <a:lstStyle/>
          <a:p>
            <a:pPr>
              <a:defRPr/>
            </a:pPr>
            <a:fld id="{CCCF6A16-1AFE-423C-8BB8-BDB09A2EAFFF}" type="slidenum">
              <a:rPr lang="en-US" smtClean="0"/>
              <a:pPr>
                <a:defRPr/>
              </a:pPr>
              <a:t>32</a:t>
            </a:fld>
            <a:endParaRPr lang="en-US" dirty="0"/>
          </a:p>
        </p:txBody>
      </p:sp>
    </p:spTree>
    <p:extLst>
      <p:ext uri="{BB962C8B-B14F-4D97-AF65-F5344CB8AC3E}">
        <p14:creationId xmlns:p14="http://schemas.microsoft.com/office/powerpoint/2010/main" val="5082307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smtClean="0"/>
              <a:t>Are there any questions?</a:t>
            </a:r>
            <a:endParaRPr lang="en-US" dirty="0"/>
          </a:p>
        </p:txBody>
      </p:sp>
      <p:sp>
        <p:nvSpPr>
          <p:cNvPr id="4" name="Slide Number Placeholder 3"/>
          <p:cNvSpPr>
            <a:spLocks noGrp="1"/>
          </p:cNvSpPr>
          <p:nvPr>
            <p:ph type="sldNum" sz="quarter" idx="10"/>
          </p:nvPr>
        </p:nvSpPr>
        <p:spPr/>
        <p:txBody>
          <a:bodyPr/>
          <a:lstStyle/>
          <a:p>
            <a:fld id="{3BCF846F-A3E5-4C0D-9E2E-DC382416709D}" type="slidenum">
              <a:rPr lang="en-US" smtClean="0"/>
              <a:pPr/>
              <a:t>33</a:t>
            </a:fld>
            <a:endParaRPr lang="en-US" dirty="0"/>
          </a:p>
        </p:txBody>
      </p:sp>
    </p:spTree>
    <p:extLst>
      <p:ext uri="{BB962C8B-B14F-4D97-AF65-F5344CB8AC3E}">
        <p14:creationId xmlns:p14="http://schemas.microsoft.com/office/powerpoint/2010/main" val="19037124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Rot="1" noChangeAspect="1" noChangeArrowheads="1" noTextEdit="1"/>
          </p:cNvSpPr>
          <p:nvPr>
            <p:ph type="sldImg"/>
          </p:nvPr>
        </p:nvSpPr>
        <p:spPr>
          <a:xfrm>
            <a:off x="393700" y="692150"/>
            <a:ext cx="6070600" cy="3416300"/>
          </a:xfrm>
          <a:ln/>
        </p:spPr>
      </p:sp>
      <p:sp>
        <p:nvSpPr>
          <p:cNvPr id="86018" name="Rectangle 3"/>
          <p:cNvSpPr>
            <a:spLocks noGrp="1" noChangeArrowheads="1"/>
          </p:cNvSpPr>
          <p:nvPr>
            <p:ph type="body" idx="1"/>
          </p:nvPr>
        </p:nvSpPr>
        <p:spPr>
          <a:noFill/>
          <a:ln/>
        </p:spPr>
        <p:txBody>
          <a:bodyPr lIns="90488" tIns="44450" rIns="90488" bIns="44450"/>
          <a:lstStyle/>
          <a:p>
            <a:endParaRPr lang="en-US" dirty="0" smtClean="0"/>
          </a:p>
        </p:txBody>
      </p:sp>
    </p:spTree>
    <p:extLst>
      <p:ext uri="{BB962C8B-B14F-4D97-AF65-F5344CB8AC3E}">
        <p14:creationId xmlns:p14="http://schemas.microsoft.com/office/powerpoint/2010/main" val="7202514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cid:3287383400_2177562"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828800" y="4724400"/>
            <a:ext cx="8534400" cy="457200"/>
          </a:xfrm>
        </p:spPr>
        <p:txBody>
          <a:bodyPr>
            <a:normAutofit/>
          </a:bodyPr>
          <a:lstStyle>
            <a:lvl1pPr marL="0" indent="0" algn="ctr">
              <a:buNone/>
              <a:defRPr sz="2400" i="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Chapter Number</a:t>
            </a:r>
          </a:p>
        </p:txBody>
      </p:sp>
      <p:sp>
        <p:nvSpPr>
          <p:cNvPr id="12" name="Text Placeholder 11"/>
          <p:cNvSpPr>
            <a:spLocks noGrp="1"/>
          </p:cNvSpPr>
          <p:nvPr>
            <p:ph type="body" sz="quarter" idx="15" hasCustomPrompt="1"/>
          </p:nvPr>
        </p:nvSpPr>
        <p:spPr>
          <a:xfrm>
            <a:off x="1828800" y="5334000"/>
            <a:ext cx="8534400" cy="762000"/>
          </a:xfrm>
        </p:spPr>
        <p:txBody>
          <a:bodyPr/>
          <a:lstStyle>
            <a:lvl1pPr algn="ctr">
              <a:buNone/>
              <a:defRPr lang="en-US" sz="3200" i="1" kern="1200" baseline="0" dirty="0" smtClean="0">
                <a:solidFill>
                  <a:schemeClr val="tx1"/>
                </a:solidFill>
                <a:effectLst>
                  <a:outerShdw blurRad="38100" dist="38100" dir="2700000" algn="tl">
                    <a:srgbClr val="000000">
                      <a:alpha val="43137"/>
                    </a:srgbClr>
                  </a:outerShdw>
                </a:effectLst>
                <a:latin typeface="Georgia" pitchFamily="18" charset="0"/>
                <a:ea typeface="+mn-ea"/>
                <a:cs typeface="+mn-cs"/>
              </a:defRPr>
            </a:lvl1pPr>
          </a:lstStyle>
          <a:p>
            <a:pPr lvl="0"/>
            <a:r>
              <a:rPr lang="en-US" dirty="0" smtClean="0"/>
              <a:t>Click to edit Chapter Title</a:t>
            </a:r>
          </a:p>
        </p:txBody>
      </p:sp>
      <p:sp>
        <p:nvSpPr>
          <p:cNvPr id="13" name="TextBox 12"/>
          <p:cNvSpPr txBox="1"/>
          <p:nvPr userDrawn="1"/>
        </p:nvSpPr>
        <p:spPr>
          <a:xfrm>
            <a:off x="533400" y="619780"/>
            <a:ext cx="11658600" cy="523220"/>
          </a:xfrm>
          <a:prstGeom prst="rect">
            <a:avLst/>
          </a:prstGeom>
          <a:noFill/>
        </p:spPr>
        <p:txBody>
          <a:bodyPr wrap="square" rtlCol="0">
            <a:spAutoFit/>
          </a:bodyPr>
          <a:lstStyle/>
          <a:p>
            <a:pPr algn="ctr"/>
            <a:r>
              <a:rPr lang="en-US" sz="2800" dirty="0" smtClean="0">
                <a:solidFill>
                  <a:schemeClr val="tx1"/>
                </a:solidFill>
                <a:latin typeface="Georgia" pitchFamily="18" charset="0"/>
              </a:rPr>
              <a:t>PowerPoint Presentation to Accompany</a:t>
            </a:r>
            <a:endParaRPr lang="en-US" sz="2800" dirty="0">
              <a:latin typeface="Georgia" pitchFamily="18" charset="0"/>
            </a:endParaRPr>
          </a:p>
        </p:txBody>
      </p:sp>
      <p:sp>
        <p:nvSpPr>
          <p:cNvPr id="10" name="Slide Number Placeholder 5"/>
          <p:cNvSpPr>
            <a:spLocks noGrp="1"/>
          </p:cNvSpPr>
          <p:nvPr>
            <p:ph type="sldNum" sz="quarter" idx="4"/>
          </p:nvPr>
        </p:nvSpPr>
        <p:spPr>
          <a:xfrm>
            <a:off x="11074400" y="6356351"/>
            <a:ext cx="508000" cy="365125"/>
          </a:xfrm>
          <a:prstGeom prst="rect">
            <a:avLst/>
          </a:prstGeom>
        </p:spPr>
        <p:txBody>
          <a:bodyPr vert="horz" lIns="91440" tIns="45720" rIns="91440" bIns="45720" rtlCol="0" anchor="ctr"/>
          <a:lstStyle>
            <a:lvl1pPr algn="r">
              <a:defRPr sz="900">
                <a:solidFill>
                  <a:schemeClr val="accent4"/>
                </a:solidFill>
              </a:defRPr>
            </a:lvl1pPr>
          </a:lstStyle>
          <a:p>
            <a:fld id="{68F46CC4-B570-4746-ADFA-6E9E2BD9CBA4}" type="slidenum">
              <a:rPr lang="en-US" smtClean="0"/>
              <a:pPr/>
              <a:t>‹#›</a:t>
            </a:fld>
            <a:endParaRPr lang="en-US" dirty="0"/>
          </a:p>
        </p:txBody>
      </p:sp>
      <p:sp>
        <p:nvSpPr>
          <p:cNvPr id="11" name="Footer Placeholder 3"/>
          <p:cNvSpPr>
            <a:spLocks noGrp="1"/>
          </p:cNvSpPr>
          <p:nvPr>
            <p:ph type="ftr" sz="quarter" idx="11"/>
          </p:nvPr>
        </p:nvSpPr>
        <p:spPr>
          <a:xfrm>
            <a:off x="2336800" y="6356351"/>
            <a:ext cx="7416800" cy="365125"/>
          </a:xfrm>
        </p:spPr>
        <p:txBody>
          <a:bodyPr/>
          <a:lstStyle/>
          <a:p>
            <a:r>
              <a:rPr lang="en-US" smtClean="0"/>
              <a:t>Copyright © 2017 Pearson Education, Inc.</a:t>
            </a:r>
            <a:endParaRPr lang="en-US" dirty="0"/>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87240" y="1119505"/>
            <a:ext cx="3474720" cy="34747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98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bjective Lis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Objectives</a:t>
            </a:r>
            <a:endParaRPr lang="en-US" dirty="0"/>
          </a:p>
        </p:txBody>
      </p:sp>
      <p:sp>
        <p:nvSpPr>
          <p:cNvPr id="4" name="Footer Placeholder 3"/>
          <p:cNvSpPr>
            <a:spLocks noGrp="1"/>
          </p:cNvSpPr>
          <p:nvPr>
            <p:ph type="ftr" sz="quarter" idx="11"/>
          </p:nvPr>
        </p:nvSpPr>
        <p:spPr/>
        <p:txBody>
          <a:bodyPr/>
          <a:lstStyle/>
          <a:p>
            <a:r>
              <a:rPr lang="en-US" smtClean="0"/>
              <a:t>Copyright © 2017 Pearson Education, Inc.</a:t>
            </a:r>
            <a:endParaRPr lang="en-US" dirty="0"/>
          </a:p>
        </p:txBody>
      </p:sp>
      <p:sp>
        <p:nvSpPr>
          <p:cNvPr id="5" name="Slide Number Placeholder 4"/>
          <p:cNvSpPr>
            <a:spLocks noGrp="1"/>
          </p:cNvSpPr>
          <p:nvPr>
            <p:ph type="sldNum" sz="quarter" idx="12"/>
          </p:nvPr>
        </p:nvSpPr>
        <p:spPr/>
        <p:txBody>
          <a:bodyPr/>
          <a:lstStyle/>
          <a:p>
            <a:fld id="{68F46CC4-B570-4746-ADFA-6E9E2BD9CBA4}" type="slidenum">
              <a:rPr lang="en-US" smtClean="0"/>
              <a:pPr/>
              <a:t>‹#›</a:t>
            </a:fld>
            <a:endParaRPr lang="en-US" dirty="0"/>
          </a:p>
        </p:txBody>
      </p:sp>
      <p:sp>
        <p:nvSpPr>
          <p:cNvPr id="11" name="Rectangle 10"/>
          <p:cNvSpPr/>
          <p:nvPr userDrawn="1"/>
        </p:nvSpPr>
        <p:spPr>
          <a:xfrm>
            <a:off x="508000" y="1219200"/>
            <a:ext cx="11531600" cy="5105400"/>
          </a:xfrm>
          <a:prstGeom prst="rect">
            <a:avLst/>
          </a:prstGeom>
          <a:noFill/>
          <a:ln>
            <a:solidFill>
              <a:srgbClr val="228C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6" name="Text Placeholder 15"/>
          <p:cNvSpPr>
            <a:spLocks noGrp="1"/>
          </p:cNvSpPr>
          <p:nvPr>
            <p:ph type="body" sz="quarter" idx="13"/>
          </p:nvPr>
        </p:nvSpPr>
        <p:spPr>
          <a:xfrm>
            <a:off x="609600" y="1280160"/>
            <a:ext cx="11353800" cy="4892040"/>
          </a:xfrm>
        </p:spPr>
        <p:txBody>
          <a:bodyPr/>
          <a:lstStyle>
            <a:lvl1pPr marL="514350" indent="-514350">
              <a:buFont typeface="+mj-lt"/>
              <a:buAutoNum type="arabicPeriod"/>
              <a:defRPr/>
            </a:lvl1pPr>
          </a:lstStyle>
          <a:p>
            <a:pPr lvl="0"/>
            <a:r>
              <a:rPr lang="en-US" smtClean="0"/>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ve Overview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91200" y="271272"/>
            <a:ext cx="406400" cy="792162"/>
          </a:xfrm>
        </p:spPr>
        <p:txBody>
          <a:bodyPr/>
          <a:lstStyle>
            <a:lvl1pPr>
              <a:defRPr/>
            </a:lvl1pPr>
          </a:lstStyle>
          <a:p>
            <a:r>
              <a:rPr lang="en-US" dirty="0" smtClean="0"/>
              <a:t>?</a:t>
            </a:r>
            <a:endParaRPr lang="en-US" dirty="0"/>
          </a:p>
        </p:txBody>
      </p:sp>
      <p:sp>
        <p:nvSpPr>
          <p:cNvPr id="3" name="Footer Placeholder 2"/>
          <p:cNvSpPr>
            <a:spLocks noGrp="1"/>
          </p:cNvSpPr>
          <p:nvPr>
            <p:ph type="ftr" sz="quarter" idx="10"/>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1"/>
          </p:nvPr>
        </p:nvSpPr>
        <p:spPr/>
        <p:txBody>
          <a:bodyPr/>
          <a:lstStyle/>
          <a:p>
            <a:fld id="{68F46CC4-B570-4746-ADFA-6E9E2BD9CBA4}" type="slidenum">
              <a:rPr lang="en-US" smtClean="0"/>
              <a:pPr/>
              <a:t>‹#›</a:t>
            </a:fld>
            <a:endParaRPr lang="en-US" dirty="0"/>
          </a:p>
        </p:txBody>
      </p:sp>
      <p:sp>
        <p:nvSpPr>
          <p:cNvPr id="7" name="Text Placeholder 6"/>
          <p:cNvSpPr>
            <a:spLocks noGrp="1"/>
          </p:cNvSpPr>
          <p:nvPr>
            <p:ph type="body" sz="quarter" idx="13" hasCustomPrompt="1"/>
          </p:nvPr>
        </p:nvSpPr>
        <p:spPr>
          <a:xfrm>
            <a:off x="609600" y="1219200"/>
            <a:ext cx="10972800" cy="609600"/>
          </a:xfrm>
        </p:spPr>
        <p:txBody>
          <a:bodyPr>
            <a:normAutofit/>
          </a:bodyPr>
          <a:lstStyle>
            <a:lvl1pPr>
              <a:buFontTx/>
              <a:buNone/>
              <a:defRPr sz="2800" i="1">
                <a:latin typeface="Georgia" pitchFamily="18" charset="0"/>
              </a:defRPr>
            </a:lvl1pPr>
          </a:lstStyle>
          <a:p>
            <a:pPr lvl="0"/>
            <a:r>
              <a:rPr lang="en-US" dirty="0" smtClean="0"/>
              <a:t>Click to type objective text</a:t>
            </a:r>
          </a:p>
        </p:txBody>
      </p:sp>
      <p:sp>
        <p:nvSpPr>
          <p:cNvPr id="10" name="Text Placeholder 9"/>
          <p:cNvSpPr>
            <a:spLocks noGrp="1"/>
          </p:cNvSpPr>
          <p:nvPr>
            <p:ph type="body" sz="quarter" idx="14" hasCustomPrompt="1"/>
          </p:nvPr>
        </p:nvSpPr>
        <p:spPr>
          <a:xfrm>
            <a:off x="609600" y="2057400"/>
            <a:ext cx="10972800" cy="1676400"/>
          </a:xfrm>
        </p:spPr>
        <p:txBody>
          <a:bodyPr>
            <a:normAutofit/>
          </a:bodyPr>
          <a:lstStyle>
            <a:lvl1pPr marL="514350" indent="-514350">
              <a:buFont typeface="+mj-lt"/>
              <a:buAutoNum type="arabicPeriod"/>
              <a:defRPr sz="2800"/>
            </a:lvl1pPr>
            <a:lvl2pPr marL="971550" indent="-514350">
              <a:buFont typeface="+mj-lt"/>
              <a:buAutoNum type="arabicPeriod"/>
              <a:defRPr/>
            </a:lvl2pPr>
            <a:lvl3pPr marL="1371600" indent="-457200">
              <a:buFont typeface="+mj-lt"/>
              <a:buAutoNum type="arabicPeriod"/>
              <a:defRPr/>
            </a:lvl3pPr>
            <a:lvl4pPr marL="1828800" indent="-457200">
              <a:buFont typeface="+mj-lt"/>
              <a:buAutoNum type="arabicPeriod"/>
              <a:defRPr/>
            </a:lvl4pPr>
            <a:lvl5pPr marL="2286000" indent="-457200">
              <a:buFont typeface="+mj-lt"/>
              <a:buAutoNum type="arabicPeriod"/>
              <a:defRPr/>
            </a:lvl5pPr>
          </a:lstStyle>
          <a:p>
            <a:pPr lvl="0"/>
            <a:r>
              <a:rPr lang="en-US" dirty="0" smtClean="0"/>
              <a:t>Click to edit major points</a:t>
            </a:r>
          </a:p>
        </p:txBody>
      </p:sp>
      <p:cxnSp>
        <p:nvCxnSpPr>
          <p:cNvPr id="16" name="Straight Connector 15"/>
          <p:cNvCxnSpPr/>
          <p:nvPr userDrawn="1"/>
        </p:nvCxnSpPr>
        <p:spPr>
          <a:xfrm>
            <a:off x="2590800" y="1066800"/>
            <a:ext cx="7010400" cy="0"/>
          </a:xfrm>
          <a:prstGeom prst="line">
            <a:avLst/>
          </a:prstGeom>
        </p:spPr>
        <p:style>
          <a:lnRef idx="3">
            <a:schemeClr val="dk1"/>
          </a:lnRef>
          <a:fillRef idx="0">
            <a:schemeClr val="dk1"/>
          </a:fillRef>
          <a:effectRef idx="2">
            <a:schemeClr val="dk1"/>
          </a:effectRef>
          <a:fontRef idx="minor">
            <a:schemeClr val="tx1"/>
          </a:fontRef>
        </p:style>
      </p:cxnSp>
      <p:sp>
        <p:nvSpPr>
          <p:cNvPr id="17" name="TextBox 16"/>
          <p:cNvSpPr txBox="1"/>
          <p:nvPr userDrawn="1"/>
        </p:nvSpPr>
        <p:spPr>
          <a:xfrm>
            <a:off x="3048001" y="348856"/>
            <a:ext cx="2098651" cy="646331"/>
          </a:xfrm>
          <a:prstGeom prst="rect">
            <a:avLst/>
          </a:prstGeom>
          <a:noFill/>
        </p:spPr>
        <p:txBody>
          <a:bodyPr wrap="none" rtlCol="0">
            <a:spAutoFit/>
          </a:bodyPr>
          <a:lstStyle/>
          <a:p>
            <a:r>
              <a:rPr lang="en-US" sz="3600" dirty="0" smtClean="0">
                <a:latin typeface="Georgia" pitchFamily="18" charset="0"/>
              </a:rPr>
              <a:t>Objective</a:t>
            </a:r>
            <a:endParaRPr lang="en-US" sz="1800" dirty="0">
              <a:latin typeface="Georgia" pitchFamily="18" charset="0"/>
            </a:endParaRPr>
          </a:p>
        </p:txBody>
      </p:sp>
      <p:sp>
        <p:nvSpPr>
          <p:cNvPr id="19" name="TextBox 18"/>
          <p:cNvSpPr txBox="1"/>
          <p:nvPr userDrawn="1"/>
        </p:nvSpPr>
        <p:spPr>
          <a:xfrm>
            <a:off x="6096001" y="345490"/>
            <a:ext cx="3133764" cy="646331"/>
          </a:xfrm>
          <a:prstGeom prst="rect">
            <a:avLst/>
          </a:prstGeom>
          <a:noFill/>
        </p:spPr>
        <p:txBody>
          <a:bodyPr wrap="square" rtlCol="0">
            <a:spAutoFit/>
          </a:bodyPr>
          <a:lstStyle/>
          <a:p>
            <a:r>
              <a:rPr lang="en-US" sz="3600" dirty="0" smtClean="0">
                <a:latin typeface="Georgia" pitchFamily="18" charset="0"/>
              </a:rPr>
              <a:t>: Overview</a:t>
            </a:r>
            <a:endParaRPr lang="en-US" sz="3600" dirty="0">
              <a:latin typeface="Georgia" pitchFamily="18" charset="0"/>
            </a:endParaRPr>
          </a:p>
        </p:txBody>
      </p:sp>
      <p:sp>
        <p:nvSpPr>
          <p:cNvPr id="27" name="Text Placeholder 26"/>
          <p:cNvSpPr>
            <a:spLocks noGrp="1"/>
          </p:cNvSpPr>
          <p:nvPr>
            <p:ph type="body" sz="quarter" idx="15" hasCustomPrompt="1"/>
          </p:nvPr>
        </p:nvSpPr>
        <p:spPr>
          <a:xfrm>
            <a:off x="711200" y="4495800"/>
            <a:ext cx="5486400" cy="1752600"/>
          </a:xfrm>
        </p:spPr>
        <p:txBody>
          <a:bodyPr>
            <a:normAutofit/>
          </a:bodyPr>
          <a:lstStyle>
            <a:lvl1pPr>
              <a:defRPr sz="2400" baseline="0"/>
            </a:lvl1pPr>
          </a:lstStyle>
          <a:p>
            <a:pPr lvl="0"/>
            <a:r>
              <a:rPr lang="en-US" dirty="0" smtClean="0"/>
              <a:t>Click to add key terms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hasCustomPrompt="1"/>
          </p:nvPr>
        </p:nvSpPr>
        <p:spPr>
          <a:xfrm>
            <a:off x="530352" y="1280160"/>
            <a:ext cx="11509248" cy="5044440"/>
          </a:xfrm>
        </p:spPr>
        <p:txBody>
          <a:bodyPr/>
          <a:lstStyle>
            <a:lvl1pPr marL="228600" indent="-228600">
              <a:spcBef>
                <a:spcPts val="0"/>
              </a:spcBef>
              <a:defRPr sz="3200"/>
            </a:lvl1pPr>
            <a:lvl2pPr marL="685800" indent="-228600">
              <a:spcBef>
                <a:spcPts val="0"/>
              </a:spcBef>
              <a:buFont typeface="Wingdings" panose="05000000000000000000" pitchFamily="2" charset="2"/>
              <a:buChar char="ü"/>
              <a:defRPr sz="2800"/>
            </a:lvl2pPr>
            <a:lvl3pPr marL="1143000" indent="-228600">
              <a:spcBef>
                <a:spcPts val="0"/>
              </a:spcBef>
              <a:buFont typeface="Arial" panose="020B0604020202020204" pitchFamily="34" charset="0"/>
              <a:buChar char="•"/>
              <a:defRPr sz="2400"/>
            </a:lvl3pPr>
            <a:lvl4pPr>
              <a:defRPr sz="16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5" name="Footer Placeholder 4"/>
          <p:cNvSpPr>
            <a:spLocks noGrp="1"/>
          </p:cNvSpPr>
          <p:nvPr>
            <p:ph type="ftr" sz="quarter" idx="11"/>
          </p:nvPr>
        </p:nvSpPr>
        <p:spPr/>
        <p:txBody>
          <a:bodyPr/>
          <a:lstStyle/>
          <a:p>
            <a:r>
              <a:rPr lang="en-US" smtClean="0"/>
              <a:t>Copyright © 2017 Pearson Education, Inc.</a:t>
            </a:r>
            <a:endParaRPr lang="en-US" dirty="0"/>
          </a:p>
        </p:txBody>
      </p:sp>
      <p:sp>
        <p:nvSpPr>
          <p:cNvPr id="6" name="Slide Number Placeholder 5"/>
          <p:cNvSpPr>
            <a:spLocks noGrp="1"/>
          </p:cNvSpPr>
          <p:nvPr>
            <p:ph type="sldNum" sz="quarter" idx="12"/>
          </p:nvPr>
        </p:nvSpPr>
        <p:spPr/>
        <p:txBody>
          <a:bodyPr/>
          <a:lstStyle/>
          <a:p>
            <a:fld id="{68F46CC4-B570-4746-ADFA-6E9E2BD9CBA4}"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hasCustomPrompt="1"/>
          </p:nvPr>
        </p:nvSpPr>
        <p:spPr>
          <a:xfrm>
            <a:off x="530352" y="1280160"/>
            <a:ext cx="5641848" cy="4892040"/>
          </a:xfrm>
        </p:spPr>
        <p:txBody>
          <a:bodyPr/>
          <a:lstStyle>
            <a:lvl1pPr marL="228600" indent="-228600">
              <a:spcBef>
                <a:spcPts val="0"/>
              </a:spcBef>
              <a:defRPr sz="3200"/>
            </a:lvl1pPr>
            <a:lvl2pPr marL="685800" indent="-228600">
              <a:spcBef>
                <a:spcPts val="0"/>
              </a:spcBef>
              <a:buFont typeface="Wingdings" panose="05000000000000000000" pitchFamily="2" charset="2"/>
              <a:buChar char="ü"/>
              <a:defRPr sz="2800"/>
            </a:lvl2pPr>
            <a:lvl3pPr marL="1143000" indent="-228600">
              <a:spcBef>
                <a:spcPts val="0"/>
              </a:spcBef>
              <a:buFont typeface="Arial" panose="020B0604020202020204" pitchFamily="34" charset="0"/>
              <a:buChar char="•"/>
              <a:defRPr sz="24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Content Placeholder 3"/>
          <p:cNvSpPr>
            <a:spLocks noGrp="1"/>
          </p:cNvSpPr>
          <p:nvPr>
            <p:ph sz="half" idx="2" hasCustomPrompt="1"/>
          </p:nvPr>
        </p:nvSpPr>
        <p:spPr>
          <a:xfrm>
            <a:off x="6359652" y="1280160"/>
            <a:ext cx="5756148" cy="4892040"/>
          </a:xfrm>
        </p:spPr>
        <p:txBody>
          <a:bodyPr/>
          <a:lstStyle>
            <a:lvl1pPr marL="228600" indent="-228600">
              <a:spcBef>
                <a:spcPts val="0"/>
              </a:spcBef>
              <a:defRPr sz="3200"/>
            </a:lvl1pPr>
            <a:lvl2pPr marL="685800" indent="-228600">
              <a:spcBef>
                <a:spcPts val="0"/>
              </a:spcBef>
              <a:buFont typeface="Wingdings" panose="05000000000000000000" pitchFamily="2" charset="2"/>
              <a:buChar char="ü"/>
              <a:defRPr sz="2800"/>
            </a:lvl2pPr>
            <a:lvl3pPr marL="1143000" indent="-228600">
              <a:spcBef>
                <a:spcPts val="0"/>
              </a:spcBef>
              <a:buFont typeface="Arial" panose="020B0604020202020204" pitchFamily="34" charset="0"/>
              <a:buChar char="•"/>
              <a:defRPr sz="24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p:txBody>
      </p:sp>
      <p:sp>
        <p:nvSpPr>
          <p:cNvPr id="6" name="Footer Placeholder 5"/>
          <p:cNvSpPr>
            <a:spLocks noGrp="1"/>
          </p:cNvSpPr>
          <p:nvPr>
            <p:ph type="ftr" sz="quarter" idx="11"/>
          </p:nvPr>
        </p:nvSpPr>
        <p:spPr/>
        <p:txBody>
          <a:bodyPr/>
          <a:lstStyle/>
          <a:p>
            <a:r>
              <a:rPr lang="en-US" smtClean="0"/>
              <a:t>Copyright © 2017 Pearson Education, Inc.</a:t>
            </a:r>
            <a:endParaRPr lang="en-US" dirty="0"/>
          </a:p>
        </p:txBody>
      </p:sp>
      <p:sp>
        <p:nvSpPr>
          <p:cNvPr id="7" name="Slide Number Placeholder 6"/>
          <p:cNvSpPr>
            <a:spLocks noGrp="1"/>
          </p:cNvSpPr>
          <p:nvPr>
            <p:ph type="sldNum" sz="quarter" idx="12"/>
          </p:nvPr>
        </p:nvSpPr>
        <p:spPr/>
        <p:txBody>
          <a:bodyPr/>
          <a:lstStyle/>
          <a:p>
            <a:fld id="{68F46CC4-B570-4746-ADFA-6E9E2BD9CBA4}"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4" name="Footer Placeholder 3"/>
          <p:cNvSpPr>
            <a:spLocks noGrp="1"/>
          </p:cNvSpPr>
          <p:nvPr>
            <p:ph type="ftr" sz="quarter" idx="11"/>
          </p:nvPr>
        </p:nvSpPr>
        <p:spPr/>
        <p:txBody>
          <a:bodyPr/>
          <a:lstStyle/>
          <a:p>
            <a:r>
              <a:rPr lang="en-US" smtClean="0"/>
              <a:t>Copyright © 2017 Pearson Education, Inc.</a:t>
            </a:r>
            <a:endParaRPr lang="en-US" dirty="0"/>
          </a:p>
        </p:txBody>
      </p:sp>
      <p:sp>
        <p:nvSpPr>
          <p:cNvPr id="5" name="Slide Number Placeholder 4"/>
          <p:cNvSpPr>
            <a:spLocks noGrp="1"/>
          </p:cNvSpPr>
          <p:nvPr>
            <p:ph type="sldNum" sz="quarter" idx="12"/>
          </p:nvPr>
        </p:nvSpPr>
        <p:spPr/>
        <p:txBody>
          <a:bodyPr/>
          <a:lstStyle/>
          <a:p>
            <a:fld id="{68F46CC4-B570-4746-ADFA-6E9E2BD9CBA4}"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inal Slide - DO NOT CHANGE ANYTHIN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1"/>
          </p:nvPr>
        </p:nvSpPr>
        <p:spPr/>
        <p:txBody>
          <a:bodyPr/>
          <a:lstStyle/>
          <a:p>
            <a:fld id="{68F46CC4-B570-4746-ADFA-6E9E2BD9CBA4}" type="slidenum">
              <a:rPr lang="en-US" smtClean="0"/>
              <a:pPr/>
              <a:t>‹#›</a:t>
            </a:fld>
            <a:endParaRPr lang="en-US" dirty="0"/>
          </a:p>
        </p:txBody>
      </p:sp>
      <p:pic>
        <p:nvPicPr>
          <p:cNvPr id="6" name="Picture 4" descr="cid:3287383400_2177562"/>
          <p:cNvPicPr>
            <a:picLocks noChangeAspect="1" noChangeArrowheads="1"/>
          </p:cNvPicPr>
          <p:nvPr userDrawn="1"/>
        </p:nvPicPr>
        <p:blipFill>
          <a:blip r:embed="rId2" r:link="rId3" cstate="screen"/>
          <a:srcRect/>
          <a:stretch>
            <a:fillRect/>
          </a:stretch>
        </p:blipFill>
        <p:spPr bwMode="auto">
          <a:xfrm>
            <a:off x="709083" y="838200"/>
            <a:ext cx="11231033" cy="2747963"/>
          </a:xfrm>
          <a:prstGeom prst="rect">
            <a:avLst/>
          </a:prstGeom>
          <a:solidFill>
            <a:schemeClr val="hlink"/>
          </a:solidFill>
          <a:ln w="9525">
            <a:solidFill>
              <a:schemeClr val="bg1"/>
            </a:solidFill>
            <a:miter lim="800000"/>
            <a:headEnd/>
            <a:tailEnd/>
          </a:ln>
        </p:spPr>
      </p:pic>
      <p:sp>
        <p:nvSpPr>
          <p:cNvPr id="7" name="Rectangle 5"/>
          <p:cNvSpPr>
            <a:spLocks noChangeArrowheads="1"/>
          </p:cNvSpPr>
          <p:nvPr userDrawn="1"/>
        </p:nvSpPr>
        <p:spPr bwMode="auto">
          <a:xfrm>
            <a:off x="1264707" y="4038600"/>
            <a:ext cx="10119784" cy="830997"/>
          </a:xfrm>
          <a:prstGeom prst="rect">
            <a:avLst/>
          </a:prstGeom>
          <a:noFill/>
          <a:ln w="25400">
            <a:noFill/>
            <a:miter lim="800000"/>
            <a:headEnd/>
            <a:tailEnd/>
          </a:ln>
        </p:spPr>
        <p:txBody>
          <a:bodyPr anchor="ctr">
            <a:spAutoFit/>
          </a:bodyPr>
          <a:lstStyle/>
          <a:p>
            <a:pPr algn="ctr"/>
            <a:r>
              <a:rPr lang="en-US" sz="1600" dirty="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0352" y="0"/>
            <a:ext cx="11658600" cy="109728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p:txBody>
      </p:sp>
      <p:sp>
        <p:nvSpPr>
          <p:cNvPr id="5" name="Footer Placeholder 4"/>
          <p:cNvSpPr>
            <a:spLocks noGrp="1"/>
          </p:cNvSpPr>
          <p:nvPr>
            <p:ph type="ftr" sz="quarter" idx="3"/>
          </p:nvPr>
        </p:nvSpPr>
        <p:spPr>
          <a:xfrm>
            <a:off x="2616200" y="6492240"/>
            <a:ext cx="7416800" cy="365125"/>
          </a:xfrm>
          <a:prstGeom prst="rect">
            <a:avLst/>
          </a:prstGeom>
        </p:spPr>
        <p:txBody>
          <a:bodyPr vert="horz" lIns="91440" tIns="45720" rIns="91440" bIns="45720" rtlCol="0" anchor="ctr"/>
          <a:lstStyle>
            <a:lvl1pPr algn="ctr">
              <a:defRPr sz="900">
                <a:solidFill>
                  <a:schemeClr val="tx1"/>
                </a:solidFill>
              </a:defRPr>
            </a:lvl1pPr>
          </a:lstStyle>
          <a:p>
            <a:r>
              <a:rPr lang="en-US" smtClean="0"/>
              <a:t>Copyright © 2017 Pearson Education, Inc.</a:t>
            </a:r>
            <a:endParaRPr lang="en-US" dirty="0"/>
          </a:p>
        </p:txBody>
      </p:sp>
      <p:sp>
        <p:nvSpPr>
          <p:cNvPr id="6" name="Slide Number Placeholder 5"/>
          <p:cNvSpPr>
            <a:spLocks noGrp="1"/>
          </p:cNvSpPr>
          <p:nvPr>
            <p:ph type="sldNum" sz="quarter" idx="4"/>
          </p:nvPr>
        </p:nvSpPr>
        <p:spPr>
          <a:xfrm>
            <a:off x="11074400" y="6492240"/>
            <a:ext cx="508000" cy="365125"/>
          </a:xfrm>
          <a:prstGeom prst="rect">
            <a:avLst/>
          </a:prstGeom>
        </p:spPr>
        <p:txBody>
          <a:bodyPr vert="horz" lIns="91440" tIns="45720" rIns="91440" bIns="45720" rtlCol="0" anchor="ctr"/>
          <a:lstStyle>
            <a:lvl1pPr algn="r">
              <a:defRPr lang="en-US" sz="900" kern="1200" smtClean="0">
                <a:solidFill>
                  <a:schemeClr val="tx1"/>
                </a:solidFill>
                <a:latin typeface="+mn-lt"/>
                <a:ea typeface="+mn-ea"/>
                <a:cs typeface="+mn-cs"/>
              </a:defRPr>
            </a:lvl1pPr>
          </a:lstStyle>
          <a:p>
            <a:fld id="{68F46CC4-B570-4746-ADFA-6E9E2BD9CBA4}" type="slidenum">
              <a:rPr lang="en-US" smtClean="0"/>
              <a:pPr/>
              <a:t>‹#›</a:t>
            </a:fld>
            <a:endParaRPr lang="en-US" dirty="0"/>
          </a:p>
        </p:txBody>
      </p:sp>
      <p:sp>
        <p:nvSpPr>
          <p:cNvPr id="8" name="Rectangle 7"/>
          <p:cNvSpPr/>
          <p:nvPr userDrawn="1"/>
        </p:nvSpPr>
        <p:spPr>
          <a:xfrm>
            <a:off x="0" y="0"/>
            <a:ext cx="508000" cy="6858000"/>
          </a:xfrm>
          <a:prstGeom prst="rect">
            <a:avLst/>
          </a:prstGeom>
          <a:gradFill flip="none" rotWithShape="1">
            <a:gsLst>
              <a:gs pos="0">
                <a:schemeClr val="bg1">
                  <a:lumMod val="25000"/>
                </a:schemeClr>
              </a:gs>
              <a:gs pos="50000">
                <a:schemeClr val="bg1">
                  <a:lumMod val="50000"/>
                </a:schemeClr>
              </a:gs>
              <a:gs pos="100000">
                <a:schemeClr val="bg1">
                  <a:lumMod val="9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2" r:id="rId5"/>
    <p:sldLayoutId id="2147483654" r:id="rId6"/>
    <p:sldLayoutId id="2147483655" r:id="rId7"/>
    <p:sldLayoutId id="2147483663" r:id="rId8"/>
  </p:sldLayoutIdLst>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hf hdr="0" dt="0"/>
  <p:txStyles>
    <p:titleStyle>
      <a:lvl1pPr algn="ctr" defTabSz="914400" rtl="0" eaLnBrk="1" latinLnBrk="0" hangingPunct="1">
        <a:spcBef>
          <a:spcPct val="0"/>
        </a:spcBef>
        <a:buNone/>
        <a:defRPr sz="4000" b="1" kern="1200">
          <a:solidFill>
            <a:schemeClr val="tx1"/>
          </a:solidFill>
          <a:latin typeface="Georgia" pitchFamily="18" charset="0"/>
          <a:ea typeface="+mj-ea"/>
          <a:cs typeface="+mj-cs"/>
        </a:defRPr>
      </a:lvl1pPr>
    </p:titleStyle>
    <p:bodyStyle>
      <a:lvl1pPr marL="342900" indent="-342900" algn="l" defTabSz="914400" rtl="0" eaLnBrk="1" latinLnBrk="0" hangingPunct="1">
        <a:spcBef>
          <a:spcPct val="20000"/>
        </a:spcBef>
        <a:buFont typeface="Wingdings" pitchFamily="2" charset="2"/>
        <a:buChar char="§"/>
        <a:defRPr sz="2400" kern="1200">
          <a:solidFill>
            <a:schemeClr val="tx1"/>
          </a:solidFill>
          <a:latin typeface="Century Gothic" pitchFamily="34" charset="0"/>
          <a:ea typeface="+mn-ea"/>
          <a:cs typeface="+mn-cs"/>
        </a:defRPr>
      </a:lvl1pPr>
      <a:lvl2pPr marL="742950" indent="-285750" algn="l" defTabSz="914400" rtl="0" eaLnBrk="1" latinLnBrk="0" hangingPunct="1">
        <a:spcBef>
          <a:spcPct val="20000"/>
        </a:spcBef>
        <a:buFont typeface="Wingdings" pitchFamily="2" charset="2"/>
        <a:buChar char="§"/>
        <a:defRPr sz="2800" kern="1200">
          <a:solidFill>
            <a:schemeClr val="tx1"/>
          </a:solidFill>
          <a:latin typeface="Century Gothic" pitchFamily="34" charset="0"/>
          <a:ea typeface="+mn-ea"/>
          <a:cs typeface="+mn-cs"/>
        </a:defRPr>
      </a:lvl2pPr>
      <a:lvl3pPr marL="1143000" indent="-228600" algn="l" defTabSz="914400" rtl="0" eaLnBrk="1" latinLnBrk="0" hangingPunct="1">
        <a:spcBef>
          <a:spcPct val="20000"/>
        </a:spcBef>
        <a:buFont typeface="Wingdings" pitchFamily="2" charset="2"/>
        <a:buChar char="§"/>
        <a:defRPr sz="2400" kern="1200">
          <a:solidFill>
            <a:schemeClr val="tx1"/>
          </a:solidFill>
          <a:latin typeface="Century Gothic" pitchFamily="34" charset="0"/>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Century Gothic" pitchFamily="34" charset="0"/>
          <a:ea typeface="+mn-ea"/>
          <a:cs typeface="+mn-cs"/>
        </a:defRPr>
      </a:lvl4pPr>
      <a:lvl5pPr marL="2057400" indent="-228600" algn="l" defTabSz="914400" rtl="0" eaLnBrk="1" latinLnBrk="0" hangingPunct="1">
        <a:spcBef>
          <a:spcPct val="20000"/>
        </a:spcBef>
        <a:buFont typeface="Wingdings" pitchFamily="2" charset="2"/>
        <a:buChar char="§"/>
        <a:defRPr sz="2000" kern="1200">
          <a:solidFill>
            <a:schemeClr val="tx1"/>
          </a:solidFill>
          <a:latin typeface="Century 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8"/>
          <p:cNvSpPr>
            <a:spLocks noGrp="1" noChangeArrowheads="1"/>
          </p:cNvSpPr>
          <p:nvPr>
            <p:ph type="subTitle" idx="1"/>
          </p:nvPr>
        </p:nvSpPr>
        <p:spPr/>
        <p:txBody>
          <a:bodyPr/>
          <a:lstStyle/>
          <a:p>
            <a:r>
              <a:rPr lang="en-US" dirty="0" smtClean="0"/>
              <a:t>Chapter 12</a:t>
            </a:r>
          </a:p>
          <a:p>
            <a:endParaRPr lang="en-US" dirty="0" smtClean="0"/>
          </a:p>
        </p:txBody>
      </p:sp>
      <p:sp>
        <p:nvSpPr>
          <p:cNvPr id="7" name="Text Placeholder 6"/>
          <p:cNvSpPr>
            <a:spLocks noGrp="1"/>
          </p:cNvSpPr>
          <p:nvPr>
            <p:ph type="body" sz="quarter" idx="15"/>
          </p:nvPr>
        </p:nvSpPr>
        <p:spPr/>
        <p:txBody>
          <a:bodyPr/>
          <a:lstStyle/>
          <a:p>
            <a:r>
              <a:rPr lang="en-US" dirty="0" smtClean="0"/>
              <a:t>Program Development</a:t>
            </a:r>
          </a:p>
          <a:p>
            <a:endParaRPr lang="en-US" dirty="0"/>
          </a:p>
        </p:txBody>
      </p:sp>
    </p:spTree>
    <p:extLst>
      <p:ext uri="{BB962C8B-B14F-4D97-AF65-F5344CB8AC3E}">
        <p14:creationId xmlns:p14="http://schemas.microsoft.com/office/powerpoint/2010/main" val="284368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Objectives</a:t>
            </a:r>
            <a:endParaRPr lang="en-US" dirty="0"/>
          </a:p>
        </p:txBody>
      </p:sp>
      <p:sp>
        <p:nvSpPr>
          <p:cNvPr id="8" name="Text Placeholder 7"/>
          <p:cNvSpPr>
            <a:spLocks noGrp="1"/>
          </p:cNvSpPr>
          <p:nvPr>
            <p:ph type="body" sz="quarter" idx="13"/>
          </p:nvPr>
        </p:nvSpPr>
        <p:spPr/>
        <p:txBody>
          <a:bodyPr>
            <a:normAutofit/>
          </a:bodyPr>
          <a:lstStyle/>
          <a:p>
            <a:pPr>
              <a:spcBef>
                <a:spcPts val="0"/>
              </a:spcBef>
              <a:spcAft>
                <a:spcPts val="1200"/>
              </a:spcAft>
            </a:pPr>
            <a:r>
              <a:rPr lang="en-US" sz="3200" dirty="0" smtClean="0"/>
              <a:t>Describe the System </a:t>
            </a:r>
            <a:r>
              <a:rPr lang="en-US" sz="3200" dirty="0"/>
              <a:t>D</a:t>
            </a:r>
            <a:r>
              <a:rPr lang="en-US" sz="3200" dirty="0" smtClean="0"/>
              <a:t>evelopment </a:t>
            </a:r>
            <a:r>
              <a:rPr lang="en-US" sz="3200" dirty="0"/>
              <a:t>L</a:t>
            </a:r>
            <a:r>
              <a:rPr lang="en-US" sz="3200" dirty="0" smtClean="0"/>
              <a:t>ife </a:t>
            </a:r>
            <a:r>
              <a:rPr lang="en-US" sz="3200" dirty="0"/>
              <a:t>C</a:t>
            </a:r>
            <a:r>
              <a:rPr lang="en-US" sz="3200" dirty="0" smtClean="0"/>
              <a:t>ycle</a:t>
            </a:r>
          </a:p>
          <a:p>
            <a:pPr>
              <a:spcBef>
                <a:spcPts val="0"/>
              </a:spcBef>
              <a:spcAft>
                <a:spcPts val="1200"/>
              </a:spcAft>
            </a:pPr>
            <a:r>
              <a:rPr lang="en-US" sz="3200" dirty="0" smtClean="0"/>
              <a:t>Describe the Program </a:t>
            </a:r>
            <a:r>
              <a:rPr lang="en-US" sz="3200" dirty="0"/>
              <a:t>D</a:t>
            </a:r>
            <a:r>
              <a:rPr lang="en-US" sz="3200" dirty="0" smtClean="0"/>
              <a:t>evelopment </a:t>
            </a:r>
            <a:r>
              <a:rPr lang="en-US" sz="3200" dirty="0"/>
              <a:t>C</a:t>
            </a:r>
            <a:r>
              <a:rPr lang="en-US" sz="3200" dirty="0" smtClean="0"/>
              <a:t>ycle</a:t>
            </a:r>
          </a:p>
          <a:p>
            <a:pPr>
              <a:spcBef>
                <a:spcPts val="0"/>
              </a:spcBef>
              <a:spcAft>
                <a:spcPts val="1200"/>
              </a:spcAft>
            </a:pPr>
            <a:r>
              <a:rPr lang="en-US" sz="3200" dirty="0" smtClean="0"/>
              <a:t>Compare Various </a:t>
            </a:r>
            <a:r>
              <a:rPr lang="en-US" sz="3200" dirty="0"/>
              <a:t>P</a:t>
            </a:r>
            <a:r>
              <a:rPr lang="en-US" sz="3200" dirty="0" smtClean="0"/>
              <a:t>rogramming </a:t>
            </a:r>
            <a:r>
              <a:rPr lang="en-US" sz="3200" dirty="0"/>
              <a:t>L</a:t>
            </a:r>
            <a:r>
              <a:rPr lang="en-US" sz="3200" dirty="0" smtClean="0"/>
              <a:t>anguages</a:t>
            </a:r>
          </a:p>
          <a:p>
            <a:pPr>
              <a:spcBef>
                <a:spcPts val="0"/>
              </a:spcBef>
              <a:spcAft>
                <a:spcPts val="1200"/>
              </a:spcAft>
            </a:pPr>
            <a:r>
              <a:rPr lang="en-US" sz="3200" dirty="0" smtClean="0"/>
              <a:t>Explain the Term </a:t>
            </a:r>
            <a:r>
              <a:rPr lang="en-US" sz="3200" i="1" dirty="0"/>
              <a:t>A</a:t>
            </a:r>
            <a:r>
              <a:rPr lang="en-US" sz="3200" i="1" dirty="0" smtClean="0"/>
              <a:t>rtificial Intelligence</a:t>
            </a:r>
            <a:endParaRPr lang="en-US" sz="3200" dirty="0" smtClean="0"/>
          </a:p>
        </p:txBody>
      </p:sp>
      <p:sp>
        <p:nvSpPr>
          <p:cNvPr id="10" name="Footer Placeholder 9"/>
          <p:cNvSpPr>
            <a:spLocks noGrp="1"/>
          </p:cNvSpPr>
          <p:nvPr>
            <p:ph type="ftr" sz="quarter" idx="11"/>
          </p:nvPr>
        </p:nvSpPr>
        <p:spPr/>
        <p:txBody>
          <a:bodyPr/>
          <a:lstStyle/>
          <a:p>
            <a:r>
              <a:rPr lang="en-US"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2</a:t>
            </a:fld>
            <a:endParaRPr lang="en-US" dirty="0"/>
          </a:p>
        </p:txBody>
      </p:sp>
    </p:spTree>
    <p:extLst>
      <p:ext uri="{BB962C8B-B14F-4D97-AF65-F5344CB8AC3E}">
        <p14:creationId xmlns:p14="http://schemas.microsoft.com/office/powerpoint/2010/main" val="3122033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dirty="0"/>
              <a:t>Describe the </a:t>
            </a:r>
            <a:r>
              <a:rPr lang="en-US" dirty="0" smtClean="0"/>
              <a:t>System</a:t>
            </a:r>
            <a:br>
              <a:rPr lang="en-US" dirty="0" smtClean="0"/>
            </a:br>
            <a:r>
              <a:rPr lang="en-US" dirty="0" smtClean="0"/>
              <a:t>Development Life </a:t>
            </a:r>
            <a:r>
              <a:rPr lang="en-US" dirty="0"/>
              <a:t>Cycle</a:t>
            </a:r>
          </a:p>
        </p:txBody>
      </p:sp>
      <p:sp>
        <p:nvSpPr>
          <p:cNvPr id="8" name="Footer Placeholder 7"/>
          <p:cNvSpPr>
            <a:spLocks noGrp="1"/>
          </p:cNvSpPr>
          <p:nvPr>
            <p:ph type="ftr" sz="quarter" idx="11"/>
          </p:nvPr>
        </p:nvSpPr>
        <p:spPr/>
        <p:txBody>
          <a:bodyPr/>
          <a:lstStyle/>
          <a:p>
            <a:r>
              <a:rPr lang="en-US"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1100" y="1291936"/>
            <a:ext cx="7747000" cy="5164151"/>
          </a:xfrm>
          <a:prstGeom prst="rect">
            <a:avLst/>
          </a:prstGeom>
        </p:spPr>
      </p:pic>
      <p:sp>
        <p:nvSpPr>
          <p:cNvPr id="10"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290452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0" dirty="0"/>
              <a:t>Getting from </a:t>
            </a:r>
            <a:r>
              <a:rPr lang="en-US" b="0" dirty="0" smtClean="0"/>
              <a:t>Idea to </a:t>
            </a:r>
            <a:r>
              <a:rPr lang="en-US" b="0" dirty="0"/>
              <a:t>Product</a:t>
            </a:r>
            <a:r>
              <a:rPr lang="en-US" dirty="0"/>
              <a:t/>
            </a:r>
            <a:br>
              <a:rPr lang="en-US" dirty="0"/>
            </a:br>
            <a:r>
              <a:rPr lang="en-US" dirty="0"/>
              <a:t>System </a:t>
            </a:r>
            <a:r>
              <a:rPr lang="en-US" dirty="0" smtClean="0"/>
              <a:t>Development Life Cycle</a:t>
            </a:r>
            <a:endParaRPr lang="en-US" b="1" dirty="0"/>
          </a:p>
        </p:txBody>
      </p:sp>
      <p:sp>
        <p:nvSpPr>
          <p:cNvPr id="7" name="Content Placeholder 6"/>
          <p:cNvSpPr>
            <a:spLocks noGrp="1"/>
          </p:cNvSpPr>
          <p:nvPr>
            <p:ph sz="half" idx="1"/>
          </p:nvPr>
        </p:nvSpPr>
        <p:spPr>
          <a:xfrm>
            <a:off x="530352" y="1295400"/>
            <a:ext cx="11658600" cy="4525963"/>
          </a:xfrm>
        </p:spPr>
        <p:txBody>
          <a:bodyPr>
            <a:normAutofit/>
          </a:bodyPr>
          <a:lstStyle/>
          <a:p>
            <a:pPr>
              <a:spcAft>
                <a:spcPts val="1200"/>
              </a:spcAft>
            </a:pPr>
            <a:r>
              <a:rPr lang="en-US" dirty="0" smtClean="0"/>
              <a:t>Also called waterfall approach</a:t>
            </a:r>
          </a:p>
          <a:p>
            <a:pPr>
              <a:spcAft>
                <a:spcPts val="1200"/>
              </a:spcAft>
            </a:pPr>
            <a:r>
              <a:rPr lang="en-US" dirty="0" smtClean="0"/>
              <a:t>Each phase must be completed in order for the next phase to begin</a:t>
            </a:r>
          </a:p>
          <a:p>
            <a:pPr>
              <a:spcAft>
                <a:spcPts val="1200"/>
              </a:spcAft>
            </a:pPr>
            <a:r>
              <a:rPr lang="en-US" dirty="0" smtClean="0"/>
              <a:t>This method is rigid</a:t>
            </a:r>
          </a:p>
          <a:p>
            <a:pPr>
              <a:spcAft>
                <a:spcPts val="1200"/>
              </a:spcAft>
            </a:pPr>
            <a:r>
              <a:rPr lang="en-US" dirty="0" smtClean="0"/>
              <a:t>Process begins with request for new system or replacement for old one</a:t>
            </a:r>
          </a:p>
        </p:txBody>
      </p:sp>
      <p:sp>
        <p:nvSpPr>
          <p:cNvPr id="5" name="Footer Placeholder 4"/>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4</a:t>
            </a:fld>
            <a:endParaRPr lang="en-US" dirty="0"/>
          </a:p>
        </p:txBody>
      </p:sp>
      <p:sp>
        <p:nvSpPr>
          <p:cNvPr id="8"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195156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1658600" cy="1097280"/>
          </a:xfrm>
        </p:spPr>
        <p:txBody>
          <a:bodyPr>
            <a:noAutofit/>
          </a:bodyPr>
          <a:lstStyle/>
          <a:p>
            <a:r>
              <a:rPr lang="en-US" b="0" dirty="0"/>
              <a:t>Getting from </a:t>
            </a:r>
            <a:r>
              <a:rPr lang="en-US" b="0" dirty="0" smtClean="0"/>
              <a:t>Idea to </a:t>
            </a:r>
            <a:r>
              <a:rPr lang="en-US" b="0" dirty="0"/>
              <a:t>Product</a:t>
            </a:r>
            <a:r>
              <a:rPr lang="en-US" dirty="0" smtClean="0"/>
              <a:t/>
            </a:r>
            <a:br>
              <a:rPr lang="en-US" dirty="0" smtClean="0"/>
            </a:br>
            <a:r>
              <a:rPr lang="en-US" dirty="0" smtClean="0"/>
              <a:t>System Development Life Cycle</a:t>
            </a:r>
            <a:endParaRPr lang="en-US" dirty="0"/>
          </a:p>
        </p:txBody>
      </p:sp>
      <p:sp>
        <p:nvSpPr>
          <p:cNvPr id="5" name="Footer Placeholder 4"/>
          <p:cNvSpPr>
            <a:spLocks noGrp="1"/>
          </p:cNvSpPr>
          <p:nvPr>
            <p:ph type="ftr" sz="quarter" idx="11"/>
          </p:nvPr>
        </p:nvSpPr>
        <p:spPr/>
        <p:txBody>
          <a:bodyPr/>
          <a:lstStyle/>
          <a:p>
            <a:r>
              <a:rPr lang="en-US" smtClean="0"/>
              <a:t>Copyright © 2017 Pearson Education, Inc.</a:t>
            </a:r>
            <a:endParaRPr lang="en-US" dirty="0"/>
          </a:p>
        </p:txBody>
      </p:sp>
      <p:sp>
        <p:nvSpPr>
          <p:cNvPr id="3" name="Slide Number Placeholder 2"/>
          <p:cNvSpPr>
            <a:spLocks noGrp="1"/>
          </p:cNvSpPr>
          <p:nvPr>
            <p:ph type="sldNum" sz="quarter" idx="12"/>
          </p:nvPr>
        </p:nvSpPr>
        <p:spPr/>
        <p:txBody>
          <a:bodyPr/>
          <a:lstStyle/>
          <a:p>
            <a:fld id="{68F46CC4-B570-4746-ADFA-6E9E2BD9CBA4}" type="slidenum">
              <a:rPr lang="en-US" smtClean="0"/>
              <a:pPr/>
              <a:t>5</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946400" y="1295400"/>
            <a:ext cx="6756400" cy="5197231"/>
          </a:xfrm>
          <a:prstGeom prst="rect">
            <a:avLst/>
          </a:prstGeom>
        </p:spPr>
      </p:pic>
      <p:sp>
        <p:nvSpPr>
          <p:cNvPr id="8"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1943348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a:t>Getting from </a:t>
            </a:r>
            <a:r>
              <a:rPr lang="en-US" b="0" dirty="0" smtClean="0"/>
              <a:t>Idea to </a:t>
            </a:r>
            <a:r>
              <a:rPr lang="en-US" b="0" dirty="0"/>
              <a:t>Product</a:t>
            </a:r>
            <a:r>
              <a:rPr lang="en-US" dirty="0"/>
              <a:t/>
            </a:r>
            <a:br>
              <a:rPr lang="en-US" dirty="0"/>
            </a:br>
            <a:r>
              <a:rPr lang="en-US" dirty="0"/>
              <a:t>System Development Life Cycle</a:t>
            </a:r>
            <a:endParaRPr lang="en-US" sz="2000" dirty="0"/>
          </a:p>
        </p:txBody>
      </p:sp>
      <p:sp>
        <p:nvSpPr>
          <p:cNvPr id="2" name="Content Placeholder 1"/>
          <p:cNvSpPr>
            <a:spLocks noGrp="1"/>
          </p:cNvSpPr>
          <p:nvPr>
            <p:ph idx="1"/>
          </p:nvPr>
        </p:nvSpPr>
        <p:spPr>
          <a:xfrm>
            <a:off x="533400" y="1308780"/>
            <a:ext cx="11658600" cy="4832350"/>
          </a:xfrm>
        </p:spPr>
        <p:txBody>
          <a:bodyPr>
            <a:normAutofit/>
          </a:bodyPr>
          <a:lstStyle/>
          <a:p>
            <a:pPr>
              <a:spcAft>
                <a:spcPts val="1200"/>
              </a:spcAft>
            </a:pPr>
            <a:r>
              <a:rPr lang="en-US" dirty="0"/>
              <a:t>Planning Phase of the SDLC</a:t>
            </a:r>
            <a:endParaRPr lang="en-US" dirty="0" smtClean="0"/>
          </a:p>
          <a:p>
            <a:pPr lvl="1">
              <a:spcAft>
                <a:spcPts val="1200"/>
              </a:spcAft>
            </a:pPr>
            <a:r>
              <a:rPr lang="en-US" dirty="0" smtClean="0"/>
              <a:t>Project </a:t>
            </a:r>
            <a:r>
              <a:rPr lang="en-US" dirty="0"/>
              <a:t>team</a:t>
            </a:r>
          </a:p>
          <a:p>
            <a:pPr lvl="2">
              <a:spcAft>
                <a:spcPts val="1200"/>
              </a:spcAft>
            </a:pPr>
            <a:r>
              <a:rPr lang="en-US" dirty="0"/>
              <a:t>Stakeholders, software developers, and a project manager (PM)</a:t>
            </a:r>
          </a:p>
          <a:p>
            <a:pPr lvl="1">
              <a:spcAft>
                <a:spcPts val="1200"/>
              </a:spcAft>
            </a:pPr>
            <a:r>
              <a:rPr lang="en-US" dirty="0"/>
              <a:t>Feasibility </a:t>
            </a:r>
            <a:r>
              <a:rPr lang="en-US" dirty="0" smtClean="0"/>
              <a:t>study</a:t>
            </a:r>
            <a:endParaRPr lang="en-US" dirty="0"/>
          </a:p>
          <a:p>
            <a:pPr lvl="2">
              <a:spcAft>
                <a:spcPts val="1200"/>
              </a:spcAft>
            </a:pPr>
            <a:r>
              <a:rPr lang="en-US" dirty="0" smtClean="0"/>
              <a:t>Economic</a:t>
            </a:r>
            <a:endParaRPr lang="en-US" dirty="0"/>
          </a:p>
          <a:p>
            <a:pPr lvl="2">
              <a:spcAft>
                <a:spcPts val="1200"/>
              </a:spcAft>
            </a:pPr>
            <a:r>
              <a:rPr lang="en-US" dirty="0" smtClean="0"/>
              <a:t>Technical</a:t>
            </a:r>
            <a:endParaRPr lang="en-US" dirty="0"/>
          </a:p>
          <a:p>
            <a:pPr lvl="2">
              <a:spcAft>
                <a:spcPts val="1200"/>
              </a:spcAft>
            </a:pPr>
            <a:r>
              <a:rPr lang="en-US" dirty="0" smtClean="0"/>
              <a:t>Operational</a:t>
            </a:r>
            <a:endParaRPr lang="en-US" dirty="0"/>
          </a:p>
          <a:p>
            <a:pPr lvl="2">
              <a:spcAft>
                <a:spcPts val="1200"/>
              </a:spcAft>
            </a:pPr>
            <a:r>
              <a:rPr lang="en-US" dirty="0" smtClean="0"/>
              <a:t>Political</a:t>
            </a:r>
            <a:endParaRPr lang="en-US" dirty="0"/>
          </a:p>
        </p:txBody>
      </p:sp>
      <p:sp>
        <p:nvSpPr>
          <p:cNvPr id="5" name="Footer Placeholder 4"/>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6</a:t>
            </a:fld>
            <a:endParaRPr lang="en-US" dirty="0"/>
          </a:p>
        </p:txBody>
      </p:sp>
      <p:sp>
        <p:nvSpPr>
          <p:cNvPr id="6"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390157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a:t>Getting from </a:t>
            </a:r>
            <a:r>
              <a:rPr lang="en-US" b="0" dirty="0" smtClean="0"/>
              <a:t>Idea to </a:t>
            </a:r>
            <a:r>
              <a:rPr lang="en-US" b="0" dirty="0"/>
              <a:t>Product</a:t>
            </a:r>
            <a:r>
              <a:rPr lang="en-US" dirty="0"/>
              <a:t/>
            </a:r>
            <a:br>
              <a:rPr lang="en-US" dirty="0"/>
            </a:br>
            <a:r>
              <a:rPr lang="en-US" dirty="0"/>
              <a:t>System Development Life Cycle</a:t>
            </a:r>
            <a:endParaRPr lang="en-US" sz="2000" dirty="0"/>
          </a:p>
        </p:txBody>
      </p:sp>
      <p:sp>
        <p:nvSpPr>
          <p:cNvPr id="2" name="Content Placeholder 1"/>
          <p:cNvSpPr>
            <a:spLocks noGrp="1"/>
          </p:cNvSpPr>
          <p:nvPr>
            <p:ph idx="1"/>
          </p:nvPr>
        </p:nvSpPr>
        <p:spPr>
          <a:xfrm>
            <a:off x="533400" y="1295400"/>
            <a:ext cx="7620000" cy="5196840"/>
          </a:xfrm>
        </p:spPr>
        <p:txBody>
          <a:bodyPr>
            <a:normAutofit/>
          </a:bodyPr>
          <a:lstStyle/>
          <a:p>
            <a:pPr>
              <a:spcAft>
                <a:spcPts val="1200"/>
              </a:spcAft>
            </a:pPr>
            <a:r>
              <a:rPr lang="en-US" dirty="0"/>
              <a:t>Analysis Phase of the </a:t>
            </a:r>
            <a:r>
              <a:rPr lang="en-US" dirty="0" smtClean="0"/>
              <a:t>SDLC</a:t>
            </a:r>
          </a:p>
          <a:p>
            <a:pPr lvl="1">
              <a:spcAft>
                <a:spcPts val="1200"/>
              </a:spcAft>
            </a:pPr>
            <a:r>
              <a:rPr lang="en-US" dirty="0" smtClean="0"/>
              <a:t>Data flow diagrams (DFD)</a:t>
            </a:r>
          </a:p>
          <a:p>
            <a:pPr lvl="2">
              <a:spcAft>
                <a:spcPts val="1200"/>
              </a:spcAft>
            </a:pPr>
            <a:r>
              <a:rPr lang="en-US" dirty="0" smtClean="0"/>
              <a:t>Shows the flow of data through the current system</a:t>
            </a:r>
          </a:p>
          <a:p>
            <a:pPr lvl="2">
              <a:spcAft>
                <a:spcPts val="1200"/>
              </a:spcAft>
            </a:pPr>
            <a:r>
              <a:rPr lang="en-US" dirty="0" smtClean="0"/>
              <a:t>Highlights the system’s deficiencies</a:t>
            </a:r>
          </a:p>
          <a:p>
            <a:pPr lvl="1">
              <a:spcAft>
                <a:spcPts val="1200"/>
              </a:spcAft>
            </a:pPr>
            <a:r>
              <a:rPr lang="en-US" dirty="0" smtClean="0"/>
              <a:t>Requirements analysis</a:t>
            </a:r>
          </a:p>
          <a:p>
            <a:pPr lvl="2">
              <a:spcAft>
                <a:spcPts val="1200"/>
              </a:spcAft>
            </a:pPr>
            <a:r>
              <a:rPr lang="en-US" dirty="0" smtClean="0"/>
              <a:t>Result is a system specification report </a:t>
            </a:r>
          </a:p>
          <a:p>
            <a:pPr lvl="1">
              <a:spcAft>
                <a:spcPts val="1200"/>
              </a:spcAft>
            </a:pPr>
            <a:r>
              <a:rPr lang="en-US" dirty="0" smtClean="0"/>
              <a:t>System specification report</a:t>
            </a:r>
          </a:p>
          <a:p>
            <a:pPr lvl="2">
              <a:spcAft>
                <a:spcPts val="1200"/>
              </a:spcAft>
            </a:pPr>
            <a:r>
              <a:rPr lang="en-US" dirty="0" smtClean="0"/>
              <a:t>A </a:t>
            </a:r>
            <a:r>
              <a:rPr lang="en-US" dirty="0"/>
              <a:t>logical model of the new </a:t>
            </a:r>
            <a:r>
              <a:rPr lang="en-US" dirty="0" smtClean="0"/>
              <a:t>system</a:t>
            </a:r>
            <a:endParaRPr lang="en-US" dirty="0"/>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7</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089098" y="1447800"/>
            <a:ext cx="5089048" cy="2971800"/>
          </a:xfrm>
          <a:prstGeom prst="rect">
            <a:avLst/>
          </a:prstGeom>
        </p:spPr>
      </p:pic>
      <p:sp>
        <p:nvSpPr>
          <p:cNvPr id="8"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480860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0" dirty="0"/>
              <a:t>Getting from </a:t>
            </a:r>
            <a:r>
              <a:rPr lang="en-US" b="0" dirty="0" smtClean="0"/>
              <a:t>Idea to </a:t>
            </a:r>
            <a:r>
              <a:rPr lang="en-US" b="0" dirty="0"/>
              <a:t>Product</a:t>
            </a:r>
            <a:r>
              <a:rPr lang="en-US" dirty="0"/>
              <a:t/>
            </a:r>
            <a:br>
              <a:rPr lang="en-US" dirty="0"/>
            </a:br>
            <a:r>
              <a:rPr lang="en-US" dirty="0"/>
              <a:t>System Development Life Cycle</a:t>
            </a:r>
            <a:endParaRPr lang="en-US" sz="2000" dirty="0"/>
          </a:p>
        </p:txBody>
      </p:sp>
      <p:sp>
        <p:nvSpPr>
          <p:cNvPr id="3" name="Content Placeholder 2"/>
          <p:cNvSpPr>
            <a:spLocks noGrp="1"/>
          </p:cNvSpPr>
          <p:nvPr>
            <p:ph idx="1"/>
          </p:nvPr>
        </p:nvSpPr>
        <p:spPr>
          <a:xfrm>
            <a:off x="530352" y="1280160"/>
            <a:ext cx="11509248" cy="5212080"/>
          </a:xfrm>
        </p:spPr>
        <p:txBody>
          <a:bodyPr>
            <a:normAutofit/>
          </a:bodyPr>
          <a:lstStyle/>
          <a:p>
            <a:pPr>
              <a:spcAft>
                <a:spcPts val="1200"/>
              </a:spcAft>
            </a:pPr>
            <a:r>
              <a:rPr lang="en-US" dirty="0"/>
              <a:t>Design Phase of the </a:t>
            </a:r>
            <a:r>
              <a:rPr lang="en-US" dirty="0" smtClean="0"/>
              <a:t>SDLC</a:t>
            </a:r>
          </a:p>
          <a:p>
            <a:pPr lvl="1">
              <a:spcAft>
                <a:spcPts val="1200"/>
              </a:spcAft>
            </a:pPr>
            <a:r>
              <a:rPr lang="en-US" dirty="0" smtClean="0"/>
              <a:t>Select </a:t>
            </a:r>
            <a:r>
              <a:rPr lang="en-US" dirty="0"/>
              <a:t>a solution that </a:t>
            </a:r>
            <a:r>
              <a:rPr lang="en-US" dirty="0" smtClean="0"/>
              <a:t>meets</a:t>
            </a:r>
            <a:br>
              <a:rPr lang="en-US" dirty="0" smtClean="0"/>
            </a:br>
            <a:r>
              <a:rPr lang="en-US" dirty="0" smtClean="0"/>
              <a:t>the </a:t>
            </a:r>
            <a:r>
              <a:rPr lang="en-US" dirty="0"/>
              <a:t>requirements</a:t>
            </a:r>
          </a:p>
          <a:p>
            <a:pPr lvl="1">
              <a:spcAft>
                <a:spcPts val="1200"/>
              </a:spcAft>
            </a:pPr>
            <a:r>
              <a:rPr lang="en-US" dirty="0"/>
              <a:t>C</a:t>
            </a:r>
            <a:r>
              <a:rPr lang="en-US" dirty="0" smtClean="0"/>
              <a:t>ost-effective options</a:t>
            </a:r>
            <a:endParaRPr lang="en-US" dirty="0"/>
          </a:p>
          <a:p>
            <a:pPr lvl="1">
              <a:spcAft>
                <a:spcPts val="1200"/>
              </a:spcAft>
            </a:pPr>
            <a:r>
              <a:rPr lang="en-US" dirty="0" smtClean="0"/>
              <a:t>Design </a:t>
            </a:r>
            <a:r>
              <a:rPr lang="en-US" dirty="0"/>
              <a:t>of system begins</a:t>
            </a:r>
          </a:p>
          <a:p>
            <a:pPr lvl="1">
              <a:spcAft>
                <a:spcPts val="1200"/>
              </a:spcAft>
            </a:pPr>
            <a:r>
              <a:rPr lang="en-US" dirty="0"/>
              <a:t>Application specifications written if system will be built instead of purchased</a:t>
            </a:r>
          </a:p>
        </p:txBody>
      </p:sp>
      <p:sp>
        <p:nvSpPr>
          <p:cNvPr id="6" name="Footer Placeholder 5"/>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96200" y="1307373"/>
            <a:ext cx="4038600" cy="2692400"/>
          </a:xfrm>
          <a:prstGeom prst="rect">
            <a:avLst/>
          </a:prstGeom>
        </p:spPr>
      </p:pic>
      <p:sp>
        <p:nvSpPr>
          <p:cNvPr id="7"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4177858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1658600" cy="1097280"/>
          </a:xfrm>
        </p:spPr>
        <p:txBody>
          <a:bodyPr>
            <a:noAutofit/>
          </a:bodyPr>
          <a:lstStyle/>
          <a:p>
            <a:r>
              <a:rPr lang="en-US" b="0" dirty="0"/>
              <a:t>Getting from </a:t>
            </a:r>
            <a:r>
              <a:rPr lang="en-US" b="0" dirty="0" smtClean="0"/>
              <a:t>Idea to </a:t>
            </a:r>
            <a:r>
              <a:rPr lang="en-US" b="0" dirty="0"/>
              <a:t>Product</a:t>
            </a:r>
            <a:r>
              <a:rPr lang="en-US" dirty="0"/>
              <a:t/>
            </a:r>
            <a:br>
              <a:rPr lang="en-US" dirty="0"/>
            </a:br>
            <a:r>
              <a:rPr lang="en-US" dirty="0"/>
              <a:t>System Development Life Cycle</a:t>
            </a:r>
          </a:p>
        </p:txBody>
      </p:sp>
      <p:sp>
        <p:nvSpPr>
          <p:cNvPr id="3" name="Content Placeholder 2"/>
          <p:cNvSpPr>
            <a:spLocks noGrp="1"/>
          </p:cNvSpPr>
          <p:nvPr>
            <p:ph idx="1"/>
          </p:nvPr>
        </p:nvSpPr>
        <p:spPr>
          <a:xfrm>
            <a:off x="533400" y="1295400"/>
            <a:ext cx="11658600" cy="5060950"/>
          </a:xfrm>
        </p:spPr>
        <p:txBody>
          <a:bodyPr>
            <a:normAutofit/>
          </a:bodyPr>
          <a:lstStyle/>
          <a:p>
            <a:pPr>
              <a:spcAft>
                <a:spcPts val="600"/>
              </a:spcAft>
            </a:pPr>
            <a:r>
              <a:rPr lang="en-US" dirty="0"/>
              <a:t>Implementation and Testing Phase of the </a:t>
            </a:r>
            <a:r>
              <a:rPr lang="en-US" dirty="0" smtClean="0"/>
              <a:t>SDLC</a:t>
            </a:r>
          </a:p>
          <a:p>
            <a:pPr lvl="1">
              <a:spcAft>
                <a:spcPts val="600"/>
              </a:spcAft>
            </a:pPr>
            <a:r>
              <a:rPr lang="en-US" dirty="0" smtClean="0"/>
              <a:t>Programmers </a:t>
            </a:r>
            <a:r>
              <a:rPr lang="en-US" dirty="0"/>
              <a:t>use designs and specifications to create the system</a:t>
            </a:r>
          </a:p>
          <a:p>
            <a:pPr lvl="1">
              <a:spcAft>
                <a:spcPts val="600"/>
              </a:spcAft>
            </a:pPr>
            <a:r>
              <a:rPr lang="en-US" dirty="0"/>
              <a:t>Programs written in modules</a:t>
            </a:r>
          </a:p>
          <a:p>
            <a:pPr lvl="2">
              <a:spcAft>
                <a:spcPts val="600"/>
              </a:spcAft>
            </a:pPr>
            <a:r>
              <a:rPr lang="en-US" dirty="0" smtClean="0"/>
              <a:t>Unit testing</a:t>
            </a:r>
          </a:p>
          <a:p>
            <a:pPr lvl="2">
              <a:spcAft>
                <a:spcPts val="600"/>
              </a:spcAft>
            </a:pPr>
            <a:r>
              <a:rPr lang="en-US" dirty="0" smtClean="0"/>
              <a:t>Integration or link testing </a:t>
            </a:r>
          </a:p>
          <a:p>
            <a:pPr lvl="2">
              <a:spcAft>
                <a:spcPts val="600"/>
              </a:spcAft>
            </a:pPr>
            <a:r>
              <a:rPr lang="en-US" dirty="0" smtClean="0"/>
              <a:t>Volume testing </a:t>
            </a:r>
          </a:p>
          <a:p>
            <a:pPr lvl="2">
              <a:spcAft>
                <a:spcPts val="600"/>
              </a:spcAft>
            </a:pPr>
            <a:r>
              <a:rPr lang="en-US" dirty="0" smtClean="0"/>
              <a:t>Acceptance testing </a:t>
            </a:r>
          </a:p>
          <a:p>
            <a:pPr lvl="2">
              <a:spcAft>
                <a:spcPts val="600"/>
              </a:spcAft>
            </a:pPr>
            <a:r>
              <a:rPr lang="en-US" dirty="0" smtClean="0"/>
              <a:t>User training takes place</a:t>
            </a:r>
          </a:p>
          <a:p>
            <a:pPr lvl="1">
              <a:spcAft>
                <a:spcPts val="600"/>
              </a:spcAft>
            </a:pPr>
            <a:r>
              <a:rPr lang="en-US" dirty="0"/>
              <a:t>User training and </a:t>
            </a:r>
            <a:r>
              <a:rPr lang="en-US" dirty="0" smtClean="0"/>
              <a:t>installation occurs</a:t>
            </a:r>
            <a:endParaRPr lang="en-US" dirty="0"/>
          </a:p>
        </p:txBody>
      </p:sp>
      <p:sp>
        <p:nvSpPr>
          <p:cNvPr id="6" name="Footer Placeholder 5"/>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9</a:t>
            </a:fld>
            <a:endParaRPr lang="en-US" dirty="0"/>
          </a:p>
        </p:txBody>
      </p:sp>
      <p:sp>
        <p:nvSpPr>
          <p:cNvPr id="8"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2496526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30352" y="1295400"/>
            <a:ext cx="11661648" cy="5196839"/>
          </a:xfrm>
        </p:spPr>
        <p:txBody>
          <a:bodyPr>
            <a:normAutofit/>
          </a:bodyPr>
          <a:lstStyle/>
          <a:p>
            <a:pPr>
              <a:spcAft>
                <a:spcPts val="600"/>
              </a:spcAft>
            </a:pPr>
            <a:r>
              <a:rPr lang="en-US" dirty="0"/>
              <a:t>Maintenance Phase of the </a:t>
            </a:r>
            <a:r>
              <a:rPr lang="en-US" dirty="0" smtClean="0"/>
              <a:t>SDLC</a:t>
            </a:r>
          </a:p>
          <a:p>
            <a:pPr lvl="1">
              <a:spcAft>
                <a:spcPts val="600"/>
              </a:spcAft>
            </a:pPr>
            <a:r>
              <a:rPr lang="en-US" dirty="0" smtClean="0"/>
              <a:t>System </a:t>
            </a:r>
            <a:r>
              <a:rPr lang="en-US" dirty="0"/>
              <a:t>may change or be updated</a:t>
            </a:r>
          </a:p>
          <a:p>
            <a:pPr lvl="1">
              <a:spcAft>
                <a:spcPts val="600"/>
              </a:spcAft>
            </a:pPr>
            <a:r>
              <a:rPr lang="en-US" dirty="0"/>
              <a:t>Security holes and bugs fixed</a:t>
            </a:r>
          </a:p>
          <a:p>
            <a:pPr lvl="1">
              <a:spcAft>
                <a:spcPts val="600"/>
              </a:spcAft>
            </a:pPr>
            <a:r>
              <a:rPr lang="en-US" dirty="0"/>
              <a:t>New features added</a:t>
            </a:r>
          </a:p>
          <a:p>
            <a:pPr lvl="1">
              <a:spcAft>
                <a:spcPts val="600"/>
              </a:spcAft>
            </a:pPr>
            <a:r>
              <a:rPr lang="en-US" dirty="0"/>
              <a:t>Retraining as needed</a:t>
            </a:r>
          </a:p>
          <a:p>
            <a:pPr lvl="1">
              <a:spcAft>
                <a:spcPts val="600"/>
              </a:spcAft>
            </a:pPr>
            <a:r>
              <a:rPr lang="en-US" dirty="0"/>
              <a:t>Documentation updated </a:t>
            </a:r>
          </a:p>
          <a:p>
            <a:pPr lvl="1">
              <a:spcAft>
                <a:spcPts val="600"/>
              </a:spcAft>
            </a:pPr>
            <a:r>
              <a:rPr lang="en-US" dirty="0"/>
              <a:t>Day-to-day operational maintenance </a:t>
            </a:r>
          </a:p>
          <a:p>
            <a:pPr lvl="2">
              <a:spcAft>
                <a:spcPts val="600"/>
              </a:spcAft>
            </a:pPr>
            <a:r>
              <a:rPr lang="en-US" dirty="0"/>
              <a:t>Monitoring performance</a:t>
            </a:r>
          </a:p>
          <a:p>
            <a:pPr lvl="2">
              <a:spcAft>
                <a:spcPts val="600"/>
              </a:spcAft>
            </a:pPr>
            <a:r>
              <a:rPr lang="en-US" dirty="0"/>
              <a:t>Installing updates and patches</a:t>
            </a:r>
          </a:p>
          <a:p>
            <a:pPr lvl="2">
              <a:spcAft>
                <a:spcPts val="600"/>
              </a:spcAft>
            </a:pPr>
            <a:r>
              <a:rPr lang="en-US" dirty="0"/>
              <a:t>Creating and restoring backups</a:t>
            </a:r>
          </a:p>
        </p:txBody>
      </p:sp>
      <p:sp>
        <p:nvSpPr>
          <p:cNvPr id="2" name="Title 1"/>
          <p:cNvSpPr>
            <a:spLocks noGrp="1"/>
          </p:cNvSpPr>
          <p:nvPr>
            <p:ph type="title"/>
          </p:nvPr>
        </p:nvSpPr>
        <p:spPr/>
        <p:txBody>
          <a:bodyPr>
            <a:noAutofit/>
          </a:bodyPr>
          <a:lstStyle/>
          <a:p>
            <a:r>
              <a:rPr lang="en-US" b="0" dirty="0"/>
              <a:t>Getting from </a:t>
            </a:r>
            <a:r>
              <a:rPr lang="en-US" b="0" dirty="0" smtClean="0"/>
              <a:t>Idea to </a:t>
            </a:r>
            <a:r>
              <a:rPr lang="en-US" b="0" dirty="0"/>
              <a:t>Product</a:t>
            </a:r>
            <a:r>
              <a:rPr lang="en-US" dirty="0"/>
              <a:t/>
            </a:r>
            <a:br>
              <a:rPr lang="en-US" dirty="0"/>
            </a:br>
            <a:r>
              <a:rPr lang="en-US" dirty="0"/>
              <a:t>System Development Life </a:t>
            </a:r>
            <a:r>
              <a:rPr lang="en-US" dirty="0" smtClean="0"/>
              <a:t>Cycle</a:t>
            </a:r>
            <a:endParaRPr lang="en-US" dirty="0"/>
          </a:p>
        </p:txBody>
      </p:sp>
      <p:sp>
        <p:nvSpPr>
          <p:cNvPr id="6" name="Footer Placeholder 5"/>
          <p:cNvSpPr>
            <a:spLocks noGrp="1"/>
          </p:cNvSpPr>
          <p:nvPr>
            <p:ph type="ftr" sz="quarter" idx="11"/>
          </p:nvPr>
        </p:nvSpPr>
        <p:spPr/>
        <p:txBody>
          <a:bodyPr/>
          <a:lstStyle/>
          <a:p>
            <a:r>
              <a:rPr lang="en-US" smtClean="0"/>
              <a:t>Copyright © 2017 Pearson Education, Inc.</a:t>
            </a:r>
            <a:endParaRPr lang="en-US" dirty="0"/>
          </a:p>
        </p:txBody>
      </p:sp>
      <p:sp>
        <p:nvSpPr>
          <p:cNvPr id="3" name="Slide Number Placeholder 2"/>
          <p:cNvSpPr>
            <a:spLocks noGrp="1"/>
          </p:cNvSpPr>
          <p:nvPr>
            <p:ph type="sldNum" sz="quarter" idx="12"/>
          </p:nvPr>
        </p:nvSpPr>
        <p:spPr/>
        <p:txBody>
          <a:bodyPr/>
          <a:lstStyle/>
          <a:p>
            <a:fld id="{68F46CC4-B570-4746-ADFA-6E9E2BD9CBA4}" type="slidenum">
              <a:rPr lang="en-US" smtClean="0"/>
              <a:pPr/>
              <a:t>10</a:t>
            </a:fld>
            <a:endParaRPr lang="en-US" dirty="0"/>
          </a:p>
        </p:txBody>
      </p:sp>
      <p:sp>
        <p:nvSpPr>
          <p:cNvPr id="7"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1634821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30352" y="1295400"/>
            <a:ext cx="11661648" cy="5196839"/>
          </a:xfrm>
        </p:spPr>
        <p:txBody>
          <a:bodyPr>
            <a:normAutofit/>
          </a:bodyPr>
          <a:lstStyle/>
          <a:p>
            <a:pPr>
              <a:spcAft>
                <a:spcPts val="1200"/>
              </a:spcAft>
            </a:pPr>
            <a:r>
              <a:rPr lang="en-US" dirty="0" smtClean="0"/>
              <a:t>Joint Application Development </a:t>
            </a:r>
            <a:r>
              <a:rPr lang="en-US" dirty="0"/>
              <a:t>(</a:t>
            </a:r>
            <a:r>
              <a:rPr lang="en-US" dirty="0" smtClean="0"/>
              <a:t>JAD)</a:t>
            </a:r>
          </a:p>
          <a:p>
            <a:pPr>
              <a:spcAft>
                <a:spcPts val="1200"/>
              </a:spcAft>
            </a:pPr>
            <a:r>
              <a:rPr lang="en-US" dirty="0" smtClean="0"/>
              <a:t>Rapid Application </a:t>
            </a:r>
            <a:br>
              <a:rPr lang="en-US" dirty="0" smtClean="0"/>
            </a:br>
            <a:r>
              <a:rPr lang="en-US" dirty="0" smtClean="0"/>
              <a:t>Development (RAD)</a:t>
            </a:r>
          </a:p>
          <a:p>
            <a:pPr>
              <a:spcAft>
                <a:spcPts val="1200"/>
              </a:spcAft>
            </a:pPr>
            <a:r>
              <a:rPr lang="en-US" dirty="0" smtClean="0"/>
              <a:t>Agile Development</a:t>
            </a:r>
            <a:endParaRPr lang="en-US" dirty="0"/>
          </a:p>
        </p:txBody>
      </p:sp>
      <p:sp>
        <p:nvSpPr>
          <p:cNvPr id="2" name="Title 1"/>
          <p:cNvSpPr>
            <a:spLocks noGrp="1"/>
          </p:cNvSpPr>
          <p:nvPr>
            <p:ph type="title"/>
          </p:nvPr>
        </p:nvSpPr>
        <p:spPr/>
        <p:txBody>
          <a:bodyPr>
            <a:noAutofit/>
          </a:bodyPr>
          <a:lstStyle/>
          <a:p>
            <a:r>
              <a:rPr lang="en-US" b="0" dirty="0"/>
              <a:t>Getting from </a:t>
            </a:r>
            <a:r>
              <a:rPr lang="en-US" b="0" dirty="0" smtClean="0"/>
              <a:t>Idea to </a:t>
            </a:r>
            <a:r>
              <a:rPr lang="en-US" b="0" dirty="0"/>
              <a:t>Product</a:t>
            </a:r>
            <a:r>
              <a:rPr lang="en-US" dirty="0"/>
              <a:t/>
            </a:r>
            <a:br>
              <a:rPr lang="en-US" dirty="0"/>
            </a:br>
            <a:r>
              <a:rPr lang="en-US" dirty="0" smtClean="0"/>
              <a:t>Other Development Models</a:t>
            </a:r>
            <a:endParaRPr lang="en-US" dirty="0"/>
          </a:p>
        </p:txBody>
      </p:sp>
      <p:sp>
        <p:nvSpPr>
          <p:cNvPr id="6" name="Footer Placeholder 5"/>
          <p:cNvSpPr>
            <a:spLocks noGrp="1"/>
          </p:cNvSpPr>
          <p:nvPr>
            <p:ph type="ftr" sz="quarter" idx="11"/>
          </p:nvPr>
        </p:nvSpPr>
        <p:spPr/>
        <p:txBody>
          <a:bodyPr/>
          <a:lstStyle/>
          <a:p>
            <a:r>
              <a:rPr lang="en-US" smtClean="0"/>
              <a:t>Copyright © 2017 Pearson Education, Inc.</a:t>
            </a:r>
            <a:endParaRPr lang="en-US" dirty="0"/>
          </a:p>
        </p:txBody>
      </p:sp>
      <p:sp>
        <p:nvSpPr>
          <p:cNvPr id="3" name="Slide Number Placeholder 2"/>
          <p:cNvSpPr>
            <a:spLocks noGrp="1"/>
          </p:cNvSpPr>
          <p:nvPr>
            <p:ph type="sldNum" sz="quarter" idx="12"/>
          </p:nvPr>
        </p:nvSpPr>
        <p:spPr/>
        <p:txBody>
          <a:bodyPr/>
          <a:lstStyle/>
          <a:p>
            <a:fld id="{68F46CC4-B570-4746-ADFA-6E9E2BD9CBA4}" type="slidenum">
              <a:rPr lang="en-US" smtClean="0"/>
              <a:pPr/>
              <a:t>11</a:t>
            </a:fld>
            <a:endParaRPr lang="en-US" dirty="0"/>
          </a:p>
        </p:txBody>
      </p:sp>
      <p:pic>
        <p:nvPicPr>
          <p:cNvPr id="4" name="Picture 3"/>
          <p:cNvPicPr>
            <a:picLocks noChangeAspect="1"/>
          </p:cNvPicPr>
          <p:nvPr/>
        </p:nvPicPr>
        <p:blipFill>
          <a:blip r:embed="rId3"/>
          <a:stretch>
            <a:fillRect/>
          </a:stretch>
        </p:blipFill>
        <p:spPr>
          <a:xfrm>
            <a:off x="5181600" y="1905000"/>
            <a:ext cx="6683502" cy="4487006"/>
          </a:xfrm>
          <a:prstGeom prst="rect">
            <a:avLst/>
          </a:prstGeom>
        </p:spPr>
      </p:pic>
      <p:pic>
        <p:nvPicPr>
          <p:cNvPr id="7" name="Picture 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19200" y="3692129"/>
            <a:ext cx="3048000" cy="2786255"/>
          </a:xfrm>
          <a:prstGeom prst="rect">
            <a:avLst/>
          </a:prstGeom>
        </p:spPr>
      </p:pic>
      <p:sp>
        <p:nvSpPr>
          <p:cNvPr id="8"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1</a:t>
            </a:r>
            <a:endParaRPr lang="en-US" sz="2400" dirty="0"/>
          </a:p>
        </p:txBody>
      </p:sp>
    </p:spTree>
    <p:extLst>
      <p:ext uri="{BB962C8B-B14F-4D97-AF65-F5344CB8AC3E}">
        <p14:creationId xmlns:p14="http://schemas.microsoft.com/office/powerpoint/2010/main" val="344116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cs typeface="EucrosiaUPC" panose="02020603050405020304" pitchFamily="18" charset="-34"/>
              </a:rPr>
              <a:t>Describe the Program Development Cycle</a:t>
            </a:r>
          </a:p>
        </p:txBody>
      </p:sp>
      <p:sp>
        <p:nvSpPr>
          <p:cNvPr id="8" name="Footer Placeholder 7"/>
          <p:cNvSpPr>
            <a:spLocks noGrp="1"/>
          </p:cNvSpPr>
          <p:nvPr>
            <p:ph type="ftr" sz="quarter" idx="11"/>
          </p:nvPr>
        </p:nvSpPr>
        <p:spPr/>
        <p:txBody>
          <a:bodyPr/>
          <a:lstStyle/>
          <a:p>
            <a:r>
              <a:rPr lang="en-US"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12</a:t>
            </a:fld>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406063" y="1309255"/>
            <a:ext cx="7837073" cy="5182985"/>
          </a:xfrm>
          <a:prstGeom prst="rect">
            <a:avLst/>
          </a:prstGeom>
        </p:spPr>
      </p:pic>
      <p:sp>
        <p:nvSpPr>
          <p:cNvPr id="10"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spTree>
    <p:extLst>
      <p:ext uri="{BB962C8B-B14F-4D97-AF65-F5344CB8AC3E}">
        <p14:creationId xmlns:p14="http://schemas.microsoft.com/office/powerpoint/2010/main" val="1436440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0" dirty="0" smtClean="0"/>
              <a:t>Coding the System</a:t>
            </a:r>
            <a:r>
              <a:rPr lang="en-US" dirty="0" smtClean="0"/>
              <a:t/>
            </a:r>
            <a:br>
              <a:rPr lang="en-US" dirty="0" smtClean="0"/>
            </a:br>
            <a:r>
              <a:rPr lang="en-US" dirty="0" smtClean="0"/>
              <a:t>Program Development Cycle</a:t>
            </a:r>
            <a:endParaRPr lang="en-US" dirty="0"/>
          </a:p>
        </p:txBody>
      </p:sp>
      <p:sp>
        <p:nvSpPr>
          <p:cNvPr id="8" name="Content Placeholder 7"/>
          <p:cNvSpPr>
            <a:spLocks noGrp="1"/>
          </p:cNvSpPr>
          <p:nvPr>
            <p:ph idx="1"/>
          </p:nvPr>
        </p:nvSpPr>
        <p:spPr>
          <a:xfrm>
            <a:off x="530352" y="1295400"/>
            <a:ext cx="11658600" cy="4953000"/>
          </a:xfrm>
        </p:spPr>
        <p:txBody>
          <a:bodyPr>
            <a:normAutofit/>
          </a:bodyPr>
          <a:lstStyle/>
          <a:p>
            <a:pPr>
              <a:spcAft>
                <a:spcPts val="1200"/>
              </a:spcAft>
            </a:pPr>
            <a:r>
              <a:rPr lang="en-US" dirty="0"/>
              <a:t>Defining the Problem</a:t>
            </a:r>
          </a:p>
          <a:p>
            <a:pPr lvl="1">
              <a:spcAft>
                <a:spcPts val="1200"/>
              </a:spcAft>
            </a:pPr>
            <a:r>
              <a:rPr lang="en-US" dirty="0"/>
              <a:t>What data will be provided (input</a:t>
            </a:r>
            <a:r>
              <a:rPr lang="en-US" dirty="0" smtClean="0"/>
              <a:t>)?</a:t>
            </a:r>
            <a:endParaRPr lang="en-US" dirty="0"/>
          </a:p>
          <a:p>
            <a:pPr lvl="1">
              <a:spcAft>
                <a:spcPts val="1200"/>
              </a:spcAft>
            </a:pPr>
            <a:r>
              <a:rPr lang="en-US" dirty="0"/>
              <a:t>What will the program do (processing and output</a:t>
            </a:r>
            <a:r>
              <a:rPr lang="en-US" dirty="0" smtClean="0"/>
              <a:t>)?</a:t>
            </a:r>
          </a:p>
          <a:p>
            <a:pPr>
              <a:spcAft>
                <a:spcPts val="1200"/>
              </a:spcAft>
            </a:pPr>
            <a:r>
              <a:rPr lang="en-US" dirty="0" smtClean="0"/>
              <a:t>Designing the Solution</a:t>
            </a:r>
          </a:p>
          <a:p>
            <a:pPr lvl="1">
              <a:spcAft>
                <a:spcPts val="1200"/>
              </a:spcAft>
            </a:pPr>
            <a:r>
              <a:rPr lang="en-US" dirty="0" smtClean="0"/>
              <a:t>Algorithm</a:t>
            </a:r>
          </a:p>
          <a:p>
            <a:pPr lvl="2">
              <a:spcAft>
                <a:spcPts val="1200"/>
              </a:spcAft>
            </a:pPr>
            <a:r>
              <a:rPr lang="en-US" dirty="0" smtClean="0"/>
              <a:t>Set of steps to solve</a:t>
            </a:r>
            <a:br>
              <a:rPr lang="en-US" dirty="0" smtClean="0"/>
            </a:br>
            <a:r>
              <a:rPr lang="en-US" dirty="0" smtClean="0"/>
              <a:t>problem</a:t>
            </a:r>
          </a:p>
          <a:p>
            <a:pPr lvl="2">
              <a:spcAft>
                <a:spcPts val="1200"/>
              </a:spcAft>
            </a:pPr>
            <a:r>
              <a:rPr lang="en-US" dirty="0" smtClean="0"/>
              <a:t>Each step performs</a:t>
            </a:r>
            <a:br>
              <a:rPr lang="en-US" dirty="0" smtClean="0"/>
            </a:br>
            <a:r>
              <a:rPr lang="en-US" dirty="0" smtClean="0"/>
              <a:t>a single task</a:t>
            </a:r>
            <a:endParaRPr lang="en-US" dirty="0"/>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13</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105400" y="3733800"/>
            <a:ext cx="6995160" cy="1371600"/>
          </a:xfrm>
          <a:prstGeom prst="rect">
            <a:avLst/>
          </a:prstGeom>
        </p:spPr>
      </p:pic>
      <p:sp>
        <p:nvSpPr>
          <p:cNvPr id="9"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spTree>
    <p:extLst>
      <p:ext uri="{BB962C8B-B14F-4D97-AF65-F5344CB8AC3E}">
        <p14:creationId xmlns:p14="http://schemas.microsoft.com/office/powerpoint/2010/main" val="243460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1658600" cy="1097280"/>
          </a:xfrm>
        </p:spPr>
        <p:txBody>
          <a:bodyPr>
            <a:noAutofit/>
          </a:bodyPr>
          <a:lstStyle/>
          <a:p>
            <a:r>
              <a:rPr lang="en-US" b="0" dirty="0" smtClean="0"/>
              <a:t>Coding </a:t>
            </a:r>
            <a:r>
              <a:rPr lang="en-US" b="0" dirty="0"/>
              <a:t>the System</a:t>
            </a:r>
            <a:r>
              <a:rPr lang="en-US" dirty="0"/>
              <a:t/>
            </a:r>
            <a:br>
              <a:rPr lang="en-US" dirty="0"/>
            </a:br>
            <a:r>
              <a:rPr lang="en-US" dirty="0"/>
              <a:t>Program Development Cycle</a:t>
            </a:r>
          </a:p>
        </p:txBody>
      </p:sp>
      <p:sp>
        <p:nvSpPr>
          <p:cNvPr id="8" name="Content Placeholder 7"/>
          <p:cNvSpPr>
            <a:spLocks noGrp="1"/>
          </p:cNvSpPr>
          <p:nvPr>
            <p:ph idx="1"/>
          </p:nvPr>
        </p:nvSpPr>
        <p:spPr>
          <a:xfrm>
            <a:off x="533400" y="1295400"/>
            <a:ext cx="11658600" cy="5410200"/>
          </a:xfrm>
        </p:spPr>
        <p:txBody>
          <a:bodyPr>
            <a:normAutofit/>
          </a:bodyPr>
          <a:lstStyle/>
          <a:p>
            <a:pPr>
              <a:spcAft>
                <a:spcPts val="1200"/>
              </a:spcAft>
            </a:pPr>
            <a:r>
              <a:rPr lang="en-US" dirty="0"/>
              <a:t>Flowchart</a:t>
            </a:r>
          </a:p>
          <a:p>
            <a:pPr lvl="1">
              <a:spcAft>
                <a:spcPts val="1200"/>
              </a:spcAft>
            </a:pPr>
            <a:r>
              <a:rPr lang="en-US" dirty="0"/>
              <a:t>Graphic view of algorithm</a:t>
            </a:r>
          </a:p>
          <a:p>
            <a:pPr lvl="2">
              <a:spcAft>
                <a:spcPts val="1200"/>
              </a:spcAft>
            </a:pPr>
            <a:r>
              <a:rPr lang="en-US" dirty="0"/>
              <a:t>Arrows to show direction </a:t>
            </a:r>
          </a:p>
          <a:p>
            <a:pPr lvl="2">
              <a:spcAft>
                <a:spcPts val="1200"/>
              </a:spcAft>
            </a:pPr>
            <a:r>
              <a:rPr lang="en-US" dirty="0"/>
              <a:t>Other symbols to show </a:t>
            </a:r>
            <a:r>
              <a:rPr lang="en-US" dirty="0" smtClean="0"/>
              <a:t>actions</a:t>
            </a:r>
            <a:br>
              <a:rPr lang="en-US" dirty="0" smtClean="0"/>
            </a:br>
            <a:r>
              <a:rPr lang="en-US" dirty="0" smtClean="0"/>
              <a:t>and data </a:t>
            </a:r>
            <a:endParaRPr lang="en-US" dirty="0"/>
          </a:p>
          <a:p>
            <a:pPr>
              <a:spcAft>
                <a:spcPts val="1200"/>
              </a:spcAft>
            </a:pPr>
            <a:r>
              <a:rPr lang="en-US" dirty="0"/>
              <a:t>Control structures </a:t>
            </a:r>
          </a:p>
          <a:p>
            <a:pPr marL="685800" lvl="2">
              <a:spcAft>
                <a:spcPts val="1200"/>
              </a:spcAft>
              <a:buFont typeface="Wingdings" panose="05000000000000000000" pitchFamily="2" charset="2"/>
              <a:buChar char="ü"/>
            </a:pPr>
            <a:r>
              <a:rPr lang="en-US" sz="2800" dirty="0"/>
              <a:t>Show logic and flow </a:t>
            </a:r>
            <a:r>
              <a:rPr lang="en-US" sz="2800" dirty="0" smtClean="0"/>
              <a:t>of data</a:t>
            </a:r>
            <a:br>
              <a:rPr lang="en-US" sz="2800" dirty="0" smtClean="0"/>
            </a:br>
            <a:r>
              <a:rPr lang="en-US" sz="2800" dirty="0" smtClean="0"/>
              <a:t>processing</a:t>
            </a:r>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14</a:t>
            </a:fld>
            <a:endParaRPr lang="en-US" dirty="0"/>
          </a:p>
        </p:txBody>
      </p:sp>
      <p:sp>
        <p:nvSpPr>
          <p:cNvPr id="9"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pic>
        <p:nvPicPr>
          <p:cNvPr id="3" name="Picture 2"/>
          <p:cNvPicPr>
            <a:picLocks noChangeAspect="1"/>
          </p:cNvPicPr>
          <p:nvPr/>
        </p:nvPicPr>
        <p:blipFill>
          <a:blip r:embed="rId3"/>
          <a:stretch>
            <a:fillRect/>
          </a:stretch>
        </p:blipFill>
        <p:spPr>
          <a:xfrm>
            <a:off x="7924800" y="1295399"/>
            <a:ext cx="3086100" cy="5413534"/>
          </a:xfrm>
          <a:prstGeom prst="rect">
            <a:avLst/>
          </a:prstGeom>
        </p:spPr>
      </p:pic>
    </p:spTree>
    <p:extLst>
      <p:ext uri="{BB962C8B-B14F-4D97-AF65-F5344CB8AC3E}">
        <p14:creationId xmlns:p14="http://schemas.microsoft.com/office/powerpoint/2010/main" val="246870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1658600" cy="1097280"/>
          </a:xfrm>
        </p:spPr>
        <p:txBody>
          <a:bodyPr>
            <a:noAutofit/>
          </a:bodyPr>
          <a:lstStyle/>
          <a:p>
            <a:r>
              <a:rPr lang="en-US" b="0" dirty="0" smtClean="0"/>
              <a:t>Coding </a:t>
            </a:r>
            <a:r>
              <a:rPr lang="en-US" b="0" dirty="0"/>
              <a:t>the System</a:t>
            </a:r>
            <a:r>
              <a:rPr lang="en-US" dirty="0"/>
              <a:t/>
            </a:r>
            <a:br>
              <a:rPr lang="en-US" dirty="0"/>
            </a:br>
            <a:r>
              <a:rPr lang="en-US" dirty="0"/>
              <a:t>Program Development Cycle</a:t>
            </a:r>
          </a:p>
        </p:txBody>
      </p:sp>
      <p:sp>
        <p:nvSpPr>
          <p:cNvPr id="8" name="Content Placeholder 7"/>
          <p:cNvSpPr>
            <a:spLocks noGrp="1"/>
          </p:cNvSpPr>
          <p:nvPr>
            <p:ph idx="1"/>
          </p:nvPr>
        </p:nvSpPr>
        <p:spPr>
          <a:xfrm>
            <a:off x="533400" y="1295400"/>
            <a:ext cx="11658600" cy="5410200"/>
          </a:xfrm>
        </p:spPr>
        <p:txBody>
          <a:bodyPr>
            <a:normAutofit/>
          </a:bodyPr>
          <a:lstStyle/>
          <a:p>
            <a:pPr>
              <a:spcAft>
                <a:spcPts val="1200"/>
              </a:spcAft>
            </a:pPr>
            <a:r>
              <a:rPr lang="en-US" dirty="0" smtClean="0"/>
              <a:t>Pseudocode </a:t>
            </a:r>
            <a:endParaRPr lang="en-US" dirty="0"/>
          </a:p>
          <a:p>
            <a:pPr lvl="1">
              <a:spcAft>
                <a:spcPts val="1200"/>
              </a:spcAft>
            </a:pPr>
            <a:r>
              <a:rPr lang="en-US" dirty="0"/>
              <a:t>Steps of an algorithm </a:t>
            </a:r>
          </a:p>
          <a:p>
            <a:pPr lvl="2">
              <a:spcAft>
                <a:spcPts val="1200"/>
              </a:spcAft>
            </a:pPr>
            <a:r>
              <a:rPr lang="en-US" dirty="0"/>
              <a:t>More detail</a:t>
            </a:r>
          </a:p>
          <a:p>
            <a:pPr lvl="2">
              <a:spcAft>
                <a:spcPts val="1200"/>
              </a:spcAft>
            </a:pPr>
            <a:r>
              <a:rPr lang="en-US" dirty="0"/>
              <a:t>English-like statements </a:t>
            </a:r>
          </a:p>
          <a:p>
            <a:pPr lvl="2">
              <a:spcAft>
                <a:spcPts val="1200"/>
              </a:spcAft>
            </a:pPr>
            <a:r>
              <a:rPr lang="en-US" dirty="0"/>
              <a:t>Focus on logic, </a:t>
            </a:r>
            <a:r>
              <a:rPr lang="en-US" dirty="0" smtClean="0"/>
              <a:t>not </a:t>
            </a:r>
            <a:r>
              <a:rPr lang="en-US" dirty="0"/>
              <a:t>syntax</a:t>
            </a:r>
          </a:p>
          <a:p>
            <a:pPr lvl="2">
              <a:spcAft>
                <a:spcPts val="1200"/>
              </a:spcAft>
            </a:pPr>
            <a:r>
              <a:rPr lang="en-US" dirty="0"/>
              <a:t>Contains control structures</a:t>
            </a:r>
          </a:p>
          <a:p>
            <a:pPr lvl="2">
              <a:spcAft>
                <a:spcPts val="1200"/>
              </a:spcAft>
            </a:pPr>
            <a:r>
              <a:rPr lang="en-US" dirty="0"/>
              <a:t>Not </a:t>
            </a:r>
            <a:r>
              <a:rPr lang="en-US" dirty="0" smtClean="0"/>
              <a:t>executable</a:t>
            </a:r>
            <a:endParaRPr lang="en-US" dirty="0"/>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15</a:t>
            </a:fld>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230938" y="1285009"/>
            <a:ext cx="5351462" cy="5158036"/>
          </a:xfrm>
          <a:prstGeom prst="rect">
            <a:avLst/>
          </a:prstGeom>
        </p:spPr>
      </p:pic>
      <p:sp>
        <p:nvSpPr>
          <p:cNvPr id="9"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spTree>
    <p:extLst>
      <p:ext uri="{BB962C8B-B14F-4D97-AF65-F5344CB8AC3E}">
        <p14:creationId xmlns:p14="http://schemas.microsoft.com/office/powerpoint/2010/main" val="1051960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295400"/>
            <a:ext cx="11658600" cy="5181600"/>
          </a:xfrm>
        </p:spPr>
        <p:txBody>
          <a:bodyPr>
            <a:normAutofit/>
          </a:bodyPr>
          <a:lstStyle/>
          <a:p>
            <a:pPr>
              <a:spcAft>
                <a:spcPts val="300"/>
              </a:spcAft>
            </a:pPr>
            <a:r>
              <a:rPr lang="en-US" dirty="0" smtClean="0"/>
              <a:t>Coding</a:t>
            </a:r>
            <a:endParaRPr lang="en-US" dirty="0"/>
          </a:p>
          <a:p>
            <a:pPr lvl="1">
              <a:spcAft>
                <a:spcPts val="300"/>
              </a:spcAft>
            </a:pPr>
            <a:r>
              <a:rPr lang="en-US" dirty="0"/>
              <a:t>C</a:t>
            </a:r>
            <a:r>
              <a:rPr lang="en-US" dirty="0" smtClean="0"/>
              <a:t>onverting algorithm into instructions computer can understand</a:t>
            </a:r>
          </a:p>
          <a:p>
            <a:pPr lvl="1">
              <a:spcAft>
                <a:spcPts val="300"/>
              </a:spcAft>
            </a:pPr>
            <a:r>
              <a:rPr lang="en-US" dirty="0" smtClean="0"/>
              <a:t>Considerations:</a:t>
            </a:r>
          </a:p>
          <a:p>
            <a:pPr lvl="2">
              <a:spcAft>
                <a:spcPts val="300"/>
              </a:spcAft>
            </a:pPr>
            <a:r>
              <a:rPr lang="en-US" dirty="0"/>
              <a:t>Type of task</a:t>
            </a:r>
          </a:p>
          <a:p>
            <a:pPr lvl="2">
              <a:spcAft>
                <a:spcPts val="300"/>
              </a:spcAft>
            </a:pPr>
            <a:r>
              <a:rPr lang="en-US" dirty="0"/>
              <a:t>Platform</a:t>
            </a:r>
          </a:p>
          <a:p>
            <a:pPr lvl="2">
              <a:spcAft>
                <a:spcPts val="300"/>
              </a:spcAft>
            </a:pPr>
            <a:r>
              <a:rPr lang="en-US" dirty="0"/>
              <a:t>Expertise of the programmer</a:t>
            </a:r>
          </a:p>
          <a:p>
            <a:pPr lvl="1">
              <a:spcAft>
                <a:spcPts val="300"/>
              </a:spcAft>
            </a:pPr>
            <a:r>
              <a:rPr lang="en-US" dirty="0" smtClean="0"/>
              <a:t>Choosing the right language</a:t>
            </a:r>
          </a:p>
          <a:p>
            <a:pPr marL="1143000" lvl="3">
              <a:spcBef>
                <a:spcPts val="0"/>
              </a:spcBef>
              <a:spcAft>
                <a:spcPts val="300"/>
              </a:spcAft>
              <a:buFont typeface="Arial" panose="020B0604020202020204" pitchFamily="34" charset="0"/>
              <a:buChar char="•"/>
            </a:pPr>
            <a:r>
              <a:rPr lang="en-US" sz="2400" dirty="0"/>
              <a:t>Procedural programming </a:t>
            </a:r>
          </a:p>
          <a:p>
            <a:pPr marL="1143000" lvl="3">
              <a:spcBef>
                <a:spcPts val="0"/>
              </a:spcBef>
              <a:spcAft>
                <a:spcPts val="300"/>
              </a:spcAft>
              <a:buFont typeface="Arial" panose="020B0604020202020204" pitchFamily="34" charset="0"/>
              <a:buChar char="•"/>
            </a:pPr>
            <a:r>
              <a:rPr lang="en-US" sz="2400" dirty="0" smtClean="0"/>
              <a:t>Object-oriented </a:t>
            </a:r>
            <a:r>
              <a:rPr lang="en-US" sz="2400" dirty="0"/>
              <a:t>programming </a:t>
            </a:r>
          </a:p>
          <a:p>
            <a:pPr marL="1143000" lvl="3">
              <a:spcBef>
                <a:spcPts val="0"/>
              </a:spcBef>
              <a:spcAft>
                <a:spcPts val="300"/>
              </a:spcAft>
              <a:buFont typeface="Arial" panose="020B0604020202020204" pitchFamily="34" charset="0"/>
              <a:buChar char="•"/>
            </a:pPr>
            <a:r>
              <a:rPr lang="en-US" sz="2400" dirty="0" smtClean="0"/>
              <a:t>Syntax </a:t>
            </a:r>
            <a:r>
              <a:rPr lang="en-US" sz="2400" dirty="0"/>
              <a:t>rules – the correct construction of commands in a </a:t>
            </a:r>
            <a:r>
              <a:rPr lang="en-US" sz="2400" dirty="0" smtClean="0"/>
              <a:t>language</a:t>
            </a:r>
            <a:endParaRPr lang="en-US" sz="2400" dirty="0"/>
          </a:p>
        </p:txBody>
      </p:sp>
      <p:sp>
        <p:nvSpPr>
          <p:cNvPr id="3" name="Title 2"/>
          <p:cNvSpPr>
            <a:spLocks noGrp="1"/>
          </p:cNvSpPr>
          <p:nvPr>
            <p:ph type="title"/>
          </p:nvPr>
        </p:nvSpPr>
        <p:spPr>
          <a:xfrm>
            <a:off x="533400" y="0"/>
            <a:ext cx="11658600" cy="1097280"/>
          </a:xfrm>
        </p:spPr>
        <p:txBody>
          <a:bodyPr>
            <a:noAutofit/>
          </a:bodyPr>
          <a:lstStyle/>
          <a:p>
            <a:r>
              <a:rPr lang="en-US" b="0" dirty="0"/>
              <a:t>Coding the System</a:t>
            </a:r>
            <a:r>
              <a:rPr lang="en-US" dirty="0"/>
              <a:t/>
            </a:r>
            <a:br>
              <a:rPr lang="en-US" dirty="0"/>
            </a:br>
            <a:r>
              <a:rPr lang="en-US" dirty="0"/>
              <a:t>Program Development Cycle</a:t>
            </a:r>
          </a:p>
        </p:txBody>
      </p:sp>
      <p:sp>
        <p:nvSpPr>
          <p:cNvPr id="5" name="Footer Placeholder 4"/>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16</a:t>
            </a:fld>
            <a:endParaRPr lang="en-US" dirty="0"/>
          </a:p>
        </p:txBody>
      </p:sp>
      <p:sp>
        <p:nvSpPr>
          <p:cNvPr id="7"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spTree>
    <p:extLst>
      <p:ext uri="{BB962C8B-B14F-4D97-AF65-F5344CB8AC3E}">
        <p14:creationId xmlns:p14="http://schemas.microsoft.com/office/powerpoint/2010/main" val="380061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a:t>Coding the System</a:t>
            </a:r>
            <a:r>
              <a:rPr lang="en-US" dirty="0"/>
              <a:t/>
            </a:r>
            <a:br>
              <a:rPr lang="en-US" dirty="0"/>
            </a:br>
            <a:r>
              <a:rPr lang="en-US" dirty="0"/>
              <a:t>Program Development Cycle</a:t>
            </a:r>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8" name="Content Placeholder 5"/>
          <p:cNvSpPr txBox="1">
            <a:spLocks/>
          </p:cNvSpPr>
          <p:nvPr/>
        </p:nvSpPr>
        <p:spPr>
          <a:xfrm>
            <a:off x="533400" y="1295400"/>
            <a:ext cx="11658600" cy="5196840"/>
          </a:xfrm>
          <a:prstGeom prst="rect">
            <a:avLst/>
          </a:prstGeom>
        </p:spPr>
        <p:txBody>
          <a:bodyPr>
            <a:normAutofit/>
          </a:bodyPr>
          <a:lstStyle>
            <a:lvl1pPr marL="342900" indent="-342900" algn="l" defTabSz="914400" rtl="0" eaLnBrk="1" latinLnBrk="0" hangingPunct="1">
              <a:spcBef>
                <a:spcPct val="20000"/>
              </a:spcBef>
              <a:buFont typeface="Wingdings" pitchFamily="2" charset="2"/>
              <a:buChar char="§"/>
              <a:defRPr sz="2400" kern="1200">
                <a:solidFill>
                  <a:schemeClr val="tx1"/>
                </a:solidFill>
                <a:latin typeface="Century Gothic" pitchFamily="34" charset="0"/>
                <a:ea typeface="+mn-ea"/>
                <a:cs typeface="+mn-cs"/>
              </a:defRPr>
            </a:lvl1pPr>
            <a:lvl2pPr marL="742950" indent="-285750" algn="l" defTabSz="914400" rtl="0" eaLnBrk="1" latinLnBrk="0" hangingPunct="1">
              <a:spcBef>
                <a:spcPct val="20000"/>
              </a:spcBef>
              <a:buFont typeface="Wingdings" pitchFamily="2" charset="2"/>
              <a:buChar char="§"/>
              <a:defRPr sz="2800" kern="1200">
                <a:solidFill>
                  <a:schemeClr val="tx1"/>
                </a:solidFill>
                <a:latin typeface="Century Gothic" pitchFamily="34" charset="0"/>
                <a:ea typeface="+mn-ea"/>
                <a:cs typeface="+mn-cs"/>
              </a:defRPr>
            </a:lvl2pPr>
            <a:lvl3pPr marL="1143000" indent="-228600" algn="l" defTabSz="914400" rtl="0" eaLnBrk="1" latinLnBrk="0" hangingPunct="1">
              <a:spcBef>
                <a:spcPct val="20000"/>
              </a:spcBef>
              <a:buFont typeface="Wingdings" pitchFamily="2" charset="2"/>
              <a:buChar char="§"/>
              <a:defRPr sz="2400" kern="1200">
                <a:solidFill>
                  <a:schemeClr val="tx1"/>
                </a:solidFill>
                <a:latin typeface="Century Gothic" pitchFamily="34" charset="0"/>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Century Gothic" pitchFamily="34" charset="0"/>
                <a:ea typeface="+mn-ea"/>
                <a:cs typeface="+mn-cs"/>
              </a:defRPr>
            </a:lvl4pPr>
            <a:lvl5pPr marL="2057400" indent="-228600" algn="l" defTabSz="914400" rtl="0" eaLnBrk="1" latinLnBrk="0" hangingPunct="1">
              <a:spcBef>
                <a:spcPct val="20000"/>
              </a:spcBef>
              <a:buFont typeface="Wingdings" pitchFamily="2" charset="2"/>
              <a:buChar char="§"/>
              <a:defRPr sz="2000" kern="1200">
                <a:solidFill>
                  <a:schemeClr val="tx1"/>
                </a:solidFill>
                <a:latin typeface="Century 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a:spcBef>
                <a:spcPts val="0"/>
              </a:spcBef>
              <a:spcAft>
                <a:spcPts val="1200"/>
              </a:spcAft>
            </a:pPr>
            <a:r>
              <a:rPr lang="en-US" sz="3200" dirty="0" smtClean="0"/>
              <a:t>Debugging - The </a:t>
            </a:r>
            <a:r>
              <a:rPr lang="en-US" sz="3200" dirty="0"/>
              <a:t>Process of Detecting and Fixing </a:t>
            </a:r>
            <a:r>
              <a:rPr lang="en-US" sz="3200" dirty="0" smtClean="0"/>
              <a:t>Errors</a:t>
            </a:r>
          </a:p>
          <a:p>
            <a:pPr marL="685800" lvl="2">
              <a:spcBef>
                <a:spcPts val="0"/>
              </a:spcBef>
              <a:spcAft>
                <a:spcPts val="1200"/>
              </a:spcAft>
              <a:buFont typeface="Wingdings" panose="05000000000000000000" pitchFamily="2" charset="2"/>
              <a:buChar char="ü"/>
            </a:pPr>
            <a:r>
              <a:rPr lang="en-US" sz="2800" dirty="0" smtClean="0"/>
              <a:t>Syntax Error</a:t>
            </a:r>
            <a:endParaRPr lang="en-US" sz="2800" dirty="0"/>
          </a:p>
          <a:p>
            <a:pPr marL="1143000" lvl="3">
              <a:spcBef>
                <a:spcPts val="0"/>
              </a:spcBef>
              <a:spcAft>
                <a:spcPts val="1200"/>
              </a:spcAft>
              <a:buFont typeface="Arial" panose="020B0604020202020204" pitchFamily="34" charset="0"/>
              <a:buChar char="•"/>
            </a:pPr>
            <a:r>
              <a:rPr lang="en-US" sz="2400" dirty="0"/>
              <a:t>Error in way code is written</a:t>
            </a:r>
          </a:p>
          <a:p>
            <a:pPr marL="1143000" lvl="3">
              <a:spcBef>
                <a:spcPts val="0"/>
              </a:spcBef>
              <a:spcAft>
                <a:spcPts val="1200"/>
              </a:spcAft>
              <a:buFont typeface="Arial" panose="020B0604020202020204" pitchFamily="34" charset="0"/>
              <a:buChar char="•"/>
            </a:pPr>
            <a:r>
              <a:rPr lang="en-US" sz="2400" dirty="0"/>
              <a:t>Typo, missing </a:t>
            </a:r>
            <a:r>
              <a:rPr lang="en-US" sz="2400" dirty="0" smtClean="0"/>
              <a:t>parameter,</a:t>
            </a:r>
            <a:br>
              <a:rPr lang="en-US" sz="2400" dirty="0" smtClean="0"/>
            </a:br>
            <a:r>
              <a:rPr lang="en-US" sz="2400" dirty="0" smtClean="0"/>
              <a:t>incorrect </a:t>
            </a:r>
            <a:r>
              <a:rPr lang="en-US" sz="2400" dirty="0"/>
              <a:t>use of symbols</a:t>
            </a:r>
          </a:p>
          <a:p>
            <a:pPr marL="1143000" lvl="3">
              <a:spcBef>
                <a:spcPts val="0"/>
              </a:spcBef>
              <a:spcAft>
                <a:spcPts val="1200"/>
              </a:spcAft>
              <a:buFont typeface="Arial" panose="020B0604020202020204" pitchFamily="34" charset="0"/>
              <a:buChar char="•"/>
            </a:pPr>
            <a:r>
              <a:rPr lang="en-US" sz="2400" dirty="0"/>
              <a:t>Easy to spot by reviewing </a:t>
            </a:r>
            <a:r>
              <a:rPr lang="en-US" sz="2400" dirty="0" smtClean="0"/>
              <a:t>line</a:t>
            </a:r>
            <a:br>
              <a:rPr lang="en-US" sz="2400" dirty="0" smtClean="0"/>
            </a:br>
            <a:r>
              <a:rPr lang="en-US" sz="2400" dirty="0" smtClean="0"/>
              <a:t>by </a:t>
            </a:r>
            <a:r>
              <a:rPr lang="en-US" sz="2400" dirty="0"/>
              <a:t>line</a:t>
            </a:r>
          </a:p>
          <a:p>
            <a:pPr marL="1143000" lvl="3">
              <a:spcBef>
                <a:spcPts val="0"/>
              </a:spcBef>
              <a:spcAft>
                <a:spcPts val="1200"/>
              </a:spcAft>
              <a:buFont typeface="Arial" panose="020B0604020202020204" pitchFamily="34" charset="0"/>
              <a:buChar char="•"/>
            </a:pPr>
            <a:r>
              <a:rPr lang="en-US" sz="2400" dirty="0"/>
              <a:t>Will prevent program </a:t>
            </a:r>
            <a:r>
              <a:rPr lang="en-US" sz="2400" dirty="0" smtClean="0"/>
              <a:t>from</a:t>
            </a:r>
            <a:br>
              <a:rPr lang="en-US" sz="2400" dirty="0" smtClean="0"/>
            </a:br>
            <a:r>
              <a:rPr lang="en-US" sz="2400" dirty="0" smtClean="0"/>
              <a:t>running</a:t>
            </a:r>
          </a:p>
        </p:txBody>
      </p:sp>
      <p:sp>
        <p:nvSpPr>
          <p:cNvPr id="6" name="Slide Number Placeholder 5"/>
          <p:cNvSpPr>
            <a:spLocks noGrp="1"/>
          </p:cNvSpPr>
          <p:nvPr>
            <p:ph type="sldNum" sz="quarter" idx="12"/>
          </p:nvPr>
        </p:nvSpPr>
        <p:spPr/>
        <p:txBody>
          <a:bodyPr/>
          <a:lstStyle/>
          <a:p>
            <a:fld id="{68F46CC4-B570-4746-ADFA-6E9E2BD9CBA4}" type="slidenum">
              <a:rPr lang="en-US" smtClean="0"/>
              <a:pPr/>
              <a:t>17</a:t>
            </a:fld>
            <a:endParaRPr lang="en-US" dirty="0"/>
          </a:p>
        </p:txBody>
      </p:sp>
      <p:pic>
        <p:nvPicPr>
          <p:cNvPr id="9" name="Picture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18673" y="1836419"/>
            <a:ext cx="5720927" cy="4290695"/>
          </a:xfrm>
          <a:prstGeom prst="rect">
            <a:avLst/>
          </a:prstGeom>
        </p:spPr>
      </p:pic>
      <p:sp>
        <p:nvSpPr>
          <p:cNvPr id="10"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spTree>
    <p:extLst>
      <p:ext uri="{BB962C8B-B14F-4D97-AF65-F5344CB8AC3E}">
        <p14:creationId xmlns:p14="http://schemas.microsoft.com/office/powerpoint/2010/main" val="3817808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a:t>Coding the System</a:t>
            </a:r>
            <a:r>
              <a:rPr lang="en-US" dirty="0"/>
              <a:t/>
            </a:r>
            <a:br>
              <a:rPr lang="en-US" dirty="0"/>
            </a:br>
            <a:r>
              <a:rPr lang="en-US" dirty="0"/>
              <a:t>Program Development Cycle</a:t>
            </a:r>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8" name="Content Placeholder 5"/>
          <p:cNvSpPr txBox="1">
            <a:spLocks/>
          </p:cNvSpPr>
          <p:nvPr/>
        </p:nvSpPr>
        <p:spPr>
          <a:xfrm>
            <a:off x="533400" y="1295400"/>
            <a:ext cx="11658600" cy="5196840"/>
          </a:xfrm>
          <a:prstGeom prst="rect">
            <a:avLst/>
          </a:prstGeom>
        </p:spPr>
        <p:txBody>
          <a:bodyPr>
            <a:normAutofit/>
          </a:bodyPr>
          <a:lstStyle>
            <a:lvl1pPr marL="342900" indent="-342900" algn="l" defTabSz="914400" rtl="0" eaLnBrk="1" latinLnBrk="0" hangingPunct="1">
              <a:spcBef>
                <a:spcPct val="20000"/>
              </a:spcBef>
              <a:buFont typeface="Wingdings" pitchFamily="2" charset="2"/>
              <a:buChar char="§"/>
              <a:defRPr sz="2400" kern="1200">
                <a:solidFill>
                  <a:schemeClr val="tx1"/>
                </a:solidFill>
                <a:latin typeface="Century Gothic" pitchFamily="34" charset="0"/>
                <a:ea typeface="+mn-ea"/>
                <a:cs typeface="+mn-cs"/>
              </a:defRPr>
            </a:lvl1pPr>
            <a:lvl2pPr marL="742950" indent="-285750" algn="l" defTabSz="914400" rtl="0" eaLnBrk="1" latinLnBrk="0" hangingPunct="1">
              <a:spcBef>
                <a:spcPct val="20000"/>
              </a:spcBef>
              <a:buFont typeface="Wingdings" pitchFamily="2" charset="2"/>
              <a:buChar char="§"/>
              <a:defRPr sz="2800" kern="1200">
                <a:solidFill>
                  <a:schemeClr val="tx1"/>
                </a:solidFill>
                <a:latin typeface="Century Gothic" pitchFamily="34" charset="0"/>
                <a:ea typeface="+mn-ea"/>
                <a:cs typeface="+mn-cs"/>
              </a:defRPr>
            </a:lvl2pPr>
            <a:lvl3pPr marL="1143000" indent="-228600" algn="l" defTabSz="914400" rtl="0" eaLnBrk="1" latinLnBrk="0" hangingPunct="1">
              <a:spcBef>
                <a:spcPct val="20000"/>
              </a:spcBef>
              <a:buFont typeface="Wingdings" pitchFamily="2" charset="2"/>
              <a:buChar char="§"/>
              <a:defRPr sz="2400" kern="1200">
                <a:solidFill>
                  <a:schemeClr val="tx1"/>
                </a:solidFill>
                <a:latin typeface="Century Gothic" pitchFamily="34" charset="0"/>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Century Gothic" pitchFamily="34" charset="0"/>
                <a:ea typeface="+mn-ea"/>
                <a:cs typeface="+mn-cs"/>
              </a:defRPr>
            </a:lvl4pPr>
            <a:lvl5pPr marL="2057400" indent="-228600" algn="l" defTabSz="914400" rtl="0" eaLnBrk="1" latinLnBrk="0" hangingPunct="1">
              <a:spcBef>
                <a:spcPct val="20000"/>
              </a:spcBef>
              <a:buFont typeface="Wingdings" pitchFamily="2" charset="2"/>
              <a:buChar char="§"/>
              <a:defRPr sz="2000" kern="1200">
                <a:solidFill>
                  <a:schemeClr val="tx1"/>
                </a:solidFill>
                <a:latin typeface="Century 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a:spcBef>
                <a:spcPts val="0"/>
              </a:spcBef>
              <a:spcAft>
                <a:spcPts val="1200"/>
              </a:spcAft>
            </a:pPr>
            <a:r>
              <a:rPr lang="en-US" sz="3200" dirty="0" smtClean="0"/>
              <a:t>Debugging - The </a:t>
            </a:r>
            <a:r>
              <a:rPr lang="en-US" sz="3200" dirty="0"/>
              <a:t>Process of Detecting and Fixing </a:t>
            </a:r>
            <a:r>
              <a:rPr lang="en-US" sz="3200" dirty="0" smtClean="0"/>
              <a:t>Errors</a:t>
            </a:r>
          </a:p>
          <a:p>
            <a:pPr marL="685800" lvl="2">
              <a:spcBef>
                <a:spcPts val="0"/>
              </a:spcBef>
              <a:spcAft>
                <a:spcPts val="1200"/>
              </a:spcAft>
              <a:buFont typeface="Wingdings" panose="05000000000000000000" pitchFamily="2" charset="2"/>
              <a:buChar char="ü"/>
            </a:pPr>
            <a:r>
              <a:rPr lang="en-US" sz="2800" dirty="0" smtClean="0"/>
              <a:t>Logic Error</a:t>
            </a:r>
            <a:endParaRPr lang="en-US" sz="2800" dirty="0"/>
          </a:p>
          <a:p>
            <a:pPr marL="1143000" lvl="3">
              <a:spcBef>
                <a:spcPts val="0"/>
              </a:spcBef>
              <a:spcAft>
                <a:spcPts val="1200"/>
              </a:spcAft>
              <a:buFont typeface="Arial" panose="020B0604020202020204" pitchFamily="34" charset="0"/>
              <a:buChar char="•"/>
            </a:pPr>
            <a:r>
              <a:rPr lang="en-US" sz="2400" dirty="0"/>
              <a:t>Error in programming logic</a:t>
            </a:r>
          </a:p>
          <a:p>
            <a:pPr marL="1143000" lvl="3">
              <a:spcBef>
                <a:spcPts val="0"/>
              </a:spcBef>
              <a:spcAft>
                <a:spcPts val="1200"/>
              </a:spcAft>
              <a:buFont typeface="Arial" panose="020B0604020202020204" pitchFamily="34" charset="0"/>
              <a:buChar char="•"/>
            </a:pPr>
            <a:r>
              <a:rPr lang="en-US" sz="2400" dirty="0"/>
              <a:t>Results in unexpected outcome</a:t>
            </a:r>
          </a:p>
          <a:p>
            <a:pPr marL="1143000" lvl="3">
              <a:spcBef>
                <a:spcPts val="0"/>
              </a:spcBef>
              <a:spcAft>
                <a:spcPts val="1200"/>
              </a:spcAft>
              <a:buFont typeface="Arial" panose="020B0604020202020204" pitchFamily="34" charset="0"/>
              <a:buChar char="•"/>
            </a:pPr>
            <a:r>
              <a:rPr lang="en-US" sz="2400" dirty="0"/>
              <a:t>More difficult to detect </a:t>
            </a:r>
          </a:p>
          <a:p>
            <a:pPr marL="1143000" lvl="3">
              <a:spcBef>
                <a:spcPts val="0"/>
              </a:spcBef>
              <a:spcAft>
                <a:spcPts val="1200"/>
              </a:spcAft>
              <a:buFont typeface="Arial" panose="020B0604020202020204" pitchFamily="34" charset="0"/>
              <a:buChar char="•"/>
            </a:pPr>
            <a:r>
              <a:rPr lang="en-US" sz="2400" dirty="0"/>
              <a:t>Does not prevent a program from </a:t>
            </a:r>
            <a:r>
              <a:rPr lang="en-US" sz="2400" dirty="0" smtClean="0"/>
              <a:t>running</a:t>
            </a:r>
            <a:endParaRPr lang="en-US" sz="2400" dirty="0"/>
          </a:p>
        </p:txBody>
      </p:sp>
      <p:sp>
        <p:nvSpPr>
          <p:cNvPr id="6" name="Slide Number Placeholder 5"/>
          <p:cNvSpPr>
            <a:spLocks noGrp="1"/>
          </p:cNvSpPr>
          <p:nvPr>
            <p:ph type="sldNum" sz="quarter" idx="12"/>
          </p:nvPr>
        </p:nvSpPr>
        <p:spPr/>
        <p:txBody>
          <a:bodyPr/>
          <a:lstStyle/>
          <a:p>
            <a:fld id="{68F46CC4-B570-4746-ADFA-6E9E2BD9CBA4}" type="slidenum">
              <a:rPr lang="en-US" smtClean="0"/>
              <a:pPr/>
              <a:t>18</a:t>
            </a:fld>
            <a:endParaRPr lang="en-US" dirty="0"/>
          </a:p>
        </p:txBody>
      </p:sp>
      <p:sp>
        <p:nvSpPr>
          <p:cNvPr id="9"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spTree>
    <p:extLst>
      <p:ext uri="{BB962C8B-B14F-4D97-AF65-F5344CB8AC3E}">
        <p14:creationId xmlns:p14="http://schemas.microsoft.com/office/powerpoint/2010/main" val="377661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a:t>Coding the System</a:t>
            </a:r>
            <a:r>
              <a:rPr lang="en-US" dirty="0"/>
              <a:t/>
            </a:r>
            <a:br>
              <a:rPr lang="en-US" dirty="0"/>
            </a:br>
            <a:r>
              <a:rPr lang="en-US" dirty="0"/>
              <a:t>Program Development Cycle</a:t>
            </a:r>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8" name="Content Placeholder 5"/>
          <p:cNvSpPr txBox="1">
            <a:spLocks/>
          </p:cNvSpPr>
          <p:nvPr/>
        </p:nvSpPr>
        <p:spPr>
          <a:xfrm>
            <a:off x="533400" y="1295400"/>
            <a:ext cx="11658600" cy="5196840"/>
          </a:xfrm>
          <a:prstGeom prst="rect">
            <a:avLst/>
          </a:prstGeom>
        </p:spPr>
        <p:txBody>
          <a:bodyPr>
            <a:normAutofit/>
          </a:bodyPr>
          <a:lstStyle>
            <a:lvl1pPr marL="342900" indent="-342900" algn="l" defTabSz="914400" rtl="0" eaLnBrk="1" latinLnBrk="0" hangingPunct="1">
              <a:spcBef>
                <a:spcPct val="20000"/>
              </a:spcBef>
              <a:buFont typeface="Wingdings" pitchFamily="2" charset="2"/>
              <a:buChar char="§"/>
              <a:defRPr sz="2400" kern="1200">
                <a:solidFill>
                  <a:schemeClr val="tx1"/>
                </a:solidFill>
                <a:latin typeface="Century Gothic" pitchFamily="34" charset="0"/>
                <a:ea typeface="+mn-ea"/>
                <a:cs typeface="+mn-cs"/>
              </a:defRPr>
            </a:lvl1pPr>
            <a:lvl2pPr marL="742950" indent="-285750" algn="l" defTabSz="914400" rtl="0" eaLnBrk="1" latinLnBrk="0" hangingPunct="1">
              <a:spcBef>
                <a:spcPct val="20000"/>
              </a:spcBef>
              <a:buFont typeface="Wingdings" pitchFamily="2" charset="2"/>
              <a:buChar char="§"/>
              <a:defRPr sz="2800" kern="1200">
                <a:solidFill>
                  <a:schemeClr val="tx1"/>
                </a:solidFill>
                <a:latin typeface="Century Gothic" pitchFamily="34" charset="0"/>
                <a:ea typeface="+mn-ea"/>
                <a:cs typeface="+mn-cs"/>
              </a:defRPr>
            </a:lvl2pPr>
            <a:lvl3pPr marL="1143000" indent="-228600" algn="l" defTabSz="914400" rtl="0" eaLnBrk="1" latinLnBrk="0" hangingPunct="1">
              <a:spcBef>
                <a:spcPct val="20000"/>
              </a:spcBef>
              <a:buFont typeface="Wingdings" pitchFamily="2" charset="2"/>
              <a:buChar char="§"/>
              <a:defRPr sz="2400" kern="1200">
                <a:solidFill>
                  <a:schemeClr val="tx1"/>
                </a:solidFill>
                <a:latin typeface="Century Gothic" pitchFamily="34" charset="0"/>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Century Gothic" pitchFamily="34" charset="0"/>
                <a:ea typeface="+mn-ea"/>
                <a:cs typeface="+mn-cs"/>
              </a:defRPr>
            </a:lvl4pPr>
            <a:lvl5pPr marL="2057400" indent="-228600" algn="l" defTabSz="914400" rtl="0" eaLnBrk="1" latinLnBrk="0" hangingPunct="1">
              <a:spcBef>
                <a:spcPct val="20000"/>
              </a:spcBef>
              <a:buFont typeface="Wingdings" pitchFamily="2" charset="2"/>
              <a:buChar char="§"/>
              <a:defRPr sz="2000" kern="1200">
                <a:solidFill>
                  <a:schemeClr val="tx1"/>
                </a:solidFill>
                <a:latin typeface="Century 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a:spcBef>
                <a:spcPts val="0"/>
              </a:spcBef>
              <a:spcAft>
                <a:spcPts val="1200"/>
              </a:spcAft>
            </a:pPr>
            <a:r>
              <a:rPr lang="en-US" sz="3200" dirty="0" smtClean="0"/>
              <a:t>Debugging - The </a:t>
            </a:r>
            <a:r>
              <a:rPr lang="en-US" sz="3200" dirty="0"/>
              <a:t>Process of Detecting and Fixing </a:t>
            </a:r>
            <a:r>
              <a:rPr lang="en-US" sz="3200" dirty="0" smtClean="0"/>
              <a:t>Errors</a:t>
            </a:r>
          </a:p>
          <a:p>
            <a:pPr marL="685800" lvl="2">
              <a:spcBef>
                <a:spcPts val="0"/>
              </a:spcBef>
              <a:spcAft>
                <a:spcPts val="1200"/>
              </a:spcAft>
              <a:buFont typeface="Wingdings" panose="05000000000000000000" pitchFamily="2" charset="2"/>
              <a:buChar char="ü"/>
            </a:pPr>
            <a:r>
              <a:rPr lang="en-US" sz="2800" dirty="0" smtClean="0"/>
              <a:t>Runtime Error</a:t>
            </a:r>
            <a:endParaRPr lang="en-US" sz="2800" dirty="0"/>
          </a:p>
          <a:p>
            <a:pPr marL="1143000" lvl="3">
              <a:spcBef>
                <a:spcPts val="0"/>
              </a:spcBef>
              <a:spcAft>
                <a:spcPts val="1200"/>
              </a:spcAft>
              <a:buFont typeface="Arial" panose="020B0604020202020204" pitchFamily="34" charset="0"/>
              <a:buChar char="•"/>
            </a:pPr>
            <a:r>
              <a:rPr lang="en-US" sz="2400" dirty="0"/>
              <a:t>Occurs when program is running and something entered causes it to crash</a:t>
            </a:r>
          </a:p>
          <a:p>
            <a:pPr marL="1143000" lvl="3">
              <a:spcBef>
                <a:spcPts val="0"/>
              </a:spcBef>
              <a:spcAft>
                <a:spcPts val="1200"/>
              </a:spcAft>
              <a:buFont typeface="Arial" panose="020B0604020202020204" pitchFamily="34" charset="0"/>
              <a:buChar char="•"/>
            </a:pPr>
            <a:r>
              <a:rPr lang="en-US" sz="2400" dirty="0"/>
              <a:t>Memory issues are common cause of runtime </a:t>
            </a:r>
            <a:r>
              <a:rPr lang="en-US" sz="2400" dirty="0" smtClean="0"/>
              <a:t>errors</a:t>
            </a:r>
            <a:endParaRPr lang="en-US" sz="4400" dirty="0"/>
          </a:p>
        </p:txBody>
      </p:sp>
      <p:sp>
        <p:nvSpPr>
          <p:cNvPr id="6" name="Slide Number Placeholder 5"/>
          <p:cNvSpPr>
            <a:spLocks noGrp="1"/>
          </p:cNvSpPr>
          <p:nvPr>
            <p:ph type="sldNum" sz="quarter" idx="12"/>
          </p:nvPr>
        </p:nvSpPr>
        <p:spPr/>
        <p:txBody>
          <a:bodyPr/>
          <a:lstStyle/>
          <a:p>
            <a:fld id="{68F46CC4-B570-4746-ADFA-6E9E2BD9CBA4}" type="slidenum">
              <a:rPr lang="en-US" smtClean="0"/>
              <a:pPr/>
              <a:t>19</a:t>
            </a:fld>
            <a:endParaRPr lang="en-US" dirty="0"/>
          </a:p>
        </p:txBody>
      </p:sp>
      <p:sp>
        <p:nvSpPr>
          <p:cNvPr id="9"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spTree>
    <p:extLst>
      <p:ext uri="{BB962C8B-B14F-4D97-AF65-F5344CB8AC3E}">
        <p14:creationId xmlns:p14="http://schemas.microsoft.com/office/powerpoint/2010/main" val="389319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b="0" dirty="0"/>
              <a:t>Coding the System</a:t>
            </a:r>
            <a:r>
              <a:rPr lang="en-US" dirty="0"/>
              <a:t/>
            </a:r>
            <a:br>
              <a:rPr lang="en-US" dirty="0"/>
            </a:br>
            <a:r>
              <a:rPr lang="en-US" dirty="0"/>
              <a:t>Program Development Cycle</a:t>
            </a:r>
          </a:p>
        </p:txBody>
      </p:sp>
      <p:sp>
        <p:nvSpPr>
          <p:cNvPr id="2" name="Content Placeholder 1"/>
          <p:cNvSpPr>
            <a:spLocks noGrp="1"/>
          </p:cNvSpPr>
          <p:nvPr>
            <p:ph idx="1"/>
          </p:nvPr>
        </p:nvSpPr>
        <p:spPr/>
        <p:txBody>
          <a:bodyPr>
            <a:normAutofit/>
          </a:bodyPr>
          <a:lstStyle/>
          <a:p>
            <a:pPr>
              <a:spcAft>
                <a:spcPts val="1200"/>
              </a:spcAft>
            </a:pPr>
            <a:r>
              <a:rPr lang="en-US" dirty="0"/>
              <a:t>Testing and Documentation</a:t>
            </a:r>
            <a:endParaRPr lang="en-US" dirty="0" smtClean="0"/>
          </a:p>
          <a:p>
            <a:pPr lvl="1">
              <a:spcAft>
                <a:spcPts val="1200"/>
              </a:spcAft>
            </a:pPr>
            <a:r>
              <a:rPr lang="en-US" dirty="0" smtClean="0"/>
              <a:t>Beta </a:t>
            </a:r>
            <a:r>
              <a:rPr lang="en-US" dirty="0"/>
              <a:t>testing</a:t>
            </a:r>
          </a:p>
          <a:p>
            <a:pPr lvl="2">
              <a:spcAft>
                <a:spcPts val="1200"/>
              </a:spcAft>
            </a:pPr>
            <a:r>
              <a:rPr lang="en-US" dirty="0" smtClean="0"/>
              <a:t>Testing done under actual</a:t>
            </a:r>
            <a:br>
              <a:rPr lang="en-US" dirty="0" smtClean="0"/>
            </a:br>
            <a:r>
              <a:rPr lang="en-US" dirty="0" smtClean="0"/>
              <a:t>working conditions</a:t>
            </a:r>
          </a:p>
          <a:p>
            <a:pPr lvl="1">
              <a:spcAft>
                <a:spcPts val="1200"/>
              </a:spcAft>
            </a:pPr>
            <a:r>
              <a:rPr lang="en-US" dirty="0" smtClean="0"/>
              <a:t>Documentation</a:t>
            </a:r>
            <a:endParaRPr lang="en-US" dirty="0"/>
          </a:p>
          <a:p>
            <a:pPr lvl="2">
              <a:spcAft>
                <a:spcPts val="1200"/>
              </a:spcAft>
            </a:pPr>
            <a:r>
              <a:rPr lang="en-US" dirty="0" smtClean="0"/>
              <a:t>Created throughout programming cycle </a:t>
            </a:r>
          </a:p>
          <a:p>
            <a:pPr lvl="2">
              <a:spcAft>
                <a:spcPts val="1200"/>
              </a:spcAft>
            </a:pPr>
            <a:r>
              <a:rPr lang="en-US" dirty="0" smtClean="0"/>
              <a:t>For users</a:t>
            </a:r>
          </a:p>
          <a:p>
            <a:pPr lvl="2">
              <a:spcAft>
                <a:spcPts val="1200"/>
              </a:spcAft>
            </a:pPr>
            <a:r>
              <a:rPr lang="en-US" dirty="0" smtClean="0"/>
              <a:t>For programmers </a:t>
            </a:r>
            <a:endParaRPr lang="en-US" dirty="0"/>
          </a:p>
        </p:txBody>
      </p:sp>
      <p:sp>
        <p:nvSpPr>
          <p:cNvPr id="5" name="Footer Placeholder 4"/>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20</a:t>
            </a:fld>
            <a:endParaRPr lang="en-US" dirty="0"/>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39345" y="1813421"/>
            <a:ext cx="5486400" cy="2013204"/>
          </a:xfrm>
          <a:prstGeom prst="rect">
            <a:avLst/>
          </a:prstGeom>
        </p:spPr>
      </p:pic>
      <p:sp>
        <p:nvSpPr>
          <p:cNvPr id="7"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2</a:t>
            </a:r>
            <a:endParaRPr lang="en-US" sz="2400" dirty="0"/>
          </a:p>
        </p:txBody>
      </p:sp>
    </p:spTree>
    <p:extLst>
      <p:ext uri="{BB962C8B-B14F-4D97-AF65-F5344CB8AC3E}">
        <p14:creationId xmlns:p14="http://schemas.microsoft.com/office/powerpoint/2010/main" val="3046114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Compare Various Programming Languages</a:t>
            </a:r>
          </a:p>
        </p:txBody>
      </p:sp>
      <p:sp>
        <p:nvSpPr>
          <p:cNvPr id="8" name="Footer Placeholder 7"/>
          <p:cNvSpPr>
            <a:spLocks noGrp="1"/>
          </p:cNvSpPr>
          <p:nvPr>
            <p:ph type="ftr" sz="quarter" idx="11"/>
          </p:nvPr>
        </p:nvSpPr>
        <p:spPr/>
        <p:txBody>
          <a:bodyPr/>
          <a:lstStyle/>
          <a:p>
            <a:r>
              <a:rPr lang="en-US" smtClean="0"/>
              <a:t>Copyright © 2017 Pearson Education, Inc.</a:t>
            </a:r>
            <a:endParaRPr lang="en-US" dirty="0"/>
          </a:p>
        </p:txBody>
      </p:sp>
      <p:sp>
        <p:nvSpPr>
          <p:cNvPr id="10" name="Slide Number Placeholder 9"/>
          <p:cNvSpPr>
            <a:spLocks noGrp="1"/>
          </p:cNvSpPr>
          <p:nvPr>
            <p:ph type="sldNum" sz="quarter" idx="12"/>
          </p:nvPr>
        </p:nvSpPr>
        <p:spPr/>
        <p:txBody>
          <a:bodyPr/>
          <a:lstStyle/>
          <a:p>
            <a:fld id="{68F46CC4-B570-4746-ADFA-6E9E2BD9CBA4}" type="slidenum">
              <a:rPr lang="en-US" smtClean="0"/>
              <a:pPr/>
              <a:t>21</a:t>
            </a:fld>
            <a:endParaRPr lang="en-US" dirty="0"/>
          </a:p>
        </p:txBody>
      </p:sp>
      <p:sp>
        <p:nvSpPr>
          <p:cNvPr id="2" name="TextBox 1"/>
          <p:cNvSpPr txBox="1"/>
          <p:nvPr/>
        </p:nvSpPr>
        <p:spPr>
          <a:xfrm>
            <a:off x="5796455" y="3124200"/>
            <a:ext cx="3531476" cy="400110"/>
          </a:xfrm>
          <a:prstGeom prst="rect">
            <a:avLst/>
          </a:prstGeom>
          <a:noFill/>
        </p:spPr>
        <p:txBody>
          <a:bodyPr wrap="square" rtlCol="0">
            <a:spAutoFit/>
          </a:bodyPr>
          <a:lstStyle/>
          <a:p>
            <a:pPr marL="342900" indent="-342900">
              <a:spcBef>
                <a:spcPct val="20000"/>
              </a:spcBef>
              <a:buFont typeface="Wingdings" pitchFamily="2" charset="2"/>
              <a:buChar char="§"/>
            </a:pPr>
            <a:endParaRPr lang="en-US" sz="2000" dirty="0">
              <a:latin typeface="Century Gothic" pitchFamily="34" charset="0"/>
            </a:endParaRPr>
          </a:p>
        </p:txBody>
      </p:sp>
      <p:pic>
        <p:nvPicPr>
          <p:cNvPr id="12" name="Picture 1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60040" y="1295400"/>
            <a:ext cx="6929120" cy="5196840"/>
          </a:xfrm>
          <a:prstGeom prst="rect">
            <a:avLst/>
          </a:prstGeom>
        </p:spPr>
      </p:pic>
      <p:sp>
        <p:nvSpPr>
          <p:cNvPr id="14"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3</a:t>
            </a:r>
            <a:endParaRPr lang="en-US" sz="2400" dirty="0"/>
          </a:p>
        </p:txBody>
      </p:sp>
    </p:spTree>
    <p:extLst>
      <p:ext uri="{BB962C8B-B14F-4D97-AF65-F5344CB8AC3E}">
        <p14:creationId xmlns:p14="http://schemas.microsoft.com/office/powerpoint/2010/main" val="153487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0" dirty="0" smtClean="0"/>
              <a:t>Tools of the Trade</a:t>
            </a:r>
            <a:r>
              <a:rPr lang="en-US" dirty="0" smtClean="0"/>
              <a:t/>
            </a:r>
            <a:br>
              <a:rPr lang="en-US" dirty="0" smtClean="0"/>
            </a:br>
            <a:r>
              <a:rPr lang="en-US" dirty="0" smtClean="0"/>
              <a:t>Programming Languages</a:t>
            </a:r>
            <a:endParaRPr lang="en-US" dirty="0"/>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3" name="Slide Number Placeholder 2"/>
          <p:cNvSpPr>
            <a:spLocks noGrp="1"/>
          </p:cNvSpPr>
          <p:nvPr>
            <p:ph type="sldNum" sz="quarter" idx="12"/>
          </p:nvPr>
        </p:nvSpPr>
        <p:spPr/>
        <p:txBody>
          <a:bodyPr/>
          <a:lstStyle/>
          <a:p>
            <a:fld id="{68F46CC4-B570-4746-ADFA-6E9E2BD9CBA4}" type="slidenum">
              <a:rPr lang="en-US" smtClean="0"/>
              <a:pPr/>
              <a:t>22</a:t>
            </a:fld>
            <a:endParaRPr lang="en-US" dirty="0"/>
          </a:p>
        </p:txBody>
      </p:sp>
      <p:sp>
        <p:nvSpPr>
          <p:cNvPr id="4" name="TextBox 3"/>
          <p:cNvSpPr txBox="1"/>
          <p:nvPr/>
        </p:nvSpPr>
        <p:spPr>
          <a:xfrm>
            <a:off x="530352" y="1295400"/>
            <a:ext cx="11658600" cy="3847207"/>
          </a:xfrm>
          <a:prstGeom prst="rect">
            <a:avLst/>
          </a:prstGeom>
          <a:noFill/>
        </p:spPr>
        <p:txBody>
          <a:bodyPr wrap="square" rtlCol="0">
            <a:spAutoFit/>
          </a:bodyPr>
          <a:lstStyle/>
          <a:p>
            <a:pPr marL="228600" indent="-228600">
              <a:spcAft>
                <a:spcPts val="1200"/>
              </a:spcAft>
              <a:buFont typeface="Wingdings" panose="05000000000000000000" pitchFamily="2" charset="2"/>
              <a:buChar char="§"/>
            </a:pPr>
            <a:r>
              <a:rPr lang="en-US" sz="3200" dirty="0" smtClean="0">
                <a:latin typeface="Century Gothic" panose="020B0502020202020204" pitchFamily="34" charset="0"/>
              </a:rPr>
              <a:t>Low Level</a:t>
            </a:r>
          </a:p>
          <a:p>
            <a:pPr marL="685800" lvl="1" indent="-228600">
              <a:spcAft>
                <a:spcPts val="1200"/>
              </a:spcAft>
              <a:buFont typeface="Wingdings" panose="05000000000000000000" pitchFamily="2" charset="2"/>
              <a:buChar char="ü"/>
            </a:pPr>
            <a:r>
              <a:rPr lang="en-US" sz="2800" dirty="0" smtClean="0">
                <a:latin typeface="Century Gothic" panose="020B0502020202020204" pitchFamily="34" charset="0"/>
              </a:rPr>
              <a:t>First-generation (1GL)</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Machine language</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Written in binary</a:t>
            </a:r>
          </a:p>
          <a:p>
            <a:pPr marL="685800" lvl="1" indent="-228600">
              <a:spcAft>
                <a:spcPts val="1200"/>
              </a:spcAft>
              <a:buFont typeface="Wingdings" panose="05000000000000000000" pitchFamily="2" charset="2"/>
              <a:buChar char="ü"/>
            </a:pPr>
            <a:r>
              <a:rPr lang="en-US" sz="2800" dirty="0" smtClean="0">
                <a:latin typeface="Century Gothic" panose="020B0502020202020204" pitchFamily="34" charset="0"/>
              </a:rPr>
              <a:t>Second-generation (2GL)</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Assembly language</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Closer to what humans speak</a:t>
            </a:r>
            <a:endParaRPr lang="en-US" sz="2400" dirty="0">
              <a:latin typeface="Century Gothic" panose="020B0502020202020204" pitchFamily="34" charset="0"/>
            </a:endParaRPr>
          </a:p>
        </p:txBody>
      </p:sp>
      <p:sp>
        <p:nvSpPr>
          <p:cNvPr id="8"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3</a:t>
            </a:r>
            <a:endParaRPr lang="en-US" sz="2400" dirty="0"/>
          </a:p>
        </p:txBody>
      </p:sp>
    </p:spTree>
    <p:extLst>
      <p:ext uri="{BB962C8B-B14F-4D97-AF65-F5344CB8AC3E}">
        <p14:creationId xmlns:p14="http://schemas.microsoft.com/office/powerpoint/2010/main" val="301143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0" dirty="0" smtClean="0"/>
              <a:t>Tools of the Trade</a:t>
            </a:r>
            <a:r>
              <a:rPr lang="en-US" dirty="0" smtClean="0"/>
              <a:t/>
            </a:r>
            <a:br>
              <a:rPr lang="en-US" dirty="0" smtClean="0"/>
            </a:br>
            <a:r>
              <a:rPr lang="en-US" dirty="0" smtClean="0"/>
              <a:t>Programming Languages</a:t>
            </a:r>
            <a:endParaRPr lang="en-US" dirty="0"/>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3" name="Slide Number Placeholder 2"/>
          <p:cNvSpPr>
            <a:spLocks noGrp="1"/>
          </p:cNvSpPr>
          <p:nvPr>
            <p:ph type="sldNum" sz="quarter" idx="12"/>
          </p:nvPr>
        </p:nvSpPr>
        <p:spPr/>
        <p:txBody>
          <a:bodyPr/>
          <a:lstStyle/>
          <a:p>
            <a:fld id="{68F46CC4-B570-4746-ADFA-6E9E2BD9CBA4}" type="slidenum">
              <a:rPr lang="en-US" smtClean="0"/>
              <a:pPr/>
              <a:t>23</a:t>
            </a:fld>
            <a:endParaRPr lang="en-US" dirty="0"/>
          </a:p>
        </p:txBody>
      </p:sp>
      <p:sp>
        <p:nvSpPr>
          <p:cNvPr id="4" name="TextBox 3"/>
          <p:cNvSpPr txBox="1"/>
          <p:nvPr/>
        </p:nvSpPr>
        <p:spPr>
          <a:xfrm>
            <a:off x="530352" y="1295400"/>
            <a:ext cx="11658600" cy="5016758"/>
          </a:xfrm>
          <a:prstGeom prst="rect">
            <a:avLst/>
          </a:prstGeom>
          <a:noFill/>
        </p:spPr>
        <p:txBody>
          <a:bodyPr wrap="square" rtlCol="0">
            <a:spAutoFit/>
          </a:bodyPr>
          <a:lstStyle/>
          <a:p>
            <a:pPr marL="228600" indent="-228600">
              <a:spcAft>
                <a:spcPts val="1200"/>
              </a:spcAft>
              <a:buFont typeface="Wingdings" panose="05000000000000000000" pitchFamily="2" charset="2"/>
              <a:buChar char="§"/>
            </a:pPr>
            <a:r>
              <a:rPr lang="en-US" sz="3200" dirty="0" smtClean="0">
                <a:latin typeface="Century Gothic" panose="020B0502020202020204" pitchFamily="34" charset="0"/>
              </a:rPr>
              <a:t>High-level</a:t>
            </a:r>
          </a:p>
          <a:p>
            <a:pPr marL="685800" lvl="1" indent="-228600">
              <a:spcAft>
                <a:spcPts val="1200"/>
              </a:spcAft>
              <a:buFont typeface="Wingdings" panose="05000000000000000000" pitchFamily="2" charset="2"/>
              <a:buChar char="ü"/>
            </a:pPr>
            <a:r>
              <a:rPr lang="en-US" sz="2800" dirty="0" smtClean="0">
                <a:latin typeface="Century Gothic" panose="020B0502020202020204" pitchFamily="34" charset="0"/>
              </a:rPr>
              <a:t>Third-generation (3GL)</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Procedural and object oriented languages</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Requires considerable amount of programming knowledge</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Compiler converts code into machine language</a:t>
            </a:r>
          </a:p>
          <a:p>
            <a:pPr marL="800100" lvl="1" indent="-228600">
              <a:spcAft>
                <a:spcPts val="1200"/>
              </a:spcAft>
              <a:buFont typeface="Wingdings" panose="05000000000000000000" pitchFamily="2" charset="2"/>
              <a:buChar char="ü"/>
            </a:pPr>
            <a:r>
              <a:rPr lang="en-US" sz="2800" dirty="0" smtClean="0">
                <a:latin typeface="Century Gothic" panose="020B0502020202020204" pitchFamily="34" charset="0"/>
              </a:rPr>
              <a:t>Fourth-generation (4GL)</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Closer to natural language than 3GL</a:t>
            </a:r>
          </a:p>
          <a:p>
            <a:pPr marL="800100" lvl="1" indent="-342900">
              <a:spcAft>
                <a:spcPts val="1200"/>
              </a:spcAft>
              <a:buFont typeface="Wingdings" panose="05000000000000000000" pitchFamily="2" charset="2"/>
              <a:buChar char="ü"/>
            </a:pPr>
            <a:r>
              <a:rPr lang="en-US" sz="2800" dirty="0" smtClean="0">
                <a:latin typeface="Century Gothic" panose="020B0502020202020204" pitchFamily="34" charset="0"/>
              </a:rPr>
              <a:t>Fifth-generation (5GL)</a:t>
            </a:r>
          </a:p>
          <a:p>
            <a:pPr marL="1143000" lvl="2" indent="-228600">
              <a:spcAft>
                <a:spcPts val="1200"/>
              </a:spcAft>
              <a:buFont typeface="Arial" panose="020B0604020202020204" pitchFamily="34" charset="0"/>
              <a:buChar char="•"/>
            </a:pPr>
            <a:r>
              <a:rPr lang="en-US" sz="2400" dirty="0" smtClean="0">
                <a:latin typeface="Century Gothic" panose="020B0502020202020204" pitchFamily="34" charset="0"/>
              </a:rPr>
              <a:t>Primarily used in artificial intelligence applications</a:t>
            </a:r>
          </a:p>
        </p:txBody>
      </p:sp>
      <p:sp>
        <p:nvSpPr>
          <p:cNvPr id="6"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3</a:t>
            </a:r>
            <a:endParaRPr lang="en-US" sz="2400" dirty="0"/>
          </a:p>
        </p:txBody>
      </p:sp>
    </p:spTree>
    <p:extLst>
      <p:ext uri="{BB962C8B-B14F-4D97-AF65-F5344CB8AC3E}">
        <p14:creationId xmlns:p14="http://schemas.microsoft.com/office/powerpoint/2010/main" val="7371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a:t>Tools of the Trade</a:t>
            </a:r>
            <a:r>
              <a:rPr lang="en-US" dirty="0"/>
              <a:t/>
            </a:r>
            <a:br>
              <a:rPr lang="en-US" dirty="0"/>
            </a:br>
            <a:r>
              <a:rPr lang="en-US" dirty="0" smtClean="0"/>
              <a:t>Programming Tools</a:t>
            </a:r>
            <a:endParaRPr lang="en-US" dirty="0"/>
          </a:p>
        </p:txBody>
      </p:sp>
      <p:sp>
        <p:nvSpPr>
          <p:cNvPr id="2" name="Content Placeholder 1"/>
          <p:cNvSpPr>
            <a:spLocks noGrp="1"/>
          </p:cNvSpPr>
          <p:nvPr>
            <p:ph idx="1"/>
          </p:nvPr>
        </p:nvSpPr>
        <p:spPr>
          <a:xfrm>
            <a:off x="533400" y="1295400"/>
            <a:ext cx="11582400" cy="4876800"/>
          </a:xfrm>
        </p:spPr>
        <p:txBody>
          <a:bodyPr>
            <a:noAutofit/>
          </a:bodyPr>
          <a:lstStyle/>
          <a:p>
            <a:pPr>
              <a:spcAft>
                <a:spcPts val="1200"/>
              </a:spcAft>
            </a:pPr>
            <a:r>
              <a:rPr lang="en-US" dirty="0" smtClean="0"/>
              <a:t>Software development kit </a:t>
            </a:r>
            <a:r>
              <a:rPr lang="en-US" dirty="0"/>
              <a:t>(SDK)</a:t>
            </a:r>
          </a:p>
          <a:p>
            <a:pPr lvl="1">
              <a:spcAft>
                <a:spcPts val="1200"/>
              </a:spcAft>
              <a:buFont typeface="Wingdings" panose="05000000000000000000" pitchFamily="2" charset="2"/>
              <a:buChar char="ü"/>
            </a:pPr>
            <a:r>
              <a:rPr lang="en-US" dirty="0" smtClean="0"/>
              <a:t>A bundle of libraries and tools for a particular platform</a:t>
            </a:r>
          </a:p>
          <a:p>
            <a:pPr>
              <a:spcAft>
                <a:spcPts val="1200"/>
              </a:spcAft>
            </a:pPr>
            <a:r>
              <a:rPr lang="en-US" dirty="0" smtClean="0"/>
              <a:t>Integrated development environment </a:t>
            </a:r>
            <a:r>
              <a:rPr lang="en-US" dirty="0"/>
              <a:t>(IDE)</a:t>
            </a:r>
          </a:p>
          <a:p>
            <a:pPr lvl="1">
              <a:spcAft>
                <a:spcPts val="1200"/>
              </a:spcAft>
              <a:buFont typeface="Wingdings" panose="05000000000000000000" pitchFamily="2" charset="2"/>
              <a:buChar char="ü"/>
            </a:pPr>
            <a:r>
              <a:rPr lang="en-US" dirty="0" smtClean="0"/>
              <a:t>Complete system for developing software</a:t>
            </a:r>
          </a:p>
          <a:p>
            <a:pPr>
              <a:spcAft>
                <a:spcPts val="1200"/>
              </a:spcAft>
            </a:pPr>
            <a:r>
              <a:rPr lang="en-US" dirty="0" smtClean="0"/>
              <a:t>Platform-as-a-Service </a:t>
            </a:r>
            <a:r>
              <a:rPr lang="en-US" dirty="0"/>
              <a:t>(PaaS)</a:t>
            </a:r>
          </a:p>
          <a:p>
            <a:pPr lvl="1">
              <a:spcAft>
                <a:spcPts val="1200"/>
              </a:spcAft>
              <a:buFont typeface="Wingdings" panose="05000000000000000000" pitchFamily="2" charset="2"/>
              <a:buChar char="ü"/>
            </a:pPr>
            <a:r>
              <a:rPr lang="en-US" dirty="0" smtClean="0"/>
              <a:t>Online programming environment </a:t>
            </a:r>
          </a:p>
          <a:p>
            <a:pPr lvl="1">
              <a:spcAft>
                <a:spcPts val="1200"/>
              </a:spcAft>
              <a:buFont typeface="Wingdings" panose="05000000000000000000" pitchFamily="2" charset="2"/>
              <a:buChar char="ü"/>
            </a:pPr>
            <a:r>
              <a:rPr lang="en-US" dirty="0" smtClean="0"/>
              <a:t>Develop and test applications</a:t>
            </a:r>
          </a:p>
          <a:p>
            <a:pPr lvl="1">
              <a:spcAft>
                <a:spcPts val="1200"/>
              </a:spcAft>
              <a:buFont typeface="Wingdings" panose="05000000000000000000" pitchFamily="2" charset="2"/>
              <a:buChar char="ü"/>
            </a:pPr>
            <a:r>
              <a:rPr lang="en-US" dirty="0" smtClean="0"/>
              <a:t>Deploy custom</a:t>
            </a:r>
            <a:r>
              <a:rPr lang="en-US" dirty="0"/>
              <a:t> </a:t>
            </a:r>
            <a:r>
              <a:rPr lang="en-US" dirty="0" smtClean="0"/>
              <a:t>applications</a:t>
            </a:r>
            <a:endParaRPr lang="en-US" dirty="0"/>
          </a:p>
        </p:txBody>
      </p:sp>
      <p:sp>
        <p:nvSpPr>
          <p:cNvPr id="5" name="Footer Placeholder 4"/>
          <p:cNvSpPr>
            <a:spLocks noGrp="1"/>
          </p:cNvSpPr>
          <p:nvPr>
            <p:ph type="ftr" sz="quarter" idx="11"/>
          </p:nvPr>
        </p:nvSpPr>
        <p:spPr/>
        <p:txBody>
          <a:bodyPr/>
          <a:lstStyle/>
          <a:p>
            <a:r>
              <a:rPr lang="en-US" smtClean="0"/>
              <a:t>Copyright © 2017 Pearson Education, Inc.</a:t>
            </a:r>
            <a:endParaRPr lang="en-US" dirty="0"/>
          </a:p>
        </p:txBody>
      </p:sp>
      <p:sp>
        <p:nvSpPr>
          <p:cNvPr id="6" name="Slide Number Placeholder 5"/>
          <p:cNvSpPr>
            <a:spLocks noGrp="1"/>
          </p:cNvSpPr>
          <p:nvPr>
            <p:ph type="sldNum" sz="quarter" idx="12"/>
          </p:nvPr>
        </p:nvSpPr>
        <p:spPr/>
        <p:txBody>
          <a:bodyPr/>
          <a:lstStyle/>
          <a:p>
            <a:fld id="{68F46CC4-B570-4746-ADFA-6E9E2BD9CBA4}" type="slidenum">
              <a:rPr lang="en-US" smtClean="0"/>
              <a:pPr/>
              <a:t>24</a:t>
            </a:fld>
            <a:endParaRPr lang="en-US" dirty="0"/>
          </a:p>
        </p:txBody>
      </p:sp>
      <p:sp>
        <p:nvSpPr>
          <p:cNvPr id="7"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3</a:t>
            </a:r>
            <a:endParaRPr lang="en-US" sz="2400" dirty="0"/>
          </a:p>
        </p:txBody>
      </p:sp>
    </p:spTree>
    <p:extLst>
      <p:ext uri="{BB962C8B-B14F-4D97-AF65-F5344CB8AC3E}">
        <p14:creationId xmlns:p14="http://schemas.microsoft.com/office/powerpoint/2010/main" val="1030720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a:t>Tools of the Trade</a:t>
            </a:r>
            <a:r>
              <a:rPr lang="en-US" dirty="0"/>
              <a:t/>
            </a:r>
            <a:br>
              <a:rPr lang="en-US" dirty="0"/>
            </a:br>
            <a:r>
              <a:rPr lang="en-US" dirty="0" smtClean="0"/>
              <a:t>Web Programming</a:t>
            </a:r>
            <a:endParaRPr lang="en-US" dirty="0"/>
          </a:p>
        </p:txBody>
      </p:sp>
      <p:sp>
        <p:nvSpPr>
          <p:cNvPr id="4" name="Content Placeholder 3"/>
          <p:cNvSpPr>
            <a:spLocks noGrp="1"/>
          </p:cNvSpPr>
          <p:nvPr>
            <p:ph idx="1"/>
          </p:nvPr>
        </p:nvSpPr>
        <p:spPr>
          <a:xfrm>
            <a:off x="533400" y="1295401"/>
            <a:ext cx="11658600" cy="4876800"/>
          </a:xfrm>
        </p:spPr>
        <p:txBody>
          <a:bodyPr>
            <a:noAutofit/>
          </a:bodyPr>
          <a:lstStyle/>
          <a:p>
            <a:pPr>
              <a:spcAft>
                <a:spcPts val="600"/>
              </a:spcAft>
            </a:pPr>
            <a:r>
              <a:rPr lang="en-US" dirty="0"/>
              <a:t>Select right language for task </a:t>
            </a:r>
          </a:p>
          <a:p>
            <a:pPr>
              <a:spcAft>
                <a:spcPts val="600"/>
              </a:spcAft>
            </a:pPr>
            <a:r>
              <a:rPr lang="en-US" dirty="0"/>
              <a:t>Simplest form of a webpage </a:t>
            </a:r>
          </a:p>
          <a:p>
            <a:pPr lvl="1">
              <a:spcAft>
                <a:spcPts val="600"/>
              </a:spcAft>
              <a:buFont typeface="Wingdings" panose="05000000000000000000" pitchFamily="2" charset="2"/>
              <a:buChar char="ü"/>
            </a:pPr>
            <a:r>
              <a:rPr lang="en-US" dirty="0"/>
              <a:t>Static HTML page </a:t>
            </a:r>
          </a:p>
          <a:p>
            <a:pPr>
              <a:spcAft>
                <a:spcPts val="600"/>
              </a:spcAft>
            </a:pPr>
            <a:r>
              <a:rPr lang="en-US" dirty="0"/>
              <a:t>Dynamic elements </a:t>
            </a:r>
          </a:p>
          <a:p>
            <a:pPr lvl="1">
              <a:spcAft>
                <a:spcPts val="600"/>
              </a:spcAft>
              <a:buFont typeface="Wingdings" panose="05000000000000000000" pitchFamily="2" charset="2"/>
              <a:buChar char="ü"/>
            </a:pPr>
            <a:r>
              <a:rPr lang="en-US" dirty="0"/>
              <a:t>Menus</a:t>
            </a:r>
          </a:p>
          <a:p>
            <a:pPr lvl="1">
              <a:spcAft>
                <a:spcPts val="600"/>
              </a:spcAft>
              <a:buFont typeface="Wingdings" panose="05000000000000000000" pitchFamily="2" charset="2"/>
              <a:buChar char="ü"/>
            </a:pPr>
            <a:r>
              <a:rPr lang="en-US" dirty="0"/>
              <a:t>Rollovers</a:t>
            </a:r>
          </a:p>
          <a:p>
            <a:pPr lvl="1">
              <a:spcAft>
                <a:spcPts val="600"/>
              </a:spcAft>
              <a:buFont typeface="Wingdings" panose="05000000000000000000" pitchFamily="2" charset="2"/>
              <a:buChar char="ü"/>
            </a:pPr>
            <a:r>
              <a:rPr lang="en-US" dirty="0"/>
              <a:t>Searches</a:t>
            </a:r>
          </a:p>
          <a:p>
            <a:pPr lvl="1">
              <a:spcAft>
                <a:spcPts val="600"/>
              </a:spcAft>
              <a:buFont typeface="Wingdings" panose="05000000000000000000" pitchFamily="2" charset="2"/>
              <a:buChar char="ü"/>
            </a:pPr>
            <a:r>
              <a:rPr lang="en-US" dirty="0"/>
              <a:t>Videos</a:t>
            </a:r>
          </a:p>
          <a:p>
            <a:pPr lvl="1">
              <a:spcAft>
                <a:spcPts val="600"/>
              </a:spcAft>
              <a:buFont typeface="Wingdings" panose="05000000000000000000" pitchFamily="2" charset="2"/>
              <a:buChar char="ü"/>
            </a:pPr>
            <a:r>
              <a:rPr lang="en-US" dirty="0" smtClean="0"/>
              <a:t>Animation</a:t>
            </a:r>
            <a:endParaRPr lang="en-US" dirty="0"/>
          </a:p>
        </p:txBody>
      </p:sp>
      <p:sp>
        <p:nvSpPr>
          <p:cNvPr id="6" name="Footer Placeholder 5"/>
          <p:cNvSpPr>
            <a:spLocks noGrp="1"/>
          </p:cNvSpPr>
          <p:nvPr>
            <p:ph type="ftr" sz="quarter" idx="11"/>
          </p:nvPr>
        </p:nvSpPr>
        <p:spPr/>
        <p:txBody>
          <a:bodyPr/>
          <a:lstStyle/>
          <a:p>
            <a:r>
              <a:rPr lang="en-US"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25</a:t>
            </a:fld>
            <a:endParaRPr lang="en-US" dirty="0"/>
          </a:p>
        </p:txBody>
      </p:sp>
      <p:sp>
        <p:nvSpPr>
          <p:cNvPr id="7"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3</a:t>
            </a:r>
            <a:endParaRPr lang="en-US" sz="2400" dirty="0"/>
          </a:p>
        </p:txBody>
      </p:sp>
    </p:spTree>
    <p:extLst>
      <p:ext uri="{BB962C8B-B14F-4D97-AF65-F5344CB8AC3E}">
        <p14:creationId xmlns:p14="http://schemas.microsoft.com/office/powerpoint/2010/main" val="3044310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b="0" dirty="0"/>
              <a:t>Tools of the Trade</a:t>
            </a:r>
            <a:r>
              <a:rPr lang="en-US" dirty="0"/>
              <a:t/>
            </a:r>
            <a:br>
              <a:rPr lang="en-US" dirty="0"/>
            </a:br>
            <a:r>
              <a:rPr lang="en-US" dirty="0"/>
              <a:t>Web Programming</a:t>
            </a:r>
            <a:endParaRPr lang="en-US" b="1" dirty="0">
              <a:latin typeface="+mn-lt"/>
            </a:endParaRPr>
          </a:p>
        </p:txBody>
      </p:sp>
      <p:sp>
        <p:nvSpPr>
          <p:cNvPr id="4" name="Content Placeholder 3"/>
          <p:cNvSpPr>
            <a:spLocks noGrp="1"/>
          </p:cNvSpPr>
          <p:nvPr>
            <p:ph idx="1"/>
          </p:nvPr>
        </p:nvSpPr>
        <p:spPr/>
        <p:txBody>
          <a:bodyPr>
            <a:normAutofit/>
          </a:bodyPr>
          <a:lstStyle/>
          <a:p>
            <a:pPr>
              <a:spcAft>
                <a:spcPts val="1200"/>
              </a:spcAft>
            </a:pPr>
            <a:r>
              <a:rPr lang="en-US" dirty="0" smtClean="0"/>
              <a:t>Server-side</a:t>
            </a:r>
          </a:p>
          <a:p>
            <a:pPr lvl="1">
              <a:spcAft>
                <a:spcPts val="1200"/>
              </a:spcAft>
            </a:pPr>
            <a:r>
              <a:rPr lang="en-US" dirty="0" smtClean="0"/>
              <a:t>Processing </a:t>
            </a:r>
            <a:r>
              <a:rPr lang="en-US" dirty="0"/>
              <a:t>takes place on server </a:t>
            </a:r>
          </a:p>
          <a:p>
            <a:pPr lvl="1">
              <a:spcAft>
                <a:spcPts val="1200"/>
              </a:spcAft>
            </a:pPr>
            <a:r>
              <a:rPr lang="en-US" dirty="0"/>
              <a:t>Results sent to client as HTML</a:t>
            </a:r>
          </a:p>
          <a:p>
            <a:pPr lvl="1">
              <a:spcAft>
                <a:spcPts val="1200"/>
              </a:spcAft>
            </a:pPr>
            <a:r>
              <a:rPr lang="en-US" dirty="0"/>
              <a:t>Client does not need special software – other than a </a:t>
            </a:r>
            <a:r>
              <a:rPr lang="en-US" dirty="0" smtClean="0"/>
              <a:t>browser</a:t>
            </a:r>
            <a:endParaRPr lang="en-US" dirty="0"/>
          </a:p>
        </p:txBody>
      </p:sp>
      <p:sp>
        <p:nvSpPr>
          <p:cNvPr id="6" name="Footer Placeholder 5"/>
          <p:cNvSpPr>
            <a:spLocks noGrp="1"/>
          </p:cNvSpPr>
          <p:nvPr>
            <p:ph type="ftr" sz="quarter" idx="11"/>
          </p:nvPr>
        </p:nvSpPr>
        <p:spPr/>
        <p:txBody>
          <a:bodyPr/>
          <a:lstStyle/>
          <a:p>
            <a:r>
              <a:rPr lang="en-US"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26</a:t>
            </a:fld>
            <a:endParaRPr lang="en-US" dirty="0"/>
          </a:p>
        </p:txBody>
      </p:sp>
      <p:sp>
        <p:nvSpPr>
          <p:cNvPr id="8"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3</a:t>
            </a:r>
            <a:endParaRPr lang="en-US" sz="2400" dirty="0"/>
          </a:p>
        </p:txBody>
      </p:sp>
    </p:spTree>
    <p:extLst>
      <p:ext uri="{BB962C8B-B14F-4D97-AF65-F5344CB8AC3E}">
        <p14:creationId xmlns:p14="http://schemas.microsoft.com/office/powerpoint/2010/main" val="3545318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p:txBody>
          <a:bodyPr>
            <a:noAutofit/>
          </a:bodyPr>
          <a:lstStyle/>
          <a:p>
            <a:r>
              <a:rPr lang="en-US" b="0" dirty="0"/>
              <a:t>Tools of the Trade</a:t>
            </a:r>
            <a:r>
              <a:rPr lang="en-US" dirty="0"/>
              <a:t/>
            </a:r>
            <a:br>
              <a:rPr lang="en-US" dirty="0"/>
            </a:br>
            <a:r>
              <a:rPr lang="en-US" dirty="0"/>
              <a:t>Web Programming</a:t>
            </a:r>
            <a:endParaRPr lang="en-US" sz="3200" b="1" dirty="0">
              <a:latin typeface="+mn-lt"/>
            </a:endParaRPr>
          </a:p>
        </p:txBody>
      </p:sp>
      <p:sp>
        <p:nvSpPr>
          <p:cNvPr id="4" name="Content Placeholder 3"/>
          <p:cNvSpPr>
            <a:spLocks noGrp="1"/>
          </p:cNvSpPr>
          <p:nvPr>
            <p:ph idx="1"/>
          </p:nvPr>
        </p:nvSpPr>
        <p:spPr>
          <a:xfrm>
            <a:off x="530352" y="1295400"/>
            <a:ext cx="11509248" cy="3200400"/>
          </a:xfrm>
        </p:spPr>
        <p:txBody>
          <a:bodyPr>
            <a:normAutofit/>
          </a:bodyPr>
          <a:lstStyle/>
          <a:p>
            <a:pPr>
              <a:spcAft>
                <a:spcPts val="1200"/>
              </a:spcAft>
            </a:pPr>
            <a:r>
              <a:rPr lang="en-US" dirty="0" smtClean="0"/>
              <a:t>Client-side</a:t>
            </a:r>
          </a:p>
          <a:p>
            <a:pPr lvl="1">
              <a:spcAft>
                <a:spcPts val="1200"/>
              </a:spcAft>
            </a:pPr>
            <a:r>
              <a:rPr lang="en-US" dirty="0"/>
              <a:t>Coding is within webpage</a:t>
            </a:r>
          </a:p>
          <a:p>
            <a:pPr lvl="1">
              <a:spcAft>
                <a:spcPts val="1200"/>
              </a:spcAft>
            </a:pPr>
            <a:r>
              <a:rPr lang="en-US" dirty="0"/>
              <a:t>Downloaded to client computer</a:t>
            </a:r>
          </a:p>
          <a:p>
            <a:pPr lvl="1">
              <a:spcAft>
                <a:spcPts val="1200"/>
              </a:spcAft>
            </a:pPr>
            <a:r>
              <a:rPr lang="en-US" dirty="0"/>
              <a:t>Compiled and executed by browser or </a:t>
            </a:r>
            <a:r>
              <a:rPr lang="en-US" dirty="0" smtClean="0"/>
              <a:t>plug-in</a:t>
            </a:r>
            <a:endParaRPr lang="en-US" dirty="0"/>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27</a:t>
            </a:fld>
            <a:endParaRPr lang="en-US" dirty="0"/>
          </a:p>
        </p:txBody>
      </p:sp>
      <p:sp>
        <p:nvSpPr>
          <p:cNvPr id="8"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3</a:t>
            </a:r>
            <a:endParaRPr lang="en-US" sz="2400" dirty="0"/>
          </a:p>
        </p:txBody>
      </p:sp>
    </p:spTree>
    <p:extLst>
      <p:ext uri="{BB962C8B-B14F-4D97-AF65-F5344CB8AC3E}">
        <p14:creationId xmlns:p14="http://schemas.microsoft.com/office/powerpoint/2010/main" val="578118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p:txBody>
          <a:bodyPr>
            <a:noAutofit/>
          </a:bodyPr>
          <a:lstStyle/>
          <a:p>
            <a:r>
              <a:rPr lang="en-US" b="0" dirty="0" smtClean="0"/>
              <a:t>Tools </a:t>
            </a:r>
            <a:r>
              <a:rPr lang="en-US" b="0" dirty="0"/>
              <a:t>of the Trade</a:t>
            </a:r>
            <a:r>
              <a:rPr lang="en-US" dirty="0"/>
              <a:t/>
            </a:r>
            <a:br>
              <a:rPr lang="en-US" dirty="0"/>
            </a:br>
            <a:r>
              <a:rPr lang="en-US" dirty="0" smtClean="0"/>
              <a:t>Mobile App Features</a:t>
            </a:r>
            <a:endParaRPr lang="en-US" sz="3200" b="1" dirty="0">
              <a:latin typeface="+mn-lt"/>
            </a:endParaRPr>
          </a:p>
        </p:txBody>
      </p:sp>
      <p:sp>
        <p:nvSpPr>
          <p:cNvPr id="4" name="Content Placeholder 3"/>
          <p:cNvSpPr>
            <a:spLocks noGrp="1"/>
          </p:cNvSpPr>
          <p:nvPr>
            <p:ph idx="1"/>
          </p:nvPr>
        </p:nvSpPr>
        <p:spPr>
          <a:xfrm>
            <a:off x="530352" y="1280160"/>
            <a:ext cx="11658600" cy="5044440"/>
          </a:xfrm>
        </p:spPr>
        <p:txBody>
          <a:bodyPr>
            <a:normAutofit/>
          </a:bodyPr>
          <a:lstStyle/>
          <a:p>
            <a:pPr>
              <a:spcAft>
                <a:spcPts val="1200"/>
              </a:spcAft>
            </a:pPr>
            <a:r>
              <a:rPr lang="en-US" dirty="0" smtClean="0"/>
              <a:t>Works well</a:t>
            </a:r>
          </a:p>
          <a:p>
            <a:pPr>
              <a:spcAft>
                <a:spcPts val="1200"/>
              </a:spcAft>
            </a:pPr>
            <a:r>
              <a:rPr lang="en-US" dirty="0" smtClean="0"/>
              <a:t>Market appeal</a:t>
            </a:r>
          </a:p>
          <a:p>
            <a:pPr>
              <a:spcAft>
                <a:spcPts val="1200"/>
              </a:spcAft>
            </a:pPr>
            <a:r>
              <a:rPr lang="en-US" dirty="0" smtClean="0"/>
              <a:t>Generates income</a:t>
            </a:r>
          </a:p>
          <a:p>
            <a:pPr lvl="1">
              <a:spcAft>
                <a:spcPts val="1200"/>
              </a:spcAft>
            </a:pPr>
            <a:r>
              <a:rPr lang="en-US" dirty="0" smtClean="0"/>
              <a:t>Pay-per-download</a:t>
            </a:r>
          </a:p>
          <a:p>
            <a:pPr lvl="1">
              <a:spcAft>
                <a:spcPts val="1200"/>
              </a:spcAft>
            </a:pPr>
            <a:r>
              <a:rPr lang="en-US" dirty="0" smtClean="0"/>
              <a:t>Subscription</a:t>
            </a:r>
          </a:p>
          <a:p>
            <a:pPr lvl="1">
              <a:spcAft>
                <a:spcPts val="1200"/>
              </a:spcAft>
            </a:pPr>
            <a:r>
              <a:rPr lang="en-US" dirty="0" smtClean="0"/>
              <a:t>In-app purchases – charges for more lives or level – called micropayments</a:t>
            </a:r>
          </a:p>
          <a:p>
            <a:pPr lvl="1">
              <a:spcAft>
                <a:spcPts val="1200"/>
              </a:spcAft>
            </a:pPr>
            <a:r>
              <a:rPr lang="en-US" dirty="0" smtClean="0"/>
              <a:t>In-app advertising</a:t>
            </a:r>
          </a:p>
        </p:txBody>
      </p:sp>
      <p:sp>
        <p:nvSpPr>
          <p:cNvPr id="7" name="Footer Placeholder 6"/>
          <p:cNvSpPr>
            <a:spLocks noGrp="1"/>
          </p:cNvSpPr>
          <p:nvPr>
            <p:ph type="ftr" sz="quarter" idx="11"/>
          </p:nvPr>
        </p:nvSpPr>
        <p:spPr/>
        <p:txBody>
          <a:bodyPr/>
          <a:lstStyle/>
          <a:p>
            <a:r>
              <a:rPr lang="en-US" dirty="0"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28</a:t>
            </a:fld>
            <a:endParaRPr lang="en-US" dirty="0"/>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1295400"/>
            <a:ext cx="4357255" cy="2959302"/>
          </a:xfrm>
          <a:prstGeom prst="rect">
            <a:avLst/>
          </a:prstGeom>
        </p:spPr>
      </p:pic>
      <p:sp>
        <p:nvSpPr>
          <p:cNvPr id="11"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a:t>
            </a:r>
            <a:r>
              <a:rPr lang="en-US" sz="2400" spc="500" dirty="0"/>
              <a:t>3</a:t>
            </a:r>
            <a:endParaRPr lang="en-US" sz="2400" dirty="0"/>
          </a:p>
        </p:txBody>
      </p:sp>
    </p:spTree>
    <p:extLst>
      <p:ext uri="{BB962C8B-B14F-4D97-AF65-F5344CB8AC3E}">
        <p14:creationId xmlns:p14="http://schemas.microsoft.com/office/powerpoint/2010/main" val="1450593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Explain the Term </a:t>
            </a:r>
            <a:r>
              <a:rPr lang="en-US" i="1" dirty="0"/>
              <a:t>Artificial Intelligence</a:t>
            </a:r>
          </a:p>
        </p:txBody>
      </p:sp>
      <p:sp>
        <p:nvSpPr>
          <p:cNvPr id="8" name="Footer Placeholder 7"/>
          <p:cNvSpPr>
            <a:spLocks noGrp="1"/>
          </p:cNvSpPr>
          <p:nvPr>
            <p:ph type="ftr" sz="quarter" idx="11"/>
          </p:nvPr>
        </p:nvSpPr>
        <p:spPr/>
        <p:txBody>
          <a:bodyPr/>
          <a:lstStyle/>
          <a:p>
            <a:r>
              <a:rPr lang="en-US"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29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08860" y="1295400"/>
            <a:ext cx="8031479" cy="5196840"/>
          </a:xfrm>
          <a:prstGeom prst="rect">
            <a:avLst/>
          </a:prstGeom>
        </p:spPr>
      </p:pic>
      <p:sp>
        <p:nvSpPr>
          <p:cNvPr id="10"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4</a:t>
            </a:r>
            <a:endParaRPr lang="en-US" sz="2400" dirty="0"/>
          </a:p>
        </p:txBody>
      </p:sp>
    </p:spTree>
    <p:extLst>
      <p:ext uri="{BB962C8B-B14F-4D97-AF65-F5344CB8AC3E}">
        <p14:creationId xmlns:p14="http://schemas.microsoft.com/office/powerpoint/2010/main" val="2135202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smtClean="0"/>
              <a:t>Artificial Intelligence</a:t>
            </a:r>
            <a:r>
              <a:rPr lang="en-US" dirty="0" smtClean="0"/>
              <a:t/>
            </a:r>
            <a:br>
              <a:rPr lang="en-US" dirty="0" smtClean="0"/>
            </a:br>
            <a:r>
              <a:rPr lang="en-US" dirty="0" smtClean="0"/>
              <a:t>Applications</a:t>
            </a:r>
            <a:endParaRPr lang="en-US" dirty="0"/>
          </a:p>
        </p:txBody>
      </p:sp>
      <p:sp>
        <p:nvSpPr>
          <p:cNvPr id="2" name="Content Placeholder 1"/>
          <p:cNvSpPr>
            <a:spLocks noGrp="1"/>
          </p:cNvSpPr>
          <p:nvPr>
            <p:ph idx="1"/>
          </p:nvPr>
        </p:nvSpPr>
        <p:spPr>
          <a:xfrm>
            <a:off x="533400" y="1295401"/>
            <a:ext cx="5257800" cy="4754564"/>
          </a:xfrm>
        </p:spPr>
        <p:txBody>
          <a:bodyPr>
            <a:noAutofit/>
          </a:bodyPr>
          <a:lstStyle/>
          <a:p>
            <a:pPr>
              <a:spcAft>
                <a:spcPts val="1200"/>
              </a:spcAft>
            </a:pPr>
            <a:r>
              <a:rPr lang="en-US" dirty="0" smtClean="0"/>
              <a:t>Branch of science </a:t>
            </a:r>
          </a:p>
          <a:p>
            <a:pPr>
              <a:spcAft>
                <a:spcPts val="1200"/>
              </a:spcAft>
            </a:pPr>
            <a:r>
              <a:rPr lang="en-US" dirty="0" smtClean="0"/>
              <a:t>Uses 5G languages</a:t>
            </a:r>
          </a:p>
          <a:p>
            <a:pPr lvl="1">
              <a:spcAft>
                <a:spcPts val="1200"/>
              </a:spcAft>
              <a:buFont typeface="Wingdings" panose="05000000000000000000" pitchFamily="2" charset="2"/>
              <a:buChar char="ü"/>
            </a:pPr>
            <a:r>
              <a:rPr lang="en-US" dirty="0"/>
              <a:t>LISP</a:t>
            </a:r>
          </a:p>
          <a:p>
            <a:pPr lvl="1">
              <a:spcAft>
                <a:spcPts val="1200"/>
              </a:spcAft>
              <a:buFont typeface="Wingdings" panose="05000000000000000000" pitchFamily="2" charset="2"/>
              <a:buChar char="ü"/>
            </a:pPr>
            <a:r>
              <a:rPr lang="en-US" dirty="0" smtClean="0"/>
              <a:t>Prolog</a:t>
            </a:r>
            <a:endParaRPr lang="en-US" dirty="0"/>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6" name="Slide Number Placeholder 5"/>
          <p:cNvSpPr>
            <a:spLocks noGrp="1"/>
          </p:cNvSpPr>
          <p:nvPr>
            <p:ph type="sldNum" sz="quarter" idx="12"/>
          </p:nvPr>
        </p:nvSpPr>
        <p:spPr/>
        <p:txBody>
          <a:bodyPr/>
          <a:lstStyle/>
          <a:p>
            <a:fld id="{68F46CC4-B570-4746-ADFA-6E9E2BD9CBA4}" type="slidenum">
              <a:rPr lang="en-US" smtClean="0"/>
              <a:pPr/>
              <a:t>30</a:t>
            </a:fld>
            <a:endParaRPr lang="en-US" dirty="0"/>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24400" y="1539555"/>
            <a:ext cx="7111999" cy="4267199"/>
          </a:xfrm>
          <a:prstGeom prst="rect">
            <a:avLst/>
          </a:prstGeom>
        </p:spPr>
      </p:pic>
      <p:sp>
        <p:nvSpPr>
          <p:cNvPr id="10"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4</a:t>
            </a:r>
            <a:endParaRPr lang="en-US" sz="2400" dirty="0"/>
          </a:p>
        </p:txBody>
      </p:sp>
    </p:spTree>
    <p:extLst>
      <p:ext uri="{BB962C8B-B14F-4D97-AF65-F5344CB8AC3E}">
        <p14:creationId xmlns:p14="http://schemas.microsoft.com/office/powerpoint/2010/main" val="1020143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295400"/>
            <a:ext cx="11658600" cy="5708650"/>
          </a:xfrm>
        </p:spPr>
        <p:txBody>
          <a:bodyPr>
            <a:normAutofit/>
          </a:bodyPr>
          <a:lstStyle/>
          <a:p>
            <a:pPr>
              <a:spcAft>
                <a:spcPts val="800"/>
              </a:spcAft>
            </a:pPr>
            <a:r>
              <a:rPr lang="en-US" dirty="0" smtClean="0"/>
              <a:t>Make decisions in real-life situations</a:t>
            </a:r>
          </a:p>
          <a:p>
            <a:pPr>
              <a:spcAft>
                <a:spcPts val="800"/>
              </a:spcAft>
            </a:pPr>
            <a:r>
              <a:rPr lang="en-US" dirty="0" smtClean="0"/>
              <a:t>Simulated human judgment</a:t>
            </a:r>
          </a:p>
          <a:p>
            <a:pPr>
              <a:spcAft>
                <a:spcPts val="800"/>
              </a:spcAft>
            </a:pPr>
            <a:r>
              <a:rPr lang="en-US" dirty="0" smtClean="0"/>
              <a:t>Uses </a:t>
            </a:r>
            <a:r>
              <a:rPr lang="en-US" dirty="0"/>
              <a:t>fuzzy logic</a:t>
            </a:r>
          </a:p>
          <a:p>
            <a:pPr lvl="1">
              <a:spcAft>
                <a:spcPts val="800"/>
              </a:spcAft>
              <a:buFont typeface="Wingdings" panose="05000000000000000000" pitchFamily="2" charset="2"/>
              <a:buChar char="ü"/>
            </a:pPr>
            <a:r>
              <a:rPr lang="en-US" dirty="0"/>
              <a:t>Answers questions </a:t>
            </a:r>
            <a:r>
              <a:rPr lang="en-US" dirty="0" smtClean="0"/>
              <a:t>that do not</a:t>
            </a:r>
            <a:br>
              <a:rPr lang="en-US" dirty="0" smtClean="0"/>
            </a:br>
            <a:r>
              <a:rPr lang="en-US" dirty="0" smtClean="0"/>
              <a:t>have </a:t>
            </a:r>
            <a:r>
              <a:rPr lang="en-US" dirty="0"/>
              <a:t>clear </a:t>
            </a:r>
            <a:r>
              <a:rPr lang="en-US" dirty="0" smtClean="0"/>
              <a:t>yes </a:t>
            </a:r>
            <a:r>
              <a:rPr lang="en-US" dirty="0"/>
              <a:t>or no answer</a:t>
            </a:r>
          </a:p>
          <a:p>
            <a:pPr lvl="1">
              <a:spcAft>
                <a:spcPts val="800"/>
              </a:spcAft>
            </a:pPr>
            <a:r>
              <a:rPr lang="en-US" dirty="0"/>
              <a:t>Applications</a:t>
            </a:r>
          </a:p>
          <a:p>
            <a:pPr lvl="2">
              <a:spcAft>
                <a:spcPts val="800"/>
              </a:spcAft>
            </a:pPr>
            <a:r>
              <a:rPr lang="en-US" dirty="0"/>
              <a:t>Diagnose illness</a:t>
            </a:r>
          </a:p>
          <a:p>
            <a:pPr lvl="2">
              <a:spcAft>
                <a:spcPts val="800"/>
              </a:spcAft>
            </a:pPr>
            <a:r>
              <a:rPr lang="en-US" dirty="0" smtClean="0"/>
              <a:t>Approve mortgage applications</a:t>
            </a:r>
          </a:p>
          <a:p>
            <a:pPr lvl="2">
              <a:spcAft>
                <a:spcPts val="800"/>
              </a:spcAft>
            </a:pPr>
            <a:r>
              <a:rPr lang="en-US" dirty="0" smtClean="0"/>
              <a:t>Schedule delivery routes</a:t>
            </a:r>
          </a:p>
          <a:p>
            <a:pPr lvl="2">
              <a:spcAft>
                <a:spcPts val="800"/>
              </a:spcAft>
            </a:pPr>
            <a:r>
              <a:rPr lang="en-US" dirty="0" smtClean="0"/>
              <a:t>Play chess </a:t>
            </a:r>
            <a:endParaRPr lang="en-US" dirty="0"/>
          </a:p>
        </p:txBody>
      </p:sp>
      <p:sp>
        <p:nvSpPr>
          <p:cNvPr id="3" name="Title 2"/>
          <p:cNvSpPr>
            <a:spLocks noGrp="1"/>
          </p:cNvSpPr>
          <p:nvPr>
            <p:ph type="title"/>
          </p:nvPr>
        </p:nvSpPr>
        <p:spPr>
          <a:xfrm>
            <a:off x="533400" y="0"/>
            <a:ext cx="11658600" cy="1097280"/>
          </a:xfrm>
        </p:spPr>
        <p:txBody>
          <a:bodyPr>
            <a:noAutofit/>
          </a:bodyPr>
          <a:lstStyle/>
          <a:p>
            <a:r>
              <a:rPr lang="en-US" b="0" dirty="0"/>
              <a:t>Artificial Intelligence</a:t>
            </a:r>
            <a:r>
              <a:rPr lang="en-US" dirty="0"/>
              <a:t/>
            </a:r>
            <a:br>
              <a:rPr lang="en-US" dirty="0"/>
            </a:br>
            <a:r>
              <a:rPr lang="en-US" dirty="0" smtClean="0"/>
              <a:t>Expert Systems</a:t>
            </a:r>
            <a:endParaRPr lang="en-US" dirty="0"/>
          </a:p>
        </p:txBody>
      </p:sp>
      <p:sp>
        <p:nvSpPr>
          <p:cNvPr id="5" name="Footer Placeholder 4"/>
          <p:cNvSpPr>
            <a:spLocks noGrp="1"/>
          </p:cNvSpPr>
          <p:nvPr>
            <p:ph type="ftr" sz="quarter" idx="11"/>
          </p:nvPr>
        </p:nvSpPr>
        <p:spPr>
          <a:xfrm>
            <a:off x="3543300" y="6491606"/>
            <a:ext cx="5562600" cy="365125"/>
          </a:xfrm>
        </p:spPr>
        <p:txBody>
          <a:bodyPr/>
          <a:lstStyle/>
          <a:p>
            <a:r>
              <a:rPr lang="en-US" dirty="0" smtClean="0"/>
              <a:t>Copyright © 2017 Pearson Education, Inc.</a:t>
            </a:r>
            <a:endParaRPr lang="en-US" dirty="0"/>
          </a:p>
        </p:txBody>
      </p:sp>
      <p:sp>
        <p:nvSpPr>
          <p:cNvPr id="6" name="Slide Number Placeholder 5"/>
          <p:cNvSpPr>
            <a:spLocks noGrp="1"/>
          </p:cNvSpPr>
          <p:nvPr>
            <p:ph type="sldNum" sz="quarter" idx="12"/>
          </p:nvPr>
        </p:nvSpPr>
        <p:spPr/>
        <p:txBody>
          <a:bodyPr/>
          <a:lstStyle/>
          <a:p>
            <a:fld id="{68F46CC4-B570-4746-ADFA-6E9E2BD9CBA4}" type="slidenum">
              <a:rPr lang="en-US" smtClean="0"/>
              <a:pPr/>
              <a:t>31</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781800" y="1981200"/>
            <a:ext cx="5300132" cy="3505200"/>
          </a:xfrm>
          <a:prstGeom prst="rect">
            <a:avLst/>
          </a:prstGeom>
        </p:spPr>
      </p:pic>
      <p:sp>
        <p:nvSpPr>
          <p:cNvPr id="10"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4</a:t>
            </a:r>
            <a:endParaRPr lang="en-US" sz="2400" dirty="0"/>
          </a:p>
        </p:txBody>
      </p:sp>
    </p:spTree>
    <p:extLst>
      <p:ext uri="{BB962C8B-B14F-4D97-AF65-F5344CB8AC3E}">
        <p14:creationId xmlns:p14="http://schemas.microsoft.com/office/powerpoint/2010/main" val="90887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11658600" cy="1097280"/>
          </a:xfrm>
        </p:spPr>
        <p:txBody>
          <a:bodyPr>
            <a:noAutofit/>
          </a:bodyPr>
          <a:lstStyle/>
          <a:p>
            <a:r>
              <a:rPr lang="en-US" b="0" dirty="0"/>
              <a:t>Artificial Intelligence</a:t>
            </a:r>
            <a:r>
              <a:rPr lang="en-US" dirty="0"/>
              <a:t/>
            </a:r>
            <a:br>
              <a:rPr lang="en-US" dirty="0"/>
            </a:br>
            <a:r>
              <a:rPr lang="en-US" dirty="0" smtClean="0"/>
              <a:t>Neural Networks</a:t>
            </a:r>
            <a:endParaRPr lang="en-US" dirty="0"/>
          </a:p>
        </p:txBody>
      </p:sp>
      <p:sp>
        <p:nvSpPr>
          <p:cNvPr id="13" name="Content Placeholder 12"/>
          <p:cNvSpPr>
            <a:spLocks noGrp="1"/>
          </p:cNvSpPr>
          <p:nvPr>
            <p:ph sz="half" idx="2"/>
          </p:nvPr>
        </p:nvSpPr>
        <p:spPr>
          <a:xfrm>
            <a:off x="533400" y="1295400"/>
            <a:ext cx="11658600" cy="5287865"/>
          </a:xfrm>
        </p:spPr>
        <p:txBody>
          <a:bodyPr>
            <a:normAutofit/>
          </a:bodyPr>
          <a:lstStyle/>
          <a:p>
            <a:pPr>
              <a:spcAft>
                <a:spcPts val="1200"/>
              </a:spcAft>
            </a:pPr>
            <a:r>
              <a:rPr lang="en-US" dirty="0" smtClean="0"/>
              <a:t>Emulate </a:t>
            </a:r>
            <a:r>
              <a:rPr lang="en-US" dirty="0"/>
              <a:t>biological connections, neurons, of the human brain</a:t>
            </a:r>
          </a:p>
          <a:p>
            <a:pPr>
              <a:spcAft>
                <a:spcPts val="1200"/>
              </a:spcAft>
            </a:pPr>
            <a:r>
              <a:rPr lang="en-US" dirty="0"/>
              <a:t>Three layers</a:t>
            </a:r>
          </a:p>
          <a:p>
            <a:pPr lvl="1">
              <a:spcAft>
                <a:spcPts val="1200"/>
              </a:spcAft>
              <a:buFont typeface="Wingdings" panose="05000000000000000000" pitchFamily="2" charset="2"/>
              <a:buChar char="ü"/>
            </a:pPr>
            <a:r>
              <a:rPr lang="en-US" dirty="0"/>
              <a:t>Input layer</a:t>
            </a:r>
          </a:p>
          <a:p>
            <a:pPr lvl="1">
              <a:spcAft>
                <a:spcPts val="1200"/>
              </a:spcAft>
              <a:buFont typeface="Wingdings" panose="05000000000000000000" pitchFamily="2" charset="2"/>
              <a:buChar char="ü"/>
            </a:pPr>
            <a:r>
              <a:rPr lang="en-US" dirty="0"/>
              <a:t>Output layer</a:t>
            </a:r>
          </a:p>
          <a:p>
            <a:pPr lvl="1">
              <a:spcAft>
                <a:spcPts val="1200"/>
              </a:spcAft>
              <a:buFont typeface="Wingdings" panose="05000000000000000000" pitchFamily="2" charset="2"/>
              <a:buChar char="ü"/>
            </a:pPr>
            <a:r>
              <a:rPr lang="en-US" dirty="0"/>
              <a:t>Middle, hidden </a:t>
            </a:r>
            <a:r>
              <a:rPr lang="en-US" dirty="0" smtClean="0"/>
              <a:t>layer</a:t>
            </a:r>
            <a:endParaRPr lang="en-US" dirty="0"/>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4" name="Slide Number Placeholder 3"/>
          <p:cNvSpPr>
            <a:spLocks noGrp="1"/>
          </p:cNvSpPr>
          <p:nvPr>
            <p:ph type="sldNum" sz="quarter" idx="12"/>
          </p:nvPr>
        </p:nvSpPr>
        <p:spPr/>
        <p:txBody>
          <a:bodyPr/>
          <a:lstStyle/>
          <a:p>
            <a:fld id="{68F46CC4-B570-4746-ADFA-6E9E2BD9CBA4}" type="slidenum">
              <a:rPr lang="en-US" smtClean="0"/>
              <a:pPr/>
              <a:t>32</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086600" y="1871524"/>
            <a:ext cx="4905375" cy="4453769"/>
          </a:xfrm>
          <a:prstGeom prst="rect">
            <a:avLst/>
          </a:prstGeom>
        </p:spPr>
      </p:pic>
      <p:sp>
        <p:nvSpPr>
          <p:cNvPr id="9" name="Title 2"/>
          <p:cNvSpPr txBox="1">
            <a:spLocks/>
          </p:cNvSpPr>
          <p:nvPr/>
        </p:nvSpPr>
        <p:spPr>
          <a:xfrm>
            <a:off x="530352" y="6491606"/>
            <a:ext cx="2898648" cy="365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kern="1200">
                <a:solidFill>
                  <a:schemeClr val="tx1"/>
                </a:solidFill>
                <a:latin typeface="Georgia" pitchFamily="18" charset="0"/>
                <a:ea typeface="+mj-ea"/>
                <a:cs typeface="+mj-cs"/>
              </a:defRPr>
            </a:lvl1pPr>
          </a:lstStyle>
          <a:p>
            <a:pPr algn="l"/>
            <a:r>
              <a:rPr lang="en-US" sz="2400" spc="500" dirty="0" smtClean="0"/>
              <a:t>Objective 4</a:t>
            </a:r>
            <a:endParaRPr lang="en-US" sz="2400" dirty="0"/>
          </a:p>
        </p:txBody>
      </p:sp>
    </p:spTree>
    <p:extLst>
      <p:ext uri="{BB962C8B-B14F-4D97-AF65-F5344CB8AC3E}">
        <p14:creationId xmlns:p14="http://schemas.microsoft.com/office/powerpoint/2010/main" val="380633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pic>
        <p:nvPicPr>
          <p:cNvPr id="6" name="Content Placeholder 5" descr="epfkknaj[1]"/>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a:xfrm>
            <a:off x="4044455" y="1531778"/>
            <a:ext cx="4560289" cy="4525963"/>
          </a:xfrm>
          <a:noFill/>
          <a:ln/>
        </p:spPr>
      </p:pic>
      <p:sp>
        <p:nvSpPr>
          <p:cNvPr id="7" name="Footer Placeholder 4"/>
          <p:cNvSpPr>
            <a:spLocks noGrp="1"/>
          </p:cNvSpPr>
          <p:nvPr>
            <p:ph type="ftr" sz="quarter" idx="11"/>
          </p:nvPr>
        </p:nvSpPr>
        <p:spPr>
          <a:xfrm>
            <a:off x="3543300" y="6492239"/>
            <a:ext cx="5562600" cy="365125"/>
          </a:xfrm>
        </p:spPr>
        <p:txBody>
          <a:bodyPr/>
          <a:lstStyle/>
          <a:p>
            <a:r>
              <a:rPr lang="en-US" dirty="0" smtClean="0"/>
              <a:t>Copyright © 2017 Pearson Education, Inc.</a:t>
            </a:r>
            <a:endParaRPr lang="en-US" dirty="0"/>
          </a:p>
        </p:txBody>
      </p:sp>
      <p:sp>
        <p:nvSpPr>
          <p:cNvPr id="3" name="Slide Number Placeholder 2"/>
          <p:cNvSpPr>
            <a:spLocks noGrp="1"/>
          </p:cNvSpPr>
          <p:nvPr>
            <p:ph type="sldNum" sz="quarter" idx="12"/>
          </p:nvPr>
        </p:nvSpPr>
        <p:spPr/>
        <p:txBody>
          <a:bodyPr/>
          <a:lstStyle/>
          <a:p>
            <a:fld id="{68F46CC4-B570-4746-ADFA-6E9E2BD9CBA4}" type="slidenum">
              <a:rPr lang="en-US" smtClean="0"/>
              <a:pPr/>
              <a:t>33</a:t>
            </a:fld>
            <a:endParaRPr lang="en-US" dirty="0"/>
          </a:p>
        </p:txBody>
      </p:sp>
    </p:spTree>
    <p:extLst>
      <p:ext uri="{BB962C8B-B14F-4D97-AF65-F5344CB8AC3E}">
        <p14:creationId xmlns:p14="http://schemas.microsoft.com/office/powerpoint/2010/main" val="1057365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8077200" y="6245225"/>
            <a:ext cx="2133600" cy="476250"/>
          </a:xfrm>
          <a:prstGeom prst="rect">
            <a:avLst/>
          </a:prstGeom>
          <a:noFill/>
          <a:ln>
            <a:miter lim="800000"/>
            <a:headEnd/>
            <a:tailEnd/>
          </a:ln>
        </p:spPr>
        <p:txBody>
          <a:bodyPr anchor="b"/>
          <a:lstStyle/>
          <a:p>
            <a:pPr algn="r">
              <a:defRPr/>
            </a:pPr>
            <a:endParaRPr lang="en-US" sz="1400" dirty="0">
              <a:solidFill>
                <a:srgbClr val="000000"/>
              </a:solidFill>
              <a:effectLst>
                <a:outerShdw blurRad="38100" dist="38100" dir="2700000" algn="tl">
                  <a:srgbClr val="FFFFFF"/>
                </a:outerShdw>
              </a:effectLst>
            </a:endParaRPr>
          </a:p>
        </p:txBody>
      </p:sp>
      <p:sp>
        <p:nvSpPr>
          <p:cNvPr id="84994" name="Rectangle 3"/>
          <p:cNvSpPr>
            <a:spLocks noChangeArrowheads="1"/>
          </p:cNvSpPr>
          <p:nvPr/>
        </p:nvSpPr>
        <p:spPr bwMode="auto">
          <a:xfrm>
            <a:off x="-3725863" y="2112447"/>
            <a:ext cx="184731" cy="369332"/>
          </a:xfrm>
          <a:prstGeom prst="rect">
            <a:avLst/>
          </a:prstGeom>
          <a:noFill/>
          <a:ln w="25400">
            <a:noFill/>
            <a:miter lim="800000"/>
            <a:headEnd/>
            <a:tailEnd/>
          </a:ln>
        </p:spPr>
        <p:txBody>
          <a:bodyPr wrap="none" anchor="ctr">
            <a:spAutoFit/>
          </a:bodyPr>
          <a:lstStyle/>
          <a:p>
            <a:endParaRPr lang="en-US" dirty="0"/>
          </a:p>
        </p:txBody>
      </p:sp>
      <p:pic>
        <p:nvPicPr>
          <p:cNvPr id="84995" name="Picture 4" descr="cid:3287383400_2177562"/>
          <p:cNvPicPr>
            <a:picLocks noChangeAspect="1" noChangeArrowheads="1"/>
          </p:cNvPicPr>
          <p:nvPr/>
        </p:nvPicPr>
        <p:blipFill>
          <a:blip r:embed="rId3" r:link="rId4" cstate="screen"/>
          <a:srcRect/>
          <a:stretch>
            <a:fillRect/>
          </a:stretch>
        </p:blipFill>
        <p:spPr bwMode="auto">
          <a:xfrm>
            <a:off x="2112962" y="992031"/>
            <a:ext cx="8423275" cy="2747963"/>
          </a:xfrm>
          <a:prstGeom prst="rect">
            <a:avLst/>
          </a:prstGeom>
          <a:solidFill>
            <a:schemeClr val="hlink"/>
          </a:solidFill>
          <a:ln w="9525">
            <a:solidFill>
              <a:schemeClr val="bg1"/>
            </a:solidFill>
            <a:miter lim="800000"/>
            <a:headEnd/>
            <a:tailEnd/>
          </a:ln>
        </p:spPr>
      </p:pic>
      <p:sp>
        <p:nvSpPr>
          <p:cNvPr id="84996" name="Rectangle 5"/>
          <p:cNvSpPr>
            <a:spLocks noChangeArrowheads="1"/>
          </p:cNvSpPr>
          <p:nvPr/>
        </p:nvSpPr>
        <p:spPr bwMode="auto">
          <a:xfrm>
            <a:off x="2232025" y="3894139"/>
            <a:ext cx="7589838" cy="1069975"/>
          </a:xfrm>
          <a:prstGeom prst="rect">
            <a:avLst/>
          </a:prstGeom>
          <a:noFill/>
          <a:ln w="25400">
            <a:noFill/>
            <a:miter lim="800000"/>
            <a:headEnd/>
            <a:tailEnd/>
          </a:ln>
        </p:spPr>
        <p:txBody>
          <a:bodyPr anchor="ctr">
            <a:spAutoFit/>
          </a:bodyPr>
          <a:lstStyle/>
          <a:p>
            <a:pPr algn="ctr"/>
            <a:r>
              <a:rPr lang="en-US" sz="1600" dirty="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7" name="Footer Placeholder 6"/>
          <p:cNvSpPr>
            <a:spLocks noGrp="1"/>
          </p:cNvSpPr>
          <p:nvPr>
            <p:ph type="ftr" sz="quarter" idx="11"/>
          </p:nvPr>
        </p:nvSpPr>
        <p:spPr/>
        <p:txBody>
          <a:bodyPr/>
          <a:lstStyle/>
          <a:p>
            <a:r>
              <a:rPr lang="en-US" smtClean="0"/>
              <a:t>Copyright © 2017 Pearson Education, Inc.</a:t>
            </a:r>
            <a:endParaRPr lang="en-US" dirty="0"/>
          </a:p>
        </p:txBody>
      </p:sp>
      <p:sp>
        <p:nvSpPr>
          <p:cNvPr id="2" name="Slide Number Placeholder 1"/>
          <p:cNvSpPr>
            <a:spLocks noGrp="1"/>
          </p:cNvSpPr>
          <p:nvPr>
            <p:ph type="sldNum" sz="quarter" idx="12"/>
          </p:nvPr>
        </p:nvSpPr>
        <p:spPr/>
        <p:txBody>
          <a:bodyPr/>
          <a:lstStyle/>
          <a:p>
            <a:fld id="{68F46CC4-B570-4746-ADFA-6E9E2BD9CBA4}" type="slidenum">
              <a:rPr lang="en-US" smtClean="0"/>
              <a:pPr/>
              <a:t>34</a:t>
            </a:fld>
            <a:endParaRPr lang="en-US" dirty="0"/>
          </a:p>
        </p:txBody>
      </p:sp>
    </p:spTree>
    <p:extLst>
      <p:ext uri="{BB962C8B-B14F-4D97-AF65-F5344CB8AC3E}">
        <p14:creationId xmlns:p14="http://schemas.microsoft.com/office/powerpoint/2010/main" val="183730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mp:transition xmlns:mp="http://schemas.microsoft.com/office/mac/powerpoint/2008/main" spd="med"/>
    </mc:Fallback>
  </mc:AlternateContent>
</p:sld>
</file>

<file path=ppt/theme/theme1.xml><?xml version="1.0" encoding="utf-8"?>
<a:theme xmlns:a="http://schemas.openxmlformats.org/drawingml/2006/main" name="Office Theme">
  <a:themeElements>
    <a:clrScheme name="VT_TEMPLATE_UPDATED">
      <a:dk1>
        <a:srgbClr val="245959"/>
      </a:dk1>
      <a:lt1>
        <a:srgbClr val="ECF4F4"/>
      </a:lt1>
      <a:dk2>
        <a:srgbClr val="245959"/>
      </a:dk2>
      <a:lt2>
        <a:srgbClr val="EEECE1"/>
      </a:lt2>
      <a:accent1>
        <a:srgbClr val="1B4242"/>
      </a:accent1>
      <a:accent2>
        <a:srgbClr val="1B4242"/>
      </a:accent2>
      <a:accent3>
        <a:srgbClr val="91D2D2"/>
      </a:accent3>
      <a:accent4>
        <a:srgbClr val="003F8C"/>
      </a:accent4>
      <a:accent5>
        <a:srgbClr val="0080ED"/>
      </a:accent5>
      <a:accent6>
        <a:srgbClr val="D3E5E5"/>
      </a:accent6>
      <a:hlink>
        <a:srgbClr val="228C03"/>
      </a:hlink>
      <a:folHlink>
        <a:srgbClr val="91D2D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C472304D-8CAA-475B-A719-A79F0D81712F}" vid="{901F2DE7-553A-41D5-A854-95FD9F6BA6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VT_template</Template>
  <TotalTime>1832</TotalTime>
  <Words>3071</Words>
  <Application>Microsoft Office PowerPoint</Application>
  <PresentationFormat>Widescreen</PresentationFormat>
  <Paragraphs>411</Paragraphs>
  <Slides>34</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Century Gothic</vt:lpstr>
      <vt:lpstr>EucrosiaUPC</vt:lpstr>
      <vt:lpstr>Georgia</vt:lpstr>
      <vt:lpstr>Times New Roman</vt:lpstr>
      <vt:lpstr>Wingdings</vt:lpstr>
      <vt:lpstr>Office Theme</vt:lpstr>
      <vt:lpstr>PowerPoint Presentation</vt:lpstr>
      <vt:lpstr>Objectives</vt:lpstr>
      <vt:lpstr>Describe the System Development Life Cycle</vt:lpstr>
      <vt:lpstr>Getting from Idea to Product System Development Life Cycle</vt:lpstr>
      <vt:lpstr>Getting from Idea to Product System Development Life Cycle</vt:lpstr>
      <vt:lpstr>Getting from Idea to Product System Development Life Cycle</vt:lpstr>
      <vt:lpstr>Getting from Idea to Product System Development Life Cycle</vt:lpstr>
      <vt:lpstr>Getting from Idea to Product System Development Life Cycle</vt:lpstr>
      <vt:lpstr>Getting from Idea to Product System Development Life Cycle</vt:lpstr>
      <vt:lpstr>Getting from Idea to Product System Development Life Cycle</vt:lpstr>
      <vt:lpstr>Getting from Idea to Product Other Development Models</vt:lpstr>
      <vt:lpstr>Describe the Program Development Cycle</vt:lpstr>
      <vt:lpstr>Coding the System Program Development Cycle</vt:lpstr>
      <vt:lpstr>Coding the System Program Development Cycle</vt:lpstr>
      <vt:lpstr>Coding the System Program Development Cycle</vt:lpstr>
      <vt:lpstr>Coding the System Program Development Cycle</vt:lpstr>
      <vt:lpstr>Coding the System Program Development Cycle</vt:lpstr>
      <vt:lpstr>Coding the System Program Development Cycle</vt:lpstr>
      <vt:lpstr>Coding the System Program Development Cycle</vt:lpstr>
      <vt:lpstr>Coding the System Program Development Cycle</vt:lpstr>
      <vt:lpstr>Compare Various Programming Languages</vt:lpstr>
      <vt:lpstr>Tools of the Trade Programming Languages</vt:lpstr>
      <vt:lpstr>Tools of the Trade Programming Languages</vt:lpstr>
      <vt:lpstr>Tools of the Trade Programming Tools</vt:lpstr>
      <vt:lpstr>Tools of the Trade Web Programming</vt:lpstr>
      <vt:lpstr>Tools of the Trade Web Programming</vt:lpstr>
      <vt:lpstr>Tools of the Trade Web Programming</vt:lpstr>
      <vt:lpstr>Tools of the Trade Mobile App Features</vt:lpstr>
      <vt:lpstr>Explain the Term Artificial Intelligence</vt:lpstr>
      <vt:lpstr>Artificial Intelligence Applications</vt:lpstr>
      <vt:lpstr>Artificial Intelligence Expert Systems</vt:lpstr>
      <vt:lpstr>Artificial Intelligence Neural Networks</vt:lpstr>
      <vt:lpstr>Questions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JLB</dc:creator>
  <cp:lastModifiedBy>cherylslavik@sbcglobal.net</cp:lastModifiedBy>
  <cp:revision>205</cp:revision>
  <dcterms:created xsi:type="dcterms:W3CDTF">2014-04-17T23:26:31Z</dcterms:created>
  <dcterms:modified xsi:type="dcterms:W3CDTF">2016-02-25T08:47:12Z</dcterms:modified>
</cp:coreProperties>
</file>