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59" r:id="rId6"/>
    <p:sldId id="275" r:id="rId7"/>
    <p:sldId id="264" r:id="rId8"/>
    <p:sldId id="276" r:id="rId9"/>
    <p:sldId id="263" r:id="rId10"/>
    <p:sldId id="277" r:id="rId11"/>
    <p:sldId id="265" r:id="rId12"/>
    <p:sldId id="260" r:id="rId13"/>
    <p:sldId id="278" r:id="rId14"/>
    <p:sldId id="261" r:id="rId15"/>
    <p:sldId id="266" r:id="rId16"/>
    <p:sldId id="267" r:id="rId17"/>
    <p:sldId id="268" r:id="rId18"/>
    <p:sldId id="269" r:id="rId19"/>
    <p:sldId id="270" r:id="rId20"/>
    <p:sldId id="272" r:id="rId21"/>
    <p:sldId id="273" r:id="rId22"/>
    <p:sldId id="274"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A098D0-D0A4-45D1-B0DD-B48CC4D8229C}" type="datetimeFigureOut">
              <a:rPr lang="en-US" smtClean="0"/>
              <a:t>6/26/2019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2153061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A098D0-D0A4-45D1-B0DD-B48CC4D8229C}" type="datetimeFigureOut">
              <a:rPr lang="en-US" smtClean="0"/>
              <a:t>6/26/2019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3309579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A098D0-D0A4-45D1-B0DD-B48CC4D8229C}" type="datetimeFigureOut">
              <a:rPr lang="en-US" smtClean="0"/>
              <a:t>6/26/2019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1130496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A098D0-D0A4-45D1-B0DD-B48CC4D8229C}" type="datetimeFigureOut">
              <a:rPr lang="en-US" smtClean="0"/>
              <a:t>6/26/2019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2588652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A098D0-D0A4-45D1-B0DD-B48CC4D8229C}" type="datetimeFigureOut">
              <a:rPr lang="en-US" smtClean="0"/>
              <a:t>6/26/2019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1677714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A098D0-D0A4-45D1-B0DD-B48CC4D8229C}" type="datetimeFigureOut">
              <a:rPr lang="en-US" smtClean="0"/>
              <a:t>6/26/2019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532796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A098D0-D0A4-45D1-B0DD-B48CC4D8229C}" type="datetimeFigureOut">
              <a:rPr lang="en-US" smtClean="0"/>
              <a:t>6/26/2019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3580140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A098D0-D0A4-45D1-B0DD-B48CC4D8229C}" type="datetimeFigureOut">
              <a:rPr lang="en-US" smtClean="0"/>
              <a:t>6/26/2019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935025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A098D0-D0A4-45D1-B0DD-B48CC4D8229C}" type="datetimeFigureOut">
              <a:rPr lang="en-US" smtClean="0"/>
              <a:t>6/26/2019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4257627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A098D0-D0A4-45D1-B0DD-B48CC4D8229C}" type="datetimeFigureOut">
              <a:rPr lang="en-US" smtClean="0"/>
              <a:t>6/26/2019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1389034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A098D0-D0A4-45D1-B0DD-B48CC4D8229C}" type="datetimeFigureOut">
              <a:rPr lang="en-US" smtClean="0"/>
              <a:t>6/26/2019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B91CDC-49B8-4AFC-BAC0-5700DC177C41}" type="slidenum">
              <a:rPr lang="en-US" smtClean="0"/>
              <a:t>‹#›</a:t>
            </a:fld>
            <a:endParaRPr lang="en-US"/>
          </a:p>
        </p:txBody>
      </p:sp>
    </p:spTree>
    <p:extLst>
      <p:ext uri="{BB962C8B-B14F-4D97-AF65-F5344CB8AC3E}">
        <p14:creationId xmlns:p14="http://schemas.microsoft.com/office/powerpoint/2010/main" val="2632092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A098D0-D0A4-45D1-B0DD-B48CC4D8229C}" type="datetimeFigureOut">
              <a:rPr lang="en-US" smtClean="0"/>
              <a:t>6/26/2019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B91CDC-49B8-4AFC-BAC0-5700DC177C41}" type="slidenum">
              <a:rPr lang="en-US" smtClean="0"/>
              <a:t>‹#›</a:t>
            </a:fld>
            <a:endParaRPr lang="en-US"/>
          </a:p>
        </p:txBody>
      </p:sp>
    </p:spTree>
    <p:extLst>
      <p:ext uri="{BB962C8B-B14F-4D97-AF65-F5344CB8AC3E}">
        <p14:creationId xmlns:p14="http://schemas.microsoft.com/office/powerpoint/2010/main" val="2463041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39958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Structured Programming</a:t>
            </a:r>
            <a:endParaRPr lang="en-US" dirty="0"/>
          </a:p>
        </p:txBody>
      </p:sp>
      <p:sp>
        <p:nvSpPr>
          <p:cNvPr id="3" name="Content Placeholder 2"/>
          <p:cNvSpPr>
            <a:spLocks noGrp="1"/>
          </p:cNvSpPr>
          <p:nvPr>
            <p:ph idx="1"/>
          </p:nvPr>
        </p:nvSpPr>
        <p:spPr/>
        <p:txBody>
          <a:bodyPr>
            <a:normAutofit/>
          </a:bodyPr>
          <a:lstStyle/>
          <a:p>
            <a:r>
              <a:rPr lang="en-US" dirty="0"/>
              <a:t>Structured programming is a procedural programming subset that reduces the need for </a:t>
            </a:r>
            <a:r>
              <a:rPr lang="en-US" dirty="0" err="1"/>
              <a:t>goto</a:t>
            </a:r>
            <a:r>
              <a:rPr lang="en-US" dirty="0"/>
              <a:t> statements. </a:t>
            </a:r>
            <a:endParaRPr lang="en-US" dirty="0" smtClean="0"/>
          </a:p>
          <a:p>
            <a:r>
              <a:rPr lang="en-US" dirty="0" smtClean="0"/>
              <a:t>Enforces a logical structure on the program being written to make it more efficient and easier to understand and modify.</a:t>
            </a:r>
          </a:p>
          <a:p>
            <a:r>
              <a:rPr lang="en-US" dirty="0" smtClean="0"/>
              <a:t>In </a:t>
            </a:r>
            <a:r>
              <a:rPr lang="en-US" dirty="0"/>
              <a:t>many ways, OOP is considered a type of structured programming that deploys structured programming techniques. </a:t>
            </a:r>
            <a:endParaRPr lang="en-US" dirty="0" smtClean="0"/>
          </a:p>
        </p:txBody>
      </p:sp>
    </p:spTree>
    <p:extLst>
      <p:ext uri="{BB962C8B-B14F-4D97-AF65-F5344CB8AC3E}">
        <p14:creationId xmlns:p14="http://schemas.microsoft.com/office/powerpoint/2010/main" val="1407389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structured programming languages</a:t>
            </a:r>
            <a:endParaRPr lang="en-US" dirty="0"/>
          </a:p>
        </p:txBody>
      </p:sp>
      <p:sp>
        <p:nvSpPr>
          <p:cNvPr id="3" name="Content Placeholder 2"/>
          <p:cNvSpPr>
            <a:spLocks noGrp="1"/>
          </p:cNvSpPr>
          <p:nvPr>
            <p:ph idx="1"/>
          </p:nvPr>
        </p:nvSpPr>
        <p:spPr/>
        <p:txBody>
          <a:bodyPr/>
          <a:lstStyle/>
          <a:p>
            <a:r>
              <a:rPr lang="en-US" dirty="0" smtClean="0"/>
              <a:t>COBOL</a:t>
            </a:r>
          </a:p>
          <a:p>
            <a:r>
              <a:rPr lang="en-US" dirty="0" smtClean="0"/>
              <a:t>PASCAL</a:t>
            </a:r>
          </a:p>
          <a:p>
            <a:r>
              <a:rPr lang="en-US" dirty="0" smtClean="0"/>
              <a:t>ADA and</a:t>
            </a:r>
          </a:p>
          <a:p>
            <a:r>
              <a:rPr lang="en-US" dirty="0" smtClean="0"/>
              <a:t>Algorithmic Language (ALGOL) </a:t>
            </a:r>
          </a:p>
          <a:p>
            <a:r>
              <a:rPr lang="en-US" dirty="0" smtClean="0"/>
              <a:t>Are designed to enforce structured programming.</a:t>
            </a:r>
          </a:p>
          <a:p>
            <a:endParaRPr lang="en-US" dirty="0"/>
          </a:p>
        </p:txBody>
      </p:sp>
    </p:spTree>
    <p:extLst>
      <p:ext uri="{BB962C8B-B14F-4D97-AF65-F5344CB8AC3E}">
        <p14:creationId xmlns:p14="http://schemas.microsoft.com/office/powerpoint/2010/main" val="605223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a:t>
            </a:r>
            <a:endParaRPr lang="en-US" dirty="0"/>
          </a:p>
        </p:txBody>
      </p:sp>
      <p:sp>
        <p:nvSpPr>
          <p:cNvPr id="3" name="Content Placeholder 2"/>
          <p:cNvSpPr>
            <a:spLocks noGrp="1"/>
          </p:cNvSpPr>
          <p:nvPr>
            <p:ph idx="1"/>
          </p:nvPr>
        </p:nvSpPr>
        <p:spPr/>
        <p:txBody>
          <a:bodyPr/>
          <a:lstStyle/>
          <a:p>
            <a:r>
              <a:rPr lang="en-US" dirty="0" smtClean="0"/>
              <a:t>The structured programming concept was formalized in 1966 by </a:t>
            </a:r>
            <a:r>
              <a:rPr lang="en-US" dirty="0" err="1" smtClean="0"/>
              <a:t>Corrado</a:t>
            </a:r>
            <a:r>
              <a:rPr lang="en-US" dirty="0" smtClean="0"/>
              <a:t> </a:t>
            </a:r>
            <a:r>
              <a:rPr lang="en-US" dirty="0" err="1" smtClean="0"/>
              <a:t>Böhm</a:t>
            </a:r>
            <a:r>
              <a:rPr lang="en-US" dirty="0" smtClean="0"/>
              <a:t> and Giuseppe </a:t>
            </a:r>
            <a:r>
              <a:rPr lang="en-US" dirty="0" err="1" smtClean="0"/>
              <a:t>Jacopini</a:t>
            </a:r>
            <a:r>
              <a:rPr lang="en-US" dirty="0" smtClean="0"/>
              <a:t>, who demonstrated theoretical computer program design through loops, sequences and decisions. In the late 1960s-early 1970s, </a:t>
            </a:r>
            <a:r>
              <a:rPr lang="en-US" dirty="0" err="1" smtClean="0"/>
              <a:t>Edsger</a:t>
            </a:r>
            <a:r>
              <a:rPr lang="en-US" dirty="0" smtClean="0"/>
              <a:t> </a:t>
            </a:r>
            <a:r>
              <a:rPr lang="en-US" dirty="0" err="1" smtClean="0"/>
              <a:t>W.Dijkstra</a:t>
            </a:r>
            <a:r>
              <a:rPr lang="en-US" dirty="0" smtClean="0"/>
              <a:t> developed structural programming functionality as a widely used method, in which a program is divided into multiple sections with multiple exits and one access point.</a:t>
            </a:r>
          </a:p>
          <a:p>
            <a:r>
              <a:rPr lang="en-US" dirty="0" smtClean="0"/>
              <a:t>Modular programming is another example of structural programming, where a program is divided into interactive modules.</a:t>
            </a:r>
            <a:endParaRPr lang="en-US" dirty="0"/>
          </a:p>
        </p:txBody>
      </p:sp>
    </p:spTree>
    <p:extLst>
      <p:ext uri="{BB962C8B-B14F-4D97-AF65-F5344CB8AC3E}">
        <p14:creationId xmlns:p14="http://schemas.microsoft.com/office/powerpoint/2010/main" val="537786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programming languages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Computer programming is essential in our world today, running the systems for almost every device we use. Computer programming languages allow us to tell machines what to do. Machines and humans “think” very differently, so programming languages are necessary to bridge that gap.</a:t>
            </a:r>
          </a:p>
          <a:p>
            <a:r>
              <a:rPr lang="en-US" dirty="0" smtClean="0"/>
              <a:t>The first computer programming language was created in 1883, when a woman named Ada Lovelace worked with Charles Babbage on his very early mechanical computer, the Analytical Engine. While Babbage was concerned with simply computing numbers, Lovelace saw that the numbers the computer worked with could represent something other than just amounts of things. She wrote an algorithm for the Analytical Engine that was the first of its kind. Because of her contribution, Lovelace is credited with creating the first computer programming language. As different needs have arisen and new devices have been created, many more languages have followed.</a:t>
            </a:r>
          </a:p>
          <a:p>
            <a:endParaRPr lang="en-US" dirty="0" smtClean="0"/>
          </a:p>
          <a:p>
            <a:endParaRPr lang="en-US" dirty="0" smtClean="0"/>
          </a:p>
        </p:txBody>
      </p:sp>
    </p:spTree>
    <p:extLst>
      <p:ext uri="{BB962C8B-B14F-4D97-AF65-F5344CB8AC3E}">
        <p14:creationId xmlns:p14="http://schemas.microsoft.com/office/powerpoint/2010/main" val="1458294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1883: Algorithm for the Analytical Engine: Created by Ada Lovelace for Charles Babbage’s Analytical Engine to compute Bernoulli numbers, it’s considered to be the first computer programming language.</a:t>
            </a:r>
          </a:p>
          <a:p>
            <a:r>
              <a:rPr lang="en-US" dirty="0" smtClean="0"/>
              <a:t>1949: Assembly Language: First widely used in the Electronic Delay Storage Automatic Calculator, assembly language is a type of low-level computer programming language that simplifies the language of machine code, the specific instructions needed to tell the computer what to do.</a:t>
            </a:r>
          </a:p>
          <a:p>
            <a:r>
              <a:rPr lang="en-US" dirty="0" smtClean="0"/>
              <a:t>1952: </a:t>
            </a:r>
            <a:r>
              <a:rPr lang="en-US" dirty="0" err="1" smtClean="0"/>
              <a:t>Autocode</a:t>
            </a:r>
            <a:r>
              <a:rPr lang="en-US" dirty="0" smtClean="0"/>
              <a:t>: </a:t>
            </a:r>
            <a:r>
              <a:rPr lang="en-US" dirty="0" err="1" smtClean="0"/>
              <a:t>Autocode</a:t>
            </a:r>
            <a:r>
              <a:rPr lang="en-US" dirty="0" smtClean="0"/>
              <a:t> was a generic term for a family of early computer programming languages. The first was developed by </a:t>
            </a:r>
            <a:r>
              <a:rPr lang="en-US" dirty="0" err="1" smtClean="0"/>
              <a:t>Alick</a:t>
            </a:r>
            <a:r>
              <a:rPr lang="en-US" dirty="0" smtClean="0"/>
              <a:t> </a:t>
            </a:r>
            <a:r>
              <a:rPr lang="en-US" dirty="0" err="1" smtClean="0"/>
              <a:t>Glennie</a:t>
            </a:r>
            <a:r>
              <a:rPr lang="en-US" dirty="0" smtClean="0"/>
              <a:t> for the Mark 1 computer at the University of Manchester in the U.K. Some consider </a:t>
            </a:r>
            <a:r>
              <a:rPr lang="en-US" dirty="0" err="1" smtClean="0"/>
              <a:t>autocode</a:t>
            </a:r>
            <a:r>
              <a:rPr lang="en-US" dirty="0" smtClean="0"/>
              <a:t> to be the first compiled computer programming language, meaning that it can be translated directly into machine code using a program called a compiler.</a:t>
            </a:r>
          </a:p>
        </p:txBody>
      </p:sp>
    </p:spTree>
    <p:extLst>
      <p:ext uri="{BB962C8B-B14F-4D97-AF65-F5344CB8AC3E}">
        <p14:creationId xmlns:p14="http://schemas.microsoft.com/office/powerpoint/2010/main" val="3557411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1957: Fortran: A computer programming language created by John Backus for complicated scientific, mathematical, and statistical work, Fortran stands for Formula Translation. It is the one of the oldest computer programming languages still used today.</a:t>
            </a:r>
          </a:p>
          <a:p>
            <a:r>
              <a:rPr lang="en-US" dirty="0" smtClean="0"/>
              <a:t>1958: </a:t>
            </a:r>
            <a:r>
              <a:rPr lang="en-US" dirty="0" err="1" smtClean="0"/>
              <a:t>Algol</a:t>
            </a:r>
            <a:r>
              <a:rPr lang="en-US" dirty="0" smtClean="0"/>
              <a:t>: Created by a committee for scientific use, </a:t>
            </a:r>
            <a:r>
              <a:rPr lang="en-US" dirty="0" err="1" smtClean="0"/>
              <a:t>Algol</a:t>
            </a:r>
            <a:r>
              <a:rPr lang="en-US" dirty="0" smtClean="0"/>
              <a:t> stands for Algorithmic Language. </a:t>
            </a:r>
          </a:p>
          <a:p>
            <a:r>
              <a:rPr lang="en-US" dirty="0" err="1" smtClean="0"/>
              <a:t>Algol</a:t>
            </a:r>
            <a:r>
              <a:rPr lang="en-US" dirty="0" smtClean="0"/>
              <a:t> served as a starting point in the development of languages such as Pascal, C, C++, and Java.</a:t>
            </a:r>
          </a:p>
          <a:p>
            <a:r>
              <a:rPr lang="en-US" dirty="0" smtClean="0"/>
              <a:t>1959: COBOL: Created by Dr. Grace Murray Hopper as a computer programming language that could run on all brands and types of computers, COBOL stands for </a:t>
            </a:r>
            <a:r>
              <a:rPr lang="en-US" dirty="0" err="1" smtClean="0"/>
              <a:t>COmmon</a:t>
            </a:r>
            <a:r>
              <a:rPr lang="en-US" dirty="0" smtClean="0"/>
              <a:t> Business Oriented Language. It is used in ATMs, credit card processing, telephone systems, hospital and government computers, automotive systems, and traffic signals. In the movie The Terminator, pieces of COBOL source code were used in the Terminator’s vision display.</a:t>
            </a:r>
          </a:p>
          <a:p>
            <a:pPr marL="0" indent="0">
              <a:buNone/>
            </a:pPr>
            <a:endParaRPr lang="en-US" dirty="0" smtClean="0"/>
          </a:p>
        </p:txBody>
      </p:sp>
    </p:spTree>
    <p:extLst>
      <p:ext uri="{BB962C8B-B14F-4D97-AF65-F5344CB8AC3E}">
        <p14:creationId xmlns:p14="http://schemas.microsoft.com/office/powerpoint/2010/main" val="3333515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1959: LISP: Created by John McCarthy of MIT, LISP is still in use. It stands for </a:t>
            </a:r>
            <a:r>
              <a:rPr lang="en-US" dirty="0" err="1" smtClean="0"/>
              <a:t>LISt</a:t>
            </a:r>
            <a:r>
              <a:rPr lang="en-US" dirty="0" smtClean="0"/>
              <a:t> Processing language. It was originally created for artificial intelligence research but today can be used in situations where Ruby or Python are used.</a:t>
            </a:r>
          </a:p>
          <a:p>
            <a:r>
              <a:rPr lang="en-US" dirty="0" smtClean="0"/>
              <a:t>1964: BASIC: Developed by John G. </a:t>
            </a:r>
            <a:r>
              <a:rPr lang="en-US" dirty="0" err="1" smtClean="0"/>
              <a:t>Kemeny</a:t>
            </a:r>
            <a:r>
              <a:rPr lang="en-US" dirty="0" smtClean="0"/>
              <a:t> and Thomas E. Kurtz at Dartmouth College so that students who did not have a strong technical or mathematical understanding could still use computers, it stands for Beginner’s All-purpose Symbolic Instruction Code. A modified version of BASIC was written by Bill Gates and Paul Allen. This was to become the first Microsoft product.</a:t>
            </a:r>
          </a:p>
          <a:p>
            <a:r>
              <a:rPr lang="en-US" dirty="0" smtClean="0"/>
              <a:t>1970: Pascal: Developed by </a:t>
            </a:r>
            <a:r>
              <a:rPr lang="en-US" dirty="0" err="1" smtClean="0"/>
              <a:t>Niklaus</a:t>
            </a:r>
            <a:r>
              <a:rPr lang="en-US" dirty="0" smtClean="0"/>
              <a:t> Wirth, Pascal was named in honor of the French mathematician, physicist, and philosopher Blaise Pascal. It is easy to learn and was originally created as a tool for teaching computer programming. Pascal was the main language used for software development in Apple’s early years.</a:t>
            </a:r>
          </a:p>
        </p:txBody>
      </p:sp>
    </p:spTree>
    <p:extLst>
      <p:ext uri="{BB962C8B-B14F-4D97-AF65-F5344CB8AC3E}">
        <p14:creationId xmlns:p14="http://schemas.microsoft.com/office/powerpoint/2010/main" val="2197073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1972: Smalltalk: Developed by Alan Kay, Adele Goldberg, and Dan Ingalls at Xerox Palo Alto Research Center, Smalltalk allowed computer programmers to modify code on the fly and also introduced other aspects now present in common computer programming languages including Python, Java, and Ruby.</a:t>
            </a:r>
          </a:p>
          <a:p>
            <a:r>
              <a:rPr lang="en-US" dirty="0" smtClean="0"/>
              <a:t>1972: C: Developed by Dennis Ritchie at Bell Labs, C is considered by many to be the first high-level language. A high-level computer programming language is closer to human language and more removed from the machine code. C was created so that an operating system called Unix could be used on many different types of computers. It has influenced many other languages, including Ruby, C#, Go, Java, JavaScript, Perl, PHP, and Python.</a:t>
            </a:r>
          </a:p>
          <a:p>
            <a:r>
              <a:rPr lang="en-US" dirty="0" smtClean="0"/>
              <a:t>1972: SQL: SQL was developed by Donald D. Chamberlin and Raymond F. Boyce at IBM. SQL stands for Structured Query Language. It is used for viewing and changing information that is stored in databases. SQL uses command sentences called queries to add, remove, or view data.</a:t>
            </a:r>
          </a:p>
          <a:p>
            <a:endParaRPr lang="en-US" dirty="0"/>
          </a:p>
        </p:txBody>
      </p:sp>
    </p:spTree>
    <p:extLst>
      <p:ext uri="{BB962C8B-B14F-4D97-AF65-F5344CB8AC3E}">
        <p14:creationId xmlns:p14="http://schemas.microsoft.com/office/powerpoint/2010/main" val="2862468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1978: MATLAB: Developed by Cleve </a:t>
            </a:r>
            <a:r>
              <a:rPr lang="en-US" dirty="0" err="1" smtClean="0"/>
              <a:t>Moler</a:t>
            </a:r>
            <a:r>
              <a:rPr lang="en-US" dirty="0" smtClean="0"/>
              <a:t>. MATLAB stands for Matrix Laboratory. It is one of the best computer programming languages for writing mathematical programs and is mainly used in mathematics, research, and education. It can also be used to create two- and three-dimensional graphics.</a:t>
            </a:r>
          </a:p>
          <a:p>
            <a:r>
              <a:rPr lang="en-US" dirty="0" smtClean="0"/>
              <a:t>1983: Objective-C: Created by Brad Cox and Tom Love, Objective-C is the main computer programming language used when writing software for </a:t>
            </a:r>
            <a:r>
              <a:rPr lang="en-US" dirty="0" err="1" smtClean="0"/>
              <a:t>macOS</a:t>
            </a:r>
            <a:r>
              <a:rPr lang="en-US" dirty="0" smtClean="0"/>
              <a:t> and </a:t>
            </a:r>
            <a:r>
              <a:rPr lang="en-US" dirty="0" err="1" smtClean="0"/>
              <a:t>iOS</a:t>
            </a:r>
            <a:r>
              <a:rPr lang="en-US" dirty="0" smtClean="0"/>
              <a:t>, Apple’s operating systems.</a:t>
            </a:r>
          </a:p>
          <a:p>
            <a:r>
              <a:rPr lang="en-US" dirty="0" smtClean="0"/>
              <a:t>1983: C++: C++ is an extension of the C language and was developed by </a:t>
            </a:r>
            <a:r>
              <a:rPr lang="en-US" dirty="0" err="1" smtClean="0"/>
              <a:t>Bjarne</a:t>
            </a:r>
            <a:r>
              <a:rPr lang="en-US" dirty="0" smtClean="0"/>
              <a:t> </a:t>
            </a:r>
            <a:r>
              <a:rPr lang="en-US" dirty="0" err="1" smtClean="0"/>
              <a:t>Stroustrup</a:t>
            </a:r>
            <a:r>
              <a:rPr lang="en-US" dirty="0" smtClean="0"/>
              <a:t>. It is one of the most widely used languages in the world. C++ is used in game engines and high-performance software like Adobe Photoshop. Most packaged software is still written in C++.</a:t>
            </a:r>
          </a:p>
          <a:p>
            <a:endParaRPr lang="en-US" dirty="0"/>
          </a:p>
        </p:txBody>
      </p:sp>
    </p:spTree>
    <p:extLst>
      <p:ext uri="{BB962C8B-B14F-4D97-AF65-F5344CB8AC3E}">
        <p14:creationId xmlns:p14="http://schemas.microsoft.com/office/powerpoint/2010/main" val="1533741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smtClean="0"/>
              <a:t>1987: Perl: Perl was originally developed by Larry Wall in 1987 as a scripting language designed for text editing. Its purpose was to make report processing easier. It is now widely used for many purposes, including Linux system administration, Web development, and network programming.</a:t>
            </a:r>
          </a:p>
          <a:p>
            <a:r>
              <a:rPr lang="en-US" dirty="0" smtClean="0"/>
              <a:t>1990: Haskell: Named after Haskell Brooks Curry, an American logician and mathematician. Haskell is called a purely functional computer programming language, which basically means that it is mostly mathematical. It is used by many industries, especially those that deal with complicated calculations, records, and number-crunching.</a:t>
            </a:r>
          </a:p>
          <a:p>
            <a:r>
              <a:rPr lang="en-US" dirty="0" smtClean="0"/>
              <a:t>1991: Python: Designed by Guido Van </a:t>
            </a:r>
            <a:r>
              <a:rPr lang="en-US" dirty="0" err="1" smtClean="0"/>
              <a:t>Rossum</a:t>
            </a:r>
            <a:r>
              <a:rPr lang="en-US" dirty="0" smtClean="0"/>
              <a:t>, Python is easier to read and requires fewer lines of code than many other computer programming languages. It was named after the British comedy group Monty Python. Popular sites like </a:t>
            </a:r>
            <a:r>
              <a:rPr lang="en-US" dirty="0" err="1" smtClean="0"/>
              <a:t>Instagram</a:t>
            </a:r>
            <a:r>
              <a:rPr lang="en-US" dirty="0" smtClean="0"/>
              <a:t> use frameworks that are written in Python.</a:t>
            </a:r>
          </a:p>
          <a:p>
            <a:r>
              <a:rPr lang="en-US" dirty="0" smtClean="0"/>
              <a:t>1991: Visual Basic: Developed by Microsoft, Visual Basic allows programmers to choose and change pre-selected chunks of code in a drag-and-drop fashion through a graphical user interface (GUI).</a:t>
            </a:r>
          </a:p>
          <a:p>
            <a:r>
              <a:rPr lang="en-US" dirty="0" smtClean="0"/>
              <a:t>1993: R: Developed by Ross </a:t>
            </a:r>
            <a:r>
              <a:rPr lang="en-US" dirty="0" err="1" smtClean="0"/>
              <a:t>Ihaka</a:t>
            </a:r>
            <a:r>
              <a:rPr lang="en-US" dirty="0" smtClean="0"/>
              <a:t> and Robert Gentleman at the University of Auckland, New Zealand, R is named after the first names of the first two authors. It is mostly used by statisticians and those performing different types of data analysis.</a:t>
            </a:r>
          </a:p>
          <a:p>
            <a:r>
              <a:rPr lang="en-US" dirty="0" smtClean="0"/>
              <a:t>1995: Java: Originally called Oak, Java was developed by Sun Microsystems. It was intended for cable boxes and hand-held devices but was later enhanced so it could be used to deliver information on the World Wide Web. Java is everywhere, from computers to smartphones to parking meters. Three billion devices run Java!</a:t>
            </a:r>
          </a:p>
        </p:txBody>
      </p:sp>
    </p:spTree>
    <p:extLst>
      <p:ext uri="{BB962C8B-B14F-4D97-AF65-F5344CB8AC3E}">
        <p14:creationId xmlns:p14="http://schemas.microsoft.com/office/powerpoint/2010/main" val="1796953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1995: PHP: Created by </a:t>
            </a:r>
            <a:r>
              <a:rPr lang="en-US" dirty="0" err="1" smtClean="0"/>
              <a:t>Rasmus</a:t>
            </a:r>
            <a:r>
              <a:rPr lang="en-US" dirty="0" smtClean="0"/>
              <a:t> </a:t>
            </a:r>
            <a:r>
              <a:rPr lang="en-US" dirty="0" err="1" smtClean="0"/>
              <a:t>Lerdorf</a:t>
            </a:r>
            <a:r>
              <a:rPr lang="en-US" dirty="0" smtClean="0"/>
              <a:t>, PHP is used mostly for Web development and is usually run on Web servers. It originally stood for Personal Home Page, as it was used by </a:t>
            </a:r>
            <a:r>
              <a:rPr lang="en-US" dirty="0" err="1" smtClean="0"/>
              <a:t>Lerdorf</a:t>
            </a:r>
            <a:r>
              <a:rPr lang="en-US" dirty="0" smtClean="0"/>
              <a:t> to manage his own online information. PHP is now widely used to build websites and blogs. WordPress, a popular website creation tool, is written using PHP.</a:t>
            </a:r>
          </a:p>
          <a:p>
            <a:r>
              <a:rPr lang="en-US" dirty="0" smtClean="0"/>
              <a:t>1995: Ruby: Ruby was created by Yukihiro “</a:t>
            </a:r>
            <a:r>
              <a:rPr lang="en-US" dirty="0" err="1" smtClean="0"/>
              <a:t>Matz</a:t>
            </a:r>
            <a:r>
              <a:rPr lang="en-US" dirty="0" smtClean="0"/>
              <a:t>” Matsumoto, who combined parts of his favorite languages to form a new general-purpose computer programming language that can perform many programming tasks. It is popular in Web application development. Ruby code executes more slowly, but it allows for computer programmers to quickly put together and run a program.</a:t>
            </a:r>
          </a:p>
          <a:p>
            <a:r>
              <a:rPr lang="en-US" dirty="0" smtClean="0"/>
              <a:t>1995: JavaScript: Created in just 10 days by Brendan </a:t>
            </a:r>
            <a:r>
              <a:rPr lang="en-US" dirty="0" err="1" smtClean="0"/>
              <a:t>Eich</a:t>
            </a:r>
            <a:r>
              <a:rPr lang="en-US" dirty="0" smtClean="0"/>
              <a:t>, this language is mostly used to enhance many Web browser interactions. Almost every major website uses </a:t>
            </a:r>
            <a:r>
              <a:rPr lang="en-US" dirty="0" err="1" smtClean="0"/>
              <a:t>Javascript</a:t>
            </a:r>
            <a:r>
              <a:rPr lang="en-US" dirty="0" smtClean="0"/>
              <a:t>.</a:t>
            </a:r>
          </a:p>
          <a:p>
            <a:r>
              <a:rPr lang="en-US" dirty="0" smtClean="0"/>
              <a:t>2000: C#: Developed by Microsoft with the goal of combining the computing ability of C++ with the simplicity of Visual Basic, C# is based on C++ and is similar to Java in many aspects. It is used in almost all Microsoft products and is primarily used for developing desktop applications.</a:t>
            </a:r>
          </a:p>
        </p:txBody>
      </p:sp>
    </p:spTree>
    <p:extLst>
      <p:ext uri="{BB962C8B-B14F-4D97-AF65-F5344CB8AC3E}">
        <p14:creationId xmlns:p14="http://schemas.microsoft.com/office/powerpoint/2010/main" val="2016712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2003: </a:t>
            </a:r>
            <a:r>
              <a:rPr lang="en-US" dirty="0" err="1" smtClean="0"/>
              <a:t>Scala</a:t>
            </a:r>
            <a:r>
              <a:rPr lang="en-US" dirty="0" smtClean="0"/>
              <a:t>: Created by Martin </a:t>
            </a:r>
            <a:r>
              <a:rPr lang="en-US" dirty="0" err="1" smtClean="0"/>
              <a:t>Odersky</a:t>
            </a:r>
            <a:r>
              <a:rPr lang="en-US" dirty="0" smtClean="0"/>
              <a:t>. </a:t>
            </a:r>
            <a:r>
              <a:rPr lang="en-US" dirty="0" err="1" smtClean="0"/>
              <a:t>Scala</a:t>
            </a:r>
            <a:r>
              <a:rPr lang="en-US" dirty="0" smtClean="0"/>
              <a:t> is a computer programming language that combines functional programming, which is mathematical, with object-oriented programming, which is organized around data that controls access to code. Its compatibility with Java makes it helpful in Android development.</a:t>
            </a:r>
          </a:p>
          <a:p>
            <a:r>
              <a:rPr lang="en-US" dirty="0" smtClean="0"/>
              <a:t>2003: Groovy: Developed by James Strachan and Bob </a:t>
            </a:r>
            <a:r>
              <a:rPr lang="en-US" dirty="0" err="1" smtClean="0"/>
              <a:t>McWhirter</a:t>
            </a:r>
            <a:r>
              <a:rPr lang="en-US" dirty="0" smtClean="0"/>
              <a:t>, Groovy is derived from Java and improves the productivity of developers because it is easy to learn and concise.</a:t>
            </a:r>
          </a:p>
          <a:p>
            <a:r>
              <a:rPr lang="en-US" dirty="0" smtClean="0"/>
              <a:t>2009: Go: Go was developed by Google to address problems that can occur in large software systems. Since computer and technology use is much different today than it was when languages such as C++, Java, and Python were introduced and put to use, problems arose when huge computer systems became common. Go was intended to improve the working environment for programmers so they could write, read, and maintain large software systems more efficiently.</a:t>
            </a:r>
          </a:p>
          <a:p>
            <a:r>
              <a:rPr lang="en-US" dirty="0" smtClean="0"/>
              <a:t>2014: Swift: Developed by Apple as a replacement for C, C++, and Objective-C, Swift is supposed to be easier to use and allows less room for mistakes. It is versatile and can be used for desktop and mobile apps and cloud services.</a:t>
            </a:r>
          </a:p>
        </p:txBody>
      </p:sp>
    </p:spTree>
    <p:extLst>
      <p:ext uri="{BB962C8B-B14F-4D97-AF65-F5344CB8AC3E}">
        <p14:creationId xmlns:p14="http://schemas.microsoft.com/office/powerpoint/2010/main" val="3556927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Paradigm</a:t>
            </a:r>
            <a:endParaRPr lang="en-US" dirty="0"/>
          </a:p>
        </p:txBody>
      </p:sp>
      <p:sp>
        <p:nvSpPr>
          <p:cNvPr id="3" name="Content Placeholder 2"/>
          <p:cNvSpPr>
            <a:spLocks noGrp="1"/>
          </p:cNvSpPr>
          <p:nvPr>
            <p:ph idx="1"/>
          </p:nvPr>
        </p:nvSpPr>
        <p:spPr/>
        <p:txBody>
          <a:bodyPr>
            <a:normAutofit lnSpcReduction="10000"/>
          </a:bodyPr>
          <a:lstStyle/>
          <a:p>
            <a:r>
              <a:rPr lang="en-US" b="1" dirty="0"/>
              <a:t>Paradigm</a:t>
            </a:r>
            <a:r>
              <a:rPr lang="en-US" dirty="0"/>
              <a:t> can also be termed as method to solve some problem or do some task. </a:t>
            </a:r>
            <a:endParaRPr lang="en-US" dirty="0" smtClean="0"/>
          </a:p>
          <a:p>
            <a:r>
              <a:rPr lang="en-US" dirty="0" smtClean="0"/>
              <a:t>Programming </a:t>
            </a:r>
            <a:r>
              <a:rPr lang="en-US" dirty="0"/>
              <a:t>paradigm is an approach to solve problem using some programming language or also we can say it is a method to solve a problem using tools and techniques that are available to us following some approach. </a:t>
            </a:r>
            <a:endParaRPr lang="en-US" dirty="0" smtClean="0"/>
          </a:p>
          <a:p>
            <a:r>
              <a:rPr lang="en-US" dirty="0" smtClean="0"/>
              <a:t>There </a:t>
            </a:r>
            <a:r>
              <a:rPr lang="en-US" dirty="0"/>
              <a:t>are lots for programming language that are known but all of them need to follow some strategy when they are implemented and this methodology/strategy is paradigms. Apart from varieties of programming language there are lots of paradigms to fulfil each and every demand.</a:t>
            </a:r>
          </a:p>
        </p:txBody>
      </p:sp>
    </p:spTree>
    <p:extLst>
      <p:ext uri="{BB962C8B-B14F-4D97-AF65-F5344CB8AC3E}">
        <p14:creationId xmlns:p14="http://schemas.microsoft.com/office/powerpoint/2010/main" val="2786566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Imperative programming paradigm</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It is one of the oldest programming paradigm. It features close relation </a:t>
            </a:r>
            <a:r>
              <a:rPr lang="en-US" dirty="0" smtClean="0"/>
              <a:t>to </a:t>
            </a:r>
            <a:r>
              <a:rPr lang="en-US" dirty="0" smtClean="0"/>
              <a:t>machine architecture. It is based on Von Neumann architecture. It works by changing the program state through assignment statements. It performs step by step task by changing state. The main focus is on how to achieve the goal. The paradigm consist of several statements and after execution of all the result is stored.</a:t>
            </a:r>
          </a:p>
          <a:p>
            <a:pPr marL="0" indent="0">
              <a:buNone/>
            </a:pPr>
            <a:r>
              <a:rPr lang="en-US" dirty="0" smtClean="0"/>
              <a:t>	Advantage:</a:t>
            </a:r>
          </a:p>
          <a:p>
            <a:r>
              <a:rPr lang="en-US" dirty="0" smtClean="0"/>
              <a:t>Very simple to implement</a:t>
            </a:r>
          </a:p>
          <a:p>
            <a:r>
              <a:rPr lang="en-US" dirty="0" smtClean="0"/>
              <a:t>It contains loops, variables etc.</a:t>
            </a:r>
          </a:p>
          <a:p>
            <a:pPr marL="0" indent="0">
              <a:buNone/>
            </a:pPr>
            <a:r>
              <a:rPr lang="en-US" dirty="0" smtClean="0"/>
              <a:t>	Disadvantage:</a:t>
            </a:r>
          </a:p>
          <a:p>
            <a:r>
              <a:rPr lang="en-US" dirty="0" smtClean="0"/>
              <a:t>Complex problem cannot be solved</a:t>
            </a:r>
          </a:p>
          <a:p>
            <a:r>
              <a:rPr lang="en-US" dirty="0" smtClean="0"/>
              <a:t>Less efficient and less productive</a:t>
            </a:r>
          </a:p>
          <a:p>
            <a:r>
              <a:rPr lang="en-US" dirty="0" smtClean="0"/>
              <a:t>Parallel programming is not possible</a:t>
            </a:r>
            <a:endParaRPr lang="en-US" dirty="0"/>
          </a:p>
        </p:txBody>
      </p:sp>
    </p:spTree>
    <p:extLst>
      <p:ext uri="{BB962C8B-B14F-4D97-AF65-F5344CB8AC3E}">
        <p14:creationId xmlns:p14="http://schemas.microsoft.com/office/powerpoint/2010/main" val="1528066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Imperative programming is divided into three broad categories: Procedural, OOP and parallel processing. These paradigms are as follows:</a:t>
            </a:r>
          </a:p>
          <a:p>
            <a:pPr marL="0" indent="0">
              <a:buNone/>
            </a:pPr>
            <a:r>
              <a:rPr lang="en-US" dirty="0" smtClean="0"/>
              <a:t>	Procedural programming paradigm </a:t>
            </a:r>
          </a:p>
          <a:p>
            <a:r>
              <a:rPr lang="en-US" dirty="0" smtClean="0"/>
              <a:t>This paradigm emphasizes on procedure in terms of under lying machine model. There is no difference in between procedural and imperative approach. It has the ability to reuse the code and it was boon at that time when it was in use because of its reusability.</a:t>
            </a:r>
            <a:endParaRPr lang="en-US" dirty="0"/>
          </a:p>
        </p:txBody>
      </p:sp>
    </p:spTree>
    <p:extLst>
      <p:ext uri="{BB962C8B-B14F-4D97-AF65-F5344CB8AC3E}">
        <p14:creationId xmlns:p14="http://schemas.microsoft.com/office/powerpoint/2010/main" val="3689857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oriented programming </a:t>
            </a:r>
          </a:p>
        </p:txBody>
      </p:sp>
      <p:sp>
        <p:nvSpPr>
          <p:cNvPr id="3" name="Content Placeholder 2"/>
          <p:cNvSpPr>
            <a:spLocks noGrp="1"/>
          </p:cNvSpPr>
          <p:nvPr>
            <p:ph idx="1"/>
          </p:nvPr>
        </p:nvSpPr>
        <p:spPr/>
        <p:txBody>
          <a:bodyPr>
            <a:normAutofit lnSpcReduction="10000"/>
          </a:bodyPr>
          <a:lstStyle/>
          <a:p>
            <a:r>
              <a:rPr lang="en-US" dirty="0" smtClean="0"/>
              <a:t>The program is written as a collection of classes and object which are meant for communication. The smallest and basic entity is object and all kind of computation is performed on the objects only. More emphasis is on data rather procedure. It can handle almost all kind of real life problems which are today in scenario.</a:t>
            </a:r>
          </a:p>
          <a:p>
            <a:pPr marL="0" indent="0">
              <a:buNone/>
            </a:pPr>
            <a:r>
              <a:rPr lang="en-US" dirty="0" smtClean="0"/>
              <a:t>	Advantages:</a:t>
            </a:r>
          </a:p>
          <a:p>
            <a:r>
              <a:rPr lang="en-US" dirty="0" smtClean="0"/>
              <a:t>Data security</a:t>
            </a:r>
          </a:p>
          <a:p>
            <a:r>
              <a:rPr lang="en-US" dirty="0" smtClean="0"/>
              <a:t>Inheritance</a:t>
            </a:r>
          </a:p>
          <a:p>
            <a:r>
              <a:rPr lang="en-US" dirty="0" smtClean="0"/>
              <a:t>Code reusability</a:t>
            </a:r>
          </a:p>
          <a:p>
            <a:r>
              <a:rPr lang="en-US" dirty="0" smtClean="0"/>
              <a:t>Flexible and abstraction is also present</a:t>
            </a:r>
            <a:endParaRPr lang="en-US" dirty="0"/>
          </a:p>
        </p:txBody>
      </p:sp>
    </p:spTree>
    <p:extLst>
      <p:ext uri="{BB962C8B-B14F-4D97-AF65-F5344CB8AC3E}">
        <p14:creationId xmlns:p14="http://schemas.microsoft.com/office/powerpoint/2010/main" val="537319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Parallel processing approach</a:t>
            </a:r>
            <a:endParaRPr lang="en-US" dirty="0"/>
          </a:p>
        </p:txBody>
      </p:sp>
      <p:sp>
        <p:nvSpPr>
          <p:cNvPr id="3" name="Content Placeholder 2"/>
          <p:cNvSpPr>
            <a:spLocks noGrp="1"/>
          </p:cNvSpPr>
          <p:nvPr>
            <p:ph idx="1"/>
          </p:nvPr>
        </p:nvSpPr>
        <p:spPr/>
        <p:txBody>
          <a:bodyPr/>
          <a:lstStyle/>
          <a:p>
            <a:r>
              <a:rPr lang="en-US" dirty="0" smtClean="0"/>
              <a:t>Parallel processing is the processing of program instructions by dividing them among multiple processors. </a:t>
            </a:r>
          </a:p>
          <a:p>
            <a:r>
              <a:rPr lang="en-US" dirty="0" smtClean="0"/>
              <a:t>A parallel processing system posses many numbers of processor with the objective of running a program in less time by dividing them. </a:t>
            </a:r>
          </a:p>
          <a:p>
            <a:r>
              <a:rPr lang="en-US" dirty="0" smtClean="0"/>
              <a:t>This approach seems to be like divide and conquer. </a:t>
            </a:r>
          </a:p>
          <a:p>
            <a:r>
              <a:rPr lang="en-US" dirty="0" smtClean="0"/>
              <a:t>Examples are NESL (one of the oldest one) and C/C++ also supports because of some library function.</a:t>
            </a:r>
            <a:endParaRPr lang="en-US" dirty="0"/>
          </a:p>
        </p:txBody>
      </p:sp>
    </p:spTree>
    <p:extLst>
      <p:ext uri="{BB962C8B-B14F-4D97-AF65-F5344CB8AC3E}">
        <p14:creationId xmlns:p14="http://schemas.microsoft.com/office/powerpoint/2010/main" val="1793405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Declarative programming paradigm</a:t>
            </a:r>
          </a:p>
        </p:txBody>
      </p:sp>
      <p:sp>
        <p:nvSpPr>
          <p:cNvPr id="3" name="Content Placeholder 2"/>
          <p:cNvSpPr>
            <a:spLocks noGrp="1"/>
          </p:cNvSpPr>
          <p:nvPr>
            <p:ph idx="1"/>
          </p:nvPr>
        </p:nvSpPr>
        <p:spPr/>
        <p:txBody>
          <a:bodyPr>
            <a:normAutofit fontScale="92500" lnSpcReduction="10000"/>
          </a:bodyPr>
          <a:lstStyle/>
          <a:p>
            <a:r>
              <a:rPr lang="en-US" dirty="0" smtClean="0"/>
              <a:t>It is divided as Logic, Functional, Database. </a:t>
            </a:r>
          </a:p>
          <a:p>
            <a:r>
              <a:rPr lang="en-US" dirty="0" smtClean="0"/>
              <a:t>In computer science the declarative programming is a style of building programs that expresses logic of computation without talking about its control flow. </a:t>
            </a:r>
          </a:p>
          <a:p>
            <a:r>
              <a:rPr lang="en-US" dirty="0" smtClean="0"/>
              <a:t>It often considers programs as theories of some </a:t>
            </a:r>
            <a:r>
              <a:rPr lang="en-US" dirty="0" err="1" smtClean="0"/>
              <a:t>logic.It</a:t>
            </a:r>
            <a:r>
              <a:rPr lang="en-US" dirty="0" smtClean="0"/>
              <a:t> may simplify writing parallel programs. The focus is on what needs to be done rather how it should be done basically emphasize on what code </a:t>
            </a:r>
            <a:r>
              <a:rPr lang="en-US" dirty="0" err="1" smtClean="0"/>
              <a:t>code</a:t>
            </a:r>
            <a:r>
              <a:rPr lang="en-US" dirty="0" smtClean="0"/>
              <a:t> is actually doing. </a:t>
            </a:r>
          </a:p>
          <a:p>
            <a:r>
              <a:rPr lang="en-US" dirty="0" smtClean="0"/>
              <a:t>It just declare the result we want rather how it has be produced. This is the only difference between imperative (how to do) and declarative (what to do) programming paradigms. Getting into deeper we would see logic, functional and database.</a:t>
            </a:r>
            <a:endParaRPr lang="en-US" dirty="0"/>
          </a:p>
        </p:txBody>
      </p:sp>
    </p:spTree>
    <p:extLst>
      <p:ext uri="{BB962C8B-B14F-4D97-AF65-F5344CB8AC3E}">
        <p14:creationId xmlns:p14="http://schemas.microsoft.com/office/powerpoint/2010/main" val="1717255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Logic programming paradigms</a:t>
            </a:r>
            <a:endParaRPr lang="en-US" dirty="0"/>
          </a:p>
        </p:txBody>
      </p:sp>
      <p:sp>
        <p:nvSpPr>
          <p:cNvPr id="3" name="Content Placeholder 2"/>
          <p:cNvSpPr>
            <a:spLocks noGrp="1"/>
          </p:cNvSpPr>
          <p:nvPr>
            <p:ph idx="1"/>
          </p:nvPr>
        </p:nvSpPr>
        <p:spPr/>
        <p:txBody>
          <a:bodyPr>
            <a:normAutofit lnSpcReduction="10000"/>
          </a:bodyPr>
          <a:lstStyle/>
          <a:p>
            <a:r>
              <a:rPr lang="en-US" dirty="0" smtClean="0"/>
              <a:t>It </a:t>
            </a:r>
            <a:r>
              <a:rPr lang="en-US" dirty="0"/>
              <a:t>can be termed as abstract model of computation. It would solve logical problems like puzzles, series etc. In logic programming we have a knowledge base which we know before and along with the question and knowledge base which is given to machine, it produces result. </a:t>
            </a:r>
            <a:endParaRPr lang="en-US" dirty="0" smtClean="0"/>
          </a:p>
          <a:p>
            <a:r>
              <a:rPr lang="en-US" dirty="0" smtClean="0"/>
              <a:t>In </a:t>
            </a:r>
            <a:r>
              <a:rPr lang="en-US" dirty="0"/>
              <a:t>normal programming languages, such concept of knowledge base is not available but while using the concept of artificial intelligence, machine learning we have some models like Perception model which is using the same </a:t>
            </a:r>
            <a:r>
              <a:rPr lang="en-US" dirty="0" smtClean="0"/>
              <a:t>mechanism.</a:t>
            </a:r>
            <a:endParaRPr lang="en-US" dirty="0"/>
          </a:p>
          <a:p>
            <a:r>
              <a:rPr lang="en-US" dirty="0" smtClean="0"/>
              <a:t>In </a:t>
            </a:r>
            <a:r>
              <a:rPr lang="en-US" dirty="0"/>
              <a:t>logical programming the main emphasize is on knowledge base and the problem. The execution of the program is very much like proof of mathematical statement, e.g., Prolog</a:t>
            </a:r>
          </a:p>
        </p:txBody>
      </p:sp>
    </p:spTree>
    <p:extLst>
      <p:ext uri="{BB962C8B-B14F-4D97-AF65-F5344CB8AC3E}">
        <p14:creationId xmlns:p14="http://schemas.microsoft.com/office/powerpoint/2010/main" val="3169661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programming paradigms</a:t>
            </a:r>
            <a:endParaRPr lang="en-US" dirty="0"/>
          </a:p>
        </p:txBody>
      </p:sp>
      <p:sp>
        <p:nvSpPr>
          <p:cNvPr id="3" name="Content Placeholder 2"/>
          <p:cNvSpPr>
            <a:spLocks noGrp="1"/>
          </p:cNvSpPr>
          <p:nvPr>
            <p:ph idx="1"/>
          </p:nvPr>
        </p:nvSpPr>
        <p:spPr/>
        <p:txBody>
          <a:bodyPr/>
          <a:lstStyle/>
          <a:p>
            <a:r>
              <a:rPr lang="en-US" dirty="0" smtClean="0"/>
              <a:t>The functional programming paradigms has its roots in mathematics and it is language independent. </a:t>
            </a:r>
          </a:p>
          <a:p>
            <a:r>
              <a:rPr lang="en-US" dirty="0" smtClean="0"/>
              <a:t>The key principal of this paradigms is the execution of series of mathematical functions. </a:t>
            </a:r>
          </a:p>
          <a:p>
            <a:r>
              <a:rPr lang="en-US" dirty="0" smtClean="0"/>
              <a:t>The central model for the abstraction is the function which are meant for some specific computation and not the data structure. Data are loosely coupled to functions.</a:t>
            </a:r>
          </a:p>
          <a:p>
            <a:r>
              <a:rPr lang="en-US" dirty="0" smtClean="0"/>
              <a:t>The function hide their implementation. Function can be replaced with their values without changing the meaning of the program. Some of the languages like </a:t>
            </a:r>
            <a:r>
              <a:rPr lang="en-US" dirty="0" err="1" smtClean="0"/>
              <a:t>perl</a:t>
            </a:r>
            <a:r>
              <a:rPr lang="en-US" dirty="0" smtClean="0"/>
              <a:t>, </a:t>
            </a:r>
            <a:r>
              <a:rPr lang="en-US" dirty="0" err="1" smtClean="0"/>
              <a:t>javascript</a:t>
            </a:r>
            <a:r>
              <a:rPr lang="en-US" dirty="0" smtClean="0"/>
              <a:t> mostly uses this paradigm.</a:t>
            </a:r>
            <a:endParaRPr lang="en-US" dirty="0"/>
          </a:p>
        </p:txBody>
      </p:sp>
    </p:spTree>
    <p:extLst>
      <p:ext uri="{BB962C8B-B14F-4D97-AF65-F5344CB8AC3E}">
        <p14:creationId xmlns:p14="http://schemas.microsoft.com/office/powerpoint/2010/main" val="659578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Database/Data driven programming approach</a:t>
            </a:r>
            <a:endParaRPr lang="en-US" dirty="0"/>
          </a:p>
        </p:txBody>
      </p:sp>
      <p:sp>
        <p:nvSpPr>
          <p:cNvPr id="3" name="Content Placeholder 2"/>
          <p:cNvSpPr>
            <a:spLocks noGrp="1"/>
          </p:cNvSpPr>
          <p:nvPr>
            <p:ph idx="1"/>
          </p:nvPr>
        </p:nvSpPr>
        <p:spPr/>
        <p:txBody>
          <a:bodyPr>
            <a:normAutofit lnSpcReduction="10000"/>
          </a:bodyPr>
          <a:lstStyle/>
          <a:p>
            <a:r>
              <a:rPr lang="en-US" dirty="0" smtClean="0"/>
              <a:t>This programming methodology is based on data and its movement. Program statements are defined by data rather than hard-coding a series of steps. </a:t>
            </a:r>
          </a:p>
          <a:p>
            <a:r>
              <a:rPr lang="en-US" dirty="0" smtClean="0"/>
              <a:t>A database program is the heart of a business information system and provides file creation, data entry, update, query and reporting functions. </a:t>
            </a:r>
          </a:p>
          <a:p>
            <a:r>
              <a:rPr lang="en-US" dirty="0" smtClean="0"/>
              <a:t>There are several programming languages that are developed mostly for database application. For example SQL. It is applied to streams of structured data, for filtering, transforming, aggregating (such as computing statistics), or calling other programs. So it has its own wide application.</a:t>
            </a:r>
            <a:endParaRPr lang="en-US" dirty="0"/>
          </a:p>
        </p:txBody>
      </p:sp>
    </p:spTree>
    <p:extLst>
      <p:ext uri="{BB962C8B-B14F-4D97-AF65-F5344CB8AC3E}">
        <p14:creationId xmlns:p14="http://schemas.microsoft.com/office/powerpoint/2010/main" val="3487802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and software considerations for structured programming</a:t>
            </a:r>
          </a:p>
        </p:txBody>
      </p:sp>
      <p:sp>
        <p:nvSpPr>
          <p:cNvPr id="3" name="Content Placeholder 2"/>
          <p:cNvSpPr>
            <a:spLocks noGrp="1"/>
          </p:cNvSpPr>
          <p:nvPr>
            <p:ph idx="1"/>
          </p:nvPr>
        </p:nvSpPr>
        <p:spPr/>
        <p:txBody>
          <a:bodyPr>
            <a:normAutofit fontScale="92500" lnSpcReduction="10000"/>
          </a:bodyPr>
          <a:lstStyle/>
          <a:p>
            <a:r>
              <a:rPr lang="en-US" dirty="0"/>
              <a:t>With modern processors (Intel, AMD, ARM, PowerPC) all the support necessary for high level languages such a C, C++, and the like is provided. (The CDC 6600 had a “Store location and jump” for subroutine calls. Pascal was implemented without using this instruction!”)</a:t>
            </a:r>
          </a:p>
          <a:p>
            <a:r>
              <a:rPr lang="en-US" dirty="0"/>
              <a:t>The software considerations are necessary loop and loop exit high level constructers in the language. For example in C is “for”, “do” and “while” looping </a:t>
            </a:r>
            <a:r>
              <a:rPr lang="en-US" dirty="0" err="1"/>
              <a:t>statment</a:t>
            </a:r>
            <a:r>
              <a:rPr lang="en-US" dirty="0"/>
              <a:t> with “break” and “continue” statements for loop exit or continue without using “go </a:t>
            </a:r>
            <a:r>
              <a:rPr lang="en-US" dirty="0" err="1"/>
              <a:t>tos</a:t>
            </a:r>
            <a:r>
              <a:rPr lang="en-US" dirty="0"/>
              <a:t>”.</a:t>
            </a:r>
          </a:p>
          <a:p>
            <a:r>
              <a:rPr lang="en-US" dirty="0"/>
              <a:t>The “catch” and “throw” allow for “global exits” without the use of “go </a:t>
            </a:r>
            <a:r>
              <a:rPr lang="en-US" dirty="0" err="1"/>
              <a:t>tos</a:t>
            </a:r>
            <a:r>
              <a:rPr lang="en-US" dirty="0"/>
              <a:t>”.</a:t>
            </a:r>
          </a:p>
          <a:p>
            <a:r>
              <a:rPr lang="en-US" dirty="0"/>
              <a:t>The CDC Pascal compiler had on global exit (</a:t>
            </a:r>
            <a:r>
              <a:rPr lang="en-US" dirty="0" err="1"/>
              <a:t>Lable</a:t>
            </a:r>
            <a:r>
              <a:rPr lang="en-US" dirty="0"/>
              <a:t> 13) which occurred when input </a:t>
            </a:r>
            <a:r>
              <a:rPr lang="en-US" dirty="0" err="1"/>
              <a:t>tokenizer</a:t>
            </a:r>
            <a:r>
              <a:rPr lang="en-US" dirty="0"/>
              <a:t> </a:t>
            </a:r>
            <a:r>
              <a:rPr lang="en-US" dirty="0" err="1"/>
              <a:t>ecounted</a:t>
            </a:r>
            <a:r>
              <a:rPr lang="en-US" dirty="0"/>
              <a:t> and premature end-of-fie.</a:t>
            </a:r>
          </a:p>
        </p:txBody>
      </p:sp>
    </p:spTree>
    <p:extLst>
      <p:ext uri="{BB962C8B-B14F-4D97-AF65-F5344CB8AC3E}">
        <p14:creationId xmlns:p14="http://schemas.microsoft.com/office/powerpoint/2010/main" val="1174385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2720</Words>
  <Application>Microsoft Office PowerPoint</Application>
  <PresentationFormat>Widescreen</PresentationFormat>
  <Paragraphs>97</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PowerPoint Presentation</vt:lpstr>
      <vt:lpstr>Structured Programming</vt:lpstr>
      <vt:lpstr>Types of structured programming languages</vt:lpstr>
      <vt:lpstr>History</vt:lpstr>
      <vt:lpstr>History of programming languages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Programming Paradigm</vt:lpstr>
      <vt:lpstr>Imperative programming paradigm</vt:lpstr>
      <vt:lpstr>PowerPoint Presentation</vt:lpstr>
      <vt:lpstr>Object oriented programming </vt:lpstr>
      <vt:lpstr>Parallel processing approach</vt:lpstr>
      <vt:lpstr>2. Declarative programming paradigm</vt:lpstr>
      <vt:lpstr>Logic programming paradigms</vt:lpstr>
      <vt:lpstr>Functional programming paradigms</vt:lpstr>
      <vt:lpstr>Database/Data driven programming approach</vt:lpstr>
      <vt:lpstr>Hardware and software considerations for structured programming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Samuka Samuka</dc:creator>
  <cp:lastModifiedBy>Samuka Samuka</cp:lastModifiedBy>
  <cp:revision>9</cp:revision>
  <dcterms:created xsi:type="dcterms:W3CDTF">2019-06-26T08:56:14Z</dcterms:created>
  <dcterms:modified xsi:type="dcterms:W3CDTF">2019-06-26T12:43:36Z</dcterms:modified>
</cp:coreProperties>
</file>