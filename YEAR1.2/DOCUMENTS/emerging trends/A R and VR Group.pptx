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92" r:id="rId1"/>
  </p:sldMasterIdLst>
  <p:notesMasterIdLst>
    <p:notesMasterId r:id="rId25"/>
  </p:notesMasterIdLst>
  <p:sldIdLst>
    <p:sldId id="281" r:id="rId2"/>
    <p:sldId id="256" r:id="rId3"/>
    <p:sldId id="279" r:id="rId4"/>
    <p:sldId id="257" r:id="rId5"/>
    <p:sldId id="258" r:id="rId6"/>
    <p:sldId id="260" r:id="rId7"/>
    <p:sldId id="261" r:id="rId8"/>
    <p:sldId id="262" r:id="rId9"/>
    <p:sldId id="278" r:id="rId10"/>
    <p:sldId id="265" r:id="rId11"/>
    <p:sldId id="268" r:id="rId12"/>
    <p:sldId id="269" r:id="rId13"/>
    <p:sldId id="266" r:id="rId14"/>
    <p:sldId id="270" r:id="rId15"/>
    <p:sldId id="271" r:id="rId16"/>
    <p:sldId id="277" r:id="rId17"/>
    <p:sldId id="272" r:id="rId18"/>
    <p:sldId id="275" r:id="rId19"/>
    <p:sldId id="273" r:id="rId20"/>
    <p:sldId id="274" r:id="rId21"/>
    <p:sldId id="276" r:id="rId22"/>
    <p:sldId id="267" r:id="rId23"/>
    <p:sldId id="280"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ANIEL NYAMAI" initials="DN" lastIdx="1" clrIdx="0">
    <p:extLst>
      <p:ext uri="{19B8F6BF-5375-455C-9EA6-DF929625EA0E}">
        <p15:presenceInfo xmlns:p15="http://schemas.microsoft.com/office/powerpoint/2012/main" userId="b25a056b48e2cc3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DF1F8"/>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3981" autoAdjust="0"/>
  </p:normalViewPr>
  <p:slideViewPr>
    <p:cSldViewPr snapToGrid="0">
      <p:cViewPr>
        <p:scale>
          <a:sx n="93" d="100"/>
          <a:sy n="93" d="100"/>
        </p:scale>
        <p:origin x="-138" y="-5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842CAE-0050-4000-98EC-1133D94FCCB9}" type="datetimeFigureOut">
              <a:rPr lang="en-US" smtClean="0"/>
              <a:t>4/18/2024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951B98-D70D-4B31-B181-DFA442F6C056}" type="slidenum">
              <a:rPr lang="en-US" smtClean="0"/>
              <a:t>‹#›</a:t>
            </a:fld>
            <a:endParaRPr lang="en-US"/>
          </a:p>
        </p:txBody>
      </p:sp>
    </p:spTree>
    <p:extLst>
      <p:ext uri="{BB962C8B-B14F-4D97-AF65-F5344CB8AC3E}">
        <p14:creationId xmlns:p14="http://schemas.microsoft.com/office/powerpoint/2010/main" val="34040214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525AF48B-5E15-46A4-8CD1-898279D27F2C}" type="datetime1">
              <a:rPr lang="en-US" smtClean="0"/>
              <a:t>4/18/2024</a:t>
            </a:fld>
            <a:endParaRPr lang="en-US" dirty="0"/>
          </a:p>
        </p:txBody>
      </p:sp>
      <p:sp>
        <p:nvSpPr>
          <p:cNvPr id="5" name="Footer Placeholder 4"/>
          <p:cNvSpPr>
            <a:spLocks noGrp="1"/>
          </p:cNvSpPr>
          <p:nvPr>
            <p:ph type="ftr" sz="quarter" idx="11"/>
          </p:nvPr>
        </p:nvSpPr>
        <p:spPr>
          <a:xfrm>
            <a:off x="1371600" y="4323845"/>
            <a:ext cx="6400800" cy="365125"/>
          </a:xfrm>
        </p:spPr>
        <p:txBody>
          <a:bodyPr/>
          <a:lstStyle/>
          <a:p>
            <a:r>
              <a:rPr lang="en-US" smtClean="0"/>
              <a:t>Hypothesis tsting</a:t>
            </a:r>
            <a:endParaRPr lang="en-US" dirty="0"/>
          </a:p>
        </p:txBody>
      </p:sp>
      <p:sp>
        <p:nvSpPr>
          <p:cNvPr id="6" name="Slide Number Placeholder 5"/>
          <p:cNvSpPr>
            <a:spLocks noGrp="1"/>
          </p:cNvSpPr>
          <p:nvPr>
            <p:ph type="sldNum" sz="quarter" idx="12"/>
          </p:nvPr>
        </p:nvSpPr>
        <p:spPr>
          <a:xfrm>
            <a:off x="8077200" y="1430866"/>
            <a:ext cx="2743200" cy="365125"/>
          </a:xfrm>
        </p:spPr>
        <p:txBody>
          <a:bodyPr/>
          <a:lstStyle/>
          <a:p>
            <a:fld id="{D57F1E4F-1CFF-5643-939E-217C01CDF565}" type="slidenum">
              <a:rPr lang="en-US" smtClean="0"/>
              <a:t>‹#›</a:t>
            </a:fld>
            <a:endParaRPr lang="en-US" dirty="0"/>
          </a:p>
        </p:txBody>
      </p:sp>
    </p:spTree>
    <p:extLst>
      <p:ext uri="{BB962C8B-B14F-4D97-AF65-F5344CB8AC3E}">
        <p14:creationId xmlns:p14="http://schemas.microsoft.com/office/powerpoint/2010/main" val="23711836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F99F478-80F8-45FD-8A85-36449DA805FE}" type="datetime1">
              <a:rPr lang="en-US" smtClean="0"/>
              <a:t>4/18/2024</a:t>
            </a:fld>
            <a:endParaRPr lang="en-US" dirty="0"/>
          </a:p>
        </p:txBody>
      </p:sp>
      <p:sp>
        <p:nvSpPr>
          <p:cNvPr id="5" name="Footer Placeholder 4"/>
          <p:cNvSpPr>
            <a:spLocks noGrp="1"/>
          </p:cNvSpPr>
          <p:nvPr>
            <p:ph type="ftr" sz="quarter" idx="11"/>
          </p:nvPr>
        </p:nvSpPr>
        <p:spPr/>
        <p:txBody>
          <a:bodyPr/>
          <a:lstStyle/>
          <a:p>
            <a:r>
              <a:rPr lang="en-US" smtClean="0"/>
              <a:t>Hypothesis tsting</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t>‹#›</a:t>
            </a:fld>
            <a:endParaRPr lang="en-US" dirty="0"/>
          </a:p>
        </p:txBody>
      </p:sp>
    </p:spTree>
    <p:extLst>
      <p:ext uri="{BB962C8B-B14F-4D97-AF65-F5344CB8AC3E}">
        <p14:creationId xmlns:p14="http://schemas.microsoft.com/office/powerpoint/2010/main" val="16281786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smtClean="0"/>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1E5926C3-FEDA-481B-AEF3-83E0EA453640}" type="datetime1">
              <a:rPr lang="en-US" smtClean="0"/>
              <a:t>4/18/2024</a:t>
            </a:fld>
            <a:endParaRPr lang="en-US" dirty="0"/>
          </a:p>
        </p:txBody>
      </p:sp>
      <p:sp>
        <p:nvSpPr>
          <p:cNvPr id="5" name="Footer Placeholder 4"/>
          <p:cNvSpPr>
            <a:spLocks noGrp="1"/>
          </p:cNvSpPr>
          <p:nvPr>
            <p:ph type="ftr" sz="quarter" idx="11"/>
          </p:nvPr>
        </p:nvSpPr>
        <p:spPr>
          <a:xfrm>
            <a:off x="685800" y="381001"/>
            <a:ext cx="6991492" cy="364065"/>
          </a:xfrm>
        </p:spPr>
        <p:txBody>
          <a:bodyPr/>
          <a:lstStyle/>
          <a:p>
            <a:r>
              <a:rPr lang="en-US" smtClean="0"/>
              <a:t>Hypothesis tsting</a:t>
            </a:r>
            <a:endParaRPr lang="en-US" dirty="0"/>
          </a:p>
        </p:txBody>
      </p:sp>
      <p:sp>
        <p:nvSpPr>
          <p:cNvPr id="6" name="Slide Number Placeholder 5"/>
          <p:cNvSpPr>
            <a:spLocks noGrp="1"/>
          </p:cNvSpPr>
          <p:nvPr>
            <p:ph type="sldNum" sz="quarter" idx="12"/>
          </p:nvPr>
        </p:nvSpPr>
        <p:spPr>
          <a:xfrm>
            <a:off x="10862452" y="381000"/>
            <a:ext cx="643748" cy="365125"/>
          </a:xfrm>
        </p:spPr>
        <p:txBody>
          <a:bodyPr/>
          <a:lstStyle/>
          <a:p>
            <a:fld id="{D57F1E4F-1CFF-5643-939E-217C01CDF565}" type="slidenum">
              <a:rPr lang="en-US" smtClean="0"/>
              <a:t>‹#›</a:t>
            </a:fld>
            <a:endParaRPr lang="en-US" dirty="0"/>
          </a:p>
        </p:txBody>
      </p:sp>
    </p:spTree>
    <p:extLst>
      <p:ext uri="{BB962C8B-B14F-4D97-AF65-F5344CB8AC3E}">
        <p14:creationId xmlns:p14="http://schemas.microsoft.com/office/powerpoint/2010/main" val="42939185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047430F-0304-421A-B08D-4ABD4B39F7E8}" type="datetime1">
              <a:rPr lang="en-US" smtClean="0"/>
              <a:t>4/18/2024</a:t>
            </a:fld>
            <a:endParaRPr lang="en-US" dirty="0"/>
          </a:p>
        </p:txBody>
      </p:sp>
      <p:sp>
        <p:nvSpPr>
          <p:cNvPr id="6" name="Footer Placeholder 5"/>
          <p:cNvSpPr>
            <a:spLocks noGrp="1"/>
          </p:cNvSpPr>
          <p:nvPr>
            <p:ph type="ftr" sz="quarter" idx="11"/>
          </p:nvPr>
        </p:nvSpPr>
        <p:spPr/>
        <p:txBody>
          <a:bodyPr/>
          <a:lstStyle/>
          <a:p>
            <a:r>
              <a:rPr lang="en-US" smtClean="0"/>
              <a:t>Hypothesis tsting</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t>‹#›</a:t>
            </a:fld>
            <a:endParaRPr lang="en-US" dirty="0"/>
          </a:p>
        </p:txBody>
      </p:sp>
    </p:spTree>
    <p:extLst>
      <p:ext uri="{BB962C8B-B14F-4D97-AF65-F5344CB8AC3E}">
        <p14:creationId xmlns:p14="http://schemas.microsoft.com/office/powerpoint/2010/main" val="1195485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C219EA6A-C337-4691-9FAC-9C4A6A13E121}" type="datetime1">
              <a:rPr lang="en-US" smtClean="0"/>
              <a:t>4/18/2024</a:t>
            </a:fld>
            <a:endParaRPr lang="en-US" dirty="0"/>
          </a:p>
        </p:txBody>
      </p:sp>
      <p:sp>
        <p:nvSpPr>
          <p:cNvPr id="8" name="Footer Placeholder 7"/>
          <p:cNvSpPr>
            <a:spLocks noGrp="1"/>
          </p:cNvSpPr>
          <p:nvPr>
            <p:ph type="ftr" sz="quarter" idx="11"/>
          </p:nvPr>
        </p:nvSpPr>
        <p:spPr/>
        <p:txBody>
          <a:bodyPr/>
          <a:lstStyle/>
          <a:p>
            <a:r>
              <a:rPr lang="en-US" smtClean="0"/>
              <a:t>Hypothesis tsting</a:t>
            </a:r>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t>‹#›</a:t>
            </a:fld>
            <a:endParaRPr lang="en-US" dirty="0"/>
          </a:p>
        </p:txBody>
      </p:sp>
    </p:spTree>
    <p:extLst>
      <p:ext uri="{BB962C8B-B14F-4D97-AF65-F5344CB8AC3E}">
        <p14:creationId xmlns:p14="http://schemas.microsoft.com/office/powerpoint/2010/main" val="33381781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88BC5C85-FFF0-4167-9553-8E8B4250A635}" type="datetime1">
              <a:rPr lang="en-US" smtClean="0"/>
              <a:t>4/18/2024</a:t>
            </a:fld>
            <a:endParaRPr lang="en-US" dirty="0"/>
          </a:p>
        </p:txBody>
      </p:sp>
      <p:sp>
        <p:nvSpPr>
          <p:cNvPr id="4" name="Footer Placeholder 3"/>
          <p:cNvSpPr>
            <a:spLocks noGrp="1"/>
          </p:cNvSpPr>
          <p:nvPr>
            <p:ph type="ftr" sz="quarter" idx="11"/>
          </p:nvPr>
        </p:nvSpPr>
        <p:spPr/>
        <p:txBody>
          <a:bodyPr/>
          <a:lstStyle/>
          <a:p>
            <a:r>
              <a:rPr lang="en-US" smtClean="0"/>
              <a:t>Hypothesis tsting</a:t>
            </a:r>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t>‹#›</a:t>
            </a:fld>
            <a:endParaRPr lang="en-US" dirty="0"/>
          </a:p>
        </p:txBody>
      </p:sp>
    </p:spTree>
    <p:extLst>
      <p:ext uri="{BB962C8B-B14F-4D97-AF65-F5344CB8AC3E}">
        <p14:creationId xmlns:p14="http://schemas.microsoft.com/office/powerpoint/2010/main" val="32537058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98A4B6-D76E-4BC5-A989-6B765B2B0AB8}" type="datetime1">
              <a:rPr lang="en-US" smtClean="0"/>
              <a:t>4/18/2024</a:t>
            </a:fld>
            <a:endParaRPr lang="en-US" dirty="0"/>
          </a:p>
        </p:txBody>
      </p:sp>
      <p:sp>
        <p:nvSpPr>
          <p:cNvPr id="3" name="Footer Placeholder 2"/>
          <p:cNvSpPr>
            <a:spLocks noGrp="1"/>
          </p:cNvSpPr>
          <p:nvPr>
            <p:ph type="ftr" sz="quarter" idx="11"/>
          </p:nvPr>
        </p:nvSpPr>
        <p:spPr/>
        <p:txBody>
          <a:bodyPr/>
          <a:lstStyle/>
          <a:p>
            <a:r>
              <a:rPr lang="en-US" smtClean="0"/>
              <a:t>Hypothesis tsting</a:t>
            </a:r>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t>‹#›</a:t>
            </a:fld>
            <a:endParaRPr lang="en-US" dirty="0"/>
          </a:p>
        </p:txBody>
      </p:sp>
    </p:spTree>
    <p:extLst>
      <p:ext uri="{BB962C8B-B14F-4D97-AF65-F5344CB8AC3E}">
        <p14:creationId xmlns:p14="http://schemas.microsoft.com/office/powerpoint/2010/main" val="21266636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smtClean="0"/>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C90E230-1D93-43F5-8BE6-48D437B00371}" type="datetime1">
              <a:rPr lang="en-US" smtClean="0"/>
              <a:t>4/18/2024</a:t>
            </a:fld>
            <a:endParaRPr lang="en-US" dirty="0"/>
          </a:p>
        </p:txBody>
      </p:sp>
      <p:sp>
        <p:nvSpPr>
          <p:cNvPr id="6" name="Footer Placeholder 5"/>
          <p:cNvSpPr>
            <a:spLocks noGrp="1"/>
          </p:cNvSpPr>
          <p:nvPr>
            <p:ph type="ftr" sz="quarter" idx="11"/>
          </p:nvPr>
        </p:nvSpPr>
        <p:spPr/>
        <p:txBody>
          <a:bodyPr/>
          <a:lstStyle/>
          <a:p>
            <a:r>
              <a:rPr lang="en-US" smtClean="0"/>
              <a:t>Hypothesis tsting</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t>‹#›</a:t>
            </a:fld>
            <a:endParaRPr lang="en-US" dirty="0"/>
          </a:p>
        </p:txBody>
      </p:sp>
    </p:spTree>
    <p:extLst>
      <p:ext uri="{BB962C8B-B14F-4D97-AF65-F5344CB8AC3E}">
        <p14:creationId xmlns:p14="http://schemas.microsoft.com/office/powerpoint/2010/main" val="4111182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1E8ADEB-34E6-41B5-BA7F-22795C5774C5}" type="datetime1">
              <a:rPr lang="en-US" smtClean="0"/>
              <a:t>4/18/2024</a:t>
            </a:fld>
            <a:endParaRPr lang="en-US" dirty="0"/>
          </a:p>
        </p:txBody>
      </p:sp>
      <p:sp>
        <p:nvSpPr>
          <p:cNvPr id="6" name="Footer Placeholder 5"/>
          <p:cNvSpPr>
            <a:spLocks noGrp="1"/>
          </p:cNvSpPr>
          <p:nvPr>
            <p:ph type="ftr" sz="quarter" idx="11"/>
          </p:nvPr>
        </p:nvSpPr>
        <p:spPr/>
        <p:txBody>
          <a:bodyPr/>
          <a:lstStyle/>
          <a:p>
            <a:r>
              <a:rPr lang="en-US" smtClean="0"/>
              <a:t>Hypothesis tsting</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t>‹#›</a:t>
            </a:fld>
            <a:endParaRPr lang="en-US" dirty="0"/>
          </a:p>
        </p:txBody>
      </p:sp>
    </p:spTree>
    <p:extLst>
      <p:ext uri="{BB962C8B-B14F-4D97-AF65-F5344CB8AC3E}">
        <p14:creationId xmlns:p14="http://schemas.microsoft.com/office/powerpoint/2010/main" val="41689210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1021F34-C8C2-4906-93FE-35214B07CA73}" type="datetime1">
              <a:rPr lang="en-US" smtClean="0"/>
              <a:t>4/18/2024</a:t>
            </a:fld>
            <a:endParaRPr lang="en-US" dirty="0"/>
          </a:p>
        </p:txBody>
      </p:sp>
      <p:sp>
        <p:nvSpPr>
          <p:cNvPr id="6" name="Footer Placeholder 5"/>
          <p:cNvSpPr>
            <a:spLocks noGrp="1"/>
          </p:cNvSpPr>
          <p:nvPr>
            <p:ph type="ftr" sz="quarter" idx="11"/>
          </p:nvPr>
        </p:nvSpPr>
        <p:spPr/>
        <p:txBody>
          <a:bodyPr/>
          <a:lstStyle/>
          <a:p>
            <a:r>
              <a:rPr lang="en-US" smtClean="0"/>
              <a:t>Hypothesis tsting</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t>‹#›</a:t>
            </a:fld>
            <a:endParaRPr lang="en-US" dirty="0"/>
          </a:p>
        </p:txBody>
      </p:sp>
    </p:spTree>
    <p:extLst>
      <p:ext uri="{BB962C8B-B14F-4D97-AF65-F5344CB8AC3E}">
        <p14:creationId xmlns:p14="http://schemas.microsoft.com/office/powerpoint/2010/main" val="9478482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3D0C4922-5F75-440E-A986-7748134626CB}" type="datetime1">
              <a:rPr lang="en-US" smtClean="0"/>
              <a:t>4/18/2024</a:t>
            </a:fld>
            <a:endParaRPr lang="en-US" dirty="0"/>
          </a:p>
        </p:txBody>
      </p:sp>
      <p:sp>
        <p:nvSpPr>
          <p:cNvPr id="6" name="Footer Placeholder 5"/>
          <p:cNvSpPr>
            <a:spLocks noGrp="1"/>
          </p:cNvSpPr>
          <p:nvPr>
            <p:ph type="ftr" sz="quarter" idx="11"/>
          </p:nvPr>
        </p:nvSpPr>
        <p:spPr>
          <a:xfrm>
            <a:off x="685800" y="379941"/>
            <a:ext cx="6991492" cy="365125"/>
          </a:xfrm>
        </p:spPr>
        <p:txBody>
          <a:bodyPr/>
          <a:lstStyle/>
          <a:p>
            <a:r>
              <a:rPr lang="en-US" smtClean="0"/>
              <a:t>Hypothesis tsting</a:t>
            </a:r>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D57F1E4F-1CFF-5643-939E-217C01CDF565}" type="slidenum">
              <a:rPr lang="en-US" smtClean="0"/>
              <a:t>‹#›</a:t>
            </a:fld>
            <a:endParaRPr lang="en-US" dirty="0"/>
          </a:p>
        </p:txBody>
      </p:sp>
    </p:spTree>
    <p:extLst>
      <p:ext uri="{BB962C8B-B14F-4D97-AF65-F5344CB8AC3E}">
        <p14:creationId xmlns:p14="http://schemas.microsoft.com/office/powerpoint/2010/main" val="39783920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3" name="Picture 12"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73623C88-81D2-4A63-B763-5A134E192828}" type="datetime1">
              <a:rPr lang="en-US" smtClean="0"/>
              <a:t>4/18/2024</a:t>
            </a:fld>
            <a:endParaRPr lang="en-US" dirty="0"/>
          </a:p>
        </p:txBody>
      </p:sp>
      <p:sp>
        <p:nvSpPr>
          <p:cNvPr id="6" name="Footer Placeholder 5"/>
          <p:cNvSpPr>
            <a:spLocks noGrp="1"/>
          </p:cNvSpPr>
          <p:nvPr>
            <p:ph type="ftr" sz="quarter" idx="11"/>
          </p:nvPr>
        </p:nvSpPr>
        <p:spPr>
          <a:xfrm>
            <a:off x="685800" y="379941"/>
            <a:ext cx="6991492" cy="365125"/>
          </a:xfrm>
        </p:spPr>
        <p:txBody>
          <a:bodyPr/>
          <a:lstStyle/>
          <a:p>
            <a:r>
              <a:rPr lang="en-US" smtClean="0"/>
              <a:t>Hypothesis tsting</a:t>
            </a:r>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D57F1E4F-1CFF-5643-939E-217C01CDF565}" type="slidenum">
              <a:rPr lang="en-US" smtClean="0"/>
              <a:t>‹#›</a:t>
            </a:fld>
            <a:endParaRPr lang="en-US" dirty="0"/>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5985342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5D119401-FF4C-4AD1-91C1-6E8A3B4357DA}" type="datetime1">
              <a:rPr lang="en-US" smtClean="0"/>
              <a:t>4/18/2024</a:t>
            </a:fld>
            <a:endParaRPr lang="en-US" dirty="0"/>
          </a:p>
        </p:txBody>
      </p:sp>
      <p:sp>
        <p:nvSpPr>
          <p:cNvPr id="6" name="Footer Placeholder 5"/>
          <p:cNvSpPr>
            <a:spLocks noGrp="1"/>
          </p:cNvSpPr>
          <p:nvPr>
            <p:ph type="ftr" sz="quarter" idx="11"/>
          </p:nvPr>
        </p:nvSpPr>
        <p:spPr>
          <a:xfrm>
            <a:off x="685800" y="378883"/>
            <a:ext cx="6991492" cy="365125"/>
          </a:xfrm>
        </p:spPr>
        <p:txBody>
          <a:bodyPr/>
          <a:lstStyle/>
          <a:p>
            <a:r>
              <a:rPr lang="en-US" smtClean="0"/>
              <a:t>Hypothesis tsting</a:t>
            </a:r>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D57F1E4F-1CFF-5643-939E-217C01CDF565}" type="slidenum">
              <a:rPr lang="en-US" smtClean="0"/>
              <a:t>‹#›</a:t>
            </a:fld>
            <a:endParaRPr lang="en-US" dirty="0"/>
          </a:p>
        </p:txBody>
      </p:sp>
    </p:spTree>
    <p:extLst>
      <p:ext uri="{BB962C8B-B14F-4D97-AF65-F5344CB8AC3E}">
        <p14:creationId xmlns:p14="http://schemas.microsoft.com/office/powerpoint/2010/main" val="4532243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1EA7AFEA-8013-4034-AB9C-0C93B96FC424}" type="datetime1">
              <a:rPr lang="en-US" smtClean="0"/>
              <a:t>4/18/2024</a:t>
            </a:fld>
            <a:endParaRPr lang="en-US" dirty="0"/>
          </a:p>
        </p:txBody>
      </p:sp>
      <p:sp>
        <p:nvSpPr>
          <p:cNvPr id="4" name="Footer Placeholder 3"/>
          <p:cNvSpPr>
            <a:spLocks noGrp="1"/>
          </p:cNvSpPr>
          <p:nvPr>
            <p:ph type="ftr" sz="quarter" idx="11"/>
          </p:nvPr>
        </p:nvSpPr>
        <p:spPr/>
        <p:txBody>
          <a:bodyPr/>
          <a:lstStyle/>
          <a:p>
            <a:r>
              <a:rPr lang="en-US" smtClean="0"/>
              <a:t>Hypothesis tsting</a:t>
            </a:r>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t>‹#›</a:t>
            </a:fld>
            <a:endParaRPr lang="en-US" dirty="0"/>
          </a:p>
        </p:txBody>
      </p:sp>
    </p:spTree>
    <p:extLst>
      <p:ext uri="{BB962C8B-B14F-4D97-AF65-F5344CB8AC3E}">
        <p14:creationId xmlns:p14="http://schemas.microsoft.com/office/powerpoint/2010/main" val="32993338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C10CB061-1333-4344-9AAE-1E7176A3448B}" type="datetime1">
              <a:rPr lang="en-US" smtClean="0"/>
              <a:t>4/18/2024</a:t>
            </a:fld>
            <a:endParaRPr lang="en-US" dirty="0"/>
          </a:p>
        </p:txBody>
      </p:sp>
      <p:sp>
        <p:nvSpPr>
          <p:cNvPr id="4" name="Footer Placeholder 3"/>
          <p:cNvSpPr>
            <a:spLocks noGrp="1"/>
          </p:cNvSpPr>
          <p:nvPr>
            <p:ph type="ftr" sz="quarter" idx="11"/>
          </p:nvPr>
        </p:nvSpPr>
        <p:spPr/>
        <p:txBody>
          <a:bodyPr/>
          <a:lstStyle/>
          <a:p>
            <a:r>
              <a:rPr lang="en-US" smtClean="0"/>
              <a:t>Hypothesis tsting</a:t>
            </a:r>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t>‹#›</a:t>
            </a:fld>
            <a:endParaRPr lang="en-US" dirty="0"/>
          </a:p>
        </p:txBody>
      </p:sp>
    </p:spTree>
    <p:extLst>
      <p:ext uri="{BB962C8B-B14F-4D97-AF65-F5344CB8AC3E}">
        <p14:creationId xmlns:p14="http://schemas.microsoft.com/office/powerpoint/2010/main" val="8571992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2B783D3-0B6E-4970-9F7A-CECEE007364C}" type="datetime1">
              <a:rPr lang="en-US" smtClean="0"/>
              <a:t>4/18/2024</a:t>
            </a:fld>
            <a:endParaRPr lang="en-US" dirty="0"/>
          </a:p>
        </p:txBody>
      </p:sp>
      <p:sp>
        <p:nvSpPr>
          <p:cNvPr id="5" name="Footer Placeholder 4"/>
          <p:cNvSpPr>
            <a:spLocks noGrp="1"/>
          </p:cNvSpPr>
          <p:nvPr>
            <p:ph type="ftr" sz="quarter" idx="11"/>
          </p:nvPr>
        </p:nvSpPr>
        <p:spPr/>
        <p:txBody>
          <a:bodyPr/>
          <a:lstStyle/>
          <a:p>
            <a:r>
              <a:rPr lang="en-US" smtClean="0"/>
              <a:t>Hypothesis tsting</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t>‹#›</a:t>
            </a:fld>
            <a:endParaRPr lang="en-US" dirty="0"/>
          </a:p>
        </p:txBody>
      </p:sp>
    </p:spTree>
    <p:extLst>
      <p:ext uri="{BB962C8B-B14F-4D97-AF65-F5344CB8AC3E}">
        <p14:creationId xmlns:p14="http://schemas.microsoft.com/office/powerpoint/2010/main" val="34264605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479FF118-E412-483F-9570-0D9E70F4A9F1}" type="datetime1">
              <a:rPr lang="en-US" smtClean="0"/>
              <a:t>4/18/2024</a:t>
            </a:fld>
            <a:endParaRPr lang="en-US" dirty="0"/>
          </a:p>
        </p:txBody>
      </p:sp>
      <p:sp>
        <p:nvSpPr>
          <p:cNvPr id="5" name="Footer Placeholder 4"/>
          <p:cNvSpPr>
            <a:spLocks noGrp="1"/>
          </p:cNvSpPr>
          <p:nvPr>
            <p:ph type="ftr" sz="quarter" idx="11"/>
          </p:nvPr>
        </p:nvSpPr>
        <p:spPr>
          <a:xfrm>
            <a:off x="685800" y="381000"/>
            <a:ext cx="6991492" cy="365125"/>
          </a:xfrm>
        </p:spPr>
        <p:txBody>
          <a:bodyPr/>
          <a:lstStyle/>
          <a:p>
            <a:r>
              <a:rPr lang="en-US" smtClean="0"/>
              <a:t>Hypothesis tsting</a:t>
            </a:r>
            <a:endParaRPr lang="en-US" dirty="0"/>
          </a:p>
        </p:txBody>
      </p:sp>
      <p:sp>
        <p:nvSpPr>
          <p:cNvPr id="6" name="Slide Number Placeholder 5"/>
          <p:cNvSpPr>
            <a:spLocks noGrp="1"/>
          </p:cNvSpPr>
          <p:nvPr>
            <p:ph type="sldNum" sz="quarter" idx="12"/>
          </p:nvPr>
        </p:nvSpPr>
        <p:spPr>
          <a:xfrm>
            <a:off x="10862452" y="381000"/>
            <a:ext cx="643748" cy="365125"/>
          </a:xfrm>
        </p:spPr>
        <p:txBody>
          <a:bodyPr/>
          <a:lstStyle/>
          <a:p>
            <a:fld id="{D57F1E4F-1CFF-5643-939E-217C01CDF565}" type="slidenum">
              <a:rPr lang="en-US" smtClean="0"/>
              <a:t>‹#›</a:t>
            </a:fld>
            <a:endParaRPr lang="en-US" dirty="0"/>
          </a:p>
        </p:txBody>
      </p:sp>
    </p:spTree>
    <p:extLst>
      <p:ext uri="{BB962C8B-B14F-4D97-AF65-F5344CB8AC3E}">
        <p14:creationId xmlns:p14="http://schemas.microsoft.com/office/powerpoint/2010/main" val="3123233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864EC9A0-A7A3-4D00-B439-06EC388ACFED}" type="datetime1">
              <a:rPr lang="en-US" smtClean="0"/>
              <a:t>4/18/2024</a:t>
            </a:fld>
            <a:endParaRPr lang="en-US" dirty="0"/>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r>
              <a:rPr lang="en-US" smtClean="0"/>
              <a:t>Hypothesis tsting</a:t>
            </a:r>
            <a:endParaRPr lang="en-US" dirty="0"/>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D57F1E4F-1CFF-5643-939E-217C01CDF565}" type="slidenum">
              <a:rPr lang="en-US" smtClean="0"/>
              <a:t>‹#›</a:t>
            </a:fld>
            <a:endParaRPr lang="en-US" dirty="0"/>
          </a:p>
        </p:txBody>
      </p:sp>
    </p:spTree>
    <p:extLst>
      <p:ext uri="{BB962C8B-B14F-4D97-AF65-F5344CB8AC3E}">
        <p14:creationId xmlns:p14="http://schemas.microsoft.com/office/powerpoint/2010/main" val="342220428"/>
      </p:ext>
    </p:extLst>
  </p:cSld>
  <p:clrMap bg1="dk1" tx1="lt1" bg2="dk2" tx2="lt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 id="2147483804" r:id="rId12"/>
    <p:sldLayoutId id="2147483805" r:id="rId13"/>
    <p:sldLayoutId id="2147483806" r:id="rId14"/>
    <p:sldLayoutId id="2147483807" r:id="rId15"/>
    <p:sldLayoutId id="2147483808" r:id="rId16"/>
    <p:sldLayoutId id="2147483809" r:id="rId17"/>
  </p:sldLayoutIdLst>
  <p:hf sldNum="0" hdr="0" ftr="0" dt="0"/>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5.png"/><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7.png"/><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9.png"/><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2.png"/><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0" y="-1"/>
            <a:ext cx="12192000" cy="6858001"/>
          </a:xfrm>
          <a:prstGeom prst="rect">
            <a:avLst/>
          </a:prstGeom>
        </p:spPr>
      </p:pic>
      <p:sp>
        <p:nvSpPr>
          <p:cNvPr id="5" name="Rectangle 4"/>
          <p:cNvSpPr/>
          <p:nvPr/>
        </p:nvSpPr>
        <p:spPr>
          <a:xfrm>
            <a:off x="130629" y="1865477"/>
            <a:ext cx="12061371" cy="2308324"/>
          </a:xfrm>
          <a:prstGeom prst="rect">
            <a:avLst/>
          </a:prstGeom>
        </p:spPr>
        <p:txBody>
          <a:bodyPr wrap="square">
            <a:spAutoFit/>
          </a:bodyPr>
          <a:lstStyle/>
          <a:p>
            <a:pPr algn="ctr"/>
            <a:r>
              <a:rPr lang="en-US" sz="7200" b="1" dirty="0">
                <a:latin typeface="Arial" panose="020B0604020202020204" pitchFamily="34" charset="0"/>
                <a:cs typeface="Arial" panose="020B0604020202020204" pitchFamily="34" charset="0"/>
              </a:rPr>
              <a:t>BIT 123 </a:t>
            </a:r>
            <a:endParaRPr lang="en-US" sz="7200" b="1" dirty="0" smtClean="0">
              <a:latin typeface="Arial" panose="020B0604020202020204" pitchFamily="34" charset="0"/>
              <a:cs typeface="Arial" panose="020B0604020202020204" pitchFamily="34" charset="0"/>
            </a:endParaRPr>
          </a:p>
          <a:p>
            <a:pPr algn="ctr"/>
            <a:r>
              <a:rPr lang="en-US" sz="7200" b="1" dirty="0" smtClean="0">
                <a:latin typeface="Arial" panose="020B0604020202020204" pitchFamily="34" charset="0"/>
                <a:cs typeface="Arial" panose="020B0604020202020204" pitchFamily="34" charset="0"/>
              </a:rPr>
              <a:t>GROUP  </a:t>
            </a:r>
            <a:r>
              <a:rPr lang="en-US" sz="7200" b="1" dirty="0">
                <a:latin typeface="Arial" panose="020B0604020202020204" pitchFamily="34" charset="0"/>
                <a:cs typeface="Arial" panose="020B0604020202020204" pitchFamily="34" charset="0"/>
              </a:rPr>
              <a:t>5 PRESENTATION</a:t>
            </a:r>
          </a:p>
        </p:txBody>
      </p:sp>
    </p:spTree>
    <p:extLst>
      <p:ext uri="{BB962C8B-B14F-4D97-AF65-F5344CB8AC3E}">
        <p14:creationId xmlns:p14="http://schemas.microsoft.com/office/powerpoint/2010/main" val="3963028102"/>
      </p:ext>
    </p:extLst>
  </p:cSld>
  <p:clrMapOvr>
    <a:masterClrMapping/>
  </p:clrMapOvr>
  <p:transition spd="slow" advTm="0">
    <p:randomBar dir="ver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69815"/>
            <a:ext cx="12191999" cy="4523210"/>
          </a:xfrm>
          <a:scene3d>
            <a:camera prst="perspectiveAbove"/>
            <a:lightRig rig="threePt" dir="t"/>
          </a:scene3d>
        </p:spPr>
        <p:txBody>
          <a:bodyPr>
            <a:normAutofit/>
          </a:bodyPr>
          <a:lstStyle/>
          <a:p>
            <a:pPr algn="ctr"/>
            <a:endParaRPr lang="en-US" sz="4000" b="1" dirty="0">
              <a:solidFill>
                <a:srgbClr val="00B0F0"/>
              </a:solidFill>
              <a:latin typeface="Arial" panose="020B0604020202020204" pitchFamily="34" charset="0"/>
              <a:cs typeface="Arial" panose="020B0604020202020204" pitchFamily="34" charset="0"/>
            </a:endParaRPr>
          </a:p>
        </p:txBody>
      </p:sp>
      <p:pic>
        <p:nvPicPr>
          <p:cNvPr id="3" name="Picture 2"/>
          <p:cNvPicPr>
            <a:picLocks noChangeAspect="1"/>
          </p:cNvPicPr>
          <p:nvPr/>
        </p:nvPicPr>
        <p:blipFill>
          <a:blip r:embed="rId2"/>
          <a:stretch>
            <a:fillRect/>
          </a:stretch>
        </p:blipFill>
        <p:spPr>
          <a:xfrm>
            <a:off x="-529" y="1"/>
            <a:ext cx="12193057" cy="6858296"/>
          </a:xfrm>
          <a:prstGeom prst="rect">
            <a:avLst/>
          </a:prstGeom>
        </p:spPr>
      </p:pic>
      <p:sp>
        <p:nvSpPr>
          <p:cNvPr id="5" name="Rectangle 4"/>
          <p:cNvSpPr/>
          <p:nvPr/>
        </p:nvSpPr>
        <p:spPr>
          <a:xfrm>
            <a:off x="387927" y="1787236"/>
            <a:ext cx="11430000" cy="1938992"/>
          </a:xfrm>
          <a:prstGeom prst="rect">
            <a:avLst/>
          </a:prstGeom>
          <a:scene3d>
            <a:camera prst="perspectiveAbove"/>
            <a:lightRig rig="threePt" dir="t"/>
          </a:scene3d>
        </p:spPr>
        <p:txBody>
          <a:bodyPr wrap="square">
            <a:spAutoFit/>
          </a:bodyPr>
          <a:lstStyle/>
          <a:p>
            <a:r>
              <a:rPr lang="en-US" sz="6000" b="1" dirty="0">
                <a:solidFill>
                  <a:srgbClr val="FFFF00"/>
                </a:solidFill>
                <a:latin typeface="Arial Black" panose="020B0A04020102020204" pitchFamily="34" charset="0"/>
              </a:rPr>
              <a:t>AUGMENTED REALITY AND VIRTUAL REALITY</a:t>
            </a: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9580096" y="30122"/>
            <a:ext cx="2638403" cy="6617342"/>
          </a:xfrm>
          <a:prstGeom prst="rect">
            <a:avLst/>
          </a:prstGeom>
        </p:spPr>
      </p:pic>
      <p:pic>
        <p:nvPicPr>
          <p:cNvPr id="3" name="Picture 2"/>
          <p:cNvPicPr>
            <a:picLocks noChangeAspect="1"/>
          </p:cNvPicPr>
          <p:nvPr/>
        </p:nvPicPr>
        <p:blipFill>
          <a:blip r:embed="rId3"/>
          <a:stretch>
            <a:fillRect/>
          </a:stretch>
        </p:blipFill>
        <p:spPr>
          <a:xfrm>
            <a:off x="0" y="6650718"/>
            <a:ext cx="12205250" cy="207282"/>
          </a:xfrm>
          <a:prstGeom prst="rect">
            <a:avLst/>
          </a:prstGeom>
        </p:spPr>
      </p:pic>
      <p:pic>
        <p:nvPicPr>
          <p:cNvPr id="4" name="Picture 3"/>
          <p:cNvPicPr>
            <a:picLocks noChangeAspect="1"/>
          </p:cNvPicPr>
          <p:nvPr/>
        </p:nvPicPr>
        <p:blipFill>
          <a:blip r:embed="rId4"/>
          <a:stretch>
            <a:fillRect/>
          </a:stretch>
        </p:blipFill>
        <p:spPr>
          <a:xfrm>
            <a:off x="0" y="699909"/>
            <a:ext cx="6559865" cy="170703"/>
          </a:xfrm>
          <a:prstGeom prst="rect">
            <a:avLst/>
          </a:prstGeom>
        </p:spPr>
      </p:pic>
      <p:pic>
        <p:nvPicPr>
          <p:cNvPr id="5" name="Picture 4"/>
          <p:cNvPicPr>
            <a:picLocks noChangeAspect="1"/>
          </p:cNvPicPr>
          <p:nvPr/>
        </p:nvPicPr>
        <p:blipFill>
          <a:blip r:embed="rId5"/>
          <a:stretch>
            <a:fillRect/>
          </a:stretch>
        </p:blipFill>
        <p:spPr>
          <a:xfrm>
            <a:off x="3279932" y="870612"/>
            <a:ext cx="6139204" cy="115834"/>
          </a:xfrm>
          <a:prstGeom prst="rect">
            <a:avLst/>
          </a:prstGeom>
        </p:spPr>
      </p:pic>
      <p:sp>
        <p:nvSpPr>
          <p:cNvPr id="6" name="Rectangle 5"/>
          <p:cNvSpPr/>
          <p:nvPr/>
        </p:nvSpPr>
        <p:spPr>
          <a:xfrm>
            <a:off x="-1" y="30121"/>
            <a:ext cx="12191999" cy="646331"/>
          </a:xfrm>
          <a:prstGeom prst="rect">
            <a:avLst/>
          </a:prstGeom>
        </p:spPr>
        <p:txBody>
          <a:bodyPr wrap="square">
            <a:spAutoFit/>
          </a:bodyPr>
          <a:lstStyle/>
          <a:p>
            <a:pPr algn="ctr"/>
            <a:r>
              <a:rPr lang="en-US" sz="3600" b="1" dirty="0">
                <a:latin typeface="Arial" panose="020B0604020202020204" pitchFamily="34" charset="0"/>
                <a:cs typeface="Arial" panose="020B0604020202020204" pitchFamily="34" charset="0"/>
              </a:rPr>
              <a:t>BIT 123 </a:t>
            </a:r>
            <a:r>
              <a:rPr lang="en-US" sz="3600" b="1" dirty="0" smtClean="0">
                <a:latin typeface="Arial" panose="020B0604020202020204" pitchFamily="34" charset="0"/>
                <a:cs typeface="Arial" panose="020B0604020202020204" pitchFamily="34" charset="0"/>
              </a:rPr>
              <a:t>GROUP  5 PRESENTATION</a:t>
            </a:r>
            <a:endParaRPr lang="en-US" sz="3600" b="1" dirty="0">
              <a:latin typeface="Arial" panose="020B0604020202020204" pitchFamily="34" charset="0"/>
              <a:cs typeface="Arial" panose="020B0604020202020204" pitchFamily="34" charset="0"/>
            </a:endParaRPr>
          </a:p>
        </p:txBody>
      </p:sp>
      <p:sp>
        <p:nvSpPr>
          <p:cNvPr id="8" name="Rectangle 7"/>
          <p:cNvSpPr/>
          <p:nvPr/>
        </p:nvSpPr>
        <p:spPr>
          <a:xfrm>
            <a:off x="13250" y="892041"/>
            <a:ext cx="4952645" cy="4955203"/>
          </a:xfrm>
          <a:prstGeom prst="rect">
            <a:avLst/>
          </a:prstGeom>
        </p:spPr>
        <p:txBody>
          <a:bodyPr wrap="square">
            <a:spAutoFit/>
          </a:bodyPr>
          <a:lstStyle/>
          <a:p>
            <a:r>
              <a:rPr lang="en-US" sz="2800" b="1" dirty="0">
                <a:latin typeface="Arial" panose="020B0604020202020204" pitchFamily="34" charset="0"/>
                <a:cs typeface="Arial" panose="020B0604020202020204" pitchFamily="34" charset="0"/>
              </a:rPr>
              <a:t>GROUP MEMBERS</a:t>
            </a:r>
          </a:p>
          <a:p>
            <a:pPr marL="342900" indent="-342900">
              <a:buFont typeface="+mj-lt"/>
              <a:buAutoNum type="arabicPeriod"/>
            </a:pPr>
            <a:r>
              <a:rPr lang="en-US" sz="1600" dirty="0">
                <a:latin typeface="Arial" panose="020B0604020202020204" pitchFamily="34" charset="0"/>
                <a:cs typeface="Arial" panose="020B0604020202020204" pitchFamily="34" charset="0"/>
              </a:rPr>
              <a:t>ABIGAEL BIYAKI       -  P100/4236G/23</a:t>
            </a:r>
          </a:p>
          <a:p>
            <a:pPr marL="342900" indent="-342900">
              <a:buFont typeface="+mj-lt"/>
              <a:buAutoNum type="arabicPeriod"/>
            </a:pPr>
            <a:r>
              <a:rPr lang="en-US" sz="1600" dirty="0">
                <a:latin typeface="Arial" panose="020B0604020202020204" pitchFamily="34" charset="0"/>
                <a:cs typeface="Arial" panose="020B0604020202020204" pitchFamily="34" charset="0"/>
              </a:rPr>
              <a:t>EVANS MURIIRA       -  P100/4125G/23</a:t>
            </a:r>
          </a:p>
          <a:p>
            <a:pPr marL="342900" indent="-342900">
              <a:buFont typeface="+mj-lt"/>
              <a:buAutoNum type="arabicPeriod"/>
            </a:pPr>
            <a:r>
              <a:rPr lang="en-US" sz="1600" dirty="0">
                <a:latin typeface="Arial" panose="020B0604020202020204" pitchFamily="34" charset="0"/>
                <a:cs typeface="Arial" panose="020B0604020202020204" pitchFamily="34" charset="0"/>
              </a:rPr>
              <a:t>JOSHUA MOKAYA      -P100/4242G/23</a:t>
            </a:r>
          </a:p>
          <a:p>
            <a:pPr marL="342900" indent="-342900">
              <a:buFont typeface="+mj-lt"/>
              <a:buAutoNum type="arabicPeriod"/>
            </a:pPr>
            <a:r>
              <a:rPr lang="en-US" sz="1600" dirty="0">
                <a:latin typeface="Arial" panose="020B0604020202020204" pitchFamily="34" charset="0"/>
                <a:cs typeface="Arial" panose="020B0604020202020204" pitchFamily="34" charset="0"/>
              </a:rPr>
              <a:t>PAUL  </a:t>
            </a:r>
            <a:r>
              <a:rPr lang="en-US" sz="1600" dirty="0" smtClean="0">
                <a:latin typeface="Arial" panose="020B0604020202020204" pitchFamily="34" charset="0"/>
                <a:cs typeface="Arial" panose="020B0604020202020204" pitchFamily="34" charset="0"/>
              </a:rPr>
              <a:t>GATHUA            </a:t>
            </a:r>
            <a:r>
              <a:rPr lang="en-US" sz="1600" dirty="0">
                <a:latin typeface="Arial" panose="020B0604020202020204" pitchFamily="34" charset="0"/>
                <a:cs typeface="Arial" panose="020B0604020202020204" pitchFamily="34" charset="0"/>
              </a:rPr>
              <a:t>-P100/4065G/23</a:t>
            </a:r>
          </a:p>
          <a:p>
            <a:pPr marL="342900" indent="-342900">
              <a:buFont typeface="+mj-lt"/>
              <a:buAutoNum type="arabicPeriod"/>
            </a:pPr>
            <a:r>
              <a:rPr lang="en-US" sz="1600" dirty="0">
                <a:latin typeface="Arial" panose="020B0604020202020204" pitchFamily="34" charset="0"/>
                <a:cs typeface="Arial" panose="020B0604020202020204" pitchFamily="34" charset="0"/>
              </a:rPr>
              <a:t>DANIEL KIHIU            -P100/4216G/23</a:t>
            </a:r>
          </a:p>
          <a:p>
            <a:pPr marL="342900" indent="-342900">
              <a:buFont typeface="+mj-lt"/>
              <a:buAutoNum type="arabicPeriod"/>
            </a:pPr>
            <a:r>
              <a:rPr lang="en-US" sz="1600" dirty="0">
                <a:latin typeface="Arial" panose="020B0604020202020204" pitchFamily="34" charset="0"/>
                <a:cs typeface="Arial" panose="020B0604020202020204" pitchFamily="34" charset="0"/>
              </a:rPr>
              <a:t>SHEILA KIPCHUMBA -P100/4217G/23</a:t>
            </a:r>
          </a:p>
          <a:p>
            <a:pPr marL="342900" indent="-342900">
              <a:buFont typeface="+mj-lt"/>
              <a:buAutoNum type="arabicPeriod"/>
            </a:pPr>
            <a:r>
              <a:rPr lang="en-US" sz="1600" dirty="0">
                <a:latin typeface="Arial" panose="020B0604020202020204" pitchFamily="34" charset="0"/>
                <a:cs typeface="Arial" panose="020B0604020202020204" pitchFamily="34" charset="0"/>
              </a:rPr>
              <a:t>MERCY MUTUA          -P100/4107G/23</a:t>
            </a:r>
          </a:p>
          <a:p>
            <a:pPr marL="342900" indent="-342900">
              <a:buFont typeface="+mj-lt"/>
              <a:buAutoNum type="arabicPeriod"/>
            </a:pPr>
            <a:r>
              <a:rPr lang="en-US" sz="1600" dirty="0" smtClean="0">
                <a:solidFill>
                  <a:schemeClr val="accent1"/>
                </a:solidFill>
                <a:latin typeface="Arial" panose="020B0604020202020204" pitchFamily="34" charset="0"/>
                <a:cs typeface="Arial" panose="020B0604020202020204" pitchFamily="34" charset="0"/>
              </a:rPr>
              <a:t>LUVEMBE WILBERFORCE –P100/4208G/23</a:t>
            </a:r>
          </a:p>
          <a:p>
            <a:pPr marL="342900" indent="-342900">
              <a:buFont typeface="+mj-lt"/>
              <a:buAutoNum type="arabicPeriod"/>
            </a:pPr>
            <a:r>
              <a:rPr lang="en-US" sz="1600" dirty="0" smtClean="0">
                <a:solidFill>
                  <a:schemeClr val="accent1"/>
                </a:solidFill>
                <a:latin typeface="Arial" panose="020B0604020202020204" pitchFamily="34" charset="0"/>
                <a:cs typeface="Arial" panose="020B0604020202020204" pitchFamily="34" charset="0"/>
              </a:rPr>
              <a:t>MILTONE OGENDI      -P100/4211G/23</a:t>
            </a:r>
          </a:p>
          <a:p>
            <a:pPr marL="342900" indent="-342900">
              <a:buFont typeface="+mj-lt"/>
              <a:buAutoNum type="arabicPeriod"/>
            </a:pPr>
            <a:r>
              <a:rPr lang="en-US" sz="1600" dirty="0" smtClean="0">
                <a:latin typeface="Arial" panose="020B0604020202020204" pitchFamily="34" charset="0"/>
                <a:cs typeface="Arial" panose="020B0604020202020204" pitchFamily="34" charset="0"/>
              </a:rPr>
              <a:t>DANIEL NYAMAI              -P100/4482G/23</a:t>
            </a:r>
          </a:p>
          <a:p>
            <a:pPr marL="342900" indent="-342900">
              <a:buFont typeface="+mj-lt"/>
              <a:buAutoNum type="arabicPeriod"/>
            </a:pPr>
            <a:r>
              <a:rPr lang="en-US" sz="1600" dirty="0" smtClean="0">
                <a:solidFill>
                  <a:schemeClr val="accent1"/>
                </a:solidFill>
                <a:latin typeface="Arial" panose="020B0604020202020204" pitchFamily="34" charset="0"/>
                <a:cs typeface="Arial" panose="020B0604020202020204" pitchFamily="34" charset="0"/>
              </a:rPr>
              <a:t>JOSEPH </a:t>
            </a:r>
            <a:r>
              <a:rPr lang="en-US" sz="1600" dirty="0">
                <a:solidFill>
                  <a:schemeClr val="accent1"/>
                </a:solidFill>
                <a:latin typeface="Arial" panose="020B0604020202020204" pitchFamily="34" charset="0"/>
                <a:cs typeface="Arial" panose="020B0604020202020204" pitchFamily="34" charset="0"/>
              </a:rPr>
              <a:t>MWANGI             -P100/4058G/23</a:t>
            </a:r>
          </a:p>
          <a:p>
            <a:pPr marL="342900" indent="-342900">
              <a:buFont typeface="+mj-lt"/>
              <a:buAutoNum type="arabicPeriod"/>
            </a:pPr>
            <a:r>
              <a:rPr lang="en-US" sz="1600" dirty="0">
                <a:solidFill>
                  <a:schemeClr val="accent1"/>
                </a:solidFill>
                <a:latin typeface="Arial" panose="020B0604020202020204" pitchFamily="34" charset="0"/>
                <a:cs typeface="Arial" panose="020B0604020202020204" pitchFamily="34" charset="0"/>
              </a:rPr>
              <a:t>BENSON GACHANJA         -P100/4079G/23</a:t>
            </a:r>
          </a:p>
          <a:p>
            <a:pPr marL="342900" indent="-342900">
              <a:buFont typeface="+mj-lt"/>
              <a:buAutoNum type="arabicPeriod"/>
            </a:pPr>
            <a:r>
              <a:rPr lang="en-US" sz="1600" dirty="0">
                <a:solidFill>
                  <a:schemeClr val="accent1"/>
                </a:solidFill>
                <a:latin typeface="Arial" panose="020B0604020202020204" pitchFamily="34" charset="0"/>
                <a:cs typeface="Arial" panose="020B0604020202020204" pitchFamily="34" charset="0"/>
              </a:rPr>
              <a:t>GILBERT KYALO                  -P100/4115G/23</a:t>
            </a:r>
          </a:p>
          <a:p>
            <a:pPr marL="342900" indent="-342900">
              <a:buFont typeface="+mj-lt"/>
              <a:buAutoNum type="arabicPeriod"/>
            </a:pPr>
            <a:r>
              <a:rPr lang="en-US" sz="1600" dirty="0">
                <a:latin typeface="Arial" panose="020B0604020202020204" pitchFamily="34" charset="0"/>
                <a:cs typeface="Arial" panose="020B0604020202020204" pitchFamily="34" charset="0"/>
              </a:rPr>
              <a:t>HENRICH OWOKO      -P100/4222G/23</a:t>
            </a:r>
          </a:p>
          <a:p>
            <a:pPr marL="342900" indent="-342900">
              <a:buFont typeface="+mj-lt"/>
              <a:buAutoNum type="arabicPeriod"/>
            </a:pPr>
            <a:r>
              <a:rPr lang="en-US" sz="1600" dirty="0">
                <a:latin typeface="Arial" panose="020B0604020202020204" pitchFamily="34" charset="0"/>
                <a:cs typeface="Arial" panose="020B0604020202020204" pitchFamily="34" charset="0"/>
              </a:rPr>
              <a:t>ANDREA KANG’ETHE  -P100/4144G/23</a:t>
            </a:r>
          </a:p>
          <a:p>
            <a:pPr marL="342900" indent="-342900">
              <a:buFont typeface="+mj-lt"/>
              <a:buAutoNum type="arabicPeriod"/>
            </a:pPr>
            <a:r>
              <a:rPr lang="en-US" sz="1600" dirty="0">
                <a:solidFill>
                  <a:schemeClr val="accent1"/>
                </a:solidFill>
                <a:latin typeface="Arial" panose="020B0604020202020204" pitchFamily="34" charset="0"/>
                <a:cs typeface="Arial" panose="020B0604020202020204" pitchFamily="34" charset="0"/>
              </a:rPr>
              <a:t>PETER KINGORI            -P100/4210G/23</a:t>
            </a:r>
          </a:p>
          <a:p>
            <a:pPr marL="342900" indent="-342900">
              <a:buFont typeface="+mj-lt"/>
              <a:buAutoNum type="arabicPeriod"/>
            </a:pPr>
            <a:r>
              <a:rPr lang="en-US" sz="1600" dirty="0">
                <a:latin typeface="Arial" panose="020B0604020202020204" pitchFamily="34" charset="0"/>
                <a:cs typeface="Arial" panose="020B0604020202020204" pitchFamily="34" charset="0"/>
              </a:rPr>
              <a:t>BRENDA CHEROTICH   -P100/4149G/23 </a:t>
            </a:r>
          </a:p>
          <a:p>
            <a:pPr marL="457200" indent="-457200">
              <a:buFont typeface="+mj-lt"/>
              <a:buAutoNum type="arabicPeriod"/>
            </a:pPr>
            <a:endParaRPr lang="en-US" sz="1600" dirty="0">
              <a:latin typeface="Arial" panose="020B0604020202020204" pitchFamily="34" charset="0"/>
              <a:cs typeface="Arial" panose="020B0604020202020204" pitchFamily="34" charset="0"/>
            </a:endParaRPr>
          </a:p>
        </p:txBody>
      </p:sp>
      <p:sp>
        <p:nvSpPr>
          <p:cNvPr id="9" name="Rectangle 8"/>
          <p:cNvSpPr/>
          <p:nvPr/>
        </p:nvSpPr>
        <p:spPr>
          <a:xfrm>
            <a:off x="4797082" y="1157149"/>
            <a:ext cx="4783014" cy="2800767"/>
          </a:xfrm>
          <a:prstGeom prst="rect">
            <a:avLst/>
          </a:prstGeom>
        </p:spPr>
        <p:txBody>
          <a:bodyPr wrap="square">
            <a:spAutoFit/>
          </a:bodyPr>
          <a:lstStyle/>
          <a:p>
            <a:r>
              <a:rPr lang="en-US" sz="1600" dirty="0" smtClean="0">
                <a:latin typeface="Arial" panose="020B0604020202020204" pitchFamily="34" charset="0"/>
                <a:cs typeface="Arial" panose="020B0604020202020204" pitchFamily="34" charset="0"/>
              </a:rPr>
              <a:t>18. </a:t>
            </a:r>
            <a:r>
              <a:rPr lang="en-US" sz="1600" dirty="0" smtClean="0">
                <a:solidFill>
                  <a:schemeClr val="accent1"/>
                </a:solidFill>
                <a:latin typeface="Arial" panose="020B0604020202020204" pitchFamily="34" charset="0"/>
                <a:cs typeface="Arial" panose="020B0604020202020204" pitchFamily="34" charset="0"/>
              </a:rPr>
              <a:t>BOAZ </a:t>
            </a:r>
            <a:r>
              <a:rPr lang="en-US" sz="1600" dirty="0">
                <a:solidFill>
                  <a:schemeClr val="accent1"/>
                </a:solidFill>
                <a:latin typeface="Arial" panose="020B0604020202020204" pitchFamily="34" charset="0"/>
                <a:cs typeface="Arial" panose="020B0604020202020204" pitchFamily="34" charset="0"/>
              </a:rPr>
              <a:t>KIMUTAI                   -P100/4987G/23</a:t>
            </a:r>
          </a:p>
          <a:p>
            <a:r>
              <a:rPr lang="en-US" sz="1600" dirty="0" smtClean="0">
                <a:latin typeface="Arial" panose="020B0604020202020204" pitchFamily="34" charset="0"/>
                <a:cs typeface="Arial" panose="020B0604020202020204" pitchFamily="34" charset="0"/>
              </a:rPr>
              <a:t>19. </a:t>
            </a:r>
            <a:r>
              <a:rPr lang="en-US" sz="1600" dirty="0" smtClean="0">
                <a:latin typeface="Arial" panose="020B0604020202020204" pitchFamily="34" charset="0"/>
                <a:cs typeface="Arial" panose="020B0604020202020204" pitchFamily="34" charset="0"/>
              </a:rPr>
              <a:t>TABITHA </a:t>
            </a:r>
            <a:r>
              <a:rPr lang="en-US" sz="1600" dirty="0">
                <a:latin typeface="Arial" panose="020B0604020202020204" pitchFamily="34" charset="0"/>
                <a:cs typeface="Arial" panose="020B0604020202020204" pitchFamily="34" charset="0"/>
              </a:rPr>
              <a:t>WAIRIMU            -P100/4184G/23</a:t>
            </a:r>
          </a:p>
          <a:p>
            <a:r>
              <a:rPr lang="en-US" sz="1600" dirty="0" smtClean="0">
                <a:latin typeface="Arial" panose="020B0604020202020204" pitchFamily="34" charset="0"/>
                <a:cs typeface="Arial" panose="020B0604020202020204" pitchFamily="34" charset="0"/>
              </a:rPr>
              <a:t>20. TOMMARK </a:t>
            </a:r>
            <a:r>
              <a:rPr lang="en-US" sz="1600" dirty="0">
                <a:latin typeface="Arial" panose="020B0604020202020204" pitchFamily="34" charset="0"/>
                <a:cs typeface="Arial" panose="020B0604020202020204" pitchFamily="34" charset="0"/>
              </a:rPr>
              <a:t>MWENDA       -p100/4121G/23</a:t>
            </a:r>
          </a:p>
          <a:p>
            <a:r>
              <a:rPr lang="en-US" sz="1600" dirty="0" smtClean="0">
                <a:latin typeface="Arial" panose="020B0604020202020204" pitchFamily="34" charset="0"/>
                <a:cs typeface="Arial" panose="020B0604020202020204" pitchFamily="34" charset="0"/>
              </a:rPr>
              <a:t>21. LEVIS </a:t>
            </a:r>
            <a:r>
              <a:rPr lang="en-US" sz="1600" dirty="0">
                <a:latin typeface="Arial" panose="020B0604020202020204" pitchFamily="34" charset="0"/>
                <a:cs typeface="Arial" panose="020B0604020202020204" pitchFamily="34" charset="0"/>
              </a:rPr>
              <a:t>MUYA                        -P100/2120G/23</a:t>
            </a:r>
          </a:p>
          <a:p>
            <a:r>
              <a:rPr lang="en-US" sz="1600" dirty="0" smtClean="0">
                <a:latin typeface="Arial" panose="020B0604020202020204" pitchFamily="34" charset="0"/>
                <a:cs typeface="Arial" panose="020B0604020202020204" pitchFamily="34" charset="0"/>
              </a:rPr>
              <a:t>22. </a:t>
            </a:r>
            <a:r>
              <a:rPr lang="en-US" sz="1600" dirty="0" smtClean="0">
                <a:solidFill>
                  <a:schemeClr val="accent1"/>
                </a:solidFill>
                <a:latin typeface="Arial" panose="020B0604020202020204" pitchFamily="34" charset="0"/>
                <a:cs typeface="Arial" panose="020B0604020202020204" pitchFamily="34" charset="0"/>
              </a:rPr>
              <a:t>SAMSON </a:t>
            </a:r>
            <a:r>
              <a:rPr lang="en-US" sz="1600" dirty="0">
                <a:solidFill>
                  <a:schemeClr val="accent1"/>
                </a:solidFill>
                <a:latin typeface="Arial" panose="020B0604020202020204" pitchFamily="34" charset="0"/>
                <a:cs typeface="Arial" panose="020B0604020202020204" pitchFamily="34" charset="0"/>
              </a:rPr>
              <a:t>KIBE                     -P100/4062G/23</a:t>
            </a:r>
          </a:p>
          <a:p>
            <a:r>
              <a:rPr lang="en-US" sz="1600" dirty="0" smtClean="0">
                <a:latin typeface="Arial" panose="020B0604020202020204" pitchFamily="34" charset="0"/>
                <a:cs typeface="Arial" panose="020B0604020202020204" pitchFamily="34" charset="0"/>
              </a:rPr>
              <a:t>23. IAN </a:t>
            </a:r>
            <a:r>
              <a:rPr lang="en-US" sz="1600" dirty="0">
                <a:latin typeface="Arial" panose="020B0604020202020204" pitchFamily="34" charset="0"/>
                <a:cs typeface="Arial" panose="020B0604020202020204" pitchFamily="34" charset="0"/>
              </a:rPr>
              <a:t>KIBIWOT                      -</a:t>
            </a:r>
            <a:r>
              <a:rPr lang="en-US" sz="1600" dirty="0" smtClean="0">
                <a:latin typeface="Arial" panose="020B0604020202020204" pitchFamily="34" charset="0"/>
                <a:cs typeface="Arial" panose="020B0604020202020204" pitchFamily="34" charset="0"/>
              </a:rPr>
              <a:t>P100/4229G/23</a:t>
            </a:r>
          </a:p>
          <a:p>
            <a:r>
              <a:rPr lang="en-US" sz="1600" dirty="0" smtClean="0">
                <a:latin typeface="Arial" panose="020B0604020202020204" pitchFamily="34" charset="0"/>
                <a:cs typeface="Arial" panose="020B0604020202020204" pitchFamily="34" charset="0"/>
              </a:rPr>
              <a:t>24. SARAH </a:t>
            </a:r>
            <a:r>
              <a:rPr lang="en-US" sz="1600" dirty="0">
                <a:latin typeface="Arial" panose="020B0604020202020204" pitchFamily="34" charset="0"/>
                <a:cs typeface="Arial" panose="020B0604020202020204" pitchFamily="34" charset="0"/>
              </a:rPr>
              <a:t>MARIITA                 -P100/4518G/23</a:t>
            </a:r>
          </a:p>
          <a:p>
            <a:r>
              <a:rPr lang="en-US" sz="1600" dirty="0" smtClean="0">
                <a:latin typeface="Arial" panose="020B0604020202020204" pitchFamily="34" charset="0"/>
                <a:cs typeface="Arial" panose="020B0604020202020204" pitchFamily="34" charset="0"/>
              </a:rPr>
              <a:t>25. GRACE </a:t>
            </a:r>
            <a:r>
              <a:rPr lang="en-US" sz="1600" dirty="0">
                <a:latin typeface="Arial" panose="020B0604020202020204" pitchFamily="34" charset="0"/>
                <a:cs typeface="Arial" panose="020B0604020202020204" pitchFamily="34" charset="0"/>
              </a:rPr>
              <a:t>NYAERAH               -P100/4111G/23</a:t>
            </a:r>
          </a:p>
          <a:p>
            <a:r>
              <a:rPr lang="en-US" sz="1600" dirty="0" smtClean="0">
                <a:latin typeface="Arial" panose="020B0604020202020204" pitchFamily="34" charset="0"/>
                <a:cs typeface="Arial" panose="020B0604020202020204" pitchFamily="34" charset="0"/>
              </a:rPr>
              <a:t>26. SAMUEL </a:t>
            </a:r>
            <a:r>
              <a:rPr lang="en-US" sz="1600" dirty="0">
                <a:latin typeface="Arial" panose="020B0604020202020204" pitchFamily="34" charset="0"/>
                <a:cs typeface="Arial" panose="020B0604020202020204" pitchFamily="34" charset="0"/>
              </a:rPr>
              <a:t>BUNDI                 -P100/2133G/22</a:t>
            </a:r>
          </a:p>
          <a:p>
            <a:r>
              <a:rPr lang="en-US" sz="1600" dirty="0" smtClean="0">
                <a:latin typeface="Arial" panose="020B0604020202020204" pitchFamily="34" charset="0"/>
                <a:cs typeface="Arial" panose="020B0604020202020204" pitchFamily="34" charset="0"/>
              </a:rPr>
              <a:t>27. VICTOR </a:t>
            </a:r>
            <a:r>
              <a:rPr lang="en-US" sz="1600" dirty="0" smtClean="0">
                <a:latin typeface="Arial" panose="020B0604020202020204" pitchFamily="34" charset="0"/>
                <a:cs typeface="Arial" panose="020B0604020202020204" pitchFamily="34" charset="0"/>
              </a:rPr>
              <a:t>KIBET                   -</a:t>
            </a:r>
            <a:r>
              <a:rPr lang="en-US" sz="1600" dirty="0" smtClean="0">
                <a:latin typeface="Arial" panose="020B0604020202020204" pitchFamily="34" charset="0"/>
                <a:cs typeface="Arial" panose="020B0604020202020204" pitchFamily="34" charset="0"/>
              </a:rPr>
              <a:t>P100/4944G/23</a:t>
            </a:r>
            <a:endParaRPr lang="en-US" sz="1600" dirty="0" smtClean="0">
              <a:latin typeface="Arial" panose="020B0604020202020204" pitchFamily="34" charset="0"/>
              <a:cs typeface="Arial" panose="020B0604020202020204" pitchFamily="34" charset="0"/>
            </a:endParaRPr>
          </a:p>
          <a:p>
            <a:r>
              <a:rPr lang="en-US" sz="1600" dirty="0" smtClean="0">
                <a:latin typeface="Arial" panose="020B0604020202020204" pitchFamily="34" charset="0"/>
                <a:cs typeface="Arial" panose="020B0604020202020204" pitchFamily="34" charset="0"/>
              </a:rPr>
              <a:t>29.JOSHUA </a:t>
            </a:r>
            <a:r>
              <a:rPr lang="en-US" sz="1600" dirty="0" smtClean="0">
                <a:latin typeface="Arial" panose="020B0604020202020204" pitchFamily="34" charset="0"/>
                <a:cs typeface="Arial" panose="020B0604020202020204" pitchFamily="34" charset="0"/>
              </a:rPr>
              <a:t>KIMONDIU          - </a:t>
            </a:r>
            <a:r>
              <a:rPr lang="en-US" sz="1600" dirty="0">
                <a:latin typeface="Arial" panose="020B0604020202020204" pitchFamily="34" charset="0"/>
                <a:cs typeface="Arial" panose="020B0604020202020204" pitchFamily="34" charset="0"/>
              </a:rPr>
              <a:t>P100/4109G/23</a:t>
            </a:r>
          </a:p>
        </p:txBody>
      </p:sp>
    </p:spTree>
    <p:extLst>
      <p:ext uri="{BB962C8B-B14F-4D97-AF65-F5344CB8AC3E}">
        <p14:creationId xmlns:p14="http://schemas.microsoft.com/office/powerpoint/2010/main" val="2079637009"/>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470263"/>
          </a:xfrm>
        </p:spPr>
        <p:txBody>
          <a:bodyPr>
            <a:noAutofit/>
          </a:bodyPr>
          <a:lstStyle/>
          <a:p>
            <a:pPr algn="ctr"/>
            <a:r>
              <a:rPr lang="en-US" sz="3600" b="1" dirty="0">
                <a:latin typeface="Arial" panose="020B0604020202020204" pitchFamily="34" charset="0"/>
                <a:cs typeface="Arial" panose="020B0604020202020204" pitchFamily="34" charset="0"/>
              </a:rPr>
              <a:t>DEFINITIONS</a:t>
            </a:r>
          </a:p>
        </p:txBody>
      </p:sp>
      <p:sp>
        <p:nvSpPr>
          <p:cNvPr id="3" name="Content Placeholder 2"/>
          <p:cNvSpPr>
            <a:spLocks noGrp="1"/>
          </p:cNvSpPr>
          <p:nvPr>
            <p:ph idx="1"/>
          </p:nvPr>
        </p:nvSpPr>
        <p:spPr>
          <a:xfrm>
            <a:off x="1" y="888274"/>
            <a:ext cx="12192000" cy="5773783"/>
          </a:xfrm>
        </p:spPr>
        <p:txBody>
          <a:bodyPr>
            <a:noAutofit/>
          </a:bodyPr>
          <a:lstStyle/>
          <a:p>
            <a:pPr marL="457200" lvl="1" indent="0">
              <a:buNone/>
            </a:pPr>
            <a:r>
              <a:rPr lang="en-US" sz="3200" b="1" dirty="0">
                <a:solidFill>
                  <a:srgbClr val="00B0F0"/>
                </a:solidFill>
                <a:latin typeface="Arial" panose="020B0604020202020204" pitchFamily="34" charset="0"/>
                <a:cs typeface="Arial" panose="020B0604020202020204" pitchFamily="34" charset="0"/>
              </a:rPr>
              <a:t>AUGMENTED </a:t>
            </a:r>
            <a:r>
              <a:rPr lang="en-US" sz="3200" b="1" dirty="0" smtClean="0">
                <a:solidFill>
                  <a:srgbClr val="00B0F0"/>
                </a:solidFill>
                <a:latin typeface="Arial" panose="020B0604020202020204" pitchFamily="34" charset="0"/>
                <a:cs typeface="Arial" panose="020B0604020202020204" pitchFamily="34" charset="0"/>
              </a:rPr>
              <a:t>REALITY</a:t>
            </a:r>
          </a:p>
          <a:p>
            <a:pPr marL="457200" lvl="1" indent="0">
              <a:buNone/>
            </a:pPr>
            <a:endParaRPr lang="en-US" sz="3200" b="1" dirty="0" smtClean="0">
              <a:latin typeface="Arial" panose="020B0604020202020204" pitchFamily="34" charset="0"/>
              <a:cs typeface="Arial" panose="020B0604020202020204" pitchFamily="34" charset="0"/>
            </a:endParaRPr>
          </a:p>
          <a:p>
            <a:pPr marL="914400" lvl="1" indent="-457200">
              <a:lnSpc>
                <a:spcPct val="100000"/>
              </a:lnSpc>
              <a:spcBef>
                <a:spcPts val="0"/>
              </a:spcBef>
              <a:buFont typeface="Wingdings" panose="05000000000000000000" pitchFamily="2" charset="2"/>
              <a:buChar char="Ø"/>
            </a:pPr>
            <a:r>
              <a:rPr lang="en-US" sz="2800" b="1" dirty="0" smtClean="0">
                <a:latin typeface="Arial" panose="020B0604020202020204" pitchFamily="34" charset="0"/>
                <a:cs typeface="Arial" panose="020B0604020202020204" pitchFamily="34" charset="0"/>
              </a:rPr>
              <a:t>it </a:t>
            </a:r>
            <a:r>
              <a:rPr lang="en-US" sz="2800" b="1" dirty="0">
                <a:latin typeface="Arial" panose="020B0604020202020204" pitchFamily="34" charset="0"/>
                <a:cs typeface="Arial" panose="020B0604020202020204" pitchFamily="34" charset="0"/>
              </a:rPr>
              <a:t>overlays digital information onto the real world enhancing the user’s perception of reality. Examples are google  maps AR navigation, snapchat filters and AR </a:t>
            </a:r>
            <a:r>
              <a:rPr lang="en-US" sz="2800" b="1" dirty="0" smtClean="0">
                <a:latin typeface="Arial" panose="020B0604020202020204" pitchFamily="34" charset="0"/>
                <a:cs typeface="Arial" panose="020B0604020202020204" pitchFamily="34" charset="0"/>
              </a:rPr>
              <a:t>art </a:t>
            </a:r>
            <a:r>
              <a:rPr lang="en-US" sz="2800" b="1" dirty="0">
                <a:latin typeface="Arial" panose="020B0604020202020204" pitchFamily="34" charset="0"/>
                <a:cs typeface="Arial" panose="020B0604020202020204" pitchFamily="34" charset="0"/>
              </a:rPr>
              <a:t>(Xiong et al., 2021).</a:t>
            </a:r>
            <a:endParaRPr lang="en-US" sz="3200" b="1" dirty="0">
              <a:latin typeface="Arial" panose="020B0604020202020204" pitchFamily="34" charset="0"/>
              <a:cs typeface="Arial" panose="020B0604020202020204" pitchFamily="34" charset="0"/>
            </a:endParaRPr>
          </a:p>
          <a:p>
            <a:pPr marL="457200" lvl="1" indent="0">
              <a:buNone/>
            </a:pPr>
            <a:r>
              <a:rPr lang="en-US" sz="3200" b="1" dirty="0">
                <a:solidFill>
                  <a:srgbClr val="00B0F0"/>
                </a:solidFill>
                <a:latin typeface="Arial" panose="020B0604020202020204" pitchFamily="34" charset="0"/>
                <a:cs typeface="Arial" panose="020B0604020202020204" pitchFamily="34" charset="0"/>
              </a:rPr>
              <a:t>VIRTUAL </a:t>
            </a:r>
            <a:r>
              <a:rPr lang="en-US" sz="3200" b="1" dirty="0" smtClean="0">
                <a:solidFill>
                  <a:srgbClr val="00B0F0"/>
                </a:solidFill>
                <a:latin typeface="Arial" panose="020B0604020202020204" pitchFamily="34" charset="0"/>
                <a:cs typeface="Arial" panose="020B0604020202020204" pitchFamily="34" charset="0"/>
              </a:rPr>
              <a:t>REALITY</a:t>
            </a:r>
          </a:p>
          <a:p>
            <a:pPr marL="457200" lvl="1" indent="0">
              <a:buNone/>
            </a:pPr>
            <a:endParaRPr lang="en-US" sz="3200" b="1" dirty="0" smtClean="0">
              <a:latin typeface="Arial" panose="020B0604020202020204" pitchFamily="34" charset="0"/>
              <a:cs typeface="Arial" panose="020B0604020202020204" pitchFamily="34" charset="0"/>
            </a:endParaRPr>
          </a:p>
          <a:p>
            <a:pPr marL="914400" lvl="1" indent="-457200">
              <a:lnSpc>
                <a:spcPct val="100000"/>
              </a:lnSpc>
              <a:spcBef>
                <a:spcPts val="0"/>
              </a:spcBef>
              <a:buFont typeface="Wingdings" panose="05000000000000000000" pitchFamily="2" charset="2"/>
              <a:buChar char="Ø"/>
            </a:pPr>
            <a:r>
              <a:rPr lang="en-US" sz="2800" b="1" dirty="0" smtClean="0">
                <a:latin typeface="Arial" panose="020B0604020202020204" pitchFamily="34" charset="0"/>
                <a:cs typeface="Arial" panose="020B0604020202020204" pitchFamily="34" charset="0"/>
              </a:rPr>
              <a:t>immerses </a:t>
            </a:r>
            <a:r>
              <a:rPr lang="en-US" sz="2800" b="1" dirty="0">
                <a:latin typeface="Arial" panose="020B0604020202020204" pitchFamily="34" charset="0"/>
                <a:cs typeface="Arial" panose="020B0604020202020204" pitchFamily="34" charset="0"/>
              </a:rPr>
              <a:t>users in a completely simulated environment, often through a headset or goggles, blocking out the physical world. Examples are VR gaming, virtual tours and training and </a:t>
            </a:r>
            <a:r>
              <a:rPr lang="en-US" sz="2800" b="1" dirty="0" smtClean="0">
                <a:latin typeface="Arial" panose="020B0604020202020204" pitchFamily="34" charset="0"/>
                <a:cs typeface="Arial" panose="020B0604020202020204" pitchFamily="34" charset="0"/>
              </a:rPr>
              <a:t>simulation </a:t>
            </a:r>
            <a:r>
              <a:rPr lang="en-US" sz="2400" b="1" dirty="0" smtClean="0">
                <a:latin typeface="Arial" panose="020B0604020202020204" pitchFamily="34" charset="0"/>
                <a:cs typeface="Arial" panose="020B0604020202020204" pitchFamily="34" charset="0"/>
              </a:rPr>
              <a:t>(Xiong et al., 2021).</a:t>
            </a:r>
            <a:endParaRPr lang="en-US" sz="2400" b="1" dirty="0">
              <a:latin typeface="Arial" panose="020B0604020202020204" pitchFamily="34" charset="0"/>
              <a:cs typeface="Arial" panose="020B0604020202020204" pitchFamily="34" charset="0"/>
            </a:endParaRPr>
          </a:p>
          <a:p>
            <a:pPr marL="457200" lvl="1" indent="0">
              <a:buNone/>
            </a:pPr>
            <a:endParaRPr lang="en-US" sz="2800" b="1" dirty="0">
              <a:latin typeface="Arial" panose="020B0604020202020204" pitchFamily="34" charset="0"/>
              <a:cs typeface="Arial" panose="020B0604020202020204" pitchFamily="34" charset="0"/>
            </a:endParaRPr>
          </a:p>
        </p:txBody>
      </p:sp>
      <p:sp>
        <p:nvSpPr>
          <p:cNvPr id="4" name="Snip Single Corner Rectangle 3"/>
          <p:cNvSpPr/>
          <p:nvPr/>
        </p:nvSpPr>
        <p:spPr>
          <a:xfrm>
            <a:off x="-1" y="574766"/>
            <a:ext cx="6544492" cy="156754"/>
          </a:xfrm>
          <a:prstGeom prst="snip1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nip Single Corner Rectangle 4"/>
          <p:cNvSpPr/>
          <p:nvPr/>
        </p:nvSpPr>
        <p:spPr>
          <a:xfrm>
            <a:off x="3032760" y="731520"/>
            <a:ext cx="6126481" cy="104503"/>
          </a:xfrm>
          <a:prstGeom prst="snip1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1" y="6662057"/>
            <a:ext cx="12192001" cy="195943"/>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p:cNvPicPr>
            <a:picLocks noGrp="1" noChangeAspect="1"/>
          </p:cNvPicPr>
          <p:nvPr>
            <p:ph idx="1"/>
          </p:nvPr>
        </p:nvPicPr>
        <p:blipFill>
          <a:blip r:embed="rId2"/>
          <a:stretch>
            <a:fillRect/>
          </a:stretch>
        </p:blipFill>
        <p:spPr>
          <a:xfrm>
            <a:off x="0" y="907003"/>
            <a:ext cx="12192000" cy="5743035"/>
          </a:xfrm>
          <a:prstGeom prst="rect">
            <a:avLst/>
          </a:prstGeom>
        </p:spPr>
      </p:pic>
      <p:pic>
        <p:nvPicPr>
          <p:cNvPr id="4" name="Picture 3"/>
          <p:cNvPicPr>
            <a:picLocks noChangeAspect="1"/>
          </p:cNvPicPr>
          <p:nvPr/>
        </p:nvPicPr>
        <p:blipFill>
          <a:blip r:embed="rId3"/>
          <a:stretch>
            <a:fillRect/>
          </a:stretch>
        </p:blipFill>
        <p:spPr>
          <a:xfrm>
            <a:off x="0" y="620466"/>
            <a:ext cx="6559865" cy="170703"/>
          </a:xfrm>
          <a:prstGeom prst="rect">
            <a:avLst/>
          </a:prstGeom>
        </p:spPr>
      </p:pic>
      <p:pic>
        <p:nvPicPr>
          <p:cNvPr id="5" name="Picture 4"/>
          <p:cNvPicPr>
            <a:picLocks noChangeAspect="1"/>
          </p:cNvPicPr>
          <p:nvPr/>
        </p:nvPicPr>
        <p:blipFill>
          <a:blip r:embed="rId4"/>
          <a:stretch>
            <a:fillRect/>
          </a:stretch>
        </p:blipFill>
        <p:spPr>
          <a:xfrm>
            <a:off x="3279932" y="791169"/>
            <a:ext cx="6139204" cy="115834"/>
          </a:xfrm>
          <a:prstGeom prst="rect">
            <a:avLst/>
          </a:prstGeom>
        </p:spPr>
      </p:pic>
      <p:pic>
        <p:nvPicPr>
          <p:cNvPr id="6" name="Picture 5"/>
          <p:cNvPicPr>
            <a:picLocks noChangeAspect="1"/>
          </p:cNvPicPr>
          <p:nvPr/>
        </p:nvPicPr>
        <p:blipFill>
          <a:blip r:embed="rId5"/>
          <a:stretch>
            <a:fillRect/>
          </a:stretch>
        </p:blipFill>
        <p:spPr>
          <a:xfrm>
            <a:off x="0" y="6650717"/>
            <a:ext cx="12205250" cy="207282"/>
          </a:xfrm>
          <a:prstGeom prst="rect">
            <a:avLst/>
          </a:prstGeom>
        </p:spPr>
      </p:pic>
      <p:sp>
        <p:nvSpPr>
          <p:cNvPr id="2" name="Rectangle 1"/>
          <p:cNvSpPr/>
          <p:nvPr/>
        </p:nvSpPr>
        <p:spPr>
          <a:xfrm>
            <a:off x="1" y="22162"/>
            <a:ext cx="12192000" cy="584775"/>
          </a:xfrm>
          <a:prstGeom prst="rect">
            <a:avLst/>
          </a:prstGeom>
        </p:spPr>
        <p:txBody>
          <a:bodyPr wrap="square">
            <a:spAutoFit/>
          </a:bodyPr>
          <a:lstStyle/>
          <a:p>
            <a:pPr algn="ctr"/>
            <a:r>
              <a:rPr lang="en-US" dirty="0"/>
              <a:t> </a:t>
            </a:r>
            <a:r>
              <a:rPr lang="en-US" sz="3200" b="1" dirty="0">
                <a:latin typeface="Arial" panose="020B0604020202020204" pitchFamily="34" charset="0"/>
                <a:cs typeface="Arial" panose="020B0604020202020204" pitchFamily="34" charset="0"/>
              </a:rPr>
              <a:t>Differences of AR and VR</a:t>
            </a:r>
          </a:p>
        </p:txBody>
      </p:sp>
      <p:graphicFrame>
        <p:nvGraphicFramePr>
          <p:cNvPr id="8" name="Table 7"/>
          <p:cNvGraphicFramePr>
            <a:graphicFrameLocks noGrp="1"/>
          </p:cNvGraphicFramePr>
          <p:nvPr>
            <p:extLst>
              <p:ext uri="{D42A27DB-BD31-4B8C-83A1-F6EECF244321}">
                <p14:modId xmlns:p14="http://schemas.microsoft.com/office/powerpoint/2010/main" val="2297449721"/>
              </p:ext>
            </p:extLst>
          </p:nvPr>
        </p:nvGraphicFramePr>
        <p:xfrm>
          <a:off x="0" y="907001"/>
          <a:ext cx="12192000" cy="5743036"/>
        </p:xfrm>
        <a:graphic>
          <a:graphicData uri="http://schemas.openxmlformats.org/drawingml/2006/table">
            <a:tbl>
              <a:tblPr firstRow="1" bandRow="1">
                <a:tableStyleId>{3C2FFA5D-87B4-456A-9821-1D502468CF0F}</a:tableStyleId>
              </a:tblPr>
              <a:tblGrid>
                <a:gridCol w="6031964">
                  <a:extLst>
                    <a:ext uri="{9D8B030D-6E8A-4147-A177-3AD203B41FA5}">
                      <a16:colId xmlns:a16="http://schemas.microsoft.com/office/drawing/2014/main" val="458114283"/>
                    </a:ext>
                  </a:extLst>
                </a:gridCol>
                <a:gridCol w="6160036">
                  <a:extLst>
                    <a:ext uri="{9D8B030D-6E8A-4147-A177-3AD203B41FA5}">
                      <a16:colId xmlns:a16="http://schemas.microsoft.com/office/drawing/2014/main" val="2133814039"/>
                    </a:ext>
                  </a:extLst>
                </a:gridCol>
              </a:tblGrid>
              <a:tr h="511816">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indent="0">
                        <a:buFont typeface="Arial" panose="020B0604020202020204" pitchFamily="34" charset="0"/>
                        <a:buNone/>
                      </a:pPr>
                      <a:endParaRPr lang="en-US" dirty="0"/>
                    </a:p>
                  </a:txBody>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tc>
                <a:extLst>
                  <a:ext uri="{0D108BD9-81ED-4DB2-BD59-A6C34878D82A}">
                    <a16:rowId xmlns:a16="http://schemas.microsoft.com/office/drawing/2014/main" val="3265651582"/>
                  </a:ext>
                </a:extLst>
              </a:tr>
              <a:tr h="60188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US" sz="2800" u="sng" dirty="0">
                          <a:solidFill>
                            <a:srgbClr val="FFFF00"/>
                          </a:solidFill>
                        </a:rPr>
                        <a:t>VR(Virtual reality)</a:t>
                      </a:r>
                      <a:endParaRPr lang="en-US" sz="2800" u="sng" dirty="0">
                        <a:solidFill>
                          <a:srgbClr val="FFFF00"/>
                        </a:solidFill>
                        <a:latin typeface="Arial" panose="020B0604020202020204" pitchFamily="34" charset="0"/>
                        <a:cs typeface="Arial" panose="020B0604020202020204" pitchFamily="34" charset="0"/>
                      </a:endParaRPr>
                    </a:p>
                  </a:txBody>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US" sz="2800" u="sng" dirty="0">
                          <a:solidFill>
                            <a:srgbClr val="FFFF00"/>
                          </a:solidFill>
                        </a:rPr>
                        <a:t>AR(Augmented Reality</a:t>
                      </a:r>
                      <a:r>
                        <a:rPr lang="en-US" sz="2800" dirty="0">
                          <a:solidFill>
                            <a:srgbClr val="FFFF00"/>
                          </a:solidFill>
                        </a:rPr>
                        <a:t>)</a:t>
                      </a:r>
                      <a:endParaRPr lang="en-US" sz="2800" dirty="0">
                        <a:solidFill>
                          <a:srgbClr val="FFFF00"/>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690560018"/>
                  </a:ext>
                </a:extLst>
              </a:tr>
              <a:tr h="890967">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285750" indent="-285750">
                        <a:buFont typeface="Wingdings" panose="05000000000000000000" pitchFamily="2" charset="2"/>
                        <a:buChar char="v"/>
                      </a:pPr>
                      <a:r>
                        <a:rPr lang="en-US" sz="2800" dirty="0"/>
                        <a:t>VR is totally imaginary.</a:t>
                      </a:r>
                      <a:endParaRPr lang="en-US" sz="2800" dirty="0">
                        <a:solidFill>
                          <a:schemeClr val="tx1"/>
                        </a:solidFill>
                        <a:latin typeface="Arial" panose="020B0604020202020204" pitchFamily="34" charset="0"/>
                        <a:cs typeface="Arial" panose="020B0604020202020204" pitchFamily="34" charset="0"/>
                      </a:endParaRPr>
                    </a:p>
                  </a:txBody>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285750" indent="-285750">
                        <a:buFont typeface="Wingdings" panose="05000000000000000000" pitchFamily="2" charset="2"/>
                        <a:buChar char="v"/>
                      </a:pPr>
                      <a:r>
                        <a:rPr lang="en-US" sz="2800" dirty="0"/>
                        <a:t>AR takes place in the real world.</a:t>
                      </a:r>
                      <a:endParaRPr lang="en-US" sz="2800" dirty="0">
                        <a:solidFill>
                          <a:schemeClr val="tx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184377355"/>
                  </a:ext>
                </a:extLst>
              </a:tr>
              <a:tr h="1293341">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285750" indent="-285750">
                        <a:buFont typeface="Wingdings" panose="05000000000000000000" pitchFamily="2" charset="2"/>
                        <a:buChar char="v"/>
                      </a:pPr>
                      <a:r>
                        <a:rPr lang="en-US" sz="2800" dirty="0"/>
                        <a:t>The system monitors VR users.</a:t>
                      </a:r>
                      <a:endParaRPr lang="en-US" sz="2800" dirty="0">
                        <a:solidFill>
                          <a:schemeClr val="tx1"/>
                        </a:solidFill>
                        <a:latin typeface="Arial" panose="020B0604020202020204" pitchFamily="34" charset="0"/>
                        <a:cs typeface="Arial" panose="020B0604020202020204" pitchFamily="34" charset="0"/>
                      </a:endParaRPr>
                    </a:p>
                  </a:txBody>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285750" indent="-285750">
                        <a:buFont typeface="Wingdings" panose="05000000000000000000" pitchFamily="2" charset="2"/>
                        <a:buChar char="v"/>
                      </a:pPr>
                      <a:r>
                        <a:rPr lang="en-US" sz="2800" dirty="0"/>
                        <a:t>AR users have control over their presence in the real world.</a:t>
                      </a:r>
                      <a:endParaRPr lang="en-US" sz="2800" dirty="0">
                        <a:solidFill>
                          <a:schemeClr val="tx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012899277"/>
                  </a:ext>
                </a:extLst>
              </a:tr>
              <a:tr h="966604">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285750" indent="-285750">
                        <a:buFont typeface="Wingdings" panose="05000000000000000000" pitchFamily="2" charset="2"/>
                        <a:buChar char="v"/>
                      </a:pPr>
                      <a:r>
                        <a:rPr lang="en-US" sz="2800" dirty="0"/>
                        <a:t>VR requires the use of a </a:t>
                      </a:r>
                      <a:r>
                        <a:rPr lang="en-US" sz="2800" dirty="0" smtClean="0"/>
                        <a:t>headset </a:t>
                      </a:r>
                      <a:r>
                        <a:rPr lang="en-US" sz="2800" dirty="0"/>
                        <a:t>device.</a:t>
                      </a:r>
                      <a:endParaRPr lang="en-US" sz="2800" dirty="0">
                        <a:solidFill>
                          <a:schemeClr val="tx1"/>
                        </a:solidFill>
                        <a:latin typeface="Arial" panose="020B0604020202020204" pitchFamily="34" charset="0"/>
                        <a:cs typeface="Arial" panose="020B0604020202020204" pitchFamily="34" charset="0"/>
                      </a:endParaRPr>
                    </a:p>
                  </a:txBody>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285750" indent="-285750">
                        <a:buFont typeface="Wingdings" panose="05000000000000000000" pitchFamily="2" charset="2"/>
                        <a:buChar char="v"/>
                      </a:pPr>
                      <a:r>
                        <a:rPr lang="en-US" sz="2800" dirty="0"/>
                        <a:t>AR is accessible  via smartphones.</a:t>
                      </a:r>
                      <a:endParaRPr lang="en-US" sz="2800" dirty="0">
                        <a:solidFill>
                          <a:schemeClr val="tx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684927820"/>
                  </a:ext>
                </a:extLst>
              </a:tr>
              <a:tr h="966604">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285750" indent="-285750">
                        <a:buFont typeface="Wingdings" panose="05000000000000000000" pitchFamily="2" charset="2"/>
                        <a:buChar char="v"/>
                      </a:pPr>
                      <a:r>
                        <a:rPr lang="en-US" sz="2800" dirty="0"/>
                        <a:t>VR enhances a fictious reality.</a:t>
                      </a:r>
                      <a:endParaRPr lang="en-US" sz="2800" dirty="0">
                        <a:solidFill>
                          <a:schemeClr val="tx1"/>
                        </a:solidFill>
                        <a:latin typeface="Arial" panose="020B0604020202020204" pitchFamily="34" charset="0"/>
                        <a:cs typeface="Arial" panose="020B0604020202020204" pitchFamily="34" charset="0"/>
                      </a:endParaRPr>
                    </a:p>
                  </a:txBody>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285750" indent="-285750">
                        <a:buFont typeface="Wingdings" panose="05000000000000000000" pitchFamily="2" charset="2"/>
                        <a:buChar char="v"/>
                      </a:pPr>
                      <a:r>
                        <a:rPr lang="en-US" sz="2800" dirty="0"/>
                        <a:t>AR enhances both the virtual and the real world.</a:t>
                      </a:r>
                      <a:endParaRPr lang="en-US" sz="2800" dirty="0">
                        <a:solidFill>
                          <a:schemeClr val="tx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561959243"/>
                  </a:ext>
                </a:extLst>
              </a:tr>
              <a:tr h="511816">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tc>
                <a:extLst>
                  <a:ext uri="{0D108BD9-81ED-4DB2-BD59-A6C34878D82A}">
                    <a16:rowId xmlns:a16="http://schemas.microsoft.com/office/drawing/2014/main" val="1798687790"/>
                  </a:ext>
                </a:extLst>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3062"/>
            <a:ext cx="12192000" cy="526415"/>
          </a:xfrm>
        </p:spPr>
        <p:txBody>
          <a:bodyPr>
            <a:noAutofit/>
          </a:bodyPr>
          <a:lstStyle/>
          <a:p>
            <a:pPr algn="ctr"/>
            <a:r>
              <a:rPr lang="en-US" sz="2800" b="1" cap="none" dirty="0" smtClean="0">
                <a:latin typeface="Arial" panose="020B0604020202020204" pitchFamily="34" charset="0"/>
                <a:cs typeface="Arial" panose="020B0604020202020204" pitchFamily="34" charset="0"/>
              </a:rPr>
              <a:t>Image Showing Differences </a:t>
            </a:r>
            <a:r>
              <a:rPr lang="en-US" sz="2800" b="1" cap="none" dirty="0">
                <a:latin typeface="Arial" panose="020B0604020202020204" pitchFamily="34" charset="0"/>
                <a:cs typeface="Arial" panose="020B0604020202020204" pitchFamily="34" charset="0"/>
              </a:rPr>
              <a:t>of AR and VR</a:t>
            </a:r>
          </a:p>
        </p:txBody>
      </p:sp>
      <p:sp>
        <p:nvSpPr>
          <p:cNvPr id="3" name="Content Placeholder 2"/>
          <p:cNvSpPr>
            <a:spLocks noGrp="1"/>
          </p:cNvSpPr>
          <p:nvPr>
            <p:ph idx="1"/>
          </p:nvPr>
        </p:nvSpPr>
        <p:spPr>
          <a:xfrm>
            <a:off x="0" y="894813"/>
            <a:ext cx="12191999" cy="5675803"/>
          </a:xfrm>
        </p:spPr>
        <p:txBody>
          <a:bodyPr>
            <a:normAutofit/>
          </a:bodyPr>
          <a:lstStyle/>
          <a:p>
            <a:pPr lvl="2" indent="-457200">
              <a:lnSpc>
                <a:spcPct val="150000"/>
              </a:lnSpc>
              <a:spcBef>
                <a:spcPts val="0"/>
              </a:spcBef>
              <a:buFont typeface="Wingdings" panose="05000000000000000000" pitchFamily="2" charset="2"/>
              <a:buChar char="Ø"/>
            </a:pPr>
            <a:endParaRPr lang="en-US" sz="2800" dirty="0">
              <a:latin typeface="Arial" panose="020B0604020202020204" pitchFamily="34" charset="0"/>
              <a:cs typeface="Arial" panose="020B0604020202020204" pitchFamily="34" charset="0"/>
              <a:sym typeface="+mn-ea"/>
            </a:endParaRPr>
          </a:p>
        </p:txBody>
      </p:sp>
      <p:pic>
        <p:nvPicPr>
          <p:cNvPr id="4" name="Picture 3"/>
          <p:cNvPicPr>
            <a:picLocks noChangeAspect="1"/>
          </p:cNvPicPr>
          <p:nvPr/>
        </p:nvPicPr>
        <p:blipFill>
          <a:blip r:embed="rId2"/>
          <a:stretch>
            <a:fillRect/>
          </a:stretch>
        </p:blipFill>
        <p:spPr>
          <a:xfrm>
            <a:off x="0" y="573877"/>
            <a:ext cx="6559865" cy="170703"/>
          </a:xfrm>
          <a:prstGeom prst="rect">
            <a:avLst/>
          </a:prstGeom>
        </p:spPr>
      </p:pic>
      <p:pic>
        <p:nvPicPr>
          <p:cNvPr id="5" name="Picture 4"/>
          <p:cNvPicPr>
            <a:picLocks noChangeAspect="1"/>
          </p:cNvPicPr>
          <p:nvPr/>
        </p:nvPicPr>
        <p:blipFill>
          <a:blip r:embed="rId3"/>
          <a:stretch>
            <a:fillRect/>
          </a:stretch>
        </p:blipFill>
        <p:spPr>
          <a:xfrm>
            <a:off x="3279932" y="744580"/>
            <a:ext cx="6139204" cy="115834"/>
          </a:xfrm>
          <a:prstGeom prst="rect">
            <a:avLst/>
          </a:prstGeom>
        </p:spPr>
      </p:pic>
      <p:pic>
        <p:nvPicPr>
          <p:cNvPr id="6" name="Picture 5"/>
          <p:cNvPicPr>
            <a:picLocks noChangeAspect="1"/>
          </p:cNvPicPr>
          <p:nvPr/>
        </p:nvPicPr>
        <p:blipFill>
          <a:blip r:embed="rId4"/>
          <a:stretch>
            <a:fillRect/>
          </a:stretch>
        </p:blipFill>
        <p:spPr>
          <a:xfrm>
            <a:off x="-13251" y="6650718"/>
            <a:ext cx="12205250" cy="207282"/>
          </a:xfrm>
          <a:prstGeom prst="rect">
            <a:avLst/>
          </a:prstGeom>
        </p:spPr>
      </p:pic>
      <p:pic>
        <p:nvPicPr>
          <p:cNvPr id="7" name="Picture 6"/>
          <p:cNvPicPr>
            <a:picLocks noChangeAspect="1"/>
          </p:cNvPicPr>
          <p:nvPr/>
        </p:nvPicPr>
        <p:blipFill>
          <a:blip r:embed="rId5"/>
          <a:stretch>
            <a:fillRect/>
          </a:stretch>
        </p:blipFill>
        <p:spPr>
          <a:xfrm>
            <a:off x="-529" y="860414"/>
            <a:ext cx="12193057" cy="5440051"/>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535576"/>
          </a:xfrm>
        </p:spPr>
        <p:txBody>
          <a:bodyPr>
            <a:normAutofit/>
          </a:bodyPr>
          <a:lstStyle/>
          <a:p>
            <a:pPr algn="ctr"/>
            <a:r>
              <a:rPr lang="en-US" sz="3200" b="1" cap="none" dirty="0" smtClean="0"/>
              <a:t>Advantages </a:t>
            </a:r>
            <a:r>
              <a:rPr lang="en-US" sz="3200" b="1" cap="none" dirty="0"/>
              <a:t>of Augmented Reality</a:t>
            </a:r>
          </a:p>
        </p:txBody>
      </p:sp>
      <p:pic>
        <p:nvPicPr>
          <p:cNvPr id="4" name="Picture 3"/>
          <p:cNvPicPr>
            <a:picLocks noChangeAspect="1"/>
          </p:cNvPicPr>
          <p:nvPr/>
        </p:nvPicPr>
        <p:blipFill>
          <a:blip r:embed="rId2"/>
          <a:stretch>
            <a:fillRect/>
          </a:stretch>
        </p:blipFill>
        <p:spPr>
          <a:xfrm>
            <a:off x="0" y="6650718"/>
            <a:ext cx="12205250" cy="207282"/>
          </a:xfrm>
          <a:prstGeom prst="rect">
            <a:avLst/>
          </a:prstGeom>
        </p:spPr>
      </p:pic>
      <p:pic>
        <p:nvPicPr>
          <p:cNvPr id="5" name="Picture 4"/>
          <p:cNvPicPr>
            <a:picLocks noChangeAspect="1"/>
          </p:cNvPicPr>
          <p:nvPr/>
        </p:nvPicPr>
        <p:blipFill>
          <a:blip r:embed="rId3"/>
          <a:stretch>
            <a:fillRect/>
          </a:stretch>
        </p:blipFill>
        <p:spPr>
          <a:xfrm>
            <a:off x="0" y="487410"/>
            <a:ext cx="6559865" cy="170703"/>
          </a:xfrm>
          <a:prstGeom prst="rect">
            <a:avLst/>
          </a:prstGeom>
        </p:spPr>
      </p:pic>
      <p:pic>
        <p:nvPicPr>
          <p:cNvPr id="6" name="Picture 5"/>
          <p:cNvPicPr>
            <a:picLocks noChangeAspect="1"/>
          </p:cNvPicPr>
          <p:nvPr/>
        </p:nvPicPr>
        <p:blipFill>
          <a:blip r:embed="rId4"/>
          <a:stretch>
            <a:fillRect/>
          </a:stretch>
        </p:blipFill>
        <p:spPr>
          <a:xfrm>
            <a:off x="3496888" y="636774"/>
            <a:ext cx="6139204" cy="115834"/>
          </a:xfrm>
          <a:prstGeom prst="rect">
            <a:avLst/>
          </a:prstGeom>
        </p:spPr>
      </p:pic>
      <p:sp>
        <p:nvSpPr>
          <p:cNvPr id="3" name="Content Placeholder 2"/>
          <p:cNvSpPr>
            <a:spLocks noGrp="1"/>
          </p:cNvSpPr>
          <p:nvPr>
            <p:ph idx="1"/>
          </p:nvPr>
        </p:nvSpPr>
        <p:spPr>
          <a:xfrm>
            <a:off x="0" y="853805"/>
            <a:ext cx="12192000" cy="5796913"/>
          </a:xfrm>
        </p:spPr>
        <p:txBody>
          <a:bodyPr>
            <a:normAutofit fontScale="85000" lnSpcReduction="20000"/>
          </a:bodyPr>
          <a:lstStyle/>
          <a:p>
            <a:pPr marL="457200" lvl="1" indent="0">
              <a:buNone/>
            </a:pPr>
            <a:endParaRPr lang="en-US" sz="3200" b="1" dirty="0" smtClean="0">
              <a:latin typeface="Arial" panose="020B0604020202020204" pitchFamily="34" charset="0"/>
              <a:cs typeface="Arial" panose="020B0604020202020204" pitchFamily="34" charset="0"/>
            </a:endParaRPr>
          </a:p>
          <a:p>
            <a:pPr lvl="1">
              <a:lnSpc>
                <a:spcPct val="120000"/>
              </a:lnSpc>
              <a:buFont typeface="Wingdings" panose="05000000000000000000" pitchFamily="2" charset="2"/>
              <a:buChar char="§"/>
            </a:pPr>
            <a:r>
              <a:rPr lang="en-US" sz="3200" b="1" dirty="0">
                <a:solidFill>
                  <a:srgbClr val="FFFF00"/>
                </a:solidFill>
                <a:latin typeface="Arial" panose="020B0604020202020204" pitchFamily="34" charset="0"/>
                <a:cs typeface="Arial" panose="020B0604020202020204" pitchFamily="34" charset="0"/>
              </a:rPr>
              <a:t>Improved Visualization:</a:t>
            </a:r>
            <a:r>
              <a:rPr lang="en-US" sz="3200" b="1" dirty="0">
                <a:latin typeface="Arial" panose="020B0604020202020204" pitchFamily="34" charset="0"/>
                <a:cs typeface="Arial" panose="020B0604020202020204" pitchFamily="34" charset="0"/>
              </a:rPr>
              <a:t> </a:t>
            </a:r>
            <a:endParaRPr lang="en-US" sz="3200" b="1" dirty="0" smtClean="0">
              <a:latin typeface="Arial" panose="020B0604020202020204" pitchFamily="34" charset="0"/>
              <a:cs typeface="Arial" panose="020B0604020202020204" pitchFamily="34" charset="0"/>
            </a:endParaRPr>
          </a:p>
          <a:p>
            <a:pPr marL="914400" lvl="1" indent="-457200">
              <a:lnSpc>
                <a:spcPct val="120000"/>
              </a:lnSpc>
              <a:spcBef>
                <a:spcPts val="0"/>
              </a:spcBef>
              <a:buFont typeface="Wingdings" panose="05000000000000000000" pitchFamily="2" charset="2"/>
              <a:buChar char="Ø"/>
            </a:pPr>
            <a:r>
              <a:rPr lang="en-US" sz="3000" dirty="0" smtClean="0">
                <a:latin typeface="Arial" panose="020B0604020202020204" pitchFamily="34" charset="0"/>
                <a:cs typeface="Arial" panose="020B0604020202020204" pitchFamily="34" charset="0"/>
              </a:rPr>
              <a:t>AR </a:t>
            </a:r>
            <a:r>
              <a:rPr lang="en-US" sz="3000" dirty="0">
                <a:latin typeface="Arial" panose="020B0604020202020204" pitchFamily="34" charset="0"/>
                <a:cs typeface="Arial" panose="020B0604020202020204" pitchFamily="34" charset="0"/>
              </a:rPr>
              <a:t>allows users to visualize objects, products, and information in real-world environments. This is particularly useful for industries like architecture, interior design, and manufacturing</a:t>
            </a:r>
          </a:p>
          <a:p>
            <a:pPr lvl="1">
              <a:lnSpc>
                <a:spcPct val="120000"/>
              </a:lnSpc>
            </a:pPr>
            <a:r>
              <a:rPr lang="en-US" sz="3200" b="1" dirty="0">
                <a:solidFill>
                  <a:srgbClr val="FFFF00"/>
                </a:solidFill>
                <a:latin typeface="Arial" panose="020B0604020202020204" pitchFamily="34" charset="0"/>
                <a:cs typeface="Arial" panose="020B0604020202020204" pitchFamily="34" charset="0"/>
              </a:rPr>
              <a:t>Hands-Free Interaction: </a:t>
            </a:r>
            <a:endParaRPr lang="en-US" sz="3200" b="1" dirty="0" smtClean="0">
              <a:solidFill>
                <a:srgbClr val="FFFF00"/>
              </a:solidFill>
              <a:latin typeface="Arial" panose="020B0604020202020204" pitchFamily="34" charset="0"/>
              <a:cs typeface="Arial" panose="020B0604020202020204" pitchFamily="34" charset="0"/>
            </a:endParaRPr>
          </a:p>
          <a:p>
            <a:pPr marL="914400" lvl="1" indent="-457200">
              <a:lnSpc>
                <a:spcPct val="120000"/>
              </a:lnSpc>
              <a:spcBef>
                <a:spcPts val="0"/>
              </a:spcBef>
              <a:buFont typeface="Wingdings" panose="05000000000000000000" pitchFamily="2" charset="2"/>
              <a:buChar char="Ø"/>
            </a:pPr>
            <a:r>
              <a:rPr lang="en-US" sz="3000" dirty="0" smtClean="0">
                <a:latin typeface="Arial" panose="020B0604020202020204" pitchFamily="34" charset="0"/>
                <a:cs typeface="Arial" panose="020B0604020202020204" pitchFamily="34" charset="0"/>
              </a:rPr>
              <a:t>AR </a:t>
            </a:r>
            <a:r>
              <a:rPr lang="en-US" sz="3000" dirty="0">
                <a:latin typeface="Arial" panose="020B0604020202020204" pitchFamily="34" charset="0"/>
                <a:cs typeface="Arial" panose="020B0604020202020204" pitchFamily="34" charset="0"/>
              </a:rPr>
              <a:t>applications can be hands-free, allowing users to interact with digital content using gestures, voice commands, or head movements. This is especially beneficial in situations where manual interaction may be impractical or unsafe, such as during surgery or while </a:t>
            </a:r>
            <a:r>
              <a:rPr lang="en-US" sz="3000" dirty="0" smtClean="0">
                <a:latin typeface="Arial" panose="020B0604020202020204" pitchFamily="34" charset="0"/>
                <a:cs typeface="Arial" panose="020B0604020202020204" pitchFamily="34" charset="0"/>
              </a:rPr>
              <a:t>driving.</a:t>
            </a:r>
            <a:endParaRPr lang="en-US" sz="3000" dirty="0">
              <a:latin typeface="Arial" panose="020B0604020202020204" pitchFamily="34" charset="0"/>
              <a:cs typeface="Arial" panose="020B0604020202020204" pitchFamily="34" charset="0"/>
            </a:endParaRPr>
          </a:p>
          <a:p>
            <a:pPr lvl="1">
              <a:lnSpc>
                <a:spcPct val="120000"/>
              </a:lnSpc>
            </a:pPr>
            <a:r>
              <a:rPr lang="en-US" sz="3200" b="1" dirty="0">
                <a:solidFill>
                  <a:srgbClr val="FFFF00"/>
                </a:solidFill>
                <a:latin typeface="Arial" panose="020B0604020202020204" pitchFamily="34" charset="0"/>
                <a:cs typeface="Arial" panose="020B0604020202020204" pitchFamily="34" charset="0"/>
              </a:rPr>
              <a:t>Enhanced Learning and </a:t>
            </a:r>
            <a:r>
              <a:rPr lang="en-US" sz="3200" b="1" dirty="0" smtClean="0">
                <a:solidFill>
                  <a:srgbClr val="FFFF00"/>
                </a:solidFill>
                <a:latin typeface="Arial" panose="020B0604020202020204" pitchFamily="34" charset="0"/>
                <a:cs typeface="Arial" panose="020B0604020202020204" pitchFamily="34" charset="0"/>
              </a:rPr>
              <a:t>Training:</a:t>
            </a:r>
          </a:p>
          <a:p>
            <a:pPr marL="914400" lvl="1" indent="-457200">
              <a:lnSpc>
                <a:spcPct val="120000"/>
              </a:lnSpc>
              <a:spcBef>
                <a:spcPts val="0"/>
              </a:spcBef>
              <a:buFont typeface="Wingdings" panose="05000000000000000000" pitchFamily="2" charset="2"/>
              <a:buChar char="Ø"/>
            </a:pPr>
            <a:r>
              <a:rPr lang="en-US" sz="3200" b="1" dirty="0" smtClean="0">
                <a:latin typeface="Arial" panose="020B0604020202020204" pitchFamily="34" charset="0"/>
                <a:cs typeface="Arial" panose="020B0604020202020204" pitchFamily="34" charset="0"/>
              </a:rPr>
              <a:t> </a:t>
            </a:r>
            <a:r>
              <a:rPr lang="en-US" sz="3000" dirty="0">
                <a:latin typeface="Arial" panose="020B0604020202020204" pitchFamily="34" charset="0"/>
                <a:cs typeface="Arial" panose="020B0604020202020204" pitchFamily="34" charset="0"/>
              </a:rPr>
              <a:t>Students can explore complex concepts, simulations, and historical events in a dynamic and engaging way, improving retention and understanding.</a:t>
            </a:r>
          </a:p>
          <a:p>
            <a:pPr marL="457200" lvl="1" indent="0">
              <a:buNone/>
            </a:pPr>
            <a:endParaRPr lang="en-US" sz="3200" b="1" dirty="0">
              <a:latin typeface="Arial" panose="020B0604020202020204" pitchFamily="34" charset="0"/>
              <a:cs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52" y="138440"/>
            <a:ext cx="12191999" cy="561703"/>
          </a:xfrm>
        </p:spPr>
        <p:txBody>
          <a:bodyPr>
            <a:normAutofit/>
          </a:bodyPr>
          <a:lstStyle/>
          <a:p>
            <a:pPr algn="ctr"/>
            <a:r>
              <a:rPr lang="en-US" sz="3200" b="1" dirty="0">
                <a:latin typeface="Arial" panose="020B0604020202020204" pitchFamily="34" charset="0"/>
                <a:cs typeface="Arial" panose="020B0604020202020204" pitchFamily="34" charset="0"/>
              </a:rPr>
              <a:t>Advantages of Augmented Reality</a:t>
            </a:r>
          </a:p>
        </p:txBody>
      </p:sp>
      <p:sp>
        <p:nvSpPr>
          <p:cNvPr id="3" name="Content Placeholder 2"/>
          <p:cNvSpPr>
            <a:spLocks noGrp="1"/>
          </p:cNvSpPr>
          <p:nvPr>
            <p:ph idx="1"/>
          </p:nvPr>
        </p:nvSpPr>
        <p:spPr>
          <a:xfrm>
            <a:off x="1" y="936562"/>
            <a:ext cx="12192000" cy="5714156"/>
          </a:xfrm>
        </p:spPr>
        <p:txBody>
          <a:bodyPr>
            <a:noAutofit/>
          </a:bodyPr>
          <a:lstStyle/>
          <a:p>
            <a:pPr marL="685800" lvl="2">
              <a:lnSpc>
                <a:spcPct val="100000"/>
              </a:lnSpc>
            </a:pPr>
            <a:endParaRPr lang="en-US" sz="2800" b="1" dirty="0" smtClean="0">
              <a:solidFill>
                <a:srgbClr val="FFFF00"/>
              </a:solidFill>
              <a:latin typeface="Arial" panose="020B0604020202020204" pitchFamily="34" charset="0"/>
              <a:cs typeface="Arial" panose="020B0604020202020204" pitchFamily="34" charset="0"/>
            </a:endParaRPr>
          </a:p>
          <a:p>
            <a:pPr marL="685800" lvl="2">
              <a:lnSpc>
                <a:spcPct val="100000"/>
              </a:lnSpc>
            </a:pPr>
            <a:r>
              <a:rPr lang="en-US" sz="2800" b="1" dirty="0" smtClean="0">
                <a:solidFill>
                  <a:srgbClr val="FFFF00"/>
                </a:solidFill>
                <a:latin typeface="Arial" panose="020B0604020202020204" pitchFamily="34" charset="0"/>
                <a:cs typeface="Arial" panose="020B0604020202020204" pitchFamily="34" charset="0"/>
              </a:rPr>
              <a:t>Increased </a:t>
            </a:r>
            <a:r>
              <a:rPr lang="en-US" sz="2800" b="1" dirty="0">
                <a:solidFill>
                  <a:srgbClr val="FFFF00"/>
                </a:solidFill>
                <a:latin typeface="Arial" panose="020B0604020202020204" pitchFamily="34" charset="0"/>
                <a:cs typeface="Arial" panose="020B0604020202020204" pitchFamily="34" charset="0"/>
              </a:rPr>
              <a:t>Efficiency and Productivity: </a:t>
            </a:r>
            <a:endParaRPr lang="en-US" sz="2800" b="1" dirty="0" smtClean="0">
              <a:solidFill>
                <a:srgbClr val="FFFF00"/>
              </a:solidFill>
              <a:latin typeface="Arial" panose="020B0604020202020204" pitchFamily="34" charset="0"/>
              <a:cs typeface="Arial" panose="020B0604020202020204" pitchFamily="34" charset="0"/>
            </a:endParaRPr>
          </a:p>
          <a:p>
            <a:pPr marL="914400" lvl="2" indent="-457200">
              <a:lnSpc>
                <a:spcPct val="100000"/>
              </a:lnSpc>
              <a:spcBef>
                <a:spcPts val="0"/>
              </a:spcBef>
              <a:buFont typeface="Wingdings" panose="05000000000000000000" pitchFamily="2" charset="2"/>
              <a:buChar char="Ø"/>
            </a:pPr>
            <a:r>
              <a:rPr lang="en-US" sz="2800" dirty="0" smtClean="0">
                <a:latin typeface="Arial" panose="020B0604020202020204" pitchFamily="34" charset="0"/>
                <a:cs typeface="Arial" panose="020B0604020202020204" pitchFamily="34" charset="0"/>
              </a:rPr>
              <a:t>AR </a:t>
            </a:r>
            <a:r>
              <a:rPr lang="en-US" sz="2800" dirty="0">
                <a:latin typeface="Arial" panose="020B0604020202020204" pitchFamily="34" charset="0"/>
                <a:cs typeface="Arial" panose="020B0604020202020204" pitchFamily="34" charset="0"/>
              </a:rPr>
              <a:t>can improve efficiency and productivity in various industries by providing workers with real-time information and guidance. For example, AR-based maintenance and repair solutions can overlay instructions and diagrams onto equipment, reducing downtime and errors.</a:t>
            </a:r>
          </a:p>
          <a:p>
            <a:pPr marL="685800" lvl="2">
              <a:lnSpc>
                <a:spcPct val="100000"/>
              </a:lnSpc>
            </a:pPr>
            <a:r>
              <a:rPr lang="en-US" sz="2800" b="1" dirty="0">
                <a:solidFill>
                  <a:srgbClr val="FFFF00"/>
                </a:solidFill>
                <a:latin typeface="Arial" panose="020B0604020202020204" pitchFamily="34" charset="0"/>
                <a:cs typeface="Arial" panose="020B0604020202020204" pitchFamily="34" charset="0"/>
              </a:rPr>
              <a:t>Marketing and Brand Engagement: </a:t>
            </a:r>
            <a:endParaRPr lang="en-US" sz="2800" b="1" dirty="0" smtClean="0">
              <a:solidFill>
                <a:srgbClr val="FFFF00"/>
              </a:solidFill>
              <a:latin typeface="Arial" panose="020B0604020202020204" pitchFamily="34" charset="0"/>
              <a:cs typeface="Arial" panose="020B0604020202020204" pitchFamily="34" charset="0"/>
            </a:endParaRPr>
          </a:p>
          <a:p>
            <a:pPr marL="1028700" lvl="2" indent="-342900">
              <a:lnSpc>
                <a:spcPct val="100000"/>
              </a:lnSpc>
              <a:buFont typeface="Wingdings" panose="05000000000000000000" pitchFamily="2" charset="2"/>
              <a:buChar char="Ø"/>
            </a:pPr>
            <a:r>
              <a:rPr lang="en-US" sz="2800" dirty="0" smtClean="0">
                <a:latin typeface="Arial" panose="020B0604020202020204" pitchFamily="34" charset="0"/>
                <a:cs typeface="Arial" panose="020B0604020202020204" pitchFamily="34" charset="0"/>
              </a:rPr>
              <a:t>AR </a:t>
            </a:r>
            <a:r>
              <a:rPr lang="en-US" sz="2800" dirty="0">
                <a:latin typeface="Arial" panose="020B0604020202020204" pitchFamily="34" charset="0"/>
                <a:cs typeface="Arial" panose="020B0604020202020204" pitchFamily="34" charset="0"/>
              </a:rPr>
              <a:t>enhances marketing campaigns by creating interactive and immersive brand experiences. Brands can use AR to engage customers with interactive advertisements, product demonstrations, and virtual try-on experiences, driving brand</a:t>
            </a:r>
          </a:p>
        </p:txBody>
      </p:sp>
      <p:pic>
        <p:nvPicPr>
          <p:cNvPr id="4" name="Picture 3"/>
          <p:cNvPicPr>
            <a:picLocks noChangeAspect="1"/>
          </p:cNvPicPr>
          <p:nvPr/>
        </p:nvPicPr>
        <p:blipFill>
          <a:blip r:embed="rId2"/>
          <a:stretch>
            <a:fillRect/>
          </a:stretch>
        </p:blipFill>
        <p:spPr>
          <a:xfrm>
            <a:off x="1" y="6650718"/>
            <a:ext cx="12205250" cy="207282"/>
          </a:xfrm>
          <a:prstGeom prst="rect">
            <a:avLst/>
          </a:prstGeom>
        </p:spPr>
      </p:pic>
      <p:pic>
        <p:nvPicPr>
          <p:cNvPr id="5" name="Picture 4"/>
          <p:cNvPicPr>
            <a:picLocks noChangeAspect="1"/>
          </p:cNvPicPr>
          <p:nvPr/>
        </p:nvPicPr>
        <p:blipFill>
          <a:blip r:embed="rId3"/>
          <a:stretch>
            <a:fillRect/>
          </a:stretch>
        </p:blipFill>
        <p:spPr>
          <a:xfrm>
            <a:off x="1" y="614792"/>
            <a:ext cx="6559865" cy="170703"/>
          </a:xfrm>
          <a:prstGeom prst="rect">
            <a:avLst/>
          </a:prstGeom>
        </p:spPr>
      </p:pic>
      <p:pic>
        <p:nvPicPr>
          <p:cNvPr id="6" name="Picture 5"/>
          <p:cNvPicPr>
            <a:picLocks noChangeAspect="1"/>
          </p:cNvPicPr>
          <p:nvPr/>
        </p:nvPicPr>
        <p:blipFill>
          <a:blip r:embed="rId4"/>
          <a:stretch>
            <a:fillRect/>
          </a:stretch>
        </p:blipFill>
        <p:spPr>
          <a:xfrm>
            <a:off x="3033024" y="765859"/>
            <a:ext cx="6139204" cy="115834"/>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0" y="914694"/>
            <a:ext cx="12192000" cy="5736023"/>
          </a:xfrm>
          <a:prstGeom prst="rect">
            <a:avLst/>
          </a:prstGeom>
        </p:spPr>
      </p:pic>
      <p:pic>
        <p:nvPicPr>
          <p:cNvPr id="4" name="Picture 3"/>
          <p:cNvPicPr>
            <a:picLocks noChangeAspect="1"/>
          </p:cNvPicPr>
          <p:nvPr/>
        </p:nvPicPr>
        <p:blipFill>
          <a:blip r:embed="rId3"/>
          <a:stretch>
            <a:fillRect/>
          </a:stretch>
        </p:blipFill>
        <p:spPr>
          <a:xfrm>
            <a:off x="0" y="6650718"/>
            <a:ext cx="12205250" cy="207282"/>
          </a:xfrm>
          <a:prstGeom prst="rect">
            <a:avLst/>
          </a:prstGeom>
        </p:spPr>
      </p:pic>
      <p:pic>
        <p:nvPicPr>
          <p:cNvPr id="5" name="Picture 4"/>
          <p:cNvPicPr>
            <a:picLocks noChangeAspect="1"/>
          </p:cNvPicPr>
          <p:nvPr/>
        </p:nvPicPr>
        <p:blipFill>
          <a:blip r:embed="rId4"/>
          <a:stretch>
            <a:fillRect/>
          </a:stretch>
        </p:blipFill>
        <p:spPr>
          <a:xfrm>
            <a:off x="0" y="628157"/>
            <a:ext cx="6559865" cy="170703"/>
          </a:xfrm>
          <a:prstGeom prst="rect">
            <a:avLst/>
          </a:prstGeom>
        </p:spPr>
      </p:pic>
      <p:pic>
        <p:nvPicPr>
          <p:cNvPr id="6" name="Picture 5"/>
          <p:cNvPicPr>
            <a:picLocks noChangeAspect="1"/>
          </p:cNvPicPr>
          <p:nvPr/>
        </p:nvPicPr>
        <p:blipFill>
          <a:blip r:embed="rId5"/>
          <a:stretch>
            <a:fillRect/>
          </a:stretch>
        </p:blipFill>
        <p:spPr>
          <a:xfrm>
            <a:off x="3594434" y="798860"/>
            <a:ext cx="6139204" cy="115834"/>
          </a:xfrm>
          <a:prstGeom prst="rect">
            <a:avLst/>
          </a:prstGeom>
        </p:spPr>
      </p:pic>
      <p:sp>
        <p:nvSpPr>
          <p:cNvPr id="7" name="Rectangle 6"/>
          <p:cNvSpPr/>
          <p:nvPr/>
        </p:nvSpPr>
        <p:spPr>
          <a:xfrm>
            <a:off x="0" y="30084"/>
            <a:ext cx="12192000" cy="584775"/>
          </a:xfrm>
          <a:prstGeom prst="rect">
            <a:avLst/>
          </a:prstGeom>
        </p:spPr>
        <p:txBody>
          <a:bodyPr wrap="square">
            <a:spAutoFit/>
          </a:bodyPr>
          <a:lstStyle/>
          <a:p>
            <a:pPr algn="ctr"/>
            <a:r>
              <a:rPr lang="en-US" sz="3200" dirty="0" smtClean="0">
                <a:latin typeface="Arial" panose="020B0604020202020204" pitchFamily="34" charset="0"/>
                <a:cs typeface="Arial" panose="020B0604020202020204" pitchFamily="34" charset="0"/>
              </a:rPr>
              <a:t>Image </a:t>
            </a:r>
            <a:r>
              <a:rPr lang="en-US" sz="3200" dirty="0">
                <a:latin typeface="Arial" panose="020B0604020202020204" pitchFamily="34" charset="0"/>
                <a:cs typeface="Arial" panose="020B0604020202020204" pitchFamily="34" charset="0"/>
              </a:rPr>
              <a:t>of Augmented </a:t>
            </a:r>
            <a:r>
              <a:rPr lang="en-US" sz="3200" dirty="0" smtClean="0">
                <a:latin typeface="Arial" panose="020B0604020202020204" pitchFamily="34" charset="0"/>
                <a:cs typeface="Arial" panose="020B0604020202020204" pitchFamily="34" charset="0"/>
              </a:rPr>
              <a:t>Reality on Marketing</a:t>
            </a:r>
            <a:endParaRPr lang="en-US" sz="3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8853949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934879"/>
            <a:ext cx="12205250" cy="5683057"/>
          </a:xfrm>
        </p:spPr>
        <p:txBody>
          <a:bodyPr>
            <a:normAutofit fontScale="92500" lnSpcReduction="10000"/>
          </a:bodyPr>
          <a:lstStyle/>
          <a:p>
            <a:pPr lvl="1">
              <a:lnSpc>
                <a:spcPct val="100000"/>
              </a:lnSpc>
            </a:pPr>
            <a:r>
              <a:rPr lang="en-US" sz="3000" b="1" dirty="0">
                <a:solidFill>
                  <a:srgbClr val="FFFF00"/>
                </a:solidFill>
                <a:latin typeface="Arial" panose="020B0604020202020204" pitchFamily="34" charset="0"/>
                <a:cs typeface="Arial" panose="020B0604020202020204" pitchFamily="34" charset="0"/>
              </a:rPr>
              <a:t>Technical Challenges: </a:t>
            </a:r>
            <a:endParaRPr lang="en-US" sz="3000" b="1" dirty="0" smtClean="0">
              <a:solidFill>
                <a:srgbClr val="FFFF00"/>
              </a:solidFill>
              <a:latin typeface="Arial" panose="020B0604020202020204" pitchFamily="34" charset="0"/>
              <a:cs typeface="Arial" panose="020B0604020202020204" pitchFamily="34" charset="0"/>
            </a:endParaRPr>
          </a:p>
          <a:p>
            <a:pPr marL="914400" lvl="1" indent="-457200">
              <a:lnSpc>
                <a:spcPct val="110000"/>
              </a:lnSpc>
              <a:spcBef>
                <a:spcPts val="0"/>
              </a:spcBef>
              <a:buFont typeface="Wingdings" panose="05000000000000000000" pitchFamily="2" charset="2"/>
              <a:buChar char="Ø"/>
            </a:pPr>
            <a:r>
              <a:rPr lang="en-US" sz="2600" dirty="0" smtClean="0">
                <a:latin typeface="Arial" panose="020B0604020202020204" pitchFamily="34" charset="0"/>
                <a:cs typeface="Arial" panose="020B0604020202020204" pitchFamily="34" charset="0"/>
              </a:rPr>
              <a:t>Implementing </a:t>
            </a:r>
            <a:r>
              <a:rPr lang="en-US" sz="2600" dirty="0">
                <a:latin typeface="Arial" panose="020B0604020202020204" pitchFamily="34" charset="0"/>
                <a:cs typeface="Arial" panose="020B0604020202020204" pitchFamily="34" charset="0"/>
              </a:rPr>
              <a:t>AR can be technically complex, requiring expertise in computer vision, graphics rendering, and sensor integration. Ensuring smooth and accurate tracking of real-world objects and environments can be challenging, particularly in dynamic or unpredictable </a:t>
            </a:r>
            <a:r>
              <a:rPr lang="en-US" sz="2600" dirty="0" smtClean="0">
                <a:latin typeface="Arial" panose="020B0604020202020204" pitchFamily="34" charset="0"/>
                <a:cs typeface="Arial" panose="020B0604020202020204" pitchFamily="34" charset="0"/>
              </a:rPr>
              <a:t>conditions</a:t>
            </a:r>
          </a:p>
          <a:p>
            <a:pPr lvl="1">
              <a:lnSpc>
                <a:spcPct val="100000"/>
              </a:lnSpc>
            </a:pPr>
            <a:r>
              <a:rPr lang="en-US" sz="3000" b="1" dirty="0">
                <a:solidFill>
                  <a:srgbClr val="FFFF00"/>
                </a:solidFill>
                <a:latin typeface="Arial" panose="020B0604020202020204" pitchFamily="34" charset="0"/>
                <a:cs typeface="Arial" panose="020B0604020202020204" pitchFamily="34" charset="0"/>
              </a:rPr>
              <a:t>Health Concerns: </a:t>
            </a:r>
            <a:endParaRPr lang="en-US" sz="3000" b="1" dirty="0" smtClean="0">
              <a:solidFill>
                <a:srgbClr val="FFFF00"/>
              </a:solidFill>
              <a:latin typeface="Arial" panose="020B0604020202020204" pitchFamily="34" charset="0"/>
              <a:cs typeface="Arial" panose="020B0604020202020204" pitchFamily="34" charset="0"/>
            </a:endParaRPr>
          </a:p>
          <a:p>
            <a:pPr marL="914400" lvl="1" indent="-457200">
              <a:lnSpc>
                <a:spcPct val="120000"/>
              </a:lnSpc>
              <a:spcBef>
                <a:spcPts val="0"/>
              </a:spcBef>
              <a:buFont typeface="Wingdings" panose="05000000000000000000" pitchFamily="2" charset="2"/>
              <a:buChar char="Ø"/>
            </a:pPr>
            <a:r>
              <a:rPr lang="en-US" sz="2600" dirty="0" smtClean="0">
                <a:latin typeface="Arial" panose="020B0604020202020204" pitchFamily="34" charset="0"/>
                <a:cs typeface="Arial" panose="020B0604020202020204" pitchFamily="34" charset="0"/>
              </a:rPr>
              <a:t>Prolonged </a:t>
            </a:r>
            <a:r>
              <a:rPr lang="en-US" sz="2600" dirty="0">
                <a:latin typeface="Arial" panose="020B0604020202020204" pitchFamily="34" charset="0"/>
                <a:cs typeface="Arial" panose="020B0604020202020204" pitchFamily="34" charset="0"/>
              </a:rPr>
              <a:t>use of AR devices can lead to physical discomfort, such as eye strain, </a:t>
            </a:r>
            <a:r>
              <a:rPr lang="en-US" sz="2600" dirty="0" smtClean="0">
                <a:latin typeface="Arial" panose="020B0604020202020204" pitchFamily="34" charset="0"/>
                <a:cs typeface="Arial" panose="020B0604020202020204" pitchFamily="34" charset="0"/>
              </a:rPr>
              <a:t>headaches</a:t>
            </a:r>
            <a:r>
              <a:rPr lang="en-US" sz="2600" dirty="0">
                <a:latin typeface="Arial" panose="020B0604020202020204" pitchFamily="34" charset="0"/>
                <a:cs typeface="Arial" panose="020B0604020202020204" pitchFamily="34" charset="0"/>
              </a:rPr>
              <a:t>, and fatigue. exposure to AR displays on vision and cognitive </a:t>
            </a:r>
            <a:r>
              <a:rPr lang="en-US" sz="2600" dirty="0" smtClean="0">
                <a:latin typeface="Arial" panose="020B0604020202020204" pitchFamily="34" charset="0"/>
                <a:cs typeface="Arial" panose="020B0604020202020204" pitchFamily="34" charset="0"/>
              </a:rPr>
              <a:t>health</a:t>
            </a:r>
          </a:p>
          <a:p>
            <a:pPr lvl="1">
              <a:lnSpc>
                <a:spcPct val="100000"/>
              </a:lnSpc>
            </a:pPr>
            <a:r>
              <a:rPr lang="en-US" sz="3000" b="1" dirty="0">
                <a:solidFill>
                  <a:srgbClr val="FFFF00"/>
                </a:solidFill>
                <a:latin typeface="Arial" panose="020B0604020202020204" pitchFamily="34" charset="0"/>
                <a:cs typeface="Arial" panose="020B0604020202020204" pitchFamily="34" charset="0"/>
              </a:rPr>
              <a:t>Social Disconnection: </a:t>
            </a:r>
            <a:endParaRPr lang="en-US" sz="3000" b="1" dirty="0" smtClean="0">
              <a:solidFill>
                <a:srgbClr val="FFFF00"/>
              </a:solidFill>
              <a:latin typeface="Arial" panose="020B0604020202020204" pitchFamily="34" charset="0"/>
              <a:cs typeface="Arial" panose="020B0604020202020204" pitchFamily="34" charset="0"/>
            </a:endParaRPr>
          </a:p>
          <a:p>
            <a:pPr marL="914400" lvl="1" indent="-457200">
              <a:lnSpc>
                <a:spcPct val="120000"/>
              </a:lnSpc>
              <a:spcBef>
                <a:spcPts val="0"/>
              </a:spcBef>
              <a:buFont typeface="Wingdings" panose="05000000000000000000" pitchFamily="2" charset="2"/>
              <a:buChar char="Ø"/>
            </a:pPr>
            <a:r>
              <a:rPr lang="en-US" sz="2600" dirty="0" smtClean="0">
                <a:latin typeface="Arial" panose="020B0604020202020204" pitchFamily="34" charset="0"/>
                <a:cs typeface="Arial" panose="020B0604020202020204" pitchFamily="34" charset="0"/>
              </a:rPr>
              <a:t>Excessive </a:t>
            </a:r>
            <a:r>
              <a:rPr lang="en-US" sz="2600" dirty="0">
                <a:latin typeface="Arial" panose="020B0604020202020204" pitchFamily="34" charset="0"/>
                <a:cs typeface="Arial" panose="020B0604020202020204" pitchFamily="34" charset="0"/>
              </a:rPr>
              <a:t>use of AR devices may lead to social disconnection, as users become absorbed in virtual experiences and neglect real-world interactions. This can have negative impacts on social relationships, communication skills, and mental well-being.</a:t>
            </a:r>
          </a:p>
          <a:p>
            <a:pPr marL="457200" lvl="1" indent="0">
              <a:lnSpc>
                <a:spcPct val="100000"/>
              </a:lnSpc>
              <a:buNone/>
            </a:pPr>
            <a:endParaRPr lang="en-US" sz="2400" dirty="0">
              <a:latin typeface="Arial" panose="020B0604020202020204" pitchFamily="34" charset="0"/>
              <a:cs typeface="Arial" panose="020B0604020202020204" pitchFamily="34" charset="0"/>
            </a:endParaRPr>
          </a:p>
        </p:txBody>
      </p:sp>
      <p:pic>
        <p:nvPicPr>
          <p:cNvPr id="4" name="Picture 3"/>
          <p:cNvPicPr>
            <a:picLocks noChangeAspect="1"/>
          </p:cNvPicPr>
          <p:nvPr/>
        </p:nvPicPr>
        <p:blipFill>
          <a:blip r:embed="rId2"/>
          <a:stretch>
            <a:fillRect/>
          </a:stretch>
        </p:blipFill>
        <p:spPr>
          <a:xfrm>
            <a:off x="0" y="706970"/>
            <a:ext cx="6559865" cy="170703"/>
          </a:xfrm>
          <a:prstGeom prst="rect">
            <a:avLst/>
          </a:prstGeom>
        </p:spPr>
      </p:pic>
      <p:pic>
        <p:nvPicPr>
          <p:cNvPr id="5" name="Picture 4"/>
          <p:cNvPicPr>
            <a:picLocks noChangeAspect="1"/>
          </p:cNvPicPr>
          <p:nvPr/>
        </p:nvPicPr>
        <p:blipFill>
          <a:blip r:embed="rId3"/>
          <a:stretch>
            <a:fillRect/>
          </a:stretch>
        </p:blipFill>
        <p:spPr>
          <a:xfrm>
            <a:off x="3654206" y="848359"/>
            <a:ext cx="6139204" cy="115834"/>
          </a:xfrm>
          <a:prstGeom prst="rect">
            <a:avLst/>
          </a:prstGeom>
        </p:spPr>
      </p:pic>
      <p:pic>
        <p:nvPicPr>
          <p:cNvPr id="6" name="Picture 5"/>
          <p:cNvPicPr>
            <a:picLocks noChangeAspect="1"/>
          </p:cNvPicPr>
          <p:nvPr/>
        </p:nvPicPr>
        <p:blipFill>
          <a:blip r:embed="rId4"/>
          <a:stretch>
            <a:fillRect/>
          </a:stretch>
        </p:blipFill>
        <p:spPr>
          <a:xfrm>
            <a:off x="0" y="6650718"/>
            <a:ext cx="12205250" cy="207282"/>
          </a:xfrm>
          <a:prstGeom prst="rect">
            <a:avLst/>
          </a:prstGeom>
        </p:spPr>
      </p:pic>
      <p:sp>
        <p:nvSpPr>
          <p:cNvPr id="2" name="Rectangle 1"/>
          <p:cNvSpPr/>
          <p:nvPr/>
        </p:nvSpPr>
        <p:spPr>
          <a:xfrm>
            <a:off x="0" y="113209"/>
            <a:ext cx="12192000" cy="646331"/>
          </a:xfrm>
          <a:prstGeom prst="rect">
            <a:avLst/>
          </a:prstGeom>
        </p:spPr>
        <p:txBody>
          <a:bodyPr wrap="square">
            <a:spAutoFit/>
          </a:bodyPr>
          <a:lstStyle/>
          <a:p>
            <a:pPr algn="ctr"/>
            <a:r>
              <a:rPr lang="en-US" sz="3600" b="1" dirty="0"/>
              <a:t>Disadvantages of Augmented Reality</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6650987"/>
            <a:ext cx="12205250" cy="207282"/>
          </a:xfrm>
          <a:prstGeom prst="rect">
            <a:avLst/>
          </a:prstGeom>
        </p:spPr>
      </p:pic>
      <p:pic>
        <p:nvPicPr>
          <p:cNvPr id="3" name="Picture 2"/>
          <p:cNvPicPr>
            <a:picLocks noChangeAspect="1"/>
          </p:cNvPicPr>
          <p:nvPr/>
        </p:nvPicPr>
        <p:blipFill>
          <a:blip r:embed="rId3"/>
          <a:stretch>
            <a:fillRect/>
          </a:stretch>
        </p:blipFill>
        <p:spPr>
          <a:xfrm>
            <a:off x="0" y="835975"/>
            <a:ext cx="6559865" cy="170703"/>
          </a:xfrm>
          <a:prstGeom prst="rect">
            <a:avLst/>
          </a:prstGeom>
        </p:spPr>
      </p:pic>
      <p:pic>
        <p:nvPicPr>
          <p:cNvPr id="4" name="Picture 3"/>
          <p:cNvPicPr>
            <a:picLocks noChangeAspect="1"/>
          </p:cNvPicPr>
          <p:nvPr/>
        </p:nvPicPr>
        <p:blipFill>
          <a:blip r:embed="rId4"/>
          <a:stretch>
            <a:fillRect/>
          </a:stretch>
        </p:blipFill>
        <p:spPr>
          <a:xfrm>
            <a:off x="3719125" y="1006678"/>
            <a:ext cx="6139204" cy="115834"/>
          </a:xfrm>
          <a:prstGeom prst="rect">
            <a:avLst/>
          </a:prstGeom>
        </p:spPr>
      </p:pic>
      <p:sp>
        <p:nvSpPr>
          <p:cNvPr id="5" name="Rectangle 4"/>
          <p:cNvSpPr/>
          <p:nvPr/>
        </p:nvSpPr>
        <p:spPr>
          <a:xfrm>
            <a:off x="0" y="71637"/>
            <a:ext cx="12191999" cy="646331"/>
          </a:xfrm>
          <a:prstGeom prst="rect">
            <a:avLst/>
          </a:prstGeom>
        </p:spPr>
        <p:txBody>
          <a:bodyPr wrap="square">
            <a:spAutoFit/>
          </a:bodyPr>
          <a:lstStyle/>
          <a:p>
            <a:pPr algn="ctr"/>
            <a:r>
              <a:rPr lang="en-US" sz="3600" b="1" dirty="0">
                <a:latin typeface="Arial" panose="020B0604020202020204" pitchFamily="34" charset="0"/>
                <a:cs typeface="Arial" panose="020B0604020202020204" pitchFamily="34" charset="0"/>
              </a:rPr>
              <a:t>Disadvantages of Augmented Reality</a:t>
            </a:r>
          </a:p>
        </p:txBody>
      </p:sp>
      <p:sp>
        <p:nvSpPr>
          <p:cNvPr id="6" name="Rectangle 5"/>
          <p:cNvSpPr/>
          <p:nvPr/>
        </p:nvSpPr>
        <p:spPr>
          <a:xfrm>
            <a:off x="6624" y="1150597"/>
            <a:ext cx="12185375" cy="4893647"/>
          </a:xfrm>
          <a:prstGeom prst="rect">
            <a:avLst/>
          </a:prstGeom>
        </p:spPr>
        <p:txBody>
          <a:bodyPr wrap="square">
            <a:spAutoFit/>
          </a:bodyPr>
          <a:lstStyle/>
          <a:p>
            <a:pPr lvl="1"/>
            <a:endParaRPr lang="en-US" sz="2800" b="1" dirty="0" smtClean="0">
              <a:solidFill>
                <a:srgbClr val="FFFF00"/>
              </a:solidFill>
              <a:latin typeface="Arial" panose="020B0604020202020204" pitchFamily="34" charset="0"/>
              <a:cs typeface="Arial" panose="020B0604020202020204" pitchFamily="34" charset="0"/>
            </a:endParaRPr>
          </a:p>
          <a:p>
            <a:pPr marL="685800" lvl="1" indent="-457200">
              <a:buFont typeface="Arial" panose="020B0604020202020204" pitchFamily="34" charset="0"/>
              <a:buChar char="•"/>
            </a:pPr>
            <a:r>
              <a:rPr lang="en-US" sz="2800" b="1" dirty="0" smtClean="0">
                <a:solidFill>
                  <a:srgbClr val="FFFF00"/>
                </a:solidFill>
                <a:latin typeface="Arial" panose="020B0604020202020204" pitchFamily="34" charset="0"/>
                <a:cs typeface="Arial" panose="020B0604020202020204" pitchFamily="34" charset="0"/>
              </a:rPr>
              <a:t>Dependency </a:t>
            </a:r>
            <a:r>
              <a:rPr lang="en-US" sz="2800" b="1" dirty="0">
                <a:solidFill>
                  <a:srgbClr val="FFFF00"/>
                </a:solidFill>
                <a:latin typeface="Arial" panose="020B0604020202020204" pitchFamily="34" charset="0"/>
                <a:cs typeface="Arial" panose="020B0604020202020204" pitchFamily="34" charset="0"/>
              </a:rPr>
              <a:t>and Addiction</a:t>
            </a:r>
            <a:r>
              <a:rPr lang="en-US" sz="2800" b="1" dirty="0" smtClean="0">
                <a:solidFill>
                  <a:srgbClr val="FFFF00"/>
                </a:solidFill>
                <a:latin typeface="Arial" panose="020B0604020202020204" pitchFamily="34" charset="0"/>
                <a:cs typeface="Arial" panose="020B0604020202020204" pitchFamily="34" charset="0"/>
              </a:rPr>
              <a:t>:</a:t>
            </a:r>
          </a:p>
          <a:p>
            <a:pPr marL="914400" lvl="1" indent="-457200">
              <a:buFont typeface="Wingdings" panose="05000000000000000000" pitchFamily="2" charset="2"/>
              <a:buChar char="Ø"/>
            </a:pPr>
            <a:r>
              <a:rPr lang="en-US" sz="2800" dirty="0" smtClean="0">
                <a:latin typeface="Arial" panose="020B0604020202020204" pitchFamily="34" charset="0"/>
                <a:cs typeface="Arial" panose="020B0604020202020204" pitchFamily="34" charset="0"/>
              </a:rPr>
              <a:t>Like </a:t>
            </a:r>
            <a:r>
              <a:rPr lang="en-US" sz="2800" dirty="0">
                <a:latin typeface="Arial" panose="020B0604020202020204" pitchFamily="34" charset="0"/>
                <a:cs typeface="Arial" panose="020B0604020202020204" pitchFamily="34" charset="0"/>
              </a:rPr>
              <a:t>other forms of technology, AR has the potential to become addictive, leading to excessive use and dependency</a:t>
            </a:r>
            <a:r>
              <a:rPr lang="en-US" sz="2800" dirty="0" smtClean="0">
                <a:latin typeface="Arial" panose="020B0604020202020204" pitchFamily="34" charset="0"/>
                <a:cs typeface="Arial" panose="020B0604020202020204" pitchFamily="34" charset="0"/>
              </a:rPr>
              <a:t>.</a:t>
            </a:r>
            <a:endParaRPr lang="en-US" sz="2800" dirty="0">
              <a:latin typeface="Arial" panose="020B0604020202020204" pitchFamily="34" charset="0"/>
              <a:cs typeface="Arial" panose="020B0604020202020204" pitchFamily="34" charset="0"/>
            </a:endParaRPr>
          </a:p>
          <a:p>
            <a:pPr marL="914400" lvl="1" indent="-457200">
              <a:buFont typeface="Wingdings" panose="05000000000000000000" pitchFamily="2" charset="2"/>
              <a:buChar char="Ø"/>
            </a:pPr>
            <a:endParaRPr lang="en-US" sz="2800" dirty="0" smtClean="0">
              <a:latin typeface="Arial" panose="020B0604020202020204" pitchFamily="34" charset="0"/>
              <a:cs typeface="Arial" panose="020B0604020202020204" pitchFamily="34" charset="0"/>
            </a:endParaRPr>
          </a:p>
          <a:p>
            <a:pPr marL="685800" lvl="1" indent="-457200">
              <a:buFont typeface="Arial" panose="020B0604020202020204" pitchFamily="34" charset="0"/>
              <a:buChar char="•"/>
            </a:pPr>
            <a:r>
              <a:rPr lang="en-US" sz="2800" b="1" dirty="0" smtClean="0">
                <a:solidFill>
                  <a:srgbClr val="FFFF00"/>
                </a:solidFill>
                <a:latin typeface="Arial" panose="020B0604020202020204" pitchFamily="34" charset="0"/>
                <a:cs typeface="Arial" panose="020B0604020202020204" pitchFamily="34" charset="0"/>
              </a:rPr>
              <a:t>Privacy </a:t>
            </a:r>
            <a:r>
              <a:rPr lang="en-US" sz="2800" b="1" dirty="0">
                <a:solidFill>
                  <a:srgbClr val="FFFF00"/>
                </a:solidFill>
                <a:latin typeface="Arial" panose="020B0604020202020204" pitchFamily="34" charset="0"/>
                <a:cs typeface="Arial" panose="020B0604020202020204" pitchFamily="34" charset="0"/>
              </a:rPr>
              <a:t>and Security Risks</a:t>
            </a:r>
            <a:r>
              <a:rPr lang="en-US" sz="2800" b="1" dirty="0" smtClean="0">
                <a:solidFill>
                  <a:srgbClr val="FFFF00"/>
                </a:solidFill>
                <a:latin typeface="Arial" panose="020B0604020202020204" pitchFamily="34" charset="0"/>
                <a:cs typeface="Arial" panose="020B0604020202020204" pitchFamily="34" charset="0"/>
              </a:rPr>
              <a:t>:</a:t>
            </a:r>
          </a:p>
          <a:p>
            <a:pPr marL="914400" lvl="1" indent="-457200">
              <a:buFont typeface="Wingdings" panose="05000000000000000000" pitchFamily="2" charset="2"/>
              <a:buChar char="Ø"/>
            </a:pPr>
            <a:r>
              <a:rPr lang="en-US" sz="2800" dirty="0" smtClean="0">
                <a:latin typeface="Arial" panose="020B0604020202020204" pitchFamily="34" charset="0"/>
                <a:cs typeface="Arial" panose="020B0604020202020204" pitchFamily="34" charset="0"/>
              </a:rPr>
              <a:t>AR </a:t>
            </a:r>
            <a:r>
              <a:rPr lang="en-US" sz="2800" dirty="0">
                <a:latin typeface="Arial" panose="020B0604020202020204" pitchFamily="34" charset="0"/>
                <a:cs typeface="Arial" panose="020B0604020202020204" pitchFamily="34" charset="0"/>
              </a:rPr>
              <a:t>applications often collect and process large amounts of personal data, such as location, behavior, and user preferences. This raises concerns about privacy breaches, data security, and unauthorized access to sensitive information</a:t>
            </a:r>
            <a:r>
              <a:rPr lang="en-US" sz="2800" dirty="0" smtClean="0">
                <a:latin typeface="Arial" panose="020B0604020202020204" pitchFamily="34" charset="0"/>
                <a:cs typeface="Arial" panose="020B0604020202020204" pitchFamily="34" charset="0"/>
              </a:rPr>
              <a:t>.</a:t>
            </a:r>
          </a:p>
          <a:p>
            <a:pPr lvl="1"/>
            <a:endParaRPr lang="en-US" sz="32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0158730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3250" y="6650718"/>
            <a:ext cx="12205250" cy="207282"/>
          </a:xfrm>
          <a:prstGeom prst="rect">
            <a:avLst/>
          </a:prstGeom>
        </p:spPr>
      </p:pic>
      <p:pic>
        <p:nvPicPr>
          <p:cNvPr id="3" name="Picture 2"/>
          <p:cNvPicPr>
            <a:picLocks noChangeAspect="1"/>
          </p:cNvPicPr>
          <p:nvPr/>
        </p:nvPicPr>
        <p:blipFill>
          <a:blip r:embed="rId3"/>
          <a:stretch>
            <a:fillRect/>
          </a:stretch>
        </p:blipFill>
        <p:spPr>
          <a:xfrm>
            <a:off x="0" y="863684"/>
            <a:ext cx="6559865" cy="170703"/>
          </a:xfrm>
          <a:prstGeom prst="rect">
            <a:avLst/>
          </a:prstGeom>
        </p:spPr>
      </p:pic>
      <p:pic>
        <p:nvPicPr>
          <p:cNvPr id="4" name="Picture 3"/>
          <p:cNvPicPr>
            <a:picLocks noChangeAspect="1"/>
          </p:cNvPicPr>
          <p:nvPr/>
        </p:nvPicPr>
        <p:blipFill>
          <a:blip r:embed="rId4"/>
          <a:stretch>
            <a:fillRect/>
          </a:stretch>
        </p:blipFill>
        <p:spPr>
          <a:xfrm>
            <a:off x="3913089" y="1034387"/>
            <a:ext cx="6139204" cy="115834"/>
          </a:xfrm>
          <a:prstGeom prst="rect">
            <a:avLst/>
          </a:prstGeom>
        </p:spPr>
      </p:pic>
      <p:sp>
        <p:nvSpPr>
          <p:cNvPr id="5" name="Rectangle 4"/>
          <p:cNvSpPr/>
          <p:nvPr/>
        </p:nvSpPr>
        <p:spPr>
          <a:xfrm>
            <a:off x="0" y="1166843"/>
            <a:ext cx="12192000" cy="5262979"/>
          </a:xfrm>
          <a:prstGeom prst="rect">
            <a:avLst/>
          </a:prstGeom>
        </p:spPr>
        <p:txBody>
          <a:bodyPr wrap="square">
            <a:spAutoFit/>
          </a:bodyPr>
          <a:lstStyle/>
          <a:p>
            <a:pPr marL="685800" indent="-457200">
              <a:lnSpc>
                <a:spcPct val="150000"/>
              </a:lnSpc>
              <a:buFont typeface="Arial" panose="020B0604020202020204" pitchFamily="34" charset="0"/>
              <a:buChar char="•"/>
            </a:pPr>
            <a:r>
              <a:rPr lang="en-US" sz="2800" b="1" dirty="0">
                <a:solidFill>
                  <a:srgbClr val="FFFF00"/>
                </a:solidFill>
                <a:latin typeface="Arial" panose="020B0604020202020204" pitchFamily="34" charset="0"/>
                <a:cs typeface="Arial" panose="020B0604020202020204" pitchFamily="34" charset="0"/>
              </a:rPr>
              <a:t>Immersive Experiences</a:t>
            </a:r>
            <a:r>
              <a:rPr lang="en-US" sz="2800" b="1" dirty="0" smtClean="0">
                <a:solidFill>
                  <a:srgbClr val="FFFF00"/>
                </a:solidFill>
                <a:latin typeface="Arial" panose="020B0604020202020204" pitchFamily="34" charset="0"/>
                <a:cs typeface="Arial" panose="020B0604020202020204" pitchFamily="34" charset="0"/>
              </a:rPr>
              <a:t>:</a:t>
            </a:r>
          </a:p>
          <a:p>
            <a:pPr marL="914400" indent="-457200">
              <a:buFont typeface="Wingdings" panose="05000000000000000000" pitchFamily="2" charset="2"/>
              <a:buChar char="Ø"/>
            </a:pPr>
            <a:r>
              <a:rPr lang="en-US" sz="2400" dirty="0" smtClean="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VR provides users with highly immersive and engaging experiences by simulating realistic three-dimensional environments. This level of immersion allows users to feel present in the virtual environment, enhancing their sense of presence and involvement.</a:t>
            </a:r>
          </a:p>
          <a:p>
            <a:pPr marL="685800" indent="-457200">
              <a:lnSpc>
                <a:spcPct val="150000"/>
              </a:lnSpc>
              <a:buFont typeface="Arial" panose="020B0604020202020204" pitchFamily="34" charset="0"/>
              <a:buChar char="•"/>
            </a:pPr>
            <a:r>
              <a:rPr lang="en-US" sz="2800" b="1" dirty="0">
                <a:solidFill>
                  <a:srgbClr val="FFFF00"/>
                </a:solidFill>
                <a:latin typeface="Arial" panose="020B0604020202020204" pitchFamily="34" charset="0"/>
                <a:cs typeface="Arial" panose="020B0604020202020204" pitchFamily="34" charset="0"/>
              </a:rPr>
              <a:t>Enhanced Training and Education: </a:t>
            </a:r>
            <a:endParaRPr lang="en-US" sz="2800" b="1" dirty="0" smtClean="0">
              <a:solidFill>
                <a:srgbClr val="FFFF00"/>
              </a:solidFill>
              <a:latin typeface="Arial" panose="020B0604020202020204" pitchFamily="34" charset="0"/>
              <a:cs typeface="Arial" panose="020B0604020202020204" pitchFamily="34" charset="0"/>
            </a:endParaRPr>
          </a:p>
          <a:p>
            <a:pPr marL="914400" indent="-457200">
              <a:buFont typeface="Wingdings" panose="05000000000000000000" pitchFamily="2" charset="2"/>
              <a:buChar char="Ø"/>
            </a:pPr>
            <a:r>
              <a:rPr lang="en-US" sz="2400" dirty="0" smtClean="0">
                <a:latin typeface="Arial" panose="020B0604020202020204" pitchFamily="34" charset="0"/>
                <a:cs typeface="Arial" panose="020B0604020202020204" pitchFamily="34" charset="0"/>
              </a:rPr>
              <a:t>VR </a:t>
            </a:r>
            <a:r>
              <a:rPr lang="en-US" sz="2400" dirty="0">
                <a:latin typeface="Arial" panose="020B0604020202020204" pitchFamily="34" charset="0"/>
                <a:cs typeface="Arial" panose="020B0604020202020204" pitchFamily="34" charset="0"/>
              </a:rPr>
              <a:t>is utilized for training in various fields, including healthcare, military, aviation, and manufacturing. Simulated environments enable trainees to practice skills and procedures in a safe and controlled setting, reducing the risk of injury or damage. VR-based education enhances learning experiences by providing interactive and hands-on content, improving retention and understanding.</a:t>
            </a:r>
          </a:p>
          <a:p>
            <a:endParaRPr lang="en-US" dirty="0" smtClean="0"/>
          </a:p>
          <a:p>
            <a:endParaRPr lang="en-US" dirty="0"/>
          </a:p>
        </p:txBody>
      </p:sp>
      <p:sp>
        <p:nvSpPr>
          <p:cNvPr id="6" name="Rectangle 5"/>
          <p:cNvSpPr/>
          <p:nvPr/>
        </p:nvSpPr>
        <p:spPr>
          <a:xfrm>
            <a:off x="1" y="101519"/>
            <a:ext cx="12191999" cy="584775"/>
          </a:xfrm>
          <a:prstGeom prst="rect">
            <a:avLst/>
          </a:prstGeom>
        </p:spPr>
        <p:txBody>
          <a:bodyPr wrap="square">
            <a:spAutoFit/>
          </a:bodyPr>
          <a:lstStyle/>
          <a:p>
            <a:pPr algn="ctr"/>
            <a:r>
              <a:rPr lang="en-US" sz="3200" b="1" dirty="0">
                <a:latin typeface="Arial" panose="020B0604020202020204" pitchFamily="34" charset="0"/>
                <a:cs typeface="Arial" panose="020B0604020202020204" pitchFamily="34" charset="0"/>
              </a:rPr>
              <a:t>Advantages of Virtual Reality</a:t>
            </a:r>
            <a:endParaRPr lang="en-US" dirty="0"/>
          </a:p>
        </p:txBody>
      </p:sp>
    </p:spTree>
    <p:extLst>
      <p:ext uri="{BB962C8B-B14F-4D97-AF65-F5344CB8AC3E}">
        <p14:creationId xmlns:p14="http://schemas.microsoft.com/office/powerpoint/2010/main" val="342879833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6636863"/>
            <a:ext cx="12205250" cy="207282"/>
          </a:xfrm>
          <a:prstGeom prst="rect">
            <a:avLst/>
          </a:prstGeom>
        </p:spPr>
      </p:pic>
      <p:pic>
        <p:nvPicPr>
          <p:cNvPr id="3" name="Picture 2"/>
          <p:cNvPicPr>
            <a:picLocks noChangeAspect="1"/>
          </p:cNvPicPr>
          <p:nvPr/>
        </p:nvPicPr>
        <p:blipFill>
          <a:blip r:embed="rId3"/>
          <a:stretch>
            <a:fillRect/>
          </a:stretch>
        </p:blipFill>
        <p:spPr>
          <a:xfrm>
            <a:off x="0" y="808266"/>
            <a:ext cx="6559865" cy="170703"/>
          </a:xfrm>
          <a:prstGeom prst="rect">
            <a:avLst/>
          </a:prstGeom>
        </p:spPr>
      </p:pic>
      <p:pic>
        <p:nvPicPr>
          <p:cNvPr id="4" name="Picture 3"/>
          <p:cNvPicPr>
            <a:picLocks noChangeAspect="1"/>
          </p:cNvPicPr>
          <p:nvPr/>
        </p:nvPicPr>
        <p:blipFill>
          <a:blip r:embed="rId4"/>
          <a:stretch>
            <a:fillRect/>
          </a:stretch>
        </p:blipFill>
        <p:spPr>
          <a:xfrm>
            <a:off x="3490263" y="978969"/>
            <a:ext cx="6139204" cy="115834"/>
          </a:xfrm>
          <a:prstGeom prst="rect">
            <a:avLst/>
          </a:prstGeom>
        </p:spPr>
      </p:pic>
      <p:sp>
        <p:nvSpPr>
          <p:cNvPr id="5" name="Rectangle 4"/>
          <p:cNvSpPr/>
          <p:nvPr/>
        </p:nvSpPr>
        <p:spPr>
          <a:xfrm>
            <a:off x="0" y="1124855"/>
            <a:ext cx="12205250" cy="5139869"/>
          </a:xfrm>
          <a:prstGeom prst="rect">
            <a:avLst/>
          </a:prstGeom>
        </p:spPr>
        <p:txBody>
          <a:bodyPr wrap="square">
            <a:spAutoFit/>
          </a:bodyPr>
          <a:lstStyle/>
          <a:p>
            <a:pPr marL="685800" indent="-457200">
              <a:buFont typeface="Arial" panose="020B0604020202020204" pitchFamily="34" charset="0"/>
              <a:buChar char="•"/>
            </a:pPr>
            <a:endParaRPr lang="en-US" sz="2800" b="1" dirty="0" smtClean="0">
              <a:solidFill>
                <a:srgbClr val="FFFF00"/>
              </a:solidFill>
              <a:latin typeface="Arial" panose="020B0604020202020204" pitchFamily="34" charset="0"/>
              <a:cs typeface="Arial" panose="020B0604020202020204" pitchFamily="34" charset="0"/>
            </a:endParaRPr>
          </a:p>
          <a:p>
            <a:pPr marL="685800" indent="-457200">
              <a:buFont typeface="Arial" panose="020B0604020202020204" pitchFamily="34" charset="0"/>
              <a:buChar char="•"/>
            </a:pPr>
            <a:r>
              <a:rPr lang="en-US" sz="2800" b="1" dirty="0" smtClean="0">
                <a:solidFill>
                  <a:srgbClr val="FFFF00"/>
                </a:solidFill>
                <a:latin typeface="Arial" panose="020B0604020202020204" pitchFamily="34" charset="0"/>
                <a:cs typeface="Arial" panose="020B0604020202020204" pitchFamily="34" charset="0"/>
              </a:rPr>
              <a:t>Product </a:t>
            </a:r>
            <a:r>
              <a:rPr lang="en-US" sz="2800" b="1" dirty="0">
                <a:solidFill>
                  <a:srgbClr val="FFFF00"/>
                </a:solidFill>
                <a:latin typeface="Arial" panose="020B0604020202020204" pitchFamily="34" charset="0"/>
                <a:cs typeface="Arial" panose="020B0604020202020204" pitchFamily="34" charset="0"/>
              </a:rPr>
              <a:t>Visualization and Marketing: </a:t>
            </a:r>
            <a:endParaRPr lang="en-US" sz="2800" b="1" dirty="0" smtClean="0">
              <a:solidFill>
                <a:srgbClr val="FFFF00"/>
              </a:solidFill>
              <a:latin typeface="Arial" panose="020B0604020202020204" pitchFamily="34" charset="0"/>
              <a:cs typeface="Arial" panose="020B0604020202020204" pitchFamily="34" charset="0"/>
            </a:endParaRPr>
          </a:p>
          <a:p>
            <a:pPr marL="914400" indent="-457200">
              <a:buFont typeface="Wingdings" panose="05000000000000000000" pitchFamily="2" charset="2"/>
              <a:buChar char="Ø"/>
            </a:pPr>
            <a:r>
              <a:rPr lang="en-US" sz="2400" dirty="0" smtClean="0">
                <a:latin typeface="Arial" panose="020B0604020202020204" pitchFamily="34" charset="0"/>
                <a:cs typeface="Arial" panose="020B0604020202020204" pitchFamily="34" charset="0"/>
              </a:rPr>
              <a:t>VR </a:t>
            </a:r>
            <a:r>
              <a:rPr lang="en-US" sz="2400" dirty="0">
                <a:latin typeface="Arial" panose="020B0604020202020204" pitchFamily="34" charset="0"/>
                <a:cs typeface="Arial" panose="020B0604020202020204" pitchFamily="34" charset="0"/>
              </a:rPr>
              <a:t>enhances product visualization and marketing efforts by creating immersive and interactive experiences for customers. Virtual product demonstrations, virtual showrooms, and virtual try-on experiences allow customers to interact with products in a dynamic and engaging way, driving brand engagement and sales</a:t>
            </a:r>
            <a:r>
              <a:rPr lang="en-US" sz="2400" dirty="0" smtClean="0">
                <a:latin typeface="Arial" panose="020B0604020202020204" pitchFamily="34" charset="0"/>
                <a:cs typeface="Arial" panose="020B0604020202020204" pitchFamily="34" charset="0"/>
              </a:rPr>
              <a:t>.</a:t>
            </a:r>
          </a:p>
          <a:p>
            <a:pPr marL="457200"/>
            <a:endParaRPr lang="en-US" sz="2400" dirty="0">
              <a:latin typeface="Arial" panose="020B0604020202020204" pitchFamily="34" charset="0"/>
              <a:cs typeface="Arial" panose="020B0604020202020204" pitchFamily="34" charset="0"/>
            </a:endParaRPr>
          </a:p>
          <a:p>
            <a:pPr marL="685800" indent="-457200">
              <a:buFont typeface="Arial" panose="020B0604020202020204" pitchFamily="34" charset="0"/>
              <a:buChar char="•"/>
            </a:pPr>
            <a:r>
              <a:rPr lang="en-US" sz="2800" b="1" dirty="0">
                <a:solidFill>
                  <a:srgbClr val="FFFF00"/>
                </a:solidFill>
                <a:latin typeface="Arial" panose="020B0604020202020204" pitchFamily="34" charset="0"/>
                <a:cs typeface="Arial" panose="020B0604020202020204" pitchFamily="34" charset="0"/>
              </a:rPr>
              <a:t>Virtual Travel and Tourism: </a:t>
            </a:r>
            <a:endParaRPr lang="en-US" sz="2800" b="1" dirty="0" smtClean="0">
              <a:solidFill>
                <a:srgbClr val="FFFF00"/>
              </a:solidFill>
              <a:latin typeface="Arial" panose="020B0604020202020204" pitchFamily="34" charset="0"/>
              <a:cs typeface="Arial" panose="020B0604020202020204" pitchFamily="34" charset="0"/>
            </a:endParaRPr>
          </a:p>
          <a:p>
            <a:pPr marL="914400" indent="-457200">
              <a:buFont typeface="Wingdings" panose="05000000000000000000" pitchFamily="2" charset="2"/>
              <a:buChar char="Ø"/>
            </a:pPr>
            <a:r>
              <a:rPr lang="en-US" sz="2400" dirty="0" smtClean="0">
                <a:latin typeface="Arial" panose="020B0604020202020204" pitchFamily="34" charset="0"/>
                <a:cs typeface="Arial" panose="020B0604020202020204" pitchFamily="34" charset="0"/>
              </a:rPr>
              <a:t>VR </a:t>
            </a:r>
            <a:r>
              <a:rPr lang="en-US" sz="2400" dirty="0">
                <a:latin typeface="Arial" panose="020B0604020202020204" pitchFamily="34" charset="0"/>
                <a:cs typeface="Arial" panose="020B0604020202020204" pitchFamily="34" charset="0"/>
              </a:rPr>
              <a:t>enables virtual travel experiences, allowing users to explore destinations, landmarks, and attractions from anywhere in the world. Virtual tours provide a realistic sense of scale, ambiance, and immersion, enhancing destination marketing efforts and attracting potential travelers.</a:t>
            </a:r>
          </a:p>
          <a:p>
            <a:pPr marL="457200"/>
            <a:endParaRPr lang="en-US" sz="2800" dirty="0">
              <a:latin typeface="Arial" panose="020B0604020202020204" pitchFamily="34" charset="0"/>
              <a:cs typeface="Arial" panose="020B0604020202020204" pitchFamily="34" charset="0"/>
            </a:endParaRPr>
          </a:p>
        </p:txBody>
      </p:sp>
      <p:sp>
        <p:nvSpPr>
          <p:cNvPr id="6" name="Rectangle 5"/>
          <p:cNvSpPr/>
          <p:nvPr/>
        </p:nvSpPr>
        <p:spPr>
          <a:xfrm>
            <a:off x="0" y="16219"/>
            <a:ext cx="12192000" cy="646331"/>
          </a:xfrm>
          <a:prstGeom prst="rect">
            <a:avLst/>
          </a:prstGeom>
        </p:spPr>
        <p:txBody>
          <a:bodyPr wrap="square">
            <a:spAutoFit/>
          </a:bodyPr>
          <a:lstStyle/>
          <a:p>
            <a:pPr algn="ctr"/>
            <a:r>
              <a:rPr lang="en-US" sz="3600" b="1" dirty="0">
                <a:latin typeface="Arial" panose="020B0604020202020204" pitchFamily="34" charset="0"/>
                <a:cs typeface="Arial" panose="020B0604020202020204" pitchFamily="34" charset="0"/>
              </a:rPr>
              <a:t>Advantages of Virtual Reality</a:t>
            </a:r>
          </a:p>
        </p:txBody>
      </p:sp>
    </p:spTree>
    <p:extLst>
      <p:ext uri="{BB962C8B-B14F-4D97-AF65-F5344CB8AC3E}">
        <p14:creationId xmlns:p14="http://schemas.microsoft.com/office/powerpoint/2010/main" val="91944436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6650718"/>
            <a:ext cx="12205250" cy="207282"/>
          </a:xfrm>
          <a:prstGeom prst="rect">
            <a:avLst/>
          </a:prstGeom>
        </p:spPr>
      </p:pic>
      <p:pic>
        <p:nvPicPr>
          <p:cNvPr id="3" name="Picture 2"/>
          <p:cNvPicPr>
            <a:picLocks noChangeAspect="1"/>
          </p:cNvPicPr>
          <p:nvPr/>
        </p:nvPicPr>
        <p:blipFill>
          <a:blip r:embed="rId3"/>
          <a:stretch>
            <a:fillRect/>
          </a:stretch>
        </p:blipFill>
        <p:spPr>
          <a:xfrm>
            <a:off x="0" y="632228"/>
            <a:ext cx="6559865" cy="170703"/>
          </a:xfrm>
          <a:prstGeom prst="rect">
            <a:avLst/>
          </a:prstGeom>
        </p:spPr>
      </p:pic>
      <p:pic>
        <p:nvPicPr>
          <p:cNvPr id="4" name="Picture 3"/>
          <p:cNvPicPr>
            <a:picLocks noChangeAspect="1"/>
          </p:cNvPicPr>
          <p:nvPr/>
        </p:nvPicPr>
        <p:blipFill>
          <a:blip r:embed="rId4"/>
          <a:stretch>
            <a:fillRect/>
          </a:stretch>
        </p:blipFill>
        <p:spPr>
          <a:xfrm>
            <a:off x="3788398" y="802931"/>
            <a:ext cx="6139204" cy="115834"/>
          </a:xfrm>
          <a:prstGeom prst="rect">
            <a:avLst/>
          </a:prstGeom>
        </p:spPr>
      </p:pic>
      <p:sp>
        <p:nvSpPr>
          <p:cNvPr id="6" name="Rectangle 5"/>
          <p:cNvSpPr/>
          <p:nvPr/>
        </p:nvSpPr>
        <p:spPr>
          <a:xfrm>
            <a:off x="0" y="2366"/>
            <a:ext cx="12205250" cy="584775"/>
          </a:xfrm>
          <a:prstGeom prst="rect">
            <a:avLst/>
          </a:prstGeom>
        </p:spPr>
        <p:txBody>
          <a:bodyPr wrap="square">
            <a:spAutoFit/>
          </a:bodyPr>
          <a:lstStyle/>
          <a:p>
            <a:pPr algn="ctr"/>
            <a:r>
              <a:rPr lang="en-US" sz="3200" b="1" dirty="0" smtClean="0">
                <a:latin typeface="Arial" panose="020B0604020202020204" pitchFamily="34" charset="0"/>
                <a:cs typeface="Arial" panose="020B0604020202020204" pitchFamily="34" charset="0"/>
              </a:rPr>
              <a:t>Disadvantages of Virtual Reality</a:t>
            </a:r>
            <a:endParaRPr lang="en-US" sz="3200" b="1" dirty="0">
              <a:latin typeface="Arial" panose="020B0604020202020204" pitchFamily="34" charset="0"/>
              <a:cs typeface="Arial" panose="020B0604020202020204" pitchFamily="34" charset="0"/>
            </a:endParaRPr>
          </a:p>
        </p:txBody>
      </p:sp>
      <p:sp>
        <p:nvSpPr>
          <p:cNvPr id="7" name="Rectangle 6"/>
          <p:cNvSpPr/>
          <p:nvPr/>
        </p:nvSpPr>
        <p:spPr>
          <a:xfrm>
            <a:off x="0" y="918765"/>
            <a:ext cx="12136581" cy="5724644"/>
          </a:xfrm>
          <a:prstGeom prst="rect">
            <a:avLst/>
          </a:prstGeom>
        </p:spPr>
        <p:txBody>
          <a:bodyPr wrap="square">
            <a:spAutoFit/>
          </a:bodyPr>
          <a:lstStyle/>
          <a:p>
            <a:pPr marL="685800" indent="-457200">
              <a:buFont typeface="Arial" panose="020B0604020202020204" pitchFamily="34" charset="0"/>
              <a:buChar char="•"/>
            </a:pPr>
            <a:r>
              <a:rPr lang="en-US" sz="2800" b="1" dirty="0">
                <a:solidFill>
                  <a:srgbClr val="FFFF00"/>
                </a:solidFill>
                <a:latin typeface="Arial" panose="020B0604020202020204" pitchFamily="34" charset="0"/>
                <a:cs typeface="Arial" panose="020B0604020202020204" pitchFamily="34" charset="0"/>
              </a:rPr>
              <a:t>Health Concerns</a:t>
            </a:r>
            <a:r>
              <a:rPr lang="en-US" sz="2800" b="1" dirty="0" smtClean="0">
                <a:solidFill>
                  <a:srgbClr val="FFFF00"/>
                </a:solidFill>
                <a:latin typeface="Arial" panose="020B0604020202020204" pitchFamily="34" charset="0"/>
                <a:cs typeface="Arial" panose="020B0604020202020204" pitchFamily="34" charset="0"/>
              </a:rPr>
              <a:t>:</a:t>
            </a:r>
          </a:p>
          <a:p>
            <a:pPr marL="914400" indent="-457200">
              <a:buFont typeface="Wingdings" panose="05000000000000000000" pitchFamily="2" charset="2"/>
              <a:buChar char="Ø"/>
            </a:pPr>
            <a:r>
              <a:rPr lang="en-US" dirty="0" smtClean="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Prolonged use of VR headsets can lead to various health issues, including eye strain, headaches, motion sickness, and fatigue. Some users may also experience discomfort or dizziness due to mismatches between visual and vestibular cues. </a:t>
            </a:r>
            <a:endParaRPr lang="en-US" sz="2400" dirty="0" smtClean="0">
              <a:latin typeface="Arial" panose="020B0604020202020204" pitchFamily="34" charset="0"/>
              <a:cs typeface="Arial" panose="020B0604020202020204" pitchFamily="34" charset="0"/>
            </a:endParaRPr>
          </a:p>
          <a:p>
            <a:pPr marL="685800" indent="-457200">
              <a:buFont typeface="Arial" panose="020B0604020202020204" pitchFamily="34" charset="0"/>
              <a:buChar char="•"/>
            </a:pPr>
            <a:r>
              <a:rPr lang="en-US" sz="2800" b="1" dirty="0" smtClean="0">
                <a:solidFill>
                  <a:srgbClr val="FFFF00"/>
                </a:solidFill>
                <a:latin typeface="Arial" panose="020B0604020202020204" pitchFamily="34" charset="0"/>
                <a:cs typeface="Arial" panose="020B0604020202020204" pitchFamily="34" charset="0"/>
              </a:rPr>
              <a:t>Isolation </a:t>
            </a:r>
            <a:r>
              <a:rPr lang="en-US" sz="2800" b="1" dirty="0">
                <a:solidFill>
                  <a:srgbClr val="FFFF00"/>
                </a:solidFill>
                <a:latin typeface="Arial" panose="020B0604020202020204" pitchFamily="34" charset="0"/>
                <a:cs typeface="Arial" panose="020B0604020202020204" pitchFamily="34" charset="0"/>
              </a:rPr>
              <a:t>and Social Disconnection: </a:t>
            </a:r>
            <a:endParaRPr lang="en-US" sz="2800" b="1" dirty="0" smtClean="0">
              <a:solidFill>
                <a:srgbClr val="FFFF00"/>
              </a:solidFill>
              <a:latin typeface="Arial" panose="020B0604020202020204" pitchFamily="34" charset="0"/>
              <a:cs typeface="Arial" panose="020B0604020202020204" pitchFamily="34" charset="0"/>
            </a:endParaRPr>
          </a:p>
          <a:p>
            <a:pPr marL="914400" indent="-457200">
              <a:buFont typeface="Wingdings" panose="05000000000000000000" pitchFamily="2" charset="2"/>
              <a:buChar char="Ø"/>
            </a:pPr>
            <a:r>
              <a:rPr lang="en-US" sz="2400" dirty="0" smtClean="0">
                <a:latin typeface="Arial" panose="020B0604020202020204" pitchFamily="34" charset="0"/>
                <a:cs typeface="Arial" panose="020B0604020202020204" pitchFamily="34" charset="0"/>
              </a:rPr>
              <a:t>Immersive </a:t>
            </a:r>
            <a:r>
              <a:rPr lang="en-US" sz="2400" dirty="0">
                <a:latin typeface="Arial" panose="020B0604020202020204" pitchFamily="34" charset="0"/>
                <a:cs typeface="Arial" panose="020B0604020202020204" pitchFamily="34" charset="0"/>
              </a:rPr>
              <a:t>VR experiences can lead to social isolation as users become absorbed in virtual environments and neglect real-world interactions. This can have negative impacts on social relationships and communication skills.</a:t>
            </a:r>
          </a:p>
          <a:p>
            <a:pPr marL="514350" indent="-285750">
              <a:buFont typeface="Arial" panose="020B0604020202020204" pitchFamily="34" charset="0"/>
              <a:buChar char="•"/>
            </a:pPr>
            <a:r>
              <a:rPr lang="en-US" sz="2800" b="1" dirty="0">
                <a:solidFill>
                  <a:srgbClr val="FFFF00"/>
                </a:solidFill>
                <a:latin typeface="Arial" panose="020B0604020202020204" pitchFamily="34" charset="0"/>
                <a:cs typeface="Arial" panose="020B0604020202020204" pitchFamily="34" charset="0"/>
              </a:rPr>
              <a:t> Content Space Requirements: </a:t>
            </a:r>
            <a:endParaRPr lang="en-US" sz="2800" b="1" dirty="0" smtClean="0">
              <a:solidFill>
                <a:srgbClr val="FFFF00"/>
              </a:solidFill>
              <a:latin typeface="Arial" panose="020B0604020202020204" pitchFamily="34" charset="0"/>
              <a:cs typeface="Arial" panose="020B0604020202020204" pitchFamily="34" charset="0"/>
            </a:endParaRPr>
          </a:p>
          <a:p>
            <a:pPr marL="914400" indent="-457200">
              <a:buFont typeface="Wingdings" panose="05000000000000000000" pitchFamily="2" charset="2"/>
              <a:buChar char="Ø"/>
            </a:pPr>
            <a:r>
              <a:rPr lang="en-US" sz="2400" dirty="0" smtClean="0">
                <a:latin typeface="Arial" panose="020B0604020202020204" pitchFamily="34" charset="0"/>
                <a:cs typeface="Arial" panose="020B0604020202020204" pitchFamily="34" charset="0"/>
              </a:rPr>
              <a:t>Some </a:t>
            </a:r>
            <a:r>
              <a:rPr lang="en-US" sz="2400" dirty="0">
                <a:latin typeface="Arial" panose="020B0604020202020204" pitchFamily="34" charset="0"/>
                <a:cs typeface="Arial" panose="020B0604020202020204" pitchFamily="34" charset="0"/>
              </a:rPr>
              <a:t>VR experiences may require a significant amount of physical space for users to move around safely. This can be challenging for users with limited space at home or in other environments, restricting their ability to fully engage with certain VR </a:t>
            </a:r>
            <a:r>
              <a:rPr lang="en-US" sz="2400" dirty="0" smtClean="0">
                <a:latin typeface="Arial" panose="020B0604020202020204" pitchFamily="34" charset="0"/>
                <a:cs typeface="Arial" panose="020B0604020202020204" pitchFamily="34" charset="0"/>
              </a:rPr>
              <a:t>applications.</a:t>
            </a:r>
            <a:endParaRPr lang="en-US" dirty="0" smtClean="0">
              <a:latin typeface="Arial" panose="020B0604020202020204" pitchFamily="34" charset="0"/>
              <a:cs typeface="Arial" panose="020B0604020202020204" pitchFamily="34" charset="0"/>
            </a:endParaRPr>
          </a:p>
          <a:p>
            <a:endParaRPr lang="en-US"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0826603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3250" y="6650718"/>
            <a:ext cx="12205250" cy="207282"/>
          </a:xfrm>
          <a:prstGeom prst="rect">
            <a:avLst/>
          </a:prstGeom>
        </p:spPr>
      </p:pic>
      <p:pic>
        <p:nvPicPr>
          <p:cNvPr id="3" name="Picture 2"/>
          <p:cNvPicPr>
            <a:picLocks noChangeAspect="1"/>
          </p:cNvPicPr>
          <p:nvPr/>
        </p:nvPicPr>
        <p:blipFill>
          <a:blip r:embed="rId3"/>
          <a:stretch>
            <a:fillRect/>
          </a:stretch>
        </p:blipFill>
        <p:spPr>
          <a:xfrm>
            <a:off x="0" y="628157"/>
            <a:ext cx="6559865" cy="170703"/>
          </a:xfrm>
          <a:prstGeom prst="rect">
            <a:avLst/>
          </a:prstGeom>
        </p:spPr>
      </p:pic>
      <p:pic>
        <p:nvPicPr>
          <p:cNvPr id="4" name="Picture 3"/>
          <p:cNvPicPr>
            <a:picLocks noChangeAspect="1"/>
          </p:cNvPicPr>
          <p:nvPr/>
        </p:nvPicPr>
        <p:blipFill>
          <a:blip r:embed="rId4"/>
          <a:stretch>
            <a:fillRect/>
          </a:stretch>
        </p:blipFill>
        <p:spPr>
          <a:xfrm>
            <a:off x="3487214" y="798860"/>
            <a:ext cx="6145301" cy="115834"/>
          </a:xfrm>
          <a:prstGeom prst="rect">
            <a:avLst/>
          </a:prstGeom>
        </p:spPr>
      </p:pic>
      <p:sp>
        <p:nvSpPr>
          <p:cNvPr id="5" name="Rectangle 4"/>
          <p:cNvSpPr/>
          <p:nvPr/>
        </p:nvSpPr>
        <p:spPr>
          <a:xfrm>
            <a:off x="0" y="16220"/>
            <a:ext cx="12192000" cy="584775"/>
          </a:xfrm>
          <a:prstGeom prst="rect">
            <a:avLst/>
          </a:prstGeom>
        </p:spPr>
        <p:txBody>
          <a:bodyPr wrap="square">
            <a:spAutoFit/>
          </a:bodyPr>
          <a:lstStyle/>
          <a:p>
            <a:pPr algn="ctr"/>
            <a:r>
              <a:rPr lang="en-US" sz="3200" b="1" dirty="0">
                <a:latin typeface="Arial" panose="020B0604020202020204" pitchFamily="34" charset="0"/>
                <a:cs typeface="Arial" panose="020B0604020202020204" pitchFamily="34" charset="0"/>
              </a:rPr>
              <a:t>Disadvantages of Virtual Reality</a:t>
            </a:r>
          </a:p>
        </p:txBody>
      </p:sp>
      <p:sp>
        <p:nvSpPr>
          <p:cNvPr id="6" name="Rectangle 5"/>
          <p:cNvSpPr/>
          <p:nvPr/>
        </p:nvSpPr>
        <p:spPr>
          <a:xfrm>
            <a:off x="0" y="958924"/>
            <a:ext cx="12192000" cy="5570756"/>
          </a:xfrm>
          <a:prstGeom prst="rect">
            <a:avLst/>
          </a:prstGeom>
        </p:spPr>
        <p:txBody>
          <a:bodyPr wrap="square">
            <a:spAutoFit/>
          </a:bodyPr>
          <a:lstStyle/>
          <a:p>
            <a:pPr marL="685800" indent="-457200">
              <a:buFont typeface="Arial" panose="020B0604020202020204" pitchFamily="34" charset="0"/>
              <a:buChar char="•"/>
            </a:pPr>
            <a:endParaRPr lang="en-US" sz="2800" b="1" dirty="0" smtClean="0">
              <a:solidFill>
                <a:srgbClr val="FFFF00"/>
              </a:solidFill>
              <a:latin typeface="Arial" panose="020B0604020202020204" pitchFamily="34" charset="0"/>
              <a:cs typeface="Arial" panose="020B0604020202020204" pitchFamily="34" charset="0"/>
            </a:endParaRPr>
          </a:p>
          <a:p>
            <a:pPr marL="685800" indent="-457200">
              <a:buFont typeface="Arial" panose="020B0604020202020204" pitchFamily="34" charset="0"/>
              <a:buChar char="•"/>
            </a:pPr>
            <a:r>
              <a:rPr lang="en-US" sz="2800" b="1" dirty="0" smtClean="0">
                <a:solidFill>
                  <a:srgbClr val="FFFF00"/>
                </a:solidFill>
                <a:latin typeface="Arial" panose="020B0604020202020204" pitchFamily="34" charset="0"/>
                <a:cs typeface="Arial" panose="020B0604020202020204" pitchFamily="34" charset="0"/>
              </a:rPr>
              <a:t>Cost </a:t>
            </a:r>
            <a:r>
              <a:rPr lang="en-US" sz="2800" b="1" dirty="0">
                <a:solidFill>
                  <a:srgbClr val="FFFF00"/>
                </a:solidFill>
                <a:latin typeface="Arial" panose="020B0604020202020204" pitchFamily="34" charset="0"/>
                <a:cs typeface="Arial" panose="020B0604020202020204" pitchFamily="34" charset="0"/>
              </a:rPr>
              <a:t>of Equipment: </a:t>
            </a:r>
          </a:p>
          <a:p>
            <a:pPr marL="228600"/>
            <a:endParaRPr lang="en-US" sz="2800" b="1" dirty="0" smtClean="0">
              <a:solidFill>
                <a:srgbClr val="FFFF00"/>
              </a:solidFill>
              <a:latin typeface="Arial" panose="020B0604020202020204" pitchFamily="34" charset="0"/>
              <a:cs typeface="Arial" panose="020B0604020202020204" pitchFamily="34" charset="0"/>
            </a:endParaRPr>
          </a:p>
          <a:p>
            <a:pPr marL="914400" indent="-457200">
              <a:buFont typeface="Wingdings" panose="05000000000000000000" pitchFamily="2" charset="2"/>
              <a:buChar char="Ø"/>
            </a:pPr>
            <a:r>
              <a:rPr lang="en-US" sz="2400" dirty="0" smtClean="0">
                <a:latin typeface="Arial" panose="020B0604020202020204" pitchFamily="34" charset="0"/>
                <a:cs typeface="Arial" panose="020B0604020202020204" pitchFamily="34" charset="0"/>
              </a:rPr>
              <a:t>VR </a:t>
            </a:r>
            <a:r>
              <a:rPr lang="en-US" sz="2400" dirty="0">
                <a:latin typeface="Arial" panose="020B0604020202020204" pitchFamily="34" charset="0"/>
                <a:cs typeface="Arial" panose="020B0604020202020204" pitchFamily="34" charset="0"/>
              </a:rPr>
              <a:t>hardware, such as headsets and controllers, can be expensive, making it inaccessible to some users. Additionally, VR-ready computers or gaming consoles may be required to run high-quality VR experiences, further adding to the cost</a:t>
            </a:r>
            <a:r>
              <a:rPr lang="en-US" sz="2400" dirty="0" smtClean="0">
                <a:latin typeface="Arial" panose="020B0604020202020204" pitchFamily="34" charset="0"/>
                <a:cs typeface="Arial" panose="020B0604020202020204" pitchFamily="34" charset="0"/>
              </a:rPr>
              <a:t>.</a:t>
            </a:r>
          </a:p>
          <a:p>
            <a:pPr marL="457200"/>
            <a:endParaRPr lang="en-US" sz="2400" dirty="0">
              <a:latin typeface="Arial" panose="020B0604020202020204" pitchFamily="34" charset="0"/>
              <a:cs typeface="Arial" panose="020B0604020202020204" pitchFamily="34" charset="0"/>
            </a:endParaRPr>
          </a:p>
          <a:p>
            <a:pPr marL="685800" indent="-457200">
              <a:buFont typeface="Arial" panose="020B0604020202020204" pitchFamily="34" charset="0"/>
              <a:buChar char="•"/>
            </a:pPr>
            <a:r>
              <a:rPr lang="en-US" sz="2800" b="1" dirty="0">
                <a:solidFill>
                  <a:srgbClr val="FFFF00"/>
                </a:solidFill>
                <a:latin typeface="Arial" panose="020B0604020202020204" pitchFamily="34" charset="0"/>
                <a:cs typeface="Arial" panose="020B0604020202020204" pitchFamily="34" charset="0"/>
              </a:rPr>
              <a:t>Dependency and Addiction: </a:t>
            </a:r>
            <a:endParaRPr lang="en-US" sz="2800" b="1" dirty="0" smtClean="0">
              <a:solidFill>
                <a:srgbClr val="FFFF00"/>
              </a:solidFill>
              <a:latin typeface="Arial" panose="020B0604020202020204" pitchFamily="34" charset="0"/>
              <a:cs typeface="Arial" panose="020B0604020202020204" pitchFamily="34" charset="0"/>
            </a:endParaRPr>
          </a:p>
          <a:p>
            <a:pPr marL="228600"/>
            <a:endParaRPr lang="en-US" sz="2800" b="1" dirty="0" smtClean="0">
              <a:solidFill>
                <a:srgbClr val="FFFF00"/>
              </a:solidFill>
              <a:latin typeface="Arial" panose="020B0604020202020204" pitchFamily="34" charset="0"/>
              <a:cs typeface="Arial" panose="020B0604020202020204" pitchFamily="34" charset="0"/>
            </a:endParaRPr>
          </a:p>
          <a:p>
            <a:pPr marL="914400" indent="-457200">
              <a:buFont typeface="Wingdings" panose="05000000000000000000" pitchFamily="2" charset="2"/>
              <a:buChar char="Ø"/>
            </a:pPr>
            <a:r>
              <a:rPr lang="en-US" sz="2400" dirty="0" smtClean="0">
                <a:latin typeface="Arial" panose="020B0604020202020204" pitchFamily="34" charset="0"/>
                <a:cs typeface="Arial" panose="020B0604020202020204" pitchFamily="34" charset="0"/>
              </a:rPr>
              <a:t>Like </a:t>
            </a:r>
            <a:r>
              <a:rPr lang="en-US" sz="2400" dirty="0">
                <a:latin typeface="Arial" panose="020B0604020202020204" pitchFamily="34" charset="0"/>
                <a:cs typeface="Arial" panose="020B0604020202020204" pitchFamily="34" charset="0"/>
              </a:rPr>
              <a:t>other forms of technology, VR has the potential to become addictive, leading to excessive use and dependency (</a:t>
            </a:r>
            <a:r>
              <a:rPr lang="en-US" sz="2400" dirty="0" smtClean="0">
                <a:latin typeface="Arial" panose="020B0604020202020204" pitchFamily="34" charset="0"/>
                <a:cs typeface="Arial" panose="020B0604020202020204" pitchFamily="34" charset="0"/>
              </a:rPr>
              <a:t>Villagran-Vizcarra et al., 2023). </a:t>
            </a:r>
            <a:r>
              <a:rPr lang="en-US" sz="2400" dirty="0">
                <a:latin typeface="Arial" panose="020B0604020202020204" pitchFamily="34" charset="0"/>
                <a:cs typeface="Arial" panose="020B0604020202020204" pitchFamily="34" charset="0"/>
              </a:rPr>
              <a:t>Users may experience difficulty disconnecting from VR experiences, leading to problems such as decreased productivity, neglect of responsibilities, and withdrawal symptoms when not using VR devices</a:t>
            </a:r>
            <a:r>
              <a:rPr lang="en-US" sz="2400" dirty="0" smtClean="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123895042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3251" y="919933"/>
            <a:ext cx="12191999" cy="5730785"/>
          </a:xfrm>
          <a:prstGeom prst="rect">
            <a:avLst/>
          </a:prstGeom>
        </p:spPr>
      </p:pic>
      <p:pic>
        <p:nvPicPr>
          <p:cNvPr id="4" name="Picture 3"/>
          <p:cNvPicPr>
            <a:picLocks noChangeAspect="1"/>
          </p:cNvPicPr>
          <p:nvPr/>
        </p:nvPicPr>
        <p:blipFill>
          <a:blip r:embed="rId3"/>
          <a:stretch>
            <a:fillRect/>
          </a:stretch>
        </p:blipFill>
        <p:spPr>
          <a:xfrm>
            <a:off x="0" y="6650718"/>
            <a:ext cx="12205250" cy="207282"/>
          </a:xfrm>
          <a:prstGeom prst="rect">
            <a:avLst/>
          </a:prstGeom>
        </p:spPr>
      </p:pic>
      <p:pic>
        <p:nvPicPr>
          <p:cNvPr id="5" name="Picture 4"/>
          <p:cNvPicPr>
            <a:picLocks noChangeAspect="1"/>
          </p:cNvPicPr>
          <p:nvPr/>
        </p:nvPicPr>
        <p:blipFill>
          <a:blip r:embed="rId4"/>
          <a:stretch>
            <a:fillRect/>
          </a:stretch>
        </p:blipFill>
        <p:spPr>
          <a:xfrm>
            <a:off x="0" y="633396"/>
            <a:ext cx="6559865" cy="170703"/>
          </a:xfrm>
          <a:prstGeom prst="rect">
            <a:avLst/>
          </a:prstGeom>
        </p:spPr>
      </p:pic>
      <p:pic>
        <p:nvPicPr>
          <p:cNvPr id="6" name="Picture 5"/>
          <p:cNvPicPr>
            <a:picLocks noChangeAspect="1"/>
          </p:cNvPicPr>
          <p:nvPr/>
        </p:nvPicPr>
        <p:blipFill>
          <a:blip r:embed="rId5"/>
          <a:stretch>
            <a:fillRect/>
          </a:stretch>
        </p:blipFill>
        <p:spPr>
          <a:xfrm>
            <a:off x="3896186" y="804099"/>
            <a:ext cx="6145301" cy="115834"/>
          </a:xfrm>
          <a:prstGeom prst="rect">
            <a:avLst/>
          </a:prstGeom>
        </p:spPr>
      </p:pic>
      <p:sp>
        <p:nvSpPr>
          <p:cNvPr id="2" name="Rectangle 1"/>
          <p:cNvSpPr/>
          <p:nvPr/>
        </p:nvSpPr>
        <p:spPr>
          <a:xfrm>
            <a:off x="13241" y="9680"/>
            <a:ext cx="12178749" cy="584775"/>
          </a:xfrm>
          <a:prstGeom prst="rect">
            <a:avLst/>
          </a:prstGeom>
        </p:spPr>
        <p:txBody>
          <a:bodyPr wrap="square">
            <a:spAutoFit/>
          </a:bodyPr>
          <a:lstStyle/>
          <a:p>
            <a:pPr algn="ctr"/>
            <a:r>
              <a:rPr lang="en-US" sz="3200" b="1" dirty="0">
                <a:latin typeface="Arial" panose="020B0604020202020204" pitchFamily="34" charset="0"/>
                <a:cs typeface="Arial" panose="020B0604020202020204" pitchFamily="34" charset="0"/>
              </a:rPr>
              <a:t>Image  </a:t>
            </a:r>
            <a:r>
              <a:rPr lang="en-US" sz="3200" b="1" dirty="0" smtClean="0">
                <a:latin typeface="Arial" panose="020B0604020202020204" pitchFamily="34" charset="0"/>
                <a:cs typeface="Arial" panose="020B0604020202020204" pitchFamily="34" charset="0"/>
              </a:rPr>
              <a:t>showing virtual reality and  </a:t>
            </a:r>
            <a:r>
              <a:rPr lang="en-US" sz="3200" b="1" dirty="0">
                <a:latin typeface="Arial" panose="020B0604020202020204" pitchFamily="34" charset="0"/>
                <a:cs typeface="Arial" panose="020B0604020202020204" pitchFamily="34" charset="0"/>
              </a:rPr>
              <a:t>Augmented </a:t>
            </a:r>
            <a:r>
              <a:rPr lang="en-US" sz="3200" b="1" dirty="0" smtClean="0">
                <a:latin typeface="Arial" panose="020B0604020202020204" pitchFamily="34" charset="0"/>
                <a:cs typeface="Arial" panose="020B0604020202020204" pitchFamily="34" charset="0"/>
              </a:rPr>
              <a:t>Reality</a:t>
            </a:r>
            <a:endParaRPr lang="en-US" sz="32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1194172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669721"/>
            <a:ext cx="6559865" cy="170703"/>
          </a:xfrm>
          <a:prstGeom prst="rect">
            <a:avLst/>
          </a:prstGeom>
        </p:spPr>
      </p:pic>
      <p:pic>
        <p:nvPicPr>
          <p:cNvPr id="3" name="Picture 2"/>
          <p:cNvPicPr>
            <a:picLocks noChangeAspect="1"/>
          </p:cNvPicPr>
          <p:nvPr/>
        </p:nvPicPr>
        <p:blipFill>
          <a:blip r:embed="rId3"/>
          <a:stretch>
            <a:fillRect/>
          </a:stretch>
        </p:blipFill>
        <p:spPr>
          <a:xfrm>
            <a:off x="3826913" y="840424"/>
            <a:ext cx="6145301" cy="115834"/>
          </a:xfrm>
          <a:prstGeom prst="rect">
            <a:avLst/>
          </a:prstGeom>
        </p:spPr>
      </p:pic>
      <p:sp>
        <p:nvSpPr>
          <p:cNvPr id="4" name="Rectangle 3"/>
          <p:cNvSpPr/>
          <p:nvPr/>
        </p:nvSpPr>
        <p:spPr>
          <a:xfrm>
            <a:off x="-1" y="46005"/>
            <a:ext cx="12192001" cy="584775"/>
          </a:xfrm>
          <a:prstGeom prst="rect">
            <a:avLst/>
          </a:prstGeom>
        </p:spPr>
        <p:txBody>
          <a:bodyPr wrap="square">
            <a:spAutoFit/>
          </a:bodyPr>
          <a:lstStyle/>
          <a:p>
            <a:pPr algn="ctr"/>
            <a:r>
              <a:rPr lang="en-US" sz="3200" b="1" dirty="0">
                <a:latin typeface="Arial" panose="020B0604020202020204" pitchFamily="34" charset="0"/>
                <a:cs typeface="Arial" panose="020B0604020202020204" pitchFamily="34" charset="0"/>
              </a:rPr>
              <a:t>Applications of Augmented Reality</a:t>
            </a:r>
          </a:p>
        </p:txBody>
      </p:sp>
      <p:sp>
        <p:nvSpPr>
          <p:cNvPr id="5" name="Rectangle 4"/>
          <p:cNvSpPr/>
          <p:nvPr/>
        </p:nvSpPr>
        <p:spPr>
          <a:xfrm>
            <a:off x="0" y="958924"/>
            <a:ext cx="12192000" cy="5570756"/>
          </a:xfrm>
          <a:prstGeom prst="rect">
            <a:avLst/>
          </a:prstGeom>
        </p:spPr>
        <p:txBody>
          <a:bodyPr wrap="square">
            <a:spAutoFit/>
          </a:bodyPr>
          <a:lstStyle/>
          <a:p>
            <a:pPr marL="685800" indent="-457200">
              <a:buFont typeface="Arial" panose="020B0604020202020204" pitchFamily="34" charset="0"/>
              <a:buChar char="•"/>
            </a:pPr>
            <a:endParaRPr lang="en-US" sz="2800" b="1" dirty="0" smtClean="0">
              <a:solidFill>
                <a:srgbClr val="FFFF00"/>
              </a:solidFill>
              <a:latin typeface="Arial" panose="020B0604020202020204" pitchFamily="34" charset="0"/>
              <a:cs typeface="Arial" panose="020B0604020202020204" pitchFamily="34" charset="0"/>
            </a:endParaRPr>
          </a:p>
          <a:p>
            <a:pPr marL="685800" indent="-457200">
              <a:buFont typeface="Arial" panose="020B0604020202020204" pitchFamily="34" charset="0"/>
              <a:buChar char="•"/>
            </a:pPr>
            <a:r>
              <a:rPr lang="en-US" sz="2800" b="1" dirty="0" smtClean="0">
                <a:solidFill>
                  <a:srgbClr val="FFFF00"/>
                </a:solidFill>
                <a:latin typeface="Arial" panose="020B0604020202020204" pitchFamily="34" charset="0"/>
                <a:cs typeface="Arial" panose="020B0604020202020204" pitchFamily="34" charset="0"/>
              </a:rPr>
              <a:t>Gaming </a:t>
            </a:r>
            <a:r>
              <a:rPr lang="en-US" sz="2800" b="1" dirty="0">
                <a:solidFill>
                  <a:srgbClr val="FFFF00"/>
                </a:solidFill>
                <a:latin typeface="Arial" panose="020B0604020202020204" pitchFamily="34" charset="0"/>
                <a:cs typeface="Arial" panose="020B0604020202020204" pitchFamily="34" charset="0"/>
              </a:rPr>
              <a:t>and Entertainment</a:t>
            </a:r>
            <a:r>
              <a:rPr lang="en-US" sz="2800" b="1" dirty="0" smtClean="0">
                <a:solidFill>
                  <a:srgbClr val="FFFF00"/>
                </a:solidFill>
                <a:latin typeface="Arial" panose="020B0604020202020204" pitchFamily="34" charset="0"/>
                <a:cs typeface="Arial" panose="020B0604020202020204" pitchFamily="34" charset="0"/>
              </a:rPr>
              <a:t>:</a:t>
            </a:r>
          </a:p>
          <a:p>
            <a:pPr marL="914400" indent="-457200">
              <a:buFont typeface="Wingdings" panose="05000000000000000000" pitchFamily="2" charset="2"/>
              <a:buChar char="Ø"/>
            </a:pPr>
            <a:r>
              <a:rPr lang="en-US" sz="2400" dirty="0" smtClean="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AR gaming applications, like Pokémon GO, have gained widespread popularity by overlaying digital characters and elements onto real-world environments. </a:t>
            </a:r>
          </a:p>
          <a:p>
            <a:pPr marL="685800" indent="-457200">
              <a:buFont typeface="Arial" panose="020B0604020202020204" pitchFamily="34" charset="0"/>
              <a:buChar char="•"/>
            </a:pPr>
            <a:r>
              <a:rPr lang="en-US" sz="2800" b="1" dirty="0">
                <a:solidFill>
                  <a:srgbClr val="FFFF00"/>
                </a:solidFill>
                <a:latin typeface="Arial" panose="020B0604020202020204" pitchFamily="34" charset="0"/>
                <a:cs typeface="Arial" panose="020B0604020202020204" pitchFamily="34" charset="0"/>
              </a:rPr>
              <a:t>Education and Training: </a:t>
            </a:r>
            <a:endParaRPr lang="en-US" sz="2800" b="1" dirty="0" smtClean="0">
              <a:solidFill>
                <a:srgbClr val="FFFF00"/>
              </a:solidFill>
              <a:latin typeface="Arial" panose="020B0604020202020204" pitchFamily="34" charset="0"/>
              <a:cs typeface="Arial" panose="020B0604020202020204" pitchFamily="34" charset="0"/>
            </a:endParaRPr>
          </a:p>
          <a:p>
            <a:pPr marL="914400" indent="-457200">
              <a:buFont typeface="Wingdings" panose="05000000000000000000" pitchFamily="2" charset="2"/>
              <a:buChar char="Ø"/>
            </a:pPr>
            <a:r>
              <a:rPr lang="en-US" sz="2400" dirty="0" smtClean="0">
                <a:latin typeface="Arial" panose="020B0604020202020204" pitchFamily="34" charset="0"/>
                <a:cs typeface="Arial" panose="020B0604020202020204" pitchFamily="34" charset="0"/>
              </a:rPr>
              <a:t>AR </a:t>
            </a:r>
            <a:r>
              <a:rPr lang="en-US" sz="2400" dirty="0">
                <a:latin typeface="Arial" panose="020B0604020202020204" pitchFamily="34" charset="0"/>
                <a:cs typeface="Arial" panose="020B0604020202020204" pitchFamily="34" charset="0"/>
              </a:rPr>
              <a:t>enhances learning experiences by providing interactive and engaging educational content. It can be used in classrooms to visualize complex concepts, create interactive textbooks, and facilitate virtual field trips.</a:t>
            </a:r>
          </a:p>
          <a:p>
            <a:pPr marL="685800" indent="-457200">
              <a:buFont typeface="Arial" panose="020B0604020202020204" pitchFamily="34" charset="0"/>
              <a:buChar char="•"/>
            </a:pPr>
            <a:r>
              <a:rPr lang="en-US" sz="3200" b="1" dirty="0">
                <a:solidFill>
                  <a:srgbClr val="FFFF00"/>
                </a:solidFill>
                <a:latin typeface="Arial" panose="020B0604020202020204" pitchFamily="34" charset="0"/>
                <a:cs typeface="Arial" panose="020B0604020202020204" pitchFamily="34" charset="0"/>
              </a:rPr>
              <a:t>Healthcare: </a:t>
            </a:r>
            <a:endParaRPr lang="en-US" sz="3200" b="1" dirty="0" smtClean="0">
              <a:solidFill>
                <a:srgbClr val="FFFF00"/>
              </a:solidFill>
              <a:latin typeface="Arial" panose="020B0604020202020204" pitchFamily="34" charset="0"/>
              <a:cs typeface="Arial" panose="020B0604020202020204" pitchFamily="34" charset="0"/>
            </a:endParaRPr>
          </a:p>
          <a:p>
            <a:pPr marL="914400" indent="-457200">
              <a:buFont typeface="Wingdings" panose="05000000000000000000" pitchFamily="2" charset="2"/>
              <a:buChar char="Ø"/>
            </a:pPr>
            <a:r>
              <a:rPr lang="en-US" sz="2400" dirty="0" smtClean="0">
                <a:latin typeface="Arial" panose="020B0604020202020204" pitchFamily="34" charset="0"/>
                <a:cs typeface="Arial" panose="020B0604020202020204" pitchFamily="34" charset="0"/>
              </a:rPr>
              <a:t>AR </a:t>
            </a:r>
            <a:r>
              <a:rPr lang="en-US" sz="2400" dirty="0">
                <a:latin typeface="Arial" panose="020B0604020202020204" pitchFamily="34" charset="0"/>
                <a:cs typeface="Arial" panose="020B0604020202020204" pitchFamily="34" charset="0"/>
              </a:rPr>
              <a:t>is used in </a:t>
            </a:r>
            <a:r>
              <a:rPr lang="en-US" sz="2400" dirty="0" smtClean="0">
                <a:latin typeface="Arial" panose="020B0604020202020204" pitchFamily="34" charset="0"/>
                <a:cs typeface="Arial" panose="020B0604020202020204" pitchFamily="34" charset="0"/>
              </a:rPr>
              <a:t>healthcare </a:t>
            </a:r>
            <a:r>
              <a:rPr lang="en-US" sz="2400" dirty="0">
                <a:latin typeface="Arial" panose="020B0604020202020204" pitchFamily="34" charset="0"/>
                <a:cs typeface="Arial" panose="020B0604020202020204" pitchFamily="34" charset="0"/>
              </a:rPr>
              <a:t>for medical training, surgical planning, and patient </a:t>
            </a:r>
            <a:r>
              <a:rPr lang="en-US" sz="2400" dirty="0" smtClean="0">
                <a:latin typeface="Arial" panose="020B0604020202020204" pitchFamily="34" charset="0"/>
                <a:cs typeface="Arial" panose="020B0604020202020204" pitchFamily="34" charset="0"/>
              </a:rPr>
              <a:t>education (Yeung et al., 2021). </a:t>
            </a:r>
            <a:r>
              <a:rPr lang="en-US" sz="2400" dirty="0">
                <a:latin typeface="Arial" panose="020B0604020202020204" pitchFamily="34" charset="0"/>
                <a:cs typeface="Arial" panose="020B0604020202020204" pitchFamily="34" charset="0"/>
              </a:rPr>
              <a:t>Surgeons can visualize patient anatomy in 3D overlaid onto the surgical site during procedures, improving precision and accuracy</a:t>
            </a:r>
            <a:r>
              <a:rPr lang="en-US" sz="2400" dirty="0" smtClean="0">
                <a:latin typeface="Arial" panose="020B0604020202020204" pitchFamily="34" charset="0"/>
                <a:cs typeface="Arial" panose="020B0604020202020204" pitchFamily="34" charset="0"/>
              </a:rPr>
              <a:t>.</a:t>
            </a:r>
          </a:p>
          <a:p>
            <a:pPr marL="457200"/>
            <a:endParaRPr lang="en-US" sz="2400" dirty="0">
              <a:latin typeface="Arial" panose="020B0604020202020204" pitchFamily="34" charset="0"/>
              <a:cs typeface="Arial" panose="020B0604020202020204" pitchFamily="34" charset="0"/>
            </a:endParaRPr>
          </a:p>
        </p:txBody>
      </p:sp>
      <p:pic>
        <p:nvPicPr>
          <p:cNvPr id="6" name="Picture 5"/>
          <p:cNvPicPr>
            <a:picLocks noChangeAspect="1"/>
          </p:cNvPicPr>
          <p:nvPr/>
        </p:nvPicPr>
        <p:blipFill>
          <a:blip r:embed="rId4"/>
          <a:stretch>
            <a:fillRect/>
          </a:stretch>
        </p:blipFill>
        <p:spPr>
          <a:xfrm>
            <a:off x="-13250" y="6650718"/>
            <a:ext cx="12205250" cy="207282"/>
          </a:xfrm>
          <a:prstGeom prst="rect">
            <a:avLst/>
          </a:prstGeom>
        </p:spPr>
      </p:pic>
    </p:spTree>
    <p:extLst>
      <p:ext uri="{BB962C8B-B14F-4D97-AF65-F5344CB8AC3E}">
        <p14:creationId xmlns:p14="http://schemas.microsoft.com/office/powerpoint/2010/main" val="245754823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868401"/>
            <a:ext cx="12192000" cy="5782317"/>
          </a:xfrm>
          <a:prstGeom prst="rect">
            <a:avLst/>
          </a:prstGeom>
        </p:spPr>
      </p:pic>
      <p:pic>
        <p:nvPicPr>
          <p:cNvPr id="3" name="Picture 2"/>
          <p:cNvPicPr>
            <a:picLocks noChangeAspect="1"/>
          </p:cNvPicPr>
          <p:nvPr/>
        </p:nvPicPr>
        <p:blipFill>
          <a:blip r:embed="rId3"/>
          <a:stretch>
            <a:fillRect/>
          </a:stretch>
        </p:blipFill>
        <p:spPr>
          <a:xfrm>
            <a:off x="0" y="6650718"/>
            <a:ext cx="12205250" cy="207282"/>
          </a:xfrm>
          <a:prstGeom prst="rect">
            <a:avLst/>
          </a:prstGeom>
        </p:spPr>
      </p:pic>
      <p:pic>
        <p:nvPicPr>
          <p:cNvPr id="4" name="Picture 3"/>
          <p:cNvPicPr>
            <a:picLocks noChangeAspect="1"/>
          </p:cNvPicPr>
          <p:nvPr/>
        </p:nvPicPr>
        <p:blipFill>
          <a:blip r:embed="rId4"/>
          <a:stretch>
            <a:fillRect/>
          </a:stretch>
        </p:blipFill>
        <p:spPr>
          <a:xfrm>
            <a:off x="0" y="594057"/>
            <a:ext cx="6559865" cy="170703"/>
          </a:xfrm>
          <a:prstGeom prst="rect">
            <a:avLst/>
          </a:prstGeom>
        </p:spPr>
      </p:pic>
      <p:pic>
        <p:nvPicPr>
          <p:cNvPr id="5" name="Picture 4"/>
          <p:cNvPicPr>
            <a:picLocks noChangeAspect="1"/>
          </p:cNvPicPr>
          <p:nvPr/>
        </p:nvPicPr>
        <p:blipFill>
          <a:blip r:embed="rId5"/>
          <a:stretch>
            <a:fillRect/>
          </a:stretch>
        </p:blipFill>
        <p:spPr>
          <a:xfrm>
            <a:off x="3646803" y="752567"/>
            <a:ext cx="6145301" cy="115834"/>
          </a:xfrm>
          <a:prstGeom prst="rect">
            <a:avLst/>
          </a:prstGeom>
        </p:spPr>
      </p:pic>
      <p:sp>
        <p:nvSpPr>
          <p:cNvPr id="6" name="Rectangle 5"/>
          <p:cNvSpPr/>
          <p:nvPr/>
        </p:nvSpPr>
        <p:spPr>
          <a:xfrm>
            <a:off x="0" y="-11491"/>
            <a:ext cx="12205249" cy="523220"/>
          </a:xfrm>
          <a:prstGeom prst="rect">
            <a:avLst/>
          </a:prstGeom>
        </p:spPr>
        <p:txBody>
          <a:bodyPr wrap="square">
            <a:spAutoFit/>
          </a:bodyPr>
          <a:lstStyle/>
          <a:p>
            <a:pPr algn="ctr"/>
            <a:r>
              <a:rPr lang="en-US" sz="2800" b="1" dirty="0">
                <a:latin typeface="Arial" panose="020B0604020202020204" pitchFamily="34" charset="0"/>
                <a:cs typeface="Arial" panose="020B0604020202020204" pitchFamily="34" charset="0"/>
              </a:rPr>
              <a:t>Image </a:t>
            </a:r>
            <a:r>
              <a:rPr lang="en-US" sz="2800" b="1" dirty="0" smtClean="0">
                <a:latin typeface="Arial" panose="020B0604020202020204" pitchFamily="34" charset="0"/>
                <a:cs typeface="Arial" panose="020B0604020202020204" pitchFamily="34" charset="0"/>
              </a:rPr>
              <a:t>showing application of  </a:t>
            </a:r>
            <a:r>
              <a:rPr lang="en-US" sz="2800" b="1" dirty="0">
                <a:latin typeface="Arial" panose="020B0604020202020204" pitchFamily="34" charset="0"/>
                <a:cs typeface="Arial" panose="020B0604020202020204" pitchFamily="34" charset="0"/>
              </a:rPr>
              <a:t>Augmented </a:t>
            </a:r>
            <a:r>
              <a:rPr lang="en-US" sz="2800" b="1" dirty="0" smtClean="0">
                <a:latin typeface="Arial" panose="020B0604020202020204" pitchFamily="34" charset="0"/>
                <a:cs typeface="Arial" panose="020B0604020202020204" pitchFamily="34" charset="0"/>
              </a:rPr>
              <a:t>Reality On Education</a:t>
            </a:r>
            <a:endParaRPr lang="en-US" sz="28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3665764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6650718"/>
            <a:ext cx="12205250" cy="207282"/>
          </a:xfrm>
          <a:prstGeom prst="rect">
            <a:avLst/>
          </a:prstGeom>
        </p:spPr>
      </p:pic>
      <p:pic>
        <p:nvPicPr>
          <p:cNvPr id="3" name="Picture 2"/>
          <p:cNvPicPr>
            <a:picLocks noChangeAspect="1"/>
          </p:cNvPicPr>
          <p:nvPr/>
        </p:nvPicPr>
        <p:blipFill>
          <a:blip r:embed="rId3"/>
          <a:stretch>
            <a:fillRect/>
          </a:stretch>
        </p:blipFill>
        <p:spPr>
          <a:xfrm>
            <a:off x="0" y="711284"/>
            <a:ext cx="6559865" cy="170703"/>
          </a:xfrm>
          <a:prstGeom prst="rect">
            <a:avLst/>
          </a:prstGeom>
        </p:spPr>
      </p:pic>
      <p:pic>
        <p:nvPicPr>
          <p:cNvPr id="4" name="Picture 3"/>
          <p:cNvPicPr>
            <a:picLocks noChangeAspect="1"/>
          </p:cNvPicPr>
          <p:nvPr/>
        </p:nvPicPr>
        <p:blipFill>
          <a:blip r:embed="rId4"/>
          <a:stretch>
            <a:fillRect/>
          </a:stretch>
        </p:blipFill>
        <p:spPr>
          <a:xfrm>
            <a:off x="3840767" y="881987"/>
            <a:ext cx="6145301" cy="115834"/>
          </a:xfrm>
          <a:prstGeom prst="rect">
            <a:avLst/>
          </a:prstGeom>
        </p:spPr>
      </p:pic>
      <p:sp>
        <p:nvSpPr>
          <p:cNvPr id="5" name="Rectangle 4"/>
          <p:cNvSpPr/>
          <p:nvPr/>
        </p:nvSpPr>
        <p:spPr>
          <a:xfrm>
            <a:off x="0" y="1041820"/>
            <a:ext cx="12192000" cy="5262979"/>
          </a:xfrm>
          <a:prstGeom prst="rect">
            <a:avLst/>
          </a:prstGeom>
        </p:spPr>
        <p:txBody>
          <a:bodyPr wrap="square">
            <a:spAutoFit/>
          </a:bodyPr>
          <a:lstStyle/>
          <a:p>
            <a:pPr marL="685800" indent="-457200">
              <a:buFont typeface="Arial" panose="020B0604020202020204" pitchFamily="34" charset="0"/>
              <a:buChar char="•"/>
            </a:pPr>
            <a:r>
              <a:rPr lang="en-US" sz="2800" b="1" dirty="0">
                <a:solidFill>
                  <a:srgbClr val="FFFF00"/>
                </a:solidFill>
                <a:latin typeface="Arial" panose="020B0604020202020204" pitchFamily="34" charset="0"/>
                <a:cs typeface="Arial" panose="020B0604020202020204" pitchFamily="34" charset="0"/>
              </a:rPr>
              <a:t>Architecture and Design: </a:t>
            </a:r>
            <a:endParaRPr lang="en-US" sz="2800" b="1" dirty="0" smtClean="0">
              <a:solidFill>
                <a:srgbClr val="FFFF00"/>
              </a:solidFill>
              <a:latin typeface="Arial" panose="020B0604020202020204" pitchFamily="34" charset="0"/>
              <a:cs typeface="Arial" panose="020B0604020202020204" pitchFamily="34" charset="0"/>
            </a:endParaRPr>
          </a:p>
          <a:p>
            <a:pPr marL="914400" indent="-457200">
              <a:buFont typeface="Wingdings" panose="05000000000000000000" pitchFamily="2" charset="2"/>
              <a:buChar char="Ø"/>
            </a:pPr>
            <a:r>
              <a:rPr lang="en-US" sz="2800" dirty="0" smtClean="0">
                <a:latin typeface="Arial" panose="020B0604020202020204" pitchFamily="34" charset="0"/>
                <a:cs typeface="Arial" panose="020B0604020202020204" pitchFamily="34" charset="0"/>
              </a:rPr>
              <a:t>AR </a:t>
            </a:r>
            <a:r>
              <a:rPr lang="en-US" sz="2800" dirty="0">
                <a:latin typeface="Arial" panose="020B0604020202020204" pitchFamily="34" charset="0"/>
                <a:cs typeface="Arial" panose="020B0604020202020204" pitchFamily="34" charset="0"/>
              </a:rPr>
              <a:t>allows architects, designers, and real estate professionals to visualize building designs and interior layouts in the context of the physical environment. Clients can experience virtual walkthroughs of proposed designs</a:t>
            </a:r>
          </a:p>
          <a:p>
            <a:pPr marL="685800" indent="-457200">
              <a:buFont typeface="Arial" panose="020B0604020202020204" pitchFamily="34" charset="0"/>
              <a:buChar char="•"/>
            </a:pPr>
            <a:r>
              <a:rPr lang="en-US" sz="2800" b="1" dirty="0">
                <a:solidFill>
                  <a:srgbClr val="FFFF00"/>
                </a:solidFill>
                <a:latin typeface="Arial" panose="020B0604020202020204" pitchFamily="34" charset="0"/>
                <a:cs typeface="Arial" panose="020B0604020202020204" pitchFamily="34" charset="0"/>
              </a:rPr>
              <a:t>Marketing and Advertising: </a:t>
            </a:r>
            <a:endParaRPr lang="en-US" sz="2800" b="1" dirty="0" smtClean="0">
              <a:solidFill>
                <a:srgbClr val="FFFF00"/>
              </a:solidFill>
              <a:latin typeface="Arial" panose="020B0604020202020204" pitchFamily="34" charset="0"/>
              <a:cs typeface="Arial" panose="020B0604020202020204" pitchFamily="34" charset="0"/>
            </a:endParaRPr>
          </a:p>
          <a:p>
            <a:pPr marL="914400" indent="-457200">
              <a:buFont typeface="Wingdings" panose="05000000000000000000" pitchFamily="2" charset="2"/>
              <a:buChar char="Ø"/>
            </a:pPr>
            <a:r>
              <a:rPr lang="en-US" sz="2800" dirty="0" smtClean="0">
                <a:latin typeface="Arial" panose="020B0604020202020204" pitchFamily="34" charset="0"/>
                <a:cs typeface="Arial" panose="020B0604020202020204" pitchFamily="34" charset="0"/>
              </a:rPr>
              <a:t>AR </a:t>
            </a:r>
            <a:r>
              <a:rPr lang="en-US" sz="2800" dirty="0">
                <a:latin typeface="Arial" panose="020B0604020202020204" pitchFamily="34" charset="0"/>
                <a:cs typeface="Arial" panose="020B0604020202020204" pitchFamily="34" charset="0"/>
              </a:rPr>
              <a:t>enhances marketing campaigns by creating interactive and immersive experiences for consumers. Brands use AR to engage customers with interactive product </a:t>
            </a:r>
            <a:r>
              <a:rPr lang="en-US" sz="2800" dirty="0" smtClean="0">
                <a:latin typeface="Arial" panose="020B0604020202020204" pitchFamily="34" charset="0"/>
                <a:cs typeface="Arial" panose="020B0604020202020204" pitchFamily="34" charset="0"/>
              </a:rPr>
              <a:t>demonstrations</a:t>
            </a:r>
          </a:p>
          <a:p>
            <a:pPr marL="914400" indent="-457200">
              <a:buFont typeface="Wingdings" panose="05000000000000000000" pitchFamily="2" charset="2"/>
              <a:buChar char="Ø"/>
            </a:pPr>
            <a:endParaRPr lang="en-US" sz="2800" dirty="0">
              <a:latin typeface="Arial" panose="020B0604020202020204" pitchFamily="34" charset="0"/>
              <a:cs typeface="Arial" panose="020B0604020202020204" pitchFamily="34" charset="0"/>
            </a:endParaRPr>
          </a:p>
          <a:p>
            <a:pPr marL="914400" indent="-457200">
              <a:buFont typeface="Wingdings" panose="05000000000000000000" pitchFamily="2" charset="2"/>
              <a:buChar char="Ø"/>
            </a:pPr>
            <a:endParaRPr lang="en-US" sz="2800" dirty="0" smtClean="0">
              <a:latin typeface="Arial" panose="020B0604020202020204" pitchFamily="34" charset="0"/>
              <a:cs typeface="Arial" panose="020B0604020202020204" pitchFamily="34" charset="0"/>
            </a:endParaRPr>
          </a:p>
          <a:p>
            <a:pPr marL="457200"/>
            <a:endParaRPr lang="en-US" sz="2800" dirty="0">
              <a:latin typeface="Arial" panose="020B0604020202020204" pitchFamily="34" charset="0"/>
              <a:cs typeface="Arial" panose="020B0604020202020204" pitchFamily="34" charset="0"/>
            </a:endParaRPr>
          </a:p>
        </p:txBody>
      </p:sp>
      <p:sp>
        <p:nvSpPr>
          <p:cNvPr id="6" name="Rectangle 5"/>
          <p:cNvSpPr/>
          <p:nvPr/>
        </p:nvSpPr>
        <p:spPr>
          <a:xfrm>
            <a:off x="0" y="99346"/>
            <a:ext cx="12205249" cy="584775"/>
          </a:xfrm>
          <a:prstGeom prst="rect">
            <a:avLst/>
          </a:prstGeom>
        </p:spPr>
        <p:txBody>
          <a:bodyPr wrap="square">
            <a:spAutoFit/>
          </a:bodyPr>
          <a:lstStyle/>
          <a:p>
            <a:pPr algn="ctr"/>
            <a:r>
              <a:rPr lang="en-US" sz="3200" b="1" dirty="0">
                <a:latin typeface="Arial" panose="020B0604020202020204" pitchFamily="34" charset="0"/>
                <a:cs typeface="Arial" panose="020B0604020202020204" pitchFamily="34" charset="0"/>
              </a:rPr>
              <a:t>Applications of Augmented Reality</a:t>
            </a:r>
          </a:p>
        </p:txBody>
      </p:sp>
    </p:spTree>
    <p:extLst>
      <p:ext uri="{BB962C8B-B14F-4D97-AF65-F5344CB8AC3E}">
        <p14:creationId xmlns:p14="http://schemas.microsoft.com/office/powerpoint/2010/main" val="143777091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6650718"/>
            <a:ext cx="12205250" cy="207282"/>
          </a:xfrm>
          <a:prstGeom prst="rect">
            <a:avLst/>
          </a:prstGeom>
        </p:spPr>
      </p:pic>
      <p:pic>
        <p:nvPicPr>
          <p:cNvPr id="3" name="Picture 2"/>
          <p:cNvPicPr>
            <a:picLocks noChangeAspect="1"/>
          </p:cNvPicPr>
          <p:nvPr/>
        </p:nvPicPr>
        <p:blipFill>
          <a:blip r:embed="rId3"/>
          <a:stretch>
            <a:fillRect/>
          </a:stretch>
        </p:blipFill>
        <p:spPr>
          <a:xfrm>
            <a:off x="0" y="683575"/>
            <a:ext cx="6559865" cy="170703"/>
          </a:xfrm>
          <a:prstGeom prst="rect">
            <a:avLst/>
          </a:prstGeom>
        </p:spPr>
      </p:pic>
      <p:pic>
        <p:nvPicPr>
          <p:cNvPr id="4" name="Picture 3"/>
          <p:cNvPicPr>
            <a:picLocks noChangeAspect="1"/>
          </p:cNvPicPr>
          <p:nvPr/>
        </p:nvPicPr>
        <p:blipFill>
          <a:blip r:embed="rId4"/>
          <a:stretch>
            <a:fillRect/>
          </a:stretch>
        </p:blipFill>
        <p:spPr>
          <a:xfrm>
            <a:off x="3757640" y="854278"/>
            <a:ext cx="6145301" cy="115834"/>
          </a:xfrm>
          <a:prstGeom prst="rect">
            <a:avLst/>
          </a:prstGeom>
        </p:spPr>
      </p:pic>
      <p:sp>
        <p:nvSpPr>
          <p:cNvPr id="6" name="Rectangle 5"/>
          <p:cNvSpPr/>
          <p:nvPr/>
        </p:nvSpPr>
        <p:spPr>
          <a:xfrm>
            <a:off x="0" y="85494"/>
            <a:ext cx="12191999" cy="584775"/>
          </a:xfrm>
          <a:prstGeom prst="rect">
            <a:avLst/>
          </a:prstGeom>
        </p:spPr>
        <p:txBody>
          <a:bodyPr wrap="square">
            <a:spAutoFit/>
          </a:bodyPr>
          <a:lstStyle/>
          <a:p>
            <a:pPr algn="ctr"/>
            <a:r>
              <a:rPr lang="en-US" sz="3200" b="1" dirty="0">
                <a:latin typeface="Arial" panose="020B0604020202020204" pitchFamily="34" charset="0"/>
                <a:cs typeface="Arial" panose="020B0604020202020204" pitchFamily="34" charset="0"/>
              </a:rPr>
              <a:t>Applications of Virtual Reality</a:t>
            </a:r>
          </a:p>
        </p:txBody>
      </p:sp>
      <p:sp>
        <p:nvSpPr>
          <p:cNvPr id="7" name="Rectangle 6"/>
          <p:cNvSpPr/>
          <p:nvPr/>
        </p:nvSpPr>
        <p:spPr>
          <a:xfrm>
            <a:off x="-1" y="1027921"/>
            <a:ext cx="12191999" cy="5078313"/>
          </a:xfrm>
          <a:prstGeom prst="rect">
            <a:avLst/>
          </a:prstGeom>
        </p:spPr>
        <p:txBody>
          <a:bodyPr wrap="square">
            <a:spAutoFit/>
          </a:bodyPr>
          <a:lstStyle/>
          <a:p>
            <a:pPr marL="685800" indent="-457200">
              <a:buFont typeface="Arial" panose="020B0604020202020204" pitchFamily="34" charset="0"/>
              <a:buChar char="•"/>
            </a:pPr>
            <a:r>
              <a:rPr lang="en-US" sz="2800" b="1" dirty="0">
                <a:solidFill>
                  <a:srgbClr val="FFFF00"/>
                </a:solidFill>
                <a:latin typeface="Arial" panose="020B0604020202020204" pitchFamily="34" charset="0"/>
                <a:cs typeface="Arial" panose="020B0604020202020204" pitchFamily="34" charset="0"/>
              </a:rPr>
              <a:t>Gaming and Entertainment: </a:t>
            </a:r>
            <a:endParaRPr lang="en-US" sz="2800" b="1" dirty="0" smtClean="0">
              <a:solidFill>
                <a:srgbClr val="FFFF00"/>
              </a:solidFill>
              <a:latin typeface="Arial" panose="020B0604020202020204" pitchFamily="34" charset="0"/>
              <a:cs typeface="Arial" panose="020B0604020202020204" pitchFamily="34" charset="0"/>
            </a:endParaRPr>
          </a:p>
          <a:p>
            <a:pPr marL="685800" indent="-457200">
              <a:buFont typeface="Wingdings" panose="05000000000000000000" pitchFamily="2" charset="2"/>
              <a:buChar char="Ø"/>
            </a:pPr>
            <a:r>
              <a:rPr lang="en-US" sz="2400" dirty="0" smtClean="0">
                <a:latin typeface="Arial" panose="020B0604020202020204" pitchFamily="34" charset="0"/>
                <a:cs typeface="Arial" panose="020B0604020202020204" pitchFamily="34" charset="0"/>
              </a:rPr>
              <a:t>VR </a:t>
            </a:r>
            <a:r>
              <a:rPr lang="en-US" sz="2400" dirty="0">
                <a:latin typeface="Arial" panose="020B0604020202020204" pitchFamily="34" charset="0"/>
                <a:cs typeface="Arial" panose="020B0604020202020204" pitchFamily="34" charset="0"/>
              </a:rPr>
              <a:t>gaming provides immersive experiences where players can interact with virtual environments and characters in three-dimensional space.</a:t>
            </a:r>
          </a:p>
          <a:p>
            <a:pPr marL="685800" indent="-457200">
              <a:buFont typeface="Arial" panose="020B0604020202020204" pitchFamily="34" charset="0"/>
              <a:buChar char="•"/>
            </a:pPr>
            <a:endParaRPr lang="en-US" sz="2800" b="1" dirty="0" smtClean="0">
              <a:solidFill>
                <a:srgbClr val="FFFF00"/>
              </a:solidFill>
              <a:latin typeface="Arial" panose="020B0604020202020204" pitchFamily="34" charset="0"/>
              <a:cs typeface="Arial" panose="020B0604020202020204" pitchFamily="34" charset="0"/>
            </a:endParaRPr>
          </a:p>
          <a:p>
            <a:pPr marL="685800" indent="-457200">
              <a:buFont typeface="Arial" panose="020B0604020202020204" pitchFamily="34" charset="0"/>
              <a:buChar char="•"/>
            </a:pPr>
            <a:r>
              <a:rPr lang="en-US" sz="2800" b="1" dirty="0" smtClean="0">
                <a:solidFill>
                  <a:srgbClr val="FFFF00"/>
                </a:solidFill>
                <a:latin typeface="Arial" panose="020B0604020202020204" pitchFamily="34" charset="0"/>
                <a:cs typeface="Arial" panose="020B0604020202020204" pitchFamily="34" charset="0"/>
              </a:rPr>
              <a:t>Education </a:t>
            </a:r>
            <a:r>
              <a:rPr lang="en-US" sz="2800" b="1" dirty="0">
                <a:solidFill>
                  <a:srgbClr val="FFFF00"/>
                </a:solidFill>
                <a:latin typeface="Arial" panose="020B0604020202020204" pitchFamily="34" charset="0"/>
                <a:cs typeface="Arial" panose="020B0604020202020204" pitchFamily="34" charset="0"/>
              </a:rPr>
              <a:t>and Learning: </a:t>
            </a:r>
            <a:endParaRPr lang="en-US" sz="2800" b="1" dirty="0" smtClean="0">
              <a:solidFill>
                <a:srgbClr val="FFFF00"/>
              </a:solidFill>
              <a:latin typeface="Arial" panose="020B0604020202020204" pitchFamily="34" charset="0"/>
              <a:cs typeface="Arial" panose="020B0604020202020204" pitchFamily="34" charset="0"/>
            </a:endParaRPr>
          </a:p>
          <a:p>
            <a:pPr marL="914400" indent="-457200">
              <a:buFont typeface="Wingdings" panose="05000000000000000000" pitchFamily="2" charset="2"/>
              <a:buChar char="Ø"/>
            </a:pPr>
            <a:r>
              <a:rPr lang="en-US" sz="2400" dirty="0" smtClean="0">
                <a:latin typeface="Arial" panose="020B0604020202020204" pitchFamily="34" charset="0"/>
                <a:cs typeface="Arial" panose="020B0604020202020204" pitchFamily="34" charset="0"/>
              </a:rPr>
              <a:t>VR </a:t>
            </a:r>
            <a:r>
              <a:rPr lang="en-US" sz="2400" dirty="0">
                <a:latin typeface="Arial" panose="020B0604020202020204" pitchFamily="34" charset="0"/>
                <a:cs typeface="Arial" panose="020B0604020202020204" pitchFamily="34" charset="0"/>
              </a:rPr>
              <a:t>enhances learning experiences by providing immersive and interactive educational </a:t>
            </a:r>
            <a:r>
              <a:rPr lang="en-US" sz="2400" dirty="0" smtClean="0">
                <a:latin typeface="Arial" panose="020B0604020202020204" pitchFamily="34" charset="0"/>
                <a:cs typeface="Arial" panose="020B0604020202020204" pitchFamily="34" charset="0"/>
              </a:rPr>
              <a:t>content (Lampropoulos et al., 2022). </a:t>
            </a:r>
            <a:r>
              <a:rPr lang="en-US" sz="2400" dirty="0">
                <a:latin typeface="Arial" panose="020B0604020202020204" pitchFamily="34" charset="0"/>
                <a:cs typeface="Arial" panose="020B0604020202020204" pitchFamily="34" charset="0"/>
              </a:rPr>
              <a:t>Students can explore historical landmarks and dive into the depths of the ocean</a:t>
            </a:r>
            <a:r>
              <a:rPr lang="en-US" sz="2400" dirty="0" smtClean="0">
                <a:latin typeface="Arial" panose="020B0604020202020204" pitchFamily="34" charset="0"/>
                <a:cs typeface="Arial" panose="020B0604020202020204" pitchFamily="34" charset="0"/>
              </a:rPr>
              <a:t>.</a:t>
            </a:r>
          </a:p>
          <a:p>
            <a:pPr marL="914400" indent="-457200">
              <a:buFont typeface="Wingdings" panose="05000000000000000000" pitchFamily="2" charset="2"/>
              <a:buChar char="Ø"/>
            </a:pPr>
            <a:endParaRPr lang="en-US" sz="2400" dirty="0">
              <a:latin typeface="Arial" panose="020B0604020202020204" pitchFamily="34" charset="0"/>
              <a:cs typeface="Arial" panose="020B0604020202020204" pitchFamily="34" charset="0"/>
            </a:endParaRPr>
          </a:p>
          <a:p>
            <a:pPr marL="914400" indent="-457200">
              <a:buFont typeface="Wingdings" panose="05000000000000000000" pitchFamily="2" charset="2"/>
              <a:buChar char="Ø"/>
            </a:pPr>
            <a:endParaRPr lang="en-US" sz="2400" dirty="0" smtClean="0">
              <a:latin typeface="Arial" panose="020B0604020202020204" pitchFamily="34" charset="0"/>
              <a:cs typeface="Arial" panose="020B0604020202020204" pitchFamily="34" charset="0"/>
            </a:endParaRPr>
          </a:p>
          <a:p>
            <a:pPr marL="914400" indent="-457200">
              <a:buFont typeface="Wingdings" panose="05000000000000000000" pitchFamily="2" charset="2"/>
              <a:buChar char="Ø"/>
            </a:pPr>
            <a:endParaRPr lang="en-US" sz="2400" dirty="0">
              <a:latin typeface="Arial" panose="020B0604020202020204" pitchFamily="34" charset="0"/>
              <a:cs typeface="Arial" panose="020B0604020202020204" pitchFamily="34" charset="0"/>
            </a:endParaRPr>
          </a:p>
          <a:p>
            <a:pPr marL="914400" indent="-457200">
              <a:buFont typeface="Wingdings" panose="05000000000000000000" pitchFamily="2" charset="2"/>
              <a:buChar char="Ø"/>
            </a:pPr>
            <a:endParaRPr lang="en-US" sz="2400" dirty="0" smtClean="0">
              <a:latin typeface="Arial" panose="020B0604020202020204" pitchFamily="34" charset="0"/>
              <a:cs typeface="Arial" panose="020B0604020202020204" pitchFamily="34" charset="0"/>
            </a:endParaRPr>
          </a:p>
          <a:p>
            <a:pPr marL="457200"/>
            <a:endParaRPr lang="en-US" sz="2400"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7457649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0" y="1"/>
            <a:ext cx="12192001" cy="6650718"/>
          </a:xfrm>
          <a:prstGeom prst="rect">
            <a:avLst/>
          </a:prstGeom>
        </p:spPr>
      </p:pic>
      <p:pic>
        <p:nvPicPr>
          <p:cNvPr id="4" name="Picture 3"/>
          <p:cNvPicPr>
            <a:picLocks noChangeAspect="1"/>
          </p:cNvPicPr>
          <p:nvPr/>
        </p:nvPicPr>
        <p:blipFill>
          <a:blip r:embed="rId3"/>
          <a:stretch>
            <a:fillRect/>
          </a:stretch>
        </p:blipFill>
        <p:spPr>
          <a:xfrm>
            <a:off x="-13250" y="6650718"/>
            <a:ext cx="12205250" cy="207282"/>
          </a:xfrm>
          <a:prstGeom prst="rect">
            <a:avLst/>
          </a:prstGeom>
        </p:spPr>
      </p:pic>
      <p:pic>
        <p:nvPicPr>
          <p:cNvPr id="6" name="Picture 5"/>
          <p:cNvPicPr>
            <a:picLocks noChangeAspect="1"/>
          </p:cNvPicPr>
          <p:nvPr/>
        </p:nvPicPr>
        <p:blipFill>
          <a:blip r:embed="rId4"/>
          <a:stretch>
            <a:fillRect/>
          </a:stretch>
        </p:blipFill>
        <p:spPr>
          <a:xfrm>
            <a:off x="0" y="1002230"/>
            <a:ext cx="6559865" cy="170703"/>
          </a:xfrm>
          <a:prstGeom prst="rect">
            <a:avLst/>
          </a:prstGeom>
        </p:spPr>
      </p:pic>
      <p:pic>
        <p:nvPicPr>
          <p:cNvPr id="7" name="Picture 6"/>
          <p:cNvPicPr>
            <a:picLocks noChangeAspect="1"/>
          </p:cNvPicPr>
          <p:nvPr/>
        </p:nvPicPr>
        <p:blipFill>
          <a:blip r:embed="rId5"/>
          <a:stretch>
            <a:fillRect/>
          </a:stretch>
        </p:blipFill>
        <p:spPr>
          <a:xfrm>
            <a:off x="4034730" y="1160739"/>
            <a:ext cx="6145301" cy="115834"/>
          </a:xfrm>
          <a:prstGeom prst="rect">
            <a:avLst/>
          </a:prstGeom>
        </p:spPr>
      </p:pic>
    </p:spTree>
    <p:extLst>
      <p:ext uri="{BB962C8B-B14F-4D97-AF65-F5344CB8AC3E}">
        <p14:creationId xmlns:p14="http://schemas.microsoft.com/office/powerpoint/2010/main" val="417386052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6650718"/>
            <a:ext cx="12205250" cy="207282"/>
          </a:xfrm>
          <a:prstGeom prst="rect">
            <a:avLst/>
          </a:prstGeom>
        </p:spPr>
      </p:pic>
      <p:pic>
        <p:nvPicPr>
          <p:cNvPr id="3" name="Picture 2"/>
          <p:cNvPicPr>
            <a:picLocks noChangeAspect="1"/>
          </p:cNvPicPr>
          <p:nvPr/>
        </p:nvPicPr>
        <p:blipFill>
          <a:blip r:embed="rId3"/>
          <a:stretch>
            <a:fillRect/>
          </a:stretch>
        </p:blipFill>
        <p:spPr>
          <a:xfrm>
            <a:off x="0" y="725139"/>
            <a:ext cx="6559865" cy="170703"/>
          </a:xfrm>
          <a:prstGeom prst="rect">
            <a:avLst/>
          </a:prstGeom>
        </p:spPr>
      </p:pic>
      <p:pic>
        <p:nvPicPr>
          <p:cNvPr id="4" name="Picture 3"/>
          <p:cNvPicPr>
            <a:picLocks noChangeAspect="1"/>
          </p:cNvPicPr>
          <p:nvPr/>
        </p:nvPicPr>
        <p:blipFill>
          <a:blip r:embed="rId4"/>
          <a:stretch>
            <a:fillRect/>
          </a:stretch>
        </p:blipFill>
        <p:spPr>
          <a:xfrm>
            <a:off x="3926943" y="895842"/>
            <a:ext cx="6139204" cy="115834"/>
          </a:xfrm>
          <a:prstGeom prst="rect">
            <a:avLst/>
          </a:prstGeom>
        </p:spPr>
      </p:pic>
      <p:sp>
        <p:nvSpPr>
          <p:cNvPr id="5" name="Rectangle 4"/>
          <p:cNvSpPr/>
          <p:nvPr/>
        </p:nvSpPr>
        <p:spPr>
          <a:xfrm>
            <a:off x="0" y="71640"/>
            <a:ext cx="12192000" cy="646331"/>
          </a:xfrm>
          <a:prstGeom prst="rect">
            <a:avLst/>
          </a:prstGeom>
        </p:spPr>
        <p:txBody>
          <a:bodyPr wrap="square">
            <a:spAutoFit/>
          </a:bodyPr>
          <a:lstStyle/>
          <a:p>
            <a:pPr algn="ctr"/>
            <a:r>
              <a:rPr lang="en-US" sz="3600" b="1" dirty="0" smtClean="0">
                <a:latin typeface="Arial" panose="020B0604020202020204" pitchFamily="34" charset="0"/>
                <a:cs typeface="Arial" panose="020B0604020202020204" pitchFamily="34" charset="0"/>
              </a:rPr>
              <a:t>References</a:t>
            </a:r>
          </a:p>
        </p:txBody>
      </p:sp>
      <p:sp>
        <p:nvSpPr>
          <p:cNvPr id="6" name="Rectangle 5"/>
          <p:cNvSpPr/>
          <p:nvPr/>
        </p:nvSpPr>
        <p:spPr>
          <a:xfrm>
            <a:off x="0" y="1032170"/>
            <a:ext cx="12205250" cy="5816977"/>
          </a:xfrm>
          <a:prstGeom prst="rect">
            <a:avLst/>
          </a:prstGeom>
        </p:spPr>
        <p:txBody>
          <a:bodyPr wrap="square">
            <a:spAutoFit/>
          </a:bodyPr>
          <a:lstStyle/>
          <a:p>
            <a:pPr marL="457200" indent="-457200">
              <a:buFont typeface="Wingdings" panose="05000000000000000000" pitchFamily="2" charset="2"/>
              <a:buChar char="Ø"/>
            </a:pPr>
            <a:r>
              <a:rPr lang="en-US" sz="2400" dirty="0">
                <a:latin typeface="Arial" panose="020B0604020202020204" pitchFamily="34" charset="0"/>
                <a:cs typeface="Arial" panose="020B0604020202020204" pitchFamily="34" charset="0"/>
              </a:rPr>
              <a:t>Yeung, A. W. K., </a:t>
            </a:r>
            <a:r>
              <a:rPr lang="en-US" sz="2400" dirty="0" err="1">
                <a:latin typeface="Arial" panose="020B0604020202020204" pitchFamily="34" charset="0"/>
                <a:cs typeface="Arial" panose="020B0604020202020204" pitchFamily="34" charset="0"/>
              </a:rPr>
              <a:t>Tosevska</a:t>
            </a:r>
            <a:r>
              <a:rPr lang="en-US" sz="2400" dirty="0">
                <a:latin typeface="Arial" panose="020B0604020202020204" pitchFamily="34" charset="0"/>
                <a:cs typeface="Arial" panose="020B0604020202020204" pitchFamily="34" charset="0"/>
              </a:rPr>
              <a:t>, A., </a:t>
            </a:r>
            <a:r>
              <a:rPr lang="en-US" sz="2400" dirty="0" err="1">
                <a:latin typeface="Arial" panose="020B0604020202020204" pitchFamily="34" charset="0"/>
                <a:cs typeface="Arial" panose="020B0604020202020204" pitchFamily="34" charset="0"/>
              </a:rPr>
              <a:t>Klager</a:t>
            </a:r>
            <a:r>
              <a:rPr lang="en-US" sz="2400" dirty="0">
                <a:latin typeface="Arial" panose="020B0604020202020204" pitchFamily="34" charset="0"/>
                <a:cs typeface="Arial" panose="020B0604020202020204" pitchFamily="34" charset="0"/>
              </a:rPr>
              <a:t>, E., </a:t>
            </a:r>
            <a:r>
              <a:rPr lang="en-US" sz="2400" dirty="0" err="1">
                <a:latin typeface="Arial" panose="020B0604020202020204" pitchFamily="34" charset="0"/>
                <a:cs typeface="Arial" panose="020B0604020202020204" pitchFamily="34" charset="0"/>
              </a:rPr>
              <a:t>Eibensteiner</a:t>
            </a:r>
            <a:r>
              <a:rPr lang="en-US" sz="2400" dirty="0">
                <a:latin typeface="Arial" panose="020B0604020202020204" pitchFamily="34" charset="0"/>
                <a:cs typeface="Arial" panose="020B0604020202020204" pitchFamily="34" charset="0"/>
              </a:rPr>
              <a:t>, F., </a:t>
            </a:r>
            <a:r>
              <a:rPr lang="en-US" sz="2400" dirty="0" err="1">
                <a:latin typeface="Arial" panose="020B0604020202020204" pitchFamily="34" charset="0"/>
                <a:cs typeface="Arial" panose="020B0604020202020204" pitchFamily="34" charset="0"/>
              </a:rPr>
              <a:t>Laxar</a:t>
            </a:r>
            <a:r>
              <a:rPr lang="en-US" sz="2400" dirty="0">
                <a:latin typeface="Arial" panose="020B0604020202020204" pitchFamily="34" charset="0"/>
                <a:cs typeface="Arial" panose="020B0604020202020204" pitchFamily="34" charset="0"/>
              </a:rPr>
              <a:t>, D., </a:t>
            </a:r>
            <a:r>
              <a:rPr lang="en-US" sz="2400" dirty="0" err="1">
                <a:latin typeface="Arial" panose="020B0604020202020204" pitchFamily="34" charset="0"/>
                <a:cs typeface="Arial" panose="020B0604020202020204" pitchFamily="34" charset="0"/>
              </a:rPr>
              <a:t>Stoyanov</a:t>
            </a:r>
            <a:r>
              <a:rPr lang="en-US" sz="2400" dirty="0">
                <a:latin typeface="Arial" panose="020B0604020202020204" pitchFamily="34" charset="0"/>
                <a:cs typeface="Arial" panose="020B0604020202020204" pitchFamily="34" charset="0"/>
              </a:rPr>
              <a:t>, J., ... &amp; </a:t>
            </a:r>
            <a:r>
              <a:rPr lang="en-US" sz="2400" dirty="0" err="1">
                <a:latin typeface="Arial" panose="020B0604020202020204" pitchFamily="34" charset="0"/>
                <a:cs typeface="Arial" panose="020B0604020202020204" pitchFamily="34" charset="0"/>
              </a:rPr>
              <a:t>Willschke</a:t>
            </a:r>
            <a:r>
              <a:rPr lang="en-US" sz="2400" dirty="0">
                <a:latin typeface="Arial" panose="020B0604020202020204" pitchFamily="34" charset="0"/>
                <a:cs typeface="Arial" panose="020B0604020202020204" pitchFamily="34" charset="0"/>
              </a:rPr>
              <a:t>, H. (2021). Virtual and augmented reality applications in medicine: analysis of the scientific literature. Journal of medical internet research, 23(2), e25499</a:t>
            </a:r>
            <a:r>
              <a:rPr lang="en-US" sz="2400" dirty="0" smtClean="0">
                <a:latin typeface="Arial" panose="020B0604020202020204" pitchFamily="34" charset="0"/>
                <a:cs typeface="Arial" panose="020B0604020202020204" pitchFamily="34" charset="0"/>
              </a:rPr>
              <a:t>.</a:t>
            </a:r>
          </a:p>
          <a:p>
            <a:pPr marL="457200" indent="-457200">
              <a:buFont typeface="Wingdings" panose="05000000000000000000" pitchFamily="2" charset="2"/>
              <a:buChar char="Ø"/>
            </a:pPr>
            <a:r>
              <a:rPr lang="en-US" sz="2400" dirty="0">
                <a:latin typeface="Arial" panose="020B0604020202020204" pitchFamily="34" charset="0"/>
                <a:cs typeface="Arial" panose="020B0604020202020204" pitchFamily="34" charset="0"/>
              </a:rPr>
              <a:t>Lampropoulos, G., </a:t>
            </a:r>
            <a:r>
              <a:rPr lang="en-US" sz="2400" dirty="0" err="1">
                <a:latin typeface="Arial" panose="020B0604020202020204" pitchFamily="34" charset="0"/>
                <a:cs typeface="Arial" panose="020B0604020202020204" pitchFamily="34" charset="0"/>
              </a:rPr>
              <a:t>Keramopoulos</a:t>
            </a:r>
            <a:r>
              <a:rPr lang="en-US" sz="2400" dirty="0">
                <a:latin typeface="Arial" panose="020B0604020202020204" pitchFamily="34" charset="0"/>
                <a:cs typeface="Arial" panose="020B0604020202020204" pitchFamily="34" charset="0"/>
              </a:rPr>
              <a:t>, E., </a:t>
            </a:r>
            <a:r>
              <a:rPr lang="en-US" sz="2400" dirty="0" err="1">
                <a:latin typeface="Arial" panose="020B0604020202020204" pitchFamily="34" charset="0"/>
                <a:cs typeface="Arial" panose="020B0604020202020204" pitchFamily="34" charset="0"/>
              </a:rPr>
              <a:t>Diamantaras</a:t>
            </a:r>
            <a:r>
              <a:rPr lang="en-US" sz="2400" dirty="0">
                <a:latin typeface="Arial" panose="020B0604020202020204" pitchFamily="34" charset="0"/>
                <a:cs typeface="Arial" panose="020B0604020202020204" pitchFamily="34" charset="0"/>
              </a:rPr>
              <a:t>, K., &amp; </a:t>
            </a:r>
            <a:r>
              <a:rPr lang="en-US" sz="2400" dirty="0" err="1">
                <a:latin typeface="Arial" panose="020B0604020202020204" pitchFamily="34" charset="0"/>
                <a:cs typeface="Arial" panose="020B0604020202020204" pitchFamily="34" charset="0"/>
              </a:rPr>
              <a:t>Evangelidis</a:t>
            </a:r>
            <a:r>
              <a:rPr lang="en-US" sz="2400" dirty="0">
                <a:latin typeface="Arial" panose="020B0604020202020204" pitchFamily="34" charset="0"/>
                <a:cs typeface="Arial" panose="020B0604020202020204" pitchFamily="34" charset="0"/>
              </a:rPr>
              <a:t>, G. (2022). Augmented reality and virtual reality in education: Public perspectives, sentiments, attitudes, and discourses. Education Sciences, 12(11), 798</a:t>
            </a:r>
            <a:r>
              <a:rPr lang="en-US" sz="2400" dirty="0" smtClean="0">
                <a:latin typeface="Arial" panose="020B0604020202020204" pitchFamily="34" charset="0"/>
                <a:cs typeface="Arial" panose="020B0604020202020204" pitchFamily="34" charset="0"/>
              </a:rPr>
              <a:t>.</a:t>
            </a:r>
          </a:p>
          <a:p>
            <a:pPr marL="457200" indent="-457200">
              <a:buFont typeface="Wingdings" panose="05000000000000000000" pitchFamily="2" charset="2"/>
              <a:buChar char="Ø"/>
            </a:pPr>
            <a:r>
              <a:rPr lang="en-US" sz="2400" dirty="0">
                <a:latin typeface="Arial" panose="020B0604020202020204" pitchFamily="34" charset="0"/>
                <a:cs typeface="Arial" panose="020B0604020202020204" pitchFamily="34" charset="0"/>
              </a:rPr>
              <a:t>Villagran-Vizcarra, D. C., </a:t>
            </a:r>
            <a:r>
              <a:rPr lang="en-US" sz="2400" dirty="0" err="1">
                <a:latin typeface="Arial" panose="020B0604020202020204" pitchFamily="34" charset="0"/>
                <a:cs typeface="Arial" panose="020B0604020202020204" pitchFamily="34" charset="0"/>
              </a:rPr>
              <a:t>Luviano</a:t>
            </a:r>
            <a:r>
              <a:rPr lang="en-US" sz="2400" dirty="0">
                <a:latin typeface="Arial" panose="020B0604020202020204" pitchFamily="34" charset="0"/>
                <a:cs typeface="Arial" panose="020B0604020202020204" pitchFamily="34" charset="0"/>
              </a:rPr>
              <a:t>-Cruz, D., Pérez-</a:t>
            </a:r>
            <a:r>
              <a:rPr lang="en-US" sz="2400" dirty="0" err="1">
                <a:latin typeface="Arial" panose="020B0604020202020204" pitchFamily="34" charset="0"/>
                <a:cs typeface="Arial" panose="020B0604020202020204" pitchFamily="34" charset="0"/>
              </a:rPr>
              <a:t>Domínguez</a:t>
            </a:r>
            <a:r>
              <a:rPr lang="en-US" sz="2400" dirty="0">
                <a:latin typeface="Arial" panose="020B0604020202020204" pitchFamily="34" charset="0"/>
                <a:cs typeface="Arial" panose="020B0604020202020204" pitchFamily="34" charset="0"/>
              </a:rPr>
              <a:t>, L. A., Méndez-González, L. C., &amp; Garcia-Luna, F. (2023). Applications Analyses, Challenges and Development of Augmented Reality in Education, Industry, Marketing, Medicine, and Entertainment. Applied Sciences, 13(5), 2766</a:t>
            </a:r>
            <a:r>
              <a:rPr lang="en-US" sz="2400" dirty="0" smtClean="0">
                <a:latin typeface="Arial" panose="020B0604020202020204" pitchFamily="34" charset="0"/>
                <a:cs typeface="Arial" panose="020B0604020202020204" pitchFamily="34" charset="0"/>
              </a:rPr>
              <a:t>.</a:t>
            </a:r>
          </a:p>
          <a:p>
            <a:pPr marL="457200" indent="-457200">
              <a:buFont typeface="Wingdings" panose="05000000000000000000" pitchFamily="2" charset="2"/>
              <a:buChar char="Ø"/>
            </a:pPr>
            <a:r>
              <a:rPr lang="en-US" sz="2400" dirty="0">
                <a:latin typeface="Arial" panose="020B0604020202020204" pitchFamily="34" charset="0"/>
                <a:cs typeface="Arial" panose="020B0604020202020204" pitchFamily="34" charset="0"/>
              </a:rPr>
              <a:t>Xiong, J., Hsiang, E. L., He, Z., Zhan, T., &amp; Wu, S. T. (2021). Augmented reality and virtual reality displays: emerging technologies and future perspectives. Light: Science &amp; Applications, 10(1), 1-30.</a:t>
            </a:r>
            <a:endParaRPr lang="en-US" sz="2400" dirty="0"/>
          </a:p>
          <a:p>
            <a:endParaRPr lang="en-US" dirty="0" smtClean="0"/>
          </a:p>
          <a:p>
            <a:endParaRPr lang="en-US" dirty="0"/>
          </a:p>
        </p:txBody>
      </p:sp>
    </p:spTree>
    <p:extLst>
      <p:ext uri="{BB962C8B-B14F-4D97-AF65-F5344CB8AC3E}">
        <p14:creationId xmlns:p14="http://schemas.microsoft.com/office/powerpoint/2010/main" val="121902769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620982" y="0"/>
            <a:ext cx="13812983" cy="6858000"/>
          </a:xfrm>
          <a:prstGeom prst="rect">
            <a:avLst/>
          </a:prstGeom>
        </p:spPr>
      </p:pic>
    </p:spTree>
    <p:extLst>
      <p:ext uri="{BB962C8B-B14F-4D97-AF65-F5344CB8AC3E}">
        <p14:creationId xmlns:p14="http://schemas.microsoft.com/office/powerpoint/2010/main" val="33813854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TM04033937[[fn=Vapor Trail]]</Template>
  <TotalTime>1505</TotalTime>
  <Words>1644</Words>
  <Application>Microsoft Office PowerPoint</Application>
  <PresentationFormat>Widescreen</PresentationFormat>
  <Paragraphs>139</Paragraphs>
  <Slides>23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Arial Black</vt:lpstr>
      <vt:lpstr>Calibri</vt:lpstr>
      <vt:lpstr>Century Gothic</vt:lpstr>
      <vt:lpstr>Wingdings</vt:lpstr>
      <vt:lpstr>Vapor Trail</vt:lpstr>
      <vt:lpstr>PowerPoint Presentation</vt:lpstr>
      <vt:lpstr>PowerPoint Presentation</vt:lpstr>
      <vt:lpstr>PowerPoint Presentation</vt:lpstr>
      <vt:lpstr>DEFINITIONS</vt:lpstr>
      <vt:lpstr>PowerPoint Presentation</vt:lpstr>
      <vt:lpstr>Image Showing Differences of AR and VR</vt:lpstr>
      <vt:lpstr>Advantages of Augmented Reality</vt:lpstr>
      <vt:lpstr>Advantages of Augmented Reality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Evaluation of Tobacco Control Policies: Assessing the Impact on Smoking Rates and Health Outcome in the Uk.</dc:title>
  <dc:creator>victor akande</dc:creator>
  <cp:lastModifiedBy>DANIEL NYAMAI</cp:lastModifiedBy>
  <cp:revision>152</cp:revision>
  <dcterms:created xsi:type="dcterms:W3CDTF">2024-02-18T18:55:00Z</dcterms:created>
  <dcterms:modified xsi:type="dcterms:W3CDTF">2024-04-18T14:59:44Z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0B9D05653BFD44B5BA39B08FADCFB375_12</vt:lpwstr>
  </property>
  <property fmtid="{D5CDD505-2E9C-101B-9397-08002B2CF9AE}" pid="3" name="KSOProductBuildVer">
    <vt:lpwstr>1033-12.2.0.13431</vt:lpwstr>
  </property>
</Properties>
</file>