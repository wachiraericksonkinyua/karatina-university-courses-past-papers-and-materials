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5" r:id="rId1"/>
  </p:sldMasterIdLst>
  <p:notesMasterIdLst>
    <p:notesMasterId r:id="rId15"/>
  </p:notesMasterIdLst>
  <p:sldIdLst>
    <p:sldId id="270" r:id="rId2"/>
    <p:sldId id="256" r:id="rId3"/>
    <p:sldId id="257" r:id="rId4"/>
    <p:sldId id="268" r:id="rId5"/>
    <p:sldId id="260" r:id="rId6"/>
    <p:sldId id="269" r:id="rId7"/>
    <p:sldId id="262" r:id="rId8"/>
    <p:sldId id="263" r:id="rId9"/>
    <p:sldId id="264" r:id="rId10"/>
    <p:sldId id="265" r:id="rId11"/>
    <p:sldId id="266" r:id="rId12"/>
    <p:sldId id="267" r:id="rId13"/>
    <p:sldId id="25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83" autoAdjust="0"/>
  </p:normalViewPr>
  <p:slideViewPr>
    <p:cSldViewPr snapToGrid="0">
      <p:cViewPr varScale="1">
        <p:scale>
          <a:sx n="78" d="100"/>
          <a:sy n="78" d="100"/>
        </p:scale>
        <p:origin x="456" y="8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9C2F3C-9E7E-41F6-9FA3-4FA489B81DCD}" type="datetimeFigureOut">
              <a:rPr lang="en-US" smtClean="0"/>
              <a:t>4/18/2024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9BE82-60E5-46BA-8EE5-FC46A4414D76}" type="slidenum">
              <a:rPr lang="en-US" smtClean="0"/>
              <a:t>‹#›</a:t>
            </a:fld>
            <a:endParaRPr lang="en-US" dirty="0"/>
          </a:p>
        </p:txBody>
      </p:sp>
    </p:spTree>
    <p:extLst>
      <p:ext uri="{BB962C8B-B14F-4D97-AF65-F5344CB8AC3E}">
        <p14:creationId xmlns:p14="http://schemas.microsoft.com/office/powerpoint/2010/main" val="1534246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E9BE82-60E5-46BA-8EE5-FC46A4414D76}" type="slidenum">
              <a:rPr lang="en-US" smtClean="0"/>
              <a:t>3</a:t>
            </a:fld>
            <a:endParaRPr lang="en-US" dirty="0"/>
          </a:p>
        </p:txBody>
      </p:sp>
    </p:spTree>
    <p:extLst>
      <p:ext uri="{BB962C8B-B14F-4D97-AF65-F5344CB8AC3E}">
        <p14:creationId xmlns:p14="http://schemas.microsoft.com/office/powerpoint/2010/main" val="1680157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5979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03436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61935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64249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43092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96199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7146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90484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5002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9202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4231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19533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23871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98143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63889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34646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7014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764DE79-268F-4C1A-8933-263129D2AF90}" type="datetimeFigureOut">
              <a:rPr lang="en-US" smtClean="0"/>
              <a:t>4/18/2024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638180304"/>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group2 BIGDATA</a:t>
            </a:r>
            <a:r>
              <a:rPr lang="en-US" dirty="0" smtClean="0"/>
              <a:t/>
            </a:r>
            <a:br>
              <a:rPr lang="en-US" dirty="0" smtClean="0"/>
            </a:br>
            <a:r>
              <a:rPr lang="en-US" sz="1800" dirty="0" smtClean="0"/>
              <a:t>1.p100/4093g/23 Jim </a:t>
            </a:r>
            <a:r>
              <a:rPr lang="en-US" sz="1800" dirty="0" err="1" smtClean="0"/>
              <a:t>Chege</a:t>
            </a:r>
            <a:r>
              <a:rPr lang="en-US" dirty="0" smtClean="0"/>
              <a:t/>
            </a:r>
            <a:br>
              <a:rPr lang="en-US" dirty="0" smtClean="0"/>
            </a:br>
            <a:r>
              <a:rPr lang="en-US" sz="1600" dirty="0" smtClean="0"/>
              <a:t>2.p100/4057g/23 Newton </a:t>
            </a:r>
            <a:r>
              <a:rPr lang="en-US" sz="1600" dirty="0" err="1" smtClean="0"/>
              <a:t>Kinyua</a:t>
            </a:r>
            <a:r>
              <a:rPr lang="en-US" dirty="0" smtClean="0"/>
              <a:t/>
            </a:r>
            <a:br>
              <a:rPr lang="en-US" dirty="0" smtClean="0"/>
            </a:br>
            <a:r>
              <a:rPr lang="en-US" sz="1600" dirty="0" smtClean="0"/>
              <a:t>3.p100/4124g/23 Josiah </a:t>
            </a:r>
            <a:r>
              <a:rPr lang="en-US" sz="1600" dirty="0" err="1" smtClean="0"/>
              <a:t>wanjohi</a:t>
            </a:r>
            <a:r>
              <a:rPr lang="en-US" sz="1600" dirty="0" smtClean="0"/>
              <a:t/>
            </a:r>
            <a:br>
              <a:rPr lang="en-US" sz="1600" dirty="0" smtClean="0"/>
            </a:br>
            <a:r>
              <a:rPr lang="en-US" sz="1600" dirty="0" smtClean="0"/>
              <a:t>4.p100/4088g/23 James Kimani</a:t>
            </a:r>
            <a:br>
              <a:rPr lang="en-US" sz="1600" dirty="0" smtClean="0"/>
            </a:br>
            <a:r>
              <a:rPr lang="en-US" sz="1600" dirty="0" smtClean="0"/>
              <a:t>5.p100/4087g/23 George </a:t>
            </a:r>
            <a:r>
              <a:rPr lang="en-US" sz="1600" dirty="0" err="1" smtClean="0"/>
              <a:t>Kamanda</a:t>
            </a:r>
            <a:r>
              <a:rPr lang="en-US" dirty="0" smtClean="0"/>
              <a:t/>
            </a:r>
            <a:br>
              <a:rPr lang="en-US" dirty="0" smtClean="0"/>
            </a:br>
            <a:r>
              <a:rPr lang="en-US" sz="1600" dirty="0" smtClean="0"/>
              <a:t>6.p100/4193g/23 Collins </a:t>
            </a:r>
            <a:r>
              <a:rPr lang="en-US" sz="1600" dirty="0" err="1" smtClean="0"/>
              <a:t>kipkorir</a:t>
            </a:r>
            <a:endParaRPr lang="en-US" sz="1600" dirty="0"/>
          </a:p>
        </p:txBody>
      </p:sp>
      <p:sp>
        <p:nvSpPr>
          <p:cNvPr id="3" name="Subtitle 2"/>
          <p:cNvSpPr>
            <a:spLocks noGrp="1"/>
          </p:cNvSpPr>
          <p:nvPr>
            <p:ph type="subTitle" idx="1"/>
          </p:nvPr>
        </p:nvSpPr>
        <p:spPr/>
        <p:txBody>
          <a:bodyPr>
            <a:noAutofit/>
          </a:bodyPr>
          <a:lstStyle/>
          <a:p>
            <a:r>
              <a:rPr lang="en-US" dirty="0" smtClean="0"/>
              <a:t>7.p100/4191g/23 </a:t>
            </a:r>
            <a:r>
              <a:rPr lang="en-US" sz="1600" dirty="0" smtClean="0"/>
              <a:t>Brian</a:t>
            </a:r>
            <a:r>
              <a:rPr lang="en-US" dirty="0" smtClean="0"/>
              <a:t> </a:t>
            </a:r>
            <a:r>
              <a:rPr lang="en-US" sz="1600" dirty="0" err="1" smtClean="0"/>
              <a:t>cheruiyot</a:t>
            </a:r>
            <a:r>
              <a:rPr lang="en-US" dirty="0" smtClean="0"/>
              <a:t> </a:t>
            </a:r>
          </a:p>
          <a:p>
            <a:r>
              <a:rPr lang="en-US" sz="1600" dirty="0" smtClean="0"/>
              <a:t>8.p100/4205g/23 victor </a:t>
            </a:r>
            <a:r>
              <a:rPr lang="en-US" sz="1600" dirty="0" err="1" smtClean="0"/>
              <a:t>kipchumba</a:t>
            </a:r>
            <a:endParaRPr lang="en-US" sz="1600" dirty="0" smtClean="0"/>
          </a:p>
          <a:p>
            <a:r>
              <a:rPr lang="en-US" sz="1600" dirty="0" smtClean="0"/>
              <a:t>9.p100/4192g/23 ken </a:t>
            </a:r>
            <a:r>
              <a:rPr lang="en-US" sz="1600" dirty="0" err="1" smtClean="0"/>
              <a:t>kiprono</a:t>
            </a:r>
            <a:endParaRPr lang="en-US" sz="1600" dirty="0" smtClean="0"/>
          </a:p>
          <a:p>
            <a:r>
              <a:rPr lang="en-US" sz="1600" dirty="0" smtClean="0"/>
              <a:t>10.p100/4120g/23 jack </a:t>
            </a:r>
            <a:r>
              <a:rPr lang="en-US" sz="1600" dirty="0" err="1" smtClean="0"/>
              <a:t>morris</a:t>
            </a:r>
            <a:endParaRPr lang="en-US" sz="1600" dirty="0" smtClean="0"/>
          </a:p>
        </p:txBody>
      </p:sp>
    </p:spTree>
    <p:extLst>
      <p:ext uri="{BB962C8B-B14F-4D97-AF65-F5344CB8AC3E}">
        <p14:creationId xmlns:p14="http://schemas.microsoft.com/office/powerpoint/2010/main" val="133581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Big data</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94616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BIG DATA</a:t>
            </a:r>
            <a:endParaRPr lang="en-US" dirty="0"/>
          </a:p>
        </p:txBody>
      </p:sp>
      <p:sp>
        <p:nvSpPr>
          <p:cNvPr id="3" name="Content Placeholder 2"/>
          <p:cNvSpPr>
            <a:spLocks noGrp="1"/>
          </p:cNvSpPr>
          <p:nvPr>
            <p:ph idx="1"/>
          </p:nvPr>
        </p:nvSpPr>
        <p:spPr/>
        <p:txBody>
          <a:bodyPr>
            <a:normAutofit/>
          </a:bodyPr>
          <a:lstStyle/>
          <a:p>
            <a:r>
              <a:rPr lang="en-US" dirty="0" smtClean="0"/>
              <a:t>Big data refers to data set the are too large or complex to be dealt with by traditional data processing application soft ware.</a:t>
            </a:r>
          </a:p>
          <a:p>
            <a:r>
              <a:rPr lang="en-US" dirty="0" smtClean="0"/>
              <a:t>In other words it is data that contains greater variety, arriving in increasing volume and with more velocity </a:t>
            </a:r>
          </a:p>
          <a:p>
            <a:r>
              <a:rPr lang="en-US" dirty="0" smtClean="0"/>
              <a:t>It is formed in basis of 3 vs</a:t>
            </a:r>
          </a:p>
          <a:p>
            <a:r>
              <a:rPr lang="en-US" dirty="0" smtClean="0"/>
              <a:t>Velocity; large amount of data  from transactions with high refresh rate  resulting to data stream coming at great speed and time to act on basis of those data stream is often very short</a:t>
            </a:r>
          </a:p>
          <a:p>
            <a:r>
              <a:rPr lang="en-US" dirty="0" smtClean="0"/>
              <a:t>Volume ; large amount of data from data sets with size of terabytes to zettabyte</a:t>
            </a:r>
          </a:p>
          <a:p>
            <a:r>
              <a:rPr lang="en-US" dirty="0" smtClean="0"/>
              <a:t>Variety; data type frequently stored in big data system</a:t>
            </a:r>
          </a:p>
          <a:p>
            <a:endParaRPr lang="en-US" dirty="0"/>
          </a:p>
        </p:txBody>
      </p:sp>
    </p:spTree>
    <p:extLst>
      <p:ext uri="{BB962C8B-B14F-4D97-AF65-F5344CB8AC3E}">
        <p14:creationId xmlns:p14="http://schemas.microsoft.com/office/powerpoint/2010/main" val="64560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Sources of big data</a:t>
            </a:r>
            <a:endParaRPr lang="en-US" dirty="0"/>
          </a:p>
        </p:txBody>
      </p:sp>
      <p:sp>
        <p:nvSpPr>
          <p:cNvPr id="3" name="Content Placeholder 2"/>
          <p:cNvSpPr>
            <a:spLocks noGrp="1"/>
          </p:cNvSpPr>
          <p:nvPr>
            <p:ph idx="1"/>
          </p:nvPr>
        </p:nvSpPr>
        <p:spPr/>
        <p:txBody>
          <a:bodyPr>
            <a:normAutofit fontScale="92500" lnSpcReduction="20000"/>
          </a:bodyPr>
          <a:lstStyle/>
          <a:p>
            <a:r>
              <a:rPr lang="en-US" dirty="0"/>
              <a:t>Web data. Customer level web </a:t>
            </a:r>
            <a:r>
              <a:rPr lang="en-US" dirty="0" smtClean="0"/>
              <a:t>behavior </a:t>
            </a:r>
            <a:r>
              <a:rPr lang="en-US" dirty="0"/>
              <a:t>data such as page views, searches, reading reviews, purchasing, can be captured. They can enhance performance in areas such as next best offer, churn modelling, customer segmentation and targeted advertisement</a:t>
            </a:r>
            <a:r>
              <a:rPr lang="en-US" dirty="0" smtClean="0"/>
              <a:t>.</a:t>
            </a:r>
          </a:p>
          <a:p>
            <a:r>
              <a:rPr lang="en-US" dirty="0" smtClean="0"/>
              <a:t> </a:t>
            </a:r>
            <a:r>
              <a:rPr lang="en-US" dirty="0"/>
              <a:t>Text data (email, news, Facebook feeds, documents, </a:t>
            </a:r>
            <a:r>
              <a:rPr lang="en-US" dirty="0" smtClean="0"/>
              <a:t>etc.) </a:t>
            </a:r>
            <a:r>
              <a:rPr lang="en-US" dirty="0"/>
              <a:t>is one of the biggest and most widely applicable types of big </a:t>
            </a:r>
            <a:r>
              <a:rPr lang="en-US" dirty="0" smtClean="0"/>
              <a:t>data</a:t>
            </a:r>
            <a:r>
              <a:rPr lang="en-US" dirty="0"/>
              <a:t>.</a:t>
            </a:r>
            <a:endParaRPr lang="en-US" dirty="0" smtClean="0"/>
          </a:p>
          <a:p>
            <a:r>
              <a:rPr lang="en-US" dirty="0" smtClean="0"/>
              <a:t>Time </a:t>
            </a:r>
            <a:r>
              <a:rPr lang="en-US" dirty="0"/>
              <a:t>and location data. GPS and mobile phone as well as Wi-Fi connection makes time and location information a growing source of data. </a:t>
            </a:r>
            <a:endParaRPr lang="en-US" dirty="0" smtClean="0"/>
          </a:p>
          <a:p>
            <a:r>
              <a:rPr lang="en-US" dirty="0" smtClean="0"/>
              <a:t> </a:t>
            </a:r>
            <a:r>
              <a:rPr lang="en-US" dirty="0"/>
              <a:t>Smart grid and sensor data. Sensor data are collected nowadays from cars, oil pipes, windmill turbines, and they are collected in extremely high frequency. </a:t>
            </a:r>
            <a:endParaRPr lang="en-US" dirty="0" smtClean="0"/>
          </a:p>
          <a:p>
            <a:r>
              <a:rPr lang="en-US" dirty="0" smtClean="0"/>
              <a:t> </a:t>
            </a:r>
            <a:r>
              <a:rPr lang="en-US" dirty="0"/>
              <a:t>Social network data. Within social network sites like </a:t>
            </a:r>
            <a:r>
              <a:rPr lang="en-US" dirty="0" smtClean="0"/>
              <a:t>Facebook </a:t>
            </a:r>
            <a:r>
              <a:rPr lang="en-US" dirty="0"/>
              <a:t>LinkedIn, Instagram, it is possible to do link analysis to uncover the network of a given user. </a:t>
            </a:r>
            <a:endParaRPr lang="en-US" dirty="0" smtClean="0"/>
          </a:p>
          <a:p>
            <a:endParaRPr lang="en-US" dirty="0"/>
          </a:p>
        </p:txBody>
      </p:sp>
    </p:spTree>
    <p:extLst>
      <p:ext uri="{BB962C8B-B14F-4D97-AF65-F5344CB8AC3E}">
        <p14:creationId xmlns:p14="http://schemas.microsoft.com/office/powerpoint/2010/main" val="4154711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big data </a:t>
            </a:r>
            <a:endParaRPr lang="en-US" dirty="0"/>
          </a:p>
        </p:txBody>
      </p:sp>
      <p:sp>
        <p:nvSpPr>
          <p:cNvPr id="3" name="Content Placeholder 2"/>
          <p:cNvSpPr>
            <a:spLocks noGrp="1"/>
          </p:cNvSpPr>
          <p:nvPr>
            <p:ph idx="1"/>
          </p:nvPr>
        </p:nvSpPr>
        <p:spPr/>
        <p:txBody>
          <a:bodyPr/>
          <a:lstStyle/>
          <a:p>
            <a:r>
              <a:rPr lang="en-US" dirty="0" smtClean="0"/>
              <a:t> structured; its well organized and highly formatted data that fit into traditional relational database and can be easily categorized stored and processed.</a:t>
            </a:r>
          </a:p>
          <a:p>
            <a:r>
              <a:rPr lang="en-US" dirty="0" smtClean="0"/>
              <a:t>Unstructured; lacks specific structure or format and does not fit in traditional data base easily.</a:t>
            </a:r>
          </a:p>
          <a:p>
            <a:r>
              <a:rPr lang="en-US" dirty="0" smtClean="0"/>
              <a:t>Semi structured;  falls between structured and </a:t>
            </a:r>
            <a:r>
              <a:rPr lang="en-US" dirty="0" err="1" smtClean="0"/>
              <a:t>unstructed.May</a:t>
            </a:r>
            <a:r>
              <a:rPr lang="en-US" dirty="0" smtClean="0"/>
              <a:t> be regular or incomplete and have a structure that may change rapidly </a:t>
            </a:r>
            <a:r>
              <a:rPr lang="en-US" smtClean="0"/>
              <a:t>or unpredictable.</a:t>
            </a:r>
            <a:endParaRPr lang="en-US" dirty="0"/>
          </a:p>
        </p:txBody>
      </p:sp>
    </p:spTree>
    <p:extLst>
      <p:ext uri="{BB962C8B-B14F-4D97-AF65-F5344CB8AC3E}">
        <p14:creationId xmlns:p14="http://schemas.microsoft.com/office/powerpoint/2010/main" val="1764753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Deferent level of insight from descriptive to predictive and prescriptive</a:t>
            </a:r>
            <a:endParaRPr lang="en-US" dirty="0"/>
          </a:p>
        </p:txBody>
      </p:sp>
      <p:sp>
        <p:nvSpPr>
          <p:cNvPr id="3" name="Content Placeholder 2"/>
          <p:cNvSpPr>
            <a:spLocks noGrp="1"/>
          </p:cNvSpPr>
          <p:nvPr>
            <p:ph idx="1"/>
          </p:nvPr>
        </p:nvSpPr>
        <p:spPr>
          <a:xfrm>
            <a:off x="1103312" y="2410691"/>
            <a:ext cx="8946541" cy="3837708"/>
          </a:xfrm>
        </p:spPr>
        <p:txBody>
          <a:bodyPr/>
          <a:lstStyle/>
          <a:p>
            <a:r>
              <a:rPr lang="en-US" dirty="0" smtClean="0"/>
              <a:t>Big data does not by </a:t>
            </a:r>
            <a:r>
              <a:rPr lang="en-US" dirty="0"/>
              <a:t>i</a:t>
            </a:r>
            <a:r>
              <a:rPr lang="en-US" dirty="0" smtClean="0"/>
              <a:t>t self posses any value. Its valuable only when you can get some insight out of the data.</a:t>
            </a:r>
          </a:p>
          <a:p>
            <a:pPr marL="0" indent="0">
              <a:buNone/>
            </a:pPr>
            <a:r>
              <a:rPr lang="en-US" dirty="0" smtClean="0"/>
              <a:t>This insights include;</a:t>
            </a:r>
          </a:p>
          <a:p>
            <a:r>
              <a:rPr lang="en-US" dirty="0" smtClean="0"/>
              <a:t>Descriptive analytics; answers question about what happened in the past.</a:t>
            </a:r>
          </a:p>
          <a:p>
            <a:r>
              <a:rPr lang="en-US" dirty="0" smtClean="0"/>
              <a:t>Predictive analytics; aims something about what might happen next.</a:t>
            </a:r>
          </a:p>
          <a:p>
            <a:r>
              <a:rPr lang="en-US" dirty="0" err="1" smtClean="0"/>
              <a:t>Prescritive</a:t>
            </a:r>
            <a:r>
              <a:rPr lang="en-US" smtClean="0"/>
              <a:t>  </a:t>
            </a:r>
            <a:r>
              <a:rPr lang="en-US" dirty="0" smtClean="0"/>
              <a:t>analytics; answer how do I deal with this?.</a:t>
            </a:r>
            <a:endParaRPr lang="en-US" dirty="0"/>
          </a:p>
        </p:txBody>
      </p:sp>
    </p:spTree>
    <p:extLst>
      <p:ext uri="{BB962C8B-B14F-4D97-AF65-F5344CB8AC3E}">
        <p14:creationId xmlns:p14="http://schemas.microsoft.com/office/powerpoint/2010/main" val="330440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big data in </a:t>
            </a:r>
            <a:r>
              <a:rPr lang="en-US" dirty="0"/>
              <a:t>Enhancing Customer Experience</a:t>
            </a:r>
          </a:p>
        </p:txBody>
      </p:sp>
      <p:sp>
        <p:nvSpPr>
          <p:cNvPr id="3" name="Content Placeholder 2"/>
          <p:cNvSpPr>
            <a:spLocks noGrp="1"/>
          </p:cNvSpPr>
          <p:nvPr>
            <p:ph idx="1"/>
          </p:nvPr>
        </p:nvSpPr>
        <p:spPr/>
        <p:txBody>
          <a:bodyPr>
            <a:normAutofit/>
          </a:bodyPr>
          <a:lstStyle/>
          <a:p>
            <a:pPr fontAlgn="auto"/>
            <a:r>
              <a:rPr lang="en-US" dirty="0"/>
              <a:t>With the huge amounts of data available on user behavior, companies can create a personalized experience for their customers. Big data helps organizations understand their customers' preferences and buying habits</a:t>
            </a:r>
            <a:r>
              <a:rPr lang="en-US" dirty="0" smtClean="0"/>
              <a:t>.</a:t>
            </a:r>
            <a:r>
              <a:rPr lang="en-US" dirty="0"/>
              <a:t/>
            </a:r>
            <a:br>
              <a:rPr lang="en-US" dirty="0"/>
            </a:br>
            <a:endParaRPr lang="en-US" dirty="0"/>
          </a:p>
          <a:p>
            <a:pPr fontAlgn="auto"/>
            <a:r>
              <a:rPr lang="en-US" dirty="0"/>
              <a:t>For example, by using machine learning algorithms and predictive analytics tools, Netflix is able to create personalized recommendation lists for its customers. Amazon uses a similar approach to recommend products to its customers based on their purchasing history and search history. As a result, customers are more likely to buy products that are relevant to their needs and interests.</a:t>
            </a:r>
          </a:p>
          <a:p>
            <a:endParaRPr lang="en-US" dirty="0"/>
          </a:p>
        </p:txBody>
      </p:sp>
    </p:spTree>
    <p:extLst>
      <p:ext uri="{BB962C8B-B14F-4D97-AF65-F5344CB8AC3E}">
        <p14:creationId xmlns:p14="http://schemas.microsoft.com/office/powerpoint/2010/main" val="2257785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626"/>
            <a:ext cx="10515600" cy="2945331"/>
          </a:xfrm>
        </p:spPr>
        <p:txBody>
          <a:bodyPr>
            <a:normAutofit/>
          </a:bodyPr>
          <a:lstStyle/>
          <a:p>
            <a:pPr fontAlgn="auto"/>
            <a:r>
              <a:rPr lang="en-US" dirty="0" smtClean="0"/>
              <a:t>Application of big data in </a:t>
            </a:r>
            <a:r>
              <a:rPr lang="en-US" dirty="0"/>
              <a:t>Improved Public Health</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a:bodyPr>
          <a:lstStyle/>
          <a:p>
            <a:pPr fontAlgn="auto"/>
            <a:r>
              <a:rPr lang="en-US" dirty="0"/>
              <a:t>One of the amazing applications of big data has been in public health. Health care providers and organizations are using big data to track outbreaks of diseases, monitor the spread of epidemics and predict future outbreaks. The biggest challenge in dealing with infectious diseases is prevention, and big data is helping researchers to predict which populations are most at risk, and which preventive measures will be most effective</a:t>
            </a:r>
            <a:r>
              <a:rPr lang="en-US" dirty="0" smtClean="0"/>
              <a:t>.</a:t>
            </a:r>
            <a:endParaRPr lang="en-US" dirty="0"/>
          </a:p>
          <a:p>
            <a:pPr fontAlgn="auto"/>
            <a:r>
              <a:rPr lang="en-US" dirty="0"/>
              <a:t>Big data also helps healthcare providers create more personalized and effective treatment plans for patients. By analyzing millions of patient records and clinical studies, medical professionals can get insights into which treatments work best and develop more targeted interventions.</a:t>
            </a:r>
          </a:p>
        </p:txBody>
      </p:sp>
    </p:spTree>
    <p:extLst>
      <p:ext uri="{BB962C8B-B14F-4D97-AF65-F5344CB8AC3E}">
        <p14:creationId xmlns:p14="http://schemas.microsoft.com/office/powerpoint/2010/main" val="303952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big </a:t>
            </a:r>
            <a:r>
              <a:rPr lang="en-US" dirty="0" smtClean="0"/>
              <a:t>data in </a:t>
            </a:r>
            <a:r>
              <a:rPr lang="en-US" dirty="0"/>
              <a:t>Enhancing Customer Experience</a:t>
            </a:r>
          </a:p>
        </p:txBody>
      </p:sp>
      <p:sp>
        <p:nvSpPr>
          <p:cNvPr id="3" name="Content Placeholder 2"/>
          <p:cNvSpPr>
            <a:spLocks noGrp="1"/>
          </p:cNvSpPr>
          <p:nvPr>
            <p:ph idx="1"/>
          </p:nvPr>
        </p:nvSpPr>
        <p:spPr/>
        <p:txBody>
          <a:bodyPr>
            <a:normAutofit/>
          </a:bodyPr>
          <a:lstStyle/>
          <a:p>
            <a:pPr fontAlgn="auto"/>
            <a:r>
              <a:rPr lang="en-US" dirty="0"/>
              <a:t>With the huge amounts of data available on user behavior, companies can create a personalized experience for their customers. Big data helps organizations understand their customers' preferences and buying habits</a:t>
            </a:r>
            <a:r>
              <a:rPr lang="en-US" dirty="0" smtClean="0"/>
              <a:t>.</a:t>
            </a:r>
            <a:endParaRPr lang="en-US" dirty="0"/>
          </a:p>
          <a:p>
            <a:pPr fontAlgn="auto"/>
            <a:r>
              <a:rPr lang="en-US" dirty="0"/>
              <a:t>For example, by using machine learning algorithms and predictive analytics tools, Netflix is able to create personalized recommendation lists for its customers. Amazon uses a similar approach to recommend products to its customers based on their purchasing history and search history. As a result, customers are more likely to buy products that are relevant to their needs and interests</a:t>
            </a:r>
            <a:r>
              <a:rPr lang="en-US" dirty="0" smtClean="0"/>
              <a:t>.</a:t>
            </a:r>
            <a:endParaRPr lang="en-US" dirty="0"/>
          </a:p>
        </p:txBody>
      </p:sp>
    </p:spTree>
    <p:extLst>
      <p:ext uri="{BB962C8B-B14F-4D97-AF65-F5344CB8AC3E}">
        <p14:creationId xmlns:p14="http://schemas.microsoft.com/office/powerpoint/2010/main" val="3311371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440" y="344103"/>
            <a:ext cx="10439400" cy="1332297"/>
          </a:xfrm>
        </p:spPr>
        <p:txBody>
          <a:bodyPr>
            <a:normAutofit fontScale="90000"/>
          </a:bodyPr>
          <a:lstStyle/>
          <a:p>
            <a:pPr fontAlgn="auto"/>
            <a:r>
              <a:rPr lang="en-US" dirty="0" smtClean="0"/>
              <a:t> </a:t>
            </a:r>
            <a:r>
              <a:rPr lang="en-US" dirty="0"/>
              <a:t>Application of big data</a:t>
            </a:r>
            <a:r>
              <a:rPr lang="en-US" dirty="0" smtClean="0"/>
              <a:t> predictive Maintenance and </a:t>
            </a:r>
            <a:r>
              <a:rPr lang="en-US" dirty="0"/>
              <a:t>Fraud Detection</a:t>
            </a:r>
            <a:br>
              <a:rPr lang="en-US" dirty="0"/>
            </a:br>
            <a:r>
              <a:rPr lang="en-US" dirty="0"/>
              <a:t/>
            </a:r>
            <a:br>
              <a:rPr lang="en-US" dirty="0"/>
            </a:br>
            <a:endParaRPr lang="en-US" dirty="0"/>
          </a:p>
        </p:txBody>
      </p:sp>
      <p:sp>
        <p:nvSpPr>
          <p:cNvPr id="3" name="Content Placeholder 2"/>
          <p:cNvSpPr>
            <a:spLocks noGrp="1"/>
          </p:cNvSpPr>
          <p:nvPr>
            <p:ph idx="1"/>
          </p:nvPr>
        </p:nvSpPr>
        <p:spPr>
          <a:xfrm>
            <a:off x="1103312" y="1676400"/>
            <a:ext cx="8946541" cy="4571999"/>
          </a:xfrm>
        </p:spPr>
        <p:txBody>
          <a:bodyPr>
            <a:normAutofit/>
          </a:bodyPr>
          <a:lstStyle/>
          <a:p>
            <a:r>
              <a:rPr lang="en-US" dirty="0"/>
              <a:t>Big data analytics is increasingly becoming a valuable tool for businesses managing complex equipment and machinery. By continuously monitoring the performance of the equipment, the data can be used to predict when maintenance is needed before any issues occur. This can help businesses avoid costly downtime and improve overall operational efficiency</a:t>
            </a:r>
            <a:r>
              <a:rPr lang="en-US" dirty="0" smtClean="0"/>
              <a:t>.</a:t>
            </a:r>
          </a:p>
          <a:p>
            <a:pPr fontAlgn="auto"/>
            <a:r>
              <a:rPr lang="en-US" dirty="0"/>
              <a:t>Big data analytics has become a powerful tool to detect financial fraud. Financial institutions routinely analyze financial data from credit card transactions and other financial records to identify fraudulent activity. They also use machine learning algorithms to detect patterns of behavior that may suggest fraudulent activity.</a:t>
            </a:r>
          </a:p>
          <a:p>
            <a:pPr marL="0" indent="0">
              <a:buNone/>
            </a:pPr>
            <a:endParaRPr lang="en-US" dirty="0"/>
          </a:p>
        </p:txBody>
      </p:sp>
    </p:spTree>
    <p:extLst>
      <p:ext uri="{BB962C8B-B14F-4D97-AF65-F5344CB8AC3E}">
        <p14:creationId xmlns:p14="http://schemas.microsoft.com/office/powerpoint/2010/main" val="16306109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technogical components in big data ecosystem</a:t>
            </a:r>
            <a:endParaRPr lang="en-US" dirty="0"/>
          </a:p>
        </p:txBody>
      </p:sp>
      <p:sp>
        <p:nvSpPr>
          <p:cNvPr id="3" name="Content Placeholder 2"/>
          <p:cNvSpPr>
            <a:spLocks noGrp="1"/>
          </p:cNvSpPr>
          <p:nvPr>
            <p:ph idx="1"/>
          </p:nvPr>
        </p:nvSpPr>
        <p:spPr/>
        <p:txBody>
          <a:bodyPr/>
          <a:lstStyle/>
          <a:p>
            <a:r>
              <a:rPr lang="en-US" dirty="0" smtClean="0"/>
              <a:t>Data source; in modern data ecosystem  the data source layer is composed of both private and public data source                </a:t>
            </a:r>
          </a:p>
          <a:p>
            <a:r>
              <a:rPr lang="en-US" dirty="0" smtClean="0"/>
              <a:t>Data management; as data increasingly  available (from social media web log  iot sensors etc) the challenging of (selecting combining storing ) and analyzing large growing data set is growing more urgent. </a:t>
            </a:r>
          </a:p>
          <a:p>
            <a:r>
              <a:rPr lang="en-US" dirty="0" smtClean="0"/>
              <a:t>Data analytic sit refers to technologies that are grounded mostly in data minig and statistical analysis</a:t>
            </a:r>
          </a:p>
          <a:p>
            <a:endParaRPr lang="en-US" dirty="0" smtClean="0"/>
          </a:p>
          <a:p>
            <a:endParaRPr lang="en-US" dirty="0"/>
          </a:p>
        </p:txBody>
      </p:sp>
    </p:spTree>
    <p:extLst>
      <p:ext uri="{BB962C8B-B14F-4D97-AF65-F5344CB8AC3E}">
        <p14:creationId xmlns:p14="http://schemas.microsoft.com/office/powerpoint/2010/main" val="13853629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Analytical techniques</a:t>
            </a:r>
            <a:endParaRPr lang="en-US" dirty="0"/>
          </a:p>
        </p:txBody>
      </p:sp>
      <p:sp>
        <p:nvSpPr>
          <p:cNvPr id="3" name="Content Placeholder 2"/>
          <p:cNvSpPr>
            <a:spLocks noGrp="1"/>
          </p:cNvSpPr>
          <p:nvPr>
            <p:ph idx="1"/>
          </p:nvPr>
        </p:nvSpPr>
        <p:spPr/>
        <p:txBody>
          <a:bodyPr/>
          <a:lstStyle/>
          <a:p>
            <a:r>
              <a:rPr lang="en-US" dirty="0" smtClean="0"/>
              <a:t>The most common analytical  techniques falls under one of the following </a:t>
            </a:r>
          </a:p>
          <a:p>
            <a:r>
              <a:rPr lang="en-US" dirty="0" smtClean="0"/>
              <a:t>Statistical method ,forecasting ,regression analysis</a:t>
            </a:r>
          </a:p>
          <a:p>
            <a:r>
              <a:rPr lang="en-US" dirty="0" smtClean="0"/>
              <a:t>Data querying</a:t>
            </a:r>
          </a:p>
          <a:p>
            <a:r>
              <a:rPr lang="en-US" dirty="0" smtClean="0"/>
              <a:t>Data warehouse</a:t>
            </a:r>
          </a:p>
          <a:p>
            <a:r>
              <a:rPr lang="en-US" dirty="0" smtClean="0"/>
              <a:t>Machine learning and data mining</a:t>
            </a:r>
          </a:p>
          <a:p>
            <a:endParaRPr lang="en-US" dirty="0" smtClean="0"/>
          </a:p>
        </p:txBody>
      </p:sp>
    </p:spTree>
    <p:extLst>
      <p:ext uri="{BB962C8B-B14F-4D97-AF65-F5344CB8AC3E}">
        <p14:creationId xmlns:p14="http://schemas.microsoft.com/office/powerpoint/2010/main" val="1906714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big data</a:t>
            </a:r>
            <a:endParaRPr lang="en-US" dirty="0"/>
          </a:p>
        </p:txBody>
      </p:sp>
      <p:sp>
        <p:nvSpPr>
          <p:cNvPr id="3" name="Content Placeholder 2"/>
          <p:cNvSpPr>
            <a:spLocks noGrp="1"/>
          </p:cNvSpPr>
          <p:nvPr>
            <p:ph idx="1"/>
          </p:nvPr>
        </p:nvSpPr>
        <p:spPr/>
        <p:txBody>
          <a:bodyPr>
            <a:normAutofit fontScale="92500" lnSpcReduction="20000"/>
          </a:bodyPr>
          <a:lstStyle/>
          <a:p>
            <a:pPr fontAlgn="auto"/>
            <a:r>
              <a:rPr lang="en-US" dirty="0"/>
              <a:t>It can spot anomalies faster than the human eye. </a:t>
            </a:r>
          </a:p>
          <a:p>
            <a:pPr fontAlgn="auto"/>
            <a:r>
              <a:rPr lang="en-US" dirty="0"/>
              <a:t>It can help you diversify your revenue streams. </a:t>
            </a:r>
          </a:p>
          <a:p>
            <a:pPr fontAlgn="auto"/>
            <a:r>
              <a:rPr lang="en-US" dirty="0"/>
              <a:t>Predictive analysis will keep you ahead of your competitors. </a:t>
            </a:r>
          </a:p>
          <a:p>
            <a:pPr fontAlgn="auto"/>
            <a:r>
              <a:rPr lang="en-US" dirty="0"/>
              <a:t>Detect fraudulent behavior before it affects your organization. </a:t>
            </a:r>
          </a:p>
          <a:p>
            <a:pPr fontAlgn="auto"/>
            <a:r>
              <a:rPr lang="en-US" dirty="0"/>
              <a:t>Big data allows you to re-develop the products or services you sell. </a:t>
            </a:r>
          </a:p>
          <a:p>
            <a:pPr fontAlgn="auto"/>
            <a:r>
              <a:rPr lang="en-US" dirty="0"/>
              <a:t>Businesses can use big data to analyze vital data and make the right decisions. </a:t>
            </a:r>
          </a:p>
          <a:p>
            <a:pPr fontAlgn="auto"/>
            <a:r>
              <a:rPr lang="en-US" dirty="0"/>
              <a:t>You can identify issues and detect the root cause of any failures that may occur. </a:t>
            </a:r>
          </a:p>
          <a:p>
            <a:pPr fontAlgn="auto"/>
            <a:r>
              <a:rPr lang="en-US" dirty="0"/>
              <a:t>Systems designed by big data can help you to provide better customer service.  </a:t>
            </a:r>
          </a:p>
          <a:p>
            <a:pPr fontAlgn="auto"/>
            <a:r>
              <a:rPr lang="en-US" dirty="0"/>
              <a:t>It can increase operational efficiency by helping organizations offload infrequently accessed data. </a:t>
            </a:r>
          </a:p>
        </p:txBody>
      </p:sp>
    </p:spTree>
    <p:extLst>
      <p:ext uri="{BB962C8B-B14F-4D97-AF65-F5344CB8AC3E}">
        <p14:creationId xmlns:p14="http://schemas.microsoft.com/office/powerpoint/2010/main" val="2837615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253</TotalTime>
  <Words>946</Words>
  <Application>Microsoft Office PowerPoint</Application>
  <PresentationFormat>Widescreen</PresentationFormat>
  <Paragraphs>62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Ion</vt:lpstr>
      <vt:lpstr>group2 BIGDATA 1.p100/4093g/23 Jim Chege 2.p100/4057g/23 Newton Kinyua 3.p100/4124g/23 Josiah wanjohi 4.p100/4088g/23 James Kimani 5.p100/4087g/23 George Kamanda 6.p100/4193g/23 Collins kipkorir</vt:lpstr>
      <vt:lpstr>Big data</vt:lpstr>
      <vt:lpstr>WHAT IS BIG DATA</vt:lpstr>
      <vt:lpstr>Sources of big data</vt:lpstr>
      <vt:lpstr>Types of big data </vt:lpstr>
      <vt:lpstr>Deferent level of insight from descriptive to predictive and prescriptive</vt:lpstr>
      <vt:lpstr>Application of big data in Enhancing Customer Experience</vt:lpstr>
      <vt:lpstr>Application of big data in Improved Public Health  </vt:lpstr>
      <vt:lpstr>Application of big data in Enhancing Customer Experience</vt:lpstr>
      <vt:lpstr> Application of big data predictive Maintenance and Fraud Detection  </vt:lpstr>
      <vt:lpstr>Main technogical components in big data ecosystem</vt:lpstr>
      <vt:lpstr>Analytical techniques</vt:lpstr>
      <vt:lpstr>advantages of big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dc:title>
  <dc:creator>JERINA MWANGI</dc:creator>
  <cp:lastModifiedBy>san</cp:lastModifiedBy>
  <cp:revision>27</cp:revision>
  <dcterms:created xsi:type="dcterms:W3CDTF">2024-04-17T23:33:15Z</dcterms:created>
  <dcterms:modified xsi:type="dcterms:W3CDTF">2024-04-18T14:31:32Z</dcterms:modified>
</cp:coreProperties>
</file>