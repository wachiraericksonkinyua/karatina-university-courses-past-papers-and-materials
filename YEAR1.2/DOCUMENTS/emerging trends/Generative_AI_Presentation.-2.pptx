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9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70" r:id="rId31"/>
    <p:sldId id="285" r:id="rId32"/>
    <p:sldId id="287" r:id="rId33"/>
    <p:sldId id="286" r:id="rId34"/>
    <p:sldId id="288" r:id="rId35"/>
    <p:sldId id="289" r:id="rId36"/>
    <p:sldId id="290" r:id="rId37"/>
    <p:sldId id="291" r:id="rId38"/>
    <p:sldId id="292" r:id="rId39"/>
    <p:sldId id="293" r:id="rId40"/>
    <p:sldId id="294" r:id="rId41"/>
    <p:sldId id="295"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2" autoAdjust="0"/>
    <p:restoredTop sz="94660"/>
  </p:normalViewPr>
  <p:slideViewPr>
    <p:cSldViewPr>
      <p:cViewPr varScale="1">
        <p:scale>
          <a:sx n="77" d="100"/>
          <a:sy n="77" d="100"/>
        </p:scale>
        <p:origin x="11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B6F15528-21DE-4FAA-801E-634DDDAF4B2B}" type="slidenum">
              <a:rPr lang="en-US" smtClean="0"/>
              <a:pPr/>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9701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2106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576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3021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714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4969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846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861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511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90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742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4/18/2024</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3201832"/>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helf.io/ai-glossary/#neural-network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EF4D-A36F-BD64-4590-19554CAEF803}"/>
              </a:ext>
            </a:extLst>
          </p:cNvPr>
          <p:cNvSpPr>
            <a:spLocks noGrp="1"/>
          </p:cNvSpPr>
          <p:nvPr>
            <p:ph type="title"/>
          </p:nvPr>
        </p:nvSpPr>
        <p:spPr/>
        <p:txBody>
          <a:bodyPr/>
          <a:lstStyle/>
          <a:p>
            <a:r>
              <a:rPr lang="en-US" b="1" dirty="0"/>
              <a:t>GROUP 7 MEMBERS</a:t>
            </a:r>
            <a:br>
              <a:rPr lang="en-US" b="1" dirty="0"/>
            </a:br>
            <a:r>
              <a:rPr lang="en-US" b="1" dirty="0"/>
              <a:t>BIT 123 PRESENTATION</a:t>
            </a:r>
          </a:p>
        </p:txBody>
      </p:sp>
      <p:sp>
        <p:nvSpPr>
          <p:cNvPr id="3" name="Content Placeholder 2">
            <a:extLst>
              <a:ext uri="{FF2B5EF4-FFF2-40B4-BE49-F238E27FC236}">
                <a16:creationId xmlns:a16="http://schemas.microsoft.com/office/drawing/2014/main" id="{FC51C58D-0AAF-84B5-01A8-FE451696E109}"/>
              </a:ext>
            </a:extLst>
          </p:cNvPr>
          <p:cNvSpPr>
            <a:spLocks noGrp="1"/>
          </p:cNvSpPr>
          <p:nvPr>
            <p:ph idx="1"/>
          </p:nvPr>
        </p:nvSpPr>
        <p:spPr/>
        <p:txBody>
          <a:bodyPr>
            <a:normAutofit fontScale="25000" lnSpcReduction="20000"/>
          </a:bodyPr>
          <a:lstStyle/>
          <a:p>
            <a:r>
              <a:rPr lang="en-US" dirty="0"/>
              <a:t>EMMANUEL ODONGO P100/4239G/23                          ASEKON REUBEN P100/2331G/22</a:t>
            </a:r>
          </a:p>
          <a:p>
            <a:r>
              <a:rPr lang="en-US" dirty="0"/>
              <a:t>AMWATA GILBERT P100/4243G/23                               MOSES MUTHUI P100/2906G/23</a:t>
            </a:r>
          </a:p>
          <a:p>
            <a:r>
              <a:rPr lang="en-US" dirty="0"/>
              <a:t>DENNIS KIMUTAI BETT P100/4189G/23                        WINFRED MACHARIA P100/4070G/23</a:t>
            </a:r>
          </a:p>
          <a:p>
            <a:r>
              <a:rPr lang="en-US" dirty="0"/>
              <a:t>SHEKINAH GLORY P100/4247G/23                               ANDREW JOSEPH P100/4181G/23</a:t>
            </a:r>
          </a:p>
          <a:p>
            <a:r>
              <a:rPr lang="en-US" dirty="0"/>
              <a:t>PATIENCE LUSENO P100/4248G/23                              NOEL MBUYA P100/2219G/22</a:t>
            </a:r>
          </a:p>
          <a:p>
            <a:r>
              <a:rPr lang="en-US" dirty="0"/>
              <a:t>SAMWEL MWAI P100/4173G/23                                    BLESSED WAICERA P100/4103G/23</a:t>
            </a:r>
          </a:p>
          <a:p>
            <a:r>
              <a:rPr lang="en-US" dirty="0"/>
              <a:t>MOIBEN DERRICK P100/4186G/23                                EMMANNUEL KIRUI P100/4869G/23</a:t>
            </a:r>
          </a:p>
          <a:p>
            <a:r>
              <a:rPr lang="en-US" dirty="0"/>
              <a:t>MOSES MUSA P100/4241G/23                                        TIMOTHY KARIBU P100/4063G/23</a:t>
            </a:r>
          </a:p>
          <a:p>
            <a:r>
              <a:rPr lang="en-US" dirty="0"/>
              <a:t>ABIUD KARIOKI P100/4240G/23                                   NICKSON MUTETHIA  P100/4126G/23</a:t>
            </a:r>
          </a:p>
          <a:p>
            <a:r>
              <a:rPr lang="en-US" dirty="0"/>
              <a:t>OGUTU MARGARET P100/4221G/23                            AMBROSE MUKUNDI P100/4116G/23</a:t>
            </a:r>
          </a:p>
          <a:p>
            <a:r>
              <a:rPr lang="en-US" dirty="0"/>
              <a:t>DIANA CHEPNGETICH P100/4152G/23                        KENNETH WAWERU P100/4091G/23</a:t>
            </a:r>
          </a:p>
          <a:p>
            <a:r>
              <a:rPr lang="en-US" dirty="0"/>
              <a:t>ERICKSON KINYUA P100/4155G/23                             DANIEL WAMBUA P100/4133G/23</a:t>
            </a:r>
          </a:p>
          <a:p>
            <a:r>
              <a:rPr lang="en-US" dirty="0"/>
              <a:t>DOMINIC MORANGA P100/4250G/23                         DARIUS MSEREKA P100/4056G/23</a:t>
            </a:r>
          </a:p>
          <a:p>
            <a:r>
              <a:rPr lang="en-US" dirty="0"/>
              <a:t>JUSTIN KINYUA P100/4168G/23                                    OLIVER OOKO  P100/4245G/23</a:t>
            </a:r>
          </a:p>
          <a:p>
            <a:r>
              <a:rPr lang="en-US" dirty="0"/>
              <a:t>KELVIN MONG’ARE P100/4174G/23</a:t>
            </a:r>
          </a:p>
        </p:txBody>
      </p:sp>
    </p:spTree>
    <p:extLst>
      <p:ext uri="{BB962C8B-B14F-4D97-AF65-F5344CB8AC3E}">
        <p14:creationId xmlns:p14="http://schemas.microsoft.com/office/powerpoint/2010/main" val="256300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effectLst>
                  <a:outerShdw blurRad="38100" dist="38100" dir="2700000" algn="tl">
                    <a:srgbClr val="000000">
                      <a:alpha val="43137"/>
                    </a:srgbClr>
                  </a:outerShdw>
                </a:effectLst>
              </a:rPr>
              <a:t>GENERATIVE AI</a:t>
            </a:r>
          </a:p>
        </p:txBody>
      </p:sp>
      <p:sp>
        <p:nvSpPr>
          <p:cNvPr id="3" name="Subtitle 2"/>
          <p:cNvSpPr>
            <a:spLocks noGrp="1"/>
          </p:cNvSpPr>
          <p:nvPr>
            <p:ph type="subTitle" idx="1"/>
          </p:nvPr>
        </p:nvSpPr>
        <p:spPr/>
        <p:txBody>
          <a:bodyPr/>
          <a:lstStyle/>
          <a:p>
            <a:r>
              <a:rPr lang="en-US" b="1" dirty="0">
                <a:effectLst>
                  <a:outerShdw blurRad="38100" dist="38100" dir="2700000" algn="tl">
                    <a:srgbClr val="000000">
                      <a:alpha val="43137"/>
                    </a:srgbClr>
                  </a:outerShdw>
                </a:effectLst>
              </a:rPr>
              <a:t>DEEP LEARNING</a:t>
            </a:r>
          </a:p>
        </p:txBody>
      </p:sp>
    </p:spTree>
    <p:extLst>
      <p:ext uri="{BB962C8B-B14F-4D97-AF65-F5344CB8AC3E}">
        <p14:creationId xmlns:p14="http://schemas.microsoft.com/office/powerpoint/2010/main" val="1428237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752600"/>
            <a:ext cx="7467600" cy="2739211"/>
          </a:xfrm>
          <a:prstGeom prst="rect">
            <a:avLst/>
          </a:prstGeom>
        </p:spPr>
        <p:txBody>
          <a:bodyPr wrap="square">
            <a:spAutoFit/>
          </a:bodyPr>
          <a:lstStyle/>
          <a:p>
            <a:r>
              <a:rPr lang="en-US" sz="2400" b="1" dirty="0">
                <a:latin typeface="Times New Roman" pitchFamily="18" charset="0"/>
                <a:cs typeface="Times New Roman" pitchFamily="18" charset="0"/>
              </a:rPr>
              <a:t>Generative AI:</a:t>
            </a:r>
            <a:r>
              <a:rPr lang="en-US" sz="2400" dirty="0">
                <a:latin typeface="Times New Roman" pitchFamily="18" charset="0"/>
                <a:cs typeface="Times New Roman" pitchFamily="18" charset="0"/>
              </a:rPr>
              <a:t> use of  AI to create new content, like text, Images, music, audio and videos.</a:t>
            </a:r>
          </a:p>
          <a:p>
            <a:r>
              <a:rPr lang="en-US" sz="2400" b="1" dirty="0">
                <a:latin typeface="Times New Roman" pitchFamily="18" charset="0"/>
                <a:cs typeface="Times New Roman" pitchFamily="18" charset="0"/>
              </a:rPr>
              <a:t>Deep learning</a:t>
            </a:r>
            <a:r>
              <a:rPr lang="en-US" sz="2400" dirty="0">
                <a:latin typeface="Times New Roman" pitchFamily="18" charset="0"/>
                <a:cs typeface="Times New Roman" pitchFamily="18" charset="0"/>
              </a:rPr>
              <a:t>: type of machine based on artificial neural networks in which multiple layers of processing are used to extract progressively higher level features from data.</a:t>
            </a:r>
          </a:p>
          <a:p>
            <a:r>
              <a:rPr lang="en-US" sz="2400" dirty="0">
                <a:latin typeface="Times New Roman" pitchFamily="18" charset="0"/>
                <a:cs typeface="Times New Roman" pitchFamily="18" charset="0"/>
              </a:rPr>
              <a:t>Method of AI that teaches  computers to process data in a way that is inspired by the humans brain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993527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latin typeface="Times New Roman" pitchFamily="18" charset="0"/>
                <a:cs typeface="Times New Roman" pitchFamily="18" charset="0"/>
              </a:rPr>
              <a:t>Neural networks</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pPr marL="0" marR="0">
              <a:lnSpc>
                <a:spcPct val="115000"/>
              </a:lnSpc>
              <a:spcBef>
                <a:spcPts val="0"/>
              </a:spcBef>
              <a:spcAft>
                <a:spcPts val="1000"/>
              </a:spcAft>
            </a:pPr>
            <a:r>
              <a:rPr lang="en-US" b="1" dirty="0">
                <a:latin typeface="Times New Roman" pitchFamily="18" charset="0"/>
                <a:ea typeface="Calibri"/>
                <a:cs typeface="Times New Roman" pitchFamily="18" charset="0"/>
              </a:rPr>
              <a:t>The layers</a:t>
            </a:r>
            <a:endParaRPr lang="en-US" dirty="0">
              <a:latin typeface="Times New Roman" pitchFamily="18" charset="0"/>
              <a:ea typeface="Calibri"/>
              <a:cs typeface="Times New Roman" pitchFamily="18" charset="0"/>
            </a:endParaRP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Input layer-data enters through.</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Output layer -makes final results or prediction.</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Hidden layers-process and transport data to other layers.</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Artificial neurons-units that receive inputs, apply weight and produce an output using an activation function.</a:t>
            </a:r>
          </a:p>
          <a:p>
            <a:pPr lvl="0">
              <a:lnSpc>
                <a:spcPct val="115000"/>
              </a:lnSpc>
              <a:spcBef>
                <a:spcPts val="0"/>
              </a:spcBef>
              <a:spcAft>
                <a:spcPts val="1000"/>
              </a:spcAft>
              <a:buFont typeface="Wingdings"/>
              <a:buChar char=""/>
            </a:pPr>
            <a:r>
              <a:rPr lang="en-US" sz="2400" dirty="0">
                <a:latin typeface="Times New Roman" pitchFamily="18" charset="0"/>
                <a:ea typeface="Calibri"/>
                <a:cs typeface="Times New Roman" pitchFamily="18" charset="0"/>
              </a:rPr>
              <a:t>Deep architectures-networks with many hidden layers capture intricate patterns and relationships in data.</a:t>
            </a:r>
          </a:p>
          <a:p>
            <a:endParaRPr lang="en-US" sz="2400" dirty="0"/>
          </a:p>
        </p:txBody>
      </p:sp>
    </p:spTree>
    <p:extLst>
      <p:ext uri="{BB962C8B-B14F-4D97-AF65-F5344CB8AC3E}">
        <p14:creationId xmlns:p14="http://schemas.microsoft.com/office/powerpoint/2010/main" val="3265144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399032"/>
          </a:xfrm>
        </p:spPr>
        <p:txBody>
          <a:bodyPr>
            <a:normAutofit/>
          </a:bodyPr>
          <a:lstStyle/>
          <a:p>
            <a:pPr marL="0" marR="0">
              <a:lnSpc>
                <a:spcPct val="115000"/>
              </a:lnSpc>
              <a:spcBef>
                <a:spcPts val="0"/>
              </a:spcBef>
              <a:spcAft>
                <a:spcPts val="1000"/>
              </a:spcAft>
            </a:pPr>
            <a:r>
              <a:rPr lang="en-US" sz="4400" b="1" dirty="0">
                <a:latin typeface="Times New Roman"/>
                <a:ea typeface="Calibri"/>
                <a:cs typeface="Times New Roman"/>
              </a:rPr>
              <a:t>Applications</a:t>
            </a:r>
            <a:br>
              <a:rPr lang="en-US" dirty="0">
                <a:ea typeface="Calibri"/>
                <a:cs typeface="Times New Roman"/>
              </a:rPr>
            </a:br>
            <a:endParaRPr lang="en-US" dirty="0"/>
          </a:p>
        </p:txBody>
      </p:sp>
      <p:sp>
        <p:nvSpPr>
          <p:cNvPr id="3" name="Content Placeholder 2"/>
          <p:cNvSpPr>
            <a:spLocks noGrp="1"/>
          </p:cNvSpPr>
          <p:nvPr>
            <p:ph idx="1"/>
          </p:nvPr>
        </p:nvSpPr>
        <p:spPr/>
        <p:txBody>
          <a:bodyPr>
            <a:normAutofit fontScale="62500" lnSpcReduction="20000"/>
          </a:bodyPr>
          <a:lstStyle/>
          <a:p>
            <a:r>
              <a:rPr lang="en-US" sz="2600" dirty="0">
                <a:latin typeface="Times New Roman" pitchFamily="18" charset="0"/>
                <a:cs typeface="Times New Roman" pitchFamily="18" charset="0"/>
              </a:rPr>
              <a:t>Computer vision-deep learning powers image recognition, object detection and segmentation tasks, enabling applications like autonomous vehicles and medical imaging.</a:t>
            </a:r>
          </a:p>
          <a:p>
            <a:r>
              <a:rPr lang="en-US" sz="2600" dirty="0">
                <a:latin typeface="Times New Roman" pitchFamily="18" charset="0"/>
                <a:cs typeface="Times New Roman" pitchFamily="18" charset="0"/>
              </a:rPr>
              <a:t>Natural language processing-deep learning models achieves state-of-art performance in tasks like machine translation, sentiment analysis, and text generation.</a:t>
            </a:r>
          </a:p>
          <a:p>
            <a:r>
              <a:rPr lang="en-US" sz="2600" dirty="0">
                <a:latin typeface="Times New Roman" pitchFamily="18" charset="0"/>
                <a:cs typeface="Times New Roman" pitchFamily="18" charset="0"/>
              </a:rPr>
              <a:t>Speech recognition- deep learning algorithms dominate speech recognition systems, facilitating virtual assistants and voice-controlled devices.</a:t>
            </a:r>
          </a:p>
          <a:p>
            <a:r>
              <a:rPr lang="en-US" sz="2600" dirty="0">
                <a:latin typeface="Times New Roman" pitchFamily="18" charset="0"/>
                <a:cs typeface="Times New Roman" pitchFamily="18" charset="0"/>
              </a:rPr>
              <a:t>Recommendation systems-deep learning enhances recommendation engines by learning complex user preferences from large-scale data.</a:t>
            </a:r>
          </a:p>
          <a:p>
            <a:endParaRPr lang="en-US" dirty="0"/>
          </a:p>
        </p:txBody>
      </p:sp>
    </p:spTree>
    <p:extLst>
      <p:ext uri="{BB962C8B-B14F-4D97-AF65-F5344CB8AC3E}">
        <p14:creationId xmlns:p14="http://schemas.microsoft.com/office/powerpoint/2010/main" val="2371432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indent="-342900">
              <a:lnSpc>
                <a:spcPct val="115000"/>
              </a:lnSpc>
              <a:spcBef>
                <a:spcPts val="0"/>
              </a:spcBef>
              <a:spcAft>
                <a:spcPts val="1000"/>
              </a:spcAft>
            </a:pPr>
            <a:r>
              <a:rPr lang="en-US" sz="4000" b="1" dirty="0">
                <a:solidFill>
                  <a:prstClr val="black"/>
                </a:solidFill>
                <a:latin typeface="Times New Roman" pitchFamily="18" charset="0"/>
                <a:ea typeface="Calibri"/>
                <a:cs typeface="Times New Roman" pitchFamily="18" charset="0"/>
              </a:rPr>
              <a:t>Challenges</a:t>
            </a:r>
            <a:br>
              <a:rPr lang="en-US" sz="4000" dirty="0">
                <a:solidFill>
                  <a:prstClr val="black"/>
                </a:solidFill>
                <a:latin typeface="Times New Roman" pitchFamily="18" charset="0"/>
                <a:ea typeface="Calibri"/>
                <a:cs typeface="Times New Roman" pitchFamily="18" charset="0"/>
              </a:rPr>
            </a:b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Over fitting-deep networks are prone to over fitting, where they perform well on training data but generalize poorly to unseen data.</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Vanishing and exploding gradients-deep learning networks may suffer from gradients becoming too small or too large affecting training stability.</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Interpretability-understanding why deep learning models make specific predictions remains a challenge.</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67988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indent="-342900">
              <a:lnSpc>
                <a:spcPct val="115000"/>
              </a:lnSpc>
              <a:spcBef>
                <a:spcPts val="0"/>
              </a:spcBef>
              <a:spcAft>
                <a:spcPts val="1000"/>
              </a:spcAft>
            </a:pPr>
            <a:r>
              <a:rPr lang="en-US" sz="4000" b="1" dirty="0">
                <a:solidFill>
                  <a:prstClr val="black"/>
                </a:solidFill>
                <a:latin typeface="Times New Roman"/>
                <a:ea typeface="Calibri"/>
                <a:cs typeface="Times New Roman"/>
              </a:rPr>
              <a:t>Future directions</a:t>
            </a:r>
            <a:br>
              <a:rPr lang="en-US" sz="3000" dirty="0">
                <a:solidFill>
                  <a:prstClr val="black"/>
                </a:solidFill>
                <a:ea typeface="Calibri"/>
                <a:cs typeface="Times New Roman"/>
              </a:rPr>
            </a:br>
            <a:endParaRPr lang="en-US" dirty="0"/>
          </a:p>
        </p:txBody>
      </p:sp>
      <p:sp>
        <p:nvSpPr>
          <p:cNvPr id="3" name="Content Placeholder 2"/>
          <p:cNvSpPr>
            <a:spLocks noGrp="1"/>
          </p:cNvSpPr>
          <p:nvPr>
            <p:ph idx="1"/>
          </p:nvPr>
        </p:nvSpPr>
        <p:spPr>
          <a:xfrm>
            <a:off x="152400" y="1371600"/>
            <a:ext cx="8229600" cy="4572000"/>
          </a:xfrm>
        </p:spPr>
        <p:txBody>
          <a:bodyPr>
            <a:normAutofit/>
          </a:bodyPr>
          <a:lstStyle/>
          <a:p>
            <a:pPr marL="0" marR="0" indent="0">
              <a:lnSpc>
                <a:spcPct val="115000"/>
              </a:lnSpc>
              <a:spcBef>
                <a:spcPts val="0"/>
              </a:spcBef>
              <a:spcAft>
                <a:spcPts val="1000"/>
              </a:spcAft>
              <a:buNone/>
            </a:pPr>
            <a:endParaRPr lang="en-US" dirty="0">
              <a:ea typeface="Calibri"/>
              <a:cs typeface="Times New Roman"/>
            </a:endParaRP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Explainable AI-developing methods to interpret and explain the decisions made by deep learning models.</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Continual learning-enabling deep networks to adapt and learn from new data without forgetting.</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Multi-model learning-integrating information from multiple modalities (e.g. text, image, audio) to build more comprehensive AI systems.</a:t>
            </a:r>
          </a:p>
          <a:p>
            <a:endParaRPr lang="en-US" dirty="0"/>
          </a:p>
        </p:txBody>
      </p:sp>
    </p:spTree>
    <p:extLst>
      <p:ext uri="{BB962C8B-B14F-4D97-AF65-F5344CB8AC3E}">
        <p14:creationId xmlns:p14="http://schemas.microsoft.com/office/powerpoint/2010/main" val="4099188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indent="-342900">
              <a:lnSpc>
                <a:spcPct val="115000"/>
              </a:lnSpc>
              <a:spcBef>
                <a:spcPts val="0"/>
              </a:spcBef>
              <a:spcAft>
                <a:spcPts val="1000"/>
              </a:spcAft>
            </a:pPr>
            <a:r>
              <a:rPr lang="en-US" sz="4000" b="1" dirty="0">
                <a:solidFill>
                  <a:prstClr val="black"/>
                </a:solidFill>
                <a:effectLst/>
                <a:latin typeface="Times New Roman"/>
                <a:ea typeface="Calibri"/>
                <a:cs typeface="Times New Roman"/>
              </a:rPr>
              <a:t>Ethical considerations</a:t>
            </a:r>
            <a:br>
              <a:rPr lang="en-US" sz="3000" dirty="0">
                <a:solidFill>
                  <a:prstClr val="black"/>
                </a:solidFill>
                <a:effectLst/>
                <a:ea typeface="Calibri"/>
                <a:cs typeface="Times New Roman"/>
              </a:rPr>
            </a:br>
            <a:endParaRPr lang="en-US" dirty="0">
              <a:effectLst/>
            </a:endParaRPr>
          </a:p>
        </p:txBody>
      </p:sp>
      <p:sp>
        <p:nvSpPr>
          <p:cNvPr id="3" name="Content Placeholder 2"/>
          <p:cNvSpPr>
            <a:spLocks noGrp="1"/>
          </p:cNvSpPr>
          <p:nvPr>
            <p:ph idx="1"/>
          </p:nvPr>
        </p:nvSpPr>
        <p:spPr/>
        <p:txBody>
          <a:bodyPr>
            <a:normAutofit fontScale="92500" lnSpcReduction="10000"/>
          </a:bodyPr>
          <a:lstStyle/>
          <a:p>
            <a:pPr>
              <a:lnSpc>
                <a:spcPct val="115000"/>
              </a:lnSpc>
              <a:spcBef>
                <a:spcPts val="0"/>
              </a:spcBef>
              <a:spcAft>
                <a:spcPts val="1000"/>
              </a:spcAft>
            </a:pPr>
            <a:r>
              <a:rPr lang="en-US" sz="2400" dirty="0">
                <a:latin typeface="Times New Roman" pitchFamily="18" charset="0"/>
                <a:ea typeface="Calibri"/>
                <a:cs typeface="Times New Roman" pitchFamily="18" charset="0"/>
              </a:rPr>
              <a:t>Automation and job displacement-deep leaning capabilities raise concerns about job displacement and socioeconomic inequality.</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Privacy concerns models trained on sensitive data may leak private information to adversarial attacks.</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Bias and fairness- models can perpetuate biases present in training data, leading to unfair outcomes, especially in areas like hiring.</a:t>
            </a:r>
          </a:p>
          <a:p>
            <a:endParaRPr lang="en-US" dirty="0"/>
          </a:p>
        </p:txBody>
      </p:sp>
    </p:spTree>
    <p:extLst>
      <p:ext uri="{BB962C8B-B14F-4D97-AF65-F5344CB8AC3E}">
        <p14:creationId xmlns:p14="http://schemas.microsoft.com/office/powerpoint/2010/main" val="2930417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67FEB-944A-C9CE-47CF-CD862D35F1DC}"/>
              </a:ext>
            </a:extLst>
          </p:cNvPr>
          <p:cNvSpPr>
            <a:spLocks noGrp="1"/>
          </p:cNvSpPr>
          <p:nvPr>
            <p:ph type="title"/>
          </p:nvPr>
        </p:nvSpPr>
        <p:spPr/>
        <p:txBody>
          <a:bodyPr/>
          <a:lstStyle/>
          <a:p>
            <a:r>
              <a:rPr lang="en-US" dirty="0"/>
              <a:t>Generative AI Learning</a:t>
            </a:r>
          </a:p>
        </p:txBody>
      </p:sp>
      <p:sp>
        <p:nvSpPr>
          <p:cNvPr id="3" name="Content Placeholder 2">
            <a:extLst>
              <a:ext uri="{FF2B5EF4-FFF2-40B4-BE49-F238E27FC236}">
                <a16:creationId xmlns:a16="http://schemas.microsoft.com/office/drawing/2014/main" id="{8709057B-E9A0-9B24-A7A5-B67129F41B55}"/>
              </a:ext>
            </a:extLst>
          </p:cNvPr>
          <p:cNvSpPr>
            <a:spLocks noGrp="1"/>
          </p:cNvSpPr>
          <p:nvPr>
            <p:ph idx="1"/>
          </p:nvPr>
        </p:nvSpPr>
        <p:spPr/>
        <p:txBody>
          <a:bodyPr/>
          <a:lstStyle/>
          <a:p>
            <a:r>
              <a:rPr lang="en-US" dirty="0"/>
              <a:t>Supervised Learning</a:t>
            </a:r>
          </a:p>
          <a:p>
            <a:endParaRPr lang="en-US" dirty="0"/>
          </a:p>
          <a:p>
            <a:r>
              <a:rPr lang="en-US" dirty="0"/>
              <a:t>Unsupervised Learning</a:t>
            </a:r>
          </a:p>
          <a:p>
            <a:endParaRPr lang="en-US" dirty="0"/>
          </a:p>
          <a:p>
            <a:r>
              <a:rPr lang="en-US" dirty="0"/>
              <a:t>Reinforcement Learning</a:t>
            </a:r>
          </a:p>
        </p:txBody>
      </p:sp>
    </p:spTree>
    <p:extLst>
      <p:ext uri="{BB962C8B-B14F-4D97-AF65-F5344CB8AC3E}">
        <p14:creationId xmlns:p14="http://schemas.microsoft.com/office/powerpoint/2010/main" val="306866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8764-7BDC-BBF7-48C4-4F2E90788FCF}"/>
              </a:ext>
            </a:extLst>
          </p:cNvPr>
          <p:cNvSpPr>
            <a:spLocks noGrp="1"/>
          </p:cNvSpPr>
          <p:nvPr>
            <p:ph type="title"/>
          </p:nvPr>
        </p:nvSpPr>
        <p:spPr/>
        <p:txBody>
          <a:bodyPr/>
          <a:lstStyle/>
          <a:p>
            <a:r>
              <a:rPr lang="en-US" dirty="0"/>
              <a:t>Natural Language</a:t>
            </a:r>
          </a:p>
        </p:txBody>
      </p:sp>
      <p:sp>
        <p:nvSpPr>
          <p:cNvPr id="3" name="Content Placeholder 2">
            <a:extLst>
              <a:ext uri="{FF2B5EF4-FFF2-40B4-BE49-F238E27FC236}">
                <a16:creationId xmlns:a16="http://schemas.microsoft.com/office/drawing/2014/main" id="{E0F52631-FE75-5B6B-B8DB-E411B0EB6A19}"/>
              </a:ext>
            </a:extLst>
          </p:cNvPr>
          <p:cNvSpPr>
            <a:spLocks noGrp="1"/>
          </p:cNvSpPr>
          <p:nvPr>
            <p:ph idx="1"/>
          </p:nvPr>
        </p:nvSpPr>
        <p:spPr/>
        <p:txBody>
          <a:bodyPr/>
          <a:lstStyle/>
          <a:p>
            <a:r>
              <a:rPr lang="en-US" u="sng" dirty="0"/>
              <a:t>Definition;</a:t>
            </a:r>
          </a:p>
          <a:p>
            <a:r>
              <a:rPr lang="en-GB" sz="1800" dirty="0">
                <a:effectLst/>
                <a:latin typeface="Calibri" panose="020F0502020204030204" pitchFamily="34" charset="0"/>
                <a:ea typeface="Calibri" panose="020F0502020204030204" pitchFamily="34" charset="0"/>
                <a:cs typeface="Times New Roman" panose="02020603050405020304" pitchFamily="18" charset="0"/>
              </a:rPr>
              <a:t>Refers to the branch of AI that gives the machine the ability to read understand and derive meaning from human language. NLP combines the field of linguistics and Computer science to decipher language structure guidelines and to make models which can comprehend and breakdown significant details from text and speech</a:t>
            </a:r>
            <a:endParaRPr lang="en-US" u="sng" dirty="0"/>
          </a:p>
        </p:txBody>
      </p:sp>
    </p:spTree>
    <p:extLst>
      <p:ext uri="{BB962C8B-B14F-4D97-AF65-F5344CB8AC3E}">
        <p14:creationId xmlns:p14="http://schemas.microsoft.com/office/powerpoint/2010/main" val="119549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42D2A-6AA9-8239-A06D-04D45912C29B}"/>
              </a:ext>
            </a:extLst>
          </p:cNvPr>
          <p:cNvSpPr>
            <a:spLocks noGrp="1"/>
          </p:cNvSpPr>
          <p:nvPr>
            <p:ph type="title"/>
          </p:nvPr>
        </p:nvSpPr>
        <p:spPr/>
        <p:txBody>
          <a:bodyPr/>
          <a:lstStyle/>
          <a:p>
            <a:r>
              <a:rPr lang="en-US" dirty="0"/>
              <a:t>Techniques in NLP</a:t>
            </a:r>
          </a:p>
        </p:txBody>
      </p:sp>
      <p:sp>
        <p:nvSpPr>
          <p:cNvPr id="3" name="Content Placeholder 2">
            <a:extLst>
              <a:ext uri="{FF2B5EF4-FFF2-40B4-BE49-F238E27FC236}">
                <a16:creationId xmlns:a16="http://schemas.microsoft.com/office/drawing/2014/main" id="{9ECC2E42-9236-B057-430D-72A326AB88FF}"/>
              </a:ext>
            </a:extLst>
          </p:cNvPr>
          <p:cNvSpPr>
            <a:spLocks noGrp="1"/>
          </p:cNvSpPr>
          <p:nvPr>
            <p:ph idx="1"/>
          </p:nvPr>
        </p:nvSpPr>
        <p:spPr/>
        <p:txBody>
          <a:bodyPr/>
          <a:lstStyle/>
          <a:p>
            <a:r>
              <a:rPr lang="en-US" dirty="0"/>
              <a:t>Segmentation ; </a:t>
            </a: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This is breaking the entire document down into its constituent sentences.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Example of a sentence: Cricket was invented in England, supposedly by shepherds who herded their flock.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You can do this by segmenting the article along its punctuations like full stops and commas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Cricket was invented in England supposedly by shepherds who herded their flock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4008" indent="0">
              <a:buNone/>
            </a:pPr>
            <a:endParaRPr lang="en-US" dirty="0"/>
          </a:p>
        </p:txBody>
      </p:sp>
    </p:spTree>
    <p:extLst>
      <p:ext uri="{BB962C8B-B14F-4D97-AF65-F5344CB8AC3E}">
        <p14:creationId xmlns:p14="http://schemas.microsoft.com/office/powerpoint/2010/main" val="2904757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C827-062D-B58A-4D28-EEBAA3B623C7}"/>
              </a:ext>
            </a:extLst>
          </p:cNvPr>
          <p:cNvSpPr>
            <a:spLocks noGrp="1"/>
          </p:cNvSpPr>
          <p:nvPr>
            <p:ph type="title"/>
          </p:nvPr>
        </p:nvSpPr>
        <p:spPr/>
        <p:txBody>
          <a:bodyPr/>
          <a:lstStyle/>
          <a:p>
            <a:r>
              <a:rPr lang="en-US" dirty="0"/>
              <a:t>Techniques </a:t>
            </a:r>
            <a:r>
              <a:rPr lang="en-US" dirty="0" err="1"/>
              <a:t>conti</a:t>
            </a:r>
            <a:r>
              <a:rPr lang="en-US" dirty="0"/>
              <a:t>…ed</a:t>
            </a:r>
          </a:p>
        </p:txBody>
      </p:sp>
      <p:sp>
        <p:nvSpPr>
          <p:cNvPr id="3" name="Content Placeholder 2">
            <a:extLst>
              <a:ext uri="{FF2B5EF4-FFF2-40B4-BE49-F238E27FC236}">
                <a16:creationId xmlns:a16="http://schemas.microsoft.com/office/drawing/2014/main" id="{C9F4CFF3-79F3-1994-5401-A4868FE92F08}"/>
              </a:ext>
            </a:extLst>
          </p:cNvPr>
          <p:cNvSpPr>
            <a:spLocks noGrp="1"/>
          </p:cNvSpPr>
          <p:nvPr>
            <p:ph idx="1"/>
          </p:nvPr>
        </p:nvSpPr>
        <p:spPr/>
        <p:txBody>
          <a:bodyPr>
            <a:normAutofit fontScale="85000" lnSpcReduction="20000"/>
          </a:bodyPr>
          <a:lstStyle/>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Tokenization.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for the algorithm to understand this sentences, we get the words in a sentence and to explain to them individually to our algorithm. So we breakdown our sentence into its constituent words and store them this is called tokenizing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whre</a:t>
            </a:r>
            <a:r>
              <a:rPr lang="en-GB" sz="1800" dirty="0">
                <a:effectLst/>
                <a:latin typeface="Calibri" panose="020F0502020204030204" pitchFamily="34" charset="0"/>
                <a:ea typeface="Calibri" panose="020F0502020204030204" pitchFamily="34" charset="0"/>
                <a:cs typeface="Times New Roman" panose="02020603050405020304" pitchFamily="18" charset="0"/>
              </a:rPr>
              <a:t> each word is called  a token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Cricket    was     invented    in     England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Stop Words.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We can make the learning process faster by getting rid of non-essential word which do not add much meaning to our statement and are just there to make our statement sound more cohesive. These words such as; are, and, the, are called stop words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Cricket       invented         England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3329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BBDC-E479-CFC7-56C8-F20D8A3D2F9B}"/>
              </a:ext>
            </a:extLst>
          </p:cNvPr>
          <p:cNvSpPr>
            <a:spLocks noGrp="1"/>
          </p:cNvSpPr>
          <p:nvPr>
            <p:ph type="title"/>
          </p:nvPr>
        </p:nvSpPr>
        <p:spPr/>
        <p:txBody>
          <a:bodyPr/>
          <a:lstStyle/>
          <a:p>
            <a:r>
              <a:rPr lang="en-US" dirty="0"/>
              <a:t>Techniques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C0354BAB-3D0B-E552-6B04-64E3A2A99947}"/>
              </a:ext>
            </a:extLst>
          </p:cNvPr>
          <p:cNvSpPr>
            <a:spLocks noGrp="1"/>
          </p:cNvSpPr>
          <p:nvPr>
            <p:ph idx="1"/>
          </p:nvPr>
        </p:nvSpPr>
        <p:spPr/>
        <p:txBody>
          <a:bodyPr>
            <a:normAutofit fontScale="85000" lnSpcReduction="20000"/>
          </a:bodyPr>
          <a:lstStyle/>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Stemming.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Now that we have the basic form of our document, we need to explain it to our machine. We start off by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explainining</a:t>
            </a:r>
            <a:r>
              <a:rPr lang="en-GB" sz="1800" dirty="0">
                <a:effectLst/>
                <a:latin typeface="Calibri" panose="020F0502020204030204" pitchFamily="34" charset="0"/>
                <a:ea typeface="Calibri" panose="020F0502020204030204" pitchFamily="34" charset="0"/>
                <a:cs typeface="Times New Roman" panose="02020603050405020304" pitchFamily="18" charset="0"/>
              </a:rPr>
              <a:t> that some words like skipping ,skips, skips , are the same word with added prefixes and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surffixes</a:t>
            </a:r>
            <a:r>
              <a:rPr lang="en-GB" sz="1800" dirty="0">
                <a:effectLst/>
                <a:latin typeface="Calibri" panose="020F0502020204030204" pitchFamily="34" charset="0"/>
                <a:ea typeface="Calibri" panose="020F0502020204030204" pitchFamily="34" charset="0"/>
                <a:cs typeface="Times New Roman" panose="02020603050405020304" pitchFamily="18" charset="0"/>
              </a:rPr>
              <a:t> this is called stemming.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lemmatization.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dirty="0">
                <a:effectLst/>
                <a:latin typeface="Calibri" panose="020F0502020204030204" pitchFamily="34" charset="0"/>
                <a:ea typeface="Calibri" panose="020F0502020204030204" pitchFamily="34" charset="0"/>
                <a:cs typeface="Times New Roman" panose="02020603050405020304" pitchFamily="18" charset="0"/>
              </a:rPr>
              <a:t>We also identify the base words for different word tense, mood , gender etc. this is called lemmatization </a:t>
            </a: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Speech Tagging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dirty="0">
                <a:effectLst/>
                <a:latin typeface="Calibri" panose="020F0502020204030204" pitchFamily="34" charset="0"/>
                <a:ea typeface="Calibri" panose="020F0502020204030204" pitchFamily="34" charset="0"/>
                <a:cs typeface="Times New Roman" panose="02020603050405020304" pitchFamily="18" charset="0"/>
              </a:rPr>
              <a:t>Now we explain the concept of nouns, verbs articles and other part of speech to the machine .By adding these tags to our words this is called part of speech tagging</a:t>
            </a:r>
            <a:endParaRPr lang="en-US" dirty="0"/>
          </a:p>
        </p:txBody>
      </p:sp>
    </p:spTree>
    <p:extLst>
      <p:ext uri="{BB962C8B-B14F-4D97-AF65-F5344CB8AC3E}">
        <p14:creationId xmlns:p14="http://schemas.microsoft.com/office/powerpoint/2010/main" val="2605319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CBD5-9E55-31F6-4FA5-860413AB7ED6}"/>
              </a:ext>
            </a:extLst>
          </p:cNvPr>
          <p:cNvSpPr>
            <a:spLocks noGrp="1"/>
          </p:cNvSpPr>
          <p:nvPr>
            <p:ph type="title"/>
          </p:nvPr>
        </p:nvSpPr>
        <p:spPr/>
        <p:txBody>
          <a:bodyPr/>
          <a:lstStyle/>
          <a:p>
            <a:r>
              <a:rPr lang="en-US" dirty="0"/>
              <a:t>Technique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C1892F24-9C8F-696D-F0F9-F0F40F547839}"/>
              </a:ext>
            </a:extLst>
          </p:cNvPr>
          <p:cNvSpPr>
            <a:spLocks noGrp="1"/>
          </p:cNvSpPr>
          <p:nvPr>
            <p:ph idx="1"/>
          </p:nvPr>
        </p:nvSpPr>
        <p:spPr/>
        <p:txBody>
          <a:bodyPr>
            <a:normAutofit fontScale="92500" lnSpcReduction="20000"/>
          </a:bodyPr>
          <a:lstStyle/>
          <a:p>
            <a:pPr marL="0" marR="0">
              <a:lnSpc>
                <a:spcPct val="107000"/>
              </a:lnSpc>
              <a:spcBef>
                <a:spcPts val="0"/>
              </a:spcBef>
              <a:spcAft>
                <a:spcPts val="800"/>
              </a:spcAft>
            </a:pPr>
            <a:r>
              <a:rPr lang="en-GB" sz="4400" dirty="0">
                <a:effectLst/>
                <a:latin typeface="Calibri" panose="020F0502020204030204" pitchFamily="34" charset="0"/>
                <a:ea typeface="Calibri" panose="020F0502020204030204" pitchFamily="34" charset="0"/>
                <a:cs typeface="Times New Roman" panose="02020603050405020304" pitchFamily="18" charset="0"/>
              </a:rPr>
              <a:t>Named Entity tagging</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3200" dirty="0">
                <a:effectLst/>
                <a:latin typeface="Calibri" panose="020F0502020204030204" pitchFamily="34" charset="0"/>
                <a:ea typeface="Calibri" panose="020F0502020204030204" pitchFamily="34" charset="0"/>
                <a:cs typeface="Times New Roman" panose="02020603050405020304" pitchFamily="18" charset="0"/>
              </a:rPr>
              <a:t>Next we introduce our machine to pop culture references and everyday names by </a:t>
            </a:r>
            <a:r>
              <a:rPr lang="en-GB" sz="3200" dirty="0" err="1">
                <a:effectLst/>
                <a:latin typeface="Calibri" panose="020F0502020204030204" pitchFamily="34" charset="0"/>
                <a:ea typeface="Calibri" panose="020F0502020204030204" pitchFamily="34" charset="0"/>
                <a:cs typeface="Times New Roman" panose="02020603050405020304" pitchFamily="18" charset="0"/>
              </a:rPr>
              <a:t>flaging</a:t>
            </a:r>
            <a:r>
              <a:rPr lang="en-GB" sz="3200" dirty="0">
                <a:effectLst/>
                <a:latin typeface="Calibri" panose="020F0502020204030204" pitchFamily="34" charset="0"/>
                <a:ea typeface="Calibri" panose="020F0502020204030204" pitchFamily="34" charset="0"/>
                <a:cs typeface="Times New Roman" panose="02020603050405020304" pitchFamily="18" charset="0"/>
              </a:rPr>
              <a:t> names of movies important personalities or location etc that may occur in the document. This is called Named Entity tagging.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3897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201-934E-A8EA-1074-4AEA1EC63405}"/>
              </a:ext>
            </a:extLst>
          </p:cNvPr>
          <p:cNvSpPr>
            <a:spLocks noGrp="1"/>
          </p:cNvSpPr>
          <p:nvPr>
            <p:ph type="title"/>
          </p:nvPr>
        </p:nvSpPr>
        <p:spPr/>
        <p:txBody>
          <a:bodyPr/>
          <a:lstStyle/>
          <a:p>
            <a:r>
              <a:rPr lang="en-US" dirty="0"/>
              <a:t>Neural Networks</a:t>
            </a:r>
          </a:p>
        </p:txBody>
      </p:sp>
      <p:sp>
        <p:nvSpPr>
          <p:cNvPr id="3" name="Content Placeholder 2">
            <a:extLst>
              <a:ext uri="{FF2B5EF4-FFF2-40B4-BE49-F238E27FC236}">
                <a16:creationId xmlns:a16="http://schemas.microsoft.com/office/drawing/2014/main" id="{AB152262-607D-3924-F587-7411B8290D60}"/>
              </a:ext>
            </a:extLst>
          </p:cNvPr>
          <p:cNvSpPr>
            <a:spLocks noGrp="1"/>
          </p:cNvSpPr>
          <p:nvPr>
            <p:ph idx="1"/>
          </p:nvPr>
        </p:nvSpPr>
        <p:spPr/>
        <p:txBody>
          <a:bodyPr>
            <a:normAutofit fontScale="70000" lnSpcReduction="20000"/>
          </a:bodyPr>
          <a:lstStyle/>
          <a:p>
            <a:pPr marL="0" marR="0" indent="457200">
              <a:lnSpc>
                <a:spcPct val="107000"/>
              </a:lnSpc>
              <a:spcBef>
                <a:spcPts val="0"/>
              </a:spcBef>
              <a:spcAft>
                <a:spcPts val="800"/>
              </a:spcAft>
            </a:pPr>
            <a:r>
              <a:rPr lang="en-US" sz="2900" dirty="0">
                <a:effectLst/>
                <a:latin typeface="Calibri" panose="020F0502020204030204" pitchFamily="34" charset="0"/>
                <a:ea typeface="Calibri" panose="020F0502020204030204" pitchFamily="34" charset="0"/>
                <a:cs typeface="Times New Roman" panose="02020603050405020304" pitchFamily="18" charset="0"/>
              </a:rPr>
              <a:t>Neural networks is a method in AI that teaches computers to process data inspired by human brain. Neural networks consist of interconnected units or nodes, which work together to process and analyze complex</a:t>
            </a:r>
            <a:r>
              <a:rPr lang="en-US" sz="2900" dirty="0">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900" b="1"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Neural networks</a:t>
            </a:r>
            <a:r>
              <a:rPr lang="en-US" sz="2900" dirty="0">
                <a:effectLst/>
                <a:latin typeface="Calibri" panose="020F0502020204030204" pitchFamily="34" charset="0"/>
                <a:ea typeface="Calibri" panose="020F0502020204030204" pitchFamily="34" charset="0"/>
                <a:cs typeface="Times New Roman" panose="02020603050405020304" pitchFamily="18" charset="0"/>
              </a:rPr>
              <a:t> involve a series of algorithms designed to recognize patterns, interpret data, and make decisions or predictions. They are modeled loosely after the human brain’s architecture. These networks are capable of identifying underlying relationships in the data they process, enabling them to tackle tasks that are complex for traditional algorithmic approaches.</a:t>
            </a:r>
          </a:p>
        </p:txBody>
      </p:sp>
    </p:spTree>
    <p:extLst>
      <p:ext uri="{BB962C8B-B14F-4D97-AF65-F5344CB8AC3E}">
        <p14:creationId xmlns:p14="http://schemas.microsoft.com/office/powerpoint/2010/main" val="4139068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6ADD-9686-8644-19A2-D680853EC0D3}"/>
              </a:ext>
            </a:extLst>
          </p:cNvPr>
          <p:cNvSpPr>
            <a:spLocks noGrp="1"/>
          </p:cNvSpPr>
          <p:nvPr>
            <p:ph type="title"/>
          </p:nvPr>
        </p:nvSpPr>
        <p:spPr/>
        <p:txBody>
          <a:bodyPr/>
          <a:lstStyle/>
          <a:p>
            <a:r>
              <a:rPr lang="en-US" dirty="0"/>
              <a:t>Neural Networks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AD364520-DA3C-3416-9F72-9611A2B31E5B}"/>
              </a:ext>
            </a:extLst>
          </p:cNvPr>
          <p:cNvSpPr>
            <a:spLocks noGrp="1"/>
          </p:cNvSpPr>
          <p:nvPr>
            <p:ph idx="1"/>
          </p:nvPr>
        </p:nvSpPr>
        <p:spPr/>
        <p:txBody>
          <a:bodyPr>
            <a:normAutofit fontScale="40000" lnSpcReduction="20000"/>
          </a:bodyPr>
          <a:lstStyle/>
          <a:p>
            <a:pPr marL="0" marR="0">
              <a:lnSpc>
                <a:spcPct val="107000"/>
              </a:lnSpc>
              <a:spcBef>
                <a:spcPts val="0"/>
              </a:spcBef>
              <a:spcAft>
                <a:spcPts val="800"/>
              </a:spcAft>
              <a:tabLst>
                <a:tab pos="730250" algn="l"/>
              </a:tabLst>
            </a:pPr>
            <a:r>
              <a:rPr lang="en-US" sz="6600" b="1" u="wavy" dirty="0">
                <a:effectLst/>
                <a:latin typeface="Calibri" panose="020F0502020204030204" pitchFamily="34" charset="0"/>
                <a:ea typeface="Calibri" panose="020F0502020204030204" pitchFamily="34" charset="0"/>
                <a:cs typeface="Times New Roman" panose="02020603050405020304" pitchFamily="18" charset="0"/>
              </a:rPr>
              <a:t>Types of Neural Networks in Generative AI</a:t>
            </a:r>
            <a:endParaRPr lang="en-US" sz="6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Convolutional Neural Networks (CNNs)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Primarily used for image processing and analysis, CNNs excel in tasks like image classification and facial recognition.</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Transformers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Best for sequential data, such as time-series analysis or language modeling, transformers are fundamental for modern natural language processing.</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Generative Adversarial Networks (GANs)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These are used for generating new content, where two networks (generator and discriminator) work in tandem to produce highly realistic outputs</a:t>
            </a:r>
            <a:endParaRPr lang="en-US" dirty="0"/>
          </a:p>
        </p:txBody>
      </p:sp>
    </p:spTree>
    <p:extLst>
      <p:ext uri="{BB962C8B-B14F-4D97-AF65-F5344CB8AC3E}">
        <p14:creationId xmlns:p14="http://schemas.microsoft.com/office/powerpoint/2010/main" val="262554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B2FD-4BBE-D1CB-C406-CB216F0E1E9F}"/>
              </a:ext>
            </a:extLst>
          </p:cNvPr>
          <p:cNvSpPr>
            <a:spLocks noGrp="1"/>
          </p:cNvSpPr>
          <p:nvPr>
            <p:ph type="title"/>
          </p:nvPr>
        </p:nvSpPr>
        <p:spPr/>
        <p:txBody>
          <a:bodyPr>
            <a:normAutofit fontScale="90000"/>
          </a:bodyPr>
          <a:lstStyle/>
          <a:p>
            <a:r>
              <a:rPr lang="en-US" dirty="0"/>
              <a:t>GENERATIVE ADVERSARIAL NETWORKS(GANs)</a:t>
            </a:r>
            <a:br>
              <a:rPr lang="en-US" dirty="0"/>
            </a:br>
            <a:endParaRPr lang="en-US" dirty="0"/>
          </a:p>
        </p:txBody>
      </p:sp>
      <p:sp>
        <p:nvSpPr>
          <p:cNvPr id="3" name="Content Placeholder 2">
            <a:extLst>
              <a:ext uri="{FF2B5EF4-FFF2-40B4-BE49-F238E27FC236}">
                <a16:creationId xmlns:a16="http://schemas.microsoft.com/office/drawing/2014/main" id="{C9FE4CD4-AE30-FB34-D12D-A5FE8C06C6E1}"/>
              </a:ext>
            </a:extLst>
          </p:cNvPr>
          <p:cNvSpPr>
            <a:spLocks noGrp="1"/>
          </p:cNvSpPr>
          <p:nvPr>
            <p:ph idx="1"/>
          </p:nvPr>
        </p:nvSpPr>
        <p:spPr/>
        <p:txBody>
          <a:bodyPr/>
          <a:lstStyle/>
          <a:p>
            <a:r>
              <a:rPr lang="en-US" dirty="0"/>
              <a:t>Generative adversarial network consist of two models that compete with one another to analyze capture and copy the variations within a database. The two models used are discriminator and generator</a:t>
            </a:r>
          </a:p>
        </p:txBody>
      </p:sp>
    </p:spTree>
    <p:extLst>
      <p:ext uri="{BB962C8B-B14F-4D97-AF65-F5344CB8AC3E}">
        <p14:creationId xmlns:p14="http://schemas.microsoft.com/office/powerpoint/2010/main" val="2464869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78FC-E445-2399-E795-97C5A80D8518}"/>
              </a:ext>
            </a:extLst>
          </p:cNvPr>
          <p:cNvSpPr>
            <a:spLocks noGrp="1"/>
          </p:cNvSpPr>
          <p:nvPr>
            <p:ph type="title"/>
          </p:nvPr>
        </p:nvSpPr>
        <p:spPr/>
        <p:txBody>
          <a:bodyPr/>
          <a:lstStyle/>
          <a:p>
            <a:r>
              <a:rPr lang="en-US" b="1" u="sng" dirty="0"/>
              <a:t>-GENERATOR-</a:t>
            </a:r>
            <a:endParaRPr lang="en-US" dirty="0"/>
          </a:p>
        </p:txBody>
      </p:sp>
      <p:sp>
        <p:nvSpPr>
          <p:cNvPr id="3" name="Content Placeholder 2">
            <a:extLst>
              <a:ext uri="{FF2B5EF4-FFF2-40B4-BE49-F238E27FC236}">
                <a16:creationId xmlns:a16="http://schemas.microsoft.com/office/drawing/2014/main" id="{8C9E771E-ADF5-EA30-CE50-3A8589706100}"/>
              </a:ext>
            </a:extLst>
          </p:cNvPr>
          <p:cNvSpPr>
            <a:spLocks noGrp="1"/>
          </p:cNvSpPr>
          <p:nvPr>
            <p:ph idx="1"/>
          </p:nvPr>
        </p:nvSpPr>
        <p:spPr/>
        <p:txBody>
          <a:bodyPr>
            <a:normAutofit/>
          </a:bodyPr>
          <a:lstStyle/>
          <a:p>
            <a:pPr lvl="0"/>
            <a:r>
              <a:rPr lang="en-US" dirty="0"/>
              <a:t>It learns to create fake data by interpreting feedback from the discriminator.</a:t>
            </a:r>
          </a:p>
          <a:p>
            <a:pPr lvl="0"/>
            <a:r>
              <a:rPr lang="en-US" dirty="0"/>
              <a:t>The system generates newer, improved versions of fake data values until the predicting network can no longer distinguish fake from original.</a:t>
            </a:r>
          </a:p>
          <a:p>
            <a:pPr lvl="0"/>
            <a:r>
              <a:rPr lang="en-US" dirty="0"/>
              <a:t>The main aim of the generator is to make the discriminator to classify its output as real.</a:t>
            </a:r>
          </a:p>
          <a:p>
            <a:endParaRPr lang="en-US" dirty="0"/>
          </a:p>
        </p:txBody>
      </p:sp>
    </p:spTree>
    <p:extLst>
      <p:ext uri="{BB962C8B-B14F-4D97-AF65-F5344CB8AC3E}">
        <p14:creationId xmlns:p14="http://schemas.microsoft.com/office/powerpoint/2010/main" val="3624361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0C3D-D4E8-E6D2-CF4C-74EB6F7D34A0}"/>
              </a:ext>
            </a:extLst>
          </p:cNvPr>
          <p:cNvSpPr>
            <a:spLocks noGrp="1"/>
          </p:cNvSpPr>
          <p:nvPr>
            <p:ph type="title"/>
          </p:nvPr>
        </p:nvSpPr>
        <p:spPr/>
        <p:txBody>
          <a:bodyPr/>
          <a:lstStyle/>
          <a:p>
            <a:r>
              <a:rPr lang="en-US" dirty="0"/>
              <a:t>-</a:t>
            </a:r>
            <a:r>
              <a:rPr lang="en-US" b="1" u="sng" dirty="0"/>
              <a:t>DISCRIMINATOR-</a:t>
            </a:r>
            <a:endParaRPr lang="en-US" dirty="0"/>
          </a:p>
        </p:txBody>
      </p:sp>
      <p:sp>
        <p:nvSpPr>
          <p:cNvPr id="3" name="Content Placeholder 2">
            <a:extLst>
              <a:ext uri="{FF2B5EF4-FFF2-40B4-BE49-F238E27FC236}">
                <a16:creationId xmlns:a16="http://schemas.microsoft.com/office/drawing/2014/main" id="{4AC3EE02-C133-4176-8909-9DDA1CBCBCA8}"/>
              </a:ext>
            </a:extLst>
          </p:cNvPr>
          <p:cNvSpPr>
            <a:spLocks noGrp="1"/>
          </p:cNvSpPr>
          <p:nvPr>
            <p:ph idx="1"/>
          </p:nvPr>
        </p:nvSpPr>
        <p:spPr/>
        <p:txBody>
          <a:bodyPr/>
          <a:lstStyle/>
          <a:p>
            <a:r>
              <a:rPr lang="en-US" dirty="0"/>
              <a:t>Is a classifier that identifiers real data from data created by the generator.</a:t>
            </a:r>
          </a:p>
          <a:p>
            <a:endParaRPr lang="en-US" dirty="0"/>
          </a:p>
          <a:p>
            <a:endParaRPr lang="en-US" dirty="0"/>
          </a:p>
        </p:txBody>
      </p:sp>
    </p:spTree>
    <p:extLst>
      <p:ext uri="{BB962C8B-B14F-4D97-AF65-F5344CB8AC3E}">
        <p14:creationId xmlns:p14="http://schemas.microsoft.com/office/powerpoint/2010/main" val="2651710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4A44-26EE-06BC-8511-CB9CDB01AA79}"/>
              </a:ext>
            </a:extLst>
          </p:cNvPr>
          <p:cNvSpPr>
            <a:spLocks noGrp="1"/>
          </p:cNvSpPr>
          <p:nvPr>
            <p:ph type="title"/>
          </p:nvPr>
        </p:nvSpPr>
        <p:spPr/>
        <p:txBody>
          <a:bodyPr/>
          <a:lstStyle/>
          <a:p>
            <a:r>
              <a:rPr lang="en-US" dirty="0"/>
              <a:t>Application of GANs</a:t>
            </a:r>
          </a:p>
        </p:txBody>
      </p:sp>
      <p:sp>
        <p:nvSpPr>
          <p:cNvPr id="3" name="Content Placeholder 2">
            <a:extLst>
              <a:ext uri="{FF2B5EF4-FFF2-40B4-BE49-F238E27FC236}">
                <a16:creationId xmlns:a16="http://schemas.microsoft.com/office/drawing/2014/main" id="{21B5A314-0B9C-875C-8440-B19BEAF0046F}"/>
              </a:ext>
            </a:extLst>
          </p:cNvPr>
          <p:cNvSpPr>
            <a:spLocks noGrp="1"/>
          </p:cNvSpPr>
          <p:nvPr>
            <p:ph idx="1"/>
          </p:nvPr>
        </p:nvSpPr>
        <p:spPr/>
        <p:txBody>
          <a:bodyPr/>
          <a:lstStyle/>
          <a:p>
            <a:r>
              <a:rPr lang="en-US" b="1" dirty="0"/>
              <a:t>Generate images</a:t>
            </a:r>
            <a:endParaRPr lang="en-US" dirty="0"/>
          </a:p>
          <a:p>
            <a:r>
              <a:rPr lang="en-US" dirty="0"/>
              <a:t>Generative adversarial networks create realistic images through text-based prompts or by modifying existing images.</a:t>
            </a:r>
          </a:p>
          <a:p>
            <a:r>
              <a:rPr lang="en-US" dirty="0"/>
              <a:t>They can help create realistic and immersive visual experiences in video games and digital entertainment.</a:t>
            </a:r>
          </a:p>
          <a:p>
            <a:endParaRPr lang="en-US" dirty="0"/>
          </a:p>
        </p:txBody>
      </p:sp>
    </p:spTree>
    <p:extLst>
      <p:ext uri="{BB962C8B-B14F-4D97-AF65-F5344CB8AC3E}">
        <p14:creationId xmlns:p14="http://schemas.microsoft.com/office/powerpoint/2010/main" val="2635922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04E44-9704-814D-8827-CBDBB3FB6B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73C892-04F4-CD1D-D0F2-48CDA337B0F4}"/>
              </a:ext>
            </a:extLst>
          </p:cNvPr>
          <p:cNvSpPr>
            <a:spLocks noGrp="1"/>
          </p:cNvSpPr>
          <p:nvPr>
            <p:ph idx="1"/>
          </p:nvPr>
        </p:nvSpPr>
        <p:spPr/>
        <p:txBody>
          <a:bodyPr/>
          <a:lstStyle/>
          <a:p>
            <a:r>
              <a:rPr lang="en-US" b="1" dirty="0"/>
              <a:t>Generate 3D models from 2D data</a:t>
            </a:r>
            <a:endParaRPr lang="en-US" dirty="0"/>
          </a:p>
          <a:p>
            <a:r>
              <a:rPr lang="en-US" dirty="0"/>
              <a:t>GAN can generate 3D models from 2D photos or scanned images. </a:t>
            </a:r>
          </a:p>
          <a:p>
            <a:r>
              <a:rPr lang="en-US" dirty="0"/>
              <a:t>For instance, in healthcare, GAN combines X-rays and other body scans to create realistic images of organs for surgical planning and simulation.</a:t>
            </a:r>
          </a:p>
          <a:p>
            <a:endParaRPr lang="en-US" dirty="0"/>
          </a:p>
        </p:txBody>
      </p:sp>
    </p:spTree>
    <p:extLst>
      <p:ext uri="{BB962C8B-B14F-4D97-AF65-F5344CB8AC3E}">
        <p14:creationId xmlns:p14="http://schemas.microsoft.com/office/powerpoint/2010/main" val="4280376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F369-8D73-36D8-D9A4-E8E9AB8C0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B08EC4-F6C0-FCAB-C3EF-EBF94026D4D0}"/>
              </a:ext>
            </a:extLst>
          </p:cNvPr>
          <p:cNvSpPr>
            <a:spLocks noGrp="1"/>
          </p:cNvSpPr>
          <p:nvPr>
            <p:ph idx="1"/>
          </p:nvPr>
        </p:nvSpPr>
        <p:spPr/>
        <p:txBody>
          <a:bodyPr>
            <a:normAutofit/>
          </a:bodyPr>
          <a:lstStyle/>
          <a:p>
            <a:r>
              <a:rPr lang="en-US" b="1" dirty="0"/>
              <a:t>Complete missing information</a:t>
            </a:r>
            <a:endParaRPr lang="en-US" dirty="0"/>
          </a:p>
          <a:p>
            <a:r>
              <a:rPr lang="en-US" dirty="0"/>
              <a:t>Sometimes, you may want the generative model to accurately guess and complete some missing information in a dataset.</a:t>
            </a:r>
          </a:p>
          <a:p>
            <a:r>
              <a:rPr lang="en-US" dirty="0"/>
              <a:t>For instance, you can train GAN to generate images of the surface below ground (sub-surface) by understanding the correlation between surface data and underground structures. </a:t>
            </a:r>
          </a:p>
          <a:p>
            <a:endParaRPr lang="en-US" dirty="0"/>
          </a:p>
        </p:txBody>
      </p:sp>
    </p:spTree>
    <p:extLst>
      <p:ext uri="{BB962C8B-B14F-4D97-AF65-F5344CB8AC3E}">
        <p14:creationId xmlns:p14="http://schemas.microsoft.com/office/powerpoint/2010/main" val="159897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77F7-596D-ADA0-64CE-BFE1C061EAA4}"/>
              </a:ext>
            </a:extLst>
          </p:cNvPr>
          <p:cNvSpPr>
            <a:spLocks noGrp="1"/>
          </p:cNvSpPr>
          <p:nvPr>
            <p:ph type="title"/>
          </p:nvPr>
        </p:nvSpPr>
        <p:spPr/>
        <p:txBody>
          <a:bodyPr/>
          <a:lstStyle/>
          <a:p>
            <a:r>
              <a:rPr lang="en-US" b="1" dirty="0"/>
              <a:t>How it Works.</a:t>
            </a:r>
          </a:p>
        </p:txBody>
      </p:sp>
      <p:sp>
        <p:nvSpPr>
          <p:cNvPr id="3" name="Content Placeholder 2">
            <a:extLst>
              <a:ext uri="{FF2B5EF4-FFF2-40B4-BE49-F238E27FC236}">
                <a16:creationId xmlns:a16="http://schemas.microsoft.com/office/drawing/2014/main" id="{809C3063-7BB3-4701-AC38-A4F28D84028E}"/>
              </a:ext>
            </a:extLst>
          </p:cNvPr>
          <p:cNvSpPr>
            <a:spLocks noGrp="1"/>
          </p:cNvSpPr>
          <p:nvPr>
            <p:ph idx="1"/>
          </p:nvPr>
        </p:nvSpPr>
        <p:spPr/>
        <p:txBody>
          <a:bodyPr>
            <a:normAutofit/>
          </a:bodyPr>
          <a:lstStyle/>
          <a:p>
            <a:r>
              <a:rPr lang="en-US" dirty="0"/>
              <a:t>The generator neural network analyzes the training set and identifies data attributes.</a:t>
            </a:r>
          </a:p>
          <a:p>
            <a:r>
              <a:rPr lang="en-US" dirty="0"/>
              <a:t>The discriminator neural network also analyzes the initial training data and distinguishes between the attributes independently.</a:t>
            </a:r>
          </a:p>
          <a:p>
            <a:r>
              <a:rPr lang="en-US" dirty="0"/>
              <a:t>The generator modifies some data attributes by adding noise (or random changes) to certain attributes.</a:t>
            </a:r>
          </a:p>
        </p:txBody>
      </p:sp>
    </p:spTree>
    <p:extLst>
      <p:ext uri="{BB962C8B-B14F-4D97-AF65-F5344CB8AC3E}">
        <p14:creationId xmlns:p14="http://schemas.microsoft.com/office/powerpoint/2010/main" val="1157870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D7249-BB2F-6B3A-9DE6-07322810A1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1853D9-ABA1-1247-E2C5-46BECE2C42C4}"/>
              </a:ext>
            </a:extLst>
          </p:cNvPr>
          <p:cNvSpPr>
            <a:spLocks noGrp="1"/>
          </p:cNvSpPr>
          <p:nvPr>
            <p:ph idx="1"/>
          </p:nvPr>
        </p:nvSpPr>
        <p:spPr/>
        <p:txBody>
          <a:bodyPr/>
          <a:lstStyle/>
          <a:p>
            <a:r>
              <a:rPr lang="en-US" dirty="0"/>
              <a:t>The generator passes the modified data to the discriminator.</a:t>
            </a:r>
          </a:p>
          <a:p>
            <a:r>
              <a:rPr lang="en-US" dirty="0"/>
              <a:t>The discriminator calculates the probability that the generated output belongs to the original dataset.</a:t>
            </a:r>
          </a:p>
          <a:p>
            <a:r>
              <a:rPr lang="en-US" dirty="0"/>
              <a:t>The discriminator gives some guidance to the generator to reduce the noise vector randomization in the next cycle.</a:t>
            </a:r>
          </a:p>
          <a:p>
            <a:endParaRPr lang="en-US" dirty="0"/>
          </a:p>
        </p:txBody>
      </p:sp>
    </p:spTree>
    <p:extLst>
      <p:ext uri="{BB962C8B-B14F-4D97-AF65-F5344CB8AC3E}">
        <p14:creationId xmlns:p14="http://schemas.microsoft.com/office/powerpoint/2010/main" val="773849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3239-DB68-F71F-FD45-53A26CDF67E4}"/>
              </a:ext>
            </a:extLst>
          </p:cNvPr>
          <p:cNvSpPr>
            <a:spLocks noGrp="1"/>
          </p:cNvSpPr>
          <p:nvPr>
            <p:ph type="title"/>
          </p:nvPr>
        </p:nvSpPr>
        <p:spPr/>
        <p:txBody>
          <a:bodyPr/>
          <a:lstStyle/>
          <a:p>
            <a:r>
              <a:rPr lang="en-US" b="1" dirty="0"/>
              <a:t>Types of GANs</a:t>
            </a:r>
          </a:p>
        </p:txBody>
      </p:sp>
      <p:sp>
        <p:nvSpPr>
          <p:cNvPr id="3" name="Content Placeholder 2">
            <a:extLst>
              <a:ext uri="{FF2B5EF4-FFF2-40B4-BE49-F238E27FC236}">
                <a16:creationId xmlns:a16="http://schemas.microsoft.com/office/drawing/2014/main" id="{2E39419E-547B-6371-572A-95A868481D20}"/>
              </a:ext>
            </a:extLst>
          </p:cNvPr>
          <p:cNvSpPr>
            <a:spLocks noGrp="1"/>
          </p:cNvSpPr>
          <p:nvPr>
            <p:ph idx="1"/>
          </p:nvPr>
        </p:nvSpPr>
        <p:spPr/>
        <p:txBody>
          <a:bodyPr/>
          <a:lstStyle/>
          <a:p>
            <a:r>
              <a:rPr lang="en-US" b="1" dirty="0"/>
              <a:t>Super-resolution GAN</a:t>
            </a:r>
            <a:endParaRPr lang="en-US" dirty="0"/>
          </a:p>
          <a:p>
            <a:r>
              <a:rPr lang="en-US" dirty="0"/>
              <a:t>Super-resolution GANS (SRGANs) focus on upscaling low-resolution images to high resolution. </a:t>
            </a:r>
          </a:p>
          <a:p>
            <a:r>
              <a:rPr lang="en-US" dirty="0"/>
              <a:t>The goal is to enhance images to a higher resolution while maintaining image quality and det</a:t>
            </a:r>
          </a:p>
          <a:p>
            <a:endParaRPr lang="en-US" dirty="0"/>
          </a:p>
        </p:txBody>
      </p:sp>
    </p:spTree>
    <p:extLst>
      <p:ext uri="{BB962C8B-B14F-4D97-AF65-F5344CB8AC3E}">
        <p14:creationId xmlns:p14="http://schemas.microsoft.com/office/powerpoint/2010/main" val="3158851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70451-5578-C1C9-C5CF-20855C559103}"/>
              </a:ext>
            </a:extLst>
          </p:cNvPr>
          <p:cNvSpPr>
            <a:spLocks noGrp="1"/>
          </p:cNvSpPr>
          <p:nvPr>
            <p:ph type="title"/>
          </p:nvPr>
        </p:nvSpPr>
        <p:spPr/>
        <p:txBody>
          <a:bodyPr/>
          <a:lstStyle/>
          <a:p>
            <a:r>
              <a:rPr lang="en-US" b="1" dirty="0"/>
              <a:t>Conditional GAN</a:t>
            </a:r>
          </a:p>
        </p:txBody>
      </p:sp>
      <p:sp>
        <p:nvSpPr>
          <p:cNvPr id="3" name="Content Placeholder 2">
            <a:extLst>
              <a:ext uri="{FF2B5EF4-FFF2-40B4-BE49-F238E27FC236}">
                <a16:creationId xmlns:a16="http://schemas.microsoft.com/office/drawing/2014/main" id="{0A82149F-7504-015D-6BB9-4849DE837395}"/>
              </a:ext>
            </a:extLst>
          </p:cNvPr>
          <p:cNvSpPr>
            <a:spLocks noGrp="1"/>
          </p:cNvSpPr>
          <p:nvPr>
            <p:ph idx="1"/>
          </p:nvPr>
        </p:nvSpPr>
        <p:spPr/>
        <p:txBody>
          <a:bodyPr/>
          <a:lstStyle/>
          <a:p>
            <a:r>
              <a:rPr lang="en-US" dirty="0"/>
              <a:t>A conditional GAN (CGAN) introduces the concept of conditionality, allowing for targeted data generation.</a:t>
            </a:r>
          </a:p>
          <a:p>
            <a:r>
              <a:rPr lang="en-US" dirty="0"/>
              <a:t>The generator and discriminator receive additional information, typically as class labels or some other form of conditioning </a:t>
            </a:r>
          </a:p>
          <a:p>
            <a:endParaRPr lang="en-US" dirty="0"/>
          </a:p>
        </p:txBody>
      </p:sp>
    </p:spTree>
    <p:extLst>
      <p:ext uri="{BB962C8B-B14F-4D97-AF65-F5344CB8AC3E}">
        <p14:creationId xmlns:p14="http://schemas.microsoft.com/office/powerpoint/2010/main" val="1681808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324AB-C1EE-822D-9B3A-094E4EA6278C}"/>
              </a:ext>
            </a:extLst>
          </p:cNvPr>
          <p:cNvSpPr>
            <a:spLocks noGrp="1"/>
          </p:cNvSpPr>
          <p:nvPr>
            <p:ph type="title"/>
          </p:nvPr>
        </p:nvSpPr>
        <p:spPr/>
        <p:txBody>
          <a:bodyPr/>
          <a:lstStyle/>
          <a:p>
            <a:r>
              <a:rPr lang="en-US" b="1" dirty="0"/>
              <a:t>Vanilla GAN</a:t>
            </a:r>
          </a:p>
        </p:txBody>
      </p:sp>
      <p:sp>
        <p:nvSpPr>
          <p:cNvPr id="3" name="Content Placeholder 2">
            <a:extLst>
              <a:ext uri="{FF2B5EF4-FFF2-40B4-BE49-F238E27FC236}">
                <a16:creationId xmlns:a16="http://schemas.microsoft.com/office/drawing/2014/main" id="{2E0B5EED-EA16-2738-9D33-A02E080CB421}"/>
              </a:ext>
            </a:extLst>
          </p:cNvPr>
          <p:cNvSpPr>
            <a:spLocks noGrp="1"/>
          </p:cNvSpPr>
          <p:nvPr>
            <p:ph idx="1"/>
          </p:nvPr>
        </p:nvSpPr>
        <p:spPr/>
        <p:txBody>
          <a:bodyPr>
            <a:normAutofit/>
          </a:bodyPr>
          <a:lstStyle/>
          <a:p>
            <a:r>
              <a:rPr lang="en-US" dirty="0"/>
              <a:t>This is the basic GAN model that generates data variation with little or no feedback from the discriminator network. </a:t>
            </a:r>
          </a:p>
          <a:p>
            <a:r>
              <a:rPr lang="en-US" dirty="0"/>
              <a:t>A vanilla GAN typically requires enhancements for most real-world use cases.</a:t>
            </a:r>
          </a:p>
          <a:p>
            <a:pPr marL="0" indent="0">
              <a:buNone/>
            </a:pPr>
            <a:endParaRPr lang="en-US" dirty="0"/>
          </a:p>
          <a:p>
            <a:r>
              <a:rPr lang="en-US" dirty="0"/>
              <a:t>A good example of GAN is </a:t>
            </a:r>
            <a:r>
              <a:rPr lang="en-US" u="sng" dirty="0"/>
              <a:t>thispersondoesnotexist.com.</a:t>
            </a:r>
          </a:p>
          <a:p>
            <a:endParaRPr lang="en-US" dirty="0"/>
          </a:p>
        </p:txBody>
      </p:sp>
    </p:spTree>
    <p:extLst>
      <p:ext uri="{BB962C8B-B14F-4D97-AF65-F5344CB8AC3E}">
        <p14:creationId xmlns:p14="http://schemas.microsoft.com/office/powerpoint/2010/main" val="428589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47DA9-E603-99E2-1C77-1E460C111A48}"/>
              </a:ext>
            </a:extLst>
          </p:cNvPr>
          <p:cNvSpPr>
            <a:spLocks noGrp="1"/>
          </p:cNvSpPr>
          <p:nvPr>
            <p:ph type="title"/>
          </p:nvPr>
        </p:nvSpPr>
        <p:spPr/>
        <p:txBody>
          <a:bodyPr/>
          <a:lstStyle/>
          <a:p>
            <a:r>
              <a:rPr lang="en-US" b="1" dirty="0"/>
              <a:t>Generative AI tools</a:t>
            </a:r>
          </a:p>
        </p:txBody>
      </p:sp>
      <p:sp>
        <p:nvSpPr>
          <p:cNvPr id="3" name="Content Placeholder 2">
            <a:extLst>
              <a:ext uri="{FF2B5EF4-FFF2-40B4-BE49-F238E27FC236}">
                <a16:creationId xmlns:a16="http://schemas.microsoft.com/office/drawing/2014/main" id="{91A2818B-9B72-4B97-302C-B403EB026B65}"/>
              </a:ext>
            </a:extLst>
          </p:cNvPr>
          <p:cNvSpPr>
            <a:spLocks noGrp="1"/>
          </p:cNvSpPr>
          <p:nvPr>
            <p:ph idx="1"/>
          </p:nvPr>
        </p:nvSpPr>
        <p:spPr/>
        <p:txBody>
          <a:bodyPr>
            <a:normAutofit lnSpcReduction="10000"/>
          </a:bodyPr>
          <a:lstStyle/>
          <a:p>
            <a:r>
              <a:rPr lang="en-US" sz="3600" b="1" dirty="0"/>
              <a:t>What is Generative AI ?</a:t>
            </a:r>
          </a:p>
          <a:p>
            <a:r>
              <a:rPr lang="en-US" dirty="0"/>
              <a:t>software programs that can create new content such as text, images, music based on patterns learned from existing data.</a:t>
            </a:r>
          </a:p>
          <a:p>
            <a:r>
              <a:rPr lang="en-US" dirty="0"/>
              <a:t>operate by employing advanced machine learning techniques, often deep learning models such as generative adversarial networks (GANs) or variational autoencoders (VAEs). </a:t>
            </a:r>
          </a:p>
          <a:p>
            <a:endParaRPr lang="en-US" dirty="0"/>
          </a:p>
        </p:txBody>
      </p:sp>
    </p:spTree>
    <p:extLst>
      <p:ext uri="{BB962C8B-B14F-4D97-AF65-F5344CB8AC3E}">
        <p14:creationId xmlns:p14="http://schemas.microsoft.com/office/powerpoint/2010/main" val="700129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16D9-E26C-C64F-A373-B3126ECB6F72}"/>
              </a:ext>
            </a:extLst>
          </p:cNvPr>
          <p:cNvSpPr>
            <a:spLocks noGrp="1"/>
          </p:cNvSpPr>
          <p:nvPr>
            <p:ph type="title"/>
          </p:nvPr>
        </p:nvSpPr>
        <p:spPr/>
        <p:txBody>
          <a:bodyPr/>
          <a:lstStyle/>
          <a:p>
            <a:r>
              <a:rPr lang="en-US" b="1" dirty="0"/>
              <a:t>Examples of AI tools</a:t>
            </a:r>
          </a:p>
        </p:txBody>
      </p:sp>
      <p:sp>
        <p:nvSpPr>
          <p:cNvPr id="3" name="Content Placeholder 2">
            <a:extLst>
              <a:ext uri="{FF2B5EF4-FFF2-40B4-BE49-F238E27FC236}">
                <a16:creationId xmlns:a16="http://schemas.microsoft.com/office/drawing/2014/main" id="{EA896D35-984D-7DFE-68BF-86B4003B6527}"/>
              </a:ext>
            </a:extLst>
          </p:cNvPr>
          <p:cNvSpPr>
            <a:spLocks noGrp="1"/>
          </p:cNvSpPr>
          <p:nvPr>
            <p:ph idx="1"/>
          </p:nvPr>
        </p:nvSpPr>
        <p:spPr/>
        <p:txBody>
          <a:bodyPr/>
          <a:lstStyle/>
          <a:p>
            <a:r>
              <a:rPr lang="en-US" dirty="0"/>
              <a:t>ChatGPT </a:t>
            </a:r>
          </a:p>
          <a:p>
            <a:r>
              <a:rPr lang="en-US" dirty="0"/>
              <a:t>GitHub Copilot</a:t>
            </a:r>
          </a:p>
          <a:p>
            <a:r>
              <a:rPr lang="en-US" dirty="0" err="1"/>
              <a:t>Synthesia</a:t>
            </a:r>
            <a:endParaRPr lang="en-US" dirty="0"/>
          </a:p>
          <a:p>
            <a:r>
              <a:rPr lang="en-US" dirty="0" err="1"/>
              <a:t>DeepDream</a:t>
            </a:r>
            <a:r>
              <a:rPr lang="en-US" dirty="0"/>
              <a:t>-; developed by Google, uses convolutional neural networks to generate images.</a:t>
            </a:r>
          </a:p>
          <a:p>
            <a:r>
              <a:rPr lang="en-US" dirty="0"/>
              <a:t>Other examples include; Siri and Google Assistant</a:t>
            </a:r>
          </a:p>
        </p:txBody>
      </p:sp>
    </p:spTree>
    <p:extLst>
      <p:ext uri="{BB962C8B-B14F-4D97-AF65-F5344CB8AC3E}">
        <p14:creationId xmlns:p14="http://schemas.microsoft.com/office/powerpoint/2010/main" val="1641012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D8294-31F5-CF97-F634-7D4D1A8B3ACD}"/>
              </a:ext>
            </a:extLst>
          </p:cNvPr>
          <p:cNvSpPr>
            <a:spLocks noGrp="1"/>
          </p:cNvSpPr>
          <p:nvPr>
            <p:ph type="title"/>
          </p:nvPr>
        </p:nvSpPr>
        <p:spPr/>
        <p:txBody>
          <a:bodyPr/>
          <a:lstStyle/>
          <a:p>
            <a:r>
              <a:rPr lang="en-US" b="1" dirty="0"/>
              <a:t>Models of </a:t>
            </a:r>
            <a:r>
              <a:rPr lang="en-US" b="1" dirty="0" err="1"/>
              <a:t>GenAI</a:t>
            </a:r>
            <a:r>
              <a:rPr lang="en-US" b="1" dirty="0"/>
              <a:t> tools.</a:t>
            </a:r>
          </a:p>
        </p:txBody>
      </p:sp>
      <p:sp>
        <p:nvSpPr>
          <p:cNvPr id="3" name="Content Placeholder 2">
            <a:extLst>
              <a:ext uri="{FF2B5EF4-FFF2-40B4-BE49-F238E27FC236}">
                <a16:creationId xmlns:a16="http://schemas.microsoft.com/office/drawing/2014/main" id="{2795A5E2-B672-EF51-6784-56457E80C322}"/>
              </a:ext>
            </a:extLst>
          </p:cNvPr>
          <p:cNvSpPr>
            <a:spLocks noGrp="1"/>
          </p:cNvSpPr>
          <p:nvPr>
            <p:ph idx="1"/>
          </p:nvPr>
        </p:nvSpPr>
        <p:spPr/>
        <p:txBody>
          <a:bodyPr>
            <a:normAutofit fontScale="92500" lnSpcReduction="10000"/>
          </a:bodyPr>
          <a:lstStyle/>
          <a:p>
            <a:r>
              <a:rPr lang="en-US" dirty="0"/>
              <a:t>Image Generation models-</a:t>
            </a:r>
          </a:p>
          <a:p>
            <a:r>
              <a:rPr lang="en-US" dirty="0"/>
              <a:t>i.e. deep learning models like (GANs) and (VAEs) , e</a:t>
            </a:r>
          </a:p>
          <a:p>
            <a:r>
              <a:rPr lang="en-US" dirty="0"/>
              <a:t>Text Generation models</a:t>
            </a:r>
          </a:p>
          <a:p>
            <a:pPr lvl="0"/>
            <a:r>
              <a:rPr lang="en-US" dirty="0"/>
              <a:t>i.e. </a:t>
            </a:r>
            <a:r>
              <a:rPr lang="en-US" dirty="0" err="1"/>
              <a:t>OpenAIs</a:t>
            </a:r>
            <a:r>
              <a:rPr lang="en-US" dirty="0"/>
              <a:t> GPT (Generative Pre-trained Transformer), examples include chatbots, code generation.</a:t>
            </a:r>
          </a:p>
          <a:p>
            <a:r>
              <a:rPr lang="en-US" dirty="0"/>
              <a:t>Music Generation systems</a:t>
            </a:r>
          </a:p>
          <a:p>
            <a:pPr lvl="0"/>
            <a:r>
              <a:rPr lang="en-US" dirty="0"/>
              <a:t>.Examples include magenta studio- developed by Google’s magenta project, </a:t>
            </a:r>
            <a:r>
              <a:rPr lang="en-US" dirty="0" err="1"/>
              <a:t>Jukedeck</a:t>
            </a:r>
            <a:endParaRPr lang="en-US" dirty="0"/>
          </a:p>
          <a:p>
            <a:endParaRPr lang="en-US" dirty="0"/>
          </a:p>
        </p:txBody>
      </p:sp>
    </p:spTree>
    <p:extLst>
      <p:ext uri="{BB962C8B-B14F-4D97-AF65-F5344CB8AC3E}">
        <p14:creationId xmlns:p14="http://schemas.microsoft.com/office/powerpoint/2010/main" val="3189096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5948-2A13-D904-C566-26333BB42290}"/>
              </a:ext>
            </a:extLst>
          </p:cNvPr>
          <p:cNvSpPr>
            <a:spLocks noGrp="1"/>
          </p:cNvSpPr>
          <p:nvPr>
            <p:ph type="title"/>
          </p:nvPr>
        </p:nvSpPr>
        <p:spPr/>
        <p:txBody>
          <a:bodyPr/>
          <a:lstStyle/>
          <a:p>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AF52A410-BCDC-1C93-8FE8-F4AA7513E32E}"/>
              </a:ext>
            </a:extLst>
          </p:cNvPr>
          <p:cNvSpPr>
            <a:spLocks noGrp="1"/>
          </p:cNvSpPr>
          <p:nvPr>
            <p:ph idx="1"/>
          </p:nvPr>
        </p:nvSpPr>
        <p:spPr/>
        <p:txBody>
          <a:bodyPr>
            <a:normAutofit fontScale="85000" lnSpcReduction="20000"/>
          </a:bodyPr>
          <a:lstStyle/>
          <a:p>
            <a:r>
              <a:rPr lang="en-US" dirty="0"/>
              <a:t>Art generation Algorithms-; tools like style transfer algorithms. Video synthesis models</a:t>
            </a:r>
          </a:p>
          <a:p>
            <a:pPr lvl="0"/>
            <a:r>
              <a:rPr lang="en-US" dirty="0"/>
              <a:t>include deep motion, runway ML</a:t>
            </a:r>
          </a:p>
          <a:p>
            <a:pPr lvl="0"/>
            <a:r>
              <a:rPr lang="en-US" dirty="0"/>
              <a:t>Game content generation-; </a:t>
            </a:r>
          </a:p>
          <a:p>
            <a:pPr lvl="0"/>
            <a:r>
              <a:rPr lang="en-US" dirty="0"/>
              <a:t>Examples include Houdini- 3D animation and visual effects, No Man’s sky.</a:t>
            </a:r>
          </a:p>
          <a:p>
            <a:pPr lvl="0"/>
            <a:r>
              <a:rPr lang="en-US" dirty="0"/>
              <a:t>Design and creativity-; examples- Canva uses smart templates and automatic design, Prisma applies artistic filters to photos using neural networks</a:t>
            </a:r>
          </a:p>
          <a:p>
            <a:pPr marL="0" lvl="0" indent="0">
              <a:buNone/>
            </a:pPr>
            <a:r>
              <a:rPr lang="en-US" dirty="0"/>
              <a:t> </a:t>
            </a:r>
          </a:p>
          <a:p>
            <a:endParaRPr lang="en-US" dirty="0"/>
          </a:p>
        </p:txBody>
      </p:sp>
    </p:spTree>
    <p:extLst>
      <p:ext uri="{BB962C8B-B14F-4D97-AF65-F5344CB8AC3E}">
        <p14:creationId xmlns:p14="http://schemas.microsoft.com/office/powerpoint/2010/main" val="7529791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FD46-5E3E-A65A-13FA-345C97897ACB}"/>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A9975D46-EAD5-13DF-62AC-B0AEAB8C8247}"/>
              </a:ext>
            </a:extLst>
          </p:cNvPr>
          <p:cNvSpPr>
            <a:spLocks noGrp="1"/>
          </p:cNvSpPr>
          <p:nvPr>
            <p:ph idx="1"/>
          </p:nvPr>
        </p:nvSpPr>
        <p:spPr/>
        <p:txBody>
          <a:bodyPr/>
          <a:lstStyle/>
          <a:p>
            <a:r>
              <a:rPr lang="en-US" dirty="0"/>
              <a:t>Generative AI tools represent a significant advancement in artificial intelligence</a:t>
            </a:r>
          </a:p>
          <a:p>
            <a:r>
              <a:rPr lang="en-US" dirty="0"/>
              <a:t> enabling the creation of diverse and creative content across various domains, with models continually improving, </a:t>
            </a:r>
          </a:p>
          <a:p>
            <a:r>
              <a:rPr lang="en-US" dirty="0"/>
              <a:t>the potential for generating realistic and novel outputs is expanding rapidly. </a:t>
            </a:r>
          </a:p>
          <a:p>
            <a:endParaRPr lang="en-US" dirty="0"/>
          </a:p>
        </p:txBody>
      </p:sp>
    </p:spTree>
    <p:extLst>
      <p:ext uri="{BB962C8B-B14F-4D97-AF65-F5344CB8AC3E}">
        <p14:creationId xmlns:p14="http://schemas.microsoft.com/office/powerpoint/2010/main" val="973085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F2D8-1D50-804D-BFFF-290FB4FA7F5F}"/>
              </a:ext>
            </a:extLst>
          </p:cNvPr>
          <p:cNvSpPr>
            <a:spLocks noGrp="1"/>
          </p:cNvSpPr>
          <p:nvPr>
            <p:ph type="title"/>
          </p:nvPr>
        </p:nvSpPr>
        <p:spPr/>
        <p:txBody>
          <a:bodyPr/>
          <a:lstStyle/>
          <a:p>
            <a:r>
              <a:rPr lang="en-US" b="1" dirty="0"/>
              <a:t>Responsible Use of </a:t>
            </a:r>
            <a:r>
              <a:rPr lang="en-US" b="1" dirty="0" err="1"/>
              <a:t>GenAI</a:t>
            </a:r>
            <a:endParaRPr lang="en-US" b="1" dirty="0"/>
          </a:p>
        </p:txBody>
      </p:sp>
      <p:sp>
        <p:nvSpPr>
          <p:cNvPr id="3" name="Content Placeholder 2">
            <a:extLst>
              <a:ext uri="{FF2B5EF4-FFF2-40B4-BE49-F238E27FC236}">
                <a16:creationId xmlns:a16="http://schemas.microsoft.com/office/drawing/2014/main" id="{5A34F62B-B994-60C2-9357-E243D1B8FE82}"/>
              </a:ext>
            </a:extLst>
          </p:cNvPr>
          <p:cNvSpPr>
            <a:spLocks noGrp="1"/>
          </p:cNvSpPr>
          <p:nvPr>
            <p:ph idx="1"/>
          </p:nvPr>
        </p:nvSpPr>
        <p:spPr/>
        <p:txBody>
          <a:bodyPr>
            <a:normAutofit fontScale="70000" lnSpcReduction="20000"/>
          </a:bodyPr>
          <a:lstStyle/>
          <a:p>
            <a:r>
              <a:rPr lang="en-GB" sz="3200" dirty="0"/>
              <a:t>Generative Artificial Intelligence (AI) has transformed various domains, including art, music, and content creation, offering unparalleled potential for innovation and creativity. </a:t>
            </a:r>
          </a:p>
          <a:p>
            <a:r>
              <a:rPr lang="en-GB" sz="3200" dirty="0"/>
              <a:t>At the same time, its impressive capabilities and generative AI's responsible and ethical use are paramount. This blog delves into the considerations and best practices for ensuring the ethical deployment of generative AI.</a:t>
            </a:r>
            <a:endParaRPr lang="en-US" dirty="0"/>
          </a:p>
        </p:txBody>
      </p:sp>
    </p:spTree>
    <p:extLst>
      <p:ext uri="{BB962C8B-B14F-4D97-AF65-F5344CB8AC3E}">
        <p14:creationId xmlns:p14="http://schemas.microsoft.com/office/powerpoint/2010/main" val="2233829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526E7-0856-01D5-3947-450FFF7690F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02DB431-13BB-C329-E399-4F70A28AF661}"/>
              </a:ext>
            </a:extLst>
          </p:cNvPr>
          <p:cNvSpPr>
            <a:spLocks noGrp="1"/>
          </p:cNvSpPr>
          <p:nvPr>
            <p:ph idx="1"/>
          </p:nvPr>
        </p:nvSpPr>
        <p:spPr/>
        <p:txBody>
          <a:bodyPr>
            <a:normAutofit/>
          </a:bodyPr>
          <a:lstStyle/>
          <a:p>
            <a:r>
              <a:rPr lang="en-US" u="sng" dirty="0"/>
              <a:t>Guarding against Bias in Data: </a:t>
            </a:r>
            <a:r>
              <a:rPr lang="en-US" dirty="0"/>
              <a:t>Generative AI models, trained on extensive datasets, may inadvertently perpetuate biases in the training data. </a:t>
            </a:r>
          </a:p>
          <a:p>
            <a:r>
              <a:rPr lang="en-US" dirty="0"/>
              <a:t>Proactive measures, including careful data selection, augmentation, and balancing, are crucial to mitigate biases. Diverse and representative datasets contribute to more equitable AI outcomes.</a:t>
            </a:r>
          </a:p>
          <a:p>
            <a:endParaRPr lang="en-US" dirty="0"/>
          </a:p>
        </p:txBody>
      </p:sp>
    </p:spTree>
    <p:extLst>
      <p:ext uri="{BB962C8B-B14F-4D97-AF65-F5344CB8AC3E}">
        <p14:creationId xmlns:p14="http://schemas.microsoft.com/office/powerpoint/2010/main" val="3880397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1EBF-B0AB-2173-9B81-31A130A586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CDB011-BBDB-18AD-AE60-7C025AAE553B}"/>
              </a:ext>
            </a:extLst>
          </p:cNvPr>
          <p:cNvSpPr>
            <a:spLocks noGrp="1"/>
          </p:cNvSpPr>
          <p:nvPr>
            <p:ph idx="1"/>
          </p:nvPr>
        </p:nvSpPr>
        <p:spPr/>
        <p:txBody>
          <a:bodyPr/>
          <a:lstStyle/>
          <a:p>
            <a:r>
              <a:rPr lang="en-US" u="sng" dirty="0"/>
              <a:t>Maintaining Transparency</a:t>
            </a:r>
            <a:r>
              <a:rPr lang="en-US" dirty="0"/>
              <a:t>: Transparency plays a pivotal role in managing risks associated with generative AI. Clear communication regarding AI-generated content is essential to prevent confusion and deception. </a:t>
            </a:r>
          </a:p>
          <a:p>
            <a:r>
              <a:rPr lang="en-US" dirty="0"/>
              <a:t>Disclosing the origin of AI-generated content when shared publicly fosters trust and upholds ethical standards.</a:t>
            </a:r>
          </a:p>
          <a:p>
            <a:endParaRPr lang="en-US" dirty="0"/>
          </a:p>
        </p:txBody>
      </p:sp>
    </p:spTree>
    <p:extLst>
      <p:ext uri="{BB962C8B-B14F-4D97-AF65-F5344CB8AC3E}">
        <p14:creationId xmlns:p14="http://schemas.microsoft.com/office/powerpoint/2010/main" val="3812895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A1038-EDEC-3AAA-191C-562FE08D02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C81F7F-EDD0-5998-4DD8-FA8C48C36625}"/>
              </a:ext>
            </a:extLst>
          </p:cNvPr>
          <p:cNvSpPr>
            <a:spLocks noGrp="1"/>
          </p:cNvSpPr>
          <p:nvPr>
            <p:ph idx="1"/>
          </p:nvPr>
        </p:nvSpPr>
        <p:spPr/>
        <p:txBody>
          <a:bodyPr>
            <a:normAutofit lnSpcReduction="10000"/>
          </a:bodyPr>
          <a:lstStyle/>
          <a:p>
            <a:r>
              <a:rPr lang="en-GB" u="sng" dirty="0"/>
              <a:t>Securing Sensitive Information</a:t>
            </a:r>
            <a:r>
              <a:rPr lang="en-GB" dirty="0"/>
              <a:t>: Gen AI models that have been trained on sensitive data can present privacy concerns. It is crucial to anonymize or eliminate any sensitive information during the training process. To ensure the protection of this data, robust security measures like encryption, access control, and regular audits should be implemented. </a:t>
            </a:r>
          </a:p>
          <a:p>
            <a:r>
              <a:rPr lang="en-GB" dirty="0"/>
              <a:t>These measures will effectively safeguard against unauthorized access and potential breaches</a:t>
            </a:r>
            <a:endParaRPr lang="en-US" dirty="0"/>
          </a:p>
        </p:txBody>
      </p:sp>
    </p:spTree>
    <p:extLst>
      <p:ext uri="{BB962C8B-B14F-4D97-AF65-F5344CB8AC3E}">
        <p14:creationId xmlns:p14="http://schemas.microsoft.com/office/powerpoint/2010/main" val="3120760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68EC-0921-B5A7-3578-FB3B927405CE}"/>
              </a:ext>
            </a:extLst>
          </p:cNvPr>
          <p:cNvSpPr>
            <a:spLocks noGrp="1"/>
          </p:cNvSpPr>
          <p:nvPr>
            <p:ph type="title"/>
          </p:nvPr>
        </p:nvSpPr>
        <p:spPr/>
        <p:txBody>
          <a:bodyPr>
            <a:normAutofit fontScale="90000"/>
          </a:bodyPr>
          <a:lstStyle/>
          <a:p>
            <a:r>
              <a:rPr lang="en-GB" dirty="0"/>
              <a:t>Conclusion on Responsible Implementation of Generative AI</a:t>
            </a:r>
            <a:endParaRPr lang="en-US" dirty="0"/>
          </a:p>
        </p:txBody>
      </p:sp>
      <p:sp>
        <p:nvSpPr>
          <p:cNvPr id="3" name="Content Placeholder 2">
            <a:extLst>
              <a:ext uri="{FF2B5EF4-FFF2-40B4-BE49-F238E27FC236}">
                <a16:creationId xmlns:a16="http://schemas.microsoft.com/office/drawing/2014/main" id="{9A92B600-27C1-4F22-FD31-B182C4BE006E}"/>
              </a:ext>
            </a:extLst>
          </p:cNvPr>
          <p:cNvSpPr>
            <a:spLocks noGrp="1"/>
          </p:cNvSpPr>
          <p:nvPr>
            <p:ph idx="1"/>
          </p:nvPr>
        </p:nvSpPr>
        <p:spPr>
          <a:xfrm>
            <a:off x="457200" y="1882808"/>
            <a:ext cx="8229600" cy="4707698"/>
          </a:xfrm>
        </p:spPr>
        <p:txBody>
          <a:bodyPr>
            <a:normAutofit fontScale="92500" lnSpcReduction="10000"/>
          </a:bodyPr>
          <a:lstStyle/>
          <a:p>
            <a:r>
              <a:rPr lang="en-US" sz="2800" dirty="0"/>
              <a:t>Generative AI presents exciting possibilities, but its risks must be meticulously managed for ethical and responsible use. By understanding limitations, addressing biases, maintaining transparency, securing sensitive information, ensuring accountability, continuous monitoring, educating users, addressing legal and ethical concerns, collaborating with experts, establishing content guidelines, and regular updates, organizations can harness generative AI's potential responsibly, safeguard against unintended consequences, and promote ethical AI use.</a:t>
            </a:r>
          </a:p>
          <a:p>
            <a:endParaRPr lang="en-US" dirty="0"/>
          </a:p>
        </p:txBody>
      </p:sp>
    </p:spTree>
    <p:extLst>
      <p:ext uri="{BB962C8B-B14F-4D97-AF65-F5344CB8AC3E}">
        <p14:creationId xmlns:p14="http://schemas.microsoft.com/office/powerpoint/2010/main" val="3618019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8429D-EAD9-3BFA-7956-D0D42171D6ED}"/>
              </a:ext>
            </a:extLst>
          </p:cNvPr>
          <p:cNvSpPr>
            <a:spLocks noGrp="1"/>
          </p:cNvSpPr>
          <p:nvPr>
            <p:ph type="title"/>
          </p:nvPr>
        </p:nvSpPr>
        <p:spPr/>
        <p:txBody>
          <a:bodyPr/>
          <a:lstStyle/>
          <a:p>
            <a:r>
              <a:rPr lang="en-GB" b="1" dirty="0"/>
              <a:t>Limits and Ensuring Ethical Use</a:t>
            </a:r>
            <a:endParaRPr lang="en-US" b="1" dirty="0"/>
          </a:p>
        </p:txBody>
      </p:sp>
      <p:sp>
        <p:nvSpPr>
          <p:cNvPr id="3" name="Content Placeholder 2">
            <a:extLst>
              <a:ext uri="{FF2B5EF4-FFF2-40B4-BE49-F238E27FC236}">
                <a16:creationId xmlns:a16="http://schemas.microsoft.com/office/drawing/2014/main" id="{D64F5BE0-7E4B-5DAC-C5A9-5F575BABB38F}"/>
              </a:ext>
            </a:extLst>
          </p:cNvPr>
          <p:cNvSpPr>
            <a:spLocks noGrp="1"/>
          </p:cNvSpPr>
          <p:nvPr>
            <p:ph idx="1"/>
          </p:nvPr>
        </p:nvSpPr>
        <p:spPr/>
        <p:txBody>
          <a:bodyPr/>
          <a:lstStyle/>
          <a:p>
            <a:r>
              <a:rPr lang="en-US" dirty="0"/>
              <a:t>Despite its remarkable outputs, it's essential to recognize the limitations of generative AI. No matter how advanced, these models are confined by their training data and algorithms. Users should exercise caution, not solely relying on AI-generated content for critical decisions. Human judgement must complement AI-generated outputs.</a:t>
            </a:r>
          </a:p>
          <a:p>
            <a:endParaRPr lang="en-US" dirty="0"/>
          </a:p>
        </p:txBody>
      </p:sp>
    </p:spTree>
    <p:extLst>
      <p:ext uri="{BB962C8B-B14F-4D97-AF65-F5344CB8AC3E}">
        <p14:creationId xmlns:p14="http://schemas.microsoft.com/office/powerpoint/2010/main" val="735373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CEA13-2B80-7BAF-683E-1E998796F0C5}"/>
              </a:ext>
            </a:extLst>
          </p:cNvPr>
          <p:cNvSpPr>
            <a:spLocks noGrp="1"/>
          </p:cNvSpPr>
          <p:nvPr>
            <p:ph type="title"/>
          </p:nvPr>
        </p:nvSpPr>
        <p:spPr/>
        <p:txBody>
          <a:bodyPr/>
          <a:lstStyle/>
          <a:p>
            <a:r>
              <a:rPr lang="en-US" b="1" dirty="0"/>
              <a:t>Limitations of </a:t>
            </a:r>
            <a:r>
              <a:rPr lang="en-US" b="1" dirty="0" err="1"/>
              <a:t>GenAI</a:t>
            </a:r>
            <a:endParaRPr lang="en-US" b="1" dirty="0"/>
          </a:p>
        </p:txBody>
      </p:sp>
      <p:sp>
        <p:nvSpPr>
          <p:cNvPr id="3" name="Content Placeholder 2">
            <a:extLst>
              <a:ext uri="{FF2B5EF4-FFF2-40B4-BE49-F238E27FC236}">
                <a16:creationId xmlns:a16="http://schemas.microsoft.com/office/drawing/2014/main" id="{A6BC83F7-8C10-FB67-9E3D-6B93AF7705B4}"/>
              </a:ext>
            </a:extLst>
          </p:cNvPr>
          <p:cNvSpPr>
            <a:spLocks noGrp="1"/>
          </p:cNvSpPr>
          <p:nvPr>
            <p:ph idx="1"/>
          </p:nvPr>
        </p:nvSpPr>
        <p:spPr/>
        <p:txBody>
          <a:bodyPr/>
          <a:lstStyle/>
          <a:p>
            <a:r>
              <a:rPr lang="en-US" b="1" dirty="0"/>
              <a:t>Quality of Generated Outputs</a:t>
            </a:r>
          </a:p>
          <a:p>
            <a:pPr marL="64008" indent="0">
              <a:buNone/>
            </a:pPr>
            <a:endParaRPr lang="en-US" b="1" dirty="0"/>
          </a:p>
          <a:p>
            <a:pPr marL="64008" indent="0">
              <a:buNone/>
            </a:pPr>
            <a:r>
              <a:rPr lang="en-US" b="1" dirty="0"/>
              <a:t> </a:t>
            </a:r>
            <a:r>
              <a:rPr lang="en-US" dirty="0"/>
              <a:t>Generative AI systems may not always produce high-quality outputs, and the generated outputs may contain errors or artifacts. This can be due to a variety of factors, such as a lack of data, poor training, or overly complex models</a:t>
            </a:r>
          </a:p>
        </p:txBody>
      </p:sp>
    </p:spTree>
    <p:extLst>
      <p:ext uri="{BB962C8B-B14F-4D97-AF65-F5344CB8AC3E}">
        <p14:creationId xmlns:p14="http://schemas.microsoft.com/office/powerpoint/2010/main" val="107799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7936-AD7F-55A1-692C-C9D4025CB5C1}"/>
              </a:ext>
            </a:extLst>
          </p:cNvPr>
          <p:cNvSpPr>
            <a:spLocks noGrp="1"/>
          </p:cNvSpPr>
          <p:nvPr>
            <p:ph type="title"/>
          </p:nvPr>
        </p:nvSpPr>
        <p:spPr/>
        <p:txBody>
          <a:bodyPr/>
          <a:lstStyle/>
          <a:p>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651368AD-02A0-B32B-0D9A-2C3C4D6007A4}"/>
              </a:ext>
            </a:extLst>
          </p:cNvPr>
          <p:cNvSpPr>
            <a:spLocks noGrp="1"/>
          </p:cNvSpPr>
          <p:nvPr>
            <p:ph idx="1"/>
          </p:nvPr>
        </p:nvSpPr>
        <p:spPr/>
        <p:txBody>
          <a:bodyPr/>
          <a:lstStyle/>
          <a:p>
            <a:r>
              <a:rPr lang="en-US" b="1" dirty="0"/>
              <a:t>Control Over the generated output</a:t>
            </a:r>
          </a:p>
          <a:p>
            <a:endParaRPr lang="en-US" dirty="0"/>
          </a:p>
          <a:p>
            <a:r>
              <a:rPr lang="en-US" dirty="0"/>
              <a:t>Generative AI systems are typically trained on a dataset and can generate new outputs that are similar to, but not identical to, the input data. However, it can be difficult to control the specific characteristics of the generated outputs.</a:t>
            </a:r>
          </a:p>
        </p:txBody>
      </p:sp>
    </p:spTree>
    <p:extLst>
      <p:ext uri="{BB962C8B-B14F-4D97-AF65-F5344CB8AC3E}">
        <p14:creationId xmlns:p14="http://schemas.microsoft.com/office/powerpoint/2010/main" val="4182338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F311-DC9D-87F9-6E7A-3F1ED9354E24}"/>
              </a:ext>
            </a:extLst>
          </p:cNvPr>
          <p:cNvSpPr>
            <a:spLocks noGrp="1"/>
          </p:cNvSpPr>
          <p:nvPr>
            <p:ph type="title"/>
          </p:nvPr>
        </p:nvSpPr>
        <p:spPr/>
        <p:txBody>
          <a:bodyPr/>
          <a:lstStyle/>
          <a:p>
            <a:r>
              <a:rPr lang="en-US" b="1" dirty="0"/>
              <a:t>Limitations </a:t>
            </a:r>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70D7B44F-8A5A-E3F7-7BC5-2873ECD0D995}"/>
              </a:ext>
            </a:extLst>
          </p:cNvPr>
          <p:cNvSpPr>
            <a:spLocks noGrp="1"/>
          </p:cNvSpPr>
          <p:nvPr>
            <p:ph idx="1"/>
          </p:nvPr>
        </p:nvSpPr>
        <p:spPr/>
        <p:txBody>
          <a:bodyPr/>
          <a:lstStyle/>
          <a:p>
            <a:r>
              <a:rPr lang="en-US" b="1" dirty="0"/>
              <a:t>Bias and fairness.</a:t>
            </a:r>
          </a:p>
          <a:p>
            <a:endParaRPr lang="en-US" b="1" dirty="0"/>
          </a:p>
          <a:p>
            <a:pPr marL="64008" indent="0">
              <a:buNone/>
            </a:pPr>
            <a:r>
              <a:rPr lang="en-US" dirty="0"/>
              <a:t>Generative AI systems can inadvertently replicate biases present in the training data. This can lead to unfair or discriminatory results, particularly if the training data contains biased information</a:t>
            </a:r>
            <a:endParaRPr lang="en-US" b="1" dirty="0"/>
          </a:p>
        </p:txBody>
      </p:sp>
    </p:spTree>
    <p:extLst>
      <p:ext uri="{BB962C8B-B14F-4D97-AF65-F5344CB8AC3E}">
        <p14:creationId xmlns:p14="http://schemas.microsoft.com/office/powerpoint/2010/main" val="360799546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4467</TotalTime>
  <Words>2345</Words>
  <Application>Microsoft Office PowerPoint</Application>
  <PresentationFormat>On-screen Show (4:3)</PresentationFormat>
  <Paragraphs>180</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Gill Sans MT</vt:lpstr>
      <vt:lpstr>Times New Roman</vt:lpstr>
      <vt:lpstr>Wingdings</vt:lpstr>
      <vt:lpstr>Gallery</vt:lpstr>
      <vt:lpstr>GROUP 7 MEMBERS BIT 123 PRESENTATION</vt:lpstr>
      <vt:lpstr>GENERATIVE AI</vt:lpstr>
      <vt:lpstr>PowerPoint Presentation</vt:lpstr>
      <vt:lpstr>Neural networks </vt:lpstr>
      <vt:lpstr>Applications </vt:lpstr>
      <vt:lpstr>Challenges </vt:lpstr>
      <vt:lpstr>Future directions </vt:lpstr>
      <vt:lpstr>Ethical considerations </vt:lpstr>
      <vt:lpstr>Generative AI Learning</vt:lpstr>
      <vt:lpstr>Natural Language</vt:lpstr>
      <vt:lpstr>Techniques in NLP</vt:lpstr>
      <vt:lpstr>Techniques conti…ed</vt:lpstr>
      <vt:lpstr>Techniques cont…ued</vt:lpstr>
      <vt:lpstr>Technique cont..ued</vt:lpstr>
      <vt:lpstr>Neural Networks</vt:lpstr>
      <vt:lpstr>Neural Networks cont…ued</vt:lpstr>
      <vt:lpstr>GENERATIVE ADVERSARIAL NETWORKS(GANs) </vt:lpstr>
      <vt:lpstr>-GENERATOR-</vt:lpstr>
      <vt:lpstr>-DISCRIMINATOR-</vt:lpstr>
      <vt:lpstr>Application of GANs</vt:lpstr>
      <vt:lpstr>PowerPoint Presentation</vt:lpstr>
      <vt:lpstr>PowerPoint Presentation</vt:lpstr>
      <vt:lpstr>How it Works.</vt:lpstr>
      <vt:lpstr>PowerPoint Presentation</vt:lpstr>
      <vt:lpstr>Types of GANs</vt:lpstr>
      <vt:lpstr>Conditional GAN</vt:lpstr>
      <vt:lpstr>Vanilla GAN</vt:lpstr>
      <vt:lpstr>Generative AI tools</vt:lpstr>
      <vt:lpstr>Examples of AI tools</vt:lpstr>
      <vt:lpstr>Models of GenAI tools.</vt:lpstr>
      <vt:lpstr>Cont…ued</vt:lpstr>
      <vt:lpstr>Conclusion</vt:lpstr>
      <vt:lpstr>Responsible Use of GenAI</vt:lpstr>
      <vt:lpstr>PowerPoint Presentation</vt:lpstr>
      <vt:lpstr>PowerPoint Presentation</vt:lpstr>
      <vt:lpstr>PowerPoint Presentation</vt:lpstr>
      <vt:lpstr>Conclusion on Responsible Implementation of Generative AI</vt:lpstr>
      <vt:lpstr>Limits and Ensuring Ethical Use</vt:lpstr>
      <vt:lpstr>Limitations of GenAI</vt:lpstr>
      <vt:lpstr>Cont…ued</vt:lpstr>
      <vt:lpstr>Limitations cont…ued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PESHY</dc:creator>
  <cp:lastModifiedBy>Ethan C</cp:lastModifiedBy>
  <cp:revision>7</cp:revision>
  <dcterms:created xsi:type="dcterms:W3CDTF">2006-08-16T00:00:00Z</dcterms:created>
  <dcterms:modified xsi:type="dcterms:W3CDTF">2024-04-21T05:40:48Z</dcterms:modified>
</cp:coreProperties>
</file>