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0" r:id="rId1"/>
  </p:sldMasterIdLst>
  <p:notesMasterIdLst>
    <p:notesMasterId r:id="rId32"/>
  </p:notesMasterIdLst>
  <p:sldIdLst>
    <p:sldId id="256" r:id="rId2"/>
    <p:sldId id="288" r:id="rId3"/>
    <p:sldId id="264" r:id="rId4"/>
    <p:sldId id="265" r:id="rId5"/>
    <p:sldId id="260" r:id="rId6"/>
    <p:sldId id="263" r:id="rId7"/>
    <p:sldId id="261" r:id="rId8"/>
    <p:sldId id="262" r:id="rId9"/>
    <p:sldId id="266" r:id="rId10"/>
    <p:sldId id="267" r:id="rId11"/>
    <p:sldId id="287" r:id="rId12"/>
    <p:sldId id="285" r:id="rId13"/>
    <p:sldId id="286" r:id="rId14"/>
    <p:sldId id="268" r:id="rId15"/>
    <p:sldId id="271" r:id="rId16"/>
    <p:sldId id="272" r:id="rId17"/>
    <p:sldId id="273" r:id="rId18"/>
    <p:sldId id="269" r:id="rId19"/>
    <p:sldId id="270" r:id="rId20"/>
    <p:sldId id="280" r:id="rId21"/>
    <p:sldId id="278" r:id="rId22"/>
    <p:sldId id="274" r:id="rId23"/>
    <p:sldId id="275" r:id="rId24"/>
    <p:sldId id="276" r:id="rId25"/>
    <p:sldId id="277" r:id="rId26"/>
    <p:sldId id="279" r:id="rId27"/>
    <p:sldId id="281" r:id="rId28"/>
    <p:sldId id="283" r:id="rId29"/>
    <p:sldId id="284" r:id="rId30"/>
    <p:sldId id="282"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94" autoAdjust="0"/>
    <p:restoredTop sz="89286" autoAdjust="0"/>
  </p:normalViewPr>
  <p:slideViewPr>
    <p:cSldViewPr snapToGrid="0">
      <p:cViewPr varScale="1">
        <p:scale>
          <a:sx n="67" d="100"/>
          <a:sy n="67" d="100"/>
        </p:scale>
        <p:origin x="64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77259A-6736-47D2-A4D5-81F7A50BCF8D}" type="datetimeFigureOut">
              <a:rPr lang="en-US" smtClean="0"/>
              <a:t>4/18/2024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2E6121-52A0-4374-9153-839E863FABB7}" type="slidenum">
              <a:rPr lang="en-US" smtClean="0"/>
              <a:t>‹#›</a:t>
            </a:fld>
            <a:endParaRPr lang="en-US"/>
          </a:p>
        </p:txBody>
      </p:sp>
    </p:spTree>
    <p:extLst>
      <p:ext uri="{BB962C8B-B14F-4D97-AF65-F5344CB8AC3E}">
        <p14:creationId xmlns:p14="http://schemas.microsoft.com/office/powerpoint/2010/main" val="2585389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2E6121-52A0-4374-9153-839E863FABB7}" type="slidenum">
              <a:rPr lang="en-US" smtClean="0"/>
              <a:t>2</a:t>
            </a:fld>
            <a:endParaRPr lang="en-US"/>
          </a:p>
        </p:txBody>
      </p:sp>
    </p:spTree>
    <p:extLst>
      <p:ext uri="{BB962C8B-B14F-4D97-AF65-F5344CB8AC3E}">
        <p14:creationId xmlns:p14="http://schemas.microsoft.com/office/powerpoint/2010/main" val="2587269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43497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smtClean="0"/>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3986804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04636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4/18/2024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1699696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29022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4/18/2024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3512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14812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26214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79089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29002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7339729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44993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853429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04084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81839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81351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4/18/2024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89415262"/>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68500" y="482601"/>
            <a:ext cx="7539567" cy="2904064"/>
          </a:xfrm>
        </p:spPr>
        <p:txBody>
          <a:bodyPr/>
          <a:lstStyle/>
          <a:p>
            <a:pPr algn="ctr"/>
            <a:r>
              <a:rPr lang="en-US" sz="2400" dirty="0" smtClean="0">
                <a:latin typeface="Bahnschrift SemiBold SemiConden" panose="020B0502040204020203" pitchFamily="34" charset="0"/>
              </a:rPr>
              <a:t>KARATINA UNIVERSITY</a:t>
            </a:r>
            <a:br>
              <a:rPr lang="en-US" sz="2400" dirty="0" smtClean="0">
                <a:latin typeface="Bahnschrift SemiBold SemiConden" panose="020B0502040204020203" pitchFamily="34" charset="0"/>
              </a:rPr>
            </a:br>
            <a:r>
              <a:rPr lang="en-US" sz="2400" dirty="0" smtClean="0">
                <a:latin typeface="Bahnschrift SemiBold SemiConden" panose="020B0502040204020203" pitchFamily="34" charset="0"/>
              </a:rPr>
              <a:t>BSc.IT </a:t>
            </a:r>
            <a:r>
              <a:rPr lang="en-US" sz="2400" dirty="0" smtClean="0">
                <a:latin typeface="Bahnschrift SemiBold SemiConden" panose="020B0502040204020203" pitchFamily="34" charset="0"/>
              </a:rPr>
              <a:t/>
            </a:r>
            <a:br>
              <a:rPr lang="en-US" sz="2400" dirty="0" smtClean="0">
                <a:latin typeface="Bahnschrift SemiBold SemiConden" panose="020B0502040204020203" pitchFamily="34" charset="0"/>
              </a:rPr>
            </a:br>
            <a:r>
              <a:rPr lang="en-US" sz="2400" dirty="0" smtClean="0">
                <a:latin typeface="Bahnschrift SemiBold SemiConden" panose="020B0502040204020203" pitchFamily="34" charset="0"/>
              </a:rPr>
              <a:t>BIT 123</a:t>
            </a:r>
            <a:r>
              <a:rPr lang="en-US" sz="2400" dirty="0" smtClean="0">
                <a:latin typeface="Bahnschrift SemiBold SemiConden" panose="020B0502040204020203" pitchFamily="34" charset="0"/>
              </a:rPr>
              <a:t/>
            </a:r>
            <a:br>
              <a:rPr lang="en-US" sz="2400" dirty="0" smtClean="0">
                <a:latin typeface="Bahnschrift SemiBold SemiConden" panose="020B0502040204020203" pitchFamily="34" charset="0"/>
              </a:rPr>
            </a:br>
            <a:r>
              <a:rPr lang="en-US" sz="2400" dirty="0" smtClean="0">
                <a:latin typeface="Bahnschrift SemiBold SemiConden" panose="020B0502040204020203" pitchFamily="34" charset="0"/>
              </a:rPr>
              <a:t>GROUP 1 </a:t>
            </a:r>
            <a:r>
              <a:rPr lang="en-US" sz="2400" dirty="0" smtClean="0">
                <a:latin typeface="Bahnschrift SemiBold SemiConden" panose="020B0502040204020203" pitchFamily="34" charset="0"/>
              </a:rPr>
              <a:t>PRESENTATION:</a:t>
            </a:r>
            <a:br>
              <a:rPr lang="en-US" sz="2400" dirty="0" smtClean="0">
                <a:latin typeface="Bahnschrift SemiBold SemiConden" panose="020B0502040204020203" pitchFamily="34" charset="0"/>
              </a:rPr>
            </a:br>
            <a:r>
              <a:rPr lang="en-US" sz="2400" dirty="0" smtClean="0">
                <a:latin typeface="Bahnschrift SemiBold SemiConden" panose="020B0502040204020203" pitchFamily="34" charset="0"/>
              </a:rPr>
              <a:t>CLOUD COMPUTING</a:t>
            </a:r>
            <a:endParaRPr lang="en-US" sz="2400" dirty="0">
              <a:latin typeface="Bahnschrift SemiBold SemiConden" panose="020B0502040204020203" pitchFamily="34" charset="0"/>
            </a:endParaRPr>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248652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71537" y="460375"/>
            <a:ext cx="7975600" cy="6124754"/>
          </a:xfrm>
          <a:prstGeom prst="rect">
            <a:avLst/>
          </a:prstGeom>
          <a:noFill/>
        </p:spPr>
        <p:txBody>
          <a:bodyPr wrap="square" rtlCol="0">
            <a:spAutoFit/>
          </a:bodyPr>
          <a:lstStyle/>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EMMY KARANI-P100/4097G/23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CHRIS KUBAI-P100/4128G/23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NZOMO JAMES-P100/2110G/22</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IAN KIPROTICH-P100/3077G/23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IAN MIRO-P100/2631G/23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VINCENT KORIR-P100/4147G/23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ABIGAIL CHEPTUM-P100/4201G/23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RAYMUS GAMBO-P100/2211G/22</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GILBERT WAMALWA-P100/4224G/23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KURUI JOSHUA KIBET-P100/4197G/23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DERRICK KIPROTICH-P100/4196G/23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NIGEL OTIENO-P100/2213G/22</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FAITH JEPKOECH-P100/4206G/23</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WAMBUI GIKA –P100/4159G/23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LUIS ROTICH –P100/2218G/23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JEFF KIMANI P100/4805G/23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BRIAN KABOCHI P100/4092G/23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CALEB MACHARIA—P100/4071G/23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LEWIS MUREITHI- P100/4095G/23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DENNIS MAINA- P100/4059G/23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ANTONY KARIBA-P100/4094G/23</a:t>
            </a:r>
          </a:p>
          <a:p>
            <a:pPr marL="342900" indent="-342900">
              <a:buFont typeface="+mj-lt"/>
              <a:buAutoNum type="arabicPeriod"/>
            </a:pPr>
            <a:r>
              <a:rPr lang="en-US" sz="1400" dirty="0" smtClean="0">
                <a:latin typeface="Times New Roman" panose="02020603050405020304" pitchFamily="18" charset="0"/>
                <a:cs typeface="Times New Roman" panose="02020603050405020304" pitchFamily="18" charset="0"/>
              </a:rPr>
              <a:t>WILLIAM MIRUGI-P100/4161G/23</a:t>
            </a:r>
          </a:p>
          <a:p>
            <a:pPr marL="342900" indent="-342900">
              <a:buFont typeface="+mj-lt"/>
              <a:buAutoNum type="arabicPeriod" startAt="23"/>
            </a:pPr>
            <a:r>
              <a:rPr lang="en-US" sz="1400" dirty="0" smtClean="0">
                <a:latin typeface="Times New Roman" panose="02020603050405020304" pitchFamily="18" charset="0"/>
                <a:cs typeface="Times New Roman" panose="02020603050405020304" pitchFamily="18" charset="0"/>
              </a:rPr>
              <a:t>MWANGI STEPHEN IRUNGU- P100/4086G/23</a:t>
            </a:r>
          </a:p>
          <a:p>
            <a:pPr marL="342900" indent="-342900">
              <a:buFont typeface="+mj-lt"/>
              <a:buAutoNum type="arabicPeriod" startAt="23"/>
            </a:pPr>
            <a:r>
              <a:rPr lang="en-US" sz="1400" dirty="0" smtClean="0">
                <a:latin typeface="Times New Roman" panose="02020603050405020304" pitchFamily="18" charset="0"/>
                <a:cs typeface="Times New Roman" panose="02020603050405020304" pitchFamily="18" charset="0"/>
              </a:rPr>
              <a:t>HAM MATAGE-P100/4195G/23</a:t>
            </a:r>
          </a:p>
          <a:p>
            <a:pPr marL="342900" indent="-342900">
              <a:buFont typeface="+mj-lt"/>
              <a:buAutoNum type="arabicPeriod" startAt="23"/>
            </a:pPr>
            <a:r>
              <a:rPr lang="en-US" sz="1400" dirty="0" smtClean="0">
                <a:latin typeface="Times New Roman" panose="02020603050405020304" pitchFamily="18" charset="0"/>
                <a:cs typeface="Times New Roman" panose="02020603050405020304" pitchFamily="18" charset="0"/>
              </a:rPr>
              <a:t>KYALO STEPHEN MULINGE –P100/1744G/21</a:t>
            </a:r>
          </a:p>
          <a:p>
            <a:pPr marL="342900" indent="-342900">
              <a:buFont typeface="+mj-lt"/>
              <a:buAutoNum type="arabicPeriod" startAt="23"/>
            </a:pPr>
            <a:endParaRPr lang="en-US" sz="1400" dirty="0">
              <a:latin typeface="Times New Roman" panose="02020603050405020304" pitchFamily="18" charset="0"/>
              <a:cs typeface="Times New Roman" panose="02020603050405020304" pitchFamily="18" charset="0"/>
            </a:endParaRPr>
          </a:p>
          <a:p>
            <a:endParaRPr lang="en-US" sz="1400" dirty="0" smtClean="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3824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81100" y="1079500"/>
            <a:ext cx="9753600" cy="3847207"/>
          </a:xfrm>
          <a:prstGeom prst="rect">
            <a:avLst/>
          </a:prstGeom>
          <a:noFill/>
        </p:spPr>
        <p:txBody>
          <a:bodyPr wrap="square" rtlCol="0">
            <a:spAutoFit/>
          </a:bodyPr>
          <a:lstStyle/>
          <a:p>
            <a:pPr algn="ctr"/>
            <a:r>
              <a:rPr lang="en-US" sz="2000" b="1" dirty="0"/>
              <a:t>INTRODUCTION</a:t>
            </a:r>
            <a:endParaRPr lang="en-US" sz="2000" b="1"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Cloud </a:t>
            </a:r>
            <a:r>
              <a:rPr lang="en-US" sz="2800" dirty="0">
                <a:latin typeface="Times New Roman" panose="02020603050405020304" pitchFamily="18" charset="0"/>
                <a:cs typeface="Times New Roman" panose="02020603050405020304" pitchFamily="18" charset="0"/>
              </a:rPr>
              <a:t>computing is </a:t>
            </a:r>
            <a:r>
              <a:rPr lang="en-US" sz="2800" dirty="0" smtClean="0">
                <a:latin typeface="Times New Roman" panose="02020603050405020304" pitchFamily="18" charset="0"/>
                <a:cs typeface="Times New Roman" panose="02020603050405020304" pitchFamily="18" charset="0"/>
              </a:rPr>
              <a:t>a technolog</a:t>
            </a:r>
            <a:r>
              <a:rPr lang="en-US" sz="2800" dirty="0" smtClean="0">
                <a:latin typeface="Times New Roman" panose="02020603050405020304" pitchFamily="18" charset="0"/>
                <a:cs typeface="Times New Roman" panose="02020603050405020304" pitchFamily="18" charset="0"/>
              </a:rPr>
              <a:t>y that allows users to access and use computing resources, such as storage , processing power , and software , over the internet instead of an on premise server.</a:t>
            </a:r>
          </a:p>
          <a:p>
            <a:r>
              <a:rPr lang="en-US" sz="2800" dirty="0" smtClean="0">
                <a:latin typeface="Times New Roman" panose="02020603050405020304" pitchFamily="18" charset="0"/>
                <a:cs typeface="Times New Roman" panose="02020603050405020304" pitchFamily="18" charset="0"/>
              </a:rPr>
              <a:t>In cloud computing environment , the physical infrastructure , such as servers , storage and networking is owned and managed by a cloud service provider and users can acces</a:t>
            </a:r>
            <a:r>
              <a:rPr lang="en-US" sz="2800" dirty="0" smtClean="0">
                <a:latin typeface="Times New Roman" panose="02020603050405020304" pitchFamily="18" charset="0"/>
                <a:cs typeface="Times New Roman" panose="02020603050405020304" pitchFamily="18" charset="0"/>
              </a:rPr>
              <a:t>s these resources on-demand , typically through a web-based interface or API</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2761931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9500" y="469900"/>
            <a:ext cx="9944100" cy="5847755"/>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The key characteristics of cloud computing include:</a:t>
            </a:r>
          </a:p>
          <a:p>
            <a:pPr marL="342900" indent="-342900">
              <a:buAutoNum type="arabicPeriod"/>
            </a:pPr>
            <a:r>
              <a:rPr lang="en-US" sz="2200" b="1" dirty="0">
                <a:latin typeface="Times New Roman" panose="02020603050405020304" pitchFamily="18" charset="0"/>
                <a:cs typeface="Times New Roman" panose="02020603050405020304" pitchFamily="18" charset="0"/>
              </a:rPr>
              <a:t>On-demand self-service: </a:t>
            </a:r>
            <a:r>
              <a:rPr lang="en-US" sz="2200" dirty="0">
                <a:latin typeface="Times New Roman" panose="02020603050405020304" pitchFamily="18" charset="0"/>
                <a:cs typeface="Times New Roman" panose="02020603050405020304" pitchFamily="18" charset="0"/>
              </a:rPr>
              <a:t>Users can provision computing capabilities, such as server time and network storage, as needed automatically without requiring human interaction with the service provider.</a:t>
            </a:r>
          </a:p>
          <a:p>
            <a:pPr marL="342900" indent="-342900">
              <a:buAutoNum type="arabicPeriod"/>
            </a:pPr>
            <a:r>
              <a:rPr lang="en-US" sz="2200" b="1" dirty="0">
                <a:latin typeface="Times New Roman" panose="02020603050405020304" pitchFamily="18" charset="0"/>
                <a:cs typeface="Times New Roman" panose="02020603050405020304" pitchFamily="18" charset="0"/>
              </a:rPr>
              <a:t>Broad network access: </a:t>
            </a:r>
            <a:r>
              <a:rPr lang="en-US" sz="2200" dirty="0">
                <a:latin typeface="Times New Roman" panose="02020603050405020304" pitchFamily="18" charset="0"/>
                <a:cs typeface="Times New Roman" panose="02020603050405020304" pitchFamily="18" charset="0"/>
              </a:rPr>
              <a:t>Capabilities are available over the network and accessed through standard mechanisms that promote use by heterogeneous thin or thick client platforms (e.g., mobile phones, tablets, laptops, and workstations).</a:t>
            </a:r>
          </a:p>
          <a:p>
            <a:pPr marL="342900" indent="-342900">
              <a:buAutoNum type="arabicPeriod"/>
            </a:pPr>
            <a:r>
              <a:rPr lang="en-US" sz="2200" b="1" dirty="0">
                <a:latin typeface="Times New Roman" panose="02020603050405020304" pitchFamily="18" charset="0"/>
                <a:cs typeface="Times New Roman" panose="02020603050405020304" pitchFamily="18" charset="0"/>
              </a:rPr>
              <a:t>Resource pooling: </a:t>
            </a:r>
            <a:r>
              <a:rPr lang="en-US" sz="2200" dirty="0">
                <a:latin typeface="Times New Roman" panose="02020603050405020304" pitchFamily="18" charset="0"/>
                <a:cs typeface="Times New Roman" panose="02020603050405020304" pitchFamily="18" charset="0"/>
              </a:rPr>
              <a:t>The provider's computing resources are pooled to serve multiple consumers using a multi-tenant model, with different physical and virtual resources dynamically assigned and reassigned according to consumer demand.</a:t>
            </a:r>
          </a:p>
          <a:p>
            <a:pPr marL="342900" indent="-342900">
              <a:buAutoNum type="arabicPeriod"/>
            </a:pPr>
            <a:r>
              <a:rPr lang="en-US" sz="2200" b="1" dirty="0">
                <a:latin typeface="Times New Roman" panose="02020603050405020304" pitchFamily="18" charset="0"/>
                <a:cs typeface="Times New Roman" panose="02020603050405020304" pitchFamily="18" charset="0"/>
              </a:rPr>
              <a:t>Rapid elasticity: </a:t>
            </a:r>
            <a:r>
              <a:rPr lang="en-US" sz="2200" dirty="0">
                <a:latin typeface="Times New Roman" panose="02020603050405020304" pitchFamily="18" charset="0"/>
                <a:cs typeface="Times New Roman" panose="02020603050405020304" pitchFamily="18" charset="0"/>
              </a:rPr>
              <a:t>Capabilities can be elastically provisioned and released, in some cases automatically, to scale rapidly outward and inward commensurate with demand.</a:t>
            </a:r>
          </a:p>
          <a:p>
            <a:pPr marL="342900" indent="-342900">
              <a:buAutoNum type="arabicPeriod"/>
            </a:pPr>
            <a:r>
              <a:rPr lang="en-US" sz="2200" b="1" dirty="0">
                <a:latin typeface="Times New Roman" panose="02020603050405020304" pitchFamily="18" charset="0"/>
                <a:cs typeface="Times New Roman" panose="02020603050405020304" pitchFamily="18" charset="0"/>
              </a:rPr>
              <a:t>Measured service: </a:t>
            </a:r>
            <a:r>
              <a:rPr lang="en-US" sz="2200" dirty="0">
                <a:latin typeface="Times New Roman" panose="02020603050405020304" pitchFamily="18" charset="0"/>
                <a:cs typeface="Times New Roman" panose="02020603050405020304" pitchFamily="18" charset="0"/>
              </a:rPr>
              <a:t>Cloud systems automatically control and optimize resource use by leveraging a metering capability at some level of abstraction appropriate to the type of service (e.g., storage, processing, bandwidth, and active )</a:t>
            </a:r>
          </a:p>
          <a:p>
            <a:endParaRPr lang="en-US" sz="2200" dirty="0"/>
          </a:p>
        </p:txBody>
      </p:sp>
    </p:spTree>
    <p:extLst>
      <p:ext uri="{BB962C8B-B14F-4D97-AF65-F5344CB8AC3E}">
        <p14:creationId xmlns:p14="http://schemas.microsoft.com/office/powerpoint/2010/main" val="17270269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4900" y="812800"/>
            <a:ext cx="10363200" cy="3539430"/>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The cloud service </a:t>
            </a:r>
            <a:r>
              <a:rPr lang="en-US" sz="2400" b="1" dirty="0" smtClean="0">
                <a:latin typeface="Times New Roman" panose="02020603050405020304" pitchFamily="18" charset="0"/>
                <a:cs typeface="Times New Roman" panose="02020603050405020304" pitchFamily="18" charset="0"/>
              </a:rPr>
              <a:t>models</a:t>
            </a:r>
          </a:p>
          <a:p>
            <a:pPr marL="457200" indent="-457200">
              <a:buAutoNum type="arabicPeriod"/>
            </a:pPr>
            <a:r>
              <a:rPr lang="en-US" sz="2000" b="1" dirty="0" smtClean="0">
                <a:latin typeface="Times New Roman" panose="02020603050405020304" pitchFamily="18" charset="0"/>
                <a:cs typeface="Times New Roman" panose="02020603050405020304" pitchFamily="18" charset="0"/>
              </a:rPr>
              <a:t>Infrastructure </a:t>
            </a:r>
            <a:r>
              <a:rPr lang="en-US" sz="2000" b="1" dirty="0">
                <a:latin typeface="Times New Roman" panose="02020603050405020304" pitchFamily="18" charset="0"/>
                <a:cs typeface="Times New Roman" panose="02020603050405020304" pitchFamily="18" charset="0"/>
              </a:rPr>
              <a:t>as a Service (IaaS):   </a:t>
            </a:r>
            <a:r>
              <a:rPr lang="en-US" sz="2000" dirty="0">
                <a:latin typeface="Times New Roman" panose="02020603050405020304" pitchFamily="18" charset="0"/>
                <a:cs typeface="Times New Roman" panose="02020603050405020304" pitchFamily="18" charset="0"/>
              </a:rPr>
              <a:t>- IaaS provides access to fundamental computing resources such as processing power, storage, and networking.   - Users can provision and manage these resources as needed, without the need to purchase and maintain physical hardware.   - Examples of IaaS providers include Amazon Web Services (AWS), Microsoft Azure, and Google Cloud Platform</a:t>
            </a:r>
            <a:r>
              <a:rPr lang="en-US" sz="2000" dirty="0" smtClean="0">
                <a:latin typeface="Times New Roman" panose="02020603050405020304" pitchFamily="18" charset="0"/>
                <a:cs typeface="Times New Roman" panose="02020603050405020304" pitchFamily="18" charset="0"/>
              </a:rPr>
              <a:t>.</a:t>
            </a:r>
          </a:p>
          <a:p>
            <a:pPr marL="457200" indent="-457200">
              <a:buAutoNum type="arabicPeriod"/>
            </a:pPr>
            <a:r>
              <a:rPr lang="en-US" sz="2000"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Platform as a Service (PaaS):   </a:t>
            </a:r>
            <a:r>
              <a:rPr lang="en-US" sz="2000" dirty="0">
                <a:latin typeface="Times New Roman" panose="02020603050405020304" pitchFamily="18" charset="0"/>
                <a:cs typeface="Times New Roman" panose="02020603050405020304" pitchFamily="18" charset="0"/>
              </a:rPr>
              <a:t>- PaaS provides a platform for developing, testing, deploying, and managing applications.   - It includes the operating system, programming language execution environment, database, and web server.   - Developers can focus on building and deploying their applications without worrying about the underlying infrastructure.   - Examples of PaaS providers include Heroku, Google App Engine, and Microsoft Azure App Service</a:t>
            </a:r>
            <a:r>
              <a:rPr lang="en-US" sz="20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529808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95400" y="1270000"/>
            <a:ext cx="9829800" cy="5262979"/>
          </a:xfrm>
          <a:prstGeom prst="rect">
            <a:avLst/>
          </a:prstGeom>
          <a:noFill/>
        </p:spPr>
        <p:txBody>
          <a:bodyPr wrap="square" rtlCol="0">
            <a:spAutoFit/>
          </a:bodyPr>
          <a:lstStyle/>
          <a:p>
            <a:pPr marL="342900" indent="-342900">
              <a:buFont typeface="+mj-lt"/>
              <a:buAutoNum type="arabicPeriod" startAt="3"/>
            </a:pPr>
            <a:r>
              <a:rPr lang="en-US" sz="2400" b="1" dirty="0" smtClean="0">
                <a:latin typeface="Times New Roman" panose="02020603050405020304" pitchFamily="18" charset="0"/>
                <a:cs typeface="Times New Roman" panose="02020603050405020304" pitchFamily="18" charset="0"/>
              </a:rPr>
              <a:t>Software </a:t>
            </a:r>
            <a:r>
              <a:rPr lang="en-US" sz="2400" b="1" dirty="0">
                <a:latin typeface="Times New Roman" panose="02020603050405020304" pitchFamily="18" charset="0"/>
                <a:cs typeface="Times New Roman" panose="02020603050405020304" pitchFamily="18" charset="0"/>
              </a:rPr>
              <a:t>as a Service (SaaS):   </a:t>
            </a:r>
            <a:r>
              <a:rPr lang="en-US" sz="2400" dirty="0">
                <a:latin typeface="Times New Roman" panose="02020603050405020304" pitchFamily="18" charset="0"/>
                <a:cs typeface="Times New Roman" panose="02020603050405020304" pitchFamily="18" charset="0"/>
              </a:rPr>
              <a:t>- SaaS provides access to software applications and services hosted on the cloud.   - Users can access these applications through web browsers or mobile apps, without the need to install or maintain the software on their own devices.   - SaaS applications are typically subscription-based and can be scaled up or down as needed.   - Examples of SaaS applications include Salesforce, Microsoft Office 365, and Google G Suite. </a:t>
            </a:r>
            <a:endParaRPr lang="en-US" sz="2400" dirty="0" smtClean="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NOTE</a:t>
            </a:r>
            <a:r>
              <a:rPr lang="en-US" sz="2400" b="1" dirty="0" smtClean="0">
                <a:solidFill>
                  <a:srgbClr val="C00000"/>
                </a:solidFill>
                <a:latin typeface="Times New Roman" panose="02020603050405020304" pitchFamily="18" charset="0"/>
                <a:cs typeface="Times New Roman" panose="02020603050405020304" pitchFamily="18" charset="0"/>
              </a:rPr>
              <a:t>: </a:t>
            </a:r>
            <a:r>
              <a:rPr lang="en-US" sz="2400" dirty="0" smtClean="0">
                <a:solidFill>
                  <a:srgbClr val="C00000"/>
                </a:solidFill>
                <a:latin typeface="Times New Roman" panose="02020603050405020304" pitchFamily="18" charset="0"/>
                <a:cs typeface="Times New Roman" panose="02020603050405020304" pitchFamily="18" charset="0"/>
              </a:rPr>
              <a:t>The </a:t>
            </a:r>
            <a:r>
              <a:rPr lang="en-US" sz="2400" dirty="0">
                <a:solidFill>
                  <a:srgbClr val="C00000"/>
                </a:solidFill>
                <a:latin typeface="Times New Roman" panose="02020603050405020304" pitchFamily="18" charset="0"/>
                <a:cs typeface="Times New Roman" panose="02020603050405020304" pitchFamily="18" charset="0"/>
              </a:rPr>
              <a:t>key differences between these models are the level of control and responsibility that the user has over the underlying infrastructure and platform components. In IaaS, the user has more control over the infrastructure, while in PaaS, the user has more control over the application development and deployment. In SaaS, the user has the least control, as the provider manages the entire application and infrastructure. </a:t>
            </a:r>
          </a:p>
          <a:p>
            <a:endParaRPr lang="en-US" sz="2400" dirty="0">
              <a:solidFill>
                <a:srgbClr val="C00000"/>
              </a:solidFill>
            </a:endParaRPr>
          </a:p>
        </p:txBody>
      </p:sp>
    </p:spTree>
    <p:extLst>
      <p:ext uri="{BB962C8B-B14F-4D97-AF65-F5344CB8AC3E}">
        <p14:creationId xmlns:p14="http://schemas.microsoft.com/office/powerpoint/2010/main" val="23232777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90600" y="774700"/>
            <a:ext cx="10541000" cy="4401205"/>
          </a:xfrm>
          <a:prstGeom prst="rect">
            <a:avLst/>
          </a:prstGeom>
          <a:noFill/>
        </p:spPr>
        <p:txBody>
          <a:bodyPr wrap="square" rtlCol="0">
            <a:spAutoFit/>
          </a:bodyPr>
          <a:lstStyle/>
          <a:p>
            <a:pPr algn="ctr"/>
            <a:r>
              <a:rPr lang="en-US" sz="2000" b="1" dirty="0"/>
              <a:t>Cloud deployment </a:t>
            </a:r>
            <a:r>
              <a:rPr lang="en-US" sz="2000" b="1" dirty="0" smtClean="0"/>
              <a:t>models</a:t>
            </a:r>
          </a:p>
          <a:p>
            <a:pPr marL="342900" indent="-342900">
              <a:buAutoNum type="arabicPeriod"/>
            </a:pPr>
            <a:r>
              <a:rPr lang="en-US" sz="2000" b="1" dirty="0" smtClean="0">
                <a:latin typeface="Times New Roman" panose="02020603050405020304" pitchFamily="18" charset="0"/>
                <a:cs typeface="Times New Roman" panose="02020603050405020304" pitchFamily="18" charset="0"/>
              </a:rPr>
              <a:t>Public </a:t>
            </a:r>
            <a:r>
              <a:rPr lang="en-US" sz="2000" b="1" dirty="0">
                <a:latin typeface="Times New Roman" panose="02020603050405020304" pitchFamily="18" charset="0"/>
                <a:cs typeface="Times New Roman" panose="02020603050405020304" pitchFamily="18" charset="0"/>
              </a:rPr>
              <a:t>Cloud</a:t>
            </a:r>
            <a:r>
              <a:rPr lang="en-US" sz="2000" dirty="0">
                <a:latin typeface="Times New Roman" panose="02020603050405020304" pitchFamily="18" charset="0"/>
                <a:cs typeface="Times New Roman" panose="02020603050405020304" pitchFamily="18" charset="0"/>
              </a:rPr>
              <a:t>:   - The public cloud is owned and operated by a third-party cloud service provider, such as Amazon Web Services (AWS), Microsoft Azure, or Google Cloud Platform.   - Resources are shared among multiple tenants, and the infrastructure is located off-premises, managed, and maintained by the cloud provider.   - Public clouds offer the benefits of scalability, cost-effectiveness, and accessibility, but may have some concerns around data privacy and security</a:t>
            </a:r>
            <a:r>
              <a:rPr lang="en-US" sz="2000" dirty="0" smtClean="0">
                <a:latin typeface="Times New Roman" panose="02020603050405020304" pitchFamily="18" charset="0"/>
                <a:cs typeface="Times New Roman" panose="02020603050405020304" pitchFamily="18" charset="0"/>
              </a:rPr>
              <a:t>.</a:t>
            </a:r>
          </a:p>
          <a:p>
            <a:pPr marL="342900" indent="-342900">
              <a:buAutoNum type="arabicPeriod"/>
            </a:pPr>
            <a:r>
              <a:rPr lang="en-US" sz="2000" b="1" dirty="0" smtClean="0">
                <a:latin typeface="Times New Roman" panose="02020603050405020304" pitchFamily="18" charset="0"/>
                <a:cs typeface="Times New Roman" panose="02020603050405020304" pitchFamily="18" charset="0"/>
              </a:rPr>
              <a:t>Private </a:t>
            </a:r>
            <a:r>
              <a:rPr lang="en-US" sz="2000" b="1" dirty="0">
                <a:latin typeface="Times New Roman" panose="02020603050405020304" pitchFamily="18" charset="0"/>
                <a:cs typeface="Times New Roman" panose="02020603050405020304" pitchFamily="18" charset="0"/>
              </a:rPr>
              <a:t>Cloud:   </a:t>
            </a:r>
            <a:r>
              <a:rPr lang="en-US" sz="2000" dirty="0">
                <a:latin typeface="Times New Roman" panose="02020603050405020304" pitchFamily="18" charset="0"/>
                <a:cs typeface="Times New Roman" panose="02020603050405020304" pitchFamily="18" charset="0"/>
              </a:rPr>
              <a:t>- The private cloud is owned and operated by a single organization, either on-premises or hosted by a third-party provider.   - The infrastructure is dedicated to a single organization and is not shared with others.   - Private clouds offer more control, customization, and security, but may require higher upfront costs and maintenance</a:t>
            </a:r>
            <a:r>
              <a:rPr lang="en-US" sz="2000" dirty="0" smtClean="0">
                <a:latin typeface="Times New Roman" panose="02020603050405020304" pitchFamily="18" charset="0"/>
                <a:cs typeface="Times New Roman" panose="02020603050405020304" pitchFamily="18" charset="0"/>
              </a:rPr>
              <a:t>.</a:t>
            </a:r>
          </a:p>
          <a:p>
            <a:pPr marL="342900" indent="-342900">
              <a:buAutoNum type="arabicPeriod"/>
            </a:pP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Hybrid Cloud:   </a:t>
            </a:r>
            <a:r>
              <a:rPr lang="en-US" sz="2000" dirty="0">
                <a:latin typeface="Times New Roman" panose="02020603050405020304" pitchFamily="18" charset="0"/>
                <a:cs typeface="Times New Roman" panose="02020603050405020304" pitchFamily="18" charset="0"/>
              </a:rPr>
              <a:t>- The hybrid cloud is a combination of public and private cloud environments.   - Organizations can leverage the benefits of both public and private clouds, using the public cloud for non-sensitive or scalable workloads and the private cloud for sensitive or mission-critical workloads.   - Hybrid clouds allow for greater flexibility and optimization of resources</a:t>
            </a:r>
            <a:r>
              <a:rPr lang="en-US" sz="20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790087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8700" y="1130300"/>
            <a:ext cx="10223500" cy="255454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4</a:t>
            </a:r>
            <a:r>
              <a:rPr lang="en-US" sz="2000" b="1" dirty="0">
                <a:latin typeface="Times New Roman" panose="02020603050405020304" pitchFamily="18" charset="0"/>
                <a:cs typeface="Times New Roman" panose="02020603050405020304" pitchFamily="18" charset="0"/>
              </a:rPr>
              <a:t>. Multi-Cloud:   </a:t>
            </a:r>
            <a:r>
              <a:rPr lang="en-US" sz="2000" dirty="0">
                <a:latin typeface="Times New Roman" panose="02020603050405020304" pitchFamily="18" charset="0"/>
                <a:cs typeface="Times New Roman" panose="02020603050405020304" pitchFamily="18" charset="0"/>
              </a:rPr>
              <a:t>- Multi-cloud refers to the use of multiple public cloud services from different providers, such as AWS, Microsoft Azure, and Google Cloud Platform.   - Organizations may choose to use multiple cloud providers to avoid vendor lock-in, improve resilience, or take advantage of specific cloud services offered by different providers.   - Multi-cloud environments can be more complex to manage but offer increased flexibility and </a:t>
            </a:r>
            <a:r>
              <a:rPr lang="en-US" sz="2000" dirty="0" smtClean="0">
                <a:latin typeface="Times New Roman" panose="02020603050405020304" pitchFamily="18" charset="0"/>
                <a:cs typeface="Times New Roman" panose="02020603050405020304" pitchFamily="18" charset="0"/>
              </a:rPr>
              <a:t>redundancy. The </a:t>
            </a:r>
            <a:r>
              <a:rPr lang="en-US" sz="2000" dirty="0">
                <a:latin typeface="Times New Roman" panose="02020603050405020304" pitchFamily="18" charset="0"/>
                <a:cs typeface="Times New Roman" panose="02020603050405020304" pitchFamily="18" charset="0"/>
              </a:rPr>
              <a:t>choice of cloud deployment model depends on factors such as the organization's security and compliance requirements, the sensitivity of the data and workloads, the need for scalability and cost-effectiveness, and the available IT resources and expertise</a:t>
            </a:r>
          </a:p>
        </p:txBody>
      </p:sp>
    </p:spTree>
    <p:extLst>
      <p:ext uri="{BB962C8B-B14F-4D97-AF65-F5344CB8AC3E}">
        <p14:creationId xmlns:p14="http://schemas.microsoft.com/office/powerpoint/2010/main" val="738109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5029" y="425470"/>
            <a:ext cx="10003971" cy="6432530"/>
          </a:xfrm>
          <a:prstGeom prst="rect">
            <a:avLst/>
          </a:prstGeom>
          <a:noFill/>
        </p:spPr>
        <p:txBody>
          <a:bodyPr wrap="square" rtlCol="0">
            <a:spAutoFit/>
          </a:bodyPr>
          <a:lstStyle/>
          <a:p>
            <a:r>
              <a:rPr lang="en-US" dirty="0"/>
              <a:t> </a:t>
            </a:r>
          </a:p>
          <a:p>
            <a:pPr algn="ctr"/>
            <a:r>
              <a:rPr lang="en-US" sz="2000" b="1" dirty="0">
                <a:latin typeface="Times New Roman" panose="02020603050405020304" pitchFamily="18" charset="0"/>
                <a:cs typeface="Times New Roman" panose="02020603050405020304" pitchFamily="18" charset="0"/>
              </a:rPr>
              <a:t>Cloud security</a:t>
            </a:r>
          </a:p>
          <a:p>
            <a:r>
              <a:rPr lang="en-US" sz="2000" b="1" dirty="0">
                <a:latin typeface="Times New Roman" panose="02020603050405020304" pitchFamily="18" charset="0"/>
                <a:cs typeface="Times New Roman" panose="02020603050405020304" pitchFamily="18" charset="0"/>
              </a:rPr>
              <a:t>1. Data Security:</a:t>
            </a:r>
          </a:p>
          <a:p>
            <a:r>
              <a:rPr lang="en-US" sz="2000" dirty="0">
                <a:latin typeface="Times New Roman" panose="02020603050405020304" pitchFamily="18" charset="0"/>
                <a:cs typeface="Times New Roman" panose="02020603050405020304" pitchFamily="18" charset="0"/>
              </a:rPr>
              <a:t>   - Data encryption: Cloud providers use encryption techniques to protect data at rest and in transit, ensuring confidentiality and integrity.</a:t>
            </a:r>
          </a:p>
          <a:p>
            <a:r>
              <a:rPr lang="en-US" sz="2000" dirty="0">
                <a:latin typeface="Times New Roman" panose="02020603050405020304" pitchFamily="18" charset="0"/>
                <a:cs typeface="Times New Roman" panose="02020603050405020304" pitchFamily="18" charset="0"/>
              </a:rPr>
              <a:t>   - Access control: Robust access management systems are implemented to control who can access the data and resources in the cloud.</a:t>
            </a:r>
          </a:p>
          <a:p>
            <a:r>
              <a:rPr lang="en-US" sz="2000" dirty="0">
                <a:latin typeface="Times New Roman" panose="02020603050405020304" pitchFamily="18" charset="0"/>
                <a:cs typeface="Times New Roman" panose="02020603050405020304" pitchFamily="18" charset="0"/>
              </a:rPr>
              <a:t>   - Data backup and recovery: Cloud providers offer reliable data backup and recovery mechanisms to safeguard against data loss.</a:t>
            </a:r>
          </a:p>
          <a:p>
            <a:r>
              <a:rPr lang="en-US" sz="2000"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2. Application Security:</a:t>
            </a:r>
          </a:p>
          <a:p>
            <a:r>
              <a:rPr lang="en-US" sz="2000" dirty="0">
                <a:latin typeface="Times New Roman" panose="02020603050405020304" pitchFamily="18" charset="0"/>
                <a:cs typeface="Times New Roman" panose="02020603050405020304" pitchFamily="18" charset="0"/>
              </a:rPr>
              <a:t>   - Secure application development: Cloud providers follow secure coding practices and implement security measures during the application development lifecycle.</a:t>
            </a:r>
          </a:p>
          <a:p>
            <a:r>
              <a:rPr lang="en-US" sz="2000" dirty="0">
                <a:latin typeface="Times New Roman" panose="02020603050405020304" pitchFamily="18" charset="0"/>
                <a:cs typeface="Times New Roman" panose="02020603050405020304" pitchFamily="18" charset="0"/>
              </a:rPr>
              <a:t>   - Web application firewalls (WAFs): WAFs are used to protect cloud-based web applications from common web-based attacks, such as SQL injection and cross-site scripting (XSS).</a:t>
            </a:r>
          </a:p>
          <a:p>
            <a:r>
              <a:rPr lang="en-US" sz="2000" dirty="0">
                <a:latin typeface="Times New Roman" panose="02020603050405020304" pitchFamily="18" charset="0"/>
                <a:cs typeface="Times New Roman" panose="02020603050405020304" pitchFamily="18" charset="0"/>
              </a:rPr>
              <a:t>   - Vulnerability management: Cloud providers continuously monitor and patch vulnerabilities in the cloud infrastructure and applications.</a:t>
            </a:r>
          </a:p>
          <a:p>
            <a:r>
              <a:rPr lang="en-US" sz="2000" dirty="0">
                <a:latin typeface="Times New Roman" panose="02020603050405020304" pitchFamily="18" charset="0"/>
                <a:cs typeface="Times New Roman" panose="02020603050405020304" pitchFamily="18" charset="0"/>
              </a:rPr>
              <a:t> </a:t>
            </a:r>
          </a:p>
          <a:p>
            <a:r>
              <a:rPr lang="en-US" dirty="0"/>
              <a:t> </a:t>
            </a:r>
          </a:p>
          <a:p>
            <a:r>
              <a:rPr lang="en-US" dirty="0"/>
              <a:t> </a:t>
            </a:r>
          </a:p>
          <a:p>
            <a:endParaRPr lang="en-US" dirty="0"/>
          </a:p>
        </p:txBody>
      </p:sp>
    </p:spTree>
    <p:extLst>
      <p:ext uri="{BB962C8B-B14F-4D97-AF65-F5344CB8AC3E}">
        <p14:creationId xmlns:p14="http://schemas.microsoft.com/office/powerpoint/2010/main" val="34290239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1486" y="1277257"/>
            <a:ext cx="10014857" cy="2862322"/>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3. Infrastructure Security:</a:t>
            </a:r>
          </a:p>
          <a:p>
            <a:r>
              <a:rPr lang="en-US" sz="2000" dirty="0">
                <a:latin typeface="Times New Roman" panose="02020603050405020304" pitchFamily="18" charset="0"/>
                <a:cs typeface="Times New Roman" panose="02020603050405020304" pitchFamily="18" charset="0"/>
              </a:rPr>
              <a:t>   - Physical security: Cloud data centers are equipped with robust physical security measures, such as biometric access controls, surveillance systems, and secure facilities.</a:t>
            </a:r>
          </a:p>
          <a:p>
            <a:r>
              <a:rPr lang="en-US" sz="2000" dirty="0">
                <a:latin typeface="Times New Roman" panose="02020603050405020304" pitchFamily="18" charset="0"/>
                <a:cs typeface="Times New Roman" panose="02020603050405020304" pitchFamily="18" charset="0"/>
              </a:rPr>
              <a:t>   - Network security: Cloud providers implement secure network architectures, including firewalls, intrusion detection and prevention systems, and secure network protocols.</a:t>
            </a:r>
          </a:p>
          <a:p>
            <a:r>
              <a:rPr lang="en-US" sz="2000" dirty="0">
                <a:latin typeface="Times New Roman" panose="02020603050405020304" pitchFamily="18" charset="0"/>
                <a:cs typeface="Times New Roman" panose="02020603050405020304" pitchFamily="18" charset="0"/>
              </a:rPr>
              <a:t>   - Compliance and regulatory standards: Cloud providers adhere to various industry-specific compliance standards, such as HIPAA, PCI DSS, and GDPR, to ensure the security and privacy of data.</a:t>
            </a:r>
          </a:p>
          <a:p>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1215559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55700" y="0"/>
            <a:ext cx="8293100" cy="6863417"/>
          </a:xfrm>
          <a:prstGeom prst="rect">
            <a:avLst/>
          </a:prstGeom>
          <a:noFill/>
        </p:spPr>
        <p:txBody>
          <a:bodyPr wrap="square" rtlCol="0">
            <a:spAutoFit/>
          </a:bodyPr>
          <a:lstStyle/>
          <a:p>
            <a:pPr algn="ctr"/>
            <a:r>
              <a:rPr lang="en-US" sz="2000" b="1" u="sng" dirty="0" smtClean="0">
                <a:latin typeface="Times New Roman" panose="02020603050405020304" pitchFamily="18" charset="0"/>
                <a:cs typeface="Times New Roman" panose="02020603050405020304" pitchFamily="18" charset="0"/>
              </a:rPr>
              <a:t>Cloud </a:t>
            </a:r>
            <a:r>
              <a:rPr lang="en-US" sz="2000" b="1" u="sng" dirty="0">
                <a:latin typeface="Times New Roman" panose="02020603050405020304" pitchFamily="18" charset="0"/>
                <a:cs typeface="Times New Roman" panose="02020603050405020304" pitchFamily="18" charset="0"/>
              </a:rPr>
              <a:t>Computing Architectures </a:t>
            </a:r>
            <a:endParaRPr lang="en-US" sz="2000" b="1" u="sng"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Cloud </a:t>
            </a:r>
            <a:r>
              <a:rPr lang="en-US" sz="2000" dirty="0">
                <a:latin typeface="Times New Roman" panose="02020603050405020304" pitchFamily="18" charset="0"/>
                <a:cs typeface="Times New Roman" panose="02020603050405020304" pitchFamily="18" charset="0"/>
              </a:rPr>
              <a:t>computing architecture refers to the components and subcomponents required for cloud computing. These components typically consist of a front end platform, back end platforms, a cloud-based delivery, and a </a:t>
            </a:r>
            <a:r>
              <a:rPr lang="en-US" sz="2000" dirty="0" smtClean="0">
                <a:latin typeface="Times New Roman" panose="02020603050405020304" pitchFamily="18" charset="0"/>
                <a:cs typeface="Times New Roman" panose="02020603050405020304" pitchFamily="18" charset="0"/>
              </a:rPr>
              <a:t>network;</a:t>
            </a:r>
          </a:p>
          <a:p>
            <a:r>
              <a:rPr lang="en-US" sz="2000"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Front </a:t>
            </a:r>
            <a:r>
              <a:rPr lang="en-US" sz="2000" b="1" dirty="0">
                <a:latin typeface="Times New Roman" panose="02020603050405020304" pitchFamily="18" charset="0"/>
                <a:cs typeface="Times New Roman" panose="02020603050405020304" pitchFamily="18" charset="0"/>
              </a:rPr>
              <a:t>End Platform</a:t>
            </a:r>
            <a:r>
              <a:rPr lang="en-US" sz="2000" dirty="0">
                <a:latin typeface="Times New Roman" panose="02020603050405020304" pitchFamily="18" charset="0"/>
                <a:cs typeface="Times New Roman" panose="02020603050405020304" pitchFamily="18" charset="0"/>
              </a:rPr>
              <a:t>:- The part of the cloud computing system that the user interacts with. It includes the user's device or computer and the application required to access the cloud </a:t>
            </a:r>
            <a:r>
              <a:rPr lang="en-US" sz="2000" dirty="0" smtClean="0">
                <a:latin typeface="Times New Roman" panose="02020603050405020304" pitchFamily="18" charset="0"/>
                <a:cs typeface="Times New Roman" panose="02020603050405020304" pitchFamily="18" charset="0"/>
              </a:rPr>
              <a:t>system.</a:t>
            </a:r>
          </a:p>
          <a:p>
            <a:r>
              <a:rPr lang="en-US" sz="2000"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Back </a:t>
            </a:r>
            <a:r>
              <a:rPr lang="en-US" sz="2000" b="1" dirty="0">
                <a:latin typeface="Times New Roman" panose="02020603050405020304" pitchFamily="18" charset="0"/>
                <a:cs typeface="Times New Roman" panose="02020603050405020304" pitchFamily="18" charset="0"/>
              </a:rPr>
              <a:t>End Platform:- </a:t>
            </a:r>
            <a:r>
              <a:rPr lang="en-US" sz="2000" dirty="0">
                <a:latin typeface="Times New Roman" panose="02020603050405020304" pitchFamily="18" charset="0"/>
                <a:cs typeface="Times New Roman" panose="02020603050405020304" pitchFamily="18" charset="0"/>
              </a:rPr>
              <a:t>The back end is the 'cloud' section of the system, comprising various computers, servers, and data storage systems that create the "cloud" of computing </a:t>
            </a:r>
            <a:r>
              <a:rPr lang="en-US" sz="2000" dirty="0" smtClean="0">
                <a:latin typeface="Times New Roman" panose="02020603050405020304" pitchFamily="18" charset="0"/>
                <a:cs typeface="Times New Roman" panose="02020603050405020304" pitchFamily="18" charset="0"/>
              </a:rPr>
              <a:t>services. </a:t>
            </a:r>
          </a:p>
          <a:p>
            <a:r>
              <a:rPr lang="en-US" sz="2000" b="1" dirty="0" smtClean="0">
                <a:latin typeface="Times New Roman" panose="02020603050405020304" pitchFamily="18" charset="0"/>
                <a:cs typeface="Times New Roman" panose="02020603050405020304" pitchFamily="18" charset="0"/>
              </a:rPr>
              <a:t>Cloud-Based </a:t>
            </a:r>
            <a:r>
              <a:rPr lang="en-US" sz="2000" b="1" dirty="0">
                <a:latin typeface="Times New Roman" panose="02020603050405020304" pitchFamily="18" charset="0"/>
                <a:cs typeface="Times New Roman" panose="02020603050405020304" pitchFamily="18" charset="0"/>
              </a:rPr>
              <a:t>Delivery:- </a:t>
            </a:r>
            <a:r>
              <a:rPr lang="en-US" sz="2000" dirty="0">
                <a:latin typeface="Times New Roman" panose="02020603050405020304" pitchFamily="18" charset="0"/>
                <a:cs typeface="Times New Roman" panose="02020603050405020304" pitchFamily="18" charset="0"/>
              </a:rPr>
              <a:t>Refers to the way services are delivered over the internet. This can include IaaS, PaaS, SaaS, and </a:t>
            </a:r>
            <a:r>
              <a:rPr lang="en-US" sz="2000" dirty="0" smtClean="0">
                <a:latin typeface="Times New Roman" panose="02020603050405020304" pitchFamily="18" charset="0"/>
                <a:cs typeface="Times New Roman" panose="02020603050405020304" pitchFamily="18" charset="0"/>
              </a:rPr>
              <a:t>others.</a:t>
            </a:r>
          </a:p>
          <a:p>
            <a:r>
              <a:rPr lang="en-US" sz="2000"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Network:- </a:t>
            </a:r>
            <a:r>
              <a:rPr lang="en-US" sz="2000" dirty="0">
                <a:latin typeface="Times New Roman" panose="02020603050405020304" pitchFamily="18" charset="0"/>
                <a:cs typeface="Times New Roman" panose="02020603050405020304" pitchFamily="18" charset="0"/>
              </a:rPr>
              <a:t>The internet or a private network is the backbone of cloud computing, providing connectivity between the front end and back </a:t>
            </a:r>
            <a:r>
              <a:rPr lang="en-US" sz="2000" dirty="0" smtClean="0">
                <a:latin typeface="Times New Roman" panose="02020603050405020304" pitchFamily="18" charset="0"/>
                <a:cs typeface="Times New Roman" panose="02020603050405020304" pitchFamily="18" charset="0"/>
              </a:rPr>
              <a:t>end. Components </a:t>
            </a:r>
            <a:r>
              <a:rPr lang="en-US" sz="2000" dirty="0">
                <a:latin typeface="Times New Roman" panose="02020603050405020304" pitchFamily="18" charset="0"/>
                <a:cs typeface="Times New Roman" panose="02020603050405020304" pitchFamily="18" charset="0"/>
              </a:rPr>
              <a:t>of Cloud Computing Architecture:- </a:t>
            </a:r>
            <a:r>
              <a:rPr lang="en-US" sz="2000" dirty="0" smtClean="0">
                <a:latin typeface="Times New Roman" panose="02020603050405020304" pitchFamily="18" charset="0"/>
                <a:cs typeface="Times New Roman" panose="02020603050405020304" pitchFamily="18" charset="0"/>
              </a:rPr>
              <a:t>Application: Software </a:t>
            </a:r>
            <a:r>
              <a:rPr lang="en-US" sz="2000" dirty="0">
                <a:latin typeface="Times New Roman" panose="02020603050405020304" pitchFamily="18" charset="0"/>
                <a:cs typeface="Times New Roman" panose="02020603050405020304" pitchFamily="18" charset="0"/>
              </a:rPr>
              <a:t>or platform that the client uses.- Service: Includes the core services provided by the cloud such as SaaS, PaaS, and IaaS.- Runtime Cloud: Provides the execution environment for services.- Storage: Manages and stores data.- Infrastructure: Consists of hardware and software components like servers, storage, and virtualization software.- Management: Ensures that the cloud services are running smoothly and efficiently.- </a:t>
            </a:r>
            <a:r>
              <a:rPr lang="en-US" sz="2000" dirty="0" err="1">
                <a:latin typeface="Times New Roman" panose="02020603050405020304" pitchFamily="18" charset="0"/>
                <a:cs typeface="Times New Roman" panose="02020603050405020304" pitchFamily="18" charset="0"/>
              </a:rPr>
              <a:t>Security:Protects</a:t>
            </a:r>
            <a:r>
              <a:rPr lang="en-US" sz="2000" dirty="0">
                <a:latin typeface="Times New Roman" panose="02020603050405020304" pitchFamily="18" charset="0"/>
                <a:cs typeface="Times New Roman" panose="02020603050405020304" pitchFamily="18" charset="0"/>
              </a:rPr>
              <a:t> data integrity and privacy within the cloud.</a:t>
            </a:r>
          </a:p>
        </p:txBody>
      </p:sp>
    </p:spTree>
    <p:extLst>
      <p:ext uri="{BB962C8B-B14F-4D97-AF65-F5344CB8AC3E}">
        <p14:creationId xmlns:p14="http://schemas.microsoft.com/office/powerpoint/2010/main" val="2136174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36700" y="215900"/>
            <a:ext cx="7378700" cy="5940088"/>
          </a:xfrm>
          <a:prstGeom prst="rect">
            <a:avLst/>
          </a:prstGeom>
          <a:noFill/>
        </p:spPr>
        <p:txBody>
          <a:bodyPr wrap="square" rtlCol="0">
            <a:spAutoFit/>
          </a:bodyPr>
          <a:lstStyle/>
          <a:p>
            <a:pPr algn="ctr"/>
            <a:r>
              <a:rPr lang="en-US" sz="2000" b="1" u="sng" dirty="0">
                <a:latin typeface="Times New Roman" panose="02020603050405020304" pitchFamily="18" charset="0"/>
                <a:cs typeface="Times New Roman" panose="02020603050405020304" pitchFamily="18" charset="0"/>
              </a:rPr>
              <a:t>Cloud migration </a:t>
            </a:r>
            <a:r>
              <a:rPr lang="en-US" sz="2000" b="1" u="sng" dirty="0" smtClean="0">
                <a:latin typeface="Times New Roman" panose="02020603050405020304" pitchFamily="18" charset="0"/>
                <a:cs typeface="Times New Roman" panose="02020603050405020304" pitchFamily="18" charset="0"/>
              </a:rPr>
              <a:t>strategies</a:t>
            </a:r>
          </a:p>
          <a:p>
            <a:pPr marL="457200" indent="-457200">
              <a:buAutoNum type="arabicPeriod"/>
            </a:pPr>
            <a:r>
              <a:rPr lang="en-US" sz="2000" b="1" dirty="0" smtClean="0">
                <a:latin typeface="Times New Roman" panose="02020603050405020304" pitchFamily="18" charset="0"/>
                <a:cs typeface="Times New Roman" panose="02020603050405020304" pitchFamily="18" charset="0"/>
              </a:rPr>
              <a:t>Assess </a:t>
            </a:r>
            <a:r>
              <a:rPr lang="en-US" sz="2000" b="1" dirty="0">
                <a:latin typeface="Times New Roman" panose="02020603050405020304" pitchFamily="18" charset="0"/>
                <a:cs typeface="Times New Roman" panose="02020603050405020304" pitchFamily="18" charset="0"/>
              </a:rPr>
              <a:t>and plan:   </a:t>
            </a:r>
            <a:r>
              <a:rPr lang="en-US" sz="2000" dirty="0">
                <a:latin typeface="Times New Roman" panose="02020603050405020304" pitchFamily="18" charset="0"/>
                <a:cs typeface="Times New Roman" panose="02020603050405020304" pitchFamily="18" charset="0"/>
              </a:rPr>
              <a:t>- Evaluate your current IT infrastructure, including servers, storage, applications, and data.   - Understand the performance, cost, and security requirements of your workloads.   - Develop a comprehensive migration plan that considers factors like timeline, budget, and potential risks.   - Identify the cloud services (IaaS, PaaS, SaaS) that best fit your needs and align with your migration goals</a:t>
            </a:r>
            <a:r>
              <a:rPr lang="en-US" sz="2000" dirty="0" smtClean="0">
                <a:latin typeface="Times New Roman" panose="02020603050405020304" pitchFamily="18" charset="0"/>
                <a:cs typeface="Times New Roman" panose="02020603050405020304" pitchFamily="18" charset="0"/>
              </a:rPr>
              <a:t>.</a:t>
            </a:r>
          </a:p>
          <a:p>
            <a:pPr marL="457200" indent="-457200">
              <a:buAutoNum type="arabicPeriod"/>
            </a:pP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Adopt a phased approach</a:t>
            </a:r>
            <a:r>
              <a:rPr lang="en-US" sz="2000" dirty="0">
                <a:latin typeface="Times New Roman" panose="02020603050405020304" pitchFamily="18" charset="0"/>
                <a:cs typeface="Times New Roman" panose="02020603050405020304" pitchFamily="18" charset="0"/>
              </a:rPr>
              <a:t>:   - Instead of migrating everything at once, move one application or workload at a time.   - This allows you to test the migration process, address any issues, and learn from the experience.   - It also helps minimize disruptions to your business operations during the migration</a:t>
            </a:r>
            <a:r>
              <a:rPr lang="en-US" sz="2000" dirty="0" smtClean="0">
                <a:latin typeface="Times New Roman" panose="02020603050405020304" pitchFamily="18" charset="0"/>
                <a:cs typeface="Times New Roman" panose="02020603050405020304" pitchFamily="18" charset="0"/>
              </a:rPr>
              <a:t>.</a:t>
            </a:r>
          </a:p>
          <a:p>
            <a:pPr marL="457200" indent="-457200">
              <a:buAutoNum type="arabicPeriod"/>
            </a:pPr>
            <a:r>
              <a:rPr lang="en-US" sz="2000" b="1" dirty="0" smtClean="0">
                <a:latin typeface="Times New Roman" panose="02020603050405020304" pitchFamily="18" charset="0"/>
                <a:cs typeface="Times New Roman" panose="02020603050405020304" pitchFamily="18" charset="0"/>
              </a:rPr>
              <a:t>Leverage </a:t>
            </a:r>
            <a:r>
              <a:rPr lang="en-US" sz="2000" b="1" dirty="0">
                <a:latin typeface="Times New Roman" panose="02020603050405020304" pitchFamily="18" charset="0"/>
                <a:cs typeface="Times New Roman" panose="02020603050405020304" pitchFamily="18" charset="0"/>
              </a:rPr>
              <a:t>the right cloud services</a:t>
            </a:r>
            <a:r>
              <a:rPr lang="en-US" sz="2000" dirty="0">
                <a:latin typeface="Times New Roman" panose="02020603050405020304" pitchFamily="18" charset="0"/>
                <a:cs typeface="Times New Roman" panose="02020603050405020304" pitchFamily="18" charset="0"/>
              </a:rPr>
              <a:t>:   - Evaluate the various cloud services available, such as virtual machines, storage, databases, and managed services.   - Choose the services that offer the right balance of scalability, flexibility, and cost-effectiveness for your specific needs.   - Consider factors like performance, security, and compliance requirements when selecting the cloud services</a:t>
            </a:r>
            <a:r>
              <a:rPr lang="en-US" sz="20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78180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7900" y="1181100"/>
            <a:ext cx="8382000" cy="2862322"/>
          </a:xfrm>
          <a:prstGeom prst="rect">
            <a:avLst/>
          </a:prstGeom>
          <a:noFill/>
        </p:spPr>
        <p:txBody>
          <a:bodyPr wrap="square" rtlCol="0">
            <a:spAutoFit/>
          </a:bodyPr>
          <a:lstStyle/>
          <a:p>
            <a:pPr marL="457200" indent="-457200">
              <a:buFont typeface="+mj-lt"/>
              <a:buAutoNum type="arabicPeriod" startAt="4"/>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Ensure data and application compatibility</a:t>
            </a:r>
            <a:r>
              <a:rPr lang="en-US" dirty="0">
                <a:latin typeface="Times New Roman" panose="02020603050405020304" pitchFamily="18" charset="0"/>
                <a:cs typeface="Times New Roman" panose="02020603050405020304" pitchFamily="18" charset="0"/>
              </a:rPr>
              <a:t>:   - Assess the compatibility of your data and applications with the target cloud platform.   - Identify any necessary modifications or refactoring to ensure a smooth migration.   - This may involve tasks like data conversion, application re-architecture, or integration with cloud-native services.</a:t>
            </a:r>
          </a:p>
          <a:p>
            <a:pPr marL="457200" indent="-457200">
              <a:buFont typeface="+mj-lt"/>
              <a:buAutoNum type="arabicPeriod" startAt="4"/>
            </a:pPr>
            <a:r>
              <a:rPr lang="en-US" b="1" dirty="0">
                <a:latin typeface="Times New Roman" panose="02020603050405020304" pitchFamily="18" charset="0"/>
                <a:cs typeface="Times New Roman" panose="02020603050405020304" pitchFamily="18" charset="0"/>
              </a:rPr>
              <a:t> Optimize for cloud:   </a:t>
            </a:r>
            <a:r>
              <a:rPr lang="en-US" dirty="0">
                <a:latin typeface="Times New Roman" panose="02020603050405020304" pitchFamily="18" charset="0"/>
                <a:cs typeface="Times New Roman" panose="02020603050405020304" pitchFamily="18" charset="0"/>
              </a:rPr>
              <a:t>- Redesign and optimize your applications to take advantage of cloud-native features, such as auto-scaling, load balancing, and managed services.   - This can improve the performance, cost-efficiency, and resilience of your applications in the cloud.</a:t>
            </a:r>
          </a:p>
          <a:p>
            <a:endParaRPr lang="en-US" dirty="0"/>
          </a:p>
        </p:txBody>
      </p:sp>
    </p:spTree>
    <p:extLst>
      <p:ext uri="{BB962C8B-B14F-4D97-AF65-F5344CB8AC3E}">
        <p14:creationId xmlns:p14="http://schemas.microsoft.com/office/powerpoint/2010/main" val="550033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8857" y="870857"/>
            <a:ext cx="8853714" cy="4985980"/>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4</a:t>
            </a:r>
            <a:r>
              <a:rPr lang="en-US" sz="2000" b="1" dirty="0">
                <a:latin typeface="Times New Roman" panose="02020603050405020304" pitchFamily="18" charset="0"/>
                <a:cs typeface="Times New Roman" panose="02020603050405020304" pitchFamily="18" charset="0"/>
              </a:rPr>
              <a:t>. Identity and Access Management (IAM):</a:t>
            </a:r>
          </a:p>
          <a:p>
            <a:r>
              <a:rPr lang="en-US" sz="2000" dirty="0">
                <a:latin typeface="Times New Roman" panose="02020603050405020304" pitchFamily="18" charset="0"/>
                <a:cs typeface="Times New Roman" panose="02020603050405020304" pitchFamily="18" charset="0"/>
              </a:rPr>
              <a:t>   - Multi-factor authentication: Cloud providers offer multi-factor authentication to enhance the security of user access to cloud resources.</a:t>
            </a:r>
          </a:p>
          <a:p>
            <a:r>
              <a:rPr lang="en-US" sz="2000" dirty="0">
                <a:latin typeface="Times New Roman" panose="02020603050405020304" pitchFamily="18" charset="0"/>
                <a:cs typeface="Times New Roman" panose="02020603050405020304" pitchFamily="18" charset="0"/>
              </a:rPr>
              <a:t>   - Least-privilege access: Cloud IAM systems follow the principle of least privilege, granting users the minimum necessary permissions to perform their tasks.</a:t>
            </a:r>
          </a:p>
          <a:p>
            <a:r>
              <a:rPr lang="en-US" sz="2000" dirty="0">
                <a:latin typeface="Times New Roman" panose="02020603050405020304" pitchFamily="18" charset="0"/>
                <a:cs typeface="Times New Roman" panose="02020603050405020304" pitchFamily="18" charset="0"/>
              </a:rPr>
              <a:t>   - Centralized user management: Cloud providers offer centralized user management and access control mechanisms to manage user identities and permissions across the cloud environment.</a:t>
            </a:r>
          </a:p>
          <a:p>
            <a:r>
              <a:rPr lang="en-US" sz="2000" dirty="0">
                <a:latin typeface="Times New Roman" panose="02020603050405020304" pitchFamily="18" charset="0"/>
                <a:cs typeface="Times New Roman" panose="02020603050405020304" pitchFamily="18" charset="0"/>
              </a:rPr>
              <a:t> </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5. Incident Response and Disaster Recovery:</a:t>
            </a:r>
          </a:p>
          <a:p>
            <a:r>
              <a:rPr lang="en-US" sz="2000" dirty="0">
                <a:latin typeface="Times New Roman" panose="02020603050405020304" pitchFamily="18" charset="0"/>
                <a:cs typeface="Times New Roman" panose="02020603050405020304" pitchFamily="18" charset="0"/>
              </a:rPr>
              <a:t>   - Incident response plans: Cloud providers have well-defined incident response plans to detect, investigate, and mitigate security incidents in a timely manner.</a:t>
            </a:r>
          </a:p>
          <a:p>
            <a:r>
              <a:rPr lang="en-US" sz="2000" dirty="0">
                <a:latin typeface="Times New Roman" panose="02020603050405020304" pitchFamily="18" charset="0"/>
                <a:cs typeface="Times New Roman" panose="02020603050405020304" pitchFamily="18" charset="0"/>
              </a:rPr>
              <a:t>   - Disaster recovery: Cloud providers maintain robust disaster recovery strategies, including data backups, redundancy, and failover mechanisms, to ensure business continuity in the event of a disaster.</a:t>
            </a:r>
          </a:p>
          <a:p>
            <a:endParaRPr lang="en-US" dirty="0"/>
          </a:p>
        </p:txBody>
      </p:sp>
    </p:spTree>
    <p:extLst>
      <p:ext uri="{BB962C8B-B14F-4D97-AF65-F5344CB8AC3E}">
        <p14:creationId xmlns:p14="http://schemas.microsoft.com/office/powerpoint/2010/main" val="8677401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17600" y="1146629"/>
            <a:ext cx="10029371" cy="5324535"/>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 </a:t>
            </a: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Monitoring and Management in the </a:t>
            </a:r>
            <a:r>
              <a:rPr lang="en-US" sz="2000" b="1" dirty="0" smtClean="0">
                <a:latin typeface="Times New Roman" panose="02020603050405020304" pitchFamily="18" charset="0"/>
                <a:cs typeface="Times New Roman" panose="02020603050405020304" pitchFamily="18" charset="0"/>
              </a:rPr>
              <a:t>Cloud</a:t>
            </a:r>
          </a:p>
          <a:p>
            <a:pPr algn="ctr"/>
            <a:r>
              <a:rPr lang="en-US" sz="2000" b="1" dirty="0">
                <a:latin typeface="Times New Roman" panose="02020603050405020304" pitchFamily="18" charset="0"/>
                <a:cs typeface="Times New Roman" panose="02020603050405020304" pitchFamily="18" charset="0"/>
              </a:rPr>
              <a:t> </a:t>
            </a:r>
            <a:r>
              <a:rPr lang="en-US" sz="2000" u="sng" dirty="0" smtClean="0">
                <a:latin typeface="Times New Roman" panose="02020603050405020304" pitchFamily="18" charset="0"/>
                <a:cs typeface="Times New Roman" panose="02020603050405020304" pitchFamily="18" charset="0"/>
              </a:rPr>
              <a:t>Monitoring </a:t>
            </a:r>
            <a:r>
              <a:rPr lang="en-US" sz="2000" u="sng" dirty="0">
                <a:latin typeface="Times New Roman" panose="02020603050405020304" pitchFamily="18" charset="0"/>
                <a:cs typeface="Times New Roman" panose="02020603050405020304" pitchFamily="18" charset="0"/>
              </a:rPr>
              <a:t>in the </a:t>
            </a:r>
            <a:r>
              <a:rPr lang="en-US" sz="2000" u="sng" dirty="0" smtClean="0">
                <a:latin typeface="Times New Roman" panose="02020603050405020304" pitchFamily="18" charset="0"/>
                <a:cs typeface="Times New Roman" panose="02020603050405020304" pitchFamily="18" charset="0"/>
              </a:rPr>
              <a:t>Cloud</a:t>
            </a:r>
            <a:endParaRPr lang="en-US" sz="2000" u="sng"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1. </a:t>
            </a:r>
            <a:r>
              <a:rPr lang="en-US" sz="2000" b="1" dirty="0">
                <a:latin typeface="Times New Roman" panose="02020603050405020304" pitchFamily="18" charset="0"/>
                <a:cs typeface="Times New Roman" panose="02020603050405020304" pitchFamily="18" charset="0"/>
              </a:rPr>
              <a:t>Real-time Metrics:</a:t>
            </a:r>
          </a:p>
          <a:p>
            <a:r>
              <a:rPr lang="en-US" sz="2000" dirty="0">
                <a:latin typeface="Times New Roman" panose="02020603050405020304" pitchFamily="18" charset="0"/>
                <a:cs typeface="Times New Roman" panose="02020603050405020304" pitchFamily="18" charset="0"/>
              </a:rPr>
              <a:t>● Constantly track performance indicators like CPU usage, memory utilization, and network traffic to gain insights into the health of your cloud resources.</a:t>
            </a:r>
          </a:p>
          <a:p>
            <a:r>
              <a:rPr lang="en-US" sz="2000" dirty="0">
                <a:latin typeface="Times New Roman" panose="02020603050405020304" pitchFamily="18" charset="0"/>
                <a:cs typeface="Times New Roman" panose="02020603050405020304" pitchFamily="18" charset="0"/>
              </a:rPr>
              <a:t> 2. </a:t>
            </a:r>
            <a:r>
              <a:rPr lang="en-US" sz="2000" b="1" dirty="0">
                <a:latin typeface="Times New Roman" panose="02020603050405020304" pitchFamily="18" charset="0"/>
                <a:cs typeface="Times New Roman" panose="02020603050405020304" pitchFamily="18" charset="0"/>
              </a:rPr>
              <a:t>Alerting: </a:t>
            </a:r>
          </a:p>
          <a:p>
            <a:r>
              <a:rPr lang="en-US" sz="2000" dirty="0">
                <a:latin typeface="Times New Roman" panose="02020603050405020304" pitchFamily="18" charset="0"/>
                <a:cs typeface="Times New Roman" panose="02020603050405020304" pitchFamily="18" charset="0"/>
              </a:rPr>
              <a:t>●Set up alerts to promptly notify you of any anomalies or breaches in predefined thresholds, enabling swift response and issue resolution.</a:t>
            </a:r>
          </a:p>
          <a:p>
            <a:r>
              <a:rPr lang="en-US" sz="2000" dirty="0">
                <a:latin typeface="Times New Roman" panose="02020603050405020304" pitchFamily="18" charset="0"/>
                <a:cs typeface="Times New Roman" panose="02020603050405020304" pitchFamily="18" charset="0"/>
              </a:rPr>
              <a:t>3. </a:t>
            </a:r>
            <a:r>
              <a:rPr lang="en-US" sz="2000" b="1" dirty="0">
                <a:latin typeface="Times New Roman" panose="02020603050405020304" pitchFamily="18" charset="0"/>
                <a:cs typeface="Times New Roman" panose="02020603050405020304" pitchFamily="18" charset="0"/>
              </a:rPr>
              <a:t>Availability Monitoring:</a:t>
            </a:r>
          </a:p>
          <a:p>
            <a:r>
              <a:rPr lang="en-US" sz="2000" dirty="0">
                <a:latin typeface="Times New Roman" panose="02020603050405020304" pitchFamily="18" charset="0"/>
                <a:cs typeface="Times New Roman" panose="02020603050405020304" pitchFamily="18" charset="0"/>
              </a:rPr>
              <a:t>● Ensure uninterrupted service delivery by monitoring the availability and uptime of your cloud services and applications.</a:t>
            </a:r>
          </a:p>
          <a:p>
            <a:r>
              <a:rPr lang="en-US" sz="2000" dirty="0">
                <a:latin typeface="Times New Roman" panose="02020603050405020304" pitchFamily="18" charset="0"/>
                <a:cs typeface="Times New Roman" panose="02020603050405020304" pitchFamily="18" charset="0"/>
              </a:rPr>
              <a:t>4. </a:t>
            </a:r>
            <a:r>
              <a:rPr lang="en-US" sz="2000" b="1" dirty="0">
                <a:latin typeface="Times New Roman" panose="02020603050405020304" pitchFamily="18" charset="0"/>
                <a:cs typeface="Times New Roman" panose="02020603050405020304" pitchFamily="18" charset="0"/>
              </a:rPr>
              <a:t>Security Monitoring: </a:t>
            </a:r>
          </a:p>
          <a:p>
            <a:r>
              <a:rPr lang="en-US" sz="2000" dirty="0">
                <a:latin typeface="Times New Roman" panose="02020603050405020304" pitchFamily="18" charset="0"/>
                <a:cs typeface="Times New Roman" panose="02020603050405020304" pitchFamily="18" charset="0"/>
              </a:rPr>
              <a:t>●Monitor for suspicious activities and security breaches to safeguard your cloud environment and data integrity.</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231033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35315" y="667657"/>
            <a:ext cx="10116457" cy="5232202"/>
          </a:xfrm>
          <a:prstGeom prst="rect">
            <a:avLst/>
          </a:prstGeom>
          <a:noFill/>
        </p:spPr>
        <p:txBody>
          <a:bodyPr wrap="square" rtlCol="0">
            <a:spAutoFit/>
          </a:bodyPr>
          <a:lstStyle/>
          <a:p>
            <a:pPr algn="ctr"/>
            <a:r>
              <a:rPr lang="en-US" u="sng" dirty="0">
                <a:latin typeface="Times New Roman" panose="02020603050405020304" pitchFamily="18" charset="0"/>
                <a:cs typeface="Times New Roman" panose="02020603050405020304" pitchFamily="18" charset="0"/>
              </a:rPr>
              <a:t>Management in the Cloud</a:t>
            </a:r>
          </a:p>
          <a:p>
            <a:r>
              <a:rPr lang="en-US" dirty="0">
                <a:latin typeface="Times New Roman" panose="02020603050405020304" pitchFamily="18" charset="0"/>
                <a:cs typeface="Times New Roman" panose="02020603050405020304" pitchFamily="18" charset="0"/>
              </a:rPr>
              <a:t> </a:t>
            </a:r>
          </a:p>
          <a:p>
            <a:pPr marL="342900" indent="-342900">
              <a:buAutoNum type="arabicPeriod"/>
            </a:pPr>
            <a:r>
              <a:rPr lang="en-US" sz="2000" b="1" dirty="0" smtClean="0">
                <a:latin typeface="Times New Roman" panose="02020603050405020304" pitchFamily="18" charset="0"/>
                <a:cs typeface="Times New Roman" panose="02020603050405020304" pitchFamily="18" charset="0"/>
              </a:rPr>
              <a:t>Resource </a:t>
            </a:r>
            <a:r>
              <a:rPr lang="en-US" sz="2000" b="1" dirty="0">
                <a:latin typeface="Times New Roman" panose="02020603050405020304" pitchFamily="18" charset="0"/>
                <a:cs typeface="Times New Roman" panose="02020603050405020304" pitchFamily="18" charset="0"/>
              </a:rPr>
              <a:t>Provisioning</a:t>
            </a:r>
            <a:r>
              <a:rPr lang="en-US" sz="2000" b="1"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Efficiently </a:t>
            </a:r>
            <a:r>
              <a:rPr lang="en-US" sz="2000" dirty="0">
                <a:latin typeface="Times New Roman" panose="02020603050405020304" pitchFamily="18" charset="0"/>
                <a:cs typeface="Times New Roman" panose="02020603050405020304" pitchFamily="18" charset="0"/>
              </a:rPr>
              <a:t>provision and configure cloud resources to match the demands of your applications, ensuring scalability and performance.</a:t>
            </a:r>
          </a:p>
          <a:p>
            <a:r>
              <a:rPr lang="en-US" sz="2000" dirty="0">
                <a:latin typeface="Times New Roman" panose="02020603050405020304" pitchFamily="18" charset="0"/>
                <a:cs typeface="Times New Roman" panose="02020603050405020304" pitchFamily="18" charset="0"/>
              </a:rPr>
              <a:t>2. </a:t>
            </a:r>
            <a:r>
              <a:rPr lang="en-US" sz="2000" b="1" dirty="0">
                <a:latin typeface="Times New Roman" panose="02020603050405020304" pitchFamily="18" charset="0"/>
                <a:cs typeface="Times New Roman" panose="02020603050405020304" pitchFamily="18" charset="0"/>
              </a:rPr>
              <a:t>Automation:</a:t>
            </a:r>
          </a:p>
          <a:p>
            <a:r>
              <a:rPr lang="en-US" sz="2000" dirty="0">
                <a:latin typeface="Times New Roman" panose="02020603050405020304" pitchFamily="18" charset="0"/>
                <a:cs typeface="Times New Roman" panose="02020603050405020304" pitchFamily="18" charset="0"/>
              </a:rPr>
              <a:t>Streamline repetitive tasks such as deployment, scaling, and configuration management through automation, improving operational efficiency and consistency.</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3. </a:t>
            </a:r>
            <a:r>
              <a:rPr lang="en-US" sz="2000" b="1" dirty="0">
                <a:latin typeface="Times New Roman" panose="02020603050405020304" pitchFamily="18" charset="0"/>
                <a:cs typeface="Times New Roman" panose="02020603050405020304" pitchFamily="18" charset="0"/>
              </a:rPr>
              <a:t>Cost Optimization:</a:t>
            </a:r>
          </a:p>
          <a:p>
            <a:r>
              <a:rPr lang="en-US" sz="2000" dirty="0">
                <a:latin typeface="Times New Roman" panose="02020603050405020304" pitchFamily="18" charset="0"/>
                <a:cs typeface="Times New Roman" panose="02020603050405020304" pitchFamily="18" charset="0"/>
              </a:rPr>
              <a:t> Optimize costs by right-sizing resources, leveraging pricing models, and implementing cost-saving strategies, maximizing the value of your cloud investments.</a:t>
            </a:r>
          </a:p>
          <a:p>
            <a:r>
              <a:rPr lang="en-US" sz="2000" dirty="0">
                <a:latin typeface="Times New Roman" panose="02020603050405020304" pitchFamily="18" charset="0"/>
                <a:cs typeface="Times New Roman" panose="02020603050405020304" pitchFamily="18" charset="0"/>
              </a:rPr>
              <a:t>4. </a:t>
            </a:r>
            <a:r>
              <a:rPr lang="en-US" sz="2000" b="1" dirty="0">
                <a:latin typeface="Times New Roman" panose="02020603050405020304" pitchFamily="18" charset="0"/>
                <a:cs typeface="Times New Roman" panose="02020603050405020304" pitchFamily="18" charset="0"/>
              </a:rPr>
              <a:t>Compliance and Governance:</a:t>
            </a:r>
          </a:p>
          <a:p>
            <a:r>
              <a:rPr lang="en-US" sz="2000" dirty="0">
                <a:latin typeface="Times New Roman" panose="02020603050405020304" pitchFamily="18" charset="0"/>
                <a:cs typeface="Times New Roman" panose="02020603050405020304" pitchFamily="18" charset="0"/>
              </a:rPr>
              <a:t>Ensure compliance with regulatory requirements and organizational policies, and implement governance controls to manage access, permissions, and data protection.</a:t>
            </a:r>
          </a:p>
          <a:p>
            <a:r>
              <a:rPr lang="en-US" sz="2000"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670766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62743" y="1291772"/>
            <a:ext cx="9768114" cy="4647426"/>
          </a:xfrm>
          <a:prstGeom prst="rect">
            <a:avLst/>
          </a:prstGeom>
          <a:noFill/>
        </p:spPr>
        <p:txBody>
          <a:bodyPr wrap="square" rtlCol="0">
            <a:spAutoFit/>
          </a:bodyPr>
          <a:lstStyle/>
          <a:p>
            <a:pPr algn="ctr"/>
            <a:r>
              <a:rPr lang="en-US" u="sng" dirty="0">
                <a:latin typeface="Times New Roman" panose="02020603050405020304" pitchFamily="18" charset="0"/>
                <a:cs typeface="Times New Roman" panose="02020603050405020304" pitchFamily="18" charset="0"/>
              </a:rPr>
              <a:t>Tools and </a:t>
            </a:r>
            <a:r>
              <a:rPr lang="en-US" u="sng" dirty="0" smtClean="0">
                <a:latin typeface="Times New Roman" panose="02020603050405020304" pitchFamily="18" charset="0"/>
                <a:cs typeface="Times New Roman" panose="02020603050405020304" pitchFamily="18" charset="0"/>
              </a:rPr>
              <a:t>Technologies</a:t>
            </a:r>
            <a:endParaRPr lang="en-US" u="sng"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1. </a:t>
            </a:r>
            <a:r>
              <a:rPr lang="en-US" sz="2000" b="1" dirty="0">
                <a:latin typeface="Times New Roman" panose="02020603050405020304" pitchFamily="18" charset="0"/>
                <a:cs typeface="Times New Roman" panose="02020603050405020304" pitchFamily="18" charset="0"/>
              </a:rPr>
              <a:t>Monitoring Tools:</a:t>
            </a:r>
          </a:p>
          <a:p>
            <a:r>
              <a:rPr lang="en-US" sz="2000" dirty="0">
                <a:latin typeface="Times New Roman" panose="02020603050405020304" pitchFamily="18" charset="0"/>
                <a:cs typeface="Times New Roman" panose="02020603050405020304" pitchFamily="18" charset="0"/>
              </a:rPr>
              <a:t>Utilize platforms like Amazon CloudWatch, Google Cloud Monitoring, and Azure Monitor, along with third-party solutions like Datadog and New Relic, for comprehensive monitoring capabilities.</a:t>
            </a:r>
          </a:p>
          <a:p>
            <a:r>
              <a:rPr lang="en-US" sz="2000" dirty="0">
                <a:latin typeface="Times New Roman" panose="02020603050405020304" pitchFamily="18" charset="0"/>
                <a:cs typeface="Times New Roman" panose="02020603050405020304" pitchFamily="18" charset="0"/>
              </a:rPr>
              <a:t>2. </a:t>
            </a:r>
            <a:r>
              <a:rPr lang="en-US" sz="2000" b="1" dirty="0">
                <a:latin typeface="Times New Roman" panose="02020603050405020304" pitchFamily="18" charset="0"/>
                <a:cs typeface="Times New Roman" panose="02020603050405020304" pitchFamily="18" charset="0"/>
              </a:rPr>
              <a:t>Management Platforms:</a:t>
            </a:r>
          </a:p>
          <a:p>
            <a:r>
              <a:rPr lang="en-US" sz="2000" dirty="0">
                <a:latin typeface="Times New Roman" panose="02020603050405020304" pitchFamily="18" charset="0"/>
                <a:cs typeface="Times New Roman" panose="02020603050405020304" pitchFamily="18" charset="0"/>
              </a:rPr>
              <a:t>Leverage cloud management platforms (CMPs) such as AWS Management Console, Google Cloud Console, and Azure Portal for centralized management and automation across cloud environments.</a:t>
            </a:r>
          </a:p>
          <a:p>
            <a:r>
              <a:rPr lang="en-US" sz="2000" dirty="0" smtClean="0">
                <a:latin typeface="Times New Roman" panose="02020603050405020304" pitchFamily="18" charset="0"/>
                <a:cs typeface="Times New Roman" panose="02020603050405020304" pitchFamily="18" charset="0"/>
              </a:rPr>
              <a:t>3. </a:t>
            </a:r>
            <a:r>
              <a:rPr lang="en-US" sz="2000" b="1" dirty="0">
                <a:latin typeface="Times New Roman" panose="02020603050405020304" pitchFamily="18" charset="0"/>
                <a:cs typeface="Times New Roman" panose="02020603050405020304" pitchFamily="18" charset="0"/>
              </a:rPr>
              <a:t>DevOps Practices:</a:t>
            </a:r>
          </a:p>
          <a:p>
            <a:r>
              <a:rPr lang="en-US" sz="2000" dirty="0">
                <a:latin typeface="Times New Roman" panose="02020603050405020304" pitchFamily="18" charset="0"/>
                <a:cs typeface="Times New Roman" panose="02020603050405020304" pitchFamily="18" charset="0"/>
              </a:rPr>
              <a:t> Embrace DevOps practices to foster collaboration between development and operations teams, integrating automation and continuous monitoring into your software development lifecycle.</a:t>
            </a:r>
          </a:p>
          <a:p>
            <a:r>
              <a:rPr lang="en-US" sz="2000" dirty="0">
                <a:latin typeface="Times New Roman" panose="02020603050405020304" pitchFamily="18" charset="0"/>
                <a:cs typeface="Times New Roman" panose="02020603050405020304" pitchFamily="18" charset="0"/>
              </a:rPr>
              <a:t> </a:t>
            </a:r>
          </a:p>
          <a:p>
            <a:endParaRPr lang="en-US" dirty="0"/>
          </a:p>
        </p:txBody>
      </p:sp>
    </p:spTree>
    <p:extLst>
      <p:ext uri="{BB962C8B-B14F-4D97-AF65-F5344CB8AC3E}">
        <p14:creationId xmlns:p14="http://schemas.microsoft.com/office/powerpoint/2010/main" val="15127158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04686" y="1016000"/>
            <a:ext cx="9405257" cy="4093428"/>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 </a:t>
            </a:r>
          </a:p>
          <a:p>
            <a:pPr algn="ctr"/>
            <a:r>
              <a:rPr lang="en-US" sz="2400" b="1" dirty="0" smtClean="0">
                <a:latin typeface="Times New Roman" panose="02020603050405020304" pitchFamily="18" charset="0"/>
                <a:cs typeface="Times New Roman" panose="02020603050405020304" pitchFamily="18" charset="0"/>
              </a:rPr>
              <a:t>DevOps</a:t>
            </a:r>
          </a:p>
          <a:p>
            <a:r>
              <a:rPr lang="en-US" b="1" i="1" dirty="0" smtClean="0">
                <a:latin typeface="Times New Roman" panose="02020603050405020304" pitchFamily="18" charset="0"/>
                <a:cs typeface="Times New Roman" panose="02020603050405020304" pitchFamily="18" charset="0"/>
              </a:rPr>
              <a:t>DevOps</a:t>
            </a:r>
            <a:r>
              <a:rPr lang="en-US" dirty="0" smtClean="0">
                <a:latin typeface="Times New Roman" panose="02020603050405020304" pitchFamily="18" charset="0"/>
                <a:cs typeface="Times New Roman" panose="02020603050405020304" pitchFamily="18" charset="0"/>
              </a:rPr>
              <a:t> is a set of practices and tools that combine software development (Dev) and IT operations (Ops) to automate and streamline the process of software delivery and infrastructure management.</a:t>
            </a:r>
          </a:p>
          <a:p>
            <a:r>
              <a:rPr lang="en-US" dirty="0" smtClean="0">
                <a:latin typeface="Times New Roman" panose="02020603050405020304" pitchFamily="18" charset="0"/>
                <a:cs typeface="Times New Roman" panose="02020603050405020304" pitchFamily="18" charset="0"/>
              </a:rPr>
              <a:t> The goal of DevOps is to improve the speed, reliability, and security of software development and deployment.  </a:t>
            </a:r>
          </a:p>
          <a:p>
            <a:pPr algn="ctr"/>
            <a:r>
              <a:rPr lang="en-US" sz="2000" b="1" dirty="0" smtClean="0">
                <a:latin typeface="Times New Roman" panose="02020603050405020304" pitchFamily="18" charset="0"/>
                <a:cs typeface="Times New Roman" panose="02020603050405020304" pitchFamily="18" charset="0"/>
              </a:rPr>
              <a:t>Continuous Integration (CI)</a:t>
            </a:r>
          </a:p>
          <a:p>
            <a:r>
              <a:rPr lang="en-US" dirty="0" smtClean="0">
                <a:latin typeface="Times New Roman" panose="02020603050405020304" pitchFamily="18" charset="0"/>
                <a:cs typeface="Times New Roman" panose="02020603050405020304" pitchFamily="18" charset="0"/>
              </a:rPr>
              <a:t>Continuous Integration is a software development practice where developers regularly merge their code changes into a central repository, and then automatically build, test, and validate the integrated code. In the cloud, CI is often implemented using cloud-based tools and services, such as:</a:t>
            </a:r>
          </a:p>
          <a:p>
            <a:r>
              <a:rPr lang="en-US" dirty="0" smtClean="0">
                <a:latin typeface="Times New Roman" panose="02020603050405020304" pitchFamily="18" charset="0"/>
                <a:cs typeface="Times New Roman" panose="02020603050405020304" pitchFamily="18" charset="0"/>
              </a:rPr>
              <a:t>- Cloud-hosted version control systems (e.g., GitHub, GitLab, Bitbucket)</a:t>
            </a:r>
          </a:p>
          <a:p>
            <a:r>
              <a:rPr lang="en-US" dirty="0" smtClean="0">
                <a:latin typeface="Times New Roman" panose="02020603050405020304" pitchFamily="18" charset="0"/>
                <a:cs typeface="Times New Roman" panose="02020603050405020304" pitchFamily="18" charset="0"/>
              </a:rPr>
              <a:t>- Automated build and testing tools (e.g., Jenkins, Travis CI, CircleCI)</a:t>
            </a:r>
          </a:p>
          <a:p>
            <a:r>
              <a:rPr lang="en-US" dirty="0" smtClean="0">
                <a:latin typeface="Times New Roman" panose="02020603050405020304" pitchFamily="18" charset="0"/>
                <a:cs typeface="Times New Roman" panose="02020603050405020304" pitchFamily="18" charset="0"/>
              </a:rPr>
              <a:t>- Cloud-based artifact repositories (e.g., Amazon S3, Azure Artifacts, Google Cloud Storage)</a:t>
            </a:r>
          </a:p>
          <a:p>
            <a:r>
              <a:rPr lang="en-US" dirty="0" smtClean="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9241815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1142" y="783771"/>
            <a:ext cx="10174514" cy="5016758"/>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Continuous Deployment (CD)</a:t>
            </a:r>
          </a:p>
          <a:p>
            <a:r>
              <a:rPr lang="en-US" sz="2000" dirty="0">
                <a:latin typeface="Times New Roman" panose="02020603050405020304" pitchFamily="18" charset="0"/>
                <a:cs typeface="Times New Roman" panose="02020603050405020304" pitchFamily="18" charset="0"/>
              </a:rPr>
              <a:t>Continuous Deployment is the process of automatically deploying software changes to production environments after the successful completion of the CI process. In the cloud, CD is often implemented using cloud-based orchestration and deployment tools, such as:</a:t>
            </a:r>
          </a:p>
          <a:p>
            <a:r>
              <a:rPr lang="en-US" sz="2000" dirty="0">
                <a:latin typeface="Times New Roman" panose="02020603050405020304" pitchFamily="18" charset="0"/>
                <a:cs typeface="Times New Roman" panose="02020603050405020304" pitchFamily="18" charset="0"/>
              </a:rPr>
              <a:t>- Container orchestration platforms (e.g., Kubernetes, Amazon ECS, Azure Kubernetes Service)</a:t>
            </a:r>
          </a:p>
          <a:p>
            <a:r>
              <a:rPr lang="en-US" sz="2000" dirty="0">
                <a:latin typeface="Times New Roman" panose="02020603050405020304" pitchFamily="18" charset="0"/>
                <a:cs typeface="Times New Roman" panose="02020603050405020304" pitchFamily="18" charset="0"/>
              </a:rPr>
              <a:t>- Cloud-based deployment services (e.g., AWS CodeDeploy, Azure App Service, Google Cloud Deploy)</a:t>
            </a:r>
          </a:p>
          <a:p>
            <a:r>
              <a:rPr lang="en-US" sz="2000" dirty="0">
                <a:latin typeface="Times New Roman" panose="02020603050405020304" pitchFamily="18" charset="0"/>
                <a:cs typeface="Times New Roman" panose="02020603050405020304" pitchFamily="18" charset="0"/>
              </a:rPr>
              <a:t>- Infrastructure as Code (IaC) tools (e.g., Terraform, CloudFormation, </a:t>
            </a:r>
            <a:r>
              <a:rPr lang="en-US" sz="2000" dirty="0" smtClean="0">
                <a:latin typeface="Times New Roman" panose="02020603050405020304" pitchFamily="18" charset="0"/>
                <a:cs typeface="Times New Roman" panose="02020603050405020304" pitchFamily="18" charset="0"/>
              </a:rPr>
              <a:t>Ansible)leading </a:t>
            </a:r>
            <a:r>
              <a:rPr lang="en-US" sz="2000" dirty="0">
                <a:latin typeface="Times New Roman" panose="02020603050405020304" pitchFamily="18" charset="0"/>
                <a:cs typeface="Times New Roman" panose="02020603050405020304" pitchFamily="18" charset="0"/>
              </a:rPr>
              <a:t>to better business outcomes</a:t>
            </a:r>
            <a:r>
              <a:rPr lang="en-US" sz="2000" dirty="0" smtClean="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The combination of DevOps, CI, and CD in the cloud enables organizations to:</a:t>
            </a:r>
          </a:p>
          <a:p>
            <a:r>
              <a:rPr lang="en-US" sz="2000" dirty="0">
                <a:latin typeface="Times New Roman" panose="02020603050405020304" pitchFamily="18" charset="0"/>
                <a:cs typeface="Times New Roman" panose="02020603050405020304" pitchFamily="18" charset="0"/>
              </a:rPr>
              <a:t>- Rapidly develop, test, and deploy software changes</a:t>
            </a:r>
          </a:p>
          <a:p>
            <a:r>
              <a:rPr lang="en-US" sz="2000" dirty="0">
                <a:latin typeface="Times New Roman" panose="02020603050405020304" pitchFamily="18" charset="0"/>
                <a:cs typeface="Times New Roman" panose="02020603050405020304" pitchFamily="18" charset="0"/>
              </a:rPr>
              <a:t>- Automatically provision and manage cloud infrastructure</a:t>
            </a:r>
          </a:p>
          <a:p>
            <a:r>
              <a:rPr lang="en-US" sz="2000" dirty="0">
                <a:latin typeface="Times New Roman" panose="02020603050405020304" pitchFamily="18" charset="0"/>
                <a:cs typeface="Times New Roman" panose="02020603050405020304" pitchFamily="18" charset="0"/>
              </a:rPr>
              <a:t>- Ensure consistent and reliable deployments</a:t>
            </a:r>
          </a:p>
          <a:p>
            <a:r>
              <a:rPr lang="en-US" sz="2000" dirty="0">
                <a:latin typeface="Times New Roman" panose="02020603050405020304" pitchFamily="18" charset="0"/>
                <a:cs typeface="Times New Roman" panose="02020603050405020304" pitchFamily="18" charset="0"/>
              </a:rPr>
              <a:t>- Quickly respond to changes and customer needs</a:t>
            </a:r>
          </a:p>
          <a:p>
            <a:r>
              <a:rPr lang="en-US" sz="2000" dirty="0">
                <a:latin typeface="Times New Roman" panose="02020603050405020304" pitchFamily="18" charset="0"/>
                <a:cs typeface="Times New Roman" panose="02020603050405020304" pitchFamily="18" charset="0"/>
              </a:rPr>
              <a:t>- Improve collaboration between development and operations teams</a:t>
            </a:r>
          </a:p>
          <a:p>
            <a:r>
              <a:rPr lang="en-US" sz="2000" dirty="0">
                <a:latin typeface="Times New Roman" panose="02020603050405020304" pitchFamily="18" charset="0"/>
                <a:cs typeface="Times New Roman" panose="02020603050405020304" pitchFamily="18" charset="0"/>
              </a:rPr>
              <a:t>- Enhance security and compliance through automated </a:t>
            </a:r>
            <a:r>
              <a:rPr lang="en-US" sz="2000" dirty="0" smtClean="0">
                <a:latin typeface="Times New Roman" panose="02020603050405020304" pitchFamily="18" charset="0"/>
                <a:cs typeface="Times New Roman" panose="02020603050405020304" pitchFamily="18" charset="0"/>
              </a:rPr>
              <a:t>processes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13706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48014" y="542471"/>
            <a:ext cx="9129486" cy="5632311"/>
          </a:xfrm>
          <a:prstGeom prst="rect">
            <a:avLst/>
          </a:prstGeom>
          <a:noFill/>
        </p:spPr>
        <p:txBody>
          <a:bodyPr wrap="square" rtlCol="0">
            <a:spAutoFit/>
          </a:bodyPr>
          <a:lstStyle/>
          <a:p>
            <a:pPr algn="ctr"/>
            <a:r>
              <a:rPr lang="en-US" sz="2000" b="1" u="sng" dirty="0">
                <a:latin typeface="Times New Roman" panose="02020603050405020304" pitchFamily="18" charset="0"/>
                <a:cs typeface="Times New Roman" panose="02020603050405020304" pitchFamily="18" charset="0"/>
              </a:rPr>
              <a:t>Serverless computing, containers, and orchestration </a:t>
            </a:r>
            <a:endParaRPr lang="en-US" sz="2000" b="1" u="sng"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b="1" dirty="0" smtClean="0">
                <a:latin typeface="Times New Roman" panose="02020603050405020304" pitchFamily="18" charset="0"/>
                <a:cs typeface="Times New Roman" panose="02020603050405020304" pitchFamily="18" charset="0"/>
              </a:rPr>
              <a:t>Serverless Computing</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Serverless computing allows developers to build and run applications and services without managing servers</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 is event-driven and automatically manages the infrastructure required to run the code</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Examples of serverless platforms include AWS Lambda, Azure Functions, and Google Cloud Functions</a:t>
            </a:r>
            <a:r>
              <a:rPr lang="en-US" sz="2000" dirty="0" smtClean="0">
                <a:latin typeface="Times New Roman" panose="02020603050405020304" pitchFamily="18" charset="0"/>
                <a:cs typeface="Times New Roman" panose="02020603050405020304" pitchFamily="18" charset="0"/>
              </a:rPr>
              <a:t>.</a:t>
            </a:r>
          </a:p>
          <a:p>
            <a:pPr marL="457200" indent="-457200">
              <a:buFont typeface="+mj-lt"/>
              <a:buAutoNum type="arabicPeriod" startAt="2"/>
            </a:pPr>
            <a:r>
              <a:rPr lang="en-US" sz="2000" b="1" dirty="0" smtClean="0">
                <a:latin typeface="Times New Roman" panose="02020603050405020304" pitchFamily="18" charset="0"/>
                <a:cs typeface="Times New Roman" panose="02020603050405020304" pitchFamily="18" charset="0"/>
              </a:rPr>
              <a:t>Containers</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Containers are lightweight, standalone, executable packages of software that include everything needed to run an application: code, runtime, system tools, system libraries, and settings</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-Containers </a:t>
            </a:r>
            <a:r>
              <a:rPr lang="en-US" sz="2000" dirty="0">
                <a:latin typeface="Times New Roman" panose="02020603050405020304" pitchFamily="18" charset="0"/>
                <a:cs typeface="Times New Roman" panose="02020603050405020304" pitchFamily="18" charset="0"/>
              </a:rPr>
              <a:t>provide consistency across different environments, from development to </a:t>
            </a:r>
            <a:r>
              <a:rPr lang="en-US" sz="2000" dirty="0" smtClean="0">
                <a:latin typeface="Times New Roman" panose="02020603050405020304" pitchFamily="18" charset="0"/>
                <a:cs typeface="Times New Roman" panose="02020603050405020304" pitchFamily="18" charset="0"/>
              </a:rPr>
              <a:t>production.</a:t>
            </a:r>
          </a:p>
          <a:p>
            <a:r>
              <a:rPr lang="en-US" sz="2000" dirty="0">
                <a:latin typeface="Times New Roman" panose="02020603050405020304" pitchFamily="18" charset="0"/>
                <a:cs typeface="Times New Roman" panose="02020603050405020304" pitchFamily="18" charset="0"/>
              </a:rPr>
              <a:t>-</a:t>
            </a:r>
            <a:r>
              <a:rPr lang="en-US" sz="2000" dirty="0" smtClean="0">
                <a:latin typeface="Times New Roman" panose="02020603050405020304" pitchFamily="18" charset="0"/>
                <a:cs typeface="Times New Roman" panose="02020603050405020304" pitchFamily="18" charset="0"/>
              </a:rPr>
              <a:t>Docker </a:t>
            </a:r>
            <a:r>
              <a:rPr lang="en-US" sz="2000" dirty="0">
                <a:latin typeface="Times New Roman" panose="02020603050405020304" pitchFamily="18" charset="0"/>
                <a:cs typeface="Times New Roman" panose="02020603050405020304" pitchFamily="18" charset="0"/>
              </a:rPr>
              <a:t>is a popular containerization platform used to create, deploy, and run applications in containers</a:t>
            </a:r>
            <a:r>
              <a:rPr lang="en-US" sz="2000" dirty="0" smtClean="0">
                <a:latin typeface="Times New Roman" panose="02020603050405020304" pitchFamily="18" charset="0"/>
                <a:cs typeface="Times New Roman" panose="02020603050405020304" pitchFamily="18" charset="0"/>
              </a:rPr>
              <a:t>.</a:t>
            </a:r>
          </a:p>
          <a:p>
            <a:pPr marL="457200" indent="-457200">
              <a:buFont typeface="+mj-lt"/>
              <a:buAutoNum type="arabicPeriod" startAt="3"/>
            </a:pPr>
            <a:r>
              <a:rPr lang="en-US" sz="2000" b="1" dirty="0" smtClean="0">
                <a:latin typeface="Times New Roman" panose="02020603050405020304" pitchFamily="18" charset="0"/>
                <a:cs typeface="Times New Roman" panose="02020603050405020304" pitchFamily="18" charset="0"/>
              </a:rPr>
              <a:t>Orchestration</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Orchestration is the automated configuration, coordination, and management of containers and their </a:t>
            </a:r>
            <a:r>
              <a:rPr lang="en-US" sz="2000" dirty="0" smtClean="0">
                <a:latin typeface="Times New Roman" panose="02020603050405020304" pitchFamily="18" charset="0"/>
                <a:cs typeface="Times New Roman" panose="02020603050405020304" pitchFamily="18" charset="0"/>
              </a:rPr>
              <a:t>lifecycle.</a:t>
            </a:r>
          </a:p>
          <a:p>
            <a:r>
              <a:rPr lang="en-US" sz="2000" dirty="0">
                <a:latin typeface="Times New Roman" panose="02020603050405020304" pitchFamily="18" charset="0"/>
                <a:cs typeface="Times New Roman" panose="02020603050405020304" pitchFamily="18" charset="0"/>
              </a:rPr>
              <a:t>-</a:t>
            </a:r>
            <a:r>
              <a:rPr lang="en-US" sz="2000" dirty="0" smtClean="0">
                <a:latin typeface="Times New Roman" panose="02020603050405020304" pitchFamily="18" charset="0"/>
                <a:cs typeface="Times New Roman" panose="02020603050405020304" pitchFamily="18" charset="0"/>
              </a:rPr>
              <a:t>Kubernetes </a:t>
            </a:r>
            <a:r>
              <a:rPr lang="en-US" sz="2000" dirty="0">
                <a:latin typeface="Times New Roman" panose="02020603050405020304" pitchFamily="18" charset="0"/>
                <a:cs typeface="Times New Roman" panose="02020603050405020304" pitchFamily="18" charset="0"/>
              </a:rPr>
              <a:t>is the most widely used container orchestration tool, providing features for scaling, deployment, and load balancing of containers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66389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6629" y="827314"/>
            <a:ext cx="10130971" cy="4801314"/>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 Benefits and challenges</a:t>
            </a:r>
          </a:p>
          <a:p>
            <a:pPr marL="457200" indent="-457200">
              <a:buAutoNum type="arabicPeriod"/>
            </a:pPr>
            <a:r>
              <a:rPr lang="en-US" b="1" dirty="0">
                <a:latin typeface="Times New Roman" panose="02020603050405020304" pitchFamily="18" charset="0"/>
                <a:cs typeface="Times New Roman" panose="02020603050405020304" pitchFamily="18" charset="0"/>
              </a:rPr>
              <a:t>Serverless Computing</a:t>
            </a:r>
            <a:r>
              <a:rPr lang="en-US"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Benefits : </a:t>
            </a:r>
            <a:r>
              <a:rPr lang="en-US" dirty="0">
                <a:latin typeface="Times New Roman" panose="02020603050405020304" pitchFamily="18" charset="0"/>
                <a:cs typeface="Times New Roman" panose="02020603050405020304" pitchFamily="18" charset="0"/>
              </a:rPr>
              <a:t>Serverless computing offers scalability, cost-effectiveness, and reduced operational complexity. Developers can focus on writing code without worrying about managing servers.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Challenges: </a:t>
            </a:r>
            <a:r>
              <a:rPr lang="en-US" dirty="0">
                <a:latin typeface="Times New Roman" panose="02020603050405020304" pitchFamily="18" charset="0"/>
                <a:cs typeface="Times New Roman" panose="02020603050405020304" pitchFamily="18" charset="0"/>
              </a:rPr>
              <a:t>Debugging and monitoring serverless applications can be more complex than traditional server-based applications. There may also be limitations on execution duration and resource usage.</a:t>
            </a:r>
          </a:p>
          <a:p>
            <a:r>
              <a:rPr lang="en-US" b="1" dirty="0">
                <a:latin typeface="Times New Roman" panose="02020603050405020304" pitchFamily="18" charset="0"/>
                <a:cs typeface="Times New Roman" panose="02020603050405020304" pitchFamily="18" charset="0"/>
              </a:rPr>
              <a:t>2. Containers </a:t>
            </a:r>
          </a:p>
          <a:p>
            <a:r>
              <a:rPr lang="en-US" b="1" dirty="0">
                <a:latin typeface="Times New Roman" panose="02020603050405020304" pitchFamily="18" charset="0"/>
                <a:cs typeface="Times New Roman" panose="02020603050405020304" pitchFamily="18" charset="0"/>
              </a:rPr>
              <a:t>Benefits: </a:t>
            </a:r>
            <a:r>
              <a:rPr lang="en-US" dirty="0">
                <a:latin typeface="Times New Roman" panose="02020603050405020304" pitchFamily="18" charset="0"/>
                <a:cs typeface="Times New Roman" panose="02020603050405020304" pitchFamily="18" charset="0"/>
              </a:rPr>
              <a:t>Containers provide a consistent environment across different platforms, which helps in reducing compatibility issues. They also offer efficient resource utilization and faster application deployment.   </a:t>
            </a:r>
          </a:p>
          <a:p>
            <a:r>
              <a:rPr lang="en-US" b="1" dirty="0">
                <a:latin typeface="Times New Roman" panose="02020603050405020304" pitchFamily="18" charset="0"/>
                <a:cs typeface="Times New Roman" panose="02020603050405020304" pitchFamily="18" charset="0"/>
              </a:rPr>
              <a:t>Challenges: </a:t>
            </a:r>
            <a:r>
              <a:rPr lang="en-US" dirty="0">
                <a:latin typeface="Times New Roman" panose="02020603050405020304" pitchFamily="18" charset="0"/>
                <a:cs typeface="Times New Roman" panose="02020603050405020304" pitchFamily="18" charset="0"/>
              </a:rPr>
              <a:t>Managing a large number of containers can be challenging, especially in terms of networking, security, and orchestration.</a:t>
            </a:r>
          </a:p>
          <a:p>
            <a:r>
              <a:rPr lang="en-US" b="1" dirty="0">
                <a:latin typeface="Times New Roman" panose="02020603050405020304" pitchFamily="18" charset="0"/>
                <a:cs typeface="Times New Roman" panose="02020603050405020304" pitchFamily="18" charset="0"/>
              </a:rPr>
              <a:t>3. Orchestration</a:t>
            </a: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Benefits: </a:t>
            </a:r>
            <a:r>
              <a:rPr lang="en-US" dirty="0">
                <a:latin typeface="Times New Roman" panose="02020603050405020304" pitchFamily="18" charset="0"/>
                <a:cs typeface="Times New Roman" panose="02020603050405020304" pitchFamily="18" charset="0"/>
              </a:rPr>
              <a:t>Orchestration tools like Kubernetes automate the deployment, scaling, and management of containerized applications. They provide features for service discovery, load balancing, and self-healing .</a:t>
            </a:r>
          </a:p>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Challenges: </a:t>
            </a:r>
            <a:r>
              <a:rPr lang="en-US" dirty="0">
                <a:latin typeface="Times New Roman" panose="02020603050405020304" pitchFamily="18" charset="0"/>
                <a:cs typeface="Times New Roman" panose="02020603050405020304" pitchFamily="18" charset="0"/>
              </a:rPr>
              <a:t>Setting up and configuring orchestration tools can be complex. Managing the lifecycle of applications and ensuring high availability requires expertise</a:t>
            </a:r>
          </a:p>
          <a:p>
            <a:endParaRPr lang="en-US" dirty="0"/>
          </a:p>
        </p:txBody>
      </p:sp>
    </p:spTree>
    <p:extLst>
      <p:ext uri="{BB962C8B-B14F-4D97-AF65-F5344CB8AC3E}">
        <p14:creationId xmlns:p14="http://schemas.microsoft.com/office/powerpoint/2010/main" val="403119335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33714" y="1204686"/>
            <a:ext cx="9768115" cy="4832092"/>
          </a:xfrm>
          <a:prstGeom prst="rect">
            <a:avLst/>
          </a:prstGeom>
          <a:noFill/>
        </p:spPr>
        <p:txBody>
          <a:bodyPr wrap="square" rtlCol="0">
            <a:spAutoFit/>
          </a:bodyPr>
          <a:lstStyle/>
          <a:p>
            <a:pPr algn="ctr"/>
            <a:r>
              <a:rPr lang="en-US" sz="2200" u="sng" dirty="0" smtClean="0">
                <a:latin typeface="Times New Roman" panose="02020603050405020304" pitchFamily="18" charset="0"/>
                <a:cs typeface="Times New Roman" panose="02020603050405020304" pitchFamily="18" charset="0"/>
              </a:rPr>
              <a:t>Big </a:t>
            </a:r>
            <a:r>
              <a:rPr lang="en-US" sz="2200" u="sng" dirty="0">
                <a:latin typeface="Times New Roman" panose="02020603050405020304" pitchFamily="18" charset="0"/>
                <a:cs typeface="Times New Roman" panose="02020603050405020304" pitchFamily="18" charset="0"/>
              </a:rPr>
              <a:t>data and </a:t>
            </a:r>
            <a:r>
              <a:rPr lang="en-US" sz="2200" u="sng" dirty="0" smtClean="0">
                <a:latin typeface="Times New Roman" panose="02020603050405020304" pitchFamily="18" charset="0"/>
                <a:cs typeface="Times New Roman" panose="02020603050405020304" pitchFamily="18" charset="0"/>
              </a:rPr>
              <a:t>analytics in </a:t>
            </a:r>
            <a:r>
              <a:rPr lang="en-US" sz="2200" u="sng" dirty="0">
                <a:latin typeface="Times New Roman" panose="02020603050405020304" pitchFamily="18" charset="0"/>
                <a:cs typeface="Times New Roman" panose="02020603050405020304" pitchFamily="18" charset="0"/>
              </a:rPr>
              <a:t>the </a:t>
            </a:r>
            <a:r>
              <a:rPr lang="en-US" sz="2200" u="sng" dirty="0" smtClean="0">
                <a:latin typeface="Times New Roman" panose="02020603050405020304" pitchFamily="18" charset="0"/>
                <a:cs typeface="Times New Roman" panose="02020603050405020304" pitchFamily="18" charset="0"/>
              </a:rPr>
              <a:t>cloud</a:t>
            </a:r>
          </a:p>
          <a:p>
            <a:r>
              <a:rPr lang="en-US" sz="2200" dirty="0" smtClean="0">
                <a:latin typeface="Times New Roman" panose="02020603050405020304" pitchFamily="18" charset="0"/>
                <a:cs typeface="Times New Roman" panose="02020603050405020304" pitchFamily="18" charset="0"/>
              </a:rPr>
              <a:t> Big </a:t>
            </a:r>
            <a:r>
              <a:rPr lang="en-US" sz="2200" dirty="0">
                <a:latin typeface="Times New Roman" panose="02020603050405020304" pitchFamily="18" charset="0"/>
                <a:cs typeface="Times New Roman" panose="02020603050405020304" pitchFamily="18" charset="0"/>
              </a:rPr>
              <a:t>data and analytics in the cloud offer </a:t>
            </a:r>
            <a:r>
              <a:rPr lang="en-US" sz="2200" i="1" dirty="0">
                <a:latin typeface="Times New Roman" panose="02020603050405020304" pitchFamily="18" charset="0"/>
                <a:cs typeface="Times New Roman" panose="02020603050405020304" pitchFamily="18" charset="0"/>
              </a:rPr>
              <a:t>scalability, flexibility</a:t>
            </a:r>
            <a:r>
              <a:rPr lang="en-US" sz="2200" dirty="0">
                <a:latin typeface="Times New Roman" panose="02020603050405020304" pitchFamily="18" charset="0"/>
                <a:cs typeface="Times New Roman" panose="02020603050405020304" pitchFamily="18" charset="0"/>
              </a:rPr>
              <a:t>, and </a:t>
            </a:r>
            <a:r>
              <a:rPr lang="en-US" sz="2200" i="1" dirty="0" smtClean="0">
                <a:latin typeface="Times New Roman" panose="02020603050405020304" pitchFamily="18" charset="0"/>
                <a:cs typeface="Times New Roman" panose="02020603050405020304" pitchFamily="18" charset="0"/>
              </a:rPr>
              <a:t>cost-effectiveness</a:t>
            </a:r>
            <a:r>
              <a:rPr lang="en-US" sz="2200" dirty="0">
                <a:latin typeface="Times New Roman" panose="02020603050405020304" pitchFamily="18" charset="0"/>
                <a:cs typeface="Times New Roman" panose="02020603050405020304" pitchFamily="18" charset="0"/>
              </a:rPr>
              <a:t>. Cloud platforms provide the infrastructure needed to store and process large volumes of data, while analytics tools enable businesses to derive insights and make data-driven decisions faster</a:t>
            </a:r>
            <a:r>
              <a:rPr lang="en-US" sz="2200" dirty="0" smtClean="0">
                <a:latin typeface="Times New Roman" panose="02020603050405020304" pitchFamily="18" charset="0"/>
                <a:cs typeface="Times New Roman" panose="02020603050405020304" pitchFamily="18" charset="0"/>
              </a:rPr>
              <a:t>.</a:t>
            </a:r>
          </a:p>
          <a:p>
            <a:r>
              <a:rPr lang="en-US" sz="2200" dirty="0" smtClean="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By leveraging cloud infrastructure, organizations can easily scale their big data and analytics solutions up or down based on their needs. This scalability allows them to handle large volumes of data without worrying about infrastructure limitations. Additionally, cloud platforms offer flexibility in terms of deployment options and the ability to choose from a variety of analytics tools and services. This flexibility enables businesses to adapt their analytics solutions to changing requirements and technologies. Moreover, the pay-as-you-go pricing model of cloud services can be more cost-effective compared to investing in and maintaining on-premises infrastructure.</a:t>
            </a:r>
          </a:p>
        </p:txBody>
      </p:sp>
    </p:spTree>
    <p:extLst>
      <p:ext uri="{BB962C8B-B14F-4D97-AF65-F5344CB8AC3E}">
        <p14:creationId xmlns:p14="http://schemas.microsoft.com/office/powerpoint/2010/main" val="9378786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86972" y="638629"/>
            <a:ext cx="10305142" cy="5447645"/>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c</a:t>
            </a:r>
            <a:r>
              <a:rPr lang="en-US" sz="2800" b="1" dirty="0" smtClean="0">
                <a:latin typeface="Times New Roman" panose="02020603050405020304" pitchFamily="18" charset="0"/>
                <a:cs typeface="Times New Roman" panose="02020603050405020304" pitchFamily="18" charset="0"/>
              </a:rPr>
              <a:t>loud </a:t>
            </a:r>
            <a:r>
              <a:rPr lang="en-US" sz="2800" b="1" dirty="0">
                <a:latin typeface="Times New Roman" panose="02020603050405020304" pitchFamily="18" charset="0"/>
                <a:cs typeface="Times New Roman" panose="02020603050405020304" pitchFamily="18" charset="0"/>
              </a:rPr>
              <a:t>economics and cost management in cloud </a:t>
            </a:r>
            <a:r>
              <a:rPr lang="en-US" sz="2800" b="1" dirty="0" smtClean="0">
                <a:latin typeface="Times New Roman" panose="02020603050405020304" pitchFamily="18" charset="0"/>
                <a:cs typeface="Times New Roman" panose="02020603050405020304" pitchFamily="18" charset="0"/>
              </a:rPr>
              <a:t>computing</a:t>
            </a:r>
          </a:p>
          <a:p>
            <a:pPr algn="ct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Cloud </a:t>
            </a:r>
            <a:r>
              <a:rPr lang="en-US" sz="2000" dirty="0" smtClean="0">
                <a:latin typeface="Times New Roman" panose="02020603050405020304" pitchFamily="18" charset="0"/>
                <a:cs typeface="Times New Roman" panose="02020603050405020304" pitchFamily="18" charset="0"/>
              </a:rPr>
              <a:t>Economics</a:t>
            </a:r>
          </a:p>
          <a:p>
            <a:r>
              <a:rPr lang="en-US" sz="2000" dirty="0" smtClean="0">
                <a:latin typeface="Times New Roman" panose="02020603050405020304" pitchFamily="18" charset="0"/>
                <a:cs typeface="Times New Roman" panose="02020603050405020304" pitchFamily="18" charset="0"/>
              </a:rPr>
              <a:t>1.Pay-as-you-go </a:t>
            </a:r>
            <a:r>
              <a:rPr lang="en-US" sz="2000" dirty="0">
                <a:latin typeface="Times New Roman" panose="02020603050405020304" pitchFamily="18" charset="0"/>
                <a:cs typeface="Times New Roman" panose="02020603050405020304" pitchFamily="18" charset="0"/>
              </a:rPr>
              <a:t>model: Cloud computing follows a pay-as-you-go pricing model, where users only pay for the resources they consume, such as computing power, storage, and network bandwidth, rather than investing in expensive on-premises infrastructure</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Elasticity and scalability: Cloud computing allows organizations to scale resources up or down based on demand, enabling them to match their computing needs and avoid over-provisioning or under-provisioning</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Reduced capital expenditure (CapEx): With cloud computing, organizations can avoid the upfront costs of purchasing and maintaining hardware, software, and data centers, as these are managed by the cloud service provider</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Operational expenditure (OpEx) model: Cloud computing shifts the cost structure from CapEx to OpEx, allowing organizations to treat IT expenses as operating costs rather than capital investments</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5</a:t>
            </a:r>
            <a:r>
              <a:rPr lang="en-US" sz="2000" dirty="0">
                <a:latin typeface="Times New Roman" panose="02020603050405020304" pitchFamily="18" charset="0"/>
                <a:cs typeface="Times New Roman" panose="02020603050405020304" pitchFamily="18" charset="0"/>
              </a:rPr>
              <a:t>. Cost optimization: Cloud providers offer various pricing models, such as on-demand, reserved instances, and spot instances, allowing organizations to optimize their cloud costs based on their workload patterns and requirements</a:t>
            </a:r>
            <a:r>
              <a:rPr lang="en-US" sz="20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47624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5371" y="566058"/>
            <a:ext cx="10450286" cy="4093428"/>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Cloud Cost Management</a:t>
            </a:r>
          </a:p>
          <a:p>
            <a:r>
              <a:rPr lang="en-US" sz="2000" dirty="0">
                <a:latin typeface="Times New Roman" panose="02020603050405020304" pitchFamily="18" charset="0"/>
                <a:cs typeface="Times New Roman" panose="02020603050405020304" pitchFamily="18" charset="0"/>
              </a:rPr>
              <a:t>1. </a:t>
            </a:r>
            <a:r>
              <a:rPr lang="en-US" sz="2000" i="1" dirty="0">
                <a:latin typeface="Times New Roman" panose="02020603050405020304" pitchFamily="18" charset="0"/>
                <a:cs typeface="Times New Roman" panose="02020603050405020304" pitchFamily="18" charset="0"/>
              </a:rPr>
              <a:t>Resource monitoring and optimization</a:t>
            </a:r>
            <a:r>
              <a:rPr lang="en-US" sz="2000" dirty="0">
                <a:latin typeface="Times New Roman" panose="02020603050405020304" pitchFamily="18" charset="0"/>
                <a:cs typeface="Times New Roman" panose="02020603050405020304" pitchFamily="18" charset="0"/>
              </a:rPr>
              <a:t>: Continuously monitoring cloud resource usage, identifying underutilized resources, and right-sizing instances can help organizations optimize their cloud costs.</a:t>
            </a:r>
          </a:p>
          <a:p>
            <a:r>
              <a:rPr lang="en-US" sz="2000" dirty="0">
                <a:latin typeface="Times New Roman" panose="02020603050405020304" pitchFamily="18" charset="0"/>
                <a:cs typeface="Times New Roman" panose="02020603050405020304" pitchFamily="18" charset="0"/>
              </a:rPr>
              <a:t>2. </a:t>
            </a:r>
            <a:r>
              <a:rPr lang="en-US" sz="2000" i="1" dirty="0">
                <a:latin typeface="Times New Roman" panose="02020603050405020304" pitchFamily="18" charset="0"/>
                <a:cs typeface="Times New Roman" panose="02020603050405020304" pitchFamily="18" charset="0"/>
              </a:rPr>
              <a:t>Cost allocation and chargeback</a:t>
            </a:r>
            <a:r>
              <a:rPr lang="en-US" sz="2000" dirty="0">
                <a:latin typeface="Times New Roman" panose="02020603050405020304" pitchFamily="18" charset="0"/>
                <a:cs typeface="Times New Roman" panose="02020603050405020304" pitchFamily="18" charset="0"/>
              </a:rPr>
              <a:t>: Implementing cost allocation and chargeback mechanisms can help organizations understand the cost drivers and allocate cloud expenses to different business units or projects.</a:t>
            </a:r>
            <a:endParaRPr lang="en-US" sz="2000" i="1" dirty="0">
              <a:latin typeface="Times New Roman" panose="02020603050405020304" pitchFamily="18" charset="0"/>
              <a:cs typeface="Times New Roman" panose="02020603050405020304" pitchFamily="18" charset="0"/>
            </a:endParaRPr>
          </a:p>
          <a:p>
            <a:r>
              <a:rPr lang="en-US" sz="2000" i="1" dirty="0">
                <a:latin typeface="Times New Roman" panose="02020603050405020304" pitchFamily="18" charset="0"/>
                <a:cs typeface="Times New Roman" panose="02020603050405020304" pitchFamily="18" charset="0"/>
              </a:rPr>
              <a:t>3. Reserved instances and committed use </a:t>
            </a:r>
            <a:r>
              <a:rPr lang="en-US" sz="2000" i="1" dirty="0" smtClean="0">
                <a:latin typeface="Times New Roman" panose="02020603050405020304" pitchFamily="18" charset="0"/>
                <a:cs typeface="Times New Roman" panose="02020603050405020304" pitchFamily="18" charset="0"/>
              </a:rPr>
              <a:t>discounts</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Purchasing reserved instances or committing to a certain level of usage can provide significant cost savings compared to on-demand pricing.</a:t>
            </a:r>
          </a:p>
          <a:p>
            <a:r>
              <a:rPr lang="en-US" sz="2000" dirty="0">
                <a:latin typeface="Times New Roman" panose="02020603050405020304" pitchFamily="18" charset="0"/>
                <a:cs typeface="Times New Roman" panose="02020603050405020304" pitchFamily="18" charset="0"/>
              </a:rPr>
              <a:t>4. </a:t>
            </a:r>
            <a:r>
              <a:rPr lang="en-US" sz="2000" i="1" dirty="0">
                <a:latin typeface="Times New Roman" panose="02020603050405020304" pitchFamily="18" charset="0"/>
                <a:cs typeface="Times New Roman" panose="02020603050405020304" pitchFamily="18" charset="0"/>
              </a:rPr>
              <a:t>Spot instances and </a:t>
            </a:r>
            <a:r>
              <a:rPr lang="en-US" sz="2000" i="1" dirty="0" smtClean="0">
                <a:latin typeface="Times New Roman" panose="02020603050405020304" pitchFamily="18" charset="0"/>
                <a:cs typeface="Times New Roman" panose="02020603050405020304" pitchFamily="18" charset="0"/>
              </a:rPr>
              <a:t>pre-emptible </a:t>
            </a:r>
            <a:r>
              <a:rPr lang="en-US" sz="2000" i="1" dirty="0">
                <a:latin typeface="Times New Roman" panose="02020603050405020304" pitchFamily="18" charset="0"/>
                <a:cs typeface="Times New Roman" panose="02020603050405020304" pitchFamily="18" charset="0"/>
              </a:rPr>
              <a:t>VMs</a:t>
            </a:r>
            <a:r>
              <a:rPr lang="en-US" sz="2000" dirty="0">
                <a:latin typeface="Times New Roman" panose="02020603050405020304" pitchFamily="18" charset="0"/>
                <a:cs typeface="Times New Roman" panose="02020603050405020304" pitchFamily="18" charset="0"/>
              </a:rPr>
              <a:t>: Leveraging spot instances or </a:t>
            </a:r>
            <a:r>
              <a:rPr lang="en-US" sz="2000" dirty="0" smtClean="0">
                <a:latin typeface="Times New Roman" panose="02020603050405020304" pitchFamily="18" charset="0"/>
                <a:cs typeface="Times New Roman" panose="02020603050405020304" pitchFamily="18" charset="0"/>
              </a:rPr>
              <a:t>pre-emptible </a:t>
            </a:r>
            <a:r>
              <a:rPr lang="en-US" sz="2000" dirty="0">
                <a:latin typeface="Times New Roman" panose="02020603050405020304" pitchFamily="18" charset="0"/>
                <a:cs typeface="Times New Roman" panose="02020603050405020304" pitchFamily="18" charset="0"/>
              </a:rPr>
              <a:t>VMs, which are discounted resources that can be interrupted, can help organizations reduce their cloud costs for certain workloads.</a:t>
            </a:r>
          </a:p>
          <a:p>
            <a:endParaRPr lang="en-US" sz="2000" dirty="0"/>
          </a:p>
        </p:txBody>
      </p:sp>
    </p:spTree>
    <p:extLst>
      <p:ext uri="{BB962C8B-B14F-4D97-AF65-F5344CB8AC3E}">
        <p14:creationId xmlns:p14="http://schemas.microsoft.com/office/powerpoint/2010/main" val="26112761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5028" y="580573"/>
            <a:ext cx="10421257" cy="317009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5. </a:t>
            </a:r>
            <a:r>
              <a:rPr lang="en-US" sz="2000" i="1" dirty="0">
                <a:latin typeface="Times New Roman" panose="02020603050405020304" pitchFamily="18" charset="0"/>
                <a:cs typeface="Times New Roman" panose="02020603050405020304" pitchFamily="18" charset="0"/>
              </a:rPr>
              <a:t>Cost forecasting and budgeting: </a:t>
            </a:r>
            <a:r>
              <a:rPr lang="en-US" sz="2000" dirty="0">
                <a:latin typeface="Times New Roman" panose="02020603050405020304" pitchFamily="18" charset="0"/>
                <a:cs typeface="Times New Roman" panose="02020603050405020304" pitchFamily="18" charset="0"/>
              </a:rPr>
              <a:t>Accurate cost forecasting and budgeting can help organizations plan and manage their cloud expenditure effectively, avoiding unexpected cost overruns</a:t>
            </a:r>
            <a:r>
              <a:rPr lang="en-US" sz="2000" dirty="0" smtClean="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6. </a:t>
            </a:r>
            <a:r>
              <a:rPr lang="en-US" sz="2000" i="1" dirty="0">
                <a:latin typeface="Times New Roman" panose="02020603050405020304" pitchFamily="18" charset="0"/>
                <a:cs typeface="Times New Roman" panose="02020603050405020304" pitchFamily="18" charset="0"/>
              </a:rPr>
              <a:t>Cloud cost optimization tools: </a:t>
            </a:r>
            <a:r>
              <a:rPr lang="en-US" sz="2000" dirty="0">
                <a:latin typeface="Times New Roman" panose="02020603050405020304" pitchFamily="18" charset="0"/>
                <a:cs typeface="Times New Roman" panose="02020603050405020304" pitchFamily="18" charset="0"/>
              </a:rPr>
              <a:t>Utilizing cloud cost optimization tools and services provided by cloud providers or third-party vendors can help organizations identify and implement cost-saving strategies. Overall, cloud economics and cost management are crucial aspects of cloud computing, as they enable organizations to optimize their cloud spending, reduce costs, and achieve better financial outcomes</a:t>
            </a:r>
            <a:r>
              <a:rPr lang="en-US" sz="2000" dirty="0" smtClean="0">
                <a:latin typeface="Times New Roman" panose="02020603050405020304" pitchFamily="18" charset="0"/>
                <a:cs typeface="Times New Roman" panose="02020603050405020304" pitchFamily="18" charset="0"/>
              </a:rPr>
              <a:t>.</a:t>
            </a:r>
          </a:p>
          <a:p>
            <a:pPr marL="342900" indent="-342900">
              <a:buFontTx/>
              <a:buChar char="-"/>
            </a:pPr>
            <a:r>
              <a:rPr lang="en-US" sz="2000" dirty="0" smtClean="0">
                <a:latin typeface="Times New Roman" panose="02020603050405020304" pitchFamily="18" charset="0"/>
                <a:cs typeface="Times New Roman" panose="02020603050405020304" pitchFamily="18" charset="0"/>
              </a:rPr>
              <a:t>Orchestration </a:t>
            </a:r>
            <a:r>
              <a:rPr lang="en-US" sz="2000" dirty="0">
                <a:latin typeface="Times New Roman" panose="02020603050405020304" pitchFamily="18" charset="0"/>
                <a:cs typeface="Times New Roman" panose="02020603050405020304" pitchFamily="18" charset="0"/>
              </a:rPr>
              <a:t>tools help manage the complexity of deploying and managing large-scale containerized applications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255370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17600" y="990600"/>
            <a:ext cx="10452100" cy="3785652"/>
          </a:xfrm>
          <a:prstGeom prst="rect">
            <a:avLst/>
          </a:prstGeom>
          <a:noFill/>
        </p:spPr>
        <p:txBody>
          <a:bodyPr wrap="square" rtlCol="0">
            <a:spAutoFit/>
          </a:bodyPr>
          <a:lstStyle/>
          <a:p>
            <a:pPr algn="ctr"/>
            <a:r>
              <a:rPr lang="en-US" sz="2000" b="1" u="sng" dirty="0" smtClean="0">
                <a:latin typeface="Times New Roman" panose="02020603050405020304" pitchFamily="18" charset="0"/>
                <a:cs typeface="Times New Roman" panose="02020603050405020304" pitchFamily="18" charset="0"/>
              </a:rPr>
              <a:t>AI </a:t>
            </a:r>
            <a:r>
              <a:rPr lang="en-US" sz="2000" b="1" u="sng" dirty="0">
                <a:latin typeface="Times New Roman" panose="02020603050405020304" pitchFamily="18" charset="0"/>
                <a:cs typeface="Times New Roman" panose="02020603050405020304" pitchFamily="18" charset="0"/>
              </a:rPr>
              <a:t>and Machine Learning in Cloud Computing</a:t>
            </a:r>
          </a:p>
          <a:p>
            <a:r>
              <a:rPr lang="en-US" sz="2000" dirty="0" smtClean="0">
                <a:latin typeface="Times New Roman" panose="02020603050405020304" pitchFamily="18" charset="0"/>
                <a:cs typeface="Times New Roman" panose="02020603050405020304" pitchFamily="18" charset="0"/>
              </a:rPr>
              <a:t>Cloud </a:t>
            </a:r>
            <a:r>
              <a:rPr lang="en-US" sz="2000" dirty="0">
                <a:latin typeface="Times New Roman" panose="02020603050405020304" pitchFamily="18" charset="0"/>
                <a:cs typeface="Times New Roman" panose="02020603050405020304" pitchFamily="18" charset="0"/>
              </a:rPr>
              <a:t>computing provides a powerful platform for developing, training, and deploying AI and machine learning </a:t>
            </a:r>
            <a:r>
              <a:rPr lang="en-US" sz="2000" dirty="0" smtClean="0">
                <a:latin typeface="Times New Roman" panose="02020603050405020304" pitchFamily="18" charset="0"/>
                <a:cs typeface="Times New Roman" panose="02020603050405020304" pitchFamily="18" charset="0"/>
              </a:rPr>
              <a:t>models.</a:t>
            </a:r>
          </a:p>
          <a:p>
            <a:r>
              <a:rPr lang="en-US" sz="2000" dirty="0" smtClean="0">
                <a:latin typeface="Times New Roman" panose="02020603050405020304" pitchFamily="18" charset="0"/>
                <a:cs typeface="Times New Roman" panose="02020603050405020304" pitchFamily="18" charset="0"/>
              </a:rPr>
              <a:t>Because;</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)Scalability: Cloud resources can be easily scaled up or down to meet the demanding computational needs of training complex AI models. This allows you to experiment with different algorithms and datasets without worrying about infrastructure limitations.</a:t>
            </a:r>
          </a:p>
          <a:p>
            <a:r>
              <a:rPr lang="en-US" sz="2000" dirty="0">
                <a:latin typeface="Times New Roman" panose="02020603050405020304" pitchFamily="18" charset="0"/>
                <a:cs typeface="Times New Roman" panose="02020603050405020304" pitchFamily="18" charset="0"/>
              </a:rPr>
              <a:t>(ii)High-Performance Computing: Cloud platforms offer access to powerful computing resources like GPUs and TPUs, specifically designed to accelerate machine learning tasks. This significantly reduces training times for complex models.</a:t>
            </a:r>
          </a:p>
          <a:p>
            <a:r>
              <a:rPr lang="en-US" sz="2000" dirty="0">
                <a:latin typeface="Times New Roman" panose="02020603050405020304" pitchFamily="18" charset="0"/>
                <a:cs typeface="Times New Roman" panose="02020603050405020304" pitchFamily="18" charset="0"/>
              </a:rPr>
              <a:t>(iii)Large Data Storage: Cloud storage provides the vast amount of space needed to store and manage the massive datasets required for effective machine learning</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46653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749300"/>
            <a:ext cx="9537700" cy="4708981"/>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(iv)Collaboration: Cloud environments facilitate collaboration among data scientists and developers. Teams can easily share data, models, and code, accelerating the development process.</a:t>
            </a:r>
          </a:p>
          <a:p>
            <a:r>
              <a:rPr lang="en-US" sz="2000" dirty="0">
                <a:latin typeface="Times New Roman" panose="02020603050405020304" pitchFamily="18" charset="0"/>
                <a:cs typeface="Times New Roman" panose="02020603050405020304" pitchFamily="18" charset="0"/>
              </a:rPr>
              <a:t>(V)Cost-Effectiveness: Cloud computing offers a pay-as-you-go model, so you only pay for the resources you use. This is particularly beneficial for AI projects that might require significant resources only during specific phases, like training.</a:t>
            </a:r>
          </a:p>
          <a:p>
            <a:pPr algn="ctr"/>
            <a:r>
              <a:rPr lang="en-US" sz="2000" b="1" dirty="0">
                <a:latin typeface="Times New Roman" panose="02020603050405020304" pitchFamily="18" charset="0"/>
                <a:cs typeface="Times New Roman" panose="02020603050405020304" pitchFamily="18" charset="0"/>
              </a:rPr>
              <a:t>Benefits of using </a:t>
            </a:r>
            <a:r>
              <a:rPr lang="en-US" sz="2000" b="1" dirty="0" smtClean="0">
                <a:latin typeface="Times New Roman" panose="02020603050405020304" pitchFamily="18" charset="0"/>
                <a:cs typeface="Times New Roman" panose="02020603050405020304" pitchFamily="18" charset="0"/>
              </a:rPr>
              <a:t>Cloud </a:t>
            </a:r>
            <a:r>
              <a:rPr lang="en-US" sz="2000" b="1" dirty="0">
                <a:latin typeface="Times New Roman" panose="02020603050405020304" pitchFamily="18" charset="0"/>
                <a:cs typeface="Times New Roman" panose="02020603050405020304" pitchFamily="18" charset="0"/>
              </a:rPr>
              <a:t>for </a:t>
            </a:r>
            <a:r>
              <a:rPr lang="en-US" sz="2000" b="1" dirty="0" smtClean="0">
                <a:latin typeface="Times New Roman" panose="02020603050405020304" pitchFamily="18" charset="0"/>
                <a:cs typeface="Times New Roman" panose="02020603050405020304" pitchFamily="18" charset="0"/>
              </a:rPr>
              <a:t>AI </a:t>
            </a:r>
            <a:r>
              <a:rPr lang="en-US" sz="2000" b="1" dirty="0">
                <a:latin typeface="Times New Roman" panose="02020603050405020304" pitchFamily="18" charset="0"/>
                <a:cs typeface="Times New Roman" panose="02020603050405020304" pitchFamily="18" charset="0"/>
              </a:rPr>
              <a:t>and Machine Learning</a:t>
            </a:r>
          </a:p>
          <a:p>
            <a:r>
              <a:rPr lang="en-US" sz="2000" dirty="0" smtClean="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a).Faster Development and Deployment: Cloud resources expedite the entire AI/ML workflow, from training to deployment.</a:t>
            </a:r>
          </a:p>
          <a:p>
            <a:r>
              <a:rPr lang="en-US" sz="2000" dirty="0">
                <a:latin typeface="Times New Roman" panose="02020603050405020304" pitchFamily="18" charset="0"/>
                <a:cs typeface="Times New Roman" panose="02020603050405020304" pitchFamily="18" charset="0"/>
              </a:rPr>
              <a:t>(b).Reduced Costs: The pay-as-you-go model eliminates the need for upfront investments in expensive hardware.</a:t>
            </a:r>
          </a:p>
          <a:p>
            <a:r>
              <a:rPr lang="en-US" sz="2000" dirty="0">
                <a:latin typeface="Times New Roman" panose="02020603050405020304" pitchFamily="18" charset="0"/>
                <a:cs typeface="Times New Roman" panose="02020603050405020304" pitchFamily="18" charset="0"/>
              </a:rPr>
              <a:t>(c).Improved Scalability: Easily adapt your resources based on project needs.</a:t>
            </a:r>
          </a:p>
          <a:p>
            <a:r>
              <a:rPr lang="en-US" sz="2000" dirty="0">
                <a:latin typeface="Times New Roman" panose="02020603050405020304" pitchFamily="18" charset="0"/>
                <a:cs typeface="Times New Roman" panose="02020603050405020304" pitchFamily="18" charset="0"/>
              </a:rPr>
              <a:t>(d).Enhanced Collaboration: Foster teamwork among data scientists and developers.</a:t>
            </a:r>
          </a:p>
          <a:p>
            <a:r>
              <a:rPr lang="en-US" sz="2000" dirty="0">
                <a:latin typeface="Times New Roman" panose="02020603050405020304" pitchFamily="18" charset="0"/>
                <a:cs typeface="Times New Roman" panose="02020603050405020304" pitchFamily="18" charset="0"/>
              </a:rPr>
              <a:t>(e).Access to Cutting-Edge Technology: Cloud providers continuously update their AI and machine learning offerings, ensuring you have access to the latest advancements.</a:t>
            </a:r>
            <a:endParaRPr lang="en-US" sz="2000" dirty="0"/>
          </a:p>
        </p:txBody>
      </p:sp>
    </p:spTree>
    <p:extLst>
      <p:ext uri="{BB962C8B-B14F-4D97-AF65-F5344CB8AC3E}">
        <p14:creationId xmlns:p14="http://schemas.microsoft.com/office/powerpoint/2010/main" val="4743191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495300"/>
            <a:ext cx="10020300" cy="4093428"/>
          </a:xfrm>
          <a:prstGeom prst="rect">
            <a:avLst/>
          </a:prstGeom>
          <a:noFill/>
        </p:spPr>
        <p:txBody>
          <a:bodyPr wrap="square" rtlCol="0">
            <a:spAutoFit/>
          </a:bodyPr>
          <a:lstStyle/>
          <a:p>
            <a:pPr algn="ctr"/>
            <a:r>
              <a:rPr lang="en-US" sz="2000" u="sng" dirty="0" smtClean="0">
                <a:latin typeface="Times New Roman" panose="02020603050405020304" pitchFamily="18" charset="0"/>
                <a:cs typeface="Times New Roman" panose="02020603050405020304" pitchFamily="18" charset="0"/>
              </a:rPr>
              <a:t>Compliance </a:t>
            </a:r>
            <a:r>
              <a:rPr lang="en-US" sz="2000" u="sng" dirty="0">
                <a:latin typeface="Times New Roman" panose="02020603050405020304" pitchFamily="18" charset="0"/>
                <a:cs typeface="Times New Roman" panose="02020603050405020304" pitchFamily="18" charset="0"/>
              </a:rPr>
              <a:t>and legal issues in Cloud </a:t>
            </a:r>
            <a:r>
              <a:rPr lang="en-US" sz="2000" u="sng" dirty="0" smtClean="0">
                <a:latin typeface="Times New Roman" panose="02020603050405020304" pitchFamily="18" charset="0"/>
                <a:cs typeface="Times New Roman" panose="02020603050405020304" pitchFamily="18" charset="0"/>
              </a:rPr>
              <a:t>Computing</a:t>
            </a:r>
          </a:p>
          <a:p>
            <a:r>
              <a:rPr lang="en-US" sz="2000" dirty="0" smtClean="0">
                <a:latin typeface="Times New Roman" panose="02020603050405020304" pitchFamily="18" charset="0"/>
                <a:cs typeface="Times New Roman" panose="02020603050405020304" pitchFamily="18" charset="0"/>
              </a:rPr>
              <a:t>Compliance </a:t>
            </a:r>
            <a:r>
              <a:rPr lang="en-US" sz="2000" dirty="0">
                <a:latin typeface="Times New Roman" panose="02020603050405020304" pitchFamily="18" charset="0"/>
                <a:cs typeface="Times New Roman" panose="02020603050405020304" pitchFamily="18" charset="0"/>
              </a:rPr>
              <a:t>and legal issues in cloud computing typically revolve around data privacy, security, </a:t>
            </a:r>
            <a:r>
              <a:rPr lang="en-US" sz="2000" dirty="0" smtClean="0">
                <a:latin typeface="Times New Roman" panose="02020603050405020304" pitchFamily="18" charset="0"/>
                <a:cs typeface="Times New Roman" panose="02020603050405020304" pitchFamily="18" charset="0"/>
              </a:rPr>
              <a:t>and jurisdictional concerns. </a:t>
            </a:r>
          </a:p>
          <a:p>
            <a:pPr algn="ctr"/>
            <a:r>
              <a:rPr lang="en-US" sz="2000" b="1" dirty="0" smtClean="0">
                <a:latin typeface="Times New Roman" panose="02020603050405020304" pitchFamily="18" charset="0"/>
                <a:cs typeface="Times New Roman" panose="02020603050405020304" pitchFamily="18" charset="0"/>
              </a:rPr>
              <a:t>Data privacy </a:t>
            </a:r>
            <a:r>
              <a:rPr lang="en-US" sz="2000" b="1" dirty="0">
                <a:latin typeface="Times New Roman" panose="02020603050405020304" pitchFamily="18" charset="0"/>
                <a:cs typeface="Times New Roman" panose="02020603050405020304" pitchFamily="18" charset="0"/>
              </a:rPr>
              <a:t>in Cloud </a:t>
            </a:r>
            <a:r>
              <a:rPr lang="en-US" sz="2000" b="1" dirty="0" smtClean="0">
                <a:latin typeface="Times New Roman" panose="02020603050405020304" pitchFamily="18" charset="0"/>
                <a:cs typeface="Times New Roman" panose="02020603050405020304" pitchFamily="18" charset="0"/>
              </a:rPr>
              <a:t>Computing </a:t>
            </a:r>
          </a:p>
          <a:p>
            <a:r>
              <a:rPr lang="en-US" sz="2000" dirty="0" smtClean="0">
                <a:latin typeface="Times New Roman" panose="02020603050405020304" pitchFamily="18" charset="0"/>
                <a:cs typeface="Times New Roman" panose="02020603050405020304" pitchFamily="18" charset="0"/>
              </a:rPr>
              <a:t>Data </a:t>
            </a:r>
            <a:r>
              <a:rPr lang="en-US" sz="2000" dirty="0">
                <a:latin typeface="Times New Roman" panose="02020603050405020304" pitchFamily="18" charset="0"/>
                <a:cs typeface="Times New Roman" panose="02020603050405020304" pitchFamily="18" charset="0"/>
              </a:rPr>
              <a:t>privacy in cloud computing is paramount due to the nature of storing and processing data in third-party servers.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Key </a:t>
            </a:r>
            <a:r>
              <a:rPr lang="en-US" sz="2000" dirty="0">
                <a:latin typeface="Times New Roman" panose="02020603050405020304" pitchFamily="18" charset="0"/>
                <a:cs typeface="Times New Roman" panose="02020603050405020304" pitchFamily="18" charset="0"/>
              </a:rPr>
              <a:t>considerations include</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1.Data </a:t>
            </a:r>
            <a:r>
              <a:rPr lang="en-US" sz="2000" dirty="0">
                <a:latin typeface="Times New Roman" panose="02020603050405020304" pitchFamily="18" charset="0"/>
                <a:cs typeface="Times New Roman" panose="02020603050405020304" pitchFamily="18" charset="0"/>
              </a:rPr>
              <a:t>Encryption: Ensuring data is encrypted both in transit and at rest to prevent unauthorized access</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Access Controls: Implementing strict access controls to limit who can access sensitive data within </a:t>
            </a:r>
            <a:r>
              <a:rPr lang="en-US" sz="2000" dirty="0" smtClean="0">
                <a:latin typeface="Times New Roman" panose="02020603050405020304" pitchFamily="18" charset="0"/>
                <a:cs typeface="Times New Roman" panose="02020603050405020304" pitchFamily="18" charset="0"/>
              </a:rPr>
              <a:t>the cloud </a:t>
            </a:r>
            <a:r>
              <a:rPr lang="en-US" sz="2000" dirty="0">
                <a:latin typeface="Times New Roman" panose="02020603050405020304" pitchFamily="18" charset="0"/>
                <a:cs typeface="Times New Roman" panose="02020603050405020304" pitchFamily="18" charset="0"/>
              </a:rPr>
              <a:t>environment</a:t>
            </a:r>
            <a:r>
              <a:rPr lang="en-US" sz="2000" dirty="0" smtClean="0">
                <a:latin typeface="Times New Roman" panose="02020603050405020304" pitchFamily="18" charset="0"/>
                <a:cs typeface="Times New Roman" panose="02020603050405020304" pitchFamily="18" charset="0"/>
              </a:rPr>
              <a:t>.</a:t>
            </a:r>
          </a:p>
          <a:p>
            <a:r>
              <a:rPr lang="en-US" sz="2000" dirty="0" smtClean="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Compliance: Adhering to regulations like GDPR, CCPA, HIPAA, etc., which impose requirements on </a:t>
            </a:r>
            <a:r>
              <a:rPr lang="en-US" sz="2000" dirty="0" smtClean="0">
                <a:latin typeface="Times New Roman" panose="02020603050405020304" pitchFamily="18" charset="0"/>
                <a:cs typeface="Times New Roman" panose="02020603050405020304" pitchFamily="18" charset="0"/>
              </a:rPr>
              <a:t>how personal </a:t>
            </a:r>
            <a:r>
              <a:rPr lang="en-US" sz="2000" dirty="0">
                <a:latin typeface="Times New Roman" panose="02020603050405020304" pitchFamily="18" charset="0"/>
                <a:cs typeface="Times New Roman" panose="02020603050405020304" pitchFamily="18" charset="0"/>
              </a:rPr>
              <a:t>and sensitive data is handled and protected</a:t>
            </a:r>
            <a:r>
              <a:rPr lang="en-US" sz="20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150522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3300" y="736600"/>
            <a:ext cx="9486900" cy="317009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4. Data Residency: Understanding where data is stored and ensuring it complies with legal requirements regarding data residency and jurisdiction.</a:t>
            </a:r>
          </a:p>
          <a:p>
            <a:r>
              <a:rPr lang="en-US" sz="2000" dirty="0">
                <a:latin typeface="Times New Roman" panose="02020603050405020304" pitchFamily="18" charset="0"/>
                <a:cs typeface="Times New Roman" panose="02020603050405020304" pitchFamily="18" charset="0"/>
              </a:rPr>
              <a:t>5. Transparency: Providing transparency to users regarding how their data is collected, processed, and stored within the cloud environment.</a:t>
            </a:r>
          </a:p>
          <a:p>
            <a:r>
              <a:rPr lang="en-US" sz="2000" dirty="0">
                <a:latin typeface="Times New Roman" panose="02020603050405020304" pitchFamily="18" charset="0"/>
                <a:cs typeface="Times New Roman" panose="02020603050405020304" pitchFamily="18" charset="0"/>
              </a:rPr>
              <a:t>6. Data Ownership: Clarifying data ownership rights between the cloud service provider and the user to avoid disputes over control and access to data.</a:t>
            </a:r>
          </a:p>
          <a:p>
            <a:r>
              <a:rPr lang="en-US" sz="2000" dirty="0">
                <a:latin typeface="Times New Roman" panose="02020603050405020304" pitchFamily="18" charset="0"/>
                <a:cs typeface="Times New Roman" panose="02020603050405020304" pitchFamily="18" charset="0"/>
              </a:rPr>
              <a:t>7. Data Portability: Ensuring users can easily transfer their data in and out of the cloud environment, promoting data ownership and control.</a:t>
            </a:r>
          </a:p>
          <a:p>
            <a:r>
              <a:rPr lang="en-US" sz="2000" dirty="0">
                <a:latin typeface="Times New Roman" panose="02020603050405020304" pitchFamily="18" charset="0"/>
                <a:cs typeface="Times New Roman" panose="02020603050405020304" pitchFamily="18" charset="0"/>
              </a:rPr>
              <a:t>8. Data Breach Response: Establishing protocols for promptly responding to and notifying users in the event of a data breach within the cloud environment.</a:t>
            </a:r>
            <a:endParaRPr lang="en-US" sz="2000" dirty="0"/>
          </a:p>
        </p:txBody>
      </p:sp>
    </p:spTree>
    <p:extLst>
      <p:ext uri="{BB962C8B-B14F-4D97-AF65-F5344CB8AC3E}">
        <p14:creationId xmlns:p14="http://schemas.microsoft.com/office/powerpoint/2010/main" val="144904525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06500" y="508000"/>
            <a:ext cx="9817100" cy="590931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Jurisdictional Concerns in Cloud Computing </a:t>
            </a:r>
          </a:p>
          <a:p>
            <a:r>
              <a:rPr lang="en-US" dirty="0">
                <a:latin typeface="Times New Roman" panose="02020603050405020304" pitchFamily="18" charset="0"/>
                <a:cs typeface="Times New Roman" panose="02020603050405020304" pitchFamily="18" charset="0"/>
              </a:rPr>
              <a:t>Jurisdictional concerns in cloud computing refer to the legal and regulatory issues related to where data is stored, processed, and accessed. These concerns can arise due to differences in laws and regulations across countries and regions. </a:t>
            </a:r>
          </a:p>
          <a:p>
            <a:r>
              <a:rPr lang="en-US" dirty="0">
                <a:latin typeface="Times New Roman" panose="02020603050405020304" pitchFamily="18" charset="0"/>
                <a:cs typeface="Times New Roman" panose="02020603050405020304" pitchFamily="18" charset="0"/>
              </a:rPr>
              <a:t>Key aspects include:</a:t>
            </a:r>
          </a:p>
          <a:p>
            <a:r>
              <a:rPr lang="en-US" dirty="0">
                <a:latin typeface="Times New Roman" panose="02020603050405020304" pitchFamily="18" charset="0"/>
                <a:cs typeface="Times New Roman" panose="02020603050405020304" pitchFamily="18" charset="0"/>
              </a:rPr>
              <a:t>1. Data Sovereignty: Laws may require certain data to remain within specific jurisdictions, raising questions about where data is physically located and who has jurisdiction over it.</a:t>
            </a:r>
          </a:p>
          <a:p>
            <a:r>
              <a:rPr lang="en-US" dirty="0">
                <a:latin typeface="Times New Roman" panose="02020603050405020304" pitchFamily="18" charset="0"/>
                <a:cs typeface="Times New Roman" panose="02020603050405020304" pitchFamily="18" charset="0"/>
              </a:rPr>
              <a:t>2. Legal Compliance: Different countries have varying laws regarding data protection, privacy, and security. Companies must ensure they comply with relevant regulations, such as GDPR in the EU, CCPA in California, or China's Cybersecurity Law.</a:t>
            </a:r>
          </a:p>
          <a:p>
            <a:r>
              <a:rPr lang="en-US" dirty="0">
                <a:latin typeface="Times New Roman" panose="02020603050405020304" pitchFamily="18" charset="0"/>
                <a:cs typeface="Times New Roman" panose="02020603050405020304" pitchFamily="18" charset="0"/>
              </a:rPr>
              <a:t>3. Cross-Border Data Transfers: Restrictions on transferring data across borders may affect cloud service providers' ability to move data between regions. Mechanisms like Standard Contractual Clauses (SCCs) or Binding Corporate Rules (BCRs) may be used to facilitate lawful data transfers.</a:t>
            </a:r>
          </a:p>
          <a:p>
            <a:r>
              <a:rPr lang="en-US" dirty="0">
                <a:latin typeface="Times New Roman" panose="02020603050405020304" pitchFamily="18" charset="0"/>
                <a:cs typeface="Times New Roman" panose="02020603050405020304" pitchFamily="18" charset="0"/>
              </a:rPr>
              <a:t>4. Law Enforcement Access: Authorities may have different powers to access data stored in the cloud,depending on the jurisdiction. This can impact users' privacy rights and data security.</a:t>
            </a:r>
          </a:p>
          <a:p>
            <a:r>
              <a:rPr lang="en-US" dirty="0">
                <a:latin typeface="Times New Roman" panose="02020603050405020304" pitchFamily="18" charset="0"/>
                <a:cs typeface="Times New Roman" panose="02020603050405020304" pitchFamily="18" charset="0"/>
              </a:rPr>
              <a:t>5. Legal Disputes: Determining the jurisdiction for legal disputes involving cloud computing can be complex, especially if data and parties are located in different countries. Contracts often specify the applicable law and dispute resolution mechanisms.</a:t>
            </a:r>
          </a:p>
          <a:p>
            <a:r>
              <a:rPr lang="en-US" dirty="0">
                <a:latin typeface="Times New Roman" panose="02020603050405020304" pitchFamily="18" charset="0"/>
                <a:cs typeface="Times New Roman" panose="02020603050405020304" pitchFamily="18" charset="0"/>
              </a:rPr>
              <a:t>6. Regulatory Enforcement: Regulatory bodies may have jurisdiction to enforce laws and regulations overcloud service providers operating within their territories, even if the provider's</a:t>
            </a:r>
          </a:p>
          <a:p>
            <a:endParaRPr lang="en-US" dirty="0"/>
          </a:p>
        </p:txBody>
      </p:sp>
    </p:spTree>
    <p:extLst>
      <p:ext uri="{BB962C8B-B14F-4D97-AF65-F5344CB8AC3E}">
        <p14:creationId xmlns:p14="http://schemas.microsoft.com/office/powerpoint/2010/main" val="906197936"/>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355</TotalTime>
  <Words>3621</Words>
  <Application>Microsoft Office PowerPoint</Application>
  <PresentationFormat>Widescreen</PresentationFormat>
  <Paragraphs>216</Paragraphs>
  <Slides>30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Bahnschrift SemiBold SemiConden</vt:lpstr>
      <vt:lpstr>Calibri</vt:lpstr>
      <vt:lpstr>Times New Roman</vt:lpstr>
      <vt:lpstr>Trebuchet MS</vt:lpstr>
      <vt:lpstr>Wingdings 3</vt:lpstr>
      <vt:lpstr>Facet</vt:lpstr>
      <vt:lpstr>KARATINA UNIVERSITY BSc.IT  BIT 123 GROUP 1 PRESENTATION: CLOUD COMPUTING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KARATINA UNIVERSITY BSc.IT  GROUP 1 PRESENTATION FOR  BIT 123</dc:title>
  <dc:creator>pc</dc:creator>
  <cp:lastModifiedBy>pc</cp:lastModifiedBy>
  <cp:revision>32</cp:revision>
  <dcterms:created xsi:type="dcterms:W3CDTF">2024-04-17T19:15:26Z</dcterms:created>
  <dcterms:modified xsi:type="dcterms:W3CDTF">2024-04-18T09:11:06Z</dcterms:modified>
</cp:coreProperties>
</file>