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5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ar-SA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AE46-C2D1-43AA-B047-FCC4D9C0510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D1C97-015F-4FE6-AA95-8470D3FF3EB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0AEF81-C65D-48DD-AA43-3B9FA6A16CD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1D531E-9825-4217-9729-F383BB0CD4F7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AC9F70-93AF-44FF-A018-7018234434E2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19B0A8-1357-438E-9C86-D631DF858780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C036A5D-8475-49AD-AB39-999B5AE9AD3F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51E649-BB37-4F7E-98A7-A96AD3BEC8E5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645ACE-C489-4CCE-ABE2-CE8179245714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39DF8E-9B08-4BF5-96F1-66EDB8399645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1B7D3B-9688-4CB9-81F7-14B52BACF00F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53D811-34A8-4580-A142-0D8430B17D10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0CF156-BC83-42F2-B2AA-E413BEF7AF76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F9CB75-30BA-43BD-9C32-86C94739091C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594DE1-388A-4734-851E-66DEBDAEA156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DC420E-F3D0-4725-BFC1-6662DB3E09DF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8AC37E-9408-4159-A05E-73641E5B7CF9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365950-E750-4850-A656-060913AAB193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013DFC-D0D7-46F9-828E-E83EEE3C379E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9DDC8-5DA6-4FA2-9698-0C901783978B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F16CB2-2920-4E45-AA9A-5E74A8A3178A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487203-4D2B-4D29-9A36-2FE28223E7BC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A28186-8E3B-4353-BDB0-AE55008D1131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836D2-F1AB-4920-BCE1-327AA1293B10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90B69694-E629-49E2-B238-012B66EBB0B0}" type="datetime1">
              <a:rPr lang="en-US" smtClean="0"/>
              <a:t>3/25/2026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0A199443-52A2-47D8-9B9F-C1E58736CA6D}" type="slidenum">
              <a:rPr lang="ar-SA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BIT 324 Mobile </a:t>
            </a:r>
            <a:r>
              <a:rPr lang="en-US" dirty="0" smtClean="0"/>
              <a:t>Communication</a:t>
            </a:r>
            <a:endParaRPr 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Middleware </a:t>
            </a:r>
            <a:r>
              <a:rPr lang="en-US" dirty="0" smtClean="0"/>
              <a:t>and Gateways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Overview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b="1"/>
              <a:t>Bearers</a:t>
            </a:r>
          </a:p>
          <a:p>
            <a:pPr algn="l" rtl="0"/>
            <a:r>
              <a:rPr lang="en-US" b="1"/>
              <a:t>MIDDLEWARE AND GATEWAYS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8D41-4AB8-4D5B-A34D-BF77BE2F1F8B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Bearers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" y="1600200"/>
            <a:ext cx="8929688" cy="4525963"/>
          </a:xfrm>
        </p:spPr>
        <p:txBody>
          <a:bodyPr/>
          <a:lstStyle/>
          <a:p>
            <a:pPr algn="l" rtl="0"/>
            <a:r>
              <a:rPr lang="en-US">
                <a:latin typeface="Times New Roman" pitchFamily="-105" charset="0"/>
                <a:cs typeface="Times New Roman" pitchFamily="-105" charset="0"/>
              </a:rPr>
              <a:t>For different type of networks, there are different types of transport bearers. </a:t>
            </a:r>
          </a:p>
          <a:p>
            <a:pPr algn="l" rtl="0"/>
            <a:r>
              <a:rPr lang="en-US">
                <a:latin typeface="Times New Roman" pitchFamily="-105" charset="0"/>
                <a:cs typeface="Times New Roman" pitchFamily="-105" charset="0"/>
              </a:rPr>
              <a:t>These can be TCP/IP, http, protocols or dialup connection. </a:t>
            </a:r>
          </a:p>
          <a:p>
            <a:pPr algn="l" rtl="0"/>
            <a:r>
              <a:rPr lang="en-US">
                <a:latin typeface="Times New Roman" pitchFamily="-105" charset="0"/>
                <a:cs typeface="Times New Roman" pitchFamily="-105" charset="0"/>
              </a:rPr>
              <a:t>For GSM it could be SMS, USSD (Unstructured Supplementary Service Data) or WAP. </a:t>
            </a:r>
          </a:p>
          <a:p>
            <a:pPr algn="l" rtl="0"/>
            <a:r>
              <a:rPr lang="en-US">
                <a:latin typeface="Times New Roman" pitchFamily="-105" charset="0"/>
                <a:cs typeface="Times New Roman" pitchFamily="-105" charset="0"/>
              </a:rPr>
              <a:t>For mobile or fixed phone, it will be Voice.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896-FD65-4D2B-A051-734D764614E5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MIDDLEWARE AND GATEWAYS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600200"/>
            <a:ext cx="8856663" cy="4525963"/>
          </a:xfrm>
        </p:spPr>
        <p:txBody>
          <a:bodyPr/>
          <a:lstStyle/>
          <a:p>
            <a:pPr algn="l" rtl="0">
              <a:lnSpc>
                <a:spcPct val="80000"/>
              </a:lnSpc>
            </a:pPr>
            <a:r>
              <a:rPr lang="en-US" sz="2800"/>
              <a:t>Any software layered between a user application and operating system can be termed as middleware. </a:t>
            </a:r>
          </a:p>
          <a:p>
            <a:pPr algn="l" rtl="0">
              <a:lnSpc>
                <a:spcPct val="80000"/>
              </a:lnSpc>
            </a:pPr>
            <a:r>
              <a:rPr lang="en-US" sz="2800"/>
              <a:t>Middleware examples are </a:t>
            </a:r>
          </a:p>
          <a:p>
            <a:pPr lvl="1" algn="l" rtl="0">
              <a:lnSpc>
                <a:spcPct val="80000"/>
              </a:lnSpc>
            </a:pPr>
            <a:r>
              <a:rPr lang="en-US" sz="2400"/>
              <a:t>communication middleware, </a:t>
            </a:r>
          </a:p>
          <a:p>
            <a:pPr lvl="1" algn="l" rtl="0">
              <a:lnSpc>
                <a:spcPct val="80000"/>
              </a:lnSpc>
            </a:pPr>
            <a:r>
              <a:rPr lang="en-US" sz="2400"/>
              <a:t>object oriented middleware, </a:t>
            </a:r>
          </a:p>
          <a:p>
            <a:pPr lvl="1" algn="l" rtl="0">
              <a:lnSpc>
                <a:spcPct val="80000"/>
              </a:lnSpc>
            </a:pPr>
            <a:r>
              <a:rPr lang="en-US" sz="2400"/>
              <a:t>message oriented middleware, </a:t>
            </a:r>
          </a:p>
          <a:p>
            <a:pPr lvl="1" algn="l" rtl="0">
              <a:lnSpc>
                <a:spcPct val="80000"/>
              </a:lnSpc>
            </a:pPr>
            <a:r>
              <a:rPr lang="en-US" sz="2400"/>
              <a:t>transaction processing middleware, </a:t>
            </a:r>
          </a:p>
          <a:p>
            <a:pPr lvl="1" algn="l" rtl="0">
              <a:lnSpc>
                <a:spcPct val="80000"/>
              </a:lnSpc>
            </a:pPr>
            <a:r>
              <a:rPr lang="en-US" sz="2400"/>
              <a:t>database middleware, </a:t>
            </a:r>
          </a:p>
          <a:p>
            <a:pPr lvl="1" algn="l" rtl="0">
              <a:lnSpc>
                <a:spcPct val="80000"/>
              </a:lnSpc>
            </a:pPr>
            <a:r>
              <a:rPr lang="en-US" sz="2400"/>
              <a:t>behavior management middleware, </a:t>
            </a:r>
          </a:p>
          <a:p>
            <a:pPr lvl="1" algn="l" rtl="0">
              <a:lnSpc>
                <a:spcPct val="80000"/>
              </a:lnSpc>
            </a:pPr>
            <a:r>
              <a:rPr lang="en-US" sz="2400"/>
              <a:t>RPC middleware </a:t>
            </a:r>
          </a:p>
          <a:p>
            <a:pPr lvl="1" algn="l" rtl="0">
              <a:lnSpc>
                <a:spcPct val="80000"/>
              </a:lnSpc>
            </a:pPr>
            <a:r>
              <a:rPr lang="en-US" sz="2400"/>
              <a:t>etc.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ED251-DDD2-42B7-AF19-88D8E54D7AAD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MIDDLEWARE AND GATEWAYS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/>
              <a:t>There are some middleware components like behavior management middleware, which can be a layer between the client device and the application. 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In mobile computing context we need different types of middleware components and gateways at different layers of the architecture (Figure 1).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These are: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2400"/>
              <a:t>          1. Communication middleware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2400"/>
              <a:t>          2. Transaction processing middleware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2400"/>
              <a:t>          3. Behavior management middleware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2400"/>
              <a:t>          4. Communication gateways.</a:t>
            </a:r>
          </a:p>
          <a:p>
            <a:pPr>
              <a:lnSpc>
                <a:spcPct val="90000"/>
              </a:lnSpc>
            </a:pPr>
            <a:endParaRPr lang="en-US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5D33-2F3E-41A4-B504-1FBCBB84F3A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53975"/>
            <a:ext cx="8686800" cy="1143000"/>
          </a:xfrm>
        </p:spPr>
        <p:txBody>
          <a:bodyPr/>
          <a:lstStyle/>
          <a:p>
            <a:r>
              <a:rPr lang="en-US" sz="4000"/>
              <a:t>Figure 1: A schematic Representation of a Mobile Computing Environment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292225"/>
            <a:ext cx="8569325" cy="5449888"/>
          </a:xfrm>
          <a:prstGeom prst="rect">
            <a:avLst/>
          </a:prstGeom>
          <a:noFill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43C4-89D6-480E-A4C6-33DCF18A63D6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Communication Middleware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600200"/>
            <a:ext cx="8856663" cy="4525963"/>
          </a:xfrm>
        </p:spPr>
        <p:txBody>
          <a:bodyPr/>
          <a:lstStyle/>
          <a:p>
            <a:pPr algn="l" rtl="0"/>
            <a:r>
              <a:rPr lang="en-US"/>
              <a:t>The application will communicate with different nodes and services through different communication middleware. </a:t>
            </a:r>
          </a:p>
          <a:p>
            <a:pPr algn="l" rtl="0"/>
            <a:r>
              <a:rPr lang="en-US"/>
              <a:t>Different </a:t>
            </a:r>
            <a:r>
              <a:rPr lang="en-US" b="1"/>
              <a:t>connectors </a:t>
            </a:r>
            <a:r>
              <a:rPr lang="en-US"/>
              <a:t>for different services will fall in this category. </a:t>
            </a:r>
          </a:p>
          <a:p>
            <a:pPr algn="l" rtl="0"/>
            <a:r>
              <a:rPr lang="en-US"/>
              <a:t>Examples could be TN3270 for IBM mainframe services, or Javamail connector for IMAP or POP3 services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1F9D-72D7-462C-BDC3-6A809915B0AD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" y="130175"/>
            <a:ext cx="8939213" cy="1143000"/>
          </a:xfrm>
        </p:spPr>
        <p:txBody>
          <a:bodyPr/>
          <a:lstStyle/>
          <a:p>
            <a:r>
              <a:rPr lang="en-US" sz="4000" b="1"/>
              <a:t>Transaction Processing Middleware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275" y="1600200"/>
            <a:ext cx="9036050" cy="452596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/>
              <a:t>In many cases a service will offer session oriented dialogue (SoD). 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For a session we need to maintain a state over the stateless Internet. 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This is done through an application server.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The user may be using a device, which demands a short transaction whereas the service at the backend offers a SoD.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In such cases a separate middleware component will be required to convert a SoD to a short transaction. 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Management of the Web components will be handled by this middleware as well.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34F6A-2CB9-46B2-A611-A57387B45639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00" y="274638"/>
            <a:ext cx="8686800" cy="1143000"/>
          </a:xfrm>
        </p:spPr>
        <p:txBody>
          <a:bodyPr/>
          <a:lstStyle/>
          <a:p>
            <a:r>
              <a:rPr lang="en-US" sz="4000" b="1"/>
              <a:t>Behavior Management Middleware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" y="1600200"/>
            <a:ext cx="9109075" cy="4525963"/>
          </a:xfrm>
        </p:spPr>
        <p:txBody>
          <a:bodyPr/>
          <a:lstStyle/>
          <a:p>
            <a:pPr algn="l" rtl="0"/>
            <a:endParaRPr lang="en-US" sz="2600"/>
          </a:p>
          <a:p>
            <a:pPr algn="l" rtl="0"/>
            <a:endParaRPr lang="en-US" sz="2600"/>
          </a:p>
          <a:p>
            <a:pPr algn="l" rtl="0"/>
            <a:r>
              <a:rPr lang="en-US" sz="2600"/>
              <a:t>For different devices we need different types of rendering. </a:t>
            </a:r>
          </a:p>
          <a:p>
            <a:pPr algn="l" rtl="0"/>
            <a:r>
              <a:rPr lang="en-US" sz="2600"/>
              <a:t>We can have applications, which are developed specially for different types of rendering. </a:t>
            </a:r>
          </a:p>
          <a:p>
            <a:pPr algn="l" rtl="0"/>
            <a:r>
              <a:rPr lang="en-US" sz="2600"/>
              <a:t>For example, we can have one application for Web, another for WAP, and a different one for SMS.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64D6A-AAB9-4A1A-BE4F-0EA4DA87949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Behavior Management Middleware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" y="1600200"/>
            <a:ext cx="8929688" cy="452596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800"/>
              <a:t>On the contrary, we may choose to have a middleware, which will manage entire device specific rendering at the run time.</a:t>
            </a:r>
          </a:p>
          <a:p>
            <a:pPr algn="l" rtl="0">
              <a:lnSpc>
                <a:spcPct val="90000"/>
              </a:lnSpc>
            </a:pPr>
            <a:r>
              <a:rPr lang="en-US" sz="2800"/>
              <a:t>This middleware will identify the device properly and handle all the behavior related stuff independent of the application.</a:t>
            </a:r>
          </a:p>
          <a:p>
            <a:pPr algn="l" rtl="0">
              <a:lnSpc>
                <a:spcPct val="90000"/>
              </a:lnSpc>
            </a:pPr>
            <a:r>
              <a:rPr lang="en-US" sz="2800"/>
              <a:t>The system may be required to have some context awareness. </a:t>
            </a:r>
          </a:p>
          <a:p>
            <a:pPr algn="l" rtl="0">
              <a:lnSpc>
                <a:spcPct val="90000"/>
              </a:lnSpc>
            </a:pPr>
            <a:r>
              <a:rPr lang="en-US" sz="2800"/>
              <a:t>All these will be handled by behavior management middleware.</a:t>
            </a:r>
          </a:p>
          <a:p>
            <a:pPr algn="l" rtl="0">
              <a:lnSpc>
                <a:spcPct val="90000"/>
              </a:lnSpc>
            </a:pPr>
            <a:endParaRPr lang="en-US" sz="2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E6D1-C10D-4FBA-B8FC-C980DA3B64EF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Communication Gateways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938" y="1600200"/>
            <a:ext cx="8858250" cy="452596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/>
              <a:t>Between the device and the middleware there will be network of networks. 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Gateways are deployed when there are different transport bearers or networks with dissimilar protocols.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For example, we need an IVR (Interactive Voice Response) gateway to interface voice with a computer, or an WAP gateway to access internet over a mobile phone.</a:t>
            </a:r>
          </a:p>
          <a:p>
            <a:pPr algn="l" rtl="0">
              <a:lnSpc>
                <a:spcPct val="90000"/>
              </a:lnSpc>
            </a:pPr>
            <a:r>
              <a:rPr lang="en-US" sz="2400"/>
              <a:t>The following diagram (Figure 1) depicts a schematic diagram of services in a mobile computing environment  where services from enterprise to a vending machine can be used from different devices.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575F-26BE-4FE7-A3F9-785B8A5685A1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9B0A8-1357-438E-9C86-D631DF858780}" type="slidenum">
              <a:rPr lang="ar-SA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572</Words>
  <Application>Microsoft Office PowerPoint</Application>
  <PresentationFormat>On-screen Show (4:3)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Default Design</vt:lpstr>
      <vt:lpstr>BIT 324 Mobile Communication</vt:lpstr>
      <vt:lpstr>Lecture Overview</vt:lpstr>
      <vt:lpstr>Bearers</vt:lpstr>
      <vt:lpstr>MIDDLEWARE AND GATEWAYS</vt:lpstr>
      <vt:lpstr>MIDDLEWARE AND GATEWAYS</vt:lpstr>
      <vt:lpstr>Figure 1: A schematic Representation of a Mobile Computing Environment</vt:lpstr>
      <vt:lpstr>Communication Middleware</vt:lpstr>
      <vt:lpstr>Transaction Processing Middleware</vt:lpstr>
      <vt:lpstr>Behavior Management Middleware</vt:lpstr>
      <vt:lpstr>Behavior Management Middleware</vt:lpstr>
      <vt:lpstr>Communication Gateways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halrefai</dc:creator>
  <cp:lastModifiedBy>USER</cp:lastModifiedBy>
  <cp:revision>14</cp:revision>
  <dcterms:created xsi:type="dcterms:W3CDTF">2010-10-24T22:23:55Z</dcterms:created>
  <dcterms:modified xsi:type="dcterms:W3CDTF">2026-03-25T11:22:56Z</dcterms:modified>
</cp:coreProperties>
</file>