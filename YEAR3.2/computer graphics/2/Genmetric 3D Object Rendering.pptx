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32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82" r:id="rId9"/>
    <p:sldId id="283" r:id="rId10"/>
    <p:sldId id="279" r:id="rId11"/>
    <p:sldId id="281" r:id="rId12"/>
    <p:sldId id="280" r:id="rId13"/>
    <p:sldId id="284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95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365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30A7B-C654-452E-BD52-7A78CCBD509D}" type="datetimeFigureOut">
              <a:rPr lang="en-KE" smtClean="0"/>
              <a:t>07/05/2026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47C60-41A1-4A4B-B202-601E8408F1A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99149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47C60-41A1-4A4B-B202-601E8408F1AB}" type="slidenum">
              <a:rPr lang="en-KE" smtClean="0"/>
              <a:t>1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730271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418393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2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64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34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82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59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8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54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7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6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33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76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06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3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80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17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69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45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87438"/>
            <a:ext cx="8229600" cy="3090862"/>
          </a:xfrm>
        </p:spPr>
        <p:txBody>
          <a:bodyPr>
            <a:norm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Geometric 3D Object Rendering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6EF59-8D23-18E7-7E15-90706A499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400" y="425450"/>
            <a:ext cx="8013700" cy="5700713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latin typeface="Book Antiqua" panose="02040602050305030304" pitchFamily="18" charset="0"/>
              </a:rPr>
              <a:t>GLUT includes a number of routines for generating easily recognizable 3D geometric objects</a:t>
            </a:r>
          </a:p>
          <a:p>
            <a:endParaRPr lang="en-US" sz="28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US" sz="2800" b="1" u="sng" dirty="0">
                <a:latin typeface="Book Antiqua" panose="02040602050305030304" pitchFamily="18" charset="0"/>
              </a:rPr>
              <a:t>1. Solid Sphere, Wire Sphere   </a:t>
            </a:r>
          </a:p>
          <a:p>
            <a:pPr marL="0" indent="0">
              <a:buNone/>
            </a:pPr>
            <a:endParaRPr lang="en-US" sz="2800" b="1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US" sz="2800" i="1" dirty="0" err="1">
                <a:solidFill>
                  <a:srgbClr val="FF0000"/>
                </a:solidFill>
                <a:latin typeface="Book Antiqua" panose="02040602050305030304" pitchFamily="18" charset="0"/>
              </a:rPr>
              <a:t>glutSolidSphere</a:t>
            </a:r>
            <a:r>
              <a:rPr lang="en-US" sz="2800" i="1" dirty="0">
                <a:solidFill>
                  <a:srgbClr val="FF0000"/>
                </a:solidFill>
                <a:latin typeface="Book Antiqua" panose="02040602050305030304" pitchFamily="18" charset="0"/>
              </a:rPr>
              <a:t> (double radius, int slices, int stacks)</a:t>
            </a:r>
          </a:p>
          <a:p>
            <a:pPr marL="0" indent="0">
              <a:buNone/>
            </a:pPr>
            <a:r>
              <a:rPr lang="en-US" sz="2800" i="1" dirty="0" err="1">
                <a:solidFill>
                  <a:srgbClr val="FF0000"/>
                </a:solidFill>
                <a:latin typeface="Book Antiqua" panose="02040602050305030304" pitchFamily="18" charset="0"/>
              </a:rPr>
              <a:t>glutWireSphere</a:t>
            </a:r>
            <a:r>
              <a:rPr lang="en-US" sz="2800" i="1" dirty="0">
                <a:solidFill>
                  <a:srgbClr val="FF0000"/>
                </a:solidFill>
                <a:latin typeface="Book Antiqua" panose="02040602050305030304" pitchFamily="18" charset="0"/>
              </a:rPr>
              <a:t> (double radius, int slices, int stacks)</a:t>
            </a:r>
          </a:p>
          <a:p>
            <a:pPr marL="0" indent="0">
              <a:buNone/>
            </a:pPr>
            <a:endParaRPr lang="en-US" sz="2800" dirty="0">
              <a:latin typeface="Book Antiqua" panose="02040602050305030304" pitchFamily="18" charset="0"/>
            </a:endParaRPr>
          </a:p>
          <a:p>
            <a:r>
              <a:rPr lang="en-US" sz="2800" dirty="0">
                <a:latin typeface="Book Antiqua" panose="02040602050305030304" pitchFamily="18" charset="0"/>
              </a:rPr>
              <a:t>Renders a sphere centered at the modeling coordinates origin of the specified radius. </a:t>
            </a:r>
          </a:p>
          <a:p>
            <a:r>
              <a:rPr lang="en-US" sz="2800" dirty="0">
                <a:latin typeface="Book Antiqua" panose="02040602050305030304" pitchFamily="18" charset="0"/>
              </a:rPr>
              <a:t>The sphere is subdivided around the Z axis into slices and along the Z axis into stacks.</a:t>
            </a:r>
          </a:p>
          <a:p>
            <a:pPr marL="0" indent="0">
              <a:buNone/>
            </a:pPr>
            <a:endParaRPr lang="en-US" sz="3100" dirty="0">
              <a:latin typeface="Book Antiqua" panose="02040602050305030304" pitchFamily="18" charset="0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976845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3511B-F721-036A-9168-1F553878B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349250"/>
            <a:ext cx="7704667" cy="5650566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>
                <a:latin typeface="Book Antiqua" panose="02040602050305030304" pitchFamily="18" charset="0"/>
              </a:rPr>
              <a:t>Where:</a:t>
            </a:r>
          </a:p>
          <a:p>
            <a:pPr marL="0" indent="0">
              <a:buNone/>
            </a:pPr>
            <a:r>
              <a:rPr lang="en-US" sz="2600" b="1" i="1" dirty="0">
                <a:latin typeface="Book Antiqua" panose="02040602050305030304" pitchFamily="18" charset="0"/>
              </a:rPr>
              <a:t>radius</a:t>
            </a:r>
            <a:r>
              <a:rPr lang="en-US" sz="2600" dirty="0">
                <a:latin typeface="Book Antiqua" panose="02040602050305030304" pitchFamily="18" charset="0"/>
              </a:rPr>
              <a:t> is the radius of the sphere</a:t>
            </a:r>
          </a:p>
          <a:p>
            <a:pPr marL="0" indent="0">
              <a:buNone/>
            </a:pPr>
            <a:r>
              <a:rPr lang="en-US" sz="2600" b="1" i="1" dirty="0">
                <a:latin typeface="Book Antiqua" panose="02040602050305030304" pitchFamily="18" charset="0"/>
              </a:rPr>
              <a:t>slices</a:t>
            </a:r>
            <a:r>
              <a:rPr lang="en-US" sz="2600" dirty="0">
                <a:latin typeface="Book Antiqua" panose="02040602050305030304" pitchFamily="18" charset="0"/>
              </a:rPr>
              <a:t> is  the number of subdivisions around the Z 		axis (similar to lines of longitude)</a:t>
            </a:r>
          </a:p>
          <a:p>
            <a:pPr marL="0" indent="0">
              <a:buNone/>
            </a:pPr>
            <a:r>
              <a:rPr lang="en-US" sz="2600" b="1" i="1" dirty="0">
                <a:latin typeface="Book Antiqua" panose="02040602050305030304" pitchFamily="18" charset="0"/>
              </a:rPr>
              <a:t>stacks</a:t>
            </a:r>
            <a:r>
              <a:rPr lang="en-US" sz="2600" dirty="0">
                <a:latin typeface="Book Antiqua" panose="02040602050305030304" pitchFamily="18" charset="0"/>
              </a:rPr>
              <a:t> is the number of subdivisions along the Z 			axis (similar to lines of latitude)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406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37A9-D8F0-F497-9CAD-3A4A13133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633" y="127000"/>
            <a:ext cx="7704667" cy="6731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Program (Solid Sphere)</a:t>
            </a:r>
          </a:p>
          <a:p>
            <a:pPr marL="0" indent="0">
              <a:buNone/>
            </a:pPr>
            <a:r>
              <a:rPr lang="en-US" dirty="0"/>
              <a:t>#include &lt;GL/</a:t>
            </a:r>
            <a:r>
              <a:rPr lang="en-US" dirty="0" err="1"/>
              <a:t>glut.h</a:t>
            </a:r>
            <a:r>
              <a:rPr lang="en-US" dirty="0"/>
              <a:t>&gt; </a:t>
            </a: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init</a:t>
            </a:r>
            <a:r>
              <a:rPr lang="en-US" dirty="0"/>
              <a:t>(void)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glClearColor</a:t>
            </a:r>
            <a:r>
              <a:rPr lang="en-US" dirty="0"/>
              <a:t> (0.0, 0.0, 0.0, 0.0);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glShadeModel</a:t>
            </a:r>
            <a:r>
              <a:rPr lang="en-US" dirty="0"/>
              <a:t> (GL_FLAT);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void display(void)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glClear</a:t>
            </a:r>
            <a:r>
              <a:rPr lang="en-US" dirty="0"/>
              <a:t> (GL_COLOR_BUFFER_BIT);</a:t>
            </a:r>
          </a:p>
          <a:p>
            <a:pPr marL="0" indent="0">
              <a:buNone/>
            </a:pPr>
            <a:r>
              <a:rPr lang="en-US" dirty="0"/>
              <a:t>   glColor3f (1.0, 0.0, 1.0);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glLoadIdentity</a:t>
            </a:r>
            <a:r>
              <a:rPr lang="en-US" dirty="0"/>
              <a:t> ();    /* clear the matrix */</a:t>
            </a:r>
          </a:p>
          <a:p>
            <a:pPr marL="0" indent="0">
              <a:buNone/>
            </a:pPr>
            <a:r>
              <a:rPr lang="en-US" dirty="0"/>
              <a:t>    /* viewing transformation  */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gluLookAt</a:t>
            </a:r>
            <a:r>
              <a:rPr lang="en-US" dirty="0"/>
              <a:t> (0.0, 0.0, 5.0, 0.0, 0.0, 0.0, 0.0, 1.0, 0.0);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glScalef</a:t>
            </a:r>
            <a:r>
              <a:rPr lang="en-US" dirty="0"/>
              <a:t> (1.0, 2.0, 1.0);      /* modeling transformation */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>
                <a:solidFill>
                  <a:srgbClr val="FF0000"/>
                </a:solidFill>
              </a:rPr>
              <a:t>glutSolidSphere</a:t>
            </a:r>
            <a:r>
              <a:rPr lang="en-US" dirty="0">
                <a:solidFill>
                  <a:srgbClr val="FF0000"/>
                </a:solidFill>
              </a:rPr>
              <a:t> (0.4, 16, 16);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glFlush</a:t>
            </a:r>
            <a:r>
              <a:rPr lang="en-US" dirty="0"/>
              <a:t> 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178113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22BDB-5BBE-7587-8143-A6F5ABC0B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03200"/>
            <a:ext cx="7704667" cy="61722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void reshape (int w, int h){</a:t>
            </a:r>
            <a:endParaRPr lang="en-K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glViewport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(0, 0, (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GLsizei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w, (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GLsizei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h); </a:t>
            </a:r>
            <a:endParaRPr lang="en-K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glMatrixMode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(GL_PROJECTION);</a:t>
            </a:r>
            <a:endParaRPr lang="en-K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glLoadIdentity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();</a:t>
            </a:r>
            <a:endParaRPr lang="en-K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glFrustum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(-1.0, 1.0, -1.0, 1.0, 1.5, 20.0);</a:t>
            </a:r>
            <a:endParaRPr lang="en-K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glMatrixMode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(GL_MODELVIEW);</a:t>
            </a:r>
            <a:endParaRPr lang="en-K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 </a:t>
            </a:r>
          </a:p>
          <a:p>
            <a:pPr algn="just">
              <a:buNone/>
            </a:pPr>
            <a:endParaRPr lang="en-K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 main(int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argc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char**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argv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{</a:t>
            </a:r>
            <a:endParaRPr lang="en-K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glutInit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(&amp;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argc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argv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en-K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glutInitDisplayMode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(GLUT_SINGLE | GLUT_RGB);</a:t>
            </a:r>
            <a:endParaRPr lang="en-K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glutInitWindowSize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(500, 500); </a:t>
            </a:r>
            <a:endParaRPr lang="en-K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glutInitWindowPosition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(100, 100);</a:t>
            </a:r>
            <a:endParaRPr lang="en-K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glutCreateWindow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argv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[0]);</a:t>
            </a:r>
            <a:endParaRPr lang="en-KE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625083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985BA-1137-A557-D66E-2DD72D698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47650"/>
            <a:ext cx="7704667" cy="4476750"/>
          </a:xfrm>
        </p:spPr>
        <p:txBody>
          <a:bodyPr/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init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glutDisplayFunc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(display); 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glutReshapeFunc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(reshape);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glutMainLoop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return 0;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</a:p>
          <a:p>
            <a:pPr algn="just">
              <a:buNone/>
            </a:pPr>
            <a:r>
              <a:rPr lang="en-US" sz="2200" b="1" u="sng" dirty="0">
                <a:latin typeface="Times New Roman" panose="02020603050405020304" pitchFamily="18" charset="0"/>
              </a:rPr>
              <a:t>Output</a:t>
            </a:r>
            <a:endParaRPr lang="en-KE" sz="2200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CBBA8-8A10-4689-07F5-07EF0C2C7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4292600"/>
            <a:ext cx="2806699" cy="2222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699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AB46-7CCB-D5EF-0C12-ABB1A757A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083" y="76200"/>
            <a:ext cx="7704667" cy="68770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Program (Wire Sphere)</a:t>
            </a:r>
          </a:p>
          <a:p>
            <a:pPr marL="0" indent="0">
              <a:buNone/>
            </a:pPr>
            <a:r>
              <a:rPr lang="en-US" dirty="0"/>
              <a:t>#include &lt;GL/</a:t>
            </a:r>
            <a:r>
              <a:rPr lang="en-US" dirty="0" err="1"/>
              <a:t>glut.h</a:t>
            </a:r>
            <a:r>
              <a:rPr lang="en-US" dirty="0"/>
              <a:t>&gt; </a:t>
            </a: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init</a:t>
            </a:r>
            <a:r>
              <a:rPr lang="en-US" dirty="0"/>
              <a:t>(void)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glClearColor</a:t>
            </a:r>
            <a:r>
              <a:rPr lang="en-US" dirty="0"/>
              <a:t> (0.0, 0.0, 0.0, 0.0);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glShadeModel</a:t>
            </a:r>
            <a:r>
              <a:rPr lang="en-US" dirty="0"/>
              <a:t> (GL_FLAT);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void display(void)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glClear</a:t>
            </a:r>
            <a:r>
              <a:rPr lang="en-US" dirty="0"/>
              <a:t> (GL_COLOR_BUFFER_BIT);</a:t>
            </a:r>
          </a:p>
          <a:p>
            <a:pPr marL="0" indent="0">
              <a:buNone/>
            </a:pPr>
            <a:r>
              <a:rPr lang="en-US" dirty="0"/>
              <a:t>   glColor3f (1.0, 0.0, 1.0);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glLoadIdentity</a:t>
            </a:r>
            <a:r>
              <a:rPr lang="en-US" dirty="0"/>
              <a:t> ();    /* clear the matrix */</a:t>
            </a:r>
          </a:p>
          <a:p>
            <a:pPr marL="0" indent="0">
              <a:buNone/>
            </a:pPr>
            <a:r>
              <a:rPr lang="en-US" dirty="0"/>
              <a:t>    /* viewing transformation  */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gluLookAt</a:t>
            </a:r>
            <a:r>
              <a:rPr lang="en-US" dirty="0"/>
              <a:t> (0.0, 0.0, 5.0, 0.0, 0.0, 0.0, 0.0, 1.0, 0.0);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glScalef</a:t>
            </a:r>
            <a:r>
              <a:rPr lang="en-US" dirty="0"/>
              <a:t> (1.0, 2.0, 1.0);      /* modeling transformation */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>
                <a:solidFill>
                  <a:srgbClr val="FF0000"/>
                </a:solidFill>
              </a:rPr>
              <a:t>glutWireSphere</a:t>
            </a:r>
            <a:r>
              <a:rPr lang="en-US" dirty="0">
                <a:solidFill>
                  <a:srgbClr val="FF0000"/>
                </a:solidFill>
              </a:rPr>
              <a:t> (0.4, 16, 16);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glFlush</a:t>
            </a:r>
            <a:r>
              <a:rPr lang="en-US" dirty="0"/>
              <a:t> 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142781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0854F-6B47-C2B5-D04B-179018F45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521167"/>
            <a:ext cx="7704667" cy="5815666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void reshape (int w, int h){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glViewport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(0, 0,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GLsizei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w,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GLsizei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h); 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glMatrixMode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(GL_PROJECTION);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glLoadIdentity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glFrustum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(-1.0, 1.0, -1.0, 1.0, 1.5, 20.0);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glMatrixMode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(GL_MODELVIEW);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} 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 main(int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char**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{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glutInit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(&amp;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glutInitDisplayMode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(GLUT_SINGLE | GLUT_RGB);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glutInitWindowSize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(500, 500); 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glutInitWindowPosition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(100, 100);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glutCreateWindow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[0]);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553717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11F02-B0FD-71C3-8141-901A7381E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92100"/>
            <a:ext cx="7704667" cy="5707716"/>
          </a:xfrm>
        </p:spPr>
        <p:txBody>
          <a:bodyPr/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init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glutDisplayFunc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(display); 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glutReshapeFunc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(reshape);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glutMainLoop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return 0;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</a:p>
          <a:p>
            <a:pPr algn="just">
              <a:buNone/>
            </a:pP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Output</a:t>
            </a:r>
          </a:p>
          <a:p>
            <a:pPr algn="just">
              <a:buNone/>
            </a:pPr>
            <a:endParaRPr lang="en-US" b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ABC5B-DD13-621F-7967-4065DBDA9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572" y="4447857"/>
            <a:ext cx="2575878" cy="18259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367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318D2-542B-7812-FD24-165A77D6A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3033" y="0"/>
            <a:ext cx="7704667" cy="68008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u="sng" dirty="0">
                <a:latin typeface="Book Antiqua" panose="02040602050305030304" pitchFamily="18" charset="0"/>
              </a:rPr>
              <a:t>2. Solid Teapot, Wire Teapot   </a:t>
            </a:r>
          </a:p>
          <a:p>
            <a:pPr marL="0" indent="0">
              <a:buNone/>
            </a:pPr>
            <a:r>
              <a:rPr lang="en-US" b="1" dirty="0"/>
              <a:t>Program (Solid Teapot)</a:t>
            </a:r>
          </a:p>
          <a:p>
            <a:pPr marL="0" indent="0">
              <a:buNone/>
            </a:pPr>
            <a:r>
              <a:rPr lang="en-US" dirty="0"/>
              <a:t>#include &lt;GL/</a:t>
            </a:r>
            <a:r>
              <a:rPr lang="en-US" dirty="0" err="1"/>
              <a:t>glut.h</a:t>
            </a:r>
            <a:r>
              <a:rPr lang="en-US" dirty="0"/>
              <a:t>&gt; </a:t>
            </a: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init</a:t>
            </a:r>
            <a:r>
              <a:rPr lang="en-US" dirty="0"/>
              <a:t>(void)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glClearColor</a:t>
            </a:r>
            <a:r>
              <a:rPr lang="en-US" dirty="0"/>
              <a:t> (0.0, 0.0, 0.0, 0.0);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glShadeModel</a:t>
            </a:r>
            <a:r>
              <a:rPr lang="en-US" dirty="0"/>
              <a:t> (GL_FLAT);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void display(void)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glClear</a:t>
            </a:r>
            <a:r>
              <a:rPr lang="en-US" dirty="0"/>
              <a:t> (GL_COLOR_BUFFER_BIT);</a:t>
            </a:r>
          </a:p>
          <a:p>
            <a:pPr marL="0" indent="0">
              <a:buNone/>
            </a:pPr>
            <a:r>
              <a:rPr lang="en-US" dirty="0"/>
              <a:t>   glColor3f (1.0, 0.0, 1.0);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glLoadIdentity</a:t>
            </a:r>
            <a:r>
              <a:rPr lang="en-US" dirty="0"/>
              <a:t> ();    /* clear the matrix */</a:t>
            </a:r>
          </a:p>
          <a:p>
            <a:pPr marL="0" indent="0">
              <a:buNone/>
            </a:pPr>
            <a:r>
              <a:rPr lang="en-US" dirty="0"/>
              <a:t>    /* viewing transformation  */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gluLookAt</a:t>
            </a:r>
            <a:r>
              <a:rPr lang="en-US" dirty="0"/>
              <a:t> (0.0, 0.0, 5.0, 0.0, 0.0, 0.0, 0.0, 1.0, 0.0);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glScalef</a:t>
            </a:r>
            <a:r>
              <a:rPr lang="en-US" dirty="0"/>
              <a:t> (1.0, 2.0, 1.0);      /* modeling transformation */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>
                <a:solidFill>
                  <a:srgbClr val="FF0000"/>
                </a:solidFill>
              </a:rPr>
              <a:t>glutSolidTeapot</a:t>
            </a:r>
            <a:r>
              <a:rPr lang="en-US" dirty="0">
                <a:solidFill>
                  <a:srgbClr val="FF0000"/>
                </a:solidFill>
              </a:rPr>
              <a:t> (1.0);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glFlush</a:t>
            </a:r>
            <a:r>
              <a:rPr lang="en-US" dirty="0"/>
              <a:t> 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b="1" u="sng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123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1E2AA-E87D-0969-A2E5-D51362761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76200"/>
            <a:ext cx="8161867" cy="5923616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void reshape (int w, int h){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glViewport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(0, 0,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GLsizei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w,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GLsizei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h); 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glMatrixMode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(GL_PROJECTION);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glLoadIdentity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glFrustum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(-1.0, 1.0, -1.0, 1.0, 1.5, 20.0);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glMatrixMode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(GL_MODELVIEW);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} 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 main(int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char**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{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glutInit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(&amp;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glutInitDisplayMode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(GLUT_SINGLE | GLUT_RGB);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glutInitWindowSize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(500, 500); 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glutInitWindowPosition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(100, 100);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glutCreateWindow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[0]);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117461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DA4A1-EB8B-44C1-AA9E-D3CE01665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133" y="0"/>
            <a:ext cx="7704667" cy="5853766"/>
          </a:xfrm>
        </p:spPr>
        <p:txBody>
          <a:bodyPr/>
          <a:lstStyle/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init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glutDisplayFunc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(display); 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glutReshapeFunc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(reshape);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glutMainLoop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return 0;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</a:p>
          <a:p>
            <a:pPr algn="just">
              <a:buNone/>
            </a:pP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Output</a:t>
            </a:r>
          </a:p>
          <a:p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41C5FB-7D81-24BF-81F7-045F73904D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56" t="25822" r="41504" b="11268"/>
          <a:stretch>
            <a:fillRect/>
          </a:stretch>
        </p:blipFill>
        <p:spPr bwMode="auto">
          <a:xfrm>
            <a:off x="1367366" y="4400550"/>
            <a:ext cx="3721100" cy="19367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48961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FA779-168C-3B51-1825-16CE3B29A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133" y="234950"/>
            <a:ext cx="7704667" cy="7670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Program (Wire Teapot)</a:t>
            </a:r>
          </a:p>
          <a:p>
            <a:pPr marL="0" indent="0">
              <a:buNone/>
            </a:pPr>
            <a:r>
              <a:rPr lang="en-US" dirty="0"/>
              <a:t>#include &lt;GL/</a:t>
            </a:r>
            <a:r>
              <a:rPr lang="en-US" dirty="0" err="1"/>
              <a:t>glut.h</a:t>
            </a:r>
            <a:r>
              <a:rPr lang="en-US" dirty="0"/>
              <a:t>&gt; </a:t>
            </a: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init</a:t>
            </a:r>
            <a:r>
              <a:rPr lang="en-US" dirty="0"/>
              <a:t>(void)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glClearColor</a:t>
            </a:r>
            <a:r>
              <a:rPr lang="en-US" dirty="0"/>
              <a:t> (0.0, 0.0, 0.0, 0.0);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glShadeModel</a:t>
            </a:r>
            <a:r>
              <a:rPr lang="en-US" dirty="0"/>
              <a:t> (GL_FLAT);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void display(void)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glClear</a:t>
            </a:r>
            <a:r>
              <a:rPr lang="en-US" dirty="0"/>
              <a:t> (GL_COLOR_BUFFER_BIT);</a:t>
            </a:r>
          </a:p>
          <a:p>
            <a:pPr marL="0" indent="0">
              <a:buNone/>
            </a:pPr>
            <a:r>
              <a:rPr lang="en-US" dirty="0"/>
              <a:t>   glColor3f (1.0, 0.0, 1.0);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glLoadIdentity</a:t>
            </a:r>
            <a:r>
              <a:rPr lang="en-US" dirty="0"/>
              <a:t> ();    /* clear the matrix */</a:t>
            </a:r>
          </a:p>
          <a:p>
            <a:pPr marL="0" indent="0">
              <a:buNone/>
            </a:pPr>
            <a:r>
              <a:rPr lang="en-US" dirty="0"/>
              <a:t>    /* viewing transformation  */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gluLookAt</a:t>
            </a:r>
            <a:r>
              <a:rPr lang="en-US" dirty="0"/>
              <a:t> (0.0, 0.0, 5.0, 0.0, 0.0, 0.0, 0.0, 1.0, 0.0);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glScalef</a:t>
            </a:r>
            <a:r>
              <a:rPr lang="en-US" dirty="0"/>
              <a:t> (1.0, 2.0, 1.0);      /* modeling transformation */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>
                <a:solidFill>
                  <a:srgbClr val="FF0000"/>
                </a:solidFill>
              </a:rPr>
              <a:t>glutWireTeapot</a:t>
            </a:r>
            <a:r>
              <a:rPr lang="en-US" dirty="0">
                <a:solidFill>
                  <a:srgbClr val="FF0000"/>
                </a:solidFill>
              </a:rPr>
              <a:t> (1.0);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glFlush</a:t>
            </a:r>
            <a:r>
              <a:rPr lang="en-US" dirty="0"/>
              <a:t> 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569747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674D6-27F3-ACFD-B155-61D3EE96C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0"/>
            <a:ext cx="7704667" cy="6203950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void reshape (int w, int h){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glViewport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(0, 0,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GLsizei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w,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GLsizei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h); 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glMatrixMode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(GL_PROJECTION);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glLoadIdentity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glFrustum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(-1.0, 1.0, -1.0, 1.0, 1.5, 20.0);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glMatrixMode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(GL_MODELVIEW);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} 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 main(int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char**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{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glutInit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(&amp;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glutInitDisplayMode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(GLUT_SINGLE | GLUT_RGB);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glutInitWindowSize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(500, 500); 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glutInitWindowPosition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(100, 100);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glutCreateWindow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argv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[0]);</a:t>
            </a:r>
            <a:endParaRPr lang="en-KE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272562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2A428-4B09-453E-6B2D-EB3D1C858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983" y="152400"/>
            <a:ext cx="7704667" cy="6032500"/>
          </a:xfrm>
        </p:spPr>
        <p:txBody>
          <a:bodyPr/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init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glutDisplayFunc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(display); 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glutReshapeFunc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(reshape);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glutMainLoop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return 0;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</a:p>
          <a:p>
            <a:pPr algn="just">
              <a:buNone/>
            </a:pP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Output</a:t>
            </a:r>
          </a:p>
          <a:p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C8B2E3-C47F-AAB5-18C1-6A42CAF59C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11" t="10684" r="42943" b="19921"/>
          <a:stretch>
            <a:fillRect/>
          </a:stretch>
        </p:blipFill>
        <p:spPr bwMode="auto">
          <a:xfrm>
            <a:off x="1593850" y="4616450"/>
            <a:ext cx="3511550" cy="19113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0670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B4A2F-6BAB-5988-4F2E-C3DA99B5E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52400"/>
            <a:ext cx="7704667" cy="63119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>
                <a:latin typeface="Book Antiqua" panose="02040602050305030304" pitchFamily="18" charset="0"/>
              </a:rPr>
              <a:t>3. </a:t>
            </a:r>
            <a:r>
              <a:rPr lang="en-US" b="1" u="sng" dirty="0" err="1">
                <a:latin typeface="Book Antiqua" panose="02040602050305030304" pitchFamily="18" charset="0"/>
              </a:rPr>
              <a:t>glutSolidTorus</a:t>
            </a:r>
            <a:r>
              <a:rPr lang="en-US" b="1" u="sng" dirty="0">
                <a:latin typeface="Book Antiqua" panose="02040602050305030304" pitchFamily="18" charset="0"/>
              </a:rPr>
              <a:t>, </a:t>
            </a:r>
            <a:r>
              <a:rPr lang="en-US" b="1" u="sng" dirty="0" err="1">
                <a:latin typeface="Book Antiqua" panose="02040602050305030304" pitchFamily="18" charset="0"/>
              </a:rPr>
              <a:t>glutWireTorus</a:t>
            </a:r>
            <a:endParaRPr lang="en-US" b="1" u="sng" dirty="0">
              <a:latin typeface="Book Antiqua" panose="0204060205030503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KE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glutSolidTorus</a:t>
            </a:r>
            <a:r>
              <a:rPr lang="en-KE" sz="40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KE" sz="3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KE" sz="40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glutWireTorus</a:t>
            </a:r>
            <a:r>
              <a:rPr lang="en-KE" sz="40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KE" sz="28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render a solid or wireframe torus (doughnut) respectively</a:t>
            </a:r>
            <a:r>
              <a:rPr lang="en-US" sz="28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centered at the modeling coordinates origin whose axis is aligned with the Z axis.</a:t>
            </a:r>
            <a:endParaRPr lang="en-KE" sz="2800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KE" sz="3100" b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Usage</a:t>
            </a:r>
            <a:endParaRPr lang="en-KE" sz="3100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glutSolidTorus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GLdouble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innerRadius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KE" sz="3200" i="1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GLdouble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outerRadius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KE" sz="3200" i="1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GLint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nsides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GLint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rings);</a:t>
            </a:r>
            <a:endParaRPr lang="en-KE" sz="3200" i="1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glutWireTorus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GLdouble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innerRadius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KE" sz="3200" i="1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GLdouble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outerRadius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KE" sz="3200" i="1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GLint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nsides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KE" sz="24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GLint</a:t>
            </a:r>
            <a:r>
              <a:rPr lang="en-KE" sz="24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rings);</a:t>
            </a:r>
            <a:endParaRPr lang="en-KE" sz="3200" i="1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389981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E3B47-1649-7BC4-D252-6B39DE929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65100"/>
            <a:ext cx="7704667" cy="5834716"/>
          </a:xfrm>
        </p:spPr>
        <p:txBody>
          <a:bodyPr/>
          <a:lstStyle/>
          <a:p>
            <a:pPr marL="45720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KE" sz="26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innerRadius</a:t>
            </a:r>
            <a:r>
              <a:rPr lang="en-US" sz="26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KE" sz="2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Inner radius of the torus.</a:t>
            </a:r>
            <a:endParaRPr lang="en-KE" sz="1800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KE" sz="26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outerRadius</a:t>
            </a:r>
            <a:r>
              <a:rPr lang="en-US" sz="26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KE" sz="2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Outer radius of the torus.</a:t>
            </a:r>
            <a:endParaRPr lang="en-KE" sz="1800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6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KE" sz="26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sides</a:t>
            </a:r>
            <a:r>
              <a:rPr lang="en-US" sz="26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KE" sz="2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 of sides for each radial section.</a:t>
            </a:r>
            <a:endParaRPr lang="en-KE" sz="1800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6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KE" sz="26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ings</a:t>
            </a:r>
            <a:r>
              <a:rPr lang="en-US" sz="26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KE" sz="2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 of radial divisions for the torus.</a:t>
            </a:r>
            <a:endParaRPr lang="en-KE" sz="1800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58285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378EA-D6C5-C64F-EA68-124015DC1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333" y="88900"/>
            <a:ext cx="7704667" cy="6934200"/>
          </a:xfrm>
        </p:spPr>
        <p:txBody>
          <a:bodyPr>
            <a:normAutofit fontScale="92500"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Program (Solid Torus)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#include &lt;GL/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glut.h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&gt;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void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init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(void)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glClearColor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(0.0, 0.0, 0.0, 0.0);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glShadeModel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(GL_FLAT);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void display(void)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glClear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(GL_COLOR_BUFFER_BIT);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glColor3f (1.0, 0.0, 1.0);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glLoadIdentity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();    /* clear the matrix */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 /* viewing transformation  */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gluLookAt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(0.0, 0.0, 5.0, 0.0, 0.0, 0.0, 0.0, 1.0, 0.0);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glScalef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(1.0, 2.0, 1.0);      /* modeling transformation */ </a:t>
            </a:r>
          </a:p>
          <a:p>
            <a:pPr marL="0" lvl="0" indent="0">
              <a:buClr>
                <a:srgbClr val="8BB434">
                  <a:lumMod val="75000"/>
                </a:srgbClr>
              </a:buClr>
              <a:buNone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glutSolidTorus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(0.5,1.5,10,10);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</a:p>
          <a:p>
            <a:pPr marL="0" lvl="0" indent="0">
              <a:buClr>
                <a:srgbClr val="8BB434">
                  <a:lumMod val="75000"/>
                </a:srgbClr>
              </a:buClr>
              <a:buNone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glFlush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}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172616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FDB58-681D-3D5B-E7B3-972B8DE9A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03200"/>
            <a:ext cx="7704667" cy="5796616"/>
          </a:xfrm>
        </p:spPr>
        <p:txBody>
          <a:bodyPr>
            <a:normAutofit fontScale="92500"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void reshape (int w, int h){</a:t>
            </a:r>
            <a:endParaRPr kumimoji="0" lang="en-K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glViewport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(0, 0, 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GLsizei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 w, 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GLsizei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 h); </a:t>
            </a:r>
            <a:endParaRPr kumimoji="0" lang="en-K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glMatrixMode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(GL_PROJECTION);</a:t>
            </a:r>
            <a:endParaRPr kumimoji="0" lang="en-K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glLoadIdentity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();</a:t>
            </a:r>
            <a:endParaRPr kumimoji="0" lang="en-K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glFrustum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(-1.0, 1.0, -1.0, 1.0, 1.5, 20.0);</a:t>
            </a:r>
            <a:endParaRPr kumimoji="0" lang="en-K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glMatrixMode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(GL_MODELVIEW);</a:t>
            </a:r>
            <a:endParaRPr kumimoji="0" lang="en-K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} </a:t>
            </a:r>
            <a:endParaRPr kumimoji="0" lang="en-K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int main(int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argc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 char**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argv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 {</a:t>
            </a:r>
            <a:endParaRPr kumimoji="0" lang="en-K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(&amp;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argc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argv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);</a:t>
            </a:r>
            <a:endParaRPr kumimoji="0" lang="en-K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glutInitDisplayMode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(GLUT_SINGLE | GLUT_RGB);</a:t>
            </a:r>
            <a:endParaRPr kumimoji="0" lang="en-K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glutInitWindowSize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(500, 500); </a:t>
            </a:r>
            <a:endParaRPr kumimoji="0" lang="en-K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glutInitWindowPosition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(100, 100);</a:t>
            </a:r>
            <a:endParaRPr kumimoji="0" lang="en-K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glutCreateWindow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argv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[0]);</a:t>
            </a:r>
            <a:endParaRPr kumimoji="0" lang="en-KE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19814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D4C95-8211-9F48-7402-2CF8C04D8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412750"/>
            <a:ext cx="7704667" cy="5587066"/>
          </a:xfrm>
        </p:spPr>
        <p:txBody>
          <a:bodyPr/>
          <a:lstStyle/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init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glutDisplayFunc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(display); 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glutReshapeFunc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(reshape);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glutMainLoop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();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return 0;</a:t>
            </a:r>
            <a:endParaRPr lang="en-KE" sz="2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</a:p>
          <a:p>
            <a:pPr algn="just">
              <a:buNone/>
            </a:pP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Output</a:t>
            </a:r>
          </a:p>
          <a:p>
            <a:endParaRPr lang="en-K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FA04E5-5753-38E1-438F-4FD92A9DB3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75" t="18661" r="34775" b="12385"/>
          <a:stretch>
            <a:fillRect/>
          </a:stretch>
        </p:blipFill>
        <p:spPr bwMode="auto">
          <a:xfrm>
            <a:off x="1790701" y="4667249"/>
            <a:ext cx="2901632" cy="20732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75921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C1937-E187-33BA-A572-BC0B122F2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333" y="12700"/>
            <a:ext cx="7704667" cy="6978650"/>
          </a:xfrm>
        </p:spPr>
        <p:txBody>
          <a:bodyPr>
            <a:normAutofit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Program (</a:t>
            </a:r>
            <a:r>
              <a:rPr lang="en-US" sz="2000" b="1" dirty="0">
                <a:solidFill>
                  <a:prstClr val="black"/>
                </a:solidFill>
                <a:latin typeface="Corbel" panose="020B0503020204020204"/>
              </a:rPr>
              <a:t>Wire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Torus)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#include &lt;GL/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glut.h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&gt;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void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init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(void)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glClearColor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(0.0, 0.0, 0.0, 0.0);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glShadeModel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(GL_FLAT);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void display(void)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glClear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(GL_COLOR_BUFFER_BIT);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glColor3f (1.0, 0.0, 1.0);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glLoadIdentity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();    /* clear the matrix */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 /* viewing transformation  */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gluLookAt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(0.0, 0.0, 5.0, 0.0, 0.0, 0.0, 0.0, 1.0, 0.0);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glScalef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(1.0, 2.0, 1.0);      /* modeling transformation */ </a:t>
            </a:r>
          </a:p>
          <a:p>
            <a:pPr marL="0" lvl="0" indent="0">
              <a:buClr>
                <a:srgbClr val="8BB434">
                  <a:lumMod val="75000"/>
                </a:srgbClr>
              </a:buClr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lang="en-US" sz="2000" dirty="0" err="1">
                <a:solidFill>
                  <a:srgbClr val="FF0000"/>
                </a:solidFill>
              </a:rPr>
              <a:t>glutSolidTorus</a:t>
            </a:r>
            <a:r>
              <a:rPr lang="en-US" sz="2000" dirty="0">
                <a:solidFill>
                  <a:srgbClr val="FF0000"/>
                </a:solidFill>
              </a:rPr>
              <a:t>(0.5,1.5,10,10);</a:t>
            </a:r>
          </a:p>
          <a:p>
            <a:pPr marL="0" lvl="0" indent="0">
              <a:buClr>
                <a:srgbClr val="8BB434">
                  <a:lumMod val="75000"/>
                </a:srgbClr>
              </a:buClr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glFlush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}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90287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B6A17-8532-B6C9-E052-9B2B7A686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44450"/>
            <a:ext cx="7704667" cy="6731000"/>
          </a:xfrm>
        </p:spPr>
        <p:txBody>
          <a:bodyPr/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void reshape (int w, int h){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glViewport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(0, 0,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GLsizei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 w,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GLsizei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 h); 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glMatrixMode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(GL_PROJECTION);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glLoadIdentity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glFrustum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(-1.0, 1.0, -1.0, 1.0, 1.5, 20.0);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glMatrixMode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(GL_MODELVIEW);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} 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int main(int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 char**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 {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(&amp;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glutInitDisplayMode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(GLUT_SINGLE | GLUT_RGB);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glutInitWindowSize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(500, 500); 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glutInitWindowPosition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(100, 100);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glutCreateWindow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[0]);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487748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26271-5597-050E-B578-5F773012D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76200"/>
            <a:ext cx="7704667" cy="6191250"/>
          </a:xfrm>
        </p:spPr>
        <p:txBody>
          <a:bodyPr/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init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();</a:t>
            </a:r>
            <a:endParaRPr kumimoji="0" lang="en-KE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glutDisplayFunc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(display); </a:t>
            </a:r>
            <a:endParaRPr kumimoji="0" lang="en-KE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glutReshapeFunc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(reshape);</a:t>
            </a:r>
            <a:endParaRPr kumimoji="0" lang="en-KE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glutMainLoop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();</a:t>
            </a:r>
            <a:endParaRPr kumimoji="0" lang="en-KE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return 0;</a:t>
            </a:r>
            <a:endParaRPr kumimoji="0" lang="en-KE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}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Output</a:t>
            </a:r>
          </a:p>
          <a:p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C9F145-6855-CF97-23F8-4235D26DA0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397" t="18097" r="35069" b="12387"/>
          <a:stretch>
            <a:fillRect/>
          </a:stretch>
        </p:blipFill>
        <p:spPr bwMode="auto">
          <a:xfrm>
            <a:off x="2085340" y="4458970"/>
            <a:ext cx="2969260" cy="23228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49756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21E51-7026-CE9D-FAC2-27F8EFF89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-209550"/>
            <a:ext cx="8549217" cy="5929966"/>
          </a:xfrm>
        </p:spPr>
        <p:txBody>
          <a:bodyPr/>
          <a:lstStyle/>
          <a:p>
            <a:pPr marL="0" indent="0">
              <a:buClr>
                <a:srgbClr val="8BB434">
                  <a:lumMod val="75000"/>
                </a:srgbClr>
              </a:buClr>
              <a:buNone/>
              <a:defRPr/>
            </a:pPr>
            <a:r>
              <a:rPr kumimoji="0" lang="en-US" sz="2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</a:rPr>
              <a:t>3. </a:t>
            </a:r>
            <a:r>
              <a:rPr lang="en-KE" sz="2600" b="1" u="sng" dirty="0" err="1">
                <a:latin typeface="Book Antiqua" panose="02040602050305030304" pitchFamily="18" charset="0"/>
              </a:rPr>
              <a:t>glutSolidDodecahedron</a:t>
            </a:r>
            <a:r>
              <a:rPr lang="en-KE" sz="2600" b="1" u="sng" dirty="0">
                <a:latin typeface="Book Antiqua" panose="02040602050305030304" pitchFamily="18" charset="0"/>
              </a:rPr>
              <a:t>, </a:t>
            </a:r>
            <a:r>
              <a:rPr lang="en-KE" sz="2600" b="1" u="sng" dirty="0" err="1">
                <a:latin typeface="Book Antiqua" panose="02040602050305030304" pitchFamily="18" charset="0"/>
              </a:rPr>
              <a:t>glutWireDodecahedron</a:t>
            </a:r>
            <a:endParaRPr lang="en-KE" sz="2600" u="sng" dirty="0">
              <a:latin typeface="Book Antiqua" panose="0204060205030503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KE" sz="26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glutSolidDodecahedron</a:t>
            </a:r>
            <a:r>
              <a:rPr lang="en-KE" sz="2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and   </a:t>
            </a:r>
            <a:r>
              <a:rPr lang="en-KE" sz="26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glutWireDodecahedron</a:t>
            </a:r>
            <a:r>
              <a:rPr lang="en-KE" sz="2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render a solid or wireframe dodecahedron (12-sided regular solid) respectively.</a:t>
            </a:r>
            <a:endParaRPr lang="en-KE" sz="2600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KE" sz="2600" b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Usage</a:t>
            </a:r>
            <a:endParaRPr lang="en-KE" sz="2600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KE" sz="26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KE" sz="26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glutSolidDodecahedron</a:t>
            </a:r>
            <a:r>
              <a:rPr lang="en-KE" sz="26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(void);</a:t>
            </a:r>
            <a:endParaRPr lang="en-KE" sz="2600" i="1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KE" sz="26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KE" sz="2600" i="1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glutWireDodecahedron</a:t>
            </a:r>
            <a:r>
              <a:rPr lang="en-KE" sz="2600" i="1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(void);</a:t>
            </a:r>
            <a:endParaRPr lang="en-KE" sz="2600" i="1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endParaRPr kumimoji="0" lang="en-US" sz="2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404486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88785-BB3D-267B-C3BF-C87AC2FB8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333" y="101600"/>
            <a:ext cx="7704667" cy="7181850"/>
          </a:xfrm>
        </p:spPr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Program (Solid Dodecahedron)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#include &lt;GL/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glut.h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&gt;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void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init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(void)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glClearColor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(0.0, 0.0, 0.0, 0.0);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glShadeModel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(GL_FLAT);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void display(void)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glClear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(GL_COLOR_BUFFER_BIT);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glColor3f (1.0, 0.0, 1.0);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glLoadIdentity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();    /* clear the matrix */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 /* viewing transformation  */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gluLookAt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(0.0, 0.0, 5.0, 0.0, 0.0, 0.0, 0.0, 1.0, 0.0);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glScalef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(1.0, 2.0, 1.0);      /* modeling transformation */ </a:t>
            </a:r>
          </a:p>
          <a:p>
            <a:pPr marL="0" indent="0">
              <a:buNone/>
            </a:pPr>
            <a:r>
              <a:rPr lang="en-KE" dirty="0" err="1">
                <a:solidFill>
                  <a:srgbClr val="FF0000"/>
                </a:solidFill>
              </a:rPr>
              <a:t>glutSolidDodecahedron</a:t>
            </a:r>
            <a:r>
              <a:rPr lang="en-KE" dirty="0">
                <a:solidFill>
                  <a:srgbClr val="FF0000"/>
                </a:solidFill>
              </a:rPr>
              <a:t>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glFlush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}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99412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0843F-07A1-E5F3-1E0B-A396DE030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0"/>
            <a:ext cx="7704667" cy="6775450"/>
          </a:xfrm>
        </p:spPr>
        <p:txBody>
          <a:bodyPr/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void reshape (int w, int h){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glViewport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(0, 0,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GLsizei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 w,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GLsizei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 h); 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glMatrixMode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(GL_PROJECTION);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glLoadIdentity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glFrustum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(-1.0, 1.0, -1.0, 1.0, 1.5, 20.0);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glMatrixMode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(GL_MODELVIEW);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} 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int main(int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 char**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 {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(&amp;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glutInitDisplayMode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(GLUT_SINGLE | GLUT_RGB);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glutInitWindowSize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(500, 500); 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glutInitWindowPosition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(100, 100);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glutCreateWindow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[0]);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5164501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8EC6A-E61E-A829-EB03-F7176A836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27000"/>
            <a:ext cx="7704667" cy="6184900"/>
          </a:xfrm>
        </p:spPr>
        <p:txBody>
          <a:bodyPr/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init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();</a:t>
            </a:r>
            <a:endParaRPr kumimoji="0" lang="en-KE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glutDisplayFunc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(display); </a:t>
            </a:r>
            <a:endParaRPr kumimoji="0" lang="en-KE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glutReshapeFunc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(reshape);</a:t>
            </a:r>
            <a:endParaRPr kumimoji="0" lang="en-KE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glutMainLoop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();</a:t>
            </a:r>
            <a:endParaRPr kumimoji="0" lang="en-KE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return 0;</a:t>
            </a:r>
            <a:endParaRPr kumimoji="0" lang="en-KE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}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Output</a:t>
            </a:r>
          </a:p>
          <a:p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9C8752-46D2-CA8E-2A69-7361DF088F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82" t="18522" r="39102" b="12804"/>
          <a:stretch>
            <a:fillRect/>
          </a:stretch>
        </p:blipFill>
        <p:spPr bwMode="auto">
          <a:xfrm>
            <a:off x="2330450" y="4749800"/>
            <a:ext cx="2241550" cy="19161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9774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BC39B-634D-3429-7232-172F552DD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5833" y="0"/>
            <a:ext cx="7704667" cy="6959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Program (Wire Dodecahedron)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#include &lt;GL/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glut.h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&gt;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void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init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(void)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glClearColor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(0.0, 0.0, 0.0, 0.0);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glShadeModel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(GL_FLAT);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void display(void)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glClear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(GL_COLOR_BUFFER_BIT);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glColor3f (1.0, 0.0, 1.0);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glLoadIdentity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();    /* clear the matrix */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 /* viewing transformation  */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gluLookAt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(0.0, 0.0, 5.0, 0.0, 0.0, 0.0, 0.0, 1.0, 0.0);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glScalef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(1.0, 2.0, 1.0);      /* modeling transformation */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KE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glut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Wire</a:t>
            </a:r>
            <a:r>
              <a:rPr kumimoji="0" lang="en-KE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Dodecahedron();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glFlush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}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50840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367C-6926-6CA5-8147-A285EE2C5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22250"/>
            <a:ext cx="7704667" cy="5777566"/>
          </a:xfrm>
        </p:spPr>
        <p:txBody>
          <a:bodyPr/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void reshape (int w, int h){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glViewport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(0, 0,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GLsizei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 w,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GLsizei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 h); 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glMatrixMode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(GL_PROJECTION);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glLoadIdentity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glFrustum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(-1.0, 1.0, -1.0, 1.0, 1.5, 20.0);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glMatrixMode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(GL_MODELVIEW);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} 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int main(int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 char**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 {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(&amp;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glutInitDisplayMode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(GLUT_SINGLE | GLUT_RGB);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glutInitWindowSize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(500, 500); 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glutInitWindowPosition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(100, 100);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BB434">
                  <a:lumMod val="75000"/>
                </a:srgbClr>
              </a:buClr>
              <a:buSzPct val="1450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glutCreateWindow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argv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[0]);</a:t>
            </a:r>
            <a:endParaRPr kumimoji="0" lang="en-K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8892014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FD50B-D630-DD99-DEB5-2B51E1694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63500"/>
            <a:ext cx="7704667" cy="5936316"/>
          </a:xfrm>
        </p:spPr>
        <p:txBody>
          <a:bodyPr/>
          <a:lstStyle/>
          <a:p>
            <a:pPr lvl="0" algn="just">
              <a:buClr>
                <a:srgbClr val="8BB434">
                  <a:lumMod val="75000"/>
                </a:srgbClr>
              </a:buClr>
              <a:buNone/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init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();</a:t>
            </a:r>
            <a:endParaRPr lang="en-KE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Clr>
                <a:srgbClr val="8BB434">
                  <a:lumMod val="75000"/>
                </a:srgbClr>
              </a:buClr>
              <a:buNone/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glutDisplayFunc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(display); </a:t>
            </a:r>
            <a:endParaRPr lang="en-KE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Clr>
                <a:srgbClr val="8BB434">
                  <a:lumMod val="75000"/>
                </a:srgbClr>
              </a:buClr>
              <a:buNone/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glutReshapeFunc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(reshape);</a:t>
            </a:r>
            <a:endParaRPr lang="en-KE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Clr>
                <a:srgbClr val="8BB434">
                  <a:lumMod val="75000"/>
                </a:srgbClr>
              </a:buClr>
              <a:buNone/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200" dirty="0" err="1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glutMainLoop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();</a:t>
            </a:r>
            <a:endParaRPr lang="en-KE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Clr>
                <a:srgbClr val="8BB434">
                  <a:lumMod val="75000"/>
                </a:srgbClr>
              </a:buClr>
              <a:buNone/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return 0;</a:t>
            </a:r>
            <a:endParaRPr lang="en-KE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Clr>
                <a:srgbClr val="8BB434">
                  <a:lumMod val="75000"/>
                </a:srgbClr>
              </a:buClr>
              <a:buNone/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</a:p>
          <a:p>
            <a:pPr lvl="0" algn="just">
              <a:buClr>
                <a:srgbClr val="8BB434">
                  <a:lumMod val="75000"/>
                </a:srgbClr>
              </a:buClr>
              <a:buNone/>
              <a:defRPr/>
            </a:pPr>
            <a:r>
              <a:rPr lang="en-US" sz="2800" b="1" u="sng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Output</a:t>
            </a:r>
          </a:p>
          <a:p>
            <a:pPr marL="0" indent="0">
              <a:buNone/>
            </a:pPr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45DA6D-28AF-FEFA-BB3A-008E99AEE9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89" t="18234" r="29327" b="11966"/>
          <a:stretch>
            <a:fillRect/>
          </a:stretch>
        </p:blipFill>
        <p:spPr bwMode="auto">
          <a:xfrm>
            <a:off x="2257424" y="4216401"/>
            <a:ext cx="3470275" cy="25781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541235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652</TotalTime>
  <Words>2306</Words>
  <Application>Microsoft Office PowerPoint</Application>
  <PresentationFormat>On-screen Show (4:3)</PresentationFormat>
  <Paragraphs>325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Book Antiqua</vt:lpstr>
      <vt:lpstr>Calibri</vt:lpstr>
      <vt:lpstr>Corbel</vt:lpstr>
      <vt:lpstr>Times New Roman</vt:lpstr>
      <vt:lpstr>Parallax</vt:lpstr>
      <vt:lpstr>Geometric 3D Object Rendering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28</cp:revision>
  <dcterms:created xsi:type="dcterms:W3CDTF">2013-01-27T09:14:16Z</dcterms:created>
  <dcterms:modified xsi:type="dcterms:W3CDTF">2026-05-07T08:05:20Z</dcterms:modified>
  <cp:category/>
</cp:coreProperties>
</file>