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41"/>
  </p:notesMasterIdLst>
  <p:sldIdLst>
    <p:sldId id="256" r:id="rId2"/>
    <p:sldId id="273" r:id="rId3"/>
    <p:sldId id="275" r:id="rId4"/>
    <p:sldId id="274" r:id="rId5"/>
    <p:sldId id="276" r:id="rId6"/>
    <p:sldId id="258" r:id="rId7"/>
    <p:sldId id="259" r:id="rId8"/>
    <p:sldId id="272" r:id="rId9"/>
    <p:sldId id="291" r:id="rId10"/>
    <p:sldId id="260" r:id="rId11"/>
    <p:sldId id="277" r:id="rId12"/>
    <p:sldId id="280" r:id="rId13"/>
    <p:sldId id="290" r:id="rId14"/>
    <p:sldId id="261" r:id="rId15"/>
    <p:sldId id="281" r:id="rId16"/>
    <p:sldId id="283" r:id="rId17"/>
    <p:sldId id="282" r:id="rId18"/>
    <p:sldId id="285" r:id="rId19"/>
    <p:sldId id="284" r:id="rId20"/>
    <p:sldId id="262" r:id="rId21"/>
    <p:sldId id="287" r:id="rId22"/>
    <p:sldId id="289" r:id="rId23"/>
    <p:sldId id="263" r:id="rId24"/>
    <p:sldId id="264" r:id="rId25"/>
    <p:sldId id="270" r:id="rId26"/>
    <p:sldId id="271" r:id="rId27"/>
    <p:sldId id="292" r:id="rId28"/>
    <p:sldId id="293" r:id="rId29"/>
    <p:sldId id="294" r:id="rId30"/>
    <p:sldId id="295" r:id="rId31"/>
    <p:sldId id="296" r:id="rId32"/>
    <p:sldId id="298" r:id="rId33"/>
    <p:sldId id="297" r:id="rId34"/>
    <p:sldId id="299" r:id="rId35"/>
    <p:sldId id="300" r:id="rId36"/>
    <p:sldId id="301" r:id="rId37"/>
    <p:sldId id="302" r:id="rId38"/>
    <p:sldId id="303" r:id="rId39"/>
    <p:sldId id="304"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95" autoAdjust="0"/>
    <p:restoredTop sz="94660"/>
  </p:normalViewPr>
  <p:slideViewPr>
    <p:cSldViewPr snapToGrid="0" snapToObjects="1">
      <p:cViewPr varScale="1">
        <p:scale>
          <a:sx n="75" d="100"/>
          <a:sy n="75" d="100"/>
        </p:scale>
        <p:origin x="1365"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30A7B-C654-452E-BD52-7A78CCBD509D}" type="datetimeFigureOut">
              <a:rPr lang="en-KE" smtClean="0"/>
              <a:t>02/04/2026</a:t>
            </a:fld>
            <a:endParaRPr lang="en-K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47C60-41A1-4A4B-B202-601E8408F1AB}" type="slidenum">
              <a:rPr lang="en-KE" smtClean="0"/>
              <a:t>‹#›</a:t>
            </a:fld>
            <a:endParaRPr lang="en-KE"/>
          </a:p>
        </p:txBody>
      </p:sp>
    </p:spTree>
    <p:extLst>
      <p:ext uri="{BB962C8B-B14F-4D97-AF65-F5344CB8AC3E}">
        <p14:creationId xmlns:p14="http://schemas.microsoft.com/office/powerpoint/2010/main" val="139914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1947C60-41A1-4A4B-B202-601E8408F1AB}" type="slidenum">
              <a:rPr lang="en-KE" smtClean="0"/>
              <a:t>1</a:t>
            </a:fld>
            <a:endParaRPr lang="en-KE"/>
          </a:p>
        </p:txBody>
      </p:sp>
    </p:spTree>
    <p:extLst>
      <p:ext uri="{BB962C8B-B14F-4D97-AF65-F5344CB8AC3E}">
        <p14:creationId xmlns:p14="http://schemas.microsoft.com/office/powerpoint/2010/main" val="3730271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418393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0927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4964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734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548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675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2283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8154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457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806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9533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0976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1806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043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578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817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76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4/2/2026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5544522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7438"/>
            <a:ext cx="8229600" cy="3090862"/>
          </a:xfrm>
        </p:spPr>
        <p:txBody>
          <a:bodyPr>
            <a:normAutofit/>
          </a:bodyPr>
          <a:lstStyle/>
          <a:p>
            <a:r>
              <a:rPr lang="en-US" dirty="0"/>
              <a:t>Introduction to Graphics Programming- OpenGL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C6EF59-8D23-18E7-7E15-90706A4991B0}"/>
              </a:ext>
            </a:extLst>
          </p:cNvPr>
          <p:cNvSpPr>
            <a:spLocks noGrp="1"/>
          </p:cNvSpPr>
          <p:nvPr>
            <p:ph idx="1"/>
          </p:nvPr>
        </p:nvSpPr>
        <p:spPr>
          <a:xfrm>
            <a:off x="1041400" y="425450"/>
            <a:ext cx="7645400" cy="5700713"/>
          </a:xfrm>
        </p:spPr>
        <p:txBody>
          <a:bodyPr>
            <a:normAutofit/>
          </a:bodyPr>
          <a:lstStyle/>
          <a:p>
            <a:r>
              <a:rPr lang="en-US" dirty="0"/>
              <a:t>OpenGL has it origins in the earlier GL (“Graphics Library”) system which was invented by Silicon Graphics Inc. as the means for programming their high-performance </a:t>
            </a:r>
            <a:r>
              <a:rPr lang="en-US" dirty="0" err="1"/>
              <a:t>specialised</a:t>
            </a:r>
            <a:r>
              <a:rPr lang="en-US" dirty="0"/>
              <a:t> graphics workstations.</a:t>
            </a:r>
          </a:p>
          <a:p>
            <a:r>
              <a:rPr lang="en-US" dirty="0"/>
              <a:t>As time went on, people became interested in porting GL to other kinds of machine, and in 1992 a variation of GL – called </a:t>
            </a:r>
            <a:r>
              <a:rPr lang="en-US" b="1" dirty="0"/>
              <a:t>OpenGL</a:t>
            </a:r>
            <a:r>
              <a:rPr lang="en-US" dirty="0"/>
              <a:t> – was announced. </a:t>
            </a:r>
          </a:p>
          <a:p>
            <a:r>
              <a:rPr lang="en-US" dirty="0"/>
              <a:t>Unlike GL, OpenGL was specifically designed to be platform-independent, so it would work across a whole range of computer hardware– not just Silicon Graphics machines. </a:t>
            </a:r>
          </a:p>
          <a:p>
            <a:endParaRPr lang="en-KE" dirty="0"/>
          </a:p>
        </p:txBody>
      </p:sp>
    </p:spTree>
    <p:extLst>
      <p:ext uri="{BB962C8B-B14F-4D97-AF65-F5344CB8AC3E}">
        <p14:creationId xmlns:p14="http://schemas.microsoft.com/office/powerpoint/2010/main" val="976845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0D85B-9588-DE6E-78F2-019D19E20862}"/>
              </a:ext>
            </a:extLst>
          </p:cNvPr>
          <p:cNvSpPr>
            <a:spLocks noGrp="1"/>
          </p:cNvSpPr>
          <p:nvPr>
            <p:ph idx="1"/>
          </p:nvPr>
        </p:nvSpPr>
        <p:spPr>
          <a:xfrm>
            <a:off x="1073150" y="488950"/>
            <a:ext cx="7613650" cy="5911850"/>
          </a:xfrm>
        </p:spPr>
        <p:txBody>
          <a:bodyPr/>
          <a:lstStyle/>
          <a:p>
            <a:r>
              <a:rPr lang="en-US" dirty="0"/>
              <a:t>The combination of OpenGL’s power and portability led to its rapid acceptance as a standard for computer graphics programming.</a:t>
            </a:r>
          </a:p>
          <a:p>
            <a:r>
              <a:rPr lang="en-US" dirty="0"/>
              <a:t>OpenGL itself isn’t a programming language, or a software library.</a:t>
            </a:r>
          </a:p>
          <a:p>
            <a:r>
              <a:rPr lang="en-US" dirty="0"/>
              <a:t> It’s the specification of an Application Programming Interface (API) for computer graphics programming.</a:t>
            </a:r>
          </a:p>
          <a:p>
            <a:r>
              <a:rPr lang="en-US" dirty="0"/>
              <a:t>In other words, OpenGL defines a set of functions for doing computer graphics.</a:t>
            </a:r>
          </a:p>
          <a:p>
            <a:endParaRPr lang="en-KE" dirty="0"/>
          </a:p>
        </p:txBody>
      </p:sp>
    </p:spTree>
    <p:extLst>
      <p:ext uri="{BB962C8B-B14F-4D97-AF65-F5344CB8AC3E}">
        <p14:creationId xmlns:p14="http://schemas.microsoft.com/office/powerpoint/2010/main" val="3708648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2E9CD1-D4A4-88FF-18AB-6EAAAAB554E4}"/>
              </a:ext>
            </a:extLst>
          </p:cNvPr>
          <p:cNvSpPr>
            <a:spLocks noGrp="1"/>
          </p:cNvSpPr>
          <p:nvPr>
            <p:ph idx="1"/>
          </p:nvPr>
        </p:nvSpPr>
        <p:spPr>
          <a:xfrm>
            <a:off x="1092200" y="247650"/>
            <a:ext cx="7810500" cy="6083300"/>
          </a:xfrm>
        </p:spPr>
        <p:txBody>
          <a:bodyPr>
            <a:normAutofit/>
          </a:bodyPr>
          <a:lstStyle/>
          <a:p>
            <a:pPr marL="0" indent="0">
              <a:buNone/>
            </a:pPr>
            <a:r>
              <a:rPr lang="en-US" b="1" dirty="0"/>
              <a:t>The OpenGL API</a:t>
            </a:r>
          </a:p>
          <a:p>
            <a:r>
              <a:rPr lang="en-US" dirty="0"/>
              <a:t>Made up of  </a:t>
            </a:r>
            <a:r>
              <a:rPr lang="en-US" b="1" dirty="0"/>
              <a:t>GLU</a:t>
            </a:r>
            <a:r>
              <a:rPr lang="en-US" dirty="0"/>
              <a:t> (which stands for the OpenGL utility library) and </a:t>
            </a:r>
            <a:r>
              <a:rPr lang="en-US" b="1" dirty="0"/>
              <a:t>GLUT</a:t>
            </a:r>
            <a:r>
              <a:rPr lang="en-US" dirty="0"/>
              <a:t> (an OpenGL Utility Toolkit). </a:t>
            </a:r>
          </a:p>
          <a:p>
            <a:r>
              <a:rPr lang="en-US" dirty="0"/>
              <a:t>GLU provides functions for drawing more complex primitives (All GLU function names start with ‘</a:t>
            </a:r>
            <a:r>
              <a:rPr lang="en-US" b="1" dirty="0" err="1"/>
              <a:t>glu</a:t>
            </a:r>
            <a:r>
              <a:rPr lang="en-US" dirty="0"/>
              <a:t>’.)</a:t>
            </a:r>
          </a:p>
          <a:p>
            <a:r>
              <a:rPr lang="en-US" dirty="0"/>
              <a:t>GLUT provides the facilities for interaction. It provides functions for managing windows on the display screen, and handling input events from the mouse and keyboard. </a:t>
            </a:r>
            <a:endParaRPr lang="en-KE" dirty="0"/>
          </a:p>
        </p:txBody>
      </p:sp>
    </p:spTree>
    <p:extLst>
      <p:ext uri="{BB962C8B-B14F-4D97-AF65-F5344CB8AC3E}">
        <p14:creationId xmlns:p14="http://schemas.microsoft.com/office/powerpoint/2010/main" val="1449567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DD968-7507-94DC-348A-39385AA42121}"/>
              </a:ext>
            </a:extLst>
          </p:cNvPr>
          <p:cNvSpPr>
            <a:spLocks noGrp="1"/>
          </p:cNvSpPr>
          <p:nvPr>
            <p:ph idx="1"/>
          </p:nvPr>
        </p:nvSpPr>
        <p:spPr>
          <a:xfrm>
            <a:off x="1098550" y="349250"/>
            <a:ext cx="7588250" cy="5776913"/>
          </a:xfrm>
        </p:spPr>
        <p:txBody>
          <a:bodyPr/>
          <a:lstStyle/>
          <a:p>
            <a:r>
              <a:rPr lang="en-US" dirty="0"/>
              <a:t>It provides some rudimentary tools for creating Graphical User Interfaces (GUIs).</a:t>
            </a:r>
          </a:p>
          <a:p>
            <a:r>
              <a:rPr lang="en-US" dirty="0"/>
              <a:t> It also includes functions for conveniently drawing 3D objects like the platonic solids (All GLUT function names start with ‘</a:t>
            </a:r>
            <a:r>
              <a:rPr lang="en-US" b="1" dirty="0"/>
              <a:t>glut</a:t>
            </a:r>
            <a:r>
              <a:rPr lang="en-US" dirty="0"/>
              <a:t>’)</a:t>
            </a:r>
          </a:p>
          <a:p>
            <a:r>
              <a:rPr lang="en-US" dirty="0"/>
              <a:t>OpenGL is designed to be a machine independent graphics library, but one that can take advantage of the structure of typical hardware accelerators for computer graphics</a:t>
            </a:r>
            <a:endParaRPr lang="en-KE" dirty="0"/>
          </a:p>
        </p:txBody>
      </p:sp>
    </p:spTree>
    <p:extLst>
      <p:ext uri="{BB962C8B-B14F-4D97-AF65-F5344CB8AC3E}">
        <p14:creationId xmlns:p14="http://schemas.microsoft.com/office/powerpoint/2010/main" val="4028327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6932" y="134938"/>
            <a:ext cx="7298267" cy="893762"/>
          </a:xfrm>
        </p:spPr>
        <p:txBody>
          <a:bodyPr>
            <a:normAutofit fontScale="90000"/>
          </a:bodyPr>
          <a:lstStyle/>
          <a:p>
            <a:r>
              <a:rPr lang="en-US" dirty="0"/>
              <a:t>Major Elements in OpenGL </a:t>
            </a:r>
            <a:r>
              <a:rPr lang="en-US" dirty="0" err="1"/>
              <a:t>Progamming</a:t>
            </a:r>
            <a:endParaRPr lang="en-US" dirty="0"/>
          </a:p>
        </p:txBody>
      </p:sp>
      <p:sp>
        <p:nvSpPr>
          <p:cNvPr id="3" name="Content Placeholder 2"/>
          <p:cNvSpPr>
            <a:spLocks noGrp="1"/>
          </p:cNvSpPr>
          <p:nvPr>
            <p:ph idx="1"/>
          </p:nvPr>
        </p:nvSpPr>
        <p:spPr>
          <a:xfrm>
            <a:off x="1286933" y="1981200"/>
            <a:ext cx="7704667" cy="3332816"/>
          </a:xfrm>
        </p:spPr>
        <p:txBody>
          <a:bodyPr>
            <a:normAutofit lnSpcReduction="10000"/>
          </a:bodyPr>
          <a:lstStyle/>
          <a:p>
            <a:pPr marL="514350" indent="-514350">
              <a:buAutoNum type="arabicPeriod"/>
            </a:pPr>
            <a:r>
              <a:rPr lang="en-US" b="1" dirty="0"/>
              <a:t>Geometric Primitives</a:t>
            </a:r>
          </a:p>
          <a:p>
            <a:pPr marL="0" indent="0">
              <a:buNone/>
            </a:pPr>
            <a:r>
              <a:rPr lang="en-US" dirty="0"/>
              <a:t>The following are the b</a:t>
            </a:r>
            <a:r>
              <a:rPr dirty="0"/>
              <a:t>asic building blocks </a:t>
            </a:r>
            <a:r>
              <a:rPr lang="en-US" dirty="0"/>
              <a:t>any </a:t>
            </a:r>
            <a:r>
              <a:rPr dirty="0"/>
              <a:t>3D model:</a:t>
            </a:r>
          </a:p>
          <a:p>
            <a:r>
              <a:rPr dirty="0"/>
              <a:t>Points</a:t>
            </a:r>
          </a:p>
          <a:p>
            <a:r>
              <a:rPr dirty="0"/>
              <a:t>Lines</a:t>
            </a:r>
          </a:p>
          <a:p>
            <a:r>
              <a:rPr dirty="0"/>
              <a:t>Polygons</a:t>
            </a:r>
          </a:p>
          <a:p>
            <a:pPr marL="0" indent="0">
              <a:buNone/>
            </a:pPr>
            <a:r>
              <a:rPr lang="en-US" dirty="0"/>
              <a:t>All Complex models are constructed from these geometric primitives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Points</a:t>
            </a:r>
          </a:p>
        </p:txBody>
      </p:sp>
      <p:sp>
        <p:nvSpPr>
          <p:cNvPr id="3" name="Content Placeholder 2"/>
          <p:cNvSpPr>
            <a:spLocks noGrp="1"/>
          </p:cNvSpPr>
          <p:nvPr>
            <p:ph idx="1"/>
          </p:nvPr>
        </p:nvSpPr>
        <p:spPr>
          <a:xfrm>
            <a:off x="1130300" y="1219200"/>
            <a:ext cx="7645400" cy="4525963"/>
          </a:xfrm>
        </p:spPr>
        <p:txBody>
          <a:bodyPr/>
          <a:lstStyle/>
          <a:p>
            <a:r>
              <a:rPr dirty="0"/>
              <a:t>A point represents a location in</a:t>
            </a:r>
            <a:r>
              <a:rPr lang="en-US" dirty="0"/>
              <a:t> 3D </a:t>
            </a:r>
            <a:r>
              <a:rPr dirty="0"/>
              <a:t>space</a:t>
            </a:r>
          </a:p>
          <a:p>
            <a:r>
              <a:rPr dirty="0"/>
              <a:t>Defined as (x, </a:t>
            </a:r>
            <a:r>
              <a:rPr dirty="0" err="1"/>
              <a:t>y</a:t>
            </a:r>
            <a:r>
              <a:rPr lang="en-US" dirty="0" err="1"/>
              <a:t>,z</a:t>
            </a:r>
            <a:r>
              <a:rPr dirty="0"/>
              <a:t>)</a:t>
            </a:r>
          </a:p>
          <a:p>
            <a:r>
              <a:rPr dirty="0"/>
              <a:t>Used as vertices, particle positions, and control points</a:t>
            </a:r>
            <a:endParaRPr lang="en-US" dirty="0"/>
          </a:p>
          <a:p>
            <a:r>
              <a:rPr lang="en-US" dirty="0"/>
              <a:t>Individual points can be generated by using the primitive type </a:t>
            </a:r>
            <a:r>
              <a:rPr lang="en-US" dirty="0">
                <a:solidFill>
                  <a:srgbClr val="FF0000"/>
                </a:solidFill>
              </a:rPr>
              <a:t>GL.GL POINTS</a:t>
            </a:r>
            <a:r>
              <a:rPr lang="en-US" dirty="0"/>
              <a:t>. </a:t>
            </a:r>
          </a:p>
          <a:p>
            <a:r>
              <a:rPr lang="en-US" dirty="0"/>
              <a:t>With this primitive type, each vertex that is specified generates an individual point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AE3D8C-6605-D027-9080-B3C8B966185C}"/>
              </a:ext>
            </a:extLst>
          </p:cNvPr>
          <p:cNvSpPr>
            <a:spLocks noGrp="1"/>
          </p:cNvSpPr>
          <p:nvPr>
            <p:ph idx="1"/>
          </p:nvPr>
        </p:nvSpPr>
        <p:spPr>
          <a:xfrm>
            <a:off x="1143000" y="209550"/>
            <a:ext cx="7543800" cy="5916613"/>
          </a:xfrm>
        </p:spPr>
        <p:txBody>
          <a:bodyPr/>
          <a:lstStyle/>
          <a:p>
            <a:r>
              <a:rPr lang="en-US" dirty="0"/>
              <a:t>By default, a point is drawn as a single pixel.</a:t>
            </a:r>
          </a:p>
          <a:p>
            <a:r>
              <a:rPr lang="en-US" dirty="0"/>
              <a:t> An individual pixel is just barely visible.</a:t>
            </a:r>
          </a:p>
          <a:p>
            <a:r>
              <a:rPr lang="en-US" dirty="0"/>
              <a:t> The size of a point can be increased by calling the function </a:t>
            </a:r>
            <a:r>
              <a:rPr lang="en-US" i="1" dirty="0" err="1">
                <a:solidFill>
                  <a:srgbClr val="FF0000"/>
                </a:solidFill>
              </a:rPr>
              <a:t>gl.glPointSize</a:t>
            </a:r>
            <a:r>
              <a:rPr lang="en-US" i="1" dirty="0">
                <a:solidFill>
                  <a:srgbClr val="FF0000"/>
                </a:solidFill>
              </a:rPr>
              <a:t>(size).</a:t>
            </a:r>
          </a:p>
          <a:p>
            <a:r>
              <a:rPr lang="en-US" dirty="0"/>
              <a:t>The parameter is a float that specifies the diameter of the point, in pixels. </a:t>
            </a:r>
          </a:p>
          <a:p>
            <a:r>
              <a:rPr lang="en-US" dirty="0"/>
              <a:t>The range of sizes that is supported depends on the implementation.</a:t>
            </a:r>
            <a:endParaRPr lang="en-KE" dirty="0"/>
          </a:p>
        </p:txBody>
      </p:sp>
    </p:spTree>
    <p:extLst>
      <p:ext uri="{BB962C8B-B14F-4D97-AF65-F5344CB8AC3E}">
        <p14:creationId xmlns:p14="http://schemas.microsoft.com/office/powerpoint/2010/main" val="896295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42C6E3-ECEC-09D8-EEA0-E017AE2F8CE4}"/>
              </a:ext>
            </a:extLst>
          </p:cNvPr>
          <p:cNvPicPr>
            <a:picLocks noChangeAspect="1"/>
          </p:cNvPicPr>
          <p:nvPr/>
        </p:nvPicPr>
        <p:blipFill>
          <a:blip r:embed="rId2"/>
          <a:stretch>
            <a:fillRect/>
          </a:stretch>
        </p:blipFill>
        <p:spPr>
          <a:xfrm>
            <a:off x="1333500" y="1257300"/>
            <a:ext cx="7689850" cy="5092700"/>
          </a:xfrm>
          <a:prstGeom prst="rect">
            <a:avLst/>
          </a:prstGeom>
        </p:spPr>
      </p:pic>
    </p:spTree>
    <p:extLst>
      <p:ext uri="{BB962C8B-B14F-4D97-AF65-F5344CB8AC3E}">
        <p14:creationId xmlns:p14="http://schemas.microsoft.com/office/powerpoint/2010/main" val="224494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0"/>
            <a:ext cx="8229600" cy="965200"/>
          </a:xfrm>
        </p:spPr>
        <p:txBody>
          <a:bodyPr/>
          <a:lstStyle/>
          <a:p>
            <a:r>
              <a:rPr dirty="0"/>
              <a:t>Lines</a:t>
            </a:r>
          </a:p>
        </p:txBody>
      </p:sp>
      <p:sp>
        <p:nvSpPr>
          <p:cNvPr id="3" name="Content Placeholder 2"/>
          <p:cNvSpPr>
            <a:spLocks noGrp="1"/>
          </p:cNvSpPr>
          <p:nvPr>
            <p:ph idx="1"/>
          </p:nvPr>
        </p:nvSpPr>
        <p:spPr>
          <a:xfrm>
            <a:off x="1155700" y="1166018"/>
            <a:ext cx="7531100" cy="5183982"/>
          </a:xfrm>
        </p:spPr>
        <p:txBody>
          <a:bodyPr>
            <a:normAutofit/>
          </a:bodyPr>
          <a:lstStyle/>
          <a:p>
            <a:r>
              <a:rPr dirty="0"/>
              <a:t>Defined using two points</a:t>
            </a:r>
          </a:p>
          <a:p>
            <a:r>
              <a:rPr dirty="0"/>
              <a:t>Used in wireframe modeling</a:t>
            </a:r>
            <a:r>
              <a:rPr lang="en-US" dirty="0"/>
              <a:t>, </a:t>
            </a:r>
            <a:r>
              <a:rPr lang="en-KE" dirty="0"/>
              <a:t> </a:t>
            </a:r>
            <a:r>
              <a:rPr lang="en-US" dirty="0"/>
              <a:t>and</a:t>
            </a:r>
            <a:r>
              <a:rPr lang="en-KE" dirty="0"/>
              <a:t> </a:t>
            </a:r>
            <a:r>
              <a:rPr lang="en-US" dirty="0"/>
              <a:t>geometry</a:t>
            </a:r>
            <a:r>
              <a:rPr dirty="0"/>
              <a:t> visualization</a:t>
            </a:r>
          </a:p>
          <a:p>
            <a:r>
              <a:rPr b="1" dirty="0"/>
              <a:t>Types</a:t>
            </a:r>
            <a:r>
              <a:rPr dirty="0"/>
              <a:t>: line segment, infinite line, r</a:t>
            </a:r>
            <a:r>
              <a:rPr lang="en-US" dirty="0"/>
              <a:t>ay (starts at one point)</a:t>
            </a:r>
          </a:p>
          <a:p>
            <a:r>
              <a:rPr lang="en-US" dirty="0"/>
              <a:t>There are three primitive types for generating lines: </a:t>
            </a:r>
          </a:p>
          <a:p>
            <a:pPr marL="0" indent="0">
              <a:buNone/>
            </a:pPr>
            <a:r>
              <a:rPr lang="en-US" dirty="0"/>
              <a:t>	-	GL.GL LINES, </a:t>
            </a:r>
          </a:p>
          <a:p>
            <a:pPr marL="0" indent="0">
              <a:buNone/>
            </a:pPr>
            <a:r>
              <a:rPr lang="en-US" dirty="0"/>
              <a:t>	-	GL.GL LINE STRIP, and </a:t>
            </a:r>
          </a:p>
          <a:p>
            <a:pPr marL="0" indent="0">
              <a:buNone/>
            </a:pPr>
            <a:r>
              <a:rPr lang="en-US" dirty="0"/>
              <a:t>	-	GL.GL LINE LOOP</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86011-C44E-C7D5-6EC7-771D4AB994AD}"/>
              </a:ext>
            </a:extLst>
          </p:cNvPr>
          <p:cNvSpPr>
            <a:spLocks noGrp="1"/>
          </p:cNvSpPr>
          <p:nvPr>
            <p:ph idx="1"/>
          </p:nvPr>
        </p:nvSpPr>
        <p:spPr>
          <a:xfrm>
            <a:off x="1168400" y="330200"/>
            <a:ext cx="7518400" cy="6121400"/>
          </a:xfrm>
        </p:spPr>
        <p:txBody>
          <a:bodyPr>
            <a:normAutofit/>
          </a:bodyPr>
          <a:lstStyle/>
          <a:p>
            <a:pPr marL="0" indent="0">
              <a:buNone/>
            </a:pPr>
            <a:r>
              <a:rPr lang="en-US" dirty="0"/>
              <a:t>GL_ LINES</a:t>
            </a:r>
          </a:p>
          <a:p>
            <a:r>
              <a:rPr lang="en-US" dirty="0"/>
              <a:t>The vertices that are specified are paired off, and each pair is joined to produce a line segment.</a:t>
            </a:r>
          </a:p>
          <a:p>
            <a:r>
              <a:rPr lang="en-US" dirty="0"/>
              <a:t>If the number of vertices is odd, the last vertex is ignored.</a:t>
            </a:r>
          </a:p>
          <a:p>
            <a:pPr marL="0" indent="0">
              <a:buNone/>
            </a:pPr>
            <a:r>
              <a:rPr lang="en-US" dirty="0"/>
              <a:t>GL LINE STRIP</a:t>
            </a:r>
          </a:p>
          <a:p>
            <a:r>
              <a:rPr lang="en-US" dirty="0"/>
              <a:t> A line is drawn from the first specified vertex to the second, from the second to the third, from the third to the fourth, and so on. </a:t>
            </a:r>
          </a:p>
          <a:p>
            <a:pPr marL="0" indent="0">
              <a:buNone/>
            </a:pPr>
            <a:r>
              <a:rPr lang="en-US" dirty="0"/>
              <a:t>GL LINE LOOP</a:t>
            </a:r>
          </a:p>
          <a:p>
            <a:r>
              <a:rPr lang="en-US" dirty="0"/>
              <a:t> Similar to GL LINE STRIP, except that one additional line segment is drawn from the final vertex back to the first. </a:t>
            </a:r>
            <a:endParaRPr lang="en-KE" dirty="0"/>
          </a:p>
        </p:txBody>
      </p:sp>
    </p:spTree>
    <p:extLst>
      <p:ext uri="{BB962C8B-B14F-4D97-AF65-F5344CB8AC3E}">
        <p14:creationId xmlns:p14="http://schemas.microsoft.com/office/powerpoint/2010/main" val="2720675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FE5FAD-EC9F-5B77-4189-15236AF87F4E}"/>
              </a:ext>
            </a:extLst>
          </p:cNvPr>
          <p:cNvSpPr>
            <a:spLocks noGrp="1"/>
          </p:cNvSpPr>
          <p:nvPr>
            <p:ph idx="1"/>
          </p:nvPr>
        </p:nvSpPr>
        <p:spPr>
          <a:xfrm>
            <a:off x="1123950" y="241300"/>
            <a:ext cx="7562850" cy="6407150"/>
          </a:xfrm>
        </p:spPr>
        <p:txBody>
          <a:bodyPr>
            <a:normAutofit/>
          </a:bodyPr>
          <a:lstStyle/>
          <a:p>
            <a:r>
              <a:rPr lang="en-US" dirty="0"/>
              <a:t>By default, the width of a line is one pixel.</a:t>
            </a:r>
          </a:p>
          <a:p>
            <a:r>
              <a:rPr lang="en-US" dirty="0"/>
              <a:t>The width can be changed by calling </a:t>
            </a:r>
            <a:r>
              <a:rPr lang="en-US" i="1" dirty="0" err="1">
                <a:solidFill>
                  <a:srgbClr val="FF0000"/>
                </a:solidFill>
              </a:rPr>
              <a:t>gl.glLineWidth</a:t>
            </a:r>
            <a:r>
              <a:rPr lang="en-US" i="1" dirty="0">
                <a:solidFill>
                  <a:srgbClr val="FF0000"/>
                </a:solidFill>
              </a:rPr>
              <a:t>(width), </a:t>
            </a:r>
            <a:r>
              <a:rPr lang="en-US" dirty="0"/>
              <a:t>where width is a value of type float that specifies the line width in pixels.</a:t>
            </a:r>
          </a:p>
          <a:p>
            <a:r>
              <a:rPr lang="en-US" dirty="0"/>
              <a:t> To get </a:t>
            </a:r>
            <a:r>
              <a:rPr lang="en-US" dirty="0" err="1"/>
              <a:t>antialiased</a:t>
            </a:r>
            <a:r>
              <a:rPr lang="en-US" dirty="0"/>
              <a:t> lines, you should call </a:t>
            </a:r>
            <a:r>
              <a:rPr lang="en-US" i="1" dirty="0" err="1">
                <a:solidFill>
                  <a:srgbClr val="FF0000"/>
                </a:solidFill>
              </a:rPr>
              <a:t>gl.glEnable</a:t>
            </a:r>
            <a:r>
              <a:rPr lang="en-US" i="1" dirty="0">
                <a:solidFill>
                  <a:srgbClr val="FF0000"/>
                </a:solidFill>
              </a:rPr>
              <a:t>(GL.GL LINE SMOOTH);</a:t>
            </a:r>
          </a:p>
          <a:p>
            <a:r>
              <a:rPr lang="en-US" dirty="0"/>
              <a:t> A line can also have an attribute called a stipple pattern which can be used to produce dotted and dashed lines.</a:t>
            </a:r>
          </a:p>
          <a:p>
            <a:r>
              <a:rPr lang="en-US" dirty="0"/>
              <a:t> The stipple pattern is set by calling </a:t>
            </a:r>
            <a:r>
              <a:rPr lang="en-US" i="1" dirty="0" err="1">
                <a:solidFill>
                  <a:srgbClr val="FF0000"/>
                </a:solidFill>
              </a:rPr>
              <a:t>gl.glLineStipple</a:t>
            </a:r>
            <a:r>
              <a:rPr lang="en-US" i="1" dirty="0">
                <a:solidFill>
                  <a:srgbClr val="FF0000"/>
                </a:solidFill>
              </a:rPr>
              <a:t>( multiplier, pattern );</a:t>
            </a:r>
            <a:endParaRPr lang="en-KE" i="1" dirty="0">
              <a:solidFill>
                <a:srgbClr val="FF0000"/>
              </a:solidFill>
            </a:endParaRPr>
          </a:p>
        </p:txBody>
      </p:sp>
    </p:spTree>
    <p:extLst>
      <p:ext uri="{BB962C8B-B14F-4D97-AF65-F5344CB8AC3E}">
        <p14:creationId xmlns:p14="http://schemas.microsoft.com/office/powerpoint/2010/main" val="130806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E7BAEF-C8AF-6FE2-879F-E2589D7C5B2E}"/>
              </a:ext>
            </a:extLst>
          </p:cNvPr>
          <p:cNvPicPr>
            <a:picLocks noChangeAspect="1"/>
          </p:cNvPicPr>
          <p:nvPr/>
        </p:nvPicPr>
        <p:blipFill>
          <a:blip r:embed="rId2"/>
          <a:stretch>
            <a:fillRect/>
          </a:stretch>
        </p:blipFill>
        <p:spPr>
          <a:xfrm>
            <a:off x="1009650" y="1371600"/>
            <a:ext cx="8229600" cy="3829050"/>
          </a:xfrm>
          <a:prstGeom prst="rect">
            <a:avLst/>
          </a:prstGeom>
        </p:spPr>
      </p:pic>
    </p:spTree>
    <p:extLst>
      <p:ext uri="{BB962C8B-B14F-4D97-AF65-F5344CB8AC3E}">
        <p14:creationId xmlns:p14="http://schemas.microsoft.com/office/powerpoint/2010/main" val="2343408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Polygons</a:t>
            </a:r>
          </a:p>
        </p:txBody>
      </p:sp>
      <p:sp>
        <p:nvSpPr>
          <p:cNvPr id="3" name="Content Placeholder 2"/>
          <p:cNvSpPr>
            <a:spLocks noGrp="1"/>
          </p:cNvSpPr>
          <p:nvPr>
            <p:ph idx="1"/>
          </p:nvPr>
        </p:nvSpPr>
        <p:spPr>
          <a:xfrm>
            <a:off x="1153583" y="2114550"/>
            <a:ext cx="7704667" cy="3332816"/>
          </a:xfrm>
        </p:spPr>
        <p:txBody>
          <a:bodyPr/>
          <a:lstStyle/>
          <a:p>
            <a:r>
              <a:rPr lang="en-US" dirty="0"/>
              <a:t>These are c</a:t>
            </a:r>
            <a:r>
              <a:rPr dirty="0"/>
              <a:t>losed shapes formed by </a:t>
            </a:r>
            <a:r>
              <a:rPr lang="en-US" dirty="0"/>
              <a:t>formed by connecting multiple vertices</a:t>
            </a:r>
            <a:endParaRPr dirty="0"/>
          </a:p>
          <a:p>
            <a:r>
              <a:rPr b="1" dirty="0"/>
              <a:t>Common types</a:t>
            </a:r>
            <a:r>
              <a:rPr dirty="0"/>
              <a:t>: triangles, quadrilaterals, n‑</a:t>
            </a:r>
            <a:r>
              <a:rPr dirty="0" err="1"/>
              <a:t>gons</a:t>
            </a:r>
            <a:endParaRPr dirty="0"/>
          </a:p>
          <a:p>
            <a:r>
              <a:rPr dirty="0"/>
              <a:t>Triangles are the most important rendering primitive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477CF-3B88-4DFC-C999-7201088EA8E0}"/>
              </a:ext>
            </a:extLst>
          </p:cNvPr>
          <p:cNvSpPr>
            <a:spLocks noGrp="1"/>
          </p:cNvSpPr>
          <p:nvPr>
            <p:ph idx="1"/>
          </p:nvPr>
        </p:nvSpPr>
        <p:spPr>
          <a:xfrm>
            <a:off x="1054100" y="431800"/>
            <a:ext cx="7632700" cy="5694363"/>
          </a:xfrm>
        </p:spPr>
        <p:txBody>
          <a:bodyPr>
            <a:normAutofit/>
          </a:bodyPr>
          <a:lstStyle/>
          <a:p>
            <a:pPr marL="0" indent="0">
              <a:buNone/>
            </a:pPr>
            <a:r>
              <a:rPr lang="en-US" dirty="0"/>
              <a:t>Triangles</a:t>
            </a:r>
          </a:p>
          <a:p>
            <a:r>
              <a:rPr lang="en-US" dirty="0"/>
              <a:t>Triangles are particularly common in OpenGL.</a:t>
            </a:r>
          </a:p>
          <a:p>
            <a:r>
              <a:rPr lang="en-US" dirty="0"/>
              <a:t>When you build geometry out of triangles, you don’t have to worry about </a:t>
            </a:r>
            <a:r>
              <a:rPr lang="en-US" b="1" dirty="0"/>
              <a:t>planarity</a:t>
            </a:r>
            <a:r>
              <a:rPr lang="en-US" dirty="0"/>
              <a:t> or </a:t>
            </a:r>
            <a:r>
              <a:rPr lang="en-US" b="1" dirty="0"/>
              <a:t>convexity</a:t>
            </a:r>
            <a:r>
              <a:rPr lang="en-US" dirty="0"/>
              <a:t>, since every triangle is both planar and convex.</a:t>
            </a:r>
          </a:p>
          <a:p>
            <a:r>
              <a:rPr lang="en-US" dirty="0"/>
              <a:t> OpenGL has three primitive types for drawing triangles: </a:t>
            </a:r>
          </a:p>
          <a:p>
            <a:pPr marL="0" indent="0">
              <a:buNone/>
            </a:pPr>
            <a:r>
              <a:rPr lang="en-US" dirty="0"/>
              <a:t>	 -	GL.GL TRIANGLES</a:t>
            </a:r>
          </a:p>
          <a:p>
            <a:pPr marL="0" indent="0">
              <a:buNone/>
            </a:pPr>
            <a:r>
              <a:rPr lang="en-US" dirty="0"/>
              <a:t>	-	GL.GL TRIANGLE STRIP, and</a:t>
            </a:r>
          </a:p>
          <a:p>
            <a:pPr marL="0" indent="0">
              <a:buNone/>
            </a:pPr>
            <a:r>
              <a:rPr lang="en-US" dirty="0"/>
              <a:t>	-	 GL.GL TRIANGLE FAN. </a:t>
            </a:r>
            <a:endParaRPr lang="en-KE" dirty="0"/>
          </a:p>
        </p:txBody>
      </p:sp>
    </p:spTree>
    <p:extLst>
      <p:ext uri="{BB962C8B-B14F-4D97-AF65-F5344CB8AC3E}">
        <p14:creationId xmlns:p14="http://schemas.microsoft.com/office/powerpoint/2010/main" val="3959983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0FAD6-8EC3-EA0E-EDC4-164D37940B1E}"/>
              </a:ext>
            </a:extLst>
          </p:cNvPr>
          <p:cNvSpPr>
            <a:spLocks noGrp="1"/>
          </p:cNvSpPr>
          <p:nvPr>
            <p:ph idx="1"/>
          </p:nvPr>
        </p:nvSpPr>
        <p:spPr>
          <a:xfrm>
            <a:off x="1149350" y="279400"/>
            <a:ext cx="7537450" cy="6083300"/>
          </a:xfrm>
        </p:spPr>
        <p:txBody>
          <a:bodyPr/>
          <a:lstStyle/>
          <a:p>
            <a:pPr marL="0" indent="0">
              <a:buNone/>
            </a:pPr>
            <a:r>
              <a:rPr lang="en-US" dirty="0"/>
              <a:t>GL TRIANGLES</a:t>
            </a:r>
          </a:p>
          <a:p>
            <a:pPr>
              <a:buFont typeface="Arial" panose="020B0604020202020204" pitchFamily="34" charset="0"/>
              <a:buChar char="•"/>
            </a:pPr>
            <a:r>
              <a:rPr lang="en-US" dirty="0"/>
              <a:t>The vertices that you specify are grouped into sets of three</a:t>
            </a:r>
          </a:p>
          <a:p>
            <a:pPr>
              <a:buFont typeface="Arial" panose="020B0604020202020204" pitchFamily="34" charset="0"/>
              <a:buChar char="•"/>
            </a:pPr>
            <a:r>
              <a:rPr lang="en-US" dirty="0"/>
              <a:t>Every set of three generates a triangle.</a:t>
            </a:r>
          </a:p>
          <a:p>
            <a:pPr>
              <a:buFont typeface="Arial" panose="020B0604020202020204" pitchFamily="34" charset="0"/>
              <a:buChar char="•"/>
            </a:pPr>
            <a:r>
              <a:rPr lang="en-US" dirty="0"/>
              <a:t> If the number of vertices is not a multiple of three, then the one or two extra vertices are ignored.</a:t>
            </a:r>
          </a:p>
          <a:p>
            <a:pPr>
              <a:buFont typeface="Arial" panose="020B0604020202020204" pitchFamily="34" charset="0"/>
              <a:buChar char="•"/>
            </a:pPr>
            <a:r>
              <a:rPr lang="en-US" dirty="0"/>
              <a:t>One can, of course, use GL TRIANGLES to specify a single triangle by providing exactly three vertices.</a:t>
            </a:r>
            <a:endParaRPr lang="en-KE" dirty="0"/>
          </a:p>
        </p:txBody>
      </p:sp>
    </p:spTree>
    <p:extLst>
      <p:ext uri="{BB962C8B-B14F-4D97-AF65-F5344CB8AC3E}">
        <p14:creationId xmlns:p14="http://schemas.microsoft.com/office/powerpoint/2010/main" val="3494380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FAB09-6C62-EC22-CC12-AC8EFC234F65}"/>
              </a:ext>
            </a:extLst>
          </p:cNvPr>
          <p:cNvSpPr>
            <a:spLocks noGrp="1"/>
          </p:cNvSpPr>
          <p:nvPr>
            <p:ph idx="1"/>
          </p:nvPr>
        </p:nvSpPr>
        <p:spPr>
          <a:xfrm>
            <a:off x="1168400" y="381000"/>
            <a:ext cx="7518400" cy="5745163"/>
          </a:xfrm>
        </p:spPr>
        <p:txBody>
          <a:bodyPr/>
          <a:lstStyle/>
          <a:p>
            <a:r>
              <a:rPr lang="en-US" dirty="0"/>
              <a:t>GL TRIANGLE STRIP</a:t>
            </a:r>
          </a:p>
          <a:p>
            <a:pPr>
              <a:buFont typeface="Arial" panose="020B0604020202020204" pitchFamily="34" charset="0"/>
              <a:buChar char="•"/>
            </a:pPr>
            <a:r>
              <a:rPr lang="en-US" dirty="0"/>
              <a:t>The first three vertices specify a triangle, and each additional vertex adds another triangle, which is formed from the new vertex and the two previous vertices. </a:t>
            </a:r>
          </a:p>
          <a:p>
            <a:r>
              <a:rPr lang="en-US" dirty="0"/>
              <a:t>The triangles form a “strip” or “band” with the vertices alternating from one side of the strip to the other.</a:t>
            </a:r>
            <a:endParaRPr lang="en-KE" dirty="0"/>
          </a:p>
        </p:txBody>
      </p:sp>
    </p:spTree>
    <p:extLst>
      <p:ext uri="{BB962C8B-B14F-4D97-AF65-F5344CB8AC3E}">
        <p14:creationId xmlns:p14="http://schemas.microsoft.com/office/powerpoint/2010/main" val="2691092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15F039-E243-B6F0-FBEF-920B1E192A46}"/>
              </a:ext>
            </a:extLst>
          </p:cNvPr>
          <p:cNvPicPr>
            <a:picLocks noChangeAspect="1"/>
          </p:cNvPicPr>
          <p:nvPr/>
        </p:nvPicPr>
        <p:blipFill>
          <a:blip r:embed="rId2"/>
          <a:stretch>
            <a:fillRect/>
          </a:stretch>
        </p:blipFill>
        <p:spPr>
          <a:xfrm>
            <a:off x="1047750" y="1238250"/>
            <a:ext cx="7797800" cy="3613150"/>
          </a:xfrm>
          <a:prstGeom prst="rect">
            <a:avLst/>
          </a:prstGeom>
        </p:spPr>
      </p:pic>
    </p:spTree>
    <p:extLst>
      <p:ext uri="{BB962C8B-B14F-4D97-AF65-F5344CB8AC3E}">
        <p14:creationId xmlns:p14="http://schemas.microsoft.com/office/powerpoint/2010/main" val="2643523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4D2F1-FE6B-84FA-1868-DBDD6A86F99B}"/>
              </a:ext>
            </a:extLst>
          </p:cNvPr>
          <p:cNvSpPr>
            <a:spLocks noGrp="1"/>
          </p:cNvSpPr>
          <p:nvPr>
            <p:ph idx="1"/>
          </p:nvPr>
        </p:nvSpPr>
        <p:spPr>
          <a:xfrm>
            <a:off x="1187450" y="292100"/>
            <a:ext cx="7499350" cy="3346450"/>
          </a:xfrm>
        </p:spPr>
        <p:txBody>
          <a:bodyPr/>
          <a:lstStyle/>
          <a:p>
            <a:pPr marL="0" indent="0">
              <a:buNone/>
            </a:pPr>
            <a:r>
              <a:rPr lang="en-US" dirty="0"/>
              <a:t>GL TRIANGLE FAN</a:t>
            </a:r>
          </a:p>
          <a:p>
            <a:r>
              <a:rPr lang="en-US" dirty="0"/>
              <a:t>It is less commonly used than the other two</a:t>
            </a:r>
          </a:p>
          <a:p>
            <a:r>
              <a:rPr lang="en-US" dirty="0"/>
              <a:t>In a triangle fan, the first vertex that is specified becomes one of the vertices of every triangle that is generated, and those triangles form a “fan” around that initial vertex.</a:t>
            </a:r>
          </a:p>
          <a:p>
            <a:pPr marL="0" indent="0">
              <a:buNone/>
            </a:pPr>
            <a:endParaRPr lang="en-KE" dirty="0"/>
          </a:p>
        </p:txBody>
      </p:sp>
      <p:pic>
        <p:nvPicPr>
          <p:cNvPr id="4" name="Picture 3">
            <a:extLst>
              <a:ext uri="{FF2B5EF4-FFF2-40B4-BE49-F238E27FC236}">
                <a16:creationId xmlns:a16="http://schemas.microsoft.com/office/drawing/2014/main" id="{E9C5D832-90C4-2572-5F40-2F5515D77C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3206" y="3429000"/>
            <a:ext cx="6097588" cy="2387601"/>
          </a:xfrm>
          <a:prstGeom prst="rect">
            <a:avLst/>
          </a:prstGeom>
          <a:noFill/>
          <a:ln>
            <a:noFill/>
          </a:ln>
        </p:spPr>
      </p:pic>
    </p:spTree>
    <p:extLst>
      <p:ext uri="{BB962C8B-B14F-4D97-AF65-F5344CB8AC3E}">
        <p14:creationId xmlns:p14="http://schemas.microsoft.com/office/powerpoint/2010/main" val="3664631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6950" y="749300"/>
            <a:ext cx="7689850" cy="5376863"/>
          </a:xfrm>
        </p:spPr>
        <p:txBody>
          <a:bodyPr/>
          <a:lstStyle/>
          <a:p>
            <a:r>
              <a:rPr lang="en-US" dirty="0"/>
              <a:t>Triangles are e</a:t>
            </a:r>
            <a:r>
              <a:rPr dirty="0"/>
              <a:t>fficient for GPU processing</a:t>
            </a:r>
            <a:r>
              <a:rPr lang="en-US" dirty="0"/>
              <a:t> and are fundamental rendering primitive u</a:t>
            </a:r>
            <a:r>
              <a:rPr dirty="0"/>
              <a:t>sed internally by modern graphics hardware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583F8-ADA1-B93F-48A7-70A9045C261F}"/>
              </a:ext>
            </a:extLst>
          </p:cNvPr>
          <p:cNvSpPr>
            <a:spLocks noGrp="1"/>
          </p:cNvSpPr>
          <p:nvPr>
            <p:ph idx="1"/>
          </p:nvPr>
        </p:nvSpPr>
        <p:spPr>
          <a:xfrm>
            <a:off x="1212850" y="101600"/>
            <a:ext cx="7473950" cy="6330950"/>
          </a:xfrm>
        </p:spPr>
        <p:txBody>
          <a:bodyPr>
            <a:normAutofit/>
          </a:bodyPr>
          <a:lstStyle/>
          <a:p>
            <a:pPr marL="0" indent="0">
              <a:buNone/>
            </a:pPr>
            <a:r>
              <a:rPr lang="en-US" dirty="0"/>
              <a:t>Quadrilaterals</a:t>
            </a:r>
          </a:p>
          <a:p>
            <a:r>
              <a:rPr lang="en-US" dirty="0"/>
              <a:t>A quadrilateral is a four-sided polygon. </a:t>
            </a:r>
          </a:p>
          <a:p>
            <a:r>
              <a:rPr lang="en-US" dirty="0"/>
              <a:t>As with any polygon in OpenGL, to be valid, a quadrilateral must be planar and convex.</a:t>
            </a:r>
          </a:p>
          <a:p>
            <a:r>
              <a:rPr lang="en-US" dirty="0"/>
              <a:t> Because of this restriction, it’s more common to use triangles than quads. </a:t>
            </a:r>
          </a:p>
          <a:p>
            <a:r>
              <a:rPr lang="en-US" dirty="0"/>
              <a:t>However, there are many common objects for which quads are appropriate.</a:t>
            </a:r>
          </a:p>
          <a:p>
            <a:r>
              <a:rPr lang="en-US" dirty="0"/>
              <a:t>OpenGL has two primitives for drawing quadrilaterals: </a:t>
            </a:r>
          </a:p>
          <a:p>
            <a:pPr marL="0" indent="0">
              <a:buNone/>
            </a:pPr>
            <a:r>
              <a:rPr lang="en-US" dirty="0"/>
              <a:t>  	-	GL.GL QUADS and </a:t>
            </a:r>
          </a:p>
          <a:p>
            <a:pPr marL="0" indent="0">
              <a:buNone/>
            </a:pPr>
            <a:r>
              <a:rPr lang="en-US" dirty="0"/>
              <a:t>	-	GL.GL QUAD STRIP. </a:t>
            </a:r>
            <a:endParaRPr lang="en-KE" dirty="0"/>
          </a:p>
        </p:txBody>
      </p:sp>
    </p:spTree>
    <p:extLst>
      <p:ext uri="{BB962C8B-B14F-4D97-AF65-F5344CB8AC3E}">
        <p14:creationId xmlns:p14="http://schemas.microsoft.com/office/powerpoint/2010/main" val="762397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E9337-0300-B3D4-A93A-0236F6EB6A08}"/>
              </a:ext>
            </a:extLst>
          </p:cNvPr>
          <p:cNvSpPr>
            <a:spLocks noGrp="1"/>
          </p:cNvSpPr>
          <p:nvPr>
            <p:ph idx="1"/>
          </p:nvPr>
        </p:nvSpPr>
        <p:spPr>
          <a:xfrm>
            <a:off x="1219200" y="323850"/>
            <a:ext cx="7467600" cy="3225800"/>
          </a:xfrm>
        </p:spPr>
        <p:txBody>
          <a:bodyPr/>
          <a:lstStyle/>
          <a:p>
            <a:pPr marL="0" indent="0">
              <a:buNone/>
            </a:pPr>
            <a:r>
              <a:rPr lang="en-US" dirty="0"/>
              <a:t>GL.GL QUADS </a:t>
            </a:r>
          </a:p>
          <a:p>
            <a:pPr marL="0" indent="0">
              <a:buNone/>
            </a:pPr>
            <a:r>
              <a:rPr lang="en-US" dirty="0"/>
              <a:t>Draws a sequence of independent quadrilaterals, using groups of four vertices.</a:t>
            </a:r>
          </a:p>
          <a:p>
            <a:pPr marL="0" indent="0">
              <a:buNone/>
            </a:pPr>
            <a:r>
              <a:rPr lang="en-US" dirty="0"/>
              <a:t>GL QUAD STRIP </a:t>
            </a:r>
          </a:p>
          <a:p>
            <a:pPr marL="0" indent="0">
              <a:buNone/>
            </a:pPr>
            <a:r>
              <a:rPr lang="en-US" dirty="0"/>
              <a:t>draws a strip or band made up of quadrilaterals</a:t>
            </a:r>
          </a:p>
          <a:p>
            <a:pPr marL="0" indent="0">
              <a:buNone/>
            </a:pPr>
            <a:endParaRPr lang="en-KE" dirty="0"/>
          </a:p>
        </p:txBody>
      </p:sp>
      <p:pic>
        <p:nvPicPr>
          <p:cNvPr id="4" name="Picture 3">
            <a:extLst>
              <a:ext uri="{FF2B5EF4-FFF2-40B4-BE49-F238E27FC236}">
                <a16:creationId xmlns:a16="http://schemas.microsoft.com/office/drawing/2014/main" id="{815D3AB7-E366-8C8B-C690-B5A28C495B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429000"/>
            <a:ext cx="6705600" cy="2670175"/>
          </a:xfrm>
          <a:prstGeom prst="rect">
            <a:avLst/>
          </a:prstGeom>
          <a:noFill/>
          <a:ln>
            <a:noFill/>
          </a:ln>
        </p:spPr>
      </p:pic>
    </p:spTree>
    <p:extLst>
      <p:ext uri="{BB962C8B-B14F-4D97-AF65-F5344CB8AC3E}">
        <p14:creationId xmlns:p14="http://schemas.microsoft.com/office/powerpoint/2010/main" val="3449690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Meshes</a:t>
            </a:r>
          </a:p>
        </p:txBody>
      </p:sp>
      <p:sp>
        <p:nvSpPr>
          <p:cNvPr id="3" name="Content Placeholder 2"/>
          <p:cNvSpPr>
            <a:spLocks noGrp="1"/>
          </p:cNvSpPr>
          <p:nvPr>
            <p:ph idx="1"/>
          </p:nvPr>
        </p:nvSpPr>
        <p:spPr>
          <a:xfrm>
            <a:off x="1134533" y="1943100"/>
            <a:ext cx="7704667" cy="3332816"/>
          </a:xfrm>
        </p:spPr>
        <p:txBody>
          <a:bodyPr/>
          <a:lstStyle/>
          <a:p>
            <a:r>
              <a:rPr dirty="0"/>
              <a:t>A mesh represents the surface of a 3D object</a:t>
            </a:r>
          </a:p>
          <a:p>
            <a:r>
              <a:rPr dirty="0"/>
              <a:t>Composed of vertices, edges, and faces</a:t>
            </a:r>
          </a:p>
          <a:p>
            <a:r>
              <a:rPr dirty="0"/>
              <a:t>Common mesh types: triangle mesh, quad mesh, polygon mesh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Mesh Components</a:t>
            </a:r>
          </a:p>
        </p:txBody>
      </p:sp>
      <p:sp>
        <p:nvSpPr>
          <p:cNvPr id="3" name="Content Placeholder 2"/>
          <p:cNvSpPr>
            <a:spLocks noGrp="1"/>
          </p:cNvSpPr>
          <p:nvPr>
            <p:ph idx="1"/>
          </p:nvPr>
        </p:nvSpPr>
        <p:spPr>
          <a:xfrm>
            <a:off x="1801283" y="1879600"/>
            <a:ext cx="7704667" cy="3332816"/>
          </a:xfrm>
        </p:spPr>
        <p:txBody>
          <a:bodyPr/>
          <a:lstStyle/>
          <a:p>
            <a:r>
              <a:rPr dirty="0"/>
              <a:t>Vertex: position, normal, texture coordinates</a:t>
            </a:r>
          </a:p>
          <a:p>
            <a:r>
              <a:rPr dirty="0"/>
              <a:t>Edge: connection between two vertices</a:t>
            </a:r>
          </a:p>
          <a:p>
            <a:r>
              <a:rPr dirty="0"/>
              <a:t>Face: surface element defined by vertices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Activities</a:t>
            </a:r>
          </a:p>
        </p:txBody>
      </p:sp>
      <p:sp>
        <p:nvSpPr>
          <p:cNvPr id="3" name="Content Placeholder 2"/>
          <p:cNvSpPr>
            <a:spLocks noGrp="1"/>
          </p:cNvSpPr>
          <p:nvPr>
            <p:ph idx="1"/>
          </p:nvPr>
        </p:nvSpPr>
        <p:spPr>
          <a:xfrm>
            <a:off x="1483783" y="1822450"/>
            <a:ext cx="7704667" cy="3332816"/>
          </a:xfrm>
        </p:spPr>
        <p:txBody>
          <a:bodyPr/>
          <a:lstStyle/>
          <a:p>
            <a:r>
              <a:rPr dirty="0"/>
              <a:t>Create cube, sphere, and cylinder meshes</a:t>
            </a:r>
          </a:p>
          <a:p>
            <a:r>
              <a:rPr dirty="0"/>
              <a:t>Switch between wireframe and solid modes</a:t>
            </a:r>
          </a:p>
          <a:p>
            <a:r>
              <a:rPr dirty="0"/>
              <a:t>Manipulate vertices and observe deformation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a:xfrm>
            <a:off x="1572683" y="2114550"/>
            <a:ext cx="7704667" cy="3332816"/>
          </a:xfrm>
        </p:spPr>
        <p:txBody>
          <a:bodyPr/>
          <a:lstStyle/>
          <a:p>
            <a:r>
              <a:rPr dirty="0"/>
              <a:t>3D models are built from primitives</a:t>
            </a:r>
          </a:p>
          <a:p>
            <a:r>
              <a:rPr dirty="0"/>
              <a:t>Meshes represent object surfaces</a:t>
            </a:r>
          </a:p>
          <a:p>
            <a:r>
              <a:rPr dirty="0"/>
              <a:t>Triangles are fundamental to rendering</a:t>
            </a:r>
          </a:p>
          <a:p>
            <a:r>
              <a:rPr dirty="0" err="1"/>
              <a:t>Bézier</a:t>
            </a:r>
            <a:r>
              <a:rPr dirty="0"/>
              <a:t>, B‑Splines, and NURBS enable advanced curve and surface modeling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3234-8C44-44E5-541A-239F4699EFB9}"/>
              </a:ext>
            </a:extLst>
          </p:cNvPr>
          <p:cNvSpPr>
            <a:spLocks noGrp="1"/>
          </p:cNvSpPr>
          <p:nvPr>
            <p:ph type="title"/>
          </p:nvPr>
        </p:nvSpPr>
        <p:spPr>
          <a:xfrm>
            <a:off x="457200" y="0"/>
            <a:ext cx="8229600" cy="742950"/>
          </a:xfrm>
        </p:spPr>
        <p:txBody>
          <a:bodyPr/>
          <a:lstStyle/>
          <a:p>
            <a:r>
              <a:rPr lang="en-US" dirty="0"/>
              <a:t>Example 1- Creating a Window</a:t>
            </a:r>
            <a:endParaRPr lang="en-KE" dirty="0"/>
          </a:p>
        </p:txBody>
      </p:sp>
      <p:sp>
        <p:nvSpPr>
          <p:cNvPr id="5" name="TextBox 4">
            <a:extLst>
              <a:ext uri="{FF2B5EF4-FFF2-40B4-BE49-F238E27FC236}">
                <a16:creationId xmlns:a16="http://schemas.microsoft.com/office/drawing/2014/main" id="{3E24A81D-EF59-7E96-63C6-12D9C10DFD8F}"/>
              </a:ext>
            </a:extLst>
          </p:cNvPr>
          <p:cNvSpPr txBox="1"/>
          <p:nvPr/>
        </p:nvSpPr>
        <p:spPr>
          <a:xfrm>
            <a:off x="1428750" y="742950"/>
            <a:ext cx="8102600" cy="4708981"/>
          </a:xfrm>
          <a:prstGeom prst="rect">
            <a:avLst/>
          </a:prstGeom>
          <a:noFill/>
        </p:spPr>
        <p:txBody>
          <a:bodyPr wrap="square">
            <a:spAutoFit/>
          </a:bodyPr>
          <a:lstStyle/>
          <a:p>
            <a:r>
              <a:rPr lang="en-US" sz="2000" b="1" dirty="0"/>
              <a:t>#include &lt;GL/</a:t>
            </a:r>
            <a:r>
              <a:rPr lang="en-US" sz="2000" b="1" dirty="0" err="1"/>
              <a:t>glut.h</a:t>
            </a:r>
            <a:r>
              <a:rPr lang="en-US" sz="2000" b="1" dirty="0"/>
              <a:t>&gt;</a:t>
            </a:r>
          </a:p>
          <a:p>
            <a:r>
              <a:rPr lang="en-US" sz="2000" b="1" dirty="0"/>
              <a:t>void display (void) {  </a:t>
            </a:r>
            <a:r>
              <a:rPr lang="en-US" sz="2000" dirty="0"/>
              <a:t>/* </a:t>
            </a:r>
            <a:r>
              <a:rPr lang="en-US" sz="2000" i="1" dirty="0"/>
              <a:t>Called when OpenGL needs to update the display </a:t>
            </a:r>
            <a:r>
              <a:rPr lang="en-US" sz="2000" dirty="0"/>
              <a:t>*/</a:t>
            </a:r>
          </a:p>
          <a:p>
            <a:r>
              <a:rPr lang="en-US" sz="2000" b="1" dirty="0" err="1"/>
              <a:t>glClearColor</a:t>
            </a:r>
            <a:r>
              <a:rPr lang="en-US" sz="2000" b="1" dirty="0"/>
              <a:t>(0.9,0.9,0.9,0.0);                   </a:t>
            </a:r>
            <a:r>
              <a:rPr lang="en-US" sz="2000" dirty="0"/>
              <a:t>/* </a:t>
            </a:r>
            <a:r>
              <a:rPr lang="en-US" sz="2000" i="1" dirty="0"/>
              <a:t>Set grey background </a:t>
            </a:r>
            <a:r>
              <a:rPr lang="en-US" sz="2000" dirty="0"/>
              <a:t>*/</a:t>
            </a:r>
          </a:p>
          <a:p>
            <a:r>
              <a:rPr lang="en-US" sz="2000" b="1" dirty="0" err="1"/>
              <a:t>glutInitWindowSize</a:t>
            </a:r>
            <a:r>
              <a:rPr lang="en-US" sz="2000" b="1" dirty="0"/>
              <a:t> (500, 500);                 </a:t>
            </a:r>
            <a:r>
              <a:rPr lang="en-US" sz="2000" dirty="0"/>
              <a:t>/* </a:t>
            </a:r>
            <a:r>
              <a:rPr lang="en-US" sz="2000" i="1" dirty="0"/>
              <a:t>Set the window size </a:t>
            </a:r>
            <a:r>
              <a:rPr lang="en-US" sz="2000" dirty="0"/>
              <a:t>*/</a:t>
            </a:r>
          </a:p>
          <a:p>
            <a:r>
              <a:rPr lang="en-US" sz="2000" dirty="0"/>
              <a:t> </a:t>
            </a:r>
            <a:r>
              <a:rPr lang="en-US" sz="2000" b="1" dirty="0" err="1"/>
              <a:t>glutInitWindowPosition</a:t>
            </a:r>
            <a:r>
              <a:rPr lang="en-US" sz="2000" b="1" dirty="0"/>
              <a:t> (100, 100);           </a:t>
            </a:r>
            <a:r>
              <a:rPr lang="en-US" sz="2000" dirty="0"/>
              <a:t>/* </a:t>
            </a:r>
            <a:r>
              <a:rPr lang="en-US" sz="2000" i="1" dirty="0"/>
              <a:t>Set the window position </a:t>
            </a:r>
            <a:r>
              <a:rPr lang="en-US" sz="2000" dirty="0"/>
              <a:t>*/</a:t>
            </a:r>
          </a:p>
          <a:p>
            <a:r>
              <a:rPr lang="en-US" sz="2000" b="1" dirty="0" err="1"/>
              <a:t>glClear</a:t>
            </a:r>
            <a:r>
              <a:rPr lang="en-US" sz="2000" b="1" dirty="0"/>
              <a:t> (GL_COLOR_BUFFER_BIT);              </a:t>
            </a:r>
            <a:r>
              <a:rPr lang="en-US" sz="2000" dirty="0"/>
              <a:t>/* </a:t>
            </a:r>
            <a:r>
              <a:rPr lang="en-US" sz="2000" i="1" dirty="0"/>
              <a:t>Clear the window </a:t>
            </a:r>
            <a:r>
              <a:rPr lang="en-US" sz="2000" dirty="0"/>
              <a:t>*/</a:t>
            </a:r>
          </a:p>
          <a:p>
            <a:r>
              <a:rPr lang="en-US" sz="2000" b="1" dirty="0" err="1"/>
              <a:t>glFlush</a:t>
            </a:r>
            <a:r>
              <a:rPr lang="en-US" sz="2000" b="1" dirty="0"/>
              <a:t>();                                                       </a:t>
            </a:r>
            <a:r>
              <a:rPr lang="en-US" sz="2000" dirty="0"/>
              <a:t>/* </a:t>
            </a:r>
            <a:r>
              <a:rPr lang="en-US" sz="2000" i="1" dirty="0"/>
              <a:t>Force update of screen </a:t>
            </a:r>
            <a:r>
              <a:rPr lang="en-US" sz="2000" dirty="0"/>
              <a:t>*/</a:t>
            </a:r>
          </a:p>
          <a:p>
            <a:r>
              <a:rPr lang="en-US" sz="2000" b="1" dirty="0"/>
              <a:t>}</a:t>
            </a:r>
          </a:p>
          <a:p>
            <a:r>
              <a:rPr lang="en-US" sz="2000" b="1" dirty="0"/>
              <a:t>int main (int </a:t>
            </a:r>
            <a:r>
              <a:rPr lang="en-US" sz="2000" b="1" dirty="0" err="1"/>
              <a:t>argc</a:t>
            </a:r>
            <a:r>
              <a:rPr lang="en-US" sz="2000" b="1" dirty="0"/>
              <a:t>, char **</a:t>
            </a:r>
            <a:r>
              <a:rPr lang="en-US" sz="2000" b="1" dirty="0" err="1"/>
              <a:t>argv</a:t>
            </a:r>
            <a:r>
              <a:rPr lang="en-US" sz="2000" b="1" dirty="0"/>
              <a:t>) {</a:t>
            </a:r>
          </a:p>
          <a:p>
            <a:r>
              <a:rPr lang="en-US" sz="2000" b="1" dirty="0" err="1"/>
              <a:t>glutInit</a:t>
            </a:r>
            <a:r>
              <a:rPr lang="en-US" sz="2000" b="1" dirty="0"/>
              <a:t> (&amp;</a:t>
            </a:r>
            <a:r>
              <a:rPr lang="en-US" sz="2000" b="1" dirty="0" err="1"/>
              <a:t>argc</a:t>
            </a:r>
            <a:r>
              <a:rPr lang="en-US" sz="2000" b="1" dirty="0"/>
              <a:t>, </a:t>
            </a:r>
            <a:r>
              <a:rPr lang="en-US" sz="2000" b="1" dirty="0" err="1"/>
              <a:t>argv</a:t>
            </a:r>
            <a:r>
              <a:rPr lang="en-US" sz="2000" b="1" dirty="0"/>
              <a:t>);                                      </a:t>
            </a:r>
            <a:r>
              <a:rPr lang="en-US" sz="2000" dirty="0"/>
              <a:t>/* </a:t>
            </a:r>
            <a:r>
              <a:rPr lang="en-US" sz="2000" i="1" dirty="0" err="1"/>
              <a:t>Initialise</a:t>
            </a:r>
            <a:r>
              <a:rPr lang="en-US" sz="2000" i="1" dirty="0"/>
              <a:t> OpenGL </a:t>
            </a:r>
            <a:r>
              <a:rPr lang="en-US" sz="2000" dirty="0"/>
              <a:t>*/</a:t>
            </a:r>
          </a:p>
          <a:p>
            <a:r>
              <a:rPr lang="en-US" sz="2000" b="1" dirty="0" err="1"/>
              <a:t>glutCreateWindow</a:t>
            </a:r>
            <a:r>
              <a:rPr lang="en-US" sz="2000" b="1" dirty="0"/>
              <a:t> ("My Gray Window");           </a:t>
            </a:r>
            <a:r>
              <a:rPr lang="en-US" sz="2000" dirty="0"/>
              <a:t>/* </a:t>
            </a:r>
            <a:r>
              <a:rPr lang="en-US" sz="2000" i="1" dirty="0"/>
              <a:t>Create the window </a:t>
            </a:r>
            <a:r>
              <a:rPr lang="en-US" sz="2000" dirty="0"/>
              <a:t>*/</a:t>
            </a:r>
          </a:p>
          <a:p>
            <a:r>
              <a:rPr lang="en-US" sz="2000" b="1" dirty="0" err="1"/>
              <a:t>glutDisplayFunc</a:t>
            </a:r>
            <a:r>
              <a:rPr lang="en-US" sz="2000" b="1" dirty="0"/>
              <a:t> (display);                  </a:t>
            </a:r>
            <a:r>
              <a:rPr lang="en-US" sz="2000" dirty="0"/>
              <a:t>/* </a:t>
            </a:r>
            <a:r>
              <a:rPr lang="en-US" sz="2000" i="1" dirty="0"/>
              <a:t>Register the "display" function </a:t>
            </a:r>
            <a:r>
              <a:rPr lang="en-US" sz="2000" dirty="0"/>
              <a:t>*/</a:t>
            </a:r>
          </a:p>
          <a:p>
            <a:r>
              <a:rPr lang="en-US" sz="2000" b="1" dirty="0" err="1"/>
              <a:t>glutMainLoop</a:t>
            </a:r>
            <a:r>
              <a:rPr lang="en-US" sz="2000" b="1" dirty="0"/>
              <a:t> ();                               </a:t>
            </a:r>
            <a:r>
              <a:rPr lang="en-US" sz="2000" dirty="0"/>
              <a:t>/* </a:t>
            </a:r>
            <a:r>
              <a:rPr lang="en-US" sz="2000" i="1" dirty="0"/>
              <a:t>Enter the OpenGL main loop </a:t>
            </a:r>
            <a:r>
              <a:rPr lang="en-US" sz="2000" dirty="0"/>
              <a:t>*/</a:t>
            </a:r>
          </a:p>
          <a:p>
            <a:r>
              <a:rPr lang="en-US" sz="2000" b="1" dirty="0"/>
              <a:t>return 0;</a:t>
            </a:r>
          </a:p>
          <a:p>
            <a:r>
              <a:rPr lang="en-US" sz="2000" b="1" dirty="0"/>
              <a:t>}</a:t>
            </a:r>
          </a:p>
        </p:txBody>
      </p:sp>
    </p:spTree>
    <p:extLst>
      <p:ext uri="{BB962C8B-B14F-4D97-AF65-F5344CB8AC3E}">
        <p14:creationId xmlns:p14="http://schemas.microsoft.com/office/powerpoint/2010/main" val="2040564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CB591-D985-83B3-6F88-D89017EBDE0E}"/>
              </a:ext>
            </a:extLst>
          </p:cNvPr>
          <p:cNvSpPr>
            <a:spLocks noGrp="1"/>
          </p:cNvSpPr>
          <p:nvPr>
            <p:ph idx="1"/>
          </p:nvPr>
        </p:nvSpPr>
        <p:spPr>
          <a:xfrm>
            <a:off x="1149350" y="381000"/>
            <a:ext cx="7867650" cy="5745163"/>
          </a:xfrm>
        </p:spPr>
        <p:txBody>
          <a:bodyPr/>
          <a:lstStyle/>
          <a:p>
            <a:pPr marL="0" indent="0">
              <a:buNone/>
            </a:pPr>
            <a:r>
              <a:rPr lang="en-US" dirty="0"/>
              <a:t>1. The program begins with </a:t>
            </a:r>
            <a:r>
              <a:rPr lang="en-US" i="1" dirty="0">
                <a:solidFill>
                  <a:srgbClr val="FF0000"/>
                </a:solidFill>
              </a:rPr>
              <a:t>#include &lt;GL/</a:t>
            </a:r>
            <a:r>
              <a:rPr lang="en-US" i="1" dirty="0" err="1">
                <a:solidFill>
                  <a:srgbClr val="FF0000"/>
                </a:solidFill>
              </a:rPr>
              <a:t>glut.h</a:t>
            </a:r>
            <a:r>
              <a:rPr lang="en-US" i="1" dirty="0">
                <a:solidFill>
                  <a:srgbClr val="FF0000"/>
                </a:solidFill>
              </a:rPr>
              <a:t>&gt;</a:t>
            </a:r>
          </a:p>
          <a:p>
            <a:r>
              <a:rPr lang="en-US" dirty="0"/>
              <a:t>All OpenGL programs must start with this line, which accesses all the OpenGL include files:</a:t>
            </a:r>
          </a:p>
          <a:p>
            <a:r>
              <a:rPr lang="en-US" dirty="0"/>
              <a:t>It pulls in all the function prototypes and other definitions used by OpenGL.</a:t>
            </a:r>
          </a:p>
          <a:p>
            <a:r>
              <a:rPr lang="en-US" dirty="0"/>
              <a:t> The program cannot compile without it.</a:t>
            </a:r>
          </a:p>
          <a:p>
            <a:endParaRPr lang="en-KE" dirty="0"/>
          </a:p>
        </p:txBody>
      </p:sp>
    </p:spTree>
    <p:extLst>
      <p:ext uri="{BB962C8B-B14F-4D97-AF65-F5344CB8AC3E}">
        <p14:creationId xmlns:p14="http://schemas.microsoft.com/office/powerpoint/2010/main" val="3588619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233A4-E970-9024-403A-5B88F2BC6568}"/>
              </a:ext>
            </a:extLst>
          </p:cNvPr>
          <p:cNvSpPr>
            <a:spLocks noGrp="1"/>
          </p:cNvSpPr>
          <p:nvPr>
            <p:ph idx="1"/>
          </p:nvPr>
        </p:nvSpPr>
        <p:spPr>
          <a:xfrm>
            <a:off x="1333500" y="311150"/>
            <a:ext cx="7353300" cy="6324600"/>
          </a:xfrm>
        </p:spPr>
        <p:txBody>
          <a:bodyPr>
            <a:normAutofit/>
          </a:bodyPr>
          <a:lstStyle/>
          <a:p>
            <a:pPr marL="0" indent="0">
              <a:buNone/>
            </a:pPr>
            <a:r>
              <a:rPr lang="en-US" dirty="0"/>
              <a:t>2. </a:t>
            </a:r>
            <a:r>
              <a:rPr lang="en-US" i="1" dirty="0">
                <a:solidFill>
                  <a:srgbClr val="FF0000"/>
                </a:solidFill>
              </a:rPr>
              <a:t>int main(int </a:t>
            </a:r>
            <a:r>
              <a:rPr lang="en-US" i="1" dirty="0" err="1">
                <a:solidFill>
                  <a:srgbClr val="FF0000"/>
                </a:solidFill>
              </a:rPr>
              <a:t>argc</a:t>
            </a:r>
            <a:r>
              <a:rPr lang="en-US" i="1" dirty="0">
                <a:solidFill>
                  <a:srgbClr val="FF0000"/>
                </a:solidFill>
              </a:rPr>
              <a:t>, char **</a:t>
            </a:r>
            <a:r>
              <a:rPr lang="en-US" i="1" dirty="0" err="1">
                <a:solidFill>
                  <a:srgbClr val="FF0000"/>
                </a:solidFill>
              </a:rPr>
              <a:t>argv</a:t>
            </a:r>
            <a:r>
              <a:rPr lang="en-US" i="1" dirty="0">
                <a:solidFill>
                  <a:srgbClr val="FF0000"/>
                </a:solidFill>
              </a:rPr>
              <a:t>)</a:t>
            </a:r>
          </a:p>
          <a:p>
            <a:pPr marL="0" indent="0">
              <a:buNone/>
            </a:pPr>
            <a:r>
              <a:rPr lang="en-US" dirty="0"/>
              <a:t>    	</a:t>
            </a:r>
            <a:r>
              <a:rPr lang="en-US" i="1" dirty="0" err="1"/>
              <a:t>Argc</a:t>
            </a:r>
            <a:r>
              <a:rPr lang="en-US" dirty="0"/>
              <a:t> and </a:t>
            </a:r>
            <a:r>
              <a:rPr lang="en-US" i="1" dirty="0" err="1"/>
              <a:t>argv</a:t>
            </a:r>
            <a:r>
              <a:rPr lang="en-US" dirty="0"/>
              <a:t> should be the arguments of the 	application’s main() method</a:t>
            </a:r>
          </a:p>
          <a:p>
            <a:pPr marL="0" indent="0">
              <a:buNone/>
            </a:pPr>
            <a:r>
              <a:rPr lang="en-US" dirty="0"/>
              <a:t>3.	</a:t>
            </a:r>
            <a:r>
              <a:rPr lang="en-US" i="1" dirty="0" err="1">
                <a:solidFill>
                  <a:srgbClr val="FF0000"/>
                </a:solidFill>
              </a:rPr>
              <a:t>glutInit</a:t>
            </a:r>
            <a:r>
              <a:rPr lang="en-US" i="1" dirty="0">
                <a:solidFill>
                  <a:srgbClr val="FF0000"/>
                </a:solidFill>
              </a:rPr>
              <a:t> (&amp;</a:t>
            </a:r>
            <a:r>
              <a:rPr lang="en-US" i="1" dirty="0" err="1">
                <a:solidFill>
                  <a:srgbClr val="FF0000"/>
                </a:solidFill>
              </a:rPr>
              <a:t>argc</a:t>
            </a:r>
            <a:r>
              <a:rPr lang="en-US" i="1" dirty="0">
                <a:solidFill>
                  <a:srgbClr val="FF0000"/>
                </a:solidFill>
              </a:rPr>
              <a:t>, </a:t>
            </a:r>
            <a:r>
              <a:rPr lang="en-US" i="1" dirty="0" err="1">
                <a:solidFill>
                  <a:srgbClr val="FF0000"/>
                </a:solidFill>
              </a:rPr>
              <a:t>argv</a:t>
            </a:r>
            <a:r>
              <a:rPr lang="en-US" i="1" dirty="0">
                <a:solidFill>
                  <a:srgbClr val="FF0000"/>
                </a:solidFill>
              </a:rPr>
              <a:t>)</a:t>
            </a:r>
          </a:p>
          <a:p>
            <a:pPr marL="0" indent="0">
              <a:buNone/>
            </a:pPr>
            <a:r>
              <a:rPr lang="en-US" dirty="0"/>
              <a:t>	</a:t>
            </a:r>
            <a:r>
              <a:rPr lang="en-US" i="1" dirty="0" err="1"/>
              <a:t>glutInit</a:t>
            </a:r>
            <a:r>
              <a:rPr lang="en-US" i="1" dirty="0"/>
              <a:t>() </a:t>
            </a:r>
            <a:r>
              <a:rPr lang="en-US" dirty="0"/>
              <a:t>initializes the GLUT library, and it 	must be called before any other GLUT 	function</a:t>
            </a:r>
          </a:p>
          <a:p>
            <a:pPr marL="0" indent="0">
              <a:buNone/>
            </a:pPr>
            <a:r>
              <a:rPr lang="en-US" dirty="0"/>
              <a:t>4.	</a:t>
            </a:r>
            <a:r>
              <a:rPr lang="en-US" i="1" dirty="0" err="1">
                <a:solidFill>
                  <a:srgbClr val="FF0000"/>
                </a:solidFill>
              </a:rPr>
              <a:t>glutInitWindowSize</a:t>
            </a:r>
            <a:r>
              <a:rPr lang="en-US" i="1" dirty="0">
                <a:solidFill>
                  <a:srgbClr val="FF0000"/>
                </a:solidFill>
              </a:rPr>
              <a:t> (800, 500);  </a:t>
            </a:r>
          </a:p>
          <a:p>
            <a:pPr marL="0" indent="0">
              <a:buNone/>
            </a:pPr>
            <a:r>
              <a:rPr lang="en-US" dirty="0"/>
              <a:t>	</a:t>
            </a:r>
            <a:r>
              <a:rPr lang="en-US" i="1" dirty="0" err="1"/>
              <a:t>glutInitWindowSize</a:t>
            </a:r>
            <a:r>
              <a:rPr lang="en-US" i="1" dirty="0"/>
              <a:t>() </a:t>
            </a:r>
            <a:r>
              <a:rPr lang="en-US" dirty="0"/>
              <a:t>sets the value of GLUT’s 	initial window size to the size specified by 	width 	and height, measured in pixels. </a:t>
            </a:r>
          </a:p>
          <a:p>
            <a:pPr marL="0" indent="0">
              <a:buNone/>
            </a:pPr>
            <a:endParaRPr lang="en-US" dirty="0"/>
          </a:p>
          <a:p>
            <a:pPr marL="0" indent="0">
              <a:buNone/>
            </a:pPr>
            <a:endParaRPr lang="en-KE" dirty="0"/>
          </a:p>
        </p:txBody>
      </p:sp>
    </p:spTree>
    <p:extLst>
      <p:ext uri="{BB962C8B-B14F-4D97-AF65-F5344CB8AC3E}">
        <p14:creationId xmlns:p14="http://schemas.microsoft.com/office/powerpoint/2010/main" val="1137026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E59D9-C37F-A5B4-5977-A329AD54694C}"/>
              </a:ext>
            </a:extLst>
          </p:cNvPr>
          <p:cNvSpPr>
            <a:spLocks noGrp="1"/>
          </p:cNvSpPr>
          <p:nvPr>
            <p:ph idx="1"/>
          </p:nvPr>
        </p:nvSpPr>
        <p:spPr>
          <a:xfrm>
            <a:off x="1371600" y="323850"/>
            <a:ext cx="7315200" cy="5802313"/>
          </a:xfrm>
        </p:spPr>
        <p:txBody>
          <a:bodyPr>
            <a:normAutofit/>
          </a:bodyPr>
          <a:lstStyle/>
          <a:p>
            <a:pPr marL="0" indent="0">
              <a:buNone/>
            </a:pPr>
            <a:r>
              <a:rPr lang="en-US" dirty="0"/>
              <a:t>	This command 	specifies the desired width 	and 	height of the 	graphics window.</a:t>
            </a:r>
          </a:p>
          <a:p>
            <a:pPr marL="0" indent="0">
              <a:buNone/>
            </a:pPr>
            <a:r>
              <a:rPr lang="en-US" dirty="0"/>
              <a:t>	 The 	general form is 	</a:t>
            </a:r>
            <a:r>
              <a:rPr lang="en-US" i="1" dirty="0" err="1"/>
              <a:t>glutInitWindowSize</a:t>
            </a:r>
            <a:r>
              <a:rPr lang="en-US" i="1" dirty="0"/>
              <a:t>(int 	width, int height). </a:t>
            </a:r>
          </a:p>
          <a:p>
            <a:pPr marL="0" indent="0">
              <a:buNone/>
            </a:pPr>
            <a:r>
              <a:rPr lang="en-US" i="1" dirty="0"/>
              <a:t>	</a:t>
            </a:r>
            <a:r>
              <a:rPr lang="en-US" dirty="0"/>
              <a:t>The 	values are given in 	numbers of pixels.</a:t>
            </a:r>
          </a:p>
          <a:p>
            <a:pPr marL="0" indent="0">
              <a:buNone/>
            </a:pPr>
            <a:r>
              <a:rPr lang="en-US" dirty="0"/>
              <a:t>5.	</a:t>
            </a:r>
            <a:r>
              <a:rPr lang="en-US" i="1" dirty="0" err="1">
                <a:solidFill>
                  <a:srgbClr val="FF0000"/>
                </a:solidFill>
              </a:rPr>
              <a:t>glutInitWindowPosition</a:t>
            </a:r>
            <a:r>
              <a:rPr lang="en-US" i="1" dirty="0">
                <a:solidFill>
                  <a:srgbClr val="FF0000"/>
                </a:solidFill>
              </a:rPr>
              <a:t> (100, 100); </a:t>
            </a:r>
          </a:p>
          <a:p>
            <a:pPr marL="0" indent="0">
              <a:buNone/>
            </a:pPr>
            <a:r>
              <a:rPr lang="en-US" dirty="0"/>
              <a:t>	</a:t>
            </a:r>
            <a:r>
              <a:rPr lang="en-US" i="1" dirty="0" err="1"/>
              <a:t>glutInitWindowPosition</a:t>
            </a:r>
            <a:r>
              <a:rPr lang="en-US" i="1" dirty="0"/>
              <a:t>() </a:t>
            </a:r>
            <a:r>
              <a:rPr lang="en-US" dirty="0"/>
              <a:t>sets the value of 	GLUT’s initial window position</a:t>
            </a:r>
          </a:p>
          <a:p>
            <a:endParaRPr lang="en-KE" dirty="0"/>
          </a:p>
        </p:txBody>
      </p:sp>
    </p:spTree>
    <p:extLst>
      <p:ext uri="{BB962C8B-B14F-4D97-AF65-F5344CB8AC3E}">
        <p14:creationId xmlns:p14="http://schemas.microsoft.com/office/powerpoint/2010/main" val="45545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06874B-ED62-4CFB-14F5-E8D2B56C2BF8}"/>
              </a:ext>
            </a:extLst>
          </p:cNvPr>
          <p:cNvSpPr>
            <a:spLocks noGrp="1"/>
          </p:cNvSpPr>
          <p:nvPr>
            <p:ph idx="1"/>
          </p:nvPr>
        </p:nvSpPr>
        <p:spPr>
          <a:xfrm>
            <a:off x="1143000" y="215900"/>
            <a:ext cx="7543800" cy="6216650"/>
          </a:xfrm>
        </p:spPr>
        <p:txBody>
          <a:bodyPr>
            <a:normAutofit/>
          </a:bodyPr>
          <a:lstStyle/>
          <a:p>
            <a:pPr marL="0" indent="0">
              <a:buNone/>
            </a:pPr>
            <a:r>
              <a:rPr lang="en-US" dirty="0"/>
              <a:t>	</a:t>
            </a:r>
            <a:r>
              <a:rPr lang="en-US" i="1" dirty="0" err="1"/>
              <a:t>glutInitWindowPosition</a:t>
            </a:r>
            <a:r>
              <a:rPr lang="en-US" i="1" dirty="0"/>
              <a:t> ( int </a:t>
            </a:r>
            <a:r>
              <a:rPr lang="en-US" i="1" dirty="0" err="1"/>
              <a:t>x,int</a:t>
            </a:r>
            <a:r>
              <a:rPr lang="en-US" i="1" dirty="0"/>
              <a:t> y ) </a:t>
            </a:r>
            <a:r>
              <a:rPr lang="en-US" dirty="0"/>
              <a:t>- x and y 	give the position of the top left corner of the 	window measured in pixels from the top left 	corner of the X display.</a:t>
            </a:r>
          </a:p>
          <a:p>
            <a:pPr marL="0" indent="0">
              <a:buNone/>
            </a:pPr>
            <a:endParaRPr lang="en-US" dirty="0"/>
          </a:p>
          <a:p>
            <a:pPr marL="0" indent="0">
              <a:buNone/>
            </a:pPr>
            <a:r>
              <a:rPr lang="en-US" dirty="0"/>
              <a:t>6.	</a:t>
            </a:r>
            <a:r>
              <a:rPr lang="en-US" i="1" dirty="0" err="1">
                <a:solidFill>
                  <a:srgbClr val="FF0000"/>
                </a:solidFill>
              </a:rPr>
              <a:t>glutCreateWindow</a:t>
            </a:r>
            <a:r>
              <a:rPr lang="en-US" i="1" dirty="0">
                <a:solidFill>
                  <a:srgbClr val="FF0000"/>
                </a:solidFill>
              </a:rPr>
              <a:t> ("My Gray Window");  </a:t>
            </a:r>
            <a:r>
              <a:rPr lang="en-US" dirty="0">
                <a:solidFill>
                  <a:srgbClr val="FF0000"/>
                </a:solidFill>
              </a:rPr>
              <a:t>-</a:t>
            </a:r>
            <a:r>
              <a:rPr lang="en-US" i="1" dirty="0">
                <a:solidFill>
                  <a:srgbClr val="FF0000"/>
                </a:solidFill>
              </a:rPr>
              <a:t>int 	</a:t>
            </a:r>
            <a:r>
              <a:rPr lang="en-US" i="1" dirty="0" err="1">
                <a:solidFill>
                  <a:srgbClr val="FF0000"/>
                </a:solidFill>
              </a:rPr>
              <a:t>glutCreateWindow</a:t>
            </a:r>
            <a:r>
              <a:rPr lang="en-US" i="1" dirty="0">
                <a:solidFill>
                  <a:srgbClr val="FF0000"/>
                </a:solidFill>
              </a:rPr>
              <a:t> ( char *name );</a:t>
            </a:r>
          </a:p>
          <a:p>
            <a:pPr marL="0" indent="0">
              <a:buNone/>
            </a:pPr>
            <a:r>
              <a:rPr lang="en-US" dirty="0"/>
              <a:t>		</a:t>
            </a:r>
            <a:r>
              <a:rPr lang="en-US" i="1" dirty="0" err="1"/>
              <a:t>glutCreateWindow</a:t>
            </a:r>
            <a:r>
              <a:rPr lang="en-US" i="1" dirty="0"/>
              <a:t>() </a:t>
            </a:r>
            <a:r>
              <a:rPr lang="en-US" dirty="0"/>
              <a:t>creates an OpenGL 			window 	for rendering and interaction, 			with 	name 	displayed in its </a:t>
            </a:r>
            <a:r>
              <a:rPr lang="en-US" dirty="0" err="1"/>
              <a:t>titlebar</a:t>
            </a:r>
            <a:r>
              <a:rPr lang="en-US" dirty="0"/>
              <a:t>.</a:t>
            </a:r>
          </a:p>
          <a:p>
            <a:pPr marL="0" indent="0">
              <a:buNone/>
            </a:pPr>
            <a:r>
              <a:rPr lang="en-US" dirty="0"/>
              <a:t>		GLUT assigns this window an integer 				identifier, returned as the result of the 			function. </a:t>
            </a:r>
          </a:p>
          <a:p>
            <a:endParaRPr lang="en-KE" dirty="0"/>
          </a:p>
        </p:txBody>
      </p:sp>
    </p:spTree>
    <p:extLst>
      <p:ext uri="{BB962C8B-B14F-4D97-AF65-F5344CB8AC3E}">
        <p14:creationId xmlns:p14="http://schemas.microsoft.com/office/powerpoint/2010/main" val="791883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143E04-552F-60D7-3103-CCEF916B55CD}"/>
              </a:ext>
            </a:extLst>
          </p:cNvPr>
          <p:cNvSpPr>
            <a:spLocks noGrp="1"/>
          </p:cNvSpPr>
          <p:nvPr>
            <p:ph idx="1"/>
          </p:nvPr>
        </p:nvSpPr>
        <p:spPr>
          <a:xfrm>
            <a:off x="1187450" y="165100"/>
            <a:ext cx="7499350" cy="5961063"/>
          </a:xfrm>
        </p:spPr>
        <p:txBody>
          <a:bodyPr/>
          <a:lstStyle/>
          <a:p>
            <a:pPr marL="0" indent="0">
              <a:buNone/>
            </a:pPr>
            <a:r>
              <a:rPr lang="en-US" dirty="0"/>
              <a:t>	The window identifier is used when writing 	OpenGL programs which use multiple 	windows.</a:t>
            </a:r>
          </a:p>
          <a:p>
            <a:pPr marL="0" indent="0">
              <a:buNone/>
            </a:pPr>
            <a:r>
              <a:rPr lang="en-US" dirty="0"/>
              <a:t>	</a:t>
            </a:r>
            <a:r>
              <a:rPr lang="en-US" i="1" dirty="0" err="1"/>
              <a:t>glutInitWindowSize</a:t>
            </a:r>
            <a:r>
              <a:rPr lang="en-US" i="1" dirty="0"/>
              <a:t>() </a:t>
            </a:r>
            <a:r>
              <a:rPr lang="en-US" dirty="0"/>
              <a:t>and	</a:t>
            </a:r>
            <a:r>
              <a:rPr lang="en-US" i="1" dirty="0" err="1"/>
              <a:t>glutInitWindowPosition</a:t>
            </a:r>
            <a:r>
              <a:rPr lang="en-US" i="1" dirty="0"/>
              <a:t>()</a:t>
            </a:r>
            <a:r>
              <a:rPr lang="en-US" dirty="0"/>
              <a:t>  arguments control 	the size and position of the window</a:t>
            </a:r>
          </a:p>
          <a:p>
            <a:pPr marL="0" indent="0">
              <a:buNone/>
            </a:pPr>
            <a:endParaRPr lang="en-US" dirty="0"/>
          </a:p>
          <a:p>
            <a:pPr marL="0" indent="0">
              <a:buNone/>
            </a:pPr>
            <a:r>
              <a:rPr lang="en-US" dirty="0"/>
              <a:t>7.	</a:t>
            </a:r>
            <a:r>
              <a:rPr lang="en-US" i="1" dirty="0" err="1">
                <a:solidFill>
                  <a:srgbClr val="FF0000"/>
                </a:solidFill>
              </a:rPr>
              <a:t>glClearColor</a:t>
            </a:r>
            <a:r>
              <a:rPr lang="en-US" i="1" dirty="0">
                <a:solidFill>
                  <a:srgbClr val="FF0000"/>
                </a:solidFill>
              </a:rPr>
              <a:t>(0.9,0.9,0.9,0.0);  </a:t>
            </a:r>
            <a:r>
              <a:rPr lang="en-US" dirty="0"/>
              <a:t>/* Set grey 	</a:t>
            </a:r>
            <a:r>
              <a:rPr lang="en-US" dirty="0" err="1"/>
              <a:t>backbround</a:t>
            </a:r>
            <a:r>
              <a:rPr lang="en-US" dirty="0"/>
              <a:t> */</a:t>
            </a:r>
          </a:p>
          <a:p>
            <a:pPr marL="0" indent="0">
              <a:buNone/>
            </a:pPr>
            <a:endParaRPr lang="en-US" dirty="0"/>
          </a:p>
          <a:p>
            <a:pPr marL="0" indent="0">
              <a:buNone/>
            </a:pPr>
            <a:endParaRPr lang="en-KE" dirty="0"/>
          </a:p>
        </p:txBody>
      </p:sp>
    </p:spTree>
    <p:extLst>
      <p:ext uri="{BB962C8B-B14F-4D97-AF65-F5344CB8AC3E}">
        <p14:creationId xmlns:p14="http://schemas.microsoft.com/office/powerpoint/2010/main" val="3075670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018B98-59BF-8742-A086-FE876F5EEE43}"/>
              </a:ext>
            </a:extLst>
          </p:cNvPr>
          <p:cNvSpPr>
            <a:spLocks noGrp="1"/>
          </p:cNvSpPr>
          <p:nvPr>
            <p:ph idx="1"/>
          </p:nvPr>
        </p:nvSpPr>
        <p:spPr>
          <a:xfrm>
            <a:off x="1238250" y="146050"/>
            <a:ext cx="7448550" cy="6464300"/>
          </a:xfrm>
        </p:spPr>
        <p:txBody>
          <a:bodyPr>
            <a:normAutofit/>
          </a:bodyPr>
          <a:lstStyle/>
          <a:p>
            <a:pPr marL="0" indent="0">
              <a:buNone/>
            </a:pPr>
            <a:r>
              <a:rPr lang="en-US" dirty="0"/>
              <a:t>8.	</a:t>
            </a:r>
            <a:r>
              <a:rPr lang="en-US" i="1" dirty="0" err="1">
                <a:solidFill>
                  <a:srgbClr val="FF0000"/>
                </a:solidFill>
              </a:rPr>
              <a:t>glClear</a:t>
            </a:r>
            <a:r>
              <a:rPr lang="en-US" i="1" dirty="0">
                <a:solidFill>
                  <a:srgbClr val="FF0000"/>
                </a:solidFill>
              </a:rPr>
              <a:t> ( </a:t>
            </a:r>
            <a:r>
              <a:rPr lang="en-US" i="1" dirty="0" err="1">
                <a:solidFill>
                  <a:srgbClr val="FF0000"/>
                </a:solidFill>
              </a:rPr>
              <a:t>GLbitfield</a:t>
            </a:r>
            <a:r>
              <a:rPr lang="en-US" i="1" dirty="0">
                <a:solidFill>
                  <a:srgbClr val="FF0000"/>
                </a:solidFill>
              </a:rPr>
              <a:t> mask );- </a:t>
            </a:r>
            <a:r>
              <a:rPr lang="en-US" i="1" dirty="0" err="1">
                <a:solidFill>
                  <a:srgbClr val="FF0000"/>
                </a:solidFill>
              </a:rPr>
              <a:t>glClear</a:t>
            </a:r>
            <a:r>
              <a:rPr lang="en-US" i="1" dirty="0">
                <a:solidFill>
                  <a:srgbClr val="FF0000"/>
                </a:solidFill>
              </a:rPr>
              <a:t> 	(GL_COLOR_BUFFER_BIT);- </a:t>
            </a:r>
          </a:p>
          <a:p>
            <a:pPr marL="0" indent="0">
              <a:buNone/>
            </a:pPr>
            <a:r>
              <a:rPr lang="en-US" dirty="0"/>
              <a:t>	</a:t>
            </a:r>
            <a:r>
              <a:rPr lang="en-US" i="1" dirty="0" err="1"/>
              <a:t>glClear</a:t>
            </a:r>
            <a:r>
              <a:rPr lang="en-US" i="1" dirty="0"/>
              <a:t>() </a:t>
            </a:r>
            <a:r>
              <a:rPr lang="en-US" dirty="0"/>
              <a:t>clears one or more of OpenGL’s 	buffers, specified by mask. </a:t>
            </a:r>
            <a:r>
              <a:rPr lang="en-US" dirty="0" err="1"/>
              <a:t>e.g</a:t>
            </a:r>
            <a:r>
              <a:rPr lang="en-US" dirty="0"/>
              <a:t> the frame 	buffer, which holds the pixels which will be 	copied to the window. </a:t>
            </a:r>
          </a:p>
          <a:p>
            <a:pPr marL="0" indent="0">
              <a:buNone/>
            </a:pPr>
            <a:r>
              <a:rPr lang="en-US" dirty="0"/>
              <a:t>	This has the special name GL COLOR BUFFER 	BIT. When </a:t>
            </a:r>
            <a:r>
              <a:rPr lang="en-US" dirty="0" err="1"/>
              <a:t>glClear</a:t>
            </a:r>
            <a:r>
              <a:rPr lang="en-US" dirty="0"/>
              <a:t>() is called, each pixel in the 	buffer is set to the current clear </a:t>
            </a:r>
            <a:r>
              <a:rPr lang="en-US" dirty="0" err="1"/>
              <a:t>colour</a:t>
            </a:r>
            <a:r>
              <a:rPr lang="en-US" dirty="0"/>
              <a:t>, which 	is set to black by default.</a:t>
            </a:r>
          </a:p>
          <a:p>
            <a:pPr marL="0" indent="0">
              <a:buNone/>
            </a:pPr>
            <a:r>
              <a:rPr lang="en-US" dirty="0"/>
              <a:t>	We set the current 	clear </a:t>
            </a:r>
            <a:r>
              <a:rPr lang="en-US" dirty="0" err="1"/>
              <a:t>colour</a:t>
            </a:r>
            <a:r>
              <a:rPr lang="en-US" dirty="0"/>
              <a:t> using the 	function </a:t>
            </a:r>
            <a:r>
              <a:rPr lang="en-US" i="1" dirty="0" err="1"/>
              <a:t>glClearColor</a:t>
            </a:r>
            <a:r>
              <a:rPr lang="en-US" i="1" dirty="0"/>
              <a:t>()</a:t>
            </a:r>
          </a:p>
          <a:p>
            <a:pPr marL="0" indent="0">
              <a:buNone/>
            </a:pPr>
            <a:endParaRPr lang="en-KE" dirty="0"/>
          </a:p>
        </p:txBody>
      </p:sp>
    </p:spTree>
    <p:extLst>
      <p:ext uri="{BB962C8B-B14F-4D97-AF65-F5344CB8AC3E}">
        <p14:creationId xmlns:p14="http://schemas.microsoft.com/office/powerpoint/2010/main" val="1854145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5BD19D-395B-0224-DCB4-DF2275379BE2}"/>
              </a:ext>
            </a:extLst>
          </p:cNvPr>
          <p:cNvSpPr>
            <a:spLocks noGrp="1"/>
          </p:cNvSpPr>
          <p:nvPr>
            <p:ph idx="1"/>
          </p:nvPr>
        </p:nvSpPr>
        <p:spPr>
          <a:xfrm>
            <a:off x="1231900" y="438150"/>
            <a:ext cx="7454900" cy="6172200"/>
          </a:xfrm>
        </p:spPr>
        <p:txBody>
          <a:bodyPr>
            <a:normAutofit/>
          </a:bodyPr>
          <a:lstStyle/>
          <a:p>
            <a:pPr marL="0" indent="0">
              <a:buNone/>
            </a:pPr>
            <a:r>
              <a:rPr lang="en-US" dirty="0"/>
              <a:t>9. </a:t>
            </a:r>
            <a:r>
              <a:rPr lang="en-US" i="1" dirty="0">
                <a:solidFill>
                  <a:srgbClr val="FF0000"/>
                </a:solidFill>
              </a:rPr>
              <a:t>glColor3f(1.0,0.0,0.0);</a:t>
            </a:r>
          </a:p>
          <a:p>
            <a:pPr marL="0" indent="0">
              <a:buNone/>
            </a:pPr>
            <a:r>
              <a:rPr lang="en-US" dirty="0"/>
              <a:t>	The command </a:t>
            </a:r>
            <a:r>
              <a:rPr lang="en-US" i="1" dirty="0"/>
              <a:t>glColor3f() </a:t>
            </a:r>
            <a:r>
              <a:rPr lang="en-US" dirty="0"/>
              <a:t>sets the drawing 	color. </a:t>
            </a:r>
          </a:p>
          <a:p>
            <a:pPr marL="0" indent="0">
              <a:buNone/>
            </a:pPr>
            <a:r>
              <a:rPr lang="en-US" dirty="0"/>
              <a:t>	The arguments are three </a:t>
            </a:r>
            <a:r>
              <a:rPr lang="en-US" i="1" dirty="0" err="1"/>
              <a:t>GLfloat’s</a:t>
            </a:r>
            <a:r>
              <a:rPr lang="en-US" dirty="0"/>
              <a:t>, giving the 	R, G, 	and B components of the color.</a:t>
            </a:r>
          </a:p>
          <a:p>
            <a:pPr marL="0" indent="0">
              <a:buNone/>
            </a:pPr>
            <a:r>
              <a:rPr lang="en-US" dirty="0"/>
              <a:t>	 In this 	case, RGB = (1;0;0) means pure red. </a:t>
            </a:r>
          </a:p>
          <a:p>
            <a:pPr marL="0" indent="0">
              <a:buNone/>
            </a:pPr>
            <a:endParaRPr lang="en-US" dirty="0"/>
          </a:p>
          <a:p>
            <a:pPr marL="0" indent="0">
              <a:buNone/>
            </a:pPr>
            <a:r>
              <a:rPr lang="en-US" dirty="0"/>
              <a:t>	The suffix “3f” means that three floating 	point arguments (actually </a:t>
            </a:r>
            <a:r>
              <a:rPr lang="en-US" dirty="0" err="1"/>
              <a:t>GLfloat’s</a:t>
            </a:r>
            <a:r>
              <a:rPr lang="en-US" dirty="0"/>
              <a:t>) will be 	given. </a:t>
            </a:r>
            <a:endParaRPr lang="en-KE" dirty="0"/>
          </a:p>
        </p:txBody>
      </p:sp>
    </p:spTree>
    <p:extLst>
      <p:ext uri="{BB962C8B-B14F-4D97-AF65-F5344CB8AC3E}">
        <p14:creationId xmlns:p14="http://schemas.microsoft.com/office/powerpoint/2010/main" val="368574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3BB12-9C06-024B-297A-A80CE9138266}"/>
              </a:ext>
            </a:extLst>
          </p:cNvPr>
          <p:cNvSpPr>
            <a:spLocks noGrp="1"/>
          </p:cNvSpPr>
          <p:nvPr>
            <p:ph idx="1"/>
          </p:nvPr>
        </p:nvSpPr>
        <p:spPr>
          <a:xfrm>
            <a:off x="1022350" y="203200"/>
            <a:ext cx="7664450" cy="6318250"/>
          </a:xfrm>
        </p:spPr>
        <p:txBody>
          <a:bodyPr/>
          <a:lstStyle/>
          <a:p>
            <a:pPr marL="0" indent="0">
              <a:buNone/>
            </a:pPr>
            <a:r>
              <a:rPr lang="en-US" dirty="0"/>
              <a:t>	For example, glColor3d() takes three double 	(or </a:t>
            </a:r>
            <a:r>
              <a:rPr lang="en-US" dirty="0" err="1"/>
              <a:t>GLdouble</a:t>
            </a:r>
            <a:r>
              <a:rPr lang="en-US" dirty="0"/>
              <a:t>) arguments, glColor3ui() takes 	three unsigned int arguments, and so on. </a:t>
            </a:r>
          </a:p>
          <a:p>
            <a:pPr marL="0" indent="0">
              <a:buNone/>
            </a:pPr>
            <a:r>
              <a:rPr lang="en-US" dirty="0"/>
              <a:t>	For floats and doubles, the arguments range 	from 0 (no intensity) to 1 (full intensity).</a:t>
            </a:r>
          </a:p>
          <a:p>
            <a:pPr marL="0" indent="0">
              <a:buNone/>
            </a:pPr>
            <a:r>
              <a:rPr lang="en-US" dirty="0"/>
              <a:t>	 For integer types (byte, short, int, long) the 	input is assumed to be in the range from 0 	(no intensity) to its maximum possible 	positive value (full intensity).</a:t>
            </a:r>
            <a:endParaRPr lang="en-KE" dirty="0"/>
          </a:p>
        </p:txBody>
      </p:sp>
    </p:spTree>
    <p:extLst>
      <p:ext uri="{BB962C8B-B14F-4D97-AF65-F5344CB8AC3E}">
        <p14:creationId xmlns:p14="http://schemas.microsoft.com/office/powerpoint/2010/main" val="851321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D8FF7-978F-2AB2-119C-95CB64C5F530}"/>
              </a:ext>
            </a:extLst>
          </p:cNvPr>
          <p:cNvSpPr>
            <a:spLocks noGrp="1"/>
          </p:cNvSpPr>
          <p:nvPr>
            <p:ph idx="1"/>
          </p:nvPr>
        </p:nvSpPr>
        <p:spPr>
          <a:xfrm>
            <a:off x="1009650" y="349250"/>
            <a:ext cx="7677150" cy="6216650"/>
          </a:xfrm>
        </p:spPr>
        <p:txBody>
          <a:bodyPr>
            <a:normAutofit/>
          </a:bodyPr>
          <a:lstStyle/>
          <a:p>
            <a:pPr marL="0" indent="0">
              <a:buNone/>
            </a:pPr>
            <a:r>
              <a:rPr lang="en-US" dirty="0"/>
              <a:t>	Specifying a Color With OpenGL, the 	description of the shape of an object being 	drawn is independent of the description of its 	color. </a:t>
            </a:r>
          </a:p>
          <a:p>
            <a:pPr marL="0" indent="0">
              <a:buNone/>
            </a:pPr>
            <a:r>
              <a:rPr lang="en-US" dirty="0"/>
              <a:t>	Whenever a particular geometric object is 	drawn, it's drawn using the currently specified 	coloring scheme.</a:t>
            </a:r>
          </a:p>
          <a:p>
            <a:pPr marL="0" indent="0">
              <a:buNone/>
            </a:pPr>
            <a:r>
              <a:rPr lang="en-US" dirty="0"/>
              <a:t>	The coloring scheme might be as simple as 	"draw everything in fire-engine red," or might be 	as complicated as "assume the object is made 	out of blue plastic, that there's a yellow spotlight 	pointed in such and such a direction, and that 	there's a general low-level reddish-brown light 	everywhere else."</a:t>
            </a:r>
            <a:endParaRPr lang="en-KE" dirty="0"/>
          </a:p>
        </p:txBody>
      </p:sp>
    </p:spTree>
    <p:extLst>
      <p:ext uri="{BB962C8B-B14F-4D97-AF65-F5344CB8AC3E}">
        <p14:creationId xmlns:p14="http://schemas.microsoft.com/office/powerpoint/2010/main" val="3326434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73C31-BCB6-83D2-8A1C-2DCD3C481619}"/>
              </a:ext>
            </a:extLst>
          </p:cNvPr>
          <p:cNvSpPr>
            <a:spLocks noGrp="1"/>
          </p:cNvSpPr>
          <p:nvPr>
            <p:ph idx="1"/>
          </p:nvPr>
        </p:nvSpPr>
        <p:spPr>
          <a:xfrm>
            <a:off x="1060450" y="127000"/>
            <a:ext cx="7626350" cy="6540500"/>
          </a:xfrm>
        </p:spPr>
        <p:txBody>
          <a:bodyPr/>
          <a:lstStyle/>
          <a:p>
            <a:pPr marL="0" indent="0">
              <a:buNone/>
            </a:pPr>
            <a:r>
              <a:rPr lang="en-US" dirty="0"/>
              <a:t>	In general, an OpenGL programmer first sets 	the color or coloring scheme, and then draws 	the objects.</a:t>
            </a:r>
          </a:p>
          <a:p>
            <a:pPr marL="0" indent="0">
              <a:buNone/>
            </a:pPr>
            <a:r>
              <a:rPr lang="en-US" dirty="0"/>
              <a:t>	Until the color or coloring 	scheme is 	changed, all objects are drawn in 	that color 	or using that coloring scheme. This 	method 	helps OpenGL achieve higher 	drawing 	performance than would result if it 	didn’t 	keep track of the current color.</a:t>
            </a:r>
          </a:p>
          <a:p>
            <a:endParaRPr lang="en-KE" dirty="0"/>
          </a:p>
        </p:txBody>
      </p:sp>
    </p:spTree>
    <p:extLst>
      <p:ext uri="{BB962C8B-B14F-4D97-AF65-F5344CB8AC3E}">
        <p14:creationId xmlns:p14="http://schemas.microsoft.com/office/powerpoint/2010/main" val="452074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28758-EE13-BAAB-3211-510AC317C413}"/>
              </a:ext>
            </a:extLst>
          </p:cNvPr>
          <p:cNvSpPr>
            <a:spLocks noGrp="1"/>
          </p:cNvSpPr>
          <p:nvPr>
            <p:ph idx="1"/>
          </p:nvPr>
        </p:nvSpPr>
        <p:spPr>
          <a:xfrm>
            <a:off x="1397000" y="228601"/>
            <a:ext cx="7289800" cy="5530850"/>
          </a:xfrm>
        </p:spPr>
        <p:txBody>
          <a:bodyPr/>
          <a:lstStyle/>
          <a:p>
            <a:r>
              <a:rPr lang="en-US" dirty="0"/>
              <a:t>glColor3f(0.0, 0.0, 0.0); black</a:t>
            </a:r>
          </a:p>
          <a:p>
            <a:r>
              <a:rPr lang="en-US" dirty="0"/>
              <a:t>glColor3f(1.0, 0.0, 0.0); red</a:t>
            </a:r>
          </a:p>
          <a:p>
            <a:r>
              <a:rPr lang="en-US" dirty="0"/>
              <a:t>glColor3f(0.0, 1.0, 0.0); green</a:t>
            </a:r>
          </a:p>
          <a:p>
            <a:r>
              <a:rPr lang="en-US" dirty="0"/>
              <a:t>glColor3f(1.0, 1.0, 0.0); yellow</a:t>
            </a:r>
          </a:p>
          <a:p>
            <a:r>
              <a:rPr lang="en-US" dirty="0"/>
              <a:t>glColor3f(0.0, 0.0, 1.0); blue</a:t>
            </a:r>
          </a:p>
          <a:p>
            <a:r>
              <a:rPr lang="en-US" dirty="0"/>
              <a:t>glColor3f(1.0, 0.0, 1.0); magenta</a:t>
            </a:r>
          </a:p>
          <a:p>
            <a:r>
              <a:rPr lang="en-US" dirty="0"/>
              <a:t>glColor3f(0.0, 1.0, 1.0); cyan</a:t>
            </a:r>
          </a:p>
          <a:p>
            <a:r>
              <a:rPr lang="en-US" dirty="0"/>
              <a:t>glColor3f(1.0, 1.0, 1.0); white</a:t>
            </a:r>
          </a:p>
          <a:p>
            <a:endParaRPr lang="en-KE" dirty="0"/>
          </a:p>
        </p:txBody>
      </p:sp>
    </p:spTree>
    <p:extLst>
      <p:ext uri="{BB962C8B-B14F-4D97-AF65-F5344CB8AC3E}">
        <p14:creationId xmlns:p14="http://schemas.microsoft.com/office/powerpoint/2010/main" val="3278722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3F24C-271D-94B4-0E08-C65DDB41DD9E}"/>
              </a:ext>
            </a:extLst>
          </p:cNvPr>
          <p:cNvSpPr>
            <a:spLocks noGrp="1"/>
          </p:cNvSpPr>
          <p:nvPr>
            <p:ph idx="1"/>
          </p:nvPr>
        </p:nvSpPr>
        <p:spPr>
          <a:xfrm>
            <a:off x="1136650" y="228600"/>
            <a:ext cx="7550150" cy="6248400"/>
          </a:xfrm>
        </p:spPr>
        <p:txBody>
          <a:bodyPr>
            <a:normAutofit/>
          </a:bodyPr>
          <a:lstStyle/>
          <a:p>
            <a:pPr marL="0" indent="0">
              <a:buNone/>
            </a:pPr>
            <a:r>
              <a:rPr lang="en-US" dirty="0"/>
              <a:t>10. </a:t>
            </a:r>
            <a:r>
              <a:rPr lang="en-US" i="1" dirty="0" err="1">
                <a:solidFill>
                  <a:srgbClr val="FF0000"/>
                </a:solidFill>
              </a:rPr>
              <a:t>glFlush</a:t>
            </a:r>
            <a:r>
              <a:rPr lang="en-US" i="1" dirty="0">
                <a:solidFill>
                  <a:srgbClr val="FF0000"/>
                </a:solidFill>
              </a:rPr>
              <a:t>();</a:t>
            </a:r>
          </a:p>
          <a:p>
            <a:pPr marL="0" indent="0">
              <a:buNone/>
            </a:pPr>
            <a:r>
              <a:rPr lang="en-US" dirty="0"/>
              <a:t>	The purpose of this function is to instruct 	OpenGL to make sure the screen is up to date 	– it causes the contents of any internal 	OpenGL buffers are “flushed” to the screen.</a:t>
            </a:r>
          </a:p>
          <a:p>
            <a:pPr marL="0" indent="0">
              <a:buNone/>
            </a:pPr>
            <a:r>
              <a:rPr lang="en-US" dirty="0"/>
              <a:t>11. </a:t>
            </a:r>
            <a:r>
              <a:rPr lang="en-US" i="1" dirty="0" err="1">
                <a:solidFill>
                  <a:srgbClr val="FF0000"/>
                </a:solidFill>
              </a:rPr>
              <a:t>glutMainLoop</a:t>
            </a:r>
            <a:r>
              <a:rPr lang="en-US" i="1" dirty="0">
                <a:solidFill>
                  <a:srgbClr val="FF0000"/>
                </a:solidFill>
              </a:rPr>
              <a:t> (); </a:t>
            </a:r>
            <a:r>
              <a:rPr lang="en-US" dirty="0"/>
              <a:t>/*Enter the OpenGL main loop */</a:t>
            </a:r>
          </a:p>
          <a:p>
            <a:pPr marL="0" indent="0">
              <a:buNone/>
            </a:pPr>
            <a:r>
              <a:rPr lang="en-US" dirty="0"/>
              <a:t>     </a:t>
            </a:r>
            <a:r>
              <a:rPr lang="en-US" i="1" dirty="0" err="1"/>
              <a:t>glutMainLoop</a:t>
            </a:r>
            <a:r>
              <a:rPr lang="en-US" i="1" dirty="0"/>
              <a:t>() </a:t>
            </a:r>
            <a:r>
              <a:rPr lang="en-US" dirty="0"/>
              <a:t>starts the GLUT “event 	processing” loop: Once started, this loop will 	carry    on for as long as the program is running. 	Each time around the loop, GLUT checks to see if 	anything has changed since last time, and calls 	the appropriate callback functions.</a:t>
            </a:r>
          </a:p>
          <a:p>
            <a:pPr marL="0" indent="0">
              <a:buNone/>
            </a:pPr>
            <a:endParaRPr lang="en-US" dirty="0"/>
          </a:p>
          <a:p>
            <a:pPr marL="0" indent="0">
              <a:buNone/>
            </a:pPr>
            <a:endParaRPr lang="en-KE" dirty="0"/>
          </a:p>
        </p:txBody>
      </p:sp>
    </p:spTree>
    <p:extLst>
      <p:ext uri="{BB962C8B-B14F-4D97-AF65-F5344CB8AC3E}">
        <p14:creationId xmlns:p14="http://schemas.microsoft.com/office/powerpoint/2010/main" val="14198743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554</TotalTime>
  <Words>2395</Words>
  <Application>Microsoft Office PowerPoint</Application>
  <PresentationFormat>On-screen Show (4:3)</PresentationFormat>
  <Paragraphs>176</Paragraphs>
  <Slides>39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Corbel</vt:lpstr>
      <vt:lpstr>Parallax</vt:lpstr>
      <vt:lpstr>Introduction to Graphics Programming- OpenGL</vt:lpstr>
      <vt:lpstr>PowerPoint Presentation</vt:lpstr>
      <vt:lpstr>PowerPoint Presentation</vt:lpstr>
      <vt:lpstr>PowerPoint Presentation</vt:lpstr>
      <vt:lpstr>PowerPoint Presentation</vt:lpstr>
      <vt:lpstr>Major Elements in OpenGL Progamming</vt:lpstr>
      <vt:lpstr>Points</vt:lpstr>
      <vt:lpstr>PowerPoint Presentation</vt:lpstr>
      <vt:lpstr>PowerPoint Presentation</vt:lpstr>
      <vt:lpstr>Lines</vt:lpstr>
      <vt:lpstr>PowerPoint Presentation</vt:lpstr>
      <vt:lpstr>PowerPoint Presentation</vt:lpstr>
      <vt:lpstr>PowerPoint Presentation</vt:lpstr>
      <vt:lpstr>Polygons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Meshes</vt:lpstr>
      <vt:lpstr>Mesh Components</vt:lpstr>
      <vt:lpstr>Lab Activities</vt:lpstr>
      <vt:lpstr>Key Takeaways</vt:lpstr>
      <vt:lpstr>Example 1- Creating a Window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14</cp:revision>
  <dcterms:created xsi:type="dcterms:W3CDTF">2013-01-27T09:14:16Z</dcterms:created>
  <dcterms:modified xsi:type="dcterms:W3CDTF">2026-04-02T10:36:40Z</dcterms:modified>
  <cp:category/>
</cp:coreProperties>
</file>