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023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872505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29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8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19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72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25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38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3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0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63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43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75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17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4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42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844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61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0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939799"/>
          </a:xfrm>
        </p:spPr>
        <p:txBody>
          <a:bodyPr/>
          <a:lstStyle/>
          <a:p>
            <a:pPr algn="ctr"/>
            <a:r>
              <a:rPr lang="en-US" dirty="0"/>
              <a:t>LESSON 2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3538" y="2216151"/>
            <a:ext cx="5762563" cy="2390416"/>
          </a:xfrm>
        </p:spPr>
        <p:txBody>
          <a:bodyPr>
            <a:normAutofit/>
          </a:bodyPr>
          <a:lstStyle/>
          <a:p>
            <a:pPr algn="ctr"/>
            <a:r>
              <a:rPr sz="3600" dirty="0"/>
              <a:t>Graphics Hardware, Graphics APIs, Scene Representation &amp; Transformations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22399"/>
          </a:xfrm>
        </p:spPr>
        <p:txBody>
          <a:bodyPr/>
          <a:lstStyle/>
          <a:p>
            <a:r>
              <a:rPr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4683" y="1645585"/>
            <a:ext cx="7704667" cy="3332816"/>
          </a:xfrm>
        </p:spPr>
        <p:txBody>
          <a:bodyPr/>
          <a:lstStyle/>
          <a:p>
            <a:r>
              <a:rPr dirty="0"/>
              <a:t>Understand GPU architecture</a:t>
            </a:r>
          </a:p>
          <a:p>
            <a:r>
              <a:rPr dirty="0"/>
              <a:t>Differentiate CPU and GPU processing</a:t>
            </a:r>
          </a:p>
          <a:p>
            <a:r>
              <a:rPr dirty="0"/>
              <a:t>Explain the role of Graphics APIs</a:t>
            </a:r>
          </a:p>
          <a:p>
            <a:r>
              <a:rPr dirty="0"/>
              <a:t>Understand scene representation in graphics</a:t>
            </a:r>
          </a:p>
          <a:p>
            <a:r>
              <a:rPr dirty="0"/>
              <a:t>Explain coordinate systems and transformation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73051"/>
            <a:ext cx="7704667" cy="1981200"/>
          </a:xfrm>
        </p:spPr>
        <p:txBody>
          <a:bodyPr/>
          <a:lstStyle/>
          <a:p>
            <a:r>
              <a:rPr dirty="0"/>
              <a:t>CPU vs GPU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3" y="2089150"/>
            <a:ext cx="7704667" cy="3332816"/>
          </a:xfrm>
        </p:spPr>
        <p:txBody>
          <a:bodyPr/>
          <a:lstStyle/>
          <a:p>
            <a:r>
              <a:rPr b="1" dirty="0"/>
              <a:t>CPU</a:t>
            </a:r>
            <a:r>
              <a:rPr dirty="0"/>
              <a:t>: Few powerful cores optimized for sequential tasks</a:t>
            </a:r>
          </a:p>
          <a:p>
            <a:r>
              <a:rPr b="1" dirty="0"/>
              <a:t>GPU</a:t>
            </a:r>
            <a:r>
              <a:rPr dirty="0"/>
              <a:t>: Thousands of smaller cores optimized for parallel processing</a:t>
            </a:r>
          </a:p>
          <a:p>
            <a:r>
              <a:rPr dirty="0"/>
              <a:t>GPUs perform large numbers of mathematical operations simultaneously</a:t>
            </a:r>
          </a:p>
          <a:p>
            <a:r>
              <a:rPr dirty="0"/>
              <a:t>Essential for real‑time graphics rendering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914400"/>
          </a:xfrm>
        </p:spPr>
        <p:txBody>
          <a:bodyPr/>
          <a:lstStyle/>
          <a:p>
            <a:r>
              <a:rPr dirty="0"/>
              <a:t>Simplified GPU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9231" y="1828800"/>
            <a:ext cx="141605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Vertex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537884" y="1828800"/>
            <a:ext cx="15113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Shader Cores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34391" y="1828800"/>
            <a:ext cx="13258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Rasterizer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6600" y="1828800"/>
            <a:ext cx="1460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Fragment Shader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486650" y="1828800"/>
            <a:ext cx="1460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Framebuffer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GPU pipeline processes large amounts of geometry and pixel data in parallel.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0733" y="273051"/>
            <a:ext cx="7704667" cy="1358899"/>
          </a:xfrm>
        </p:spPr>
        <p:txBody>
          <a:bodyPr/>
          <a:lstStyle/>
          <a:p>
            <a:r>
              <a:rPr dirty="0"/>
              <a:t>Key GPU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0733" y="1762592"/>
            <a:ext cx="7704667" cy="3332816"/>
          </a:xfrm>
        </p:spPr>
        <p:txBody>
          <a:bodyPr/>
          <a:lstStyle/>
          <a:p>
            <a:r>
              <a:rPr b="1" dirty="0"/>
              <a:t>Shader Cores</a:t>
            </a:r>
            <a:r>
              <a:rPr dirty="0"/>
              <a:t>: Execute vertex and fragment programs</a:t>
            </a:r>
          </a:p>
          <a:p>
            <a:r>
              <a:rPr b="1" dirty="0"/>
              <a:t>VRAM</a:t>
            </a:r>
            <a:r>
              <a:rPr dirty="0"/>
              <a:t>: Stores textures, framebuffers, and vertex buffers</a:t>
            </a:r>
          </a:p>
          <a:p>
            <a:r>
              <a:rPr b="1" dirty="0"/>
              <a:t>Rasterizer</a:t>
            </a:r>
            <a:r>
              <a:rPr dirty="0"/>
              <a:t>: Converts geometry into fragments</a:t>
            </a:r>
          </a:p>
          <a:p>
            <a:r>
              <a:rPr b="1" dirty="0"/>
              <a:t>Output Merger</a:t>
            </a:r>
            <a:r>
              <a:rPr dirty="0"/>
              <a:t>: Depth testing and final pixel writing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6283" y="342901"/>
            <a:ext cx="7704667" cy="1479549"/>
          </a:xfrm>
        </p:spPr>
        <p:txBody>
          <a:bodyPr/>
          <a:lstStyle/>
          <a:p>
            <a:r>
              <a:rPr dirty="0"/>
              <a:t>Graphics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82" y="1651000"/>
            <a:ext cx="7704667" cy="3332816"/>
          </a:xfrm>
        </p:spPr>
        <p:txBody>
          <a:bodyPr/>
          <a:lstStyle/>
          <a:p>
            <a:r>
              <a:rPr b="1" dirty="0"/>
              <a:t>Graphics API </a:t>
            </a:r>
            <a:r>
              <a:rPr dirty="0"/>
              <a:t>= interface between software and GPU</a:t>
            </a:r>
          </a:p>
          <a:p>
            <a:r>
              <a:rPr dirty="0"/>
              <a:t>Used to send geometry and commands to the graphics hardware</a:t>
            </a:r>
          </a:p>
          <a:p>
            <a:r>
              <a:rPr dirty="0"/>
              <a:t>Handles shader programs, buffers, and textures</a:t>
            </a:r>
          </a:p>
          <a:p>
            <a:r>
              <a:rPr dirty="0"/>
              <a:t>Allows hardware abstraction across devices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683" y="311151"/>
            <a:ext cx="7704667" cy="1416049"/>
          </a:xfrm>
        </p:spPr>
        <p:txBody>
          <a:bodyPr/>
          <a:lstStyle/>
          <a:p>
            <a:r>
              <a:rPr dirty="0"/>
              <a:t>Common Graphics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9483" y="1727200"/>
            <a:ext cx="7704667" cy="2882900"/>
          </a:xfrm>
        </p:spPr>
        <p:txBody>
          <a:bodyPr/>
          <a:lstStyle/>
          <a:p>
            <a:r>
              <a:rPr b="1" dirty="0"/>
              <a:t>OpenGL</a:t>
            </a:r>
            <a:r>
              <a:rPr dirty="0"/>
              <a:t> – widely used cross‑platform API</a:t>
            </a:r>
          </a:p>
          <a:p>
            <a:r>
              <a:rPr b="1" dirty="0"/>
              <a:t>DirectX </a:t>
            </a:r>
            <a:r>
              <a:rPr dirty="0"/>
              <a:t>– Microsoft graphics API for Windows</a:t>
            </a:r>
          </a:p>
          <a:p>
            <a:r>
              <a:rPr b="1" dirty="0"/>
              <a:t>Vulkan</a:t>
            </a:r>
            <a:r>
              <a:rPr dirty="0"/>
              <a:t> – modern low‑overhead graphics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35099"/>
          </a:xfrm>
        </p:spPr>
        <p:txBody>
          <a:bodyPr/>
          <a:lstStyle/>
          <a:p>
            <a:r>
              <a:rPr dirty="0"/>
              <a:t>Scene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0433" y="1714500"/>
            <a:ext cx="7704667" cy="3332816"/>
          </a:xfrm>
        </p:spPr>
        <p:txBody>
          <a:bodyPr/>
          <a:lstStyle/>
          <a:p>
            <a:r>
              <a:rPr dirty="0"/>
              <a:t>A scene describes everything to be rendered</a:t>
            </a:r>
          </a:p>
          <a:p>
            <a:r>
              <a:rPr dirty="0"/>
              <a:t>Includes geometry, lights, cameras, and materials</a:t>
            </a:r>
          </a:p>
          <a:p>
            <a:r>
              <a:rPr dirty="0"/>
              <a:t>Organized using data structures such as scene graphs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89049"/>
          </a:xfrm>
        </p:spPr>
        <p:txBody>
          <a:bodyPr/>
          <a:lstStyle/>
          <a:p>
            <a:r>
              <a:rPr dirty="0"/>
              <a:t>Scene Graph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3783" y="1841500"/>
            <a:ext cx="7704667" cy="2977216"/>
          </a:xfrm>
        </p:spPr>
        <p:txBody>
          <a:bodyPr/>
          <a:lstStyle/>
          <a:p>
            <a:r>
              <a:rPr dirty="0"/>
              <a:t>Scene graph is a hierarchical structure</a:t>
            </a:r>
          </a:p>
          <a:p>
            <a:r>
              <a:rPr dirty="0"/>
              <a:t>Objects are organized as parent and child nodes</a:t>
            </a:r>
          </a:p>
          <a:p>
            <a:r>
              <a:rPr dirty="0"/>
              <a:t>Transformations applied to a parent affect its children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Coordinate Systems in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3133" y="2178050"/>
            <a:ext cx="7704667" cy="2540000"/>
          </a:xfrm>
        </p:spPr>
        <p:txBody>
          <a:bodyPr/>
          <a:lstStyle/>
          <a:p>
            <a:r>
              <a:rPr b="1" dirty="0"/>
              <a:t>Object (Local) Space </a:t>
            </a:r>
            <a:r>
              <a:rPr dirty="0"/>
              <a:t>– coordinates relative to object</a:t>
            </a:r>
          </a:p>
          <a:p>
            <a:r>
              <a:rPr b="1" dirty="0"/>
              <a:t>World Space </a:t>
            </a:r>
            <a:r>
              <a:rPr dirty="0"/>
              <a:t>– position in the full scene</a:t>
            </a:r>
          </a:p>
          <a:p>
            <a:r>
              <a:rPr b="1" dirty="0"/>
              <a:t>View Space </a:t>
            </a:r>
            <a:r>
              <a:rPr dirty="0"/>
              <a:t>– relative to camera</a:t>
            </a:r>
          </a:p>
          <a:p>
            <a:r>
              <a:rPr b="1" dirty="0"/>
              <a:t>Screen Space </a:t>
            </a:r>
            <a:r>
              <a:rPr dirty="0"/>
              <a:t>– final displayed coordinates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7484F-9FFF-965D-5824-543B18FF1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540250"/>
            <a:ext cx="7137400" cy="147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12799"/>
          </a:xfrm>
        </p:spPr>
        <p:txBody>
          <a:bodyPr/>
          <a:lstStyle/>
          <a:p>
            <a:r>
              <a:rPr dirty="0"/>
              <a:t>Graphics Transformation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69482" y="1828800"/>
            <a:ext cx="1460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Object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4302" y="1828800"/>
            <a:ext cx="14020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World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834466" y="1828800"/>
            <a:ext cx="1270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View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32550" y="1828800"/>
            <a:ext cx="1206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Projection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981103" y="1828800"/>
            <a:ext cx="1010497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1930" y="330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Each stage transforms coordinates using matrix operations.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39849"/>
          </a:xfrm>
        </p:spPr>
        <p:txBody>
          <a:bodyPr/>
          <a:lstStyle/>
          <a:p>
            <a:r>
              <a:rPr dirty="0"/>
              <a:t>Example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9483" y="1762592"/>
            <a:ext cx="7704667" cy="2834808"/>
          </a:xfrm>
        </p:spPr>
        <p:txBody>
          <a:bodyPr/>
          <a:lstStyle/>
          <a:p>
            <a:r>
              <a:rPr dirty="0"/>
              <a:t>Local object coordinate: (0,0,0)</a:t>
            </a:r>
          </a:p>
          <a:p>
            <a:r>
              <a:rPr dirty="0"/>
              <a:t>Translate object by (5,0,0)</a:t>
            </a:r>
          </a:p>
          <a:p>
            <a:r>
              <a:rPr dirty="0"/>
              <a:t>New world coordinate becomes (5,0,0)</a:t>
            </a:r>
          </a:p>
          <a:p>
            <a:r>
              <a:rPr dirty="0"/>
              <a:t>Model matrix performs the transformation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587499"/>
          </a:xfrm>
        </p:spPr>
        <p:txBody>
          <a:bodyPr/>
          <a:lstStyle/>
          <a:p>
            <a:r>
              <a:rPr dirty="0"/>
              <a:t>Lab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3133" y="1987550"/>
            <a:ext cx="7704667" cy="3332816"/>
          </a:xfrm>
        </p:spPr>
        <p:txBody>
          <a:bodyPr/>
          <a:lstStyle/>
          <a:p>
            <a:r>
              <a:rPr dirty="0"/>
              <a:t>Draw three cubes in a scene</a:t>
            </a:r>
          </a:p>
          <a:p>
            <a:r>
              <a:rPr dirty="0"/>
              <a:t>Apply different translations to each cube</a:t>
            </a:r>
          </a:p>
          <a:p>
            <a:r>
              <a:rPr dirty="0"/>
              <a:t>Rotate one cube around its own center</a:t>
            </a:r>
          </a:p>
          <a:p>
            <a:r>
              <a:rPr dirty="0"/>
              <a:t>Observe difference between object and world space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7147BA-7D9E-56BB-FDEE-8457D3EAA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7" y="2052635"/>
            <a:ext cx="5476875" cy="1662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6AA4DD-75A2-BD31-DC8C-68F71302D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2" y="190501"/>
            <a:ext cx="5476875" cy="132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7E0423-0370-0AA2-EB7E-9530E5948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762" y="4300537"/>
            <a:ext cx="6046788" cy="16621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8671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39849"/>
          </a:xfrm>
        </p:spPr>
        <p:txBody>
          <a:bodyPr/>
          <a:lstStyle/>
          <a:p>
            <a:r>
              <a:rPr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7883" y="1670050"/>
            <a:ext cx="7704667" cy="3332816"/>
          </a:xfrm>
        </p:spPr>
        <p:txBody>
          <a:bodyPr/>
          <a:lstStyle/>
          <a:p>
            <a:r>
              <a:rPr dirty="0"/>
              <a:t>GPUs provide massive parallel computation for graphics</a:t>
            </a:r>
          </a:p>
          <a:p>
            <a:r>
              <a:rPr dirty="0"/>
              <a:t>Graphics APIs connect software to GPU hardware</a:t>
            </a:r>
          </a:p>
          <a:p>
            <a:r>
              <a:rPr dirty="0"/>
              <a:t>Scenes organize objects, lights, and cameras</a:t>
            </a:r>
          </a:p>
          <a:p>
            <a:r>
              <a:rPr dirty="0"/>
              <a:t>Transformation pipeline converts object coordinates to screen pixels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C937F-CFA8-AA87-17C2-3BCFC2CEA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7200" y="241300"/>
            <a:ext cx="7156450" cy="674846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000" b="1" dirty="0">
                <a:latin typeface="Book Antiqua" panose="02040602050305030304" pitchFamily="18" charset="0"/>
              </a:rPr>
              <a:t>REVISION QUESTIONS</a:t>
            </a:r>
          </a:p>
          <a:p>
            <a:pPr marL="0" indent="0">
              <a:buNone/>
            </a:pPr>
            <a:r>
              <a:rPr lang="en-US" sz="3600" dirty="0">
                <a:latin typeface="Book Antiqua" panose="02040602050305030304" pitchFamily="18" charset="0"/>
              </a:rPr>
              <a:t>Q1. What is the main difference between CPU and GPU?</a:t>
            </a:r>
          </a:p>
          <a:p>
            <a:pPr marL="0" indent="0">
              <a:buNone/>
            </a:pPr>
            <a:r>
              <a:rPr lang="en-US" sz="3600" b="1" dirty="0">
                <a:latin typeface="Book Antiqua" panose="02040602050305030304" pitchFamily="18" charset="0"/>
              </a:rPr>
              <a:t>Answer:</a:t>
            </a:r>
          </a:p>
          <a:p>
            <a:r>
              <a:rPr lang="en-US" sz="3600" dirty="0">
                <a:latin typeface="Book Antiqua" panose="02040602050305030304" pitchFamily="18" charset="0"/>
              </a:rPr>
              <a:t>A CPU is optimized for sequential processing with few powerful cores, while a GPU is optimized for parallel processing with thousands of smaller cores designed for mathematical computations required in graphics rendering.</a:t>
            </a:r>
          </a:p>
          <a:p>
            <a:pPr marL="0" indent="0">
              <a:buNone/>
            </a:pPr>
            <a:r>
              <a:rPr lang="en-US" sz="3600" dirty="0">
                <a:latin typeface="Book Antiqua" panose="02040602050305030304" pitchFamily="18" charset="0"/>
              </a:rPr>
              <a:t>________________________________________</a:t>
            </a:r>
          </a:p>
          <a:p>
            <a:pPr marL="0" indent="0">
              <a:buNone/>
            </a:pPr>
            <a:r>
              <a:rPr lang="en-US" sz="3600" dirty="0">
                <a:latin typeface="Book Antiqua" panose="02040602050305030304" pitchFamily="18" charset="0"/>
              </a:rPr>
              <a:t>Q2. Define a Graphics API.</a:t>
            </a:r>
          </a:p>
          <a:p>
            <a:pPr marL="0" indent="0">
              <a:buNone/>
            </a:pPr>
            <a:r>
              <a:rPr lang="en-US" sz="3600" b="1" dirty="0">
                <a:latin typeface="Book Antiqua" panose="02040602050305030304" pitchFamily="18" charset="0"/>
              </a:rPr>
              <a:t>Answer:</a:t>
            </a:r>
          </a:p>
          <a:p>
            <a:r>
              <a:rPr lang="en-US" sz="3600" dirty="0">
                <a:latin typeface="Book Antiqua" panose="02040602050305030304" pitchFamily="18" charset="0"/>
              </a:rPr>
              <a:t>A Graphics API is a software interface that allows applications to communicate with the GPU to render graphics, manage memory, and execute shader programs.</a:t>
            </a:r>
          </a:p>
          <a:p>
            <a:r>
              <a:rPr lang="en-US" sz="3600" dirty="0">
                <a:latin typeface="Book Antiqua" panose="02040602050305030304" pitchFamily="18" charset="0"/>
              </a:rPr>
              <a:t>________________________________________</a:t>
            </a:r>
          </a:p>
          <a:p>
            <a:pPr marL="0" indent="0">
              <a:buNone/>
            </a:pPr>
            <a:r>
              <a:rPr lang="en-US" sz="3600" dirty="0">
                <a:latin typeface="Book Antiqua" panose="02040602050305030304" pitchFamily="18" charset="0"/>
              </a:rPr>
              <a:t>Q3. Give two examples of graphics APIs.</a:t>
            </a:r>
          </a:p>
          <a:p>
            <a:pPr marL="0" indent="0">
              <a:buNone/>
            </a:pPr>
            <a:r>
              <a:rPr lang="en-US" sz="3600" b="1" dirty="0">
                <a:latin typeface="Book Antiqua" panose="02040602050305030304" pitchFamily="18" charset="0"/>
              </a:rPr>
              <a:t>Answer:</a:t>
            </a:r>
          </a:p>
          <a:p>
            <a:r>
              <a:rPr lang="en-US" sz="3600" dirty="0">
                <a:latin typeface="Book Antiqua" panose="02040602050305030304" pitchFamily="18" charset="0"/>
              </a:rPr>
              <a:t>•	OpenGL</a:t>
            </a:r>
          </a:p>
          <a:p>
            <a:r>
              <a:rPr lang="en-US" sz="3600" dirty="0">
                <a:latin typeface="Book Antiqua" panose="02040602050305030304" pitchFamily="18" charset="0"/>
              </a:rPr>
              <a:t>•	DirectX</a:t>
            </a:r>
          </a:p>
          <a:p>
            <a:r>
              <a:rPr lang="en-US" sz="3600" dirty="0">
                <a:latin typeface="Book Antiqua" panose="02040602050305030304" pitchFamily="18" charset="0"/>
              </a:rPr>
              <a:t>(Other valid answer: Vulkan)</a:t>
            </a:r>
          </a:p>
          <a:p>
            <a:r>
              <a:rPr lang="en-US" sz="3600" dirty="0">
                <a:latin typeface="Book Antiqua" panose="02040602050305030304" pitchFamily="18" charset="0"/>
              </a:rPr>
              <a:t>________________________________________</a:t>
            </a:r>
          </a:p>
          <a:p>
            <a:pPr marL="0" indent="0">
              <a:buNone/>
            </a:pPr>
            <a:r>
              <a:rPr lang="en-US" sz="3600" dirty="0">
                <a:latin typeface="Book Antiqua" panose="02040602050305030304" pitchFamily="18" charset="0"/>
              </a:rPr>
              <a:t>Q4. What is object space?</a:t>
            </a:r>
          </a:p>
          <a:p>
            <a:r>
              <a:rPr lang="en-US" sz="3600" b="1" dirty="0">
                <a:latin typeface="Book Antiqua" panose="02040602050305030304" pitchFamily="18" charset="0"/>
              </a:rPr>
              <a:t>Answer:</a:t>
            </a:r>
          </a:p>
          <a:p>
            <a:r>
              <a:rPr lang="en-US" sz="3600" dirty="0">
                <a:latin typeface="Book Antiqua" panose="02040602050305030304" pitchFamily="18" charset="0"/>
              </a:rPr>
              <a:t>Object space (local space) refers to coordinates defined relative to the object's own origin before any transformation is applied.</a:t>
            </a:r>
          </a:p>
          <a:p>
            <a:r>
              <a:rPr lang="en-US" sz="3600" dirty="0">
                <a:latin typeface="Book Antiqua" panose="02040602050305030304" pitchFamily="18" charset="0"/>
              </a:rPr>
              <a:t>________________________________________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893595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E568E-A010-740B-3734-6697746B3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8900" y="247650"/>
            <a:ext cx="7327900" cy="587851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5000" dirty="0">
                <a:latin typeface="Book Antiqua" panose="02040602050305030304" pitchFamily="18" charset="0"/>
              </a:rPr>
              <a:t>Q5. What is world space?</a:t>
            </a:r>
          </a:p>
          <a:p>
            <a:pPr marL="0" indent="0">
              <a:buNone/>
            </a:pPr>
            <a:r>
              <a:rPr lang="en-US" sz="5000" b="1" dirty="0">
                <a:latin typeface="Book Antiqua" panose="02040602050305030304" pitchFamily="18" charset="0"/>
              </a:rPr>
              <a:t>Answer:</a:t>
            </a:r>
          </a:p>
          <a:p>
            <a:r>
              <a:rPr lang="en-US" sz="5000" dirty="0">
                <a:latin typeface="Book Antiqua" panose="02040602050305030304" pitchFamily="18" charset="0"/>
              </a:rPr>
              <a:t>World space refers to coordinates of objects after transformations have positioned them within the overall scene.</a:t>
            </a:r>
          </a:p>
          <a:p>
            <a:pPr marL="0" indent="0">
              <a:buNone/>
            </a:pPr>
            <a:r>
              <a:rPr lang="en-US" sz="5000" dirty="0">
                <a:latin typeface="Book Antiqua" panose="02040602050305030304" pitchFamily="18" charset="0"/>
              </a:rPr>
              <a:t>________________________________________</a:t>
            </a:r>
          </a:p>
          <a:p>
            <a:pPr marL="0" indent="0">
              <a:buNone/>
            </a:pPr>
            <a:r>
              <a:rPr lang="en-US" sz="5000" dirty="0">
                <a:latin typeface="Book Antiqua" panose="02040602050305030304" pitchFamily="18" charset="0"/>
              </a:rPr>
              <a:t>Q6. Why are GPUs better suited for graphics rendering?</a:t>
            </a:r>
          </a:p>
          <a:p>
            <a:pPr marL="0" indent="0">
              <a:buNone/>
            </a:pPr>
            <a:r>
              <a:rPr lang="en-US" sz="5000" b="1" dirty="0">
                <a:latin typeface="Book Antiqua" panose="02040602050305030304" pitchFamily="18" charset="0"/>
              </a:rPr>
              <a:t>Answer:</a:t>
            </a:r>
          </a:p>
          <a:p>
            <a:r>
              <a:rPr lang="en-US" sz="5000" dirty="0">
                <a:latin typeface="Book Antiqua" panose="02040602050305030304" pitchFamily="18" charset="0"/>
              </a:rPr>
              <a:t>Because rendering involves performing the same mathematical operations on many vertices and pixels simultaneously, which benefits from the GPU’s highly parallel architecture.</a:t>
            </a:r>
          </a:p>
          <a:p>
            <a:r>
              <a:rPr lang="en-US" sz="5000" dirty="0">
                <a:latin typeface="Book Antiqua" panose="02040602050305030304" pitchFamily="18" charset="0"/>
              </a:rPr>
              <a:t>________________________________________</a:t>
            </a:r>
          </a:p>
          <a:p>
            <a:pPr marL="0" indent="0">
              <a:buNone/>
            </a:pPr>
            <a:r>
              <a:rPr lang="en-US" sz="5000" dirty="0">
                <a:latin typeface="Book Antiqua" panose="02040602050305030304" pitchFamily="18" charset="0"/>
              </a:rPr>
              <a:t>Q7. Explain the role of a scene graph.</a:t>
            </a:r>
          </a:p>
          <a:p>
            <a:pPr marL="0" indent="0">
              <a:buNone/>
            </a:pPr>
            <a:r>
              <a:rPr lang="en-US" sz="5000" b="1" dirty="0">
                <a:latin typeface="Book Antiqua" panose="02040602050305030304" pitchFamily="18" charset="0"/>
              </a:rPr>
              <a:t>Answer:</a:t>
            </a:r>
          </a:p>
          <a:p>
            <a:r>
              <a:rPr lang="en-US" sz="5000" dirty="0">
                <a:latin typeface="Book Antiqua" panose="02040602050305030304" pitchFamily="18" charset="0"/>
              </a:rPr>
              <a:t>A scene graph organizes objects hierarchically, allowing parent-child relationships so transformations applied to a parent automatically affect its children.</a:t>
            </a:r>
          </a:p>
          <a:p>
            <a:r>
              <a:rPr lang="en-US" sz="5000" dirty="0">
                <a:latin typeface="Book Antiqua" panose="02040602050305030304" pitchFamily="18" charset="0"/>
              </a:rPr>
              <a:t>________________________________________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582381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501D2-ED57-B110-8DEA-1872C89FA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300" y="374650"/>
            <a:ext cx="7175500" cy="5751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Book Antiqua" panose="02040602050305030304" pitchFamily="18" charset="0"/>
              </a:rPr>
              <a:t>Q8. If an object is at local coordinate (1,0,0) and translated by (5,0,0), what is its world coordinate?</a:t>
            </a:r>
          </a:p>
          <a:p>
            <a:pPr marL="0" indent="0">
              <a:buNone/>
            </a:pPr>
            <a:r>
              <a:rPr lang="en-US" sz="2000" b="1" dirty="0">
                <a:latin typeface="Book Antiqua" panose="02040602050305030304" pitchFamily="18" charset="0"/>
              </a:rPr>
              <a:t>Answer:</a:t>
            </a:r>
          </a:p>
          <a:p>
            <a:r>
              <a:rPr lang="en-US" sz="2000" dirty="0">
                <a:latin typeface="Book Antiqua" panose="02040602050305030304" pitchFamily="18" charset="0"/>
              </a:rPr>
              <a:t>(6,0,0)</a:t>
            </a:r>
          </a:p>
          <a:p>
            <a:r>
              <a:rPr lang="en-US" sz="2000" dirty="0">
                <a:latin typeface="Book Antiqua" panose="02040602050305030304" pitchFamily="18" charset="0"/>
              </a:rPr>
              <a:t>________________________________________</a:t>
            </a:r>
          </a:p>
          <a:p>
            <a:pPr marL="0" indent="0">
              <a:buNone/>
            </a:pPr>
            <a:r>
              <a:rPr lang="en-US" sz="2000" dirty="0">
                <a:latin typeface="Book Antiqua" panose="02040602050305030304" pitchFamily="18" charset="0"/>
              </a:rPr>
              <a:t>Q9. Why do we need multiple coordinate systems?</a:t>
            </a:r>
          </a:p>
          <a:p>
            <a:pPr marL="0" indent="0">
              <a:buNone/>
            </a:pPr>
            <a:r>
              <a:rPr lang="en-US" sz="2000" b="1" dirty="0">
                <a:latin typeface="Book Antiqua" panose="02040602050305030304" pitchFamily="18" charset="0"/>
              </a:rPr>
              <a:t>Answer:</a:t>
            </a:r>
          </a:p>
          <a:p>
            <a:r>
              <a:rPr lang="en-US" sz="2000" dirty="0">
                <a:latin typeface="Book Antiqua" panose="02040602050305030304" pitchFamily="18" charset="0"/>
              </a:rPr>
              <a:t>Multiple coordinate systems allow structured transformation of objects from modeling space to display space, enabling camera movement and scene organization.</a:t>
            </a:r>
          </a:p>
          <a:p>
            <a:pPr marL="0" indent="0">
              <a:buNone/>
            </a:pPr>
            <a:r>
              <a:rPr lang="en-US" sz="2000" dirty="0">
                <a:latin typeface="Book Antiqua" panose="02040602050305030304" pitchFamily="18" charset="0"/>
              </a:rPr>
              <a:t>________________________________________</a:t>
            </a:r>
          </a:p>
          <a:p>
            <a:r>
              <a:rPr lang="en-US" sz="2000" dirty="0">
                <a:latin typeface="Book Antiqua" panose="02040602050305030304" pitchFamily="18" charset="0"/>
              </a:rPr>
              <a:t>Q10. What happens if we move the camera instead of the object?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838369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123</TotalTime>
  <Words>709</Words>
  <Application>Microsoft Office PowerPoint</Application>
  <PresentationFormat>On-screen Show (4:3)</PresentationFormat>
  <Paragraphs>109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Book Antiqua</vt:lpstr>
      <vt:lpstr>Corbel</vt:lpstr>
      <vt:lpstr>Parallax</vt:lpstr>
      <vt:lpstr>LESSON 2</vt:lpstr>
      <vt:lpstr>Learning Objectives</vt:lpstr>
      <vt:lpstr>CPU vs GPU</vt:lpstr>
      <vt:lpstr>Simplified GPU Architecture</vt:lpstr>
      <vt:lpstr>Key GPU Components</vt:lpstr>
      <vt:lpstr>Graphics APIs</vt:lpstr>
      <vt:lpstr>Common Graphics APIs</vt:lpstr>
      <vt:lpstr>Scene Representation</vt:lpstr>
      <vt:lpstr>Scene Graph Concept</vt:lpstr>
      <vt:lpstr>Coordinate Systems in Graphics</vt:lpstr>
      <vt:lpstr>Graphics Transformation Pipeline</vt:lpstr>
      <vt:lpstr>Example Transformation</vt:lpstr>
      <vt:lpstr>Lab Exercise</vt:lpstr>
      <vt:lpstr>PowerPoint Presentation</vt:lpstr>
      <vt:lpstr>Key Takeaways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9</cp:revision>
  <dcterms:created xsi:type="dcterms:W3CDTF">2013-01-27T09:14:16Z</dcterms:created>
  <dcterms:modified xsi:type="dcterms:W3CDTF">2026-03-16T16:52:52Z</dcterms:modified>
  <cp:category/>
</cp:coreProperties>
</file>