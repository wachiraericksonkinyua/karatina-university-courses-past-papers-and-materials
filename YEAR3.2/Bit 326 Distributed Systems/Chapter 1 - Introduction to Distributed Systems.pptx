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947275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2510-CF73-0106-3F3B-4E86AE1F5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0BCD9-157B-0B48-5D95-4549DE2D0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914C2-1C3C-BF51-353B-9C574FA9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E919F-8B66-F6CC-7B82-884796DE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16E5D-8504-244E-98AC-4F0A0BFF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41484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2AD38-A498-627D-63EE-A3BB6A5E2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53388-E39E-E9EC-F385-9A599C53B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7757A-CDE5-FF8A-95FB-D0A4B83E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B4A9F-F32D-7CAD-1D71-272886072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D0566-FADD-5A6F-87AC-10F795CD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3635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0F39-1ECF-23DA-E091-37FF2F91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2BB2C-5378-F5EB-3469-59A2DB217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22E87-FF7A-F928-B901-782D5A8B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5CF4C-0C90-A349-DE2A-883F0829C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EF940-5937-3A00-FCB2-A89CA06A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89344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7ACA7-4B29-8355-0A86-146BFB60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20C6-7EE3-9B2E-3B3F-C0844E966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1B819-F834-3BDC-C695-09794A7D2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C2BEA-05BE-9FAA-4999-EBB88FCE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AD463-F921-B784-F623-F79F7AE0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B8015-71B4-F390-E492-B276E941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6182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750F-E252-EDC9-DA11-20E60883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030E1-4374-5180-FC5C-FB03C341F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6867F-CB78-6C8F-69DB-934802C2B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169FB-1933-68BE-0F44-8FA910416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7A25AF-B149-CE03-2B5C-4D59345DB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83290-C34D-FB64-B62B-D3FF79F2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460B66-840A-82C6-79CF-4D5F5AA0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2F0B7-EFB8-D630-24AE-1748E9F5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1472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AA3C-3024-D8C8-DBE2-FCC2C1E3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4101B3-A2EE-424C-E40B-A6803D43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81AEE-A86F-20A4-258A-C5F7C1438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A47303-C369-6C51-18C7-22CC3BE8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24545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3B802C-7A5E-ECD5-1B12-2ED8ED27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0DCE3-3E27-351D-6493-351F74D7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B786E-E977-F10C-2B65-384D6F85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0545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9469-67E5-D0E2-3709-0652BA314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1B7F7-8C30-C8DA-AE35-53F201C0A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CE6D4-215B-688E-802E-FAC81E133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5628E-5DF6-4C14-D7CB-95BC718D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EC207-A856-6518-1D45-9190DD6AD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EDF99-549E-8DB7-CC41-BA6081C0B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63611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6BD3D-216D-F156-DAE5-130F7A5C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1DA8A-BD5E-5DD7-5287-326D96183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5CC0D-EBE3-8E2D-8B8A-3EDCB8814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FEFA8-A6A2-91FD-51BD-42F26634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F5024-F412-A1B1-608E-0A01B422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AE24B-F09D-ADC0-E8E9-7426839F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4033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BE0F-D3A6-E957-0CC1-24319EF5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5C2E3-897C-4CC0-1E44-1D8D95CA5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25ADC-BB12-58DC-1272-330D6F46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D8BB4-7A32-1C1E-828E-F928A518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AD369-E973-2B31-8D40-E1538D49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2632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E4893-B7AD-E6F6-6C3D-0BE07CB43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FC294-DF1B-6CB0-D8F3-8F377E72B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102DD-7307-C0FB-6329-680756C1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82E26-6C0A-105D-3022-6990E1AB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8D2EB-1A24-F6FB-5AC9-D9A4C21D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8403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9DCDB-F75B-D032-47A5-5261221D2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9A68E-95BD-7C21-4D2F-81C8AB5B1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91D44-E530-8718-9C7D-EC5CED05B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10EAE-0AD3-471F-AA8E-C2405D6F46AF}" type="datetimeFigureOut">
              <a:rPr lang="en-KE" smtClean="0"/>
              <a:t>25/02/2026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C15C4-0641-A4ED-18A4-894AAA17F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1CD8C-B6B8-C1C9-F260-F07450543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59440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66C9A-9131-44DF-3494-2042A7336D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Chapter 1 – Introduction to Distributed Systems</a:t>
            </a:r>
            <a:endParaRPr lang="en-KE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7E8A6-2514-20C7-D92D-D321121492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200" b="1" dirty="0">
                <a:latin typeface="Algerian" panose="04020705040A02060702" pitchFamily="82" charset="0"/>
              </a:rPr>
              <a:t>MERCY MAINA</a:t>
            </a:r>
            <a:endParaRPr lang="en-KE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3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A2741-58D0-A8D8-66D8-2BEE09AC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445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Definitions</a:t>
            </a:r>
            <a:endParaRPr lang="en-KE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26EBF-78E9-AEB1-E316-46DF13522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870"/>
            <a:ext cx="10515600" cy="5520690"/>
          </a:xfrm>
        </p:spPr>
        <p:txBody>
          <a:bodyPr>
            <a:normAutofit/>
          </a:bodyPr>
          <a:lstStyle/>
          <a:p>
            <a:pPr lvl="0"/>
            <a:r>
              <a:rPr lang="en-KE" dirty="0"/>
              <a:t>Distributed System</a:t>
            </a:r>
            <a:r>
              <a:rPr lang="en-US" dirty="0"/>
              <a:t> (DS)</a:t>
            </a:r>
            <a:endParaRPr lang="en-KE" dirty="0"/>
          </a:p>
          <a:p>
            <a:pPr lvl="1"/>
            <a:r>
              <a:rPr lang="en-KE" i="1" dirty="0"/>
              <a:t>A distributed system is a collection of independent computers that appears to its users as a single coherent system. </a:t>
            </a:r>
            <a:endParaRPr lang="en-KE" dirty="0"/>
          </a:p>
          <a:p>
            <a:pPr lvl="1"/>
            <a:r>
              <a:rPr lang="en-KE" i="1" dirty="0"/>
              <a:t>A collection of independent computers, or nodes, that work together and communicate over a network to achieve a common goal. From an external perspective, they appear to the end-user as a single, unified system. </a:t>
            </a:r>
            <a:endParaRPr lang="en-KE" dirty="0"/>
          </a:p>
          <a:p>
            <a:pPr lvl="0"/>
            <a:r>
              <a:rPr lang="en-KE" dirty="0"/>
              <a:t>Distributed Processing</a:t>
            </a:r>
          </a:p>
          <a:p>
            <a:pPr lvl="1"/>
            <a:r>
              <a:rPr lang="en-KE" i="1" dirty="0"/>
              <a:t>Distributed processing is a computing technique that divides tasks and disperses data across two or more interconnected, physically separate, or networked computers, allowing them to work together as a single system</a:t>
            </a:r>
            <a:endParaRPr lang="en-US" dirty="0"/>
          </a:p>
          <a:p>
            <a:pPr lvl="0"/>
            <a:r>
              <a:rPr lang="en-KE" dirty="0"/>
              <a:t>Distributed Operating System</a:t>
            </a:r>
          </a:p>
          <a:p>
            <a:pPr lvl="1"/>
            <a:r>
              <a:rPr lang="en-US" i="1" dirty="0"/>
              <a:t>A distributed operating system (DOS) manages a collection of independent, networked, and physically separate computers, presenting them to users as a single, cohesive system.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885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5CB76-77F8-3E20-0020-9950B09C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1"/>
            <a:ext cx="10515600" cy="754379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+mn-lt"/>
              </a:rPr>
              <a:t>DS Goals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CE0B-E4DD-E083-3B5A-766EA4260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830"/>
            <a:ext cx="10515600" cy="57607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Scalability: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Reliability/Fault Tolerance: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Performance: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Transparency: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Openness: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Resource Sharing: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Concurrency: </a:t>
            </a:r>
          </a:p>
        </p:txBody>
      </p:sp>
    </p:spTree>
    <p:extLst>
      <p:ext uri="{BB962C8B-B14F-4D97-AF65-F5344CB8AC3E}">
        <p14:creationId xmlns:p14="http://schemas.microsoft.com/office/powerpoint/2010/main" val="668644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CC3A-170D-78B1-49ED-88ED44FF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+mn-lt"/>
              </a:rPr>
              <a:t>DS Key Characteristics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A4AE7-1C58-97DD-FE1C-86716AB0C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6176962"/>
          </a:xfrm>
        </p:spPr>
        <p:txBody>
          <a:bodyPr>
            <a:normAutofit fontScale="8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sz="3300" dirty="0"/>
              <a:t>Resource Sharing: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300" dirty="0"/>
              <a:t>Geographically distributed environment: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sz="3300" dirty="0"/>
              <a:t>Independence / collection of autonomous computing elements: </a:t>
            </a:r>
            <a:endParaRPr lang="en-US" sz="3300" dirty="0"/>
          </a:p>
          <a:p>
            <a:pPr marL="514350" lvl="0" indent="-514350">
              <a:buFont typeface="+mj-lt"/>
              <a:buAutoNum type="arabicPeriod"/>
            </a:pPr>
            <a:r>
              <a:rPr lang="en-KE" sz="3300" dirty="0"/>
              <a:t>Single coherent system: </a:t>
            </a:r>
            <a:endParaRPr lang="en-US" sz="3300" dirty="0"/>
          </a:p>
          <a:p>
            <a:pPr marL="514350" lvl="0" indent="-514350">
              <a:buFont typeface="+mj-lt"/>
              <a:buAutoNum type="arabicPeriod"/>
            </a:pPr>
            <a:r>
              <a:rPr lang="en-US" sz="3300" dirty="0"/>
              <a:t>Heterogeneity: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300" dirty="0"/>
              <a:t>Openness: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300" dirty="0"/>
              <a:t>Concurrency: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sz="3300" dirty="0"/>
              <a:t>No global clock: </a:t>
            </a:r>
            <a:endParaRPr lang="en-US" sz="3300" dirty="0"/>
          </a:p>
          <a:p>
            <a:pPr marL="514350" lvl="0" indent="-514350">
              <a:buFont typeface="+mj-lt"/>
              <a:buAutoNum type="arabicPeriod"/>
            </a:pPr>
            <a:r>
              <a:rPr lang="en-KE" sz="3300" dirty="0"/>
              <a:t>Message passing: </a:t>
            </a:r>
            <a:endParaRPr lang="en-US" sz="3300" dirty="0"/>
          </a:p>
          <a:p>
            <a:pPr marL="514350" lvl="0" indent="-514350">
              <a:buFont typeface="+mj-lt"/>
              <a:buAutoNum type="arabicPeriod"/>
            </a:pPr>
            <a:r>
              <a:rPr lang="en-US" sz="3300" dirty="0"/>
              <a:t>Scalability: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300" dirty="0"/>
              <a:t>Fault Tolerance: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300" dirty="0"/>
              <a:t>Transparency: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300" i="1" dirty="0"/>
              <a:t>Speed up</a:t>
            </a:r>
            <a:r>
              <a:rPr lang="en-US" sz="3300" dirty="0"/>
              <a:t>: </a:t>
            </a:r>
            <a:endParaRPr lang="en-KE" sz="3300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84334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04EC-28F4-A154-93C3-6F5DB3A15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871"/>
            <a:ext cx="10515600" cy="90296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DS Evolution – Enabling Technologies</a:t>
            </a:r>
            <a:endParaRPr lang="en-KE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79AE0-975D-BC23-8984-05983E71D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840"/>
            <a:ext cx="10515600" cy="5171123"/>
          </a:xfrm>
        </p:spPr>
        <p:txBody>
          <a:bodyPr/>
          <a:lstStyle/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Early Distributed System – 1960 – 1970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Peer-to-Peer Computing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Grid Computing – connected processors – Super computer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Cloud Computing - the on-demand delivery of IT resources - IaaS, SaaS, PaaS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Internet of Things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Edge Computing - a distributed IT architecture that processes data near its source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92676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C75D3-CF61-614D-31F0-64E74E8FA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8669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DS Components</a:t>
            </a:r>
            <a:endParaRPr lang="en-KE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5AC0-652A-937A-6C6D-6664E20A3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70"/>
            <a:ext cx="10515600" cy="540639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Hardware Components/Platform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Nodes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Processors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Data stores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Software Components/ Platform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Middleware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Processes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Services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Communication Protocols</a:t>
            </a:r>
          </a:p>
          <a:p>
            <a:endParaRPr lang="en-KE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122025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E3ED7-01EA-E7B6-52F4-B5D3FC60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E949-E2B5-8E9A-4351-D42D734C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8669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DS Components…… /2</a:t>
            </a:r>
            <a:endParaRPr lang="en-KE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F739-3AF5-0822-760C-E4125E8DE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70"/>
            <a:ext cx="10515600" cy="561213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Tools &amp; Technology</a:t>
            </a:r>
            <a:endParaRPr lang="en-KE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Consistency Mechanisms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Load Balancers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Coordination Services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Monitoring and logging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Security Components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Scalability Components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Fault Tolerance and Recovery Mechanisms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Scheduling and Orchestration Systems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Distribute Ledger Technology</a:t>
            </a:r>
          </a:p>
          <a:p>
            <a:endParaRPr lang="en-KE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75191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D89B-82A4-7CF2-0A40-E12875C6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1"/>
            <a:ext cx="10515600" cy="765809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+mn-lt"/>
              </a:rPr>
              <a:t>DS Challenges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17EB2-7168-BD8A-DADA-89A12A53D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560"/>
            <a:ext cx="10515600" cy="55778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Key Challenges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Security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Scalability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Fault Tolerance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Complexity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Interoperability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Heterogeneity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Data Consistency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Network Problems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Technical Issues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Network dependency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Coordination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Troubleshooting and Diagnosing problems</a:t>
            </a:r>
            <a:endParaRPr lang="en-KE" sz="2800" dirty="0"/>
          </a:p>
        </p:txBody>
      </p:sp>
    </p:spTree>
    <p:extLst>
      <p:ext uri="{BB962C8B-B14F-4D97-AF65-F5344CB8AC3E}">
        <p14:creationId xmlns:p14="http://schemas.microsoft.com/office/powerpoint/2010/main" val="79451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7C1F-63D1-4BCE-0B78-D9B8B2B7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1"/>
            <a:ext cx="10515600" cy="788669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+mn-lt"/>
              </a:rPr>
              <a:t>DS Benefit / Advantages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DD26-136C-68EF-D67B-49CA9C781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110"/>
            <a:ext cx="10515600" cy="5296853"/>
          </a:xfrm>
        </p:spPr>
        <p:txBody>
          <a:bodyPr/>
          <a:lstStyle/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Improved Performance – shared workload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Scalability &amp; Flexibility- Extend with ease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High Availability – Reliability &amp; Fault Tolerance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Cost Effectiveness –Small many components V/s Large Components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 Sharing – files, databases – collaborative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Geographic distribution – Work closer to users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Improved Security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035188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251-06B5-EFC6-D113-A381C0FF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731"/>
            <a:ext cx="10515600" cy="777239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+mn-lt"/>
              </a:rPr>
              <a:t>DS Trends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C5A44-0C18-1844-1EBC-B5040E6A7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70"/>
            <a:ext cx="10515600" cy="5829299"/>
          </a:xfrm>
        </p:spPr>
        <p:txBody>
          <a:bodyPr/>
          <a:lstStyle/>
          <a:p>
            <a:r>
              <a:rPr lang="en-US" b="1" dirty="0"/>
              <a:t>Influential Trends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Emergence of pervasive Networking Technology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Emergence of Ubiquitous computing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Demand for multimedia services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Views as a Utility – Cloud computing</a:t>
            </a:r>
          </a:p>
          <a:p>
            <a:pPr marL="457200" lvl="1" indent="0">
              <a:buNone/>
            </a:pPr>
            <a:endParaRPr lang="en-US" sz="2800" dirty="0"/>
          </a:p>
          <a:p>
            <a:r>
              <a:rPr lang="en-US" b="1" dirty="0"/>
              <a:t>Future Trends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Serverless Computing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Containerization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Blockchain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Edge computing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Quantum Computing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194317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21D4-2BC1-E1D1-220B-28701252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67437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+mn-lt"/>
              </a:rPr>
              <a:t>DS Fallacies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607DA-416C-5D1C-2B22-53002BF07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1550"/>
            <a:ext cx="10515600" cy="5623560"/>
          </a:xfrm>
        </p:spPr>
        <p:txBody>
          <a:bodyPr/>
          <a:lstStyle/>
          <a:p>
            <a:r>
              <a:rPr lang="en-US" dirty="0"/>
              <a:t>Fallacy – Flaws Invalidating argument</a:t>
            </a:r>
          </a:p>
          <a:p>
            <a:pPr lvl="0"/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The network is reliable.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Latency is zero.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Bandwidth is infinite.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The network is secure.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Topology doesn't change.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There is one administrator.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Transport cost is zero.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The network is homogeneous.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337424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DC5F-B3B3-FDF7-D12D-19F218980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11"/>
            <a:ext cx="10515600" cy="834389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+mn-lt"/>
              </a:rPr>
              <a:t>DS -  Design Issues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9271E-18AD-2F4D-5946-0042BA755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2990"/>
            <a:ext cx="10515600" cy="5714999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Communication Issues </a:t>
            </a:r>
            <a:r>
              <a:rPr lang="en-US" dirty="0"/>
              <a:t>– </a:t>
            </a:r>
            <a:r>
              <a:rPr lang="en-US" i="1" dirty="0"/>
              <a:t>message passing, communication protocol </a:t>
            </a:r>
            <a:r>
              <a:rPr lang="en-US" i="1" dirty="0" err="1"/>
              <a:t>etc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Processing Management </a:t>
            </a:r>
            <a:r>
              <a:rPr lang="en-US" dirty="0"/>
              <a:t>– </a:t>
            </a:r>
            <a:r>
              <a:rPr lang="en-US" i="1" dirty="0"/>
              <a:t>Coordination, Migration, Thread Mgt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 Management </a:t>
            </a:r>
            <a:r>
              <a:rPr lang="en-US" dirty="0"/>
              <a:t>– </a:t>
            </a:r>
            <a:r>
              <a:rPr lang="en-US" i="1" dirty="0"/>
              <a:t>Storage, Access Consistency, Integrity &amp; replication </a:t>
            </a:r>
            <a:r>
              <a:rPr lang="en-US" i="1" dirty="0" err="1"/>
              <a:t>etc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Fault Tolerance and Reliability </a:t>
            </a:r>
            <a:r>
              <a:rPr lang="en-US" dirty="0"/>
              <a:t>– </a:t>
            </a:r>
            <a:r>
              <a:rPr lang="en-US" i="1" dirty="0"/>
              <a:t>Failure detection, Redundancy &amp; Recovery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Security</a:t>
            </a:r>
            <a:r>
              <a:rPr lang="en-US" dirty="0"/>
              <a:t> – </a:t>
            </a:r>
            <a:r>
              <a:rPr lang="en-US" i="1" dirty="0"/>
              <a:t>Authentication &amp; Authorization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Scalability &amp; Modularity </a:t>
            </a:r>
            <a:r>
              <a:rPr lang="en-US" dirty="0"/>
              <a:t>– Architecture  &amp; Elasticity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Synchronization and Coordination- </a:t>
            </a:r>
            <a:r>
              <a:rPr lang="en-US" i="1" dirty="0"/>
              <a:t>Clock, Data &amp; Process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Transparency</a:t>
            </a:r>
            <a:r>
              <a:rPr lang="en-US" dirty="0"/>
              <a:t> – </a:t>
            </a:r>
            <a:r>
              <a:rPr lang="en-US" i="1" dirty="0"/>
              <a:t>Access, Location, Replication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Performance</a:t>
            </a:r>
            <a:r>
              <a:rPr lang="en-US" dirty="0"/>
              <a:t> – </a:t>
            </a:r>
            <a:r>
              <a:rPr lang="en-US" i="1" dirty="0"/>
              <a:t>Load Balancing, Latency, throughput, Caching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Algorithmic Challenges- </a:t>
            </a:r>
            <a:r>
              <a:rPr lang="en-US" i="1" dirty="0"/>
              <a:t>Distributed Algorithm, Synchronization</a:t>
            </a:r>
            <a:r>
              <a:rPr lang="en-US" dirty="0"/>
              <a:t>..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Debugging and Monitoring </a:t>
            </a:r>
            <a:r>
              <a:rPr lang="en-US" dirty="0"/>
              <a:t>– </a:t>
            </a:r>
            <a:r>
              <a:rPr lang="en-US" i="1" dirty="0"/>
              <a:t>Debugging, Monitoring &amp; Tracing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Real-time Systems </a:t>
            </a:r>
            <a:r>
              <a:rPr lang="en-US" dirty="0"/>
              <a:t>– </a:t>
            </a:r>
            <a:r>
              <a:rPr lang="en-US" i="1" dirty="0"/>
              <a:t>Scheduling and Quality of Service (QoS)</a:t>
            </a:r>
            <a:endParaRPr lang="en-KE" i="1" dirty="0"/>
          </a:p>
        </p:txBody>
      </p:sp>
    </p:spTree>
    <p:extLst>
      <p:ext uri="{BB962C8B-B14F-4D97-AF65-F5344CB8AC3E}">
        <p14:creationId xmlns:p14="http://schemas.microsoft.com/office/powerpoint/2010/main" val="1841864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3ADB-DA78-AE86-E940-FEEDE709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+mn-lt"/>
              </a:rPr>
              <a:t>Use Cases &amp; Examples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D3C68-28AA-200C-0E98-3B924418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6"/>
            <a:ext cx="10515600" cy="599408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KE" dirty="0"/>
              <a:t>Finance and Commerce: Amazon, eBay, Online Banking, E-Commerce websites.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Information Society: Search Engines, Wikipedia, Social Networking, Cloud Computing.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Cloud Technologies: AWS, Amazon Web services, Salesforce, Microsoft Azure, SAP, Open stack.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Entertainment: Online Gaming, Music, </a:t>
            </a:r>
            <a:r>
              <a:rPr lang="en-KE" dirty="0" err="1"/>
              <a:t>youtube</a:t>
            </a:r>
            <a:r>
              <a:rPr lang="en-KE" dirty="0"/>
              <a:t>.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Healthcare: Online patient records, Health Informatics.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Transport and logistics: GPS, Google Maps.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Intranets, Internet, WWW, email, Google search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Social networks (Twitter), 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Content delivery networks (Netflix), 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e-commerce platforms (Amazon), 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Banking systems, 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IoT networks, 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DNS (Domain Name Server)  - Distributed databases (Apache Cassandra)</a:t>
            </a:r>
          </a:p>
          <a:p>
            <a:pPr marL="514350" indent="-514350">
              <a:buFont typeface="+mj-lt"/>
              <a:buAutoNum type="arabicParenR"/>
            </a:pPr>
            <a:r>
              <a:rPr lang="en-KE" dirty="0"/>
              <a:t>Mobile and Pervasive Computing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17878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A41D-57F3-1900-39A1-F356623B6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96A15-EED5-BC06-CF6B-D63A03DC4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560"/>
            <a:ext cx="10515600" cy="5125403"/>
          </a:xfrm>
        </p:spPr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4400" b="1" dirty="0"/>
              <a:t>Question and Answers</a:t>
            </a:r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r>
              <a:rPr lang="en-US" sz="4400" b="1" dirty="0"/>
              <a:t>End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39111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710</Words>
  <Application>Microsoft Office PowerPoint</Application>
  <PresentationFormat>Widescreen</PresentationFormat>
  <Paragraphs>148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Algerian</vt:lpstr>
      <vt:lpstr>Arial</vt:lpstr>
      <vt:lpstr>Calibri</vt:lpstr>
      <vt:lpstr>Calibri Light</vt:lpstr>
      <vt:lpstr>Wingdings</vt:lpstr>
      <vt:lpstr>Office Theme</vt:lpstr>
      <vt:lpstr>Chapter 1 – Introduction to Distributed Systems</vt:lpstr>
      <vt:lpstr>Definitions</vt:lpstr>
      <vt:lpstr>DS Goals</vt:lpstr>
      <vt:lpstr>DS Key Characteristics</vt:lpstr>
      <vt:lpstr>DS Evolution – Enabling Technologies</vt:lpstr>
      <vt:lpstr>DS Components</vt:lpstr>
      <vt:lpstr>DS Components…… /2</vt:lpstr>
      <vt:lpstr>DS Challenges</vt:lpstr>
      <vt:lpstr>DS Benefit / Advantages</vt:lpstr>
      <vt:lpstr>DS Trends</vt:lpstr>
      <vt:lpstr>DS Fallacies</vt:lpstr>
      <vt:lpstr>DS -  Design Issues</vt:lpstr>
      <vt:lpstr>Use Cases &amp; 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MERCY</dc:creator>
  <cp:lastModifiedBy>MERCY</cp:lastModifiedBy>
  <cp:revision>3</cp:revision>
  <cp:lastPrinted>2026-02-25T19:34:42Z</cp:lastPrinted>
  <dcterms:created xsi:type="dcterms:W3CDTF">2026-02-25T17:46:54Z</dcterms:created>
  <dcterms:modified xsi:type="dcterms:W3CDTF">2026-02-25T19:35:55Z</dcterms:modified>
</cp:coreProperties>
</file>