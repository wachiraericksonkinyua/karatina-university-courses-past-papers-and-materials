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6" r:id="rId14"/>
    <p:sldId id="277" r:id="rId15"/>
    <p:sldId id="278" r:id="rId16"/>
    <p:sldId id="267" r:id="rId17"/>
    <p:sldId id="281" r:id="rId18"/>
    <p:sldId id="279" r:id="rId19"/>
    <p:sldId id="280" r:id="rId20"/>
    <p:sldId id="269" r:id="rId21"/>
    <p:sldId id="270" r:id="rId22"/>
    <p:sldId id="282" r:id="rId23"/>
    <p:sldId id="271" r:id="rId24"/>
    <p:sldId id="272" r:id="rId25"/>
    <p:sldId id="273" r:id="rId26"/>
    <p:sldId id="274" r:id="rId27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DB40E-E028-41A6-95BE-2C122D88491A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5E47E-281E-4BC4-982C-745F2404797F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7599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5E47E-281E-4BC4-982C-745F2404797F}" type="slidenum">
              <a:rPr lang="en-KE" smtClean="0"/>
              <a:t>25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00122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491A-BD40-5F1B-6AE4-B6DABB23B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52D46-B9C2-B072-B99B-21B39BAD0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99BC2-2177-4912-D925-C3B8EFF3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0CD35-3AE0-836F-FABA-10C425AF3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8F492-12B1-EB0D-066D-6FDCD37C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7945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8511-80B9-DE55-4903-5AD037276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3A49C-E54C-B59F-2377-32E48F120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D526A-F413-8439-6B6B-D069D666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575A-7B8B-02FC-A03C-AB43EDE73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06750-163C-FDC3-7F0D-BC687C16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4973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2F0A-2569-21FD-D424-13440E85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D9B98-9C2F-8380-812C-9C71EE1C4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4460B-3302-AA4E-442C-305DF5A8E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C8ECD-B274-A894-235D-C833A4EF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74223-06F0-DAA8-02FB-46389BBF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0140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1999E-3C4E-8730-F05A-D4FE9DBC7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14943-D493-56DE-2955-4EDFBE8B8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84161-47DD-4FBE-1494-86DBFA961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15D29-CD4B-2F44-9706-1BC2E768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38D2F-A5B0-76CD-52F0-8D649CD6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510B3-4AC4-6B93-B653-D7B5506E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88757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70386-ED8D-6BE3-49C1-B65EF33C0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531D9-00DA-EB4F-693E-18ACBE02B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482E3-8986-028B-495B-28891C74F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10F36-1E0B-C8F2-14D3-2FC480381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B08147-F314-5305-E3EC-336EE29897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727E08-8684-5971-C4AE-CEB1B9CF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358A6A-150E-6FCB-9C97-5B69E1DC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BD7AB-9AA5-E9A1-FFD8-7DF293B62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2168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3480-D1D6-2DA4-5935-FFA0FED3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61D56-96E5-2830-A0AA-04A61299A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F4744-AAA4-7ED0-1CEB-99253644E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F7C26-CB37-0437-5CD2-2E5D84F6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98792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379237-D579-6E17-52E5-F3EFEEE15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96866-E967-8D7E-3DC8-0F578A7D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4B644-58F9-2A21-E1E6-046ACE85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9293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ABF6-DD7D-6F43-5CBC-C9F1DBF2F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66360-5644-82D4-13F4-046AF079A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2C7EE-D5A1-C830-11A0-418B265ED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DD5A6-DCC6-33A8-E708-AB8509EB2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C5291-6F8F-C131-9C22-43C6FCABD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878F5-6544-DFD7-AF91-B78AF734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70919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2507-5989-2B24-99DA-28DDEECB4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B8DF9D-8B81-14F1-3B0D-E05AD9E86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5BFD3-C2A5-7830-2596-846764922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E803B-9D85-E056-A002-750000B44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1FDBA-712B-0B60-74CD-F77151EE6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F338E-6598-6FB0-DF1B-CCBF03E4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9585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83A7-1B43-675C-5B73-3AB84CDF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43063-66A3-0D16-4043-852C4F0EF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882F4-9005-7AEA-E977-65E54C5E4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3658B-FB6A-D35C-FD72-110E7B5A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61CC-1C22-C268-9BF6-BF95875A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90050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B7D74D-5177-52A2-F0E3-A29FC7FE5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85C29-B5BC-51CE-2986-78877E549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20FDB-A30B-AC1C-BEA8-84C7E001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02DB4-0B73-33CE-8664-A1938732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9EC04-9D9F-A672-8543-114E06B0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8100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3B9B7-2CA3-99EE-393C-52B7DA2E5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CE9C7-D22A-D9A1-657E-416ECF642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1056E-E2E3-B7A3-3D81-321D2874E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76045-EF5B-401D-97C9-FA82C167AEB5}" type="datetimeFigureOut">
              <a:rPr lang="en-KE" smtClean="0"/>
              <a:t>04/03/2026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79519-2492-5BEC-9AC4-16FA98186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033B3-5713-D39B-6BEC-D96110CB6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E6CB3-0FC4-4BBA-8BC1-222AAF3DFD61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6830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C21B-748E-B81B-99F5-7EBBDBC51C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Communication in Distributed </a:t>
            </a:r>
            <a:br>
              <a:rPr lang="en-US" sz="4800" b="1" dirty="0">
                <a:latin typeface="+mn-lt"/>
              </a:rPr>
            </a:br>
            <a:r>
              <a:rPr lang="en-US" sz="4800" b="1" dirty="0">
                <a:latin typeface="+mn-lt"/>
              </a:rPr>
              <a:t>Systems</a:t>
            </a:r>
            <a:endParaRPr lang="en-KE" sz="4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B64DF-D557-F4BC-12C8-DEFD50DCB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800" b="1" dirty="0">
                <a:latin typeface="Algerian" panose="04020705040A02060702" pitchFamily="82" charset="0"/>
              </a:rPr>
              <a:t>Mercy Maina</a:t>
            </a:r>
            <a:endParaRPr lang="en-KE" sz="28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55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9780-1227-6BAD-32AD-E93DF8B7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731"/>
            <a:ext cx="10515600" cy="555306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latin typeface="+mn-lt"/>
              </a:rPr>
              <a:t>Introduction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CC7C5-6C77-ABB9-016E-220297718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1530"/>
            <a:ext cx="10515600" cy="5760720"/>
          </a:xfrm>
        </p:spPr>
        <p:txBody>
          <a:bodyPr>
            <a:normAutofit/>
          </a:bodyPr>
          <a:lstStyle/>
          <a:p>
            <a:r>
              <a:rPr lang="en-KE" dirty="0"/>
              <a:t>Communication defines the way processes on the same or different machines can exchange information</a:t>
            </a:r>
            <a:endParaRPr lang="en-US" dirty="0"/>
          </a:p>
          <a:p>
            <a:r>
              <a:rPr lang="en-KE" dirty="0"/>
              <a:t>Communication in distributed systems is always based on low-level message passing as offered by the underlying network or through shared memory</a:t>
            </a:r>
            <a:endParaRPr lang="en-US" dirty="0"/>
          </a:p>
          <a:p>
            <a:r>
              <a:rPr lang="en-US" dirty="0"/>
              <a:t>It Involves Invoking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Remote procedures;-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Shared memory;-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Socket. </a:t>
            </a:r>
            <a:r>
              <a:rPr lang="en-KE" sz="2800" i="1" dirty="0"/>
              <a:t>one endpoint of a two-way communication link between two programs running on the network</a:t>
            </a:r>
            <a:endParaRPr lang="en-US" sz="2800" i="1" dirty="0"/>
          </a:p>
          <a:p>
            <a:pPr marL="914400" lvl="1" indent="-457200">
              <a:buFont typeface="+mj-lt"/>
              <a:buAutoNum type="arabicParenR"/>
            </a:pPr>
            <a:endParaRPr lang="en-US" sz="2800" dirty="0"/>
          </a:p>
          <a:p>
            <a:r>
              <a:rPr lang="en-KE" dirty="0"/>
              <a:t>These methods allow nodes to exchange data and coordinate actions, enabling effective collaboration towards common goals</a:t>
            </a:r>
            <a:endParaRPr lang="en-KE" sz="3200" dirty="0"/>
          </a:p>
        </p:txBody>
      </p:sp>
    </p:spTree>
    <p:extLst>
      <p:ext uri="{BB962C8B-B14F-4D97-AF65-F5344CB8AC3E}">
        <p14:creationId xmlns:p14="http://schemas.microsoft.com/office/powerpoint/2010/main" val="129339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9BBB-297C-046F-DA2B-2CE66008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6872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DS Communication  Versus Inter-process Communication (IPC)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D46E1-7709-84EF-3C4E-4F4580B1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741"/>
            <a:ext cx="10515600" cy="5132070"/>
          </a:xfrm>
        </p:spPr>
        <p:txBody>
          <a:bodyPr/>
          <a:lstStyle/>
          <a:p>
            <a:pPr algn="just"/>
            <a:r>
              <a:rPr lang="en-KE" dirty="0"/>
              <a:t>Distributed systems communication involves the interaction of independent, networked processes that do not share memory, primarily relying on message-passing to exchange data</a:t>
            </a:r>
          </a:p>
          <a:p>
            <a:pPr algn="just"/>
            <a:r>
              <a:rPr lang="en-KE" dirty="0"/>
              <a:t>Inter-Process Communication (IPC) represents a set of mechanisms provided by an operating system that allows multiple independent processes to share data and communicate with each other</a:t>
            </a:r>
            <a:endParaRPr lang="en-US" dirty="0"/>
          </a:p>
          <a:p>
            <a:pPr algn="just"/>
            <a:r>
              <a:rPr lang="en-KE" b="1" i="1" dirty="0"/>
              <a:t>Process</a:t>
            </a:r>
            <a:r>
              <a:rPr lang="en-KE" dirty="0"/>
              <a:t> refers to an independent instance of a running computer program. </a:t>
            </a:r>
          </a:p>
          <a:p>
            <a:pPr algn="just"/>
            <a:r>
              <a:rPr lang="en-KE" dirty="0"/>
              <a:t>Inter-process communication (IPC) in distributed systems enables independent processes on separate, networked computers to exchange data and synchronize actions, typically relying on message passing over protocols like sockets</a:t>
            </a:r>
          </a:p>
          <a:p>
            <a:pPr algn="just"/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663340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59661-F5F2-74B0-A923-2C67C32E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CF02-37FB-EBE0-106C-D85ECFCFA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4409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latin typeface="+mn-lt"/>
              </a:rPr>
              <a:t>DS Communication Versus Inter-process Communication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DD180-B48D-C6A7-8A7E-C39D7FA81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4410"/>
            <a:ext cx="10515600" cy="5863589"/>
          </a:xfrm>
        </p:spPr>
        <p:txBody>
          <a:bodyPr/>
          <a:lstStyle/>
          <a:p>
            <a:pPr algn="just"/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8DA26-D85A-607C-9CB9-DDE74BE3B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62" y="1162737"/>
            <a:ext cx="10391438" cy="555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18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809F-12BD-E6AC-5C85-8348E7FC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Characteristics of IPC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B4F5B-7D34-EBF5-7E05-8A8068652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70"/>
            <a:ext cx="10515600" cy="5273993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Synchronous System Calls: 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Asynchronous System Calls: 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Message Destination:  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Reliability:.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KE" sz="2800" dirty="0"/>
              <a:t>Integrity: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KE" sz="2800" dirty="0"/>
              <a:t>Validity:.  </a:t>
            </a:r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Ordering: </a:t>
            </a:r>
          </a:p>
        </p:txBody>
      </p:sp>
    </p:spTree>
    <p:extLst>
      <p:ext uri="{BB962C8B-B14F-4D97-AF65-F5344CB8AC3E}">
        <p14:creationId xmlns:p14="http://schemas.microsoft.com/office/powerpoint/2010/main" val="1706479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9DBC-4509-5671-F1EA-CCA9BB1B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Methods in Inter-process Communication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72D0E-8B32-F190-0086-9771916C8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KE" dirty="0"/>
              <a:t>Pipes (Same Process):</a:t>
            </a:r>
            <a:r>
              <a:rPr lang="en-US" dirty="0"/>
              <a:t> virtual communication channel that allows data to be transferred between processes, either one-way or two-way. </a:t>
            </a:r>
            <a:endParaRPr lang="en-KE" dirty="0"/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Names Pipes (Different Processes): 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Message Queuing: </a:t>
            </a:r>
            <a:r>
              <a:rPr lang="en-US" dirty="0"/>
              <a:t>single or Multiple queues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Semaphores: </a:t>
            </a:r>
            <a:r>
              <a:rPr lang="en-US" dirty="0"/>
              <a:t>Synchronization tool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Shared memory: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Sockets: </a:t>
            </a:r>
            <a:endParaRPr lang="en" dirty="0"/>
          </a:p>
          <a:p>
            <a:pPr marL="514350" indent="-514350">
              <a:buFont typeface="+mj-lt"/>
              <a:buAutoNum type="arabicPeriod"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848245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10E1-33DA-6BE5-A3D0-C5AFB4F32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731"/>
            <a:ext cx="10515600" cy="105155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Categories Communication in Distributed Systems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EFCDB-2EF5-DE11-11C6-7EDB9D6EA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830"/>
            <a:ext cx="10515600" cy="5497830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0"/>
            <a:r>
              <a:rPr lang="en-KE" dirty="0"/>
              <a:t>Unstructured communication (use of shared memory or shared data structures)- 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KE" sz="2800" dirty="0"/>
              <a:t>It involves using memory buffers to pass information between the processes</a:t>
            </a:r>
            <a:r>
              <a:rPr lang="en-KE" dirty="0"/>
              <a:t>. 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KE" sz="2800" dirty="0"/>
              <a:t>A process reads and writes into a shared memory region in a machine to let other processes know of its local state so that the process can use that information. No explicit messages are used. </a:t>
            </a:r>
            <a:endParaRPr lang="en-US" sz="2800" dirty="0"/>
          </a:p>
          <a:p>
            <a:pPr lvl="0"/>
            <a:endParaRPr lang="en-KE" dirty="0"/>
          </a:p>
          <a:p>
            <a:r>
              <a:rPr lang="en-KE" dirty="0"/>
              <a:t>Structured communication - also called as ’message passing’, this uses explicit messages (or inter-process communication mechanisms) over network.</a:t>
            </a:r>
          </a:p>
        </p:txBody>
      </p:sp>
    </p:spTree>
    <p:extLst>
      <p:ext uri="{BB962C8B-B14F-4D97-AF65-F5344CB8AC3E}">
        <p14:creationId xmlns:p14="http://schemas.microsoft.com/office/powerpoint/2010/main" val="3060794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A3CC-183C-D2F8-E496-90A60DC3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724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Communication Models and Types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635ED-9DA3-8131-8E5C-2E327F2E6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1550"/>
            <a:ext cx="10515600" cy="5646420"/>
          </a:xfrm>
        </p:spPr>
        <p:txBody>
          <a:bodyPr>
            <a:normAutofit/>
          </a:bodyPr>
          <a:lstStyle/>
          <a:p>
            <a:r>
              <a:rPr lang="en-KE" dirty="0"/>
              <a:t>Communication models in distributed systems refer to the patterns or paradigms used for enabling communication between different components or nodes within a distributed computing environment.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Data Exchange, Coordination &amp; Synchronization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Models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Message Passing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Remote Procedure Call (RPC)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Publish-Subscribe Model / Broadcast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Socket Programming Model / </a:t>
            </a:r>
            <a:r>
              <a:rPr lang="en-KE" sz="2800" dirty="0" err="1"/>
              <a:t>WebSockets</a:t>
            </a:r>
            <a:r>
              <a:rPr lang="en-KE" sz="2800" dirty="0"/>
              <a:t>/HTTP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Shared Memory Model</a:t>
            </a:r>
          </a:p>
        </p:txBody>
      </p:sp>
    </p:spTree>
    <p:extLst>
      <p:ext uri="{BB962C8B-B14F-4D97-AF65-F5344CB8AC3E}">
        <p14:creationId xmlns:p14="http://schemas.microsoft.com/office/powerpoint/2010/main" val="227398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A46EF-50DE-9084-8B3A-57043AA60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009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Message Passing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AE77F-B567-1856-5E4E-3C11EB1DE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70"/>
            <a:ext cx="10515600" cy="585216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O</a:t>
            </a:r>
            <a:r>
              <a:rPr lang="en-KE" dirty="0"/>
              <a:t>ne node sends a message to another node over a communication channel. </a:t>
            </a:r>
            <a:endParaRPr lang="en-US" dirty="0"/>
          </a:p>
          <a:p>
            <a:pPr algn="just"/>
            <a:r>
              <a:rPr lang="en-KE" dirty="0"/>
              <a:t> It is the primary mechanism for process communication in distributed systems, </a:t>
            </a:r>
            <a:endParaRPr lang="en-US" dirty="0"/>
          </a:p>
          <a:p>
            <a:pPr algn="just"/>
            <a:r>
              <a:rPr lang="en-US" dirty="0"/>
              <a:t>Options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b="1" dirty="0"/>
              <a:t>Synchronous (blocking): </a:t>
            </a:r>
            <a:r>
              <a:rPr lang="en-KE" dirty="0"/>
              <a:t>Synchronous message passing involves a tightly coordinated interaction between the sender and receiver. </a:t>
            </a:r>
            <a:endParaRPr lang="en-US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b="1" dirty="0"/>
              <a:t>Asynchronous (non-blocking): </a:t>
            </a:r>
            <a:r>
              <a:rPr lang="en-KE" dirty="0"/>
              <a:t>Asynchronous message passing allows processes to operate independently of each other in terms of timing</a:t>
            </a:r>
            <a:endParaRPr lang="en-US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b="1" dirty="0"/>
              <a:t>Unicast Messaging: </a:t>
            </a:r>
            <a:r>
              <a:rPr lang="en-KE" dirty="0"/>
              <a:t>Unicast messaging is a one-to-one communication where a message is sent from a single sender to a specific receiver</a:t>
            </a:r>
            <a:endParaRPr lang="en-US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b="1" dirty="0"/>
              <a:t>Multicast Messaging: </a:t>
            </a:r>
            <a:r>
              <a:rPr lang="en-KE" dirty="0"/>
              <a:t>Multicast messaging enables one-to-many communication, where a message is sent from one sender to a specific group of receivers</a:t>
            </a:r>
            <a:endParaRPr lang="en-US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b="1" dirty="0"/>
              <a:t>Broadcast Messaging: </a:t>
            </a:r>
            <a:r>
              <a:rPr lang="en-KE" dirty="0"/>
              <a:t>Broadcast messaging involves sending a message from one sender to all nodes within the network</a:t>
            </a:r>
          </a:p>
        </p:txBody>
      </p:sp>
    </p:spTree>
    <p:extLst>
      <p:ext uri="{BB962C8B-B14F-4D97-AF65-F5344CB8AC3E}">
        <p14:creationId xmlns:p14="http://schemas.microsoft.com/office/powerpoint/2010/main" val="373556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ABF9-D487-E7B3-2D07-AF0AEB5D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0019"/>
            <a:ext cx="10515600" cy="1062990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Remote Procedure Call (RPC)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DEA0-C6E2-2B2D-7B45-78D9AB977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70"/>
            <a:ext cx="10515600" cy="5806439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I</a:t>
            </a:r>
            <a:r>
              <a:rPr lang="en-KE" sz="2400" dirty="0" err="1"/>
              <a:t>nter</a:t>
            </a:r>
            <a:r>
              <a:rPr lang="en-KE" sz="2400" dirty="0"/>
              <a:t>-process communication that allows a computer program to cause a procedure to execute in another address space if it were a local call,</a:t>
            </a:r>
            <a:endParaRPr lang="en-US" sz="2400" dirty="0"/>
          </a:p>
          <a:p>
            <a:pPr algn="just"/>
            <a:r>
              <a:rPr lang="en-US" sz="2400" dirty="0"/>
              <a:t>A</a:t>
            </a:r>
            <a:r>
              <a:rPr lang="en-KE" sz="2400" dirty="0" err="1"/>
              <a:t>bstract</a:t>
            </a:r>
            <a:r>
              <a:rPr lang="en-US" sz="2400" dirty="0"/>
              <a:t>s</a:t>
            </a:r>
            <a:r>
              <a:rPr lang="en-KE" sz="2400" dirty="0"/>
              <a:t> network details to simplify communication between networked services and nodes</a:t>
            </a:r>
            <a:endParaRPr lang="en-US" sz="2400" dirty="0"/>
          </a:p>
          <a:p>
            <a:pPr algn="just"/>
            <a:r>
              <a:rPr lang="en-US" sz="2400" dirty="0"/>
              <a:t>Uses Parameters</a:t>
            </a:r>
          </a:p>
          <a:p>
            <a:pPr algn="just"/>
            <a:r>
              <a:rPr lang="en-KE" sz="2400" dirty="0"/>
              <a:t>No message passing is visible to the programmer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A969A-7589-A0FD-C322-AFEA676B16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43" r="4841" b="19137"/>
          <a:stretch>
            <a:fillRect/>
          </a:stretch>
        </p:blipFill>
        <p:spPr bwMode="auto">
          <a:xfrm>
            <a:off x="1625282" y="3429001"/>
            <a:ext cx="7518718" cy="3280408"/>
          </a:xfrm>
          <a:prstGeom prst="rect">
            <a:avLst/>
          </a:prstGeom>
          <a:ln w="635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56654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912D-D2E9-BE12-30FA-106D4778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RPC Operation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1878F-1369-91BD-BC15-6A6B3B6AE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5810"/>
            <a:ext cx="10515600" cy="592074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KE" b="1" dirty="0"/>
              <a:t>Client Call</a:t>
            </a:r>
            <a:r>
              <a:rPr lang="en-KE" dirty="0"/>
              <a:t>: The client calls a local "stub" function, passing arguments.</a:t>
            </a:r>
            <a:r>
              <a:rPr lang="en-US" dirty="0"/>
              <a:t> – Value, Reference, Copy/Restore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Stubs - </a:t>
            </a:r>
            <a:r>
              <a:rPr lang="en-KE" dirty="0"/>
              <a:t>a piece of code used for converting parameters passed during a Remote Procedure Call</a:t>
            </a:r>
            <a:r>
              <a:rPr lang="en-US" dirty="0"/>
              <a:t> - </a:t>
            </a:r>
            <a:r>
              <a:rPr lang="en-US" b="1" dirty="0"/>
              <a:t>Client Stub &amp; Server Stub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b="1" dirty="0"/>
              <a:t>Marshalling:</a:t>
            </a:r>
            <a:r>
              <a:rPr lang="en-KE" dirty="0"/>
              <a:t> The client stub converts (marshals) the arguments into a network-transmittable format (e.g., JSON, binary).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b="1" dirty="0"/>
              <a:t>Network Transfer</a:t>
            </a:r>
            <a:r>
              <a:rPr lang="en-KE" dirty="0"/>
              <a:t>: The message travels over the network (using TCP/UDP) to the server.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b="1" dirty="0"/>
              <a:t>Server Stub</a:t>
            </a:r>
            <a:r>
              <a:rPr lang="en-KE" dirty="0"/>
              <a:t>: The server's stub receives the message, </a:t>
            </a:r>
            <a:r>
              <a:rPr lang="en-KE" dirty="0" err="1"/>
              <a:t>unmarshals</a:t>
            </a:r>
            <a:r>
              <a:rPr lang="en-KE" dirty="0"/>
              <a:t> the data, and calls the actual procedure on the server.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b="1" dirty="0"/>
              <a:t>Execution</a:t>
            </a:r>
            <a:r>
              <a:rPr lang="en-KE" dirty="0"/>
              <a:t>: The server executes the remote function. </a:t>
            </a:r>
          </a:p>
          <a:p>
            <a:pPr marL="514350" indent="-514350">
              <a:buFont typeface="+mj-lt"/>
              <a:buAutoNum type="arabicPeriod"/>
            </a:pPr>
            <a:r>
              <a:rPr lang="en-KE" b="1" dirty="0"/>
              <a:t>Return Value</a:t>
            </a:r>
            <a:r>
              <a:rPr lang="en-KE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017748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A9E1C-2687-A66D-B4AF-0D65419F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1"/>
            <a:ext cx="10515600" cy="67436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Transparency in RPC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4AFE0-A2EC-8CD5-DE5B-05D4B7E59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0120"/>
            <a:ext cx="10515600" cy="5806439"/>
          </a:xfrm>
        </p:spPr>
        <p:txBody>
          <a:bodyPr>
            <a:normAutofit fontScale="92500" lnSpcReduction="10000"/>
          </a:bodyPr>
          <a:lstStyle/>
          <a:p>
            <a:pPr marL="0" lvl="0" indent="0" algn="just">
              <a:buNone/>
            </a:pPr>
            <a:r>
              <a:rPr lang="en-US" dirty="0"/>
              <a:t>H</a:t>
            </a:r>
            <a:r>
              <a:rPr lang="en-KE" dirty="0" err="1"/>
              <a:t>iding</a:t>
            </a:r>
            <a:r>
              <a:rPr lang="en-KE" dirty="0"/>
              <a:t> the complexity of network communication, making a remote procedure call seem identical to a local one</a:t>
            </a:r>
            <a:endParaRPr lang="en-US" b="1" dirty="0"/>
          </a:p>
          <a:p>
            <a:pPr marL="514350" lvl="0" indent="-514350" algn="just">
              <a:buFont typeface="+mj-lt"/>
              <a:buAutoNum type="arabicPeriod"/>
            </a:pPr>
            <a:r>
              <a:rPr lang="en-KE" b="1" dirty="0"/>
              <a:t>Location Transparency</a:t>
            </a:r>
            <a:r>
              <a:rPr lang="en-KE" dirty="0"/>
              <a:t>: The client doesn't need to know the physical address of the server; it uses a logical name (like DNS) that gets resolved.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KE" b="1" dirty="0"/>
              <a:t>Language Transparency</a:t>
            </a:r>
            <a:r>
              <a:rPr lang="en-KE" dirty="0"/>
              <a:t>: Enables programs written in different languages to communicate by handling data representation differences (e.g., byte order).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KE" b="1" dirty="0"/>
              <a:t>Operating System Transparency</a:t>
            </a:r>
            <a:r>
              <a:rPr lang="en-KE" dirty="0"/>
              <a:t>: Allows programs on different operating systems (Windows, Linux) to call each other seamlessly.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KE" b="1" dirty="0"/>
              <a:t>Syntactic Transparency</a:t>
            </a:r>
            <a:r>
              <a:rPr lang="en-KE" dirty="0"/>
              <a:t>: The syntax of calling a remote procedure is identical to a local one (e.g., function(arg1, arg2) vs. </a:t>
            </a:r>
            <a:r>
              <a:rPr lang="en-KE" dirty="0" err="1"/>
              <a:t>remote_function</a:t>
            </a:r>
            <a:r>
              <a:rPr lang="en-KE" dirty="0"/>
              <a:t>(arg1, arg2)).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KE" b="1" dirty="0"/>
              <a:t>Semantic Transparency</a:t>
            </a:r>
            <a:r>
              <a:rPr lang="en-KE" dirty="0"/>
              <a:t>: The meaning and </a:t>
            </a:r>
            <a:r>
              <a:rPr lang="en-KE" dirty="0" err="1"/>
              <a:t>behavior</a:t>
            </a:r>
            <a:r>
              <a:rPr lang="en-KE" dirty="0"/>
              <a:t> of the remote call (suspension, argument passing, result return) are the same as a local call. 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207732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FDC3-ED6F-5B95-D5A5-116B711B6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Publish-Subscribe Model / Broadcast:</a:t>
            </a:r>
            <a:r>
              <a:rPr lang="en-KE" sz="3600" u="sng" dirty="0">
                <a:latin typeface="+mn-lt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1FAF6-883E-849D-1FE0-9164A7371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94359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</a:t>
            </a:r>
            <a:r>
              <a:rPr lang="en-KE" dirty="0"/>
              <a:t>n asynchronous messaging paradigm in distributed systems that decouples publishers of messages from subscribers via a broker, allowing multiple subscribers to receive messages published by one or more publishers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1" dirty="0"/>
              <a:t>Decoupling:</a:t>
            </a:r>
            <a:r>
              <a:rPr lang="en-US" sz="2800" dirty="0"/>
              <a:t> Publishers do not know the identity or number of subscribers, fostering independent component operation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</a:t>
            </a:r>
            <a:r>
              <a:rPr lang="en-KE" dirty="0" err="1"/>
              <a:t>uitable</a:t>
            </a:r>
            <a:r>
              <a:rPr lang="en-KE" dirty="0"/>
              <a:t> for dynamic and scalable distributed systems such as messaging systems, 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KE" sz="2800" dirty="0"/>
              <a:t>IoT platforms,.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Real-time notifications: Broadcasting updates to online users.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Event-driven architectures: Decoupling services that react to state changes.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/>
              <a:t>Live data streaming: Handling high-volume data feeds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491198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BB18-2AAB-5CE4-EDAB-484817036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1"/>
            <a:ext cx="10515600" cy="81152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Socket Programming Model / </a:t>
            </a:r>
            <a:r>
              <a:rPr lang="en-KE" sz="3600" b="1" u="sng" dirty="0" err="1">
                <a:latin typeface="+mn-lt"/>
              </a:rPr>
              <a:t>WebSockets</a:t>
            </a:r>
            <a:r>
              <a:rPr lang="en-KE" sz="3600" b="1" u="sng" dirty="0">
                <a:latin typeface="+mn-lt"/>
              </a:rPr>
              <a:t>/HTTP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3DF64-6603-B3E7-DD67-9B3FF4810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01110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</a:t>
            </a:r>
            <a:r>
              <a:rPr lang="en-KE" dirty="0" err="1"/>
              <a:t>eal</a:t>
            </a:r>
            <a:r>
              <a:rPr lang="en-KE" dirty="0"/>
              <a:t>-time or request-based communication, often over web services</a:t>
            </a:r>
            <a:endParaRPr lang="en-US" dirty="0"/>
          </a:p>
          <a:p>
            <a:r>
              <a:rPr lang="en-KE" dirty="0"/>
              <a:t>Sockets act as endpoints for communication, defined by an IP address and a</a:t>
            </a:r>
            <a:r>
              <a:rPr lang="en-US" dirty="0"/>
              <a:t> </a:t>
            </a:r>
            <a:r>
              <a:rPr lang="en-KE" dirty="0"/>
              <a:t>port number</a:t>
            </a:r>
            <a:endParaRPr lang="en-US" dirty="0"/>
          </a:p>
          <a:p>
            <a:r>
              <a:rPr lang="en-US" dirty="0"/>
              <a:t>A</a:t>
            </a:r>
            <a:r>
              <a:rPr lang="en-KE" dirty="0" err="1"/>
              <a:t>llows</a:t>
            </a:r>
            <a:r>
              <a:rPr lang="en-KE" dirty="0"/>
              <a:t> bidirectional communication between processes through sockets, supporting various protocols such as TCP/IP and UDP.  </a:t>
            </a:r>
          </a:p>
        </p:txBody>
      </p:sp>
    </p:spTree>
    <p:extLst>
      <p:ext uri="{BB962C8B-B14F-4D97-AF65-F5344CB8AC3E}">
        <p14:creationId xmlns:p14="http://schemas.microsoft.com/office/powerpoint/2010/main" val="2589559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58DB-F64F-5156-E4B5-A12848D4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61"/>
            <a:ext cx="10515600" cy="100583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Shared Memory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7353-47F4-B881-DD9F-A7E3E67CD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5108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</a:t>
            </a:r>
            <a:r>
              <a:rPr lang="en-KE" dirty="0" err="1"/>
              <a:t>ultiple</a:t>
            </a:r>
            <a:r>
              <a:rPr lang="en-KE" dirty="0"/>
              <a:t> processes or threads share a common address space (memory), allowing them to communicate by reading from and writing to shared memory locations</a:t>
            </a:r>
            <a:endParaRPr lang="en-US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800" dirty="0"/>
              <a:t> common in Uniprocessor – Single processor</a:t>
            </a:r>
          </a:p>
          <a:p>
            <a:pPr marL="457200" lvl="1" indent="0" algn="just">
              <a:buNone/>
            </a:pPr>
            <a:endParaRPr lang="en-US" sz="2800" dirty="0"/>
          </a:p>
          <a:p>
            <a:r>
              <a:rPr lang="en-KE" b="1" dirty="0"/>
              <a:t>Distributed Shared Memory (DSM)</a:t>
            </a:r>
            <a:endParaRPr lang="en-KE" dirty="0"/>
          </a:p>
          <a:p>
            <a:pPr lvl="1"/>
            <a:r>
              <a:rPr lang="en-KE" sz="2800" dirty="0"/>
              <a:t>Distributed Shared Memory (DSM) provides a virtualized, unified address space across multiple independent computers without shared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272890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962B-A8F8-79BF-8A38-CFAB12D95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580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Communication Protocols in Distributed Systems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D5C6-0977-FF8A-F183-8CF096194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5811"/>
            <a:ext cx="10515600" cy="597788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D</a:t>
            </a:r>
            <a:r>
              <a:rPr lang="en-KE" dirty="0" err="1"/>
              <a:t>efine</a:t>
            </a:r>
            <a:r>
              <a:rPr lang="en-US" dirty="0"/>
              <a:t>s</a:t>
            </a:r>
            <a:r>
              <a:rPr lang="en-KE" dirty="0"/>
              <a:t> the rules and conventions for exchanging data and coordinating actions between nodes or components within a networked environment.</a:t>
            </a:r>
            <a:endParaRPr lang="en-US" dirty="0"/>
          </a:p>
          <a:p>
            <a:pPr algn="just"/>
            <a:r>
              <a:rPr lang="en-US" dirty="0"/>
              <a:t>Ensures </a:t>
            </a:r>
            <a:r>
              <a:rPr lang="en-KE" dirty="0"/>
              <a:t>reliable, efficient, and interoperable communication among distributed entities</a:t>
            </a:r>
            <a:r>
              <a:rPr lang="en-KE" sz="3300" dirty="0"/>
              <a:t>,</a:t>
            </a:r>
            <a:endParaRPr lang="en-US" sz="3300" dirty="0"/>
          </a:p>
          <a:p>
            <a:pPr algn="just"/>
            <a:r>
              <a:rPr lang="en-US" dirty="0"/>
              <a:t>Protocols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US" sz="2800" dirty="0"/>
              <a:t>Transmission Control Protocol(TCP)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User Datagram Protocol (UDP): 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Middleware Protocols: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Hypertext Transfer Protocol (HTTP): 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Simple Mail Transfer Protocol (SMTP): 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File Transfer Protocol (FTP):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Remote Procedure Call (RPC):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Remote Method Innovation</a:t>
            </a:r>
            <a:r>
              <a:rPr lang="en-US" sz="2800" dirty="0"/>
              <a:t> (RMI)</a:t>
            </a:r>
            <a:endParaRPr lang="en-KE" sz="2800" dirty="0"/>
          </a:p>
          <a:p>
            <a:pPr marL="0" lvl="0" indent="0" algn="just">
              <a:lnSpc>
                <a:spcPct val="120000"/>
              </a:lnSpc>
              <a:buNone/>
            </a:pPr>
            <a:endParaRPr lang="en-KE" sz="6500" dirty="0"/>
          </a:p>
          <a:p>
            <a:pPr algn="just"/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36536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6FFA7-A14A-1110-BE0E-A6E41AC78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591"/>
            <a:ext cx="10515600" cy="69722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Communication Challenges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1DB55-8318-BA1B-E0E1-12532B792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560"/>
            <a:ext cx="10515600" cy="5657849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en-KE" b="1" dirty="0"/>
              <a:t>Unreliable Network:</a:t>
            </a:r>
            <a:r>
              <a:rPr lang="en-KE" dirty="0"/>
              <a:t> Messages can be dropped, delayed, or duplicated, requiring robust handling like acknowledgments, retries, and ensuring operations are idempotent.</a:t>
            </a:r>
          </a:p>
          <a:p>
            <a:pPr lvl="0" algn="just"/>
            <a:r>
              <a:rPr lang="en-KE" b="1" dirty="0"/>
              <a:t>Network Partitioning:</a:t>
            </a:r>
            <a:r>
              <a:rPr lang="en-KE" dirty="0"/>
              <a:t> Networks may split, isolating nodes from each other and leading to inconsistencies or "split-brain" scenarios.</a:t>
            </a:r>
          </a:p>
          <a:p>
            <a:pPr lvl="0" algn="just"/>
            <a:r>
              <a:rPr lang="en-KE" b="1" dirty="0"/>
              <a:t>High Latency and Jitter:</a:t>
            </a:r>
            <a:r>
              <a:rPr lang="en-KE" dirty="0"/>
              <a:t> Variability in message delays over wide-area networks can severely impact performance.</a:t>
            </a:r>
          </a:p>
          <a:p>
            <a:pPr lvl="0" algn="just"/>
            <a:r>
              <a:rPr lang="en-KE" b="1" dirty="0"/>
              <a:t>Lack of Global Clock:</a:t>
            </a:r>
            <a:r>
              <a:rPr lang="en-KE" dirty="0"/>
              <a:t> No shared, synchronized time makes ordering events across nodes difficult, with clock drift causing significant issues.</a:t>
            </a:r>
          </a:p>
          <a:p>
            <a:pPr lvl="0" algn="just"/>
            <a:r>
              <a:rPr lang="en-KE" b="1" dirty="0"/>
              <a:t>Security Risks:</a:t>
            </a:r>
            <a:r>
              <a:rPr lang="en-KE" dirty="0"/>
              <a:t> Communication, if not properly encrypted, is vulnerable to eavesdropping and interception.</a:t>
            </a:r>
          </a:p>
          <a:p>
            <a:pPr lvl="0" algn="just"/>
            <a:r>
              <a:rPr lang="en-KE" b="1" dirty="0"/>
              <a:t>Changing Topology:</a:t>
            </a:r>
            <a:r>
              <a:rPr lang="en-KE" dirty="0"/>
              <a:t> Nodes constantly join or leave, making it difficult to maintain a consistent view of the system. 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69294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4BD7-5EC6-73BF-036A-218818D67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1017269"/>
          </a:xfrm>
        </p:spPr>
        <p:txBody>
          <a:bodyPr>
            <a:normAutofit fontScale="90000"/>
          </a:bodyPr>
          <a:lstStyle/>
          <a:p>
            <a:r>
              <a:rPr lang="en-KE" sz="3600" b="1" u="sng" dirty="0">
                <a:latin typeface="+mn-lt"/>
              </a:rPr>
              <a:t>Synchronization &amp; Consistency Mechanisms in Distributed Systems Communication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A555B-AEDD-7519-C434-A518B2218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570"/>
            <a:ext cx="10515600" cy="5612129"/>
          </a:xfrm>
        </p:spPr>
        <p:txBody>
          <a:bodyPr>
            <a:noAutofit/>
          </a:bodyPr>
          <a:lstStyle/>
          <a:p>
            <a:r>
              <a:rPr lang="en-US" sz="2600" dirty="0"/>
              <a:t>E</a:t>
            </a:r>
            <a:r>
              <a:rPr lang="en-KE" sz="2600" dirty="0" err="1"/>
              <a:t>ssential</a:t>
            </a:r>
            <a:r>
              <a:rPr lang="en-KE" sz="2600" dirty="0"/>
              <a:t> components of distributed systems, ensuring that multiple nodes or components can work together effectively and maintain data integrity across the system</a:t>
            </a:r>
            <a:endParaRPr lang="en-US" sz="2600" dirty="0"/>
          </a:p>
          <a:p>
            <a:r>
              <a:rPr lang="en-US" sz="2600" dirty="0"/>
              <a:t>A</a:t>
            </a:r>
            <a:r>
              <a:rPr lang="en-KE" sz="2600" dirty="0" err="1"/>
              <a:t>ddress</a:t>
            </a:r>
            <a:r>
              <a:rPr lang="en-KE" sz="2600" dirty="0"/>
              <a:t> the challenges posed by concurrent access, communication delays, and potential failures in distributed environments</a:t>
            </a:r>
            <a:endParaRPr lang="en-US" sz="2600" dirty="0"/>
          </a:p>
          <a:p>
            <a:pPr lvl="0"/>
            <a:r>
              <a:rPr lang="en-KE" sz="2600" b="1" dirty="0"/>
              <a:t>Synchronization</a:t>
            </a:r>
            <a:r>
              <a:rPr lang="en-KE" sz="2600" dirty="0"/>
              <a:t>:</a:t>
            </a:r>
          </a:p>
          <a:p>
            <a:pPr lvl="1"/>
            <a:r>
              <a:rPr lang="en-KE" sz="2600" b="1" dirty="0"/>
              <a:t>Mutual Exclusion</a:t>
            </a:r>
            <a:r>
              <a:rPr lang="en-KE" sz="2600" dirty="0"/>
              <a:t>: Ensures that only one node or process accesses a shared resource at a time, preventing conflicts and data corruption</a:t>
            </a:r>
            <a:endParaRPr lang="en-US" sz="2600" dirty="0"/>
          </a:p>
          <a:p>
            <a:pPr lvl="1"/>
            <a:r>
              <a:rPr lang="en-KE" sz="2600" b="1" dirty="0"/>
              <a:t>Atomicity</a:t>
            </a:r>
            <a:r>
              <a:rPr lang="en-KE" sz="2600" dirty="0"/>
              <a:t>: Guarantees that operations on shared data either fully succeed or fail together as a single indivisible unit.</a:t>
            </a:r>
            <a:endParaRPr lang="en-US" sz="2600" dirty="0"/>
          </a:p>
          <a:p>
            <a:pPr lvl="1"/>
            <a:r>
              <a:rPr lang="en-KE" sz="2600" b="1" dirty="0"/>
              <a:t>Concurrency Control</a:t>
            </a:r>
            <a:r>
              <a:rPr lang="en-KE" sz="2600" dirty="0"/>
              <a:t>: Manages concurrent access to shared resources to prevent conflicts and maintain data consistency</a:t>
            </a:r>
            <a:endParaRPr lang="en-US" sz="2600" dirty="0"/>
          </a:p>
          <a:p>
            <a:pPr lvl="1"/>
            <a:r>
              <a:rPr lang="en-KE" sz="2600" b="1" dirty="0"/>
              <a:t>Barrier Synchronization</a:t>
            </a:r>
            <a:r>
              <a:rPr lang="en-US" sz="2600" b="1" dirty="0"/>
              <a:t>: </a:t>
            </a:r>
            <a:r>
              <a:rPr lang="en-KE" sz="2600" dirty="0"/>
              <a:t>Coordinates the execution of multiple nodes by synchronizing them at predefined points in their execution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762148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9AEF8-9B6A-0E57-EC09-F471D9AB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1"/>
            <a:ext cx="10515600" cy="74294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Consistency Mechanism ……./2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EC00C-C21B-EBED-AD66-05B6E07A1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4410"/>
            <a:ext cx="10515600" cy="58635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KE" b="1" dirty="0"/>
              <a:t>Consistency</a:t>
            </a:r>
            <a:r>
              <a:rPr lang="en-KE" dirty="0"/>
              <a:t>: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b="1" dirty="0"/>
              <a:t>Data Consistency</a:t>
            </a:r>
            <a:r>
              <a:rPr lang="en-KE" sz="2800" dirty="0"/>
              <a:t>: Ensures that all nodes in the distributed system have access to the same consistent view of data, regardless of their location or timing. 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b="1" dirty="0"/>
              <a:t>Replication Consistency</a:t>
            </a:r>
            <a:r>
              <a:rPr lang="en-KE" sz="2800" dirty="0"/>
              <a:t>: Manages consistency among replicas of data stored across multiple nodes. 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b="1" dirty="0"/>
              <a:t>Causal Consistency</a:t>
            </a:r>
            <a:r>
              <a:rPr lang="en-KE" sz="2800" dirty="0"/>
              <a:t>: Preserves the causal relationship between events in a distributed system, ensuring that events that are causally related are seen by all nodes in the same order. 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b="1" dirty="0"/>
              <a:t>Eventual Consistency</a:t>
            </a:r>
            <a:r>
              <a:rPr lang="en-KE" sz="2800" dirty="0"/>
              <a:t>:</a:t>
            </a:r>
            <a:r>
              <a:rPr lang="en-US" sz="2800" dirty="0"/>
              <a:t> </a:t>
            </a:r>
            <a:r>
              <a:rPr lang="en-KE" sz="2800" dirty="0"/>
              <a:t>Allows replicas of data to become consistent over time, even in the presence of network partitions or temporary inconsistencies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286851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CCCD-05D7-22FF-5046-02C05E503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74294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Performance and Scalability Considerations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F7D5A-CC24-E44C-6786-545844B7B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0130"/>
            <a:ext cx="10515600" cy="5136833"/>
          </a:xfrm>
        </p:spPr>
        <p:txBody>
          <a:bodyPr>
            <a:normAutofit/>
          </a:bodyPr>
          <a:lstStyle/>
          <a:p>
            <a:pPr lvl="0" algn="just"/>
            <a:r>
              <a:rPr lang="en-KE" dirty="0"/>
              <a:t>Efficient communication ensures that nodes can collaborate effectively and achieve desired system goals while accommodating growth and increasing workload demands</a:t>
            </a:r>
            <a:endParaRPr lang="en-US" b="1" dirty="0"/>
          </a:p>
          <a:p>
            <a:pPr lvl="0" algn="just"/>
            <a:r>
              <a:rPr lang="en-US" dirty="0"/>
              <a:t>To be considered; 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Message Passing Efficiency: 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Concurrency and Parallelism: 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Load Balancing: 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Caching and Data Locality: 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Horizontal and Vertical Scaling: </a:t>
            </a:r>
          </a:p>
        </p:txBody>
      </p:sp>
    </p:spTree>
    <p:extLst>
      <p:ext uri="{BB962C8B-B14F-4D97-AF65-F5344CB8AC3E}">
        <p14:creationId xmlns:p14="http://schemas.microsoft.com/office/powerpoint/2010/main" val="1457141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2D65-47CD-3D0D-03BF-F1D521DB3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73151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Middleware in Distributed System</a:t>
            </a:r>
            <a:r>
              <a:rPr lang="en-US" sz="3600" b="1" u="sng" dirty="0">
                <a:latin typeface="+mn-lt"/>
              </a:rPr>
              <a:t> Communication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DB82-84AB-B838-CF70-ED9130467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5820"/>
            <a:ext cx="10515600" cy="589787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Definition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KE" sz="2800" i="1" dirty="0"/>
              <a:t>Middleware is "software glue" that connects disparate applications, databases, and systems, enabling them to communicate, exchange data, and function as a unified system.</a:t>
            </a:r>
            <a:r>
              <a:rPr lang="en-KE" sz="2800" dirty="0"/>
              <a:t> It operates between the operating system and applications, facilitating tasks like authentication, data management, and messaging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KE" sz="2800" i="1" dirty="0"/>
              <a:t>Middleware is infrastructure software that resides between the applications and the underlying operating systems, networks, and hardware, specifically intended to provide a more appropriate platform for building and operating distributed systems. </a:t>
            </a:r>
            <a:endParaRPr lang="en-US" sz="2800" i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KE" sz="2800" i="1" dirty="0"/>
              <a:t>Middleware is software that enables one or more kinds of communication or connectivity between applications or components in a distributed network, essentially creating "software glue" that binds different systems together</a:t>
            </a:r>
            <a:r>
              <a:rPr lang="en-KE" sz="28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KE" sz="2800" dirty="0"/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243710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F500-415A-20F1-F44D-41BF53B4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7249"/>
          </a:xfrm>
        </p:spPr>
        <p:txBody>
          <a:bodyPr>
            <a:normAutofit/>
          </a:bodyPr>
          <a:lstStyle/>
          <a:p>
            <a:r>
              <a:rPr lang="en-US" sz="3600" u="sng" dirty="0">
                <a:latin typeface="+mn-lt"/>
              </a:rPr>
              <a:t>Distributed Middleware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969F1-7F5A-B125-AA07-CBEE82091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250"/>
            <a:ext cx="10515600" cy="6000749"/>
          </a:xfrm>
        </p:spPr>
        <p:txBody>
          <a:bodyPr>
            <a:normAutofit lnSpcReduction="10000"/>
          </a:bodyPr>
          <a:lstStyle/>
          <a:p>
            <a:pPr lvl="0" algn="just"/>
            <a:r>
              <a:rPr lang="en-US" dirty="0"/>
              <a:t>Definition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KE" sz="2800" i="1" dirty="0"/>
              <a:t>Distributed middleware is a software layer situated between operating systems and applications that enables communication, data management, and coordination across heterogeneous, geographically dispersed systems. </a:t>
            </a:r>
            <a:endParaRPr lang="en-KE" sz="28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KE" sz="2800" i="1" dirty="0"/>
              <a:t>Distributed middleware is a software layer positioned between the operating system and applications, acting as "software glue" to manage complexity, heterogeneity, and communication across distributed systems</a:t>
            </a:r>
            <a:endParaRPr lang="en-US" sz="2800" i="1" dirty="0"/>
          </a:p>
          <a:p>
            <a:pPr algn="just"/>
            <a:r>
              <a:rPr lang="en-KE" dirty="0"/>
              <a:t>It enables, for instance, different operating systems and protocols to interact, allowing components on separate machines to operate as a single, coherent system</a:t>
            </a:r>
          </a:p>
          <a:p>
            <a:pPr algn="just"/>
            <a:r>
              <a:rPr lang="en-KE" dirty="0"/>
              <a:t>It abstracts network complexities, offering transparency in location and replication while ensuring scalability, fault tolerance, and interoperability</a:t>
            </a:r>
          </a:p>
          <a:p>
            <a:pPr algn="just"/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198241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683D-0C9C-D2B8-D838-D6B10D1C0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724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Middleware role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72BF6-BD94-115F-1951-E7B6489F8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251"/>
            <a:ext cx="10515600" cy="574929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/>
              <a:t>Communication Management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Transparency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Resource Management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KE" dirty="0"/>
              <a:t>Interoperability</a:t>
            </a:r>
            <a:endParaRPr lang="en-US" dirty="0"/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Security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KE" dirty="0"/>
              <a:t>Scalability Support</a:t>
            </a:r>
            <a:endParaRPr lang="en-US" dirty="0"/>
          </a:p>
          <a:p>
            <a:pPr marL="457200" indent="-457200" algn="just">
              <a:buFont typeface="+mj-lt"/>
              <a:buAutoNum type="arabicPeriod"/>
            </a:pPr>
            <a:r>
              <a:rPr lang="en-KE" dirty="0"/>
              <a:t>Fault Tolerance and Recovery</a:t>
            </a:r>
            <a:endParaRPr lang="en-US" dirty="0"/>
          </a:p>
          <a:p>
            <a:pPr marL="457200" indent="-457200" algn="just">
              <a:buFont typeface="+mj-lt"/>
              <a:buAutoNum type="arabicPeriod"/>
            </a:pPr>
            <a:r>
              <a:rPr lang="en-KE" dirty="0"/>
              <a:t>Provide reusable services that can be composed, configured, and deployed to create distributed systems rapidly and robustly </a:t>
            </a:r>
            <a:endParaRPr lang="en-US" dirty="0"/>
          </a:p>
          <a:p>
            <a:pPr marL="457200" indent="-457200" algn="just">
              <a:buFont typeface="+mj-lt"/>
              <a:buAutoNum type="arabicPeriod"/>
            </a:pPr>
            <a:r>
              <a:rPr lang="en-KE" dirty="0"/>
              <a:t>Provides essential services such as naming, security, transactions, concurrency control, and data replication.</a:t>
            </a:r>
          </a:p>
          <a:p>
            <a:pPr marL="457200" indent="-457200" algn="just">
              <a:buFont typeface="+mj-lt"/>
              <a:buAutoNum type="arabicPeriod"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28291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988F-7083-FB95-EAD3-52454D634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731"/>
            <a:ext cx="10515600" cy="811529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Main Types of Middleware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A6D98-50A3-E981-A4DD-E6D047AB3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7260"/>
            <a:ext cx="10515600" cy="5795009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KE" dirty="0"/>
              <a:t>Message-oriented Middleware (MOM)</a:t>
            </a:r>
            <a:r>
              <a:rPr lang="en-KE" b="1" dirty="0"/>
              <a:t>:</a:t>
            </a:r>
            <a:r>
              <a:rPr lang="en-KE" dirty="0"/>
              <a:t> Facilitates asynchronous, message-based communication, allowing systems to exchange data even if not active simultaneously.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Remote Procedure Call (RPC)</a:t>
            </a:r>
            <a:r>
              <a:rPr lang="en-KE" b="1" dirty="0"/>
              <a:t>:</a:t>
            </a:r>
            <a:r>
              <a:rPr lang="en-KE" dirty="0"/>
              <a:t> Allows a program to call a function on another machine as if it were a local function.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Database Middleware</a:t>
            </a:r>
            <a:r>
              <a:rPr lang="en-KE" b="1" dirty="0"/>
              <a:t>:</a:t>
            </a:r>
            <a:r>
              <a:rPr lang="en-KE" dirty="0"/>
              <a:t> Facilitates access to heterogeneous databases.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KE" dirty="0"/>
              <a:t>Transaction Processing (TP) Monitors</a:t>
            </a:r>
            <a:r>
              <a:rPr lang="en-KE" b="1" dirty="0"/>
              <a:t>:</a:t>
            </a:r>
            <a:r>
              <a:rPr lang="en-KE" dirty="0"/>
              <a:t> Ensures reliability and atomic transactions across distributed components. 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Distributed Object Middleware: Manages objects across networks (e.g., CORBA, Java RMI).</a:t>
            </a:r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Enterprise Service Bus (ESB): Acts as a centralized hub for enterprise-level application integration</a:t>
            </a:r>
          </a:p>
          <a:p>
            <a:pPr marL="514350" lvl="0" indent="-514350">
              <a:buFont typeface="+mj-lt"/>
              <a:buAutoNum type="arabicPeriod"/>
            </a:pPr>
            <a:endParaRPr lang="en-KE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123866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0394-0425-4A34-E164-CF9A85A0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1"/>
            <a:ext cx="10515600" cy="77723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Middleware Challenges &amp; Examples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9651C-5C58-F183-A00C-253E017EB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850"/>
            <a:ext cx="10515600" cy="560069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Challenges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Over-Engineering</a:t>
            </a:r>
            <a:r>
              <a:rPr lang="en-KE" sz="2800" b="1" dirty="0"/>
              <a:t>:</a:t>
            </a:r>
            <a:r>
              <a:rPr lang="en-KE" sz="2800" dirty="0"/>
              <a:t> Adding unnecessary features that increase complexity.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Poor Scalability</a:t>
            </a:r>
            <a:r>
              <a:rPr lang="en-KE" sz="2800" b="1" dirty="0"/>
              <a:t>:</a:t>
            </a:r>
            <a:r>
              <a:rPr lang="en-KE" sz="2800" dirty="0"/>
              <a:t> Becoming a bottleneck if it cannot handle increased loads.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Security Vulnerabilities: Inadequate protection, exposing the system to attack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US" sz="2800" dirty="0"/>
              <a:t>Scalability issues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US" sz="2800" dirty="0"/>
              <a:t>Consistency &amp; Coordination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US" sz="2800" dirty="0"/>
              <a:t>Stability and Maintenance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US" sz="2800" dirty="0"/>
              <a:t>Transparent Requirements</a:t>
            </a:r>
            <a:endParaRPr lang="en-KE" sz="2800" dirty="0"/>
          </a:p>
          <a:p>
            <a:pPr algn="just"/>
            <a:r>
              <a:rPr lang="en-US" dirty="0"/>
              <a:t>Examples</a:t>
            </a:r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Message brokers (Apache Kafka, RabbitMQ), 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Application servers (Tomcat, JBoss)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KE" sz="2800" dirty="0"/>
              <a:t>Transaction monitors. 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769354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78D43-9ED7-5554-CFF7-FEB0A608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A6A10-3BEA-A81D-B4AF-308A87F2F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4400" b="1" dirty="0"/>
              <a:t>Questions and Answers</a:t>
            </a:r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r>
              <a:rPr lang="en-US" sz="4400" b="1" dirty="0"/>
              <a:t>End</a:t>
            </a:r>
            <a:endParaRPr lang="en-KE" sz="4400" b="1" dirty="0"/>
          </a:p>
        </p:txBody>
      </p:sp>
    </p:spTree>
    <p:extLst>
      <p:ext uri="{BB962C8B-B14F-4D97-AF65-F5344CB8AC3E}">
        <p14:creationId xmlns:p14="http://schemas.microsoft.com/office/powerpoint/2010/main" val="2509112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2056</Words>
  <Application>Microsoft Office PowerPoint</Application>
  <PresentationFormat>Widescreen</PresentationFormat>
  <Paragraphs>187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Algerian</vt:lpstr>
      <vt:lpstr>Arial</vt:lpstr>
      <vt:lpstr>Calibri</vt:lpstr>
      <vt:lpstr>Calibri Light</vt:lpstr>
      <vt:lpstr>Wingdings</vt:lpstr>
      <vt:lpstr>Office Theme</vt:lpstr>
      <vt:lpstr>Communication in Distributed  Systems</vt:lpstr>
      <vt:lpstr>Introduction</vt:lpstr>
      <vt:lpstr>DS Communication  Versus Inter-process Communication (IPC)</vt:lpstr>
      <vt:lpstr>DS Communication Versus Inter-process Communication</vt:lpstr>
      <vt:lpstr>Characteristics of IPC</vt:lpstr>
      <vt:lpstr>Methods in Inter-process Communication</vt:lpstr>
      <vt:lpstr>Categories Communication in Distributed Systems</vt:lpstr>
      <vt:lpstr>Communication Models and Types</vt:lpstr>
      <vt:lpstr>Message Passing</vt:lpstr>
      <vt:lpstr>Remote Procedure Call (RPC)</vt:lpstr>
      <vt:lpstr>RPC Operation</vt:lpstr>
      <vt:lpstr>Transparency in RPC</vt:lpstr>
      <vt:lpstr>Publish-Subscribe Model / Broadcast: </vt:lpstr>
      <vt:lpstr>Socket Programming Model / WebSockets/HTTP</vt:lpstr>
      <vt:lpstr>Shared Memory</vt:lpstr>
      <vt:lpstr>Communication Protocols in Distributed Systems</vt:lpstr>
      <vt:lpstr>Communication Challenges</vt:lpstr>
      <vt:lpstr>Synchronization &amp; Consistency Mechanisms in Distributed Systems Communication</vt:lpstr>
      <vt:lpstr>Consistency Mechanism ……./2</vt:lpstr>
      <vt:lpstr>Performance and Scalability Considerations</vt:lpstr>
      <vt:lpstr>Middleware in Distributed System Communication</vt:lpstr>
      <vt:lpstr>Distributed Middleware</vt:lpstr>
      <vt:lpstr>Middleware role</vt:lpstr>
      <vt:lpstr>Main Types of Middleware</vt:lpstr>
      <vt:lpstr>Middleware Challenges &amp; 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MERCY</dc:creator>
  <cp:lastModifiedBy>MERCY</cp:lastModifiedBy>
  <cp:revision>18</cp:revision>
  <dcterms:created xsi:type="dcterms:W3CDTF">2026-03-04T11:26:12Z</dcterms:created>
  <dcterms:modified xsi:type="dcterms:W3CDTF">2026-03-04T19:30:24Z</dcterms:modified>
</cp:coreProperties>
</file>