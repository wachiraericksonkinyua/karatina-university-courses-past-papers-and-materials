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9" r:id="rId4"/>
    <p:sldId id="258" r:id="rId5"/>
    <p:sldId id="276" r:id="rId6"/>
    <p:sldId id="277" r:id="rId7"/>
    <p:sldId id="261" r:id="rId8"/>
    <p:sldId id="262" r:id="rId9"/>
    <p:sldId id="259" r:id="rId10"/>
    <p:sldId id="271" r:id="rId11"/>
    <p:sldId id="260" r:id="rId12"/>
    <p:sldId id="263" r:id="rId13"/>
    <p:sldId id="265" r:id="rId14"/>
    <p:sldId id="266" r:id="rId15"/>
    <p:sldId id="267" r:id="rId16"/>
    <p:sldId id="268" r:id="rId17"/>
    <p:sldId id="272" r:id="rId18"/>
    <p:sldId id="275" r:id="rId19"/>
    <p:sldId id="274" r:id="rId20"/>
    <p:sldId id="269" r:id="rId21"/>
    <p:sldId id="278" r:id="rId22"/>
    <p:sldId id="270" r:id="rId23"/>
  </p:sldIdLst>
  <p:sldSz cx="12192000" cy="6858000"/>
  <p:notesSz cx="6858000" cy="9947275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92510-CF73-0106-3F3B-4E86AE1F5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0BCD9-157B-0B48-5D95-4549DE2D0B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914C2-1C3C-BF51-353B-9C574FA9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E919F-8B66-F6CC-7B82-884796DE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16E5D-8504-244E-98AC-4F0A0BFFA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41484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2AD38-A498-627D-63EE-A3BB6A5E2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53388-E39E-E9EC-F385-9A599C53B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7757A-CDE5-FF8A-95FB-D0A4B83EC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B4A9F-F32D-7CAD-1D71-27288607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D0566-FADD-5A6F-87AC-10F795CD2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36358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F0F39-1ECF-23DA-E091-37FF2F91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2BB2C-5378-F5EB-3469-59A2DB217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22E87-FF7A-F928-B901-782D5A8BD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5CF4C-0C90-A349-DE2A-883F0829C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EF940-5937-3A00-FCB2-A89CA06A1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893442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7ACA7-4B29-8355-0A86-146BFB60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320C6-7EE3-9B2E-3B3F-C0844E966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61B819-F834-3BDC-C695-09794A7D2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5C2BEA-05BE-9FAA-4999-EBB88FCE20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9AD463-F921-B784-F623-F79F7AE03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5B8015-71B4-F390-E492-B276E941B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61824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D750F-E252-EDC9-DA11-20E608834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D030E1-4374-5180-FC5C-FB03C341F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6867F-CB78-6C8F-69DB-934802C2B5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169FB-1933-68BE-0F44-8FA910416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7A25AF-B149-CE03-2B5C-4D59345DB2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83290-C34D-FB64-B62B-D3FF79F24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460B66-840A-82C6-79CF-4D5F5AA00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02F0B7-EFB8-D630-24AE-1748E9F59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14720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EAA3C-3024-D8C8-DBE2-FCC2C1E39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4101B3-A2EE-424C-E40B-A6803D43C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081AEE-A86F-20A4-258A-C5F7C1438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A47303-C369-6C51-18C7-22CC3BE8E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245459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3B802C-7A5E-ECD5-1B12-2ED8ED272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50DCE3-3E27-351D-6493-351F74D7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AB786E-E977-F10C-2B65-384D6F855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00545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9469-67E5-D0E2-3709-0652BA314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1B7F7-8C30-C8DA-AE35-53F201C0A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4CE6D4-215B-688E-802E-FAC81E133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5628E-5DF6-4C14-D7CB-95BC718DE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EC207-A856-6518-1D45-9190DD6AD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EDF99-549E-8DB7-CC41-BA6081C0B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636115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6BD3D-216D-F156-DAE5-130F7A5C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91DA8A-BD5E-5DD7-5287-326D96183E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5CC0D-EBE3-8E2D-8B8A-3EDCB8814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8FEFA8-A6A2-91FD-51BD-42F26634C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9F5024-F412-A1B1-608E-0A01B422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AE24B-F09D-ADC0-E8E9-7426839F0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4033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ABE0F-D3A6-E957-0CC1-24319EF5B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85C2E3-897C-4CC0-1E44-1D8D95CA5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25ADC-BB12-58DC-1272-330D6F46C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D8BB4-7A32-1C1E-828E-F928A5185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AD369-E973-2B31-8D40-E1538D49F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52632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E4893-B7AD-E6F6-6C3D-0BE07CB43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AFC294-DF1B-6CB0-D8F3-8F377E72B9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4102DD-7307-C0FB-6329-680756C10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82E26-6C0A-105D-3022-6990E1AB0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8D2EB-1A24-F6FB-5AC9-D9A4C21D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784034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9DCDB-F75B-D032-47A5-5261221D2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9A68E-95BD-7C21-4D2F-81C8AB5B1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91D44-E530-8718-9C7D-EC5CED05B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F10EAE-0AD3-471F-AA8E-C2405D6F46AF}" type="datetimeFigureOut">
              <a:rPr lang="en-KE" smtClean="0"/>
              <a:t>04/03/2026</a:t>
            </a:fld>
            <a:endParaRPr lang="en-K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C15C4-0641-A4ED-18A4-894AAA17F6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71CD8C-B6B8-C1C9-F260-F07450543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110C21-BD7C-483B-85FA-6B7BC37CDC71}" type="slidenum">
              <a:rPr lang="en-KE" smtClean="0"/>
              <a:t>‹#›</a:t>
            </a:fld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594404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6C9A-9131-44DF-3494-2042A7336D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Chapter 2 – Distributed Systems Architecture</a:t>
            </a:r>
            <a:endParaRPr lang="en-KE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7E8A6-2514-20C7-D92D-D321121492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3200" b="1" dirty="0">
                <a:latin typeface="Algerian" panose="04020705040A02060702" pitchFamily="82" charset="0"/>
              </a:rPr>
              <a:t>MERCY MAINA</a:t>
            </a:r>
            <a:endParaRPr lang="en-KE" sz="32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03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A2741-58D0-A8D8-66D8-2BEE09AC9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6445"/>
          </a:xfrm>
        </p:spPr>
        <p:txBody>
          <a:bodyPr/>
          <a:lstStyle/>
          <a:p>
            <a:r>
              <a:rPr lang="en-US" b="1" u="sng" dirty="0">
                <a:latin typeface="+mn-lt"/>
              </a:rPr>
              <a:t>Introduction</a:t>
            </a:r>
            <a:endParaRPr lang="en-KE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26EBF-78E9-AEB1-E316-46DF13522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5870"/>
            <a:ext cx="10515600" cy="5520690"/>
          </a:xfrm>
        </p:spPr>
        <p:txBody>
          <a:bodyPr>
            <a:normAutofit/>
          </a:bodyPr>
          <a:lstStyle/>
          <a:p>
            <a:pPr algn="just"/>
            <a:r>
              <a:rPr lang="en-KE" dirty="0"/>
              <a:t>A distributed system architecture is a design where multiple independent computers (nodes) work as a single, unified system, sharing resources and coordinating tasks over a network to achieve common goals, </a:t>
            </a:r>
            <a:endParaRPr lang="en-US" dirty="0"/>
          </a:p>
          <a:p>
            <a:pPr algn="just"/>
            <a:r>
              <a:rPr lang="en-US" dirty="0"/>
              <a:t>Key Benefits - </a:t>
            </a:r>
            <a:r>
              <a:rPr lang="en-KE" dirty="0"/>
              <a:t>spreading workloads instead of relying on one server. </a:t>
            </a:r>
            <a:endParaRPr lang="en-US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US" sz="2800" dirty="0"/>
              <a:t>S</a:t>
            </a:r>
            <a:r>
              <a:rPr lang="en-KE" sz="2800" dirty="0" err="1"/>
              <a:t>calability</a:t>
            </a:r>
            <a:r>
              <a:rPr lang="en-KE" sz="2800" dirty="0"/>
              <a:t>,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US" sz="2800" dirty="0"/>
              <a:t>F</a:t>
            </a:r>
            <a:r>
              <a:rPr lang="en-KE" sz="2800" dirty="0" err="1"/>
              <a:t>ault</a:t>
            </a:r>
            <a:r>
              <a:rPr lang="en-KE" sz="2800" dirty="0"/>
              <a:t> tolerance, </a:t>
            </a:r>
            <a:endParaRPr lang="en-US" sz="2800" dirty="0"/>
          </a:p>
          <a:p>
            <a:pPr marL="914400" lvl="1" indent="-457200" algn="just">
              <a:buFont typeface="+mj-lt"/>
              <a:buAutoNum type="arabicParenR"/>
            </a:pPr>
            <a:r>
              <a:rPr lang="en-US" sz="2800" dirty="0"/>
              <a:t>High </a:t>
            </a:r>
            <a:r>
              <a:rPr lang="en-KE" sz="2800" dirty="0"/>
              <a:t>performance</a:t>
            </a:r>
          </a:p>
        </p:txBody>
      </p:sp>
    </p:spTree>
    <p:extLst>
      <p:ext uri="{BB962C8B-B14F-4D97-AF65-F5344CB8AC3E}">
        <p14:creationId xmlns:p14="http://schemas.microsoft.com/office/powerpoint/2010/main" val="140885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04997-6B03-D9A0-62B6-5E7E25E23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25830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Architectural Styles in DS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153029-D2D6-9383-3026-71FB3846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831"/>
            <a:ext cx="10515600" cy="5394959"/>
          </a:xfrm>
        </p:spPr>
        <p:txBody>
          <a:bodyPr>
            <a:normAutofit/>
          </a:bodyPr>
          <a:lstStyle/>
          <a:p>
            <a:r>
              <a:rPr lang="en-KE" dirty="0"/>
              <a:t>Distributed system architecture styles organize components into logical structures </a:t>
            </a:r>
            <a:endParaRPr lang="en-US" dirty="0"/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Client Server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Peer –to-Peer (P2P)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Layered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/>
              <a:t>3-Tier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sz="2800" dirty="0"/>
              <a:t>N-Tier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Data </a:t>
            </a:r>
            <a:r>
              <a:rPr lang="en-US" sz="2800" dirty="0" err="1"/>
              <a:t>Centic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Service-Oriented Architecture (SOA)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Event-Based/Event Driven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US" sz="2800" dirty="0"/>
              <a:t>Microservices</a:t>
            </a:r>
            <a:endParaRPr lang="en-KE" sz="2800" dirty="0"/>
          </a:p>
        </p:txBody>
      </p:sp>
    </p:spTree>
    <p:extLst>
      <p:ext uri="{BB962C8B-B14F-4D97-AF65-F5344CB8AC3E}">
        <p14:creationId xmlns:p14="http://schemas.microsoft.com/office/powerpoint/2010/main" val="3403956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5CB76-77F8-3E20-0020-9950B09C4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451"/>
            <a:ext cx="10515600" cy="754379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Architecture - categories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8CE0B-E4DD-E083-3B5A-766EA42600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5830"/>
            <a:ext cx="10515600" cy="5852160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KE" sz="3000" b="1" dirty="0"/>
              <a:t>By Communication &amp; Structure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3000" dirty="0"/>
              <a:t>Client-Server: </a:t>
            </a:r>
            <a:endParaRPr lang="en-US" sz="3000" dirty="0"/>
          </a:p>
          <a:p>
            <a:pPr marL="914400" lvl="1" indent="-457200">
              <a:buFont typeface="+mj-lt"/>
              <a:buAutoNum type="arabicParenR"/>
            </a:pPr>
            <a:r>
              <a:rPr lang="en-KE" sz="3000" dirty="0"/>
              <a:t>Peer-to-Peer (P2P): </a:t>
            </a:r>
            <a:endParaRPr lang="en-US" sz="3000" dirty="0"/>
          </a:p>
          <a:p>
            <a:pPr marL="914400" lvl="1" indent="-457200">
              <a:buFont typeface="+mj-lt"/>
              <a:buAutoNum type="arabicParenR"/>
            </a:pPr>
            <a:r>
              <a:rPr lang="en-KE" sz="3000" dirty="0"/>
              <a:t>Three-Tier/N-Tier: </a:t>
            </a:r>
            <a:endParaRPr lang="en-US" sz="3000" dirty="0"/>
          </a:p>
          <a:p>
            <a:pPr marL="914400" lvl="1" indent="-457200">
              <a:buFont typeface="+mj-lt"/>
              <a:buAutoNum type="arabicParenR"/>
            </a:pPr>
            <a:r>
              <a:rPr lang="en-KE" sz="3000" dirty="0"/>
              <a:t>Microservices: </a:t>
            </a:r>
            <a:endParaRPr lang="en-US" sz="3000" dirty="0"/>
          </a:p>
          <a:p>
            <a:pPr marL="914400" lvl="1" indent="-457200">
              <a:buFont typeface="+mj-lt"/>
              <a:buAutoNum type="arabicParenR"/>
            </a:pPr>
            <a:r>
              <a:rPr lang="en-KE" sz="3000" dirty="0"/>
              <a:t>Service-Oriented Architecture (SOA): </a:t>
            </a:r>
            <a:endParaRPr lang="en-US" sz="3000" dirty="0"/>
          </a:p>
          <a:p>
            <a:pPr marL="914400" lvl="1" indent="-457200">
              <a:buFont typeface="+mj-lt"/>
              <a:buAutoNum type="arabicParenR"/>
            </a:pPr>
            <a:r>
              <a:rPr lang="en-KE" sz="3000" dirty="0"/>
              <a:t>Event-Driven: </a:t>
            </a:r>
            <a:endParaRPr lang="en-US" sz="3000" dirty="0"/>
          </a:p>
          <a:p>
            <a:pPr marL="514350" indent="-514350">
              <a:buFont typeface="+mj-lt"/>
              <a:buAutoNum type="arabicPeriod"/>
            </a:pPr>
            <a:r>
              <a:rPr lang="en-KE" sz="3000" b="1" dirty="0"/>
              <a:t>By Purpose &amp; Deployment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KE" sz="3000" dirty="0"/>
              <a:t>Distributed Computing Systems</a:t>
            </a:r>
            <a:endParaRPr lang="en-US" sz="3000" dirty="0"/>
          </a:p>
          <a:p>
            <a:pPr marL="971550" lvl="1" indent="-514350">
              <a:buFont typeface="+mj-lt"/>
              <a:buAutoNum type="arabicParenR"/>
            </a:pPr>
            <a:r>
              <a:rPr lang="en-KE" sz="3000" dirty="0"/>
              <a:t>Distributed Information Systems</a:t>
            </a:r>
            <a:endParaRPr lang="en-US" sz="3000" dirty="0"/>
          </a:p>
          <a:p>
            <a:pPr marL="971550" lvl="1" indent="-514350">
              <a:buFont typeface="+mj-lt"/>
              <a:buAutoNum type="arabicParenR"/>
            </a:pPr>
            <a:r>
              <a:rPr lang="en-KE" sz="3000" dirty="0"/>
              <a:t>Distributed Pervasive Systems</a:t>
            </a:r>
            <a:endParaRPr lang="en-US" sz="3000" dirty="0"/>
          </a:p>
          <a:p>
            <a:pPr marL="0" indent="0">
              <a:buNone/>
            </a:pPr>
            <a:r>
              <a:rPr lang="en-US" sz="3400" dirty="0"/>
              <a:t>3.</a:t>
            </a:r>
            <a:r>
              <a:rPr lang="en-KE" sz="3400" dirty="0"/>
              <a:t> Other Architectures</a:t>
            </a:r>
          </a:p>
          <a:p>
            <a:pPr lvl="0"/>
            <a:r>
              <a:rPr lang="en-KE" sz="3000" b="1" dirty="0"/>
              <a:t>Middleware-Based:</a:t>
            </a:r>
            <a:r>
              <a:rPr lang="en-KE" sz="3000" dirty="0"/>
              <a:t> Middleware acts as a bridge between different applications/OSs.</a:t>
            </a:r>
          </a:p>
          <a:p>
            <a:pPr lvl="0"/>
            <a:r>
              <a:rPr lang="en-KE" sz="3000" b="1" dirty="0"/>
              <a:t>Shared-Nothing:</a:t>
            </a:r>
            <a:r>
              <a:rPr lang="en-KE" sz="3000" dirty="0"/>
              <a:t> Each node operates independently without sharing resources like memory or storage. </a:t>
            </a:r>
          </a:p>
          <a:p>
            <a:pPr marL="971550" lvl="1" indent="-514350">
              <a:buFont typeface="+mj-lt"/>
              <a:buAutoNum type="arabicParenR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864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6BA1C-78F2-FDA4-D549-88CC12278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C7354-6C4C-2E5B-4121-22361CF3D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8669"/>
          </a:xfrm>
        </p:spPr>
        <p:txBody>
          <a:bodyPr/>
          <a:lstStyle/>
          <a:p>
            <a:r>
              <a:rPr lang="en-US" sz="3600" b="1" u="sng" dirty="0">
                <a:latin typeface="+mn-lt"/>
              </a:rPr>
              <a:t>1. Client-server </a:t>
            </a:r>
            <a:r>
              <a:rPr lang="en-KE" sz="3600" b="1" u="sng" dirty="0">
                <a:latin typeface="+mn-lt"/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4E4AC1-0684-958B-FA86-DFA50178B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69"/>
            <a:ext cx="10515600" cy="581786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F</a:t>
            </a:r>
            <a:r>
              <a:rPr lang="en-KE" dirty="0" err="1"/>
              <a:t>oundational</a:t>
            </a:r>
            <a:r>
              <a:rPr lang="en-KE" dirty="0"/>
              <a:t> model in distributed systems where the system is divided into two main components: clients and servers.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This architecture defines how tasks and services are distributed across different entities within a network.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KE" dirty="0"/>
          </a:p>
          <a:p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1F5DD-6B05-E725-F396-67848FA6C18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03"/>
          <a:stretch>
            <a:fillRect/>
          </a:stretch>
        </p:blipFill>
        <p:spPr bwMode="auto">
          <a:xfrm>
            <a:off x="1393824" y="2777805"/>
            <a:ext cx="9144635" cy="3748725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920198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8F1F6-96D5-0AB2-7623-634C6A7CC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E2653-13C1-26E6-19F2-CEEB1B5E7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866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Client Server…… /2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CF989-5295-3B9F-0858-4F99E0CF0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69"/>
            <a:ext cx="10515600" cy="5955029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Key Principles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Separation of Concerns: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Centralized Management: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Request-Response Model: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Scalability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Security:</a:t>
            </a:r>
          </a:p>
          <a:p>
            <a:pPr marL="514350" indent="-514350">
              <a:buAutoNum type="arabicPeriod"/>
            </a:pPr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FA8F3-4828-0B7D-E9E3-BFFF334F23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417" y="3741736"/>
            <a:ext cx="9468803" cy="2864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777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C75D3-CF61-614D-31F0-64E74E8FA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8669"/>
          </a:xfrm>
        </p:spPr>
        <p:txBody>
          <a:bodyPr/>
          <a:lstStyle/>
          <a:p>
            <a:r>
              <a:rPr lang="en-US" sz="3600" b="1" u="sng" dirty="0">
                <a:latin typeface="+mn-lt"/>
              </a:rPr>
              <a:t>2</a:t>
            </a:r>
            <a:r>
              <a:rPr lang="en-US" b="1" u="sng" dirty="0">
                <a:latin typeface="+mn-lt"/>
              </a:rPr>
              <a:t>. </a:t>
            </a:r>
            <a:r>
              <a:rPr lang="en-KE" sz="3600" b="1" u="sng" dirty="0">
                <a:latin typeface="+mn-lt"/>
              </a:rPr>
              <a:t>Peer-to-Peer (P2P)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F5AC0-652A-937A-6C6D-6664E20A3A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70"/>
            <a:ext cx="10515600" cy="54063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</a:t>
            </a:r>
            <a:r>
              <a:rPr lang="en-KE" dirty="0" err="1"/>
              <a:t>ecentralized</a:t>
            </a:r>
            <a:r>
              <a:rPr lang="en-KE" dirty="0"/>
              <a:t> network design where each node, or "peer," acts as both a client and a server, contributing resources and services to the network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KE" dirty="0"/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2A4F0D-FC46-C2C5-D00B-5266B482DE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991" r="21855"/>
          <a:stretch>
            <a:fillRect/>
          </a:stretch>
        </p:blipFill>
        <p:spPr bwMode="auto">
          <a:xfrm>
            <a:off x="1131570" y="2144394"/>
            <a:ext cx="9669780" cy="45764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22025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E3ED7-01EA-E7B6-52F4-B5D3FC608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DE949-E2B5-8E9A-4351-D42D734C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8866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Peer – to - Peer…… /2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E4F739-3AF5-0822-760C-E4125E8DE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69"/>
            <a:ext cx="10515600" cy="5955029"/>
          </a:xfrm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dirty="0"/>
              <a:t>Key Features – Decentralization, Resource Sharing, </a:t>
            </a:r>
          </a:p>
          <a:p>
            <a:pPr marL="0" indent="0">
              <a:buNone/>
            </a:pPr>
            <a:r>
              <a:rPr lang="en-US" dirty="0"/>
              <a:t>			Scalability and Self Organization</a:t>
            </a:r>
            <a:br>
              <a:rPr lang="en-US" dirty="0"/>
            </a:br>
            <a:r>
              <a:rPr lang="en-US" dirty="0"/>
              <a:t>2. Advantages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Fault Tolerance: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Cost Efficiency: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Scalability: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3. Disadvantages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Security: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Performance Variability: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Complexity:</a:t>
            </a:r>
            <a:r>
              <a:rPr lang="en-US" dirty="0"/>
              <a:t>. </a:t>
            </a:r>
            <a:endParaRPr lang="en-KE" dirty="0"/>
          </a:p>
          <a:p>
            <a:pPr marL="0" indent="0">
              <a:buNone/>
            </a:pPr>
            <a:r>
              <a:rPr lang="en-US" dirty="0"/>
              <a:t>4. Example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File Sharing Networks: 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KE" dirty="0"/>
              <a:t>Decentralized Applications (</a:t>
            </a:r>
            <a:r>
              <a:rPr lang="en-KE" dirty="0" err="1"/>
              <a:t>DApps</a:t>
            </a:r>
            <a:r>
              <a:rPr lang="en-KE" b="1" dirty="0"/>
              <a:t>)</a:t>
            </a:r>
            <a:r>
              <a:rPr lang="en-KE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75191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5CC3A-170D-78B1-49ED-88ED44FF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3. Layered Architecture -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FA4AE7-1C58-97DD-FE1C-86716AB0C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6176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O</a:t>
            </a:r>
            <a:r>
              <a:rPr lang="en-KE" dirty="0" err="1"/>
              <a:t>rganize</a:t>
            </a:r>
            <a:r>
              <a:rPr lang="en-US" dirty="0"/>
              <a:t>d</a:t>
            </a:r>
            <a:r>
              <a:rPr lang="en-KE" dirty="0"/>
              <a:t> into hierarchical layers, each with specific functions and responsibilities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25ECCF-F420-9826-014D-D590C7F263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71"/>
          <a:stretch>
            <a:fillRect/>
          </a:stretch>
        </p:blipFill>
        <p:spPr bwMode="auto">
          <a:xfrm>
            <a:off x="1105217" y="1855469"/>
            <a:ext cx="9204643" cy="4681973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43348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8D97-1889-DFDB-28C8-9F59ACF30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88011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Layered Architecture …../2</a:t>
            </a:r>
            <a:endParaRPr lang="en-KE" sz="36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577E1-B519-0591-C251-2B34C0AFC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8670"/>
            <a:ext cx="10515600" cy="5852160"/>
          </a:xfrm>
        </p:spPr>
        <p:txBody>
          <a:bodyPr>
            <a:normAutofit/>
          </a:bodyPr>
          <a:lstStyle/>
          <a:p>
            <a:r>
              <a:rPr lang="en-US" b="1" dirty="0"/>
              <a:t>Three – Tier Architecture (Standard)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Presentation Tier: User interface (Web browser, mobile app).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Logic Tier: Processes business rules, calculations, and data validation.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Data Tier: Database management system storing persistent data.</a:t>
            </a:r>
          </a:p>
          <a:p>
            <a:pPr marL="457200" lvl="1" indent="0">
              <a:buNone/>
            </a:pPr>
            <a:endParaRPr lang="en-US" sz="2800" dirty="0"/>
          </a:p>
          <a:p>
            <a:r>
              <a:rPr lang="en-US" b="1" dirty="0"/>
              <a:t>N-Tier Architecture (Multitier)</a:t>
            </a:r>
            <a:endParaRPr lang="en-US" dirty="0"/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Any distributed application with more than one tier, often used when more than three layers are needed.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800" dirty="0"/>
              <a:t>Components: Adds extra layers between the presentation and data layers, such as specialized application servers, web services, or security layers.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185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04EC-28F4-A154-93C3-6F5DB3A15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871"/>
            <a:ext cx="10515600" cy="902969"/>
          </a:xfrm>
        </p:spPr>
        <p:txBody>
          <a:bodyPr>
            <a:normAutofit fontScale="90000"/>
          </a:bodyPr>
          <a:lstStyle/>
          <a:p>
            <a:r>
              <a:rPr lang="en-US" sz="4000" b="1" u="sng" dirty="0">
                <a:latin typeface="+mn-lt"/>
              </a:rPr>
              <a:t>Layered Architecture – Advantages/Disadvantages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79AE0-975D-BC23-8984-05983E71D2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5840"/>
            <a:ext cx="10515600" cy="5749289"/>
          </a:xfrm>
        </p:spPr>
        <p:txBody>
          <a:bodyPr>
            <a:normAutofit/>
          </a:bodyPr>
          <a:lstStyle/>
          <a:p>
            <a:r>
              <a:rPr lang="en-US" b="1" dirty="0"/>
              <a:t>Advantages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Separation of Concerns: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Modularity: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Reusability: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Scalability: </a:t>
            </a:r>
            <a:endParaRPr lang="en-US" sz="2800" dirty="0"/>
          </a:p>
          <a:p>
            <a:r>
              <a:rPr lang="en-US" b="1" dirty="0"/>
              <a:t>Disadvantages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Performance Overhead: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Complexity: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Rigidity:</a:t>
            </a:r>
            <a:endParaRPr lang="en-US" sz="2800" dirty="0"/>
          </a:p>
          <a:p>
            <a:r>
              <a:rPr lang="en-US" b="1" dirty="0"/>
              <a:t>Examples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Web Applications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Enterprise Systems</a:t>
            </a:r>
            <a:endParaRPr lang="en-US" sz="2800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926760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D89B-82A4-7CF2-0A40-E12875C64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1"/>
            <a:ext cx="10515600" cy="76580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+mn-lt"/>
              </a:rPr>
              <a:t>4. </a:t>
            </a:r>
            <a:r>
              <a:rPr lang="en-KE" sz="3600" b="1" dirty="0">
                <a:latin typeface="+mn-lt"/>
              </a:rPr>
              <a:t>Data-</a:t>
            </a:r>
            <a:r>
              <a:rPr lang="en-KE" sz="3600" b="1" dirty="0" err="1">
                <a:latin typeface="+mn-lt"/>
              </a:rPr>
              <a:t>Centic</a:t>
            </a:r>
            <a:r>
              <a:rPr lang="en-KE" sz="3600" b="1" dirty="0">
                <a:latin typeface="+mn-lt"/>
              </a:rPr>
              <a:t> Architecture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17EB2-7168-BD8A-DADA-89A12A53D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250"/>
            <a:ext cx="10515600" cy="5772150"/>
          </a:xfrm>
        </p:spPr>
        <p:txBody>
          <a:bodyPr>
            <a:normAutofit/>
          </a:bodyPr>
          <a:lstStyle/>
          <a:p>
            <a:r>
              <a:rPr lang="en-US" dirty="0"/>
              <a:t>A</a:t>
            </a:r>
            <a:r>
              <a:rPr lang="en-KE" dirty="0" err="1"/>
              <a:t>rchitectural</a:t>
            </a:r>
            <a:r>
              <a:rPr lang="en-KE" dirty="0"/>
              <a:t> style that focuses on the central management and utilization of data</a:t>
            </a:r>
            <a:endParaRPr lang="en-US" dirty="0"/>
          </a:p>
          <a:p>
            <a:r>
              <a:rPr lang="en-US" dirty="0"/>
              <a:t>Data taken as critical asset – Primary concern</a:t>
            </a:r>
          </a:p>
          <a:p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US" sz="2800" dirty="0"/>
          </a:p>
          <a:p>
            <a:endParaRPr lang="en-US" dirty="0"/>
          </a:p>
          <a:p>
            <a:endParaRPr lang="en-KE" sz="2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A82A49-9A57-54B7-E0C0-959F16B4285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30" y="2464434"/>
            <a:ext cx="9041130" cy="399351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945156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7C1F-63D1-4BCE-0B78-D9B8B2B7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1441"/>
            <a:ext cx="10515600" cy="788669"/>
          </a:xfrm>
        </p:spPr>
        <p:txBody>
          <a:bodyPr>
            <a:normAutofit/>
          </a:bodyPr>
          <a:lstStyle/>
          <a:p>
            <a:r>
              <a:rPr lang="en-US" sz="4000" b="1" u="sng" dirty="0">
                <a:latin typeface="+mn-lt"/>
              </a:rPr>
              <a:t>Data </a:t>
            </a:r>
            <a:r>
              <a:rPr lang="en-US" sz="4000" b="1" u="sng" dirty="0" err="1">
                <a:latin typeface="+mn-lt"/>
              </a:rPr>
              <a:t>Centic</a:t>
            </a:r>
            <a:r>
              <a:rPr lang="en-US" sz="4000" b="1" u="sng" dirty="0">
                <a:latin typeface="+mn-lt"/>
              </a:rPr>
              <a:t> Architecture …../2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ADD26-136C-68EF-D67B-49CA9C7813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110"/>
            <a:ext cx="10515600" cy="5886449"/>
          </a:xfrm>
        </p:spPr>
        <p:txBody>
          <a:bodyPr>
            <a:normAutofit/>
          </a:bodyPr>
          <a:lstStyle/>
          <a:p>
            <a:r>
              <a:rPr lang="en-US" dirty="0"/>
              <a:t>Key Aspects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Centralized Data Management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Data Abstraction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Data Normalization: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Data Integration: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Scalability and Performance: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C1D1F1-EC3B-6B8B-8833-DF1E05EBF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157" y="3677919"/>
            <a:ext cx="9343073" cy="3088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88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251-06B5-EFC6-D113-A381C0FF3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5731"/>
            <a:ext cx="10515600" cy="77723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4. </a:t>
            </a:r>
            <a:r>
              <a:rPr lang="en-KE" sz="3600" b="1" u="sng" dirty="0">
                <a:latin typeface="+mn-lt"/>
              </a:rPr>
              <a:t>Service-Oriented Architecture (SOA)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C5A44-0C18-1844-1EBC-B5040E6A7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2970"/>
            <a:ext cx="10515600" cy="5829299"/>
          </a:xfrm>
        </p:spPr>
        <p:txBody>
          <a:bodyPr/>
          <a:lstStyle/>
          <a:p>
            <a:r>
              <a:rPr lang="en-US" dirty="0"/>
              <a:t>D</a:t>
            </a:r>
            <a:r>
              <a:rPr lang="en-KE" dirty="0" err="1"/>
              <a:t>esign</a:t>
            </a:r>
            <a:r>
              <a:rPr lang="en-KE" dirty="0"/>
              <a:t> paradigm in distributed systems where software components, known as "services," are provided and consumed across a network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C10EBD9-2CF3-5828-1D93-E786518B1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0150" y="1931670"/>
            <a:ext cx="9726930" cy="411480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94317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21D4-2BC1-E1D1-220B-287012522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674370"/>
          </a:xfrm>
        </p:spPr>
        <p:txBody>
          <a:bodyPr>
            <a:normAutofit/>
          </a:bodyPr>
          <a:lstStyle/>
          <a:p>
            <a:r>
              <a:rPr lang="en-KE" sz="4000" b="1" u="sng" dirty="0">
                <a:latin typeface="+mn-lt"/>
              </a:rPr>
              <a:t>Service-Oriented Architecture (SOA) </a:t>
            </a:r>
            <a:r>
              <a:rPr lang="en-US" sz="4000" b="1" u="sng" dirty="0">
                <a:latin typeface="+mn-lt"/>
              </a:rPr>
              <a:t> …./2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607DA-416C-5D1C-2B22-53002BF07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550"/>
            <a:ext cx="10515600" cy="5623560"/>
          </a:xfrm>
        </p:spPr>
        <p:txBody>
          <a:bodyPr>
            <a:normAutofit/>
          </a:bodyPr>
          <a:lstStyle/>
          <a:p>
            <a:r>
              <a:rPr lang="en-KE" b="1" dirty="0"/>
              <a:t>Key Principles </a:t>
            </a:r>
            <a:endParaRPr lang="en-US" b="1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Loose Coupling: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Service Reusability: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Interoperability:</a:t>
            </a:r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Discoverability: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r>
              <a:rPr lang="en-KE" sz="2800" dirty="0"/>
              <a:t>Abstraction: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endParaRPr lang="en-KE" sz="2800" dirty="0"/>
          </a:p>
          <a:p>
            <a:endParaRPr lang="en-K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CB23D-D757-F81F-6C3C-AE4524A12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067" y="3896994"/>
            <a:ext cx="9731693" cy="288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24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FDC5F-B3B3-FDF7-D12D-19F218980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011"/>
            <a:ext cx="10515600" cy="834389"/>
          </a:xfrm>
        </p:spPr>
        <p:txBody>
          <a:bodyPr>
            <a:normAutofit fontScale="90000"/>
          </a:bodyPr>
          <a:lstStyle/>
          <a:p>
            <a:r>
              <a:rPr lang="en-US" sz="3600" b="1" u="sng" dirty="0">
                <a:latin typeface="+mn-lt"/>
              </a:rPr>
              <a:t>5. </a:t>
            </a:r>
            <a:r>
              <a:rPr lang="en-KE" sz="3600" b="1" u="sng" dirty="0">
                <a:latin typeface="+mn-lt"/>
              </a:rPr>
              <a:t>Event-Based</a:t>
            </a:r>
            <a:r>
              <a:rPr lang="en-US" sz="3600" b="1" u="sng" dirty="0">
                <a:latin typeface="+mn-lt"/>
              </a:rPr>
              <a:t>/ Driven </a:t>
            </a:r>
            <a:r>
              <a:rPr lang="en-KE" sz="3600" b="1" u="sng" dirty="0">
                <a:latin typeface="+mn-lt"/>
              </a:rPr>
              <a:t>Architecture in Distributed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9271E-18AD-2F4D-5946-0042BA755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2990"/>
            <a:ext cx="10515600" cy="571499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KE" dirty="0"/>
              <a:t>Event-Driven Architecture (EDA) is an architectural pattern where the flow of data and control in a system is driven by events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31000F-1E8D-690D-374E-484B6B800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020" y="2023110"/>
            <a:ext cx="9681209" cy="40576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41864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50E6D-2984-5AC6-C00C-88AE73E3E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A49EB-C08E-B72B-5003-4D41A226E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674370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Event-Based</a:t>
            </a:r>
            <a:r>
              <a:rPr lang="en-US" sz="3600" b="1" u="sng" dirty="0">
                <a:latin typeface="+mn-lt"/>
              </a:rPr>
              <a:t>/Driven</a:t>
            </a:r>
            <a:r>
              <a:rPr lang="en-KE" sz="3600" b="1" u="sng" dirty="0">
                <a:latin typeface="+mn-lt"/>
              </a:rPr>
              <a:t> Architecture</a:t>
            </a:r>
            <a:r>
              <a:rPr lang="en-US" sz="3600" b="1" u="sng" dirty="0">
                <a:latin typeface="+mn-lt"/>
              </a:rPr>
              <a:t> </a:t>
            </a:r>
            <a:r>
              <a:rPr lang="en-KE" sz="3600" b="1" u="sng" dirty="0">
                <a:latin typeface="+mn-lt"/>
              </a:rPr>
              <a:t>(</a:t>
            </a:r>
            <a:r>
              <a:rPr lang="en-US" sz="3600" b="1" u="sng" dirty="0">
                <a:latin typeface="+mn-lt"/>
              </a:rPr>
              <a:t>EDA</a:t>
            </a:r>
            <a:r>
              <a:rPr lang="en-KE" sz="3600" b="1" u="sng" dirty="0">
                <a:latin typeface="+mn-lt"/>
              </a:rPr>
              <a:t>) </a:t>
            </a:r>
            <a:r>
              <a:rPr lang="en-US" sz="3600" b="1" u="sng" dirty="0">
                <a:latin typeface="+mn-lt"/>
              </a:rPr>
              <a:t> …./2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1E326-359B-9CFE-D369-AC0E10AD5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550"/>
            <a:ext cx="10900410" cy="5497830"/>
          </a:xfrm>
        </p:spPr>
        <p:txBody>
          <a:bodyPr>
            <a:normAutofit/>
          </a:bodyPr>
          <a:lstStyle/>
          <a:p>
            <a:r>
              <a:rPr lang="en-KE" b="1" dirty="0"/>
              <a:t>Key Principles </a:t>
            </a:r>
            <a:endParaRPr lang="en-US" b="1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Event Producers: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Event Consumers: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Event Channels: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Loose Coupling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endParaRPr lang="en-KE" sz="2800" dirty="0"/>
          </a:p>
          <a:p>
            <a:endParaRPr lang="en-K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FA264F-63FF-846E-99F7-B3A2A692B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857" y="3429000"/>
            <a:ext cx="8268653" cy="2731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8831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4B49-461F-4C23-8A99-004078CC1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720089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6. </a:t>
            </a:r>
            <a:r>
              <a:rPr lang="en-KE" sz="3600" b="1" u="sng" dirty="0">
                <a:latin typeface="+mn-lt"/>
              </a:rPr>
              <a:t>Microservices Architecture for Distributed Systems</a:t>
            </a:r>
            <a:endParaRPr lang="en-KE" sz="3600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EC136-182C-A8BA-7B9E-5E36BB9FD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4390"/>
            <a:ext cx="10515600" cy="5909309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KE" dirty="0"/>
              <a:t>design pattern where an application is composed of small, independent services that each perform a specific function. These services are loosely coupled and interact with each other through lightweight communication protocols, often over HTTP or messaging queues.</a:t>
            </a:r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395107-F89A-463B-A08B-D55FF12F20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122" y="2988627"/>
            <a:ext cx="9235758" cy="3583623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2307425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34497-1A11-968C-63F2-9FF397E9E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2A213-1A58-BB0C-45C9-569D45951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1"/>
            <a:ext cx="10515600" cy="674370"/>
          </a:xfrm>
        </p:spPr>
        <p:txBody>
          <a:bodyPr>
            <a:normAutofit/>
          </a:bodyPr>
          <a:lstStyle/>
          <a:p>
            <a:r>
              <a:rPr lang="en-KE" sz="3600" b="1" u="sng" dirty="0">
                <a:latin typeface="+mn-lt"/>
              </a:rPr>
              <a:t>Microservices Architecture </a:t>
            </a:r>
            <a:r>
              <a:rPr lang="en-US" sz="3600" b="1" u="sng" dirty="0">
                <a:latin typeface="+mn-lt"/>
              </a:rPr>
              <a:t>…./2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9FC1D-6AC7-AAC8-B046-954D4605D8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1549"/>
            <a:ext cx="10900410" cy="5772149"/>
          </a:xfrm>
        </p:spPr>
        <p:txBody>
          <a:bodyPr>
            <a:normAutofit/>
          </a:bodyPr>
          <a:lstStyle/>
          <a:p>
            <a:r>
              <a:rPr lang="en-KE" b="1" dirty="0"/>
              <a:t>Key Principles </a:t>
            </a:r>
            <a:endParaRPr lang="en-US" b="1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Single Responsibility: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Autonomy: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Decentralized Data Management: </a:t>
            </a:r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KE" sz="2800" dirty="0"/>
              <a:t>Inter-service Communication:</a:t>
            </a:r>
            <a:endParaRPr lang="en-US" sz="2800" dirty="0"/>
          </a:p>
          <a:p>
            <a:pPr marL="971550" lvl="1" indent="-514350">
              <a:buFont typeface="+mj-lt"/>
              <a:buAutoNum type="arabicParenR"/>
            </a:pPr>
            <a:endParaRPr lang="en-KE" sz="2800" dirty="0"/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4C20F9-4828-BB2C-FBB6-F5EC802EE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817" y="3348990"/>
            <a:ext cx="9603857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979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43ADB-DA78-AE86-E940-FEEDE709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91539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+mn-lt"/>
              </a:rPr>
              <a:t>Architecture - </a:t>
            </a:r>
            <a:r>
              <a:rPr lang="en-KE" b="1" u="sng" dirty="0">
                <a:latin typeface="+mn-lt"/>
              </a:rPr>
              <a:t>Design principles</a:t>
            </a:r>
            <a:endParaRPr lang="en-KE" sz="40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D3C68-28AA-200C-0E98-3B9244182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0130"/>
            <a:ext cx="10515600" cy="563498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KE" dirty="0"/>
              <a:t>Scalability: </a:t>
            </a:r>
            <a:endParaRPr lang="en-US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KE" sz="2800" dirty="0"/>
              <a:t>Horizontal scalability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KE" sz="2800" dirty="0"/>
              <a:t>Vertical scalability</a:t>
            </a:r>
            <a:r>
              <a:rPr lang="en-KE" dirty="0"/>
              <a:t>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Fault tolerance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Replication: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Checkpoints: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Failover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Heterogeneity: .</a:t>
            </a:r>
            <a:endParaRPr lang="en-KE" sz="2400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Openness: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Security: 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KE" dirty="0"/>
              <a:t>Failure handling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4178786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D77E2-9CDC-8B6C-658B-260368482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35834-8307-252F-A344-7C0D192DD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81036"/>
          </a:xfrm>
        </p:spPr>
        <p:txBody>
          <a:bodyPr>
            <a:normAutofit/>
          </a:bodyPr>
          <a:lstStyle/>
          <a:p>
            <a:r>
              <a:rPr lang="en-US" sz="3600" b="1" u="sng" dirty="0">
                <a:latin typeface="+mn-lt"/>
              </a:rPr>
              <a:t>Architecture - </a:t>
            </a:r>
            <a:r>
              <a:rPr lang="en-KE" sz="3600" b="1" u="sng" dirty="0">
                <a:latin typeface="+mn-lt"/>
              </a:rPr>
              <a:t>Design principles</a:t>
            </a:r>
            <a:r>
              <a:rPr lang="en-US" sz="3600" b="1" u="sng" dirty="0">
                <a:latin typeface="+mn-lt"/>
              </a:rPr>
              <a:t> …./2</a:t>
            </a:r>
            <a:endParaRPr lang="en-KE" sz="3600" b="1" u="sng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EFB57-7571-1A94-5128-EFD407A68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6"/>
            <a:ext cx="10515600" cy="59940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10. </a:t>
            </a:r>
            <a:r>
              <a:rPr lang="en-KE" dirty="0"/>
              <a:t>Concurrency: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11. </a:t>
            </a:r>
            <a:r>
              <a:rPr lang="en-KE" dirty="0"/>
              <a:t>Transparency</a:t>
            </a:r>
            <a:endParaRPr lang="en-US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en-KE" sz="2400" dirty="0"/>
              <a:t>Location transparency: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KE" sz="2400" dirty="0"/>
              <a:t>Migration transparency: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KE" sz="2400" dirty="0"/>
              <a:t>Replication transparency: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KE" sz="2400" dirty="0"/>
              <a:t>Concurrency transparency: 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KE" sz="2400" dirty="0"/>
              <a:t>Parallelism transparency: </a:t>
            </a:r>
            <a:endParaRPr lang="en-US" sz="2400" dirty="0"/>
          </a:p>
          <a:p>
            <a:pPr marL="0" indent="0">
              <a:buNone/>
            </a:pPr>
            <a:r>
              <a:rPr lang="en-US" dirty="0"/>
              <a:t>12. </a:t>
            </a:r>
            <a:r>
              <a:rPr lang="en-KE" dirty="0"/>
              <a:t>Quality of service: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13. </a:t>
            </a:r>
            <a:r>
              <a:rPr lang="en-KE" dirty="0"/>
              <a:t>Reliability: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14. </a:t>
            </a:r>
            <a:r>
              <a:rPr lang="en-KE" dirty="0"/>
              <a:t>Performance:</a:t>
            </a:r>
            <a:endParaRPr lang="en-US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360470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3A41D-57F3-1900-39A1-F356623B6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rmAutofit fontScale="90000"/>
          </a:bodyPr>
          <a:lstStyle/>
          <a:p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96A15-EED5-BC06-CF6B-D63A03DC4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1560"/>
            <a:ext cx="10515600" cy="5125403"/>
          </a:xfrm>
        </p:spPr>
        <p:txBody>
          <a:bodyPr/>
          <a:lstStyle/>
          <a:p>
            <a:endParaRPr lang="en-US" dirty="0"/>
          </a:p>
          <a:p>
            <a:pPr marL="0" indent="0" algn="ctr">
              <a:buNone/>
            </a:pPr>
            <a:r>
              <a:rPr lang="en-US" sz="4400" b="1" dirty="0"/>
              <a:t>Question and Answers</a:t>
            </a:r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endParaRPr lang="en-US" sz="4400" b="1" dirty="0"/>
          </a:p>
          <a:p>
            <a:pPr marL="0" indent="0" algn="ctr">
              <a:buNone/>
            </a:pPr>
            <a:r>
              <a:rPr lang="en-US" sz="4400" b="1" dirty="0"/>
              <a:t>End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39111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758</Words>
  <Application>Microsoft Office PowerPoint</Application>
  <PresentationFormat>Widescreen</PresentationFormat>
  <Paragraphs>192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Algerian</vt:lpstr>
      <vt:lpstr>Arial</vt:lpstr>
      <vt:lpstr>Calibri</vt:lpstr>
      <vt:lpstr>Calibri Light</vt:lpstr>
      <vt:lpstr>Wingdings</vt:lpstr>
      <vt:lpstr>Office Theme</vt:lpstr>
      <vt:lpstr>Chapter 2 – Distributed Systems Architecture</vt:lpstr>
      <vt:lpstr>Introduction</vt:lpstr>
      <vt:lpstr>Architectural Styles in DS</vt:lpstr>
      <vt:lpstr>Architecture - categories</vt:lpstr>
      <vt:lpstr>1. Client-server Architecture</vt:lpstr>
      <vt:lpstr>Client Server…… /2</vt:lpstr>
      <vt:lpstr>2. Peer-to-Peer (P2P) Architecture</vt:lpstr>
      <vt:lpstr>Peer – to - Peer…… /2</vt:lpstr>
      <vt:lpstr>3. Layered Architecture -</vt:lpstr>
      <vt:lpstr>Layered Architecture …../2</vt:lpstr>
      <vt:lpstr>Layered Architecture – Advantages/Disadvantages</vt:lpstr>
      <vt:lpstr>4. Data-Centic Architecture</vt:lpstr>
      <vt:lpstr>Data Centic Architecture …../2</vt:lpstr>
      <vt:lpstr>4. Service-Oriented Architecture (SOA) </vt:lpstr>
      <vt:lpstr>Service-Oriented Architecture (SOA)  …./2</vt:lpstr>
      <vt:lpstr>5. Event-Based/ Driven Architecture in Distributed Systems</vt:lpstr>
      <vt:lpstr>Event-Based/Driven Architecture (EDA)  …./2</vt:lpstr>
      <vt:lpstr>6. Microservices Architecture for Distributed Systems</vt:lpstr>
      <vt:lpstr>Microservices Architecture …./2</vt:lpstr>
      <vt:lpstr>Architecture - Design principles</vt:lpstr>
      <vt:lpstr>Architecture - Design principles …./2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MERCY</dc:creator>
  <cp:lastModifiedBy>MERCY</cp:lastModifiedBy>
  <cp:revision>9</cp:revision>
  <cp:lastPrinted>2026-03-04T10:08:07Z</cp:lastPrinted>
  <dcterms:created xsi:type="dcterms:W3CDTF">2026-02-25T17:46:54Z</dcterms:created>
  <dcterms:modified xsi:type="dcterms:W3CDTF">2026-03-04T10:09:08Z</dcterms:modified>
</cp:coreProperties>
</file>