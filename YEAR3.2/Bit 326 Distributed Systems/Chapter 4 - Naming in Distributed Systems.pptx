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8" autoAdjust="0"/>
    <p:restoredTop sz="94660"/>
  </p:normalViewPr>
  <p:slideViewPr>
    <p:cSldViewPr snapToGrid="0">
      <p:cViewPr varScale="1">
        <p:scale>
          <a:sx n="56" d="100"/>
          <a:sy n="56" d="100"/>
        </p:scale>
        <p:origin x="8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D8F4F-FAFB-1551-48E4-8587C7F08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06F6D-5A98-494F-6128-A063A53D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1E9B4-676D-82EF-5E7D-F074B395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1D544-B666-9487-EDF2-06FDED59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8B44-2C36-DF3E-C9E7-11339077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4308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C8D5-A8AC-756A-119E-F49C8892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D4C5-B199-06AA-CF5B-613770BD0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9D3A2-0BA1-B8AE-E0C7-B8DD8C46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F91B5-5F61-B82A-7EC6-28A9B74E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DA6FF-5B38-1C84-4ED4-FFA4C177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2495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7882-1164-A81D-EFF7-900794B5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F6516-2B87-1367-A91D-5512A3F96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2B3DE-37ED-F710-74DA-0993EF0D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98315-D7CF-1BA4-5972-65518A83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E8F47-6DC5-6196-868A-9162450B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3471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E33A-3523-2659-714A-6A1C1B0E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7A848-966D-60D9-08DA-D072BBA1E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50F07-21A7-8B00-4A4E-10FFC30A7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A3024-3AC6-3120-595B-4B7CA796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E0E5B-8337-0943-BF79-B46A503F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1622D-7A5C-E6D7-A10D-999D5E40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9798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D1A4-6C76-0245-C0A0-C8AF4431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E9426-2B95-3E2C-3120-9DFF7A6B6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4C5D8-1216-7F44-1A5E-D6937B4F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5B62B-2949-C0B3-20DD-E045D4D50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43281-DE2C-28B2-71FB-4C7B6125F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D4E13-0EBB-05BB-E78B-3B2F58EA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77BA6-C42C-308D-5BB1-B102F27F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76CC1-DA35-ADDF-5F2F-D98AA1E0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7715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B022-C3FF-A968-719E-FACD73B0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AE4D5-4BD1-725B-D4FC-6C3F8418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2876F-5844-7457-D56A-BDCC9A91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04132-79ED-63DB-3736-3ED7A95F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8362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9CBB8-CB92-6FE0-8477-2EC6C849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C6C57-884B-234B-F395-5CA2065A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B8B0-C4EE-3B14-7F06-00429D62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7577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44DB-1668-64F8-CE66-0C513E33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1478-2C69-4A61-1236-13E27522A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21562-B01B-104F-D48F-841B70E23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A278B-DB6E-F10C-59B5-8B47AC5E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ECCDD-0502-D92D-62F5-62511149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257C6-7B3C-1583-BFBC-4FE545DD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3035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5967-BB30-2CFB-8932-E9490679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280BB-3875-B6BB-6486-774D41E1C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2345F-0A8C-78F6-0E96-54A7A351C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607FC-C9B9-95B0-2CBC-B5FC1417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6111B-74D7-5B97-A976-2CE86D48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26AB2-427B-4F3D-5DDB-F5827E5F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9084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6F21-6571-6B84-25BC-A825E90F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C3305-3FF7-5D46-8C44-D17D81E51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0A15-03EB-7E2F-40B7-91A5177D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3D56E-F33C-621E-AC31-0934328F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9D830-9957-1084-281D-DA63F4E7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7215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907475-7A91-9A9F-7C7E-1F1CEFFB2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EC202-AFE7-057B-3D0D-169EB7DC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1D26-C075-A006-2662-3BDA34FA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0149B-3B73-63BC-A377-EC588546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0C607-517E-EF40-36D5-566959C3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280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89530-5A3F-EB4A-B003-87FA5FBA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CA7F9-3945-1864-BAB2-E1FC3801F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7068E-7475-2CA6-8543-BAB791D49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3F9A0-8CA8-4091-B38E-E30A298179EF}" type="datetimeFigureOut">
              <a:rPr lang="en-KE" smtClean="0"/>
              <a:t>11/03/2026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41F9F-4051-CA55-5A34-091367F55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DEA98-1BDD-24E7-7F82-DF0341998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45B21-497A-4E45-9D4D-0BFB523831E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6889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B40D-47BC-C5F5-DFCC-D5C64D49C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Naming in Distributed Systems</a:t>
            </a:r>
            <a:endParaRPr lang="en-KE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D1A9-0268-8EAE-E8AE-7F4F573C8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dirty="0">
                <a:latin typeface="Algerian" panose="04020705040A02060702" pitchFamily="82" charset="0"/>
              </a:rPr>
              <a:t>Mercy Maina</a:t>
            </a:r>
            <a:endParaRPr lang="en-KE" sz="3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3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C5E9-7234-38CF-353F-3DC18443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91"/>
            <a:ext cx="10515600" cy="72008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Introduction</a:t>
            </a:r>
            <a:endParaRPr lang="en-KE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1728-1D47-0EBD-B889-EC0445F2D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r>
              <a:rPr lang="en-KE" dirty="0"/>
              <a:t>Names play a very important role in all computer systems.</a:t>
            </a:r>
            <a:endParaRPr lang="en-US" dirty="0"/>
          </a:p>
          <a:p>
            <a:r>
              <a:rPr lang="en-KE" dirty="0"/>
              <a:t> They are used to share resources, to uniquely identify entities, to refer to locations, and more. </a:t>
            </a:r>
            <a:endParaRPr lang="en-US" dirty="0"/>
          </a:p>
          <a:p>
            <a:r>
              <a:rPr lang="en-KE" dirty="0"/>
              <a:t>An important issue with naming is that a name can be resolved to the entity it refers to. </a:t>
            </a:r>
            <a:endParaRPr lang="en-US" dirty="0"/>
          </a:p>
          <a:p>
            <a:r>
              <a:rPr lang="en-KE" dirty="0"/>
              <a:t>Naming in distributed systems provides a way to identify and locate resources </a:t>
            </a:r>
            <a:endParaRPr lang="en-US" dirty="0"/>
          </a:p>
          <a:p>
            <a:r>
              <a:rPr lang="en-US" dirty="0"/>
              <a:t>I</a:t>
            </a:r>
            <a:r>
              <a:rPr lang="en-KE" dirty="0" err="1"/>
              <a:t>mplementation</a:t>
            </a:r>
            <a:r>
              <a:rPr lang="en-KE" dirty="0"/>
              <a:t> of a naming system is itself often distributed across multiple machines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0072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7ACA-8E17-A760-8E04-4AE70C7E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71"/>
            <a:ext cx="10515600" cy="578166"/>
          </a:xfrm>
        </p:spPr>
        <p:txBody>
          <a:bodyPr>
            <a:normAutofit fontScale="90000"/>
          </a:bodyPr>
          <a:lstStyle/>
          <a:p>
            <a:r>
              <a:rPr lang="en-KE" sz="3600" b="1" dirty="0">
                <a:latin typeface="+mn-lt"/>
              </a:rPr>
              <a:t>Key Concepts in Distributed Naming</a:t>
            </a:r>
            <a:endParaRPr lang="en-KE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775F-1AB7-D96E-81B2-7FB958F98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6074092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KE" b="1" dirty="0"/>
              <a:t>Entity:</a:t>
            </a:r>
            <a:r>
              <a:rPr lang="en-KE" dirty="0"/>
              <a:t> Any resource (e.g., host, Server, printer, file, serverless function) requiring identification</a:t>
            </a:r>
            <a:endParaRPr lang="en-US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Name:</a:t>
            </a:r>
            <a:r>
              <a:rPr lang="en-KE" dirty="0"/>
              <a:t> </a:t>
            </a:r>
            <a:r>
              <a:rPr lang="en-US" dirty="0"/>
              <a:t>A</a:t>
            </a:r>
            <a:r>
              <a:rPr lang="en-KE" dirty="0"/>
              <a:t> string of bits or characters that is used to uniquely identify, locate, and access resources (entities</a:t>
            </a:r>
            <a:endParaRPr lang="en-US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Name System</a:t>
            </a:r>
            <a:r>
              <a:rPr lang="en-KE" dirty="0"/>
              <a:t>: foundational mechanisms that assign, resolve, and manage identifiers (names) for resources like files, services, and nodes.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Name Service</a:t>
            </a:r>
            <a:r>
              <a:rPr lang="en-KE" dirty="0"/>
              <a:t>: Mechanism that provides a consistent, uniform, and human-readable way to identify and locate resources (e.g., servers, files, users) across a network, mapping these names to system-internal identifiers like IP addresses.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KE" b="1" dirty="0"/>
              <a:t>Address</a:t>
            </a:r>
            <a:r>
              <a:rPr lang="en-KE" dirty="0"/>
              <a:t>: The name of the access point to an entity.  It is used to locate and it enables an entity to be operated. </a:t>
            </a:r>
          </a:p>
        </p:txBody>
      </p:sp>
    </p:spTree>
    <p:extLst>
      <p:ext uri="{BB962C8B-B14F-4D97-AF65-F5344CB8AC3E}">
        <p14:creationId xmlns:p14="http://schemas.microsoft.com/office/powerpoint/2010/main" val="380692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835E-096C-71E7-2C91-3251DFE9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1"/>
            <a:ext cx="10515600" cy="61721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Key concepts …../2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DD81-9AA7-B00C-7B57-692225661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10"/>
            <a:ext cx="10515600" cy="564642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b="1" dirty="0"/>
              <a:t>6. </a:t>
            </a:r>
            <a:r>
              <a:rPr lang="en-KE" b="1" dirty="0"/>
              <a:t>Identifier:</a:t>
            </a:r>
            <a:r>
              <a:rPr lang="en-KE" dirty="0"/>
              <a:t> A unique name for an entity that does not change. </a:t>
            </a:r>
            <a:endParaRPr lang="en-KE" sz="2400" dirty="0"/>
          </a:p>
          <a:p>
            <a:pPr marL="446088" lvl="0" indent="-446088" algn="just">
              <a:buNone/>
            </a:pPr>
            <a:r>
              <a:rPr lang="en-US" b="1" dirty="0"/>
              <a:t>7. </a:t>
            </a:r>
            <a:r>
              <a:rPr lang="en-KE" b="1" dirty="0"/>
              <a:t>Name Space</a:t>
            </a:r>
            <a:r>
              <a:rPr lang="en-KE" dirty="0"/>
              <a:t>: A graph consisting of directory nodes (grouping names) and leaf nodes (representing resources).</a:t>
            </a:r>
            <a:endParaRPr lang="en-KE" sz="2400" dirty="0"/>
          </a:p>
          <a:p>
            <a:pPr marL="446088" lvl="0" indent="-446088" algn="just">
              <a:buNone/>
            </a:pPr>
            <a:r>
              <a:rPr lang="en-US" b="1" dirty="0"/>
              <a:t>8. </a:t>
            </a:r>
            <a:r>
              <a:rPr lang="en-KE" b="1" dirty="0"/>
              <a:t>Name Server</a:t>
            </a:r>
            <a:r>
              <a:rPr lang="en-KE" dirty="0"/>
              <a:t>: Stores the bindings between names and network addresses.</a:t>
            </a:r>
            <a:endParaRPr lang="en-KE" sz="2400" dirty="0"/>
          </a:p>
          <a:p>
            <a:pPr marL="446088" lvl="0" indent="-446088" algn="just">
              <a:buNone/>
            </a:pPr>
            <a:r>
              <a:rPr lang="en-US" b="1" dirty="0"/>
              <a:t>9. </a:t>
            </a:r>
            <a:r>
              <a:rPr lang="en-KE" b="1" dirty="0"/>
              <a:t>Name Resolution</a:t>
            </a:r>
            <a:r>
              <a:rPr lang="en-KE" dirty="0"/>
              <a:t>: The process of mapping a name to the entity's address or identifier. </a:t>
            </a:r>
            <a:endParaRPr lang="en-KE" sz="2400" dirty="0"/>
          </a:p>
          <a:p>
            <a:pPr marL="536575" lvl="0" indent="-536575" algn="just">
              <a:buNone/>
            </a:pPr>
            <a:r>
              <a:rPr lang="en-US" b="1" dirty="0"/>
              <a:t>10. </a:t>
            </a:r>
            <a:r>
              <a:rPr lang="en-KE" b="1" dirty="0"/>
              <a:t>Resolution Process</a:t>
            </a:r>
            <a:r>
              <a:rPr lang="en-KE" dirty="0"/>
              <a:t>: The mechanism by which a client follows paths through the name space to find the target.</a:t>
            </a:r>
            <a:endParaRPr lang="en-KE" sz="2400" dirty="0"/>
          </a:p>
          <a:p>
            <a:pPr marL="628650" lvl="0" indent="-628650" algn="just">
              <a:buNone/>
            </a:pPr>
            <a:r>
              <a:rPr lang="en-US" b="1" dirty="0"/>
              <a:t>11. </a:t>
            </a:r>
            <a:r>
              <a:rPr lang="en-KE" b="1" dirty="0"/>
              <a:t>Reverse Name Resolution</a:t>
            </a:r>
            <a:r>
              <a:rPr lang="en-KE" dirty="0"/>
              <a:t>: Translating an address back into a human-readable name. </a:t>
            </a:r>
            <a:endParaRPr lang="en-KE" sz="2400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4031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A46B-9296-40C9-C7D0-28AF6901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Name Service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5FD0A-5BEE-FB15-CF80-DF9334931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6176963"/>
          </a:xfrm>
        </p:spPr>
        <p:txBody>
          <a:bodyPr>
            <a:noAutofit/>
          </a:bodyPr>
          <a:lstStyle/>
          <a:p>
            <a:r>
              <a:rPr lang="en-US" sz="2600" dirty="0"/>
              <a:t>Aims</a:t>
            </a:r>
            <a:r>
              <a:rPr lang="en-KE" sz="2600" dirty="0"/>
              <a:t> to provide a consistent and uniform naming of resources</a:t>
            </a:r>
            <a:endParaRPr lang="en-US" sz="2600" dirty="0"/>
          </a:p>
          <a:p>
            <a:pPr lvl="0"/>
            <a:r>
              <a:rPr lang="en-US" sz="2600" b="1" dirty="0"/>
              <a:t>Purpose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Name Resolution:</a:t>
            </a:r>
            <a:endParaRPr lang="en-US" sz="26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600" dirty="0"/>
              <a:t>Recursive:.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600" dirty="0"/>
              <a:t>Iterative: </a:t>
            </a:r>
            <a:endParaRPr lang="en-US" sz="2600" dirty="0"/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Publish-Subscribe systems:</a:t>
            </a:r>
            <a:endParaRPr lang="en-US" sz="2600" dirty="0"/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Named Spaces: </a:t>
            </a:r>
            <a:endParaRPr lang="en-US" sz="2600" dirty="0"/>
          </a:p>
          <a:p>
            <a:pPr marL="914400" lvl="1" indent="-457200">
              <a:buFont typeface="+mj-lt"/>
              <a:buAutoNum type="arabicParenR"/>
            </a:pPr>
            <a:r>
              <a:rPr lang="en-US" sz="2600" dirty="0"/>
              <a:t>Stores </a:t>
            </a:r>
            <a:r>
              <a:rPr lang="en-KE" sz="2600" dirty="0"/>
              <a:t>Attributes and Bindings:</a:t>
            </a:r>
            <a:endParaRPr lang="en-US" sz="2600" dirty="0"/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Caching:  enables resource location, sharing, and lookup across a network</a:t>
            </a:r>
            <a:endParaRPr lang="en-US" sz="2600" dirty="0"/>
          </a:p>
          <a:p>
            <a:r>
              <a:rPr lang="en-US" sz="2600" b="1" dirty="0"/>
              <a:t>Benefits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Resource localization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Uniform naming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Device independent address</a:t>
            </a:r>
          </a:p>
        </p:txBody>
      </p:sp>
    </p:spTree>
    <p:extLst>
      <p:ext uri="{BB962C8B-B14F-4D97-AF65-F5344CB8AC3E}">
        <p14:creationId xmlns:p14="http://schemas.microsoft.com/office/powerpoint/2010/main" val="19456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18BA-9578-A82F-C52C-D8B666DE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74294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Name System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CF027-66F8-6AE1-7E91-00BF2F301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4410"/>
            <a:ext cx="10515600" cy="5737859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C</a:t>
            </a:r>
            <a:r>
              <a:rPr lang="en-KE" sz="2600" dirty="0" err="1"/>
              <a:t>oncrete</a:t>
            </a:r>
            <a:r>
              <a:rPr lang="en-KE" sz="2600" dirty="0"/>
              <a:t>, hierarchical network infrastructure that implements name service.</a:t>
            </a:r>
            <a:r>
              <a:rPr lang="en-US" sz="2600" dirty="0"/>
              <a:t> P</a:t>
            </a:r>
            <a:r>
              <a:rPr lang="en-KE" sz="2600" dirty="0" err="1"/>
              <a:t>rovides</a:t>
            </a:r>
            <a:r>
              <a:rPr lang="en-KE" sz="2600" dirty="0"/>
              <a:t> the storage and lookup mechanism. </a:t>
            </a:r>
            <a:endParaRPr lang="en-US" sz="2600" dirty="0"/>
          </a:p>
          <a:p>
            <a:pPr lvl="0" algn="just"/>
            <a:r>
              <a:rPr lang="en-US" sz="2600" b="1" dirty="0"/>
              <a:t>Importance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Resource Identification and Access: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Location Transparency and Independence: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Scalability: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Support for Mobility: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Name Resolution: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Simplified Communication: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Fault Tolerance: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Security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User-Friendly: </a:t>
            </a:r>
            <a:endParaRPr lang="en-US" sz="26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600" dirty="0"/>
              <a:t>Efficiency:</a:t>
            </a:r>
          </a:p>
        </p:txBody>
      </p:sp>
    </p:spTree>
    <p:extLst>
      <p:ext uri="{BB962C8B-B14F-4D97-AF65-F5344CB8AC3E}">
        <p14:creationId xmlns:p14="http://schemas.microsoft.com/office/powerpoint/2010/main" val="287422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8669-39AD-E5F8-9443-F5748B8A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72008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Naming Schema in Distributed Systems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4BDB-B68B-641D-72B3-665789DC5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4410"/>
            <a:ext cx="10515600" cy="5863590"/>
          </a:xfrm>
        </p:spPr>
        <p:txBody>
          <a:bodyPr>
            <a:normAutofit/>
          </a:bodyPr>
          <a:lstStyle/>
          <a:p>
            <a:r>
              <a:rPr lang="en-US" dirty="0"/>
              <a:t>R</a:t>
            </a:r>
            <a:r>
              <a:rPr lang="en-KE" dirty="0"/>
              <a:t>ules by which names are given to individual entities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critical role in resource identification and location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abstract the complexity of resource management and enable seamless interaction between components, regardless of their location or underlying infrastructure.</a:t>
            </a:r>
            <a:endParaRPr lang="en-US" dirty="0"/>
          </a:p>
          <a:p>
            <a:r>
              <a:rPr lang="en-US" dirty="0"/>
              <a:t>Types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Flat Naming / Simple Schema: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Structured Naming / Hierarchical Naming: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Attribute-Based Naming: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endParaRPr lang="en-KE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7107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9E8C-1E98-05C6-C777-ACA646AC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1"/>
            <a:ext cx="10515600" cy="68579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Flat Naming / Simple Naming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96E5-20AA-1079-9F03-F10094351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8689"/>
            <a:ext cx="10515600" cy="5829299"/>
          </a:xfrm>
        </p:spPr>
        <p:txBody>
          <a:bodyPr>
            <a:normAutofit/>
          </a:bodyPr>
          <a:lstStyle/>
          <a:p>
            <a:r>
              <a:rPr lang="en-US" dirty="0"/>
              <a:t>Features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Unique Identifiers: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Simplicity: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Flexibility: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Decentralization: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Scalability: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Avoids Bottlenecks: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Lack of Structure: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Name Resolution Approaches: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Scalability &amp; Performance</a:t>
            </a:r>
          </a:p>
        </p:txBody>
      </p:sp>
    </p:spTree>
    <p:extLst>
      <p:ext uri="{BB962C8B-B14F-4D97-AF65-F5344CB8AC3E}">
        <p14:creationId xmlns:p14="http://schemas.microsoft.com/office/powerpoint/2010/main" val="169820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63C2-2D65-74D8-9669-7C3978E4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20089"/>
          </a:xfrm>
        </p:spPr>
        <p:txBody>
          <a:bodyPr>
            <a:normAutofit/>
          </a:bodyPr>
          <a:lstStyle/>
          <a:p>
            <a:r>
              <a:rPr lang="en-KE" sz="3600" b="1" dirty="0">
                <a:latin typeface="+mn-lt"/>
              </a:rPr>
              <a:t>Structured / Hierarchical Naming</a:t>
            </a:r>
            <a:endParaRPr lang="en-KE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E144-F52F-34FB-67AF-58C64637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1530"/>
            <a:ext cx="10515600" cy="5955029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I</a:t>
            </a:r>
            <a:r>
              <a:rPr lang="en-KE" sz="2600" dirty="0" err="1"/>
              <a:t>ntroduces</a:t>
            </a:r>
            <a:r>
              <a:rPr lang="en-KE" sz="2600" dirty="0"/>
              <a:t> a hierarchical structure to the names of objects or entities</a:t>
            </a:r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Example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600" dirty="0"/>
              <a:t>DNS – Domain Name System, 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600" dirty="0"/>
              <a:t>LDAP - </a:t>
            </a:r>
            <a:r>
              <a:rPr lang="en-KE" sz="2600" dirty="0"/>
              <a:t>Lightweight Directory Access Protocol</a:t>
            </a:r>
            <a:endParaRPr lang="en-US" sz="2600" dirty="0"/>
          </a:p>
          <a:p>
            <a:pPr marL="971550" lvl="1" indent="-514350">
              <a:buFont typeface="+mj-lt"/>
              <a:buAutoNum type="arabicParenR"/>
            </a:pPr>
            <a:r>
              <a:rPr lang="en-US" sz="2600" dirty="0"/>
              <a:t> Distributed file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0F428-2B70-AC81-40FA-FF673E734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111" y="1245869"/>
            <a:ext cx="6766559" cy="370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0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EB83-8083-7BAA-DE43-A608B645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0099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+mn-lt"/>
              </a:rPr>
              <a:t>Structured Naming ……. /2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5354-FA0B-FEF7-8B7F-454E7021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0090"/>
            <a:ext cx="10515600" cy="6137909"/>
          </a:xfrm>
        </p:spPr>
        <p:txBody>
          <a:bodyPr>
            <a:noAutofit/>
          </a:bodyPr>
          <a:lstStyle/>
          <a:p>
            <a:pPr lvl="0"/>
            <a:r>
              <a:rPr lang="en-US" sz="2400" b="1" dirty="0"/>
              <a:t>Key Concepts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Hierarchy Structure: </a:t>
            </a:r>
            <a:r>
              <a:rPr lang="en-US" dirty="0"/>
              <a:t> </a:t>
            </a:r>
            <a:r>
              <a:rPr lang="en-KE" dirty="0"/>
              <a:t>e.g., /home/user/file or sub.example.com).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Graph-Based Namespace: 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Name Resolution: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Directory Nodes: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Separation of Duties: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Path Names: </a:t>
            </a:r>
            <a:endParaRPr lang="en-US" dirty="0"/>
          </a:p>
          <a:p>
            <a:pPr marL="0" indent="0">
              <a:buNone/>
            </a:pPr>
            <a:r>
              <a:rPr lang="en-KE" sz="2400" b="1" dirty="0"/>
              <a:t>Benefits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Human-Readable: Easier to remember than numerical IP addresses.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Scalability: 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Flexibility: 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Allows for easier organization, navigation, and identification of objects.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It also provides a clear relationship between objects within the hierarchy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Scalability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Efficient Lookup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85166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FFA6-12D2-EBFF-A732-314E21D1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580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Attribute – Based Naming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1DA0-90CE-392D-4052-35F9D43D3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0120"/>
            <a:ext cx="10515600" cy="5897880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KE" dirty="0" err="1"/>
              <a:t>ssigns</a:t>
            </a:r>
            <a:r>
              <a:rPr lang="en-KE" dirty="0"/>
              <a:t> names to objects based on their specific attributes or characteristics. </a:t>
            </a:r>
            <a:endParaRPr lang="en-US" dirty="0"/>
          </a:p>
          <a:p>
            <a:r>
              <a:rPr lang="en-US" dirty="0"/>
              <a:t>U</a:t>
            </a:r>
            <a:r>
              <a:rPr lang="en-KE" dirty="0" err="1"/>
              <a:t>ses</a:t>
            </a:r>
            <a:r>
              <a:rPr lang="en-KE" dirty="0"/>
              <a:t> descriptive attributes to uniquely identify objects</a:t>
            </a:r>
            <a:r>
              <a:rPr lang="en-US" dirty="0"/>
              <a:t> (</a:t>
            </a:r>
            <a:r>
              <a:rPr lang="en-US" i="1" dirty="0"/>
              <a:t>location = floor2, Type = printer</a:t>
            </a:r>
            <a:r>
              <a:rPr lang="en-US" dirty="0"/>
              <a:t>)</a:t>
            </a:r>
          </a:p>
          <a:p>
            <a:r>
              <a:rPr lang="en-US" dirty="0"/>
              <a:t>Key Concepts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Attributes: Describe aspects of the entity, including type, location, or owner.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Directory Service: A distributed database or registry that stores these descriptions.</a:t>
            </a:r>
            <a:r>
              <a:rPr lang="en-US" sz="2800" dirty="0"/>
              <a:t> - </a:t>
            </a:r>
            <a:r>
              <a:rPr lang="en-KE" sz="2800" dirty="0"/>
              <a:t> "phonebook" for IT environments,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Flexible </a:t>
            </a:r>
            <a:r>
              <a:rPr lang="en-KE" sz="2800" dirty="0"/>
              <a:t>Querying: Enables partial matches and complex queries, unlike rigid hierarchical naming systems.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Search Capabilities</a:t>
            </a:r>
            <a:endParaRPr lang="en-KE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Identifiers: </a:t>
            </a:r>
          </a:p>
        </p:txBody>
      </p:sp>
    </p:spTree>
    <p:extLst>
      <p:ext uri="{BB962C8B-B14F-4D97-AF65-F5344CB8AC3E}">
        <p14:creationId xmlns:p14="http://schemas.microsoft.com/office/powerpoint/2010/main" val="3920233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677C-1FE9-3354-6090-41721981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91439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Naming – Design Requirements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F9EC7-0D80-F9D5-3258-C19D667E4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130"/>
            <a:ext cx="10515600" cy="5136833"/>
          </a:xfrm>
        </p:spPr>
        <p:txBody>
          <a:bodyPr/>
          <a:lstStyle/>
          <a:p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Location Transparency</a:t>
            </a:r>
            <a:r>
              <a:rPr lang="en-KE" b="1" dirty="0"/>
              <a:t>:</a:t>
            </a:r>
            <a:r>
              <a:rPr lang="en-KE" dirty="0"/>
              <a:t> The name does not reveal the physical location of the entity.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Location Independence</a:t>
            </a:r>
            <a:r>
              <a:rPr lang="en-KE" b="1" dirty="0"/>
              <a:t>:</a:t>
            </a:r>
            <a:r>
              <a:rPr lang="en-KE" dirty="0"/>
              <a:t> An entity's name does not change when its location changes.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Scalability</a:t>
            </a:r>
            <a:r>
              <a:rPr lang="en-KE" b="1" dirty="0"/>
              <a:t>:</a:t>
            </a:r>
            <a:r>
              <a:rPr lang="en-KE" dirty="0"/>
              <a:t> Naming systems must handle large numbers of entities and lookups.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Caching</a:t>
            </a:r>
            <a:r>
              <a:rPr lang="en-KE" b="1" dirty="0"/>
              <a:t>:</a:t>
            </a:r>
            <a:r>
              <a:rPr lang="en-KE" dirty="0"/>
              <a:t> Improves performance by storing frequently used name-to-address mappings. 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7123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5A28-7D14-E286-9F26-B844B9C2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152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Name Resolution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B5F9A-425B-E59C-2675-7E96F6AC0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990"/>
            <a:ext cx="10515600" cy="579500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</a:t>
            </a:r>
            <a:r>
              <a:rPr lang="en-KE" dirty="0" err="1"/>
              <a:t>rocess</a:t>
            </a:r>
            <a:r>
              <a:rPr lang="en-KE" dirty="0"/>
              <a:t> of mapping human-readable, logical names (e.g., URL or service name) to physical network addresses (e.g., IP addresses) to locate resources, files, or services.</a:t>
            </a:r>
            <a:endParaRPr lang="en-US" dirty="0"/>
          </a:p>
          <a:p>
            <a:pPr algn="just"/>
            <a:r>
              <a:rPr lang="en-US" dirty="0"/>
              <a:t>Referred to as Domain Name System (DNS) lookup</a:t>
            </a:r>
          </a:p>
          <a:p>
            <a:pPr algn="just"/>
            <a:r>
              <a:rPr lang="en-US" dirty="0"/>
              <a:t>Components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Name Space: A graph consisting of directory nodes (grouping names) and leaf nodes (representing resources).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Name Server: Stores the bindings between names and network addresses.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Resolution Process: The mechanism by which a client follows paths through the name space to find the target.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Reverse Name Resolution</a:t>
            </a:r>
          </a:p>
        </p:txBody>
      </p:sp>
    </p:spTree>
    <p:extLst>
      <p:ext uri="{BB962C8B-B14F-4D97-AF65-F5344CB8AC3E}">
        <p14:creationId xmlns:p14="http://schemas.microsoft.com/office/powerpoint/2010/main" val="52668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EB14-7B5E-8DC1-E518-56D7D32B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8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Domain Name System (DNS) -  Lookup</a:t>
            </a:r>
            <a:endParaRPr lang="en-KE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BB78-B17D-0880-B298-4FEF72134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820"/>
            <a:ext cx="10515600" cy="601217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KE" sz="2600" b="1" dirty="0"/>
              <a:t>DNS Resolver:</a:t>
            </a:r>
            <a:r>
              <a:rPr lang="en-KE" sz="2600" dirty="0"/>
              <a:t> Initiates the lookup process. Also called a DNS client.</a:t>
            </a:r>
          </a:p>
          <a:p>
            <a:pPr lvl="0"/>
            <a:r>
              <a:rPr lang="en-KE" sz="2600" b="1" dirty="0"/>
              <a:t>Recursive Query:</a:t>
            </a:r>
            <a:r>
              <a:rPr lang="en-KE" sz="2600" dirty="0"/>
              <a:t> Resolver queries multiple servers on behalf of the client until the IP is found.</a:t>
            </a:r>
          </a:p>
          <a:p>
            <a:pPr lvl="0"/>
            <a:r>
              <a:rPr lang="en-KE" sz="2600" b="1" dirty="0"/>
              <a:t>Iterative Query:</a:t>
            </a:r>
            <a:r>
              <a:rPr lang="en-KE" sz="2600" dirty="0"/>
              <a:t> Resolver asks servers for the best answer available.</a:t>
            </a:r>
          </a:p>
          <a:p>
            <a:r>
              <a:rPr lang="en-KE" sz="2600" b="1" dirty="0"/>
              <a:t>Non-Recursive Query:</a:t>
            </a:r>
            <a:r>
              <a:rPr lang="en-KE" sz="2600" dirty="0"/>
              <a:t> Resolver queries a server that already has the record in its cache</a:t>
            </a:r>
            <a:endParaRPr lang="en-US" sz="2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FC9324-795F-812A-CCB0-BAFC1951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7" t="6570"/>
          <a:stretch>
            <a:fillRect/>
          </a:stretch>
        </p:blipFill>
        <p:spPr>
          <a:xfrm>
            <a:off x="2194560" y="3703320"/>
            <a:ext cx="7814834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59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2131-6B4E-F1DA-6611-E4CD9703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84581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Domain Name System (DNS) </a:t>
            </a:r>
            <a:r>
              <a:rPr lang="en-US" sz="3600" b="1" u="sng" dirty="0" err="1">
                <a:latin typeface="+mn-lt"/>
              </a:rPr>
              <a:t>LookUp</a:t>
            </a:r>
            <a:r>
              <a:rPr lang="en-US" sz="3600" b="1" u="sng" dirty="0">
                <a:latin typeface="+mn-lt"/>
              </a:rPr>
              <a:t> …../2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C7897-1B35-25F8-0230-A89E2D09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0120"/>
            <a:ext cx="10515600" cy="5897880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Process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User Input: You enter a website address (</a:t>
            </a:r>
            <a:r>
              <a:rPr lang="en-KE" sz="2600" i="1" dirty="0"/>
              <a:t>for example, www.geeksforgeeks.org</a:t>
            </a:r>
            <a:r>
              <a:rPr lang="en-KE" sz="2600" dirty="0"/>
              <a:t>) into your web browser.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Local Cache Check: </a:t>
            </a:r>
            <a:r>
              <a:rPr lang="en-US" sz="2600" dirty="0"/>
              <a:t>- recently looked up or not?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DNS Resolver Query: </a:t>
            </a:r>
            <a:r>
              <a:rPr lang="en-US" sz="2600" dirty="0"/>
              <a:t> receives the request if step  2 is negative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Root DNS Server: The resolver sends the request to a root DNS server.</a:t>
            </a:r>
            <a:r>
              <a:rPr lang="en-US" sz="2600" dirty="0"/>
              <a:t> – Top Level Domain (TLD)</a:t>
            </a:r>
            <a:r>
              <a:rPr lang="en-KE" sz="2600" dirty="0"/>
              <a:t> </a:t>
            </a:r>
            <a:endParaRPr lang="en-US" sz="2600" dirty="0"/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TLD Server: directs the resolver to the authoritative DNS server</a:t>
            </a:r>
            <a:r>
              <a:rPr lang="en-US" sz="2600" dirty="0"/>
              <a:t> for the Website address</a:t>
            </a:r>
            <a:endParaRPr lang="en-KE" sz="2600" dirty="0"/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Authoritative DNS Server: sends </a:t>
            </a:r>
            <a:r>
              <a:rPr lang="en-US" sz="2600" dirty="0"/>
              <a:t>the </a:t>
            </a:r>
            <a:r>
              <a:rPr lang="en-KE" sz="2600" dirty="0"/>
              <a:t>IP address back to the resolver.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600" dirty="0"/>
              <a:t>Final Response: The DNS resolver sends the IP address to your computer, allowing it to connect to the website’s server and load the page.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52444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03A8-3AAF-D883-6BBA-D148210B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8015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Reverse DNS Lookup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139C-54F4-7CDF-026C-A59349A1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59"/>
            <a:ext cx="10515600" cy="5577840"/>
          </a:xfrm>
        </p:spPr>
        <p:txBody>
          <a:bodyPr/>
          <a:lstStyle/>
          <a:p>
            <a:r>
              <a:rPr lang="en-KE" dirty="0"/>
              <a:t>Reverse DNS Lookup is the process of mapping an IP address back to its corresponding domain name. </a:t>
            </a:r>
            <a:endParaRPr lang="en-US" dirty="0"/>
          </a:p>
          <a:p>
            <a:r>
              <a:rPr lang="en-US" dirty="0"/>
              <a:t>C</a:t>
            </a:r>
            <a:r>
              <a:rPr lang="en-KE" dirty="0" err="1"/>
              <a:t>ommonly</a:t>
            </a:r>
            <a:r>
              <a:rPr lang="en-KE" dirty="0"/>
              <a:t> used for: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b="1" dirty="0"/>
              <a:t>Network Diagnostics:</a:t>
            </a:r>
            <a:r>
              <a:rPr lang="en-KE" sz="2800" dirty="0"/>
              <a:t> System administrators use reverse DNS to determine the domain name associated with a specific IP address. This helps identify the source of network traffic.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b="1" dirty="0"/>
              <a:t>Email Security:</a:t>
            </a:r>
            <a:r>
              <a:rPr lang="en-KE" sz="2800" dirty="0"/>
              <a:t> Many email servers perform reverse DNS lookups to verify that incoming emails are coming from legitimate sources. This helps prevent spam and fraud.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46614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BB93-8923-49FA-2528-E7389FFA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7D440-82ED-17A2-FDB1-373B9134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4800" b="1" dirty="0">
                <a:latin typeface="Algerian" panose="04020705040A02060702" pitchFamily="82" charset="0"/>
              </a:rPr>
              <a:t>Questions &amp; Answers</a:t>
            </a:r>
          </a:p>
          <a:p>
            <a:pPr marL="0" indent="0" algn="ctr">
              <a:buNone/>
            </a:pPr>
            <a:endParaRPr lang="en-US" sz="48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8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800" b="1" dirty="0">
                <a:latin typeface="Algerian" panose="04020705040A02060702" pitchFamily="82" charset="0"/>
              </a:rPr>
              <a:t>End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29104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1195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Wingdings</vt:lpstr>
      <vt:lpstr>Office Theme</vt:lpstr>
      <vt:lpstr>Naming in Distributed Systems</vt:lpstr>
      <vt:lpstr>Introduction</vt:lpstr>
      <vt:lpstr>Key Concepts in Distributed Naming</vt:lpstr>
      <vt:lpstr>Key concepts …../2</vt:lpstr>
      <vt:lpstr>Name Service</vt:lpstr>
      <vt:lpstr>Name System</vt:lpstr>
      <vt:lpstr>Naming Schema in Distributed Systems</vt:lpstr>
      <vt:lpstr>Flat Naming / Simple Naming</vt:lpstr>
      <vt:lpstr>Structured / Hierarchical Naming</vt:lpstr>
      <vt:lpstr>Structured Naming ……. /2</vt:lpstr>
      <vt:lpstr>Attribute – Based Naming</vt:lpstr>
      <vt:lpstr>Naming – Design Requirements</vt:lpstr>
      <vt:lpstr>Name Resolution</vt:lpstr>
      <vt:lpstr>Domain Name System (DNS) -  Lookup</vt:lpstr>
      <vt:lpstr>Domain Name System (DNS) LookUp …../2</vt:lpstr>
      <vt:lpstr>Reverse DNS Lookup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</dc:creator>
  <cp:lastModifiedBy>MERCY</cp:lastModifiedBy>
  <cp:revision>3</cp:revision>
  <dcterms:created xsi:type="dcterms:W3CDTF">2026-03-11T12:07:46Z</dcterms:created>
  <dcterms:modified xsi:type="dcterms:W3CDTF">2026-03-11T18:14:50Z</dcterms:modified>
</cp:coreProperties>
</file>