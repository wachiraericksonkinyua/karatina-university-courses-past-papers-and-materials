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sldIdLst>
    <p:sldId id="256" r:id="rId2"/>
    <p:sldId id="257" r:id="rId3"/>
    <p:sldId id="258" r:id="rId4"/>
    <p:sldId id="259" r:id="rId5"/>
    <p:sldId id="260" r:id="rId6"/>
    <p:sldId id="261" r:id="rId7"/>
    <p:sldId id="262" r:id="rId8"/>
    <p:sldId id="263" r:id="rId9"/>
    <p:sldId id="264" r:id="rId10"/>
    <p:sldId id="265" r:id="rId11"/>
    <p:sldId id="311"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91" r:id="rId33"/>
    <p:sldId id="292" r:id="rId34"/>
    <p:sldId id="293" r:id="rId35"/>
    <p:sldId id="294" r:id="rId36"/>
    <p:sldId id="295" r:id="rId37"/>
    <p:sldId id="296" r:id="rId38"/>
    <p:sldId id="297" r:id="rId39"/>
    <p:sldId id="298" r:id="rId40"/>
    <p:sldId id="299" r:id="rId41"/>
    <p:sldId id="300"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4027070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296487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4090248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03359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FE92F2F-3739-4F29-A6E9-846C0E9FF39E}"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3545701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FE92F2F-3739-4F29-A6E9-846C0E9FF39E}"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3274483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FFE92F2F-3739-4F29-A6E9-846C0E9FF39E}"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454873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69300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2971237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113751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2185145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70047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FE92F2F-3739-4F29-A6E9-846C0E9FF39E}"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822888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FFE92F2F-3739-4F29-A6E9-846C0E9FF39E}"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3483981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FFE92F2F-3739-4F29-A6E9-846C0E9FF39E}"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3080129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29210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919722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E92F2F-3739-4F29-A6E9-846C0E9FF39E}"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0D8641-4306-413A-86C2-F8C09812B838}" type="slidenum">
              <a:rPr lang="en-US" smtClean="0"/>
              <a:t>‹#›</a:t>
            </a:fld>
            <a:endParaRPr lang="en-US"/>
          </a:p>
        </p:txBody>
      </p:sp>
    </p:spTree>
    <p:extLst>
      <p:ext uri="{BB962C8B-B14F-4D97-AF65-F5344CB8AC3E}">
        <p14:creationId xmlns:p14="http://schemas.microsoft.com/office/powerpoint/2010/main" val="175594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FFE92F2F-3739-4F29-A6E9-846C0E9FF39E}" type="datetimeFigureOut">
              <a:rPr lang="en-US" smtClean="0"/>
              <a:t>11/14/2024</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C0D8641-4306-413A-86C2-F8C09812B838}" type="slidenum">
              <a:rPr lang="en-US" smtClean="0"/>
              <a:t>‹#›</a:t>
            </a:fld>
            <a:endParaRPr lang="en-US"/>
          </a:p>
        </p:txBody>
      </p:sp>
    </p:spTree>
    <p:extLst>
      <p:ext uri="{BB962C8B-B14F-4D97-AF65-F5344CB8AC3E}">
        <p14:creationId xmlns:p14="http://schemas.microsoft.com/office/powerpoint/2010/main" val="401327838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Insurance</a:t>
            </a:r>
            <a:endParaRPr lang="en-US" dirty="0"/>
          </a:p>
        </p:txBody>
      </p:sp>
      <p:sp>
        <p:nvSpPr>
          <p:cNvPr id="3" name="Subtitle 2"/>
          <p:cNvSpPr>
            <a:spLocks noGrp="1"/>
          </p:cNvSpPr>
          <p:nvPr>
            <p:ph type="subTitle" idx="1"/>
          </p:nvPr>
        </p:nvSpPr>
        <p:spPr/>
        <p:txBody>
          <a:bodyPr/>
          <a:lstStyle/>
          <a:p>
            <a:r>
              <a:rPr lang="en-US" dirty="0" err="1" smtClean="0"/>
              <a:t>Dr</a:t>
            </a:r>
            <a:r>
              <a:rPr lang="en-US" dirty="0" smtClean="0"/>
              <a:t> Moses </a:t>
            </a:r>
            <a:r>
              <a:rPr lang="en-US" dirty="0" err="1" smtClean="0"/>
              <a:t>Murimi</a:t>
            </a:r>
            <a:endParaRPr lang="en-US" dirty="0"/>
          </a:p>
        </p:txBody>
      </p:sp>
    </p:spTree>
    <p:extLst>
      <p:ext uri="{BB962C8B-B14F-4D97-AF65-F5344CB8AC3E}">
        <p14:creationId xmlns:p14="http://schemas.microsoft.com/office/powerpoint/2010/main" val="4000448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Definition: </a:t>
            </a:r>
          </a:p>
          <a:p>
            <a:endParaRPr lang="en-US" dirty="0" smtClean="0"/>
          </a:p>
          <a:p>
            <a:r>
              <a:rPr lang="en-US" dirty="0" smtClean="0"/>
              <a:t>It is a form of contract or agreement which one party agrees in return of a consideration to pay an agreed amount of money to another party to make good for a loss, damage, injury to something of value in which the insured has to pay as a result of some uncertain event. </a:t>
            </a:r>
          </a:p>
          <a:p>
            <a:endParaRPr lang="en-US" dirty="0"/>
          </a:p>
          <a:p>
            <a:r>
              <a:rPr lang="en-US" dirty="0" smtClean="0"/>
              <a:t>Thus, insurance is a method of securing protection against future calamities and uncertainties.</a:t>
            </a:r>
            <a:endParaRPr lang="en-US" dirty="0"/>
          </a:p>
        </p:txBody>
      </p:sp>
    </p:spTree>
    <p:extLst>
      <p:ext uri="{BB962C8B-B14F-4D97-AF65-F5344CB8AC3E}">
        <p14:creationId xmlns:p14="http://schemas.microsoft.com/office/powerpoint/2010/main" val="139257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0421"/>
          </a:xfrm>
        </p:spPr>
        <p:txBody>
          <a:bodyPr>
            <a:normAutofit fontScale="90000"/>
          </a:bodyPr>
          <a:lstStyle/>
          <a:p>
            <a:r>
              <a:rPr lang="en-US" dirty="0" smtClean="0"/>
              <a:t>Advantages of Insurance</a:t>
            </a:r>
            <a:endParaRPr lang="en-US" dirty="0"/>
          </a:p>
        </p:txBody>
      </p:sp>
      <p:sp>
        <p:nvSpPr>
          <p:cNvPr id="3" name="Content Placeholder 2"/>
          <p:cNvSpPr>
            <a:spLocks noGrp="1"/>
          </p:cNvSpPr>
          <p:nvPr>
            <p:ph idx="1"/>
          </p:nvPr>
        </p:nvSpPr>
        <p:spPr>
          <a:xfrm>
            <a:off x="838200" y="895546"/>
            <a:ext cx="10515600" cy="5281417"/>
          </a:xfrm>
        </p:spPr>
        <p:txBody>
          <a:bodyPr>
            <a:normAutofit fontScale="85000" lnSpcReduction="20000"/>
          </a:bodyPr>
          <a:lstStyle/>
          <a:p>
            <a:r>
              <a:rPr lang="en-US" dirty="0" smtClean="0"/>
              <a:t>1. Provide certainty: Insurance helps the insured to convert his uncertainties into certainties by entering into contract with insurer. The payment of premium by insured enables to reduce the risk. </a:t>
            </a:r>
          </a:p>
          <a:p>
            <a:r>
              <a:rPr lang="en-US" dirty="0" smtClean="0"/>
              <a:t>2. Distribution of losses: It helps to distribute the losses as it enables to transfer the risks and spread the financial loss of insured members over the whole insurers. </a:t>
            </a:r>
          </a:p>
          <a:p>
            <a:r>
              <a:rPr lang="en-US" dirty="0" smtClean="0"/>
              <a:t>3. Social security: It acts as an instrument to fight against evils of poverty, unemployment, disease, old age, accidents, fire and other calamities. </a:t>
            </a:r>
          </a:p>
          <a:p>
            <a:r>
              <a:rPr lang="en-US" dirty="0" smtClean="0"/>
              <a:t>4. Credit facility: The policies issued by insurance companies can be made use to raise policy loans from insurance company, as well traders are in the position to raise loans and get credit facilities from various financial institutions. </a:t>
            </a:r>
          </a:p>
          <a:p>
            <a:r>
              <a:rPr lang="en-US" dirty="0" smtClean="0"/>
              <a:t>5. Increase efficiency: It reduces the risk and increases the efficiency in business. It provides security for business community which in turn paves the way for growth and diversification of the industry. </a:t>
            </a:r>
          </a:p>
          <a:p>
            <a:r>
              <a:rPr lang="en-US" dirty="0" smtClean="0"/>
              <a:t>6. Earns foreign exchange: It provides security to the international traders, shippers and banking institutions, thus paves the way for expansion of foreign trade. The increased foreign trade activities lead to securing foreign exchange which makes the country to become economically strong. </a:t>
            </a:r>
            <a:endParaRPr lang="en-US" dirty="0"/>
          </a:p>
        </p:txBody>
      </p:sp>
    </p:spTree>
    <p:extLst>
      <p:ext uri="{BB962C8B-B14F-4D97-AF65-F5344CB8AC3E}">
        <p14:creationId xmlns:p14="http://schemas.microsoft.com/office/powerpoint/2010/main" val="476357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Principles of Insurance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1. Insurable interest: the person getting an insurance policy must have insurable interest in the property or life insured. A person said to have an insurable interest if he is financially benefited by the existence property and is prejudiced by its loss. </a:t>
            </a:r>
          </a:p>
          <a:p>
            <a:r>
              <a:rPr lang="en-US" dirty="0" smtClean="0"/>
              <a:t>2. Utmost good faith: faith refers to absence of fraud on the part of the parties to the contract. The insured should disclose all the material facts to the insurer. If utmost good faith is lacking the contracts made by the parties becomes invalid. </a:t>
            </a:r>
          </a:p>
          <a:p>
            <a:r>
              <a:rPr lang="en-US" dirty="0" smtClean="0"/>
              <a:t>3. Indemnity: the principles are applied to all the insurance contracts where the loss suffered by the insured can be measured in monetary value. Hence all the contract of insurance, expect life insurance are the contracts of indemnity </a:t>
            </a:r>
            <a:r>
              <a:rPr lang="en-US" dirty="0" err="1" smtClean="0"/>
              <a:t>bcoz</a:t>
            </a:r>
            <a:r>
              <a:rPr lang="en-US" dirty="0" smtClean="0"/>
              <a:t> loss of life cannot be measured in terms of money. </a:t>
            </a:r>
            <a:endParaRPr lang="en-US" dirty="0"/>
          </a:p>
        </p:txBody>
      </p:sp>
    </p:spTree>
    <p:extLst>
      <p:ext uri="{BB962C8B-B14F-4D97-AF65-F5344CB8AC3E}">
        <p14:creationId xmlns:p14="http://schemas.microsoft.com/office/powerpoint/2010/main" val="1587187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4. Proximate cause: it is also called as causa </a:t>
            </a:r>
            <a:r>
              <a:rPr lang="en-US" dirty="0" err="1" smtClean="0"/>
              <a:t>proxima</a:t>
            </a:r>
            <a:r>
              <a:rPr lang="en-US" dirty="0" smtClean="0"/>
              <a:t> which means nearest or proximate or immediate cause. This principle is useful in deciding the actual cause of loss when a number of causes have contributed for the occurrence of loss. </a:t>
            </a:r>
          </a:p>
          <a:p>
            <a:r>
              <a:rPr lang="en-US" dirty="0" smtClean="0"/>
              <a:t>5. Subrogation: it is also known as Doctrine of Rights Substitution. The insurer will step into the shoes of the insured and become entitled to all rights of action against the third party to cover the loss. </a:t>
            </a:r>
          </a:p>
          <a:p>
            <a:r>
              <a:rPr lang="en-US" dirty="0" smtClean="0"/>
              <a:t>6. Contribution: this principle ensures equitable distribution of losses among the insurers. The total loss suffered by the insured is contributed by all insures in the ratio of the value of policies issued by them for same subject matter. </a:t>
            </a:r>
          </a:p>
          <a:p>
            <a:r>
              <a:rPr lang="en-US" dirty="0" smtClean="0"/>
              <a:t>7. Mitigation of loss: it says that duty of the insured is to take all such steps to minimize the loss as would have been taken by any person who is not insured.</a:t>
            </a:r>
            <a:endParaRPr lang="en-US" dirty="0"/>
          </a:p>
        </p:txBody>
      </p:sp>
    </p:spTree>
    <p:extLst>
      <p:ext uri="{BB962C8B-B14F-4D97-AF65-F5344CB8AC3E}">
        <p14:creationId xmlns:p14="http://schemas.microsoft.com/office/powerpoint/2010/main" val="1262719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Re-insurance</a:t>
            </a:r>
            <a:endParaRPr lang="en-US" dirty="0"/>
          </a:p>
        </p:txBody>
      </p:sp>
      <p:sp>
        <p:nvSpPr>
          <p:cNvPr id="3" name="Content Placeholder 2"/>
          <p:cNvSpPr>
            <a:spLocks noGrp="1"/>
          </p:cNvSpPr>
          <p:nvPr>
            <p:ph idx="1"/>
          </p:nvPr>
        </p:nvSpPr>
        <p:spPr/>
        <p:txBody>
          <a:bodyPr/>
          <a:lstStyle/>
          <a:p>
            <a:r>
              <a:rPr lang="en-US" dirty="0" smtClean="0"/>
              <a:t>It refers to an insurance contract between two or more insurance companies. </a:t>
            </a:r>
          </a:p>
          <a:p>
            <a:r>
              <a:rPr lang="en-US" dirty="0" smtClean="0"/>
              <a:t>Every insurer undertakes to bear the risk according to his capacity. </a:t>
            </a:r>
          </a:p>
          <a:p>
            <a:r>
              <a:rPr lang="en-US" dirty="0" smtClean="0"/>
              <a:t>In order to safe guard his interest. he may insure the same risk undertaken by him along with another insurer. </a:t>
            </a:r>
          </a:p>
          <a:p>
            <a:r>
              <a:rPr lang="en-US" dirty="0" smtClean="0"/>
              <a:t>Hence it is a contract between two insurance companies’ i.e. first insurer and reinsurer.</a:t>
            </a:r>
            <a:endParaRPr lang="en-US" dirty="0"/>
          </a:p>
        </p:txBody>
      </p:sp>
    </p:spTree>
    <p:extLst>
      <p:ext uri="{BB962C8B-B14F-4D97-AF65-F5344CB8AC3E}">
        <p14:creationId xmlns:p14="http://schemas.microsoft.com/office/powerpoint/2010/main" val="2773306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of Reinsurance</a:t>
            </a:r>
            <a:endParaRPr lang="en-US" dirty="0"/>
          </a:p>
        </p:txBody>
      </p:sp>
      <p:sp>
        <p:nvSpPr>
          <p:cNvPr id="3" name="Content Placeholder 2"/>
          <p:cNvSpPr>
            <a:spLocks noGrp="1"/>
          </p:cNvSpPr>
          <p:nvPr>
            <p:ph idx="1"/>
          </p:nvPr>
        </p:nvSpPr>
        <p:spPr/>
        <p:txBody>
          <a:bodyPr/>
          <a:lstStyle/>
          <a:p>
            <a:r>
              <a:rPr lang="en-US" dirty="0" smtClean="0"/>
              <a:t>1. To safeguard the interest of insurers by wider distribution of risks </a:t>
            </a:r>
          </a:p>
          <a:p>
            <a:r>
              <a:rPr lang="en-US" dirty="0" smtClean="0"/>
              <a:t>2. To limit the liability of insurer and to keep him in permissible limits of financial capacity. </a:t>
            </a:r>
          </a:p>
          <a:p>
            <a:r>
              <a:rPr lang="en-US" dirty="0" smtClean="0"/>
              <a:t>3. To stabilize the underwritings over a period of time. </a:t>
            </a:r>
          </a:p>
          <a:p>
            <a:r>
              <a:rPr lang="en-US" dirty="0" smtClean="0"/>
              <a:t>4. To help in steady accumulation of reserves by the insurer. </a:t>
            </a:r>
          </a:p>
          <a:p>
            <a:r>
              <a:rPr lang="en-US" dirty="0" smtClean="0"/>
              <a:t>5. To safeguard against serious effects of uncertainties.</a:t>
            </a:r>
            <a:endParaRPr lang="en-US" dirty="0"/>
          </a:p>
        </p:txBody>
      </p:sp>
    </p:spTree>
    <p:extLst>
      <p:ext uri="{BB962C8B-B14F-4D97-AF65-F5344CB8AC3E}">
        <p14:creationId xmlns:p14="http://schemas.microsoft.com/office/powerpoint/2010/main" val="832218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Insurance Regulatory Authority (IRA)</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Insurance Regulatory Authority is a statutory government agency established under the </a:t>
            </a:r>
            <a:r>
              <a:rPr lang="en-US" b="1" dirty="0"/>
              <a:t>Insurance Act, CAP 487 of the Laws of Kenya</a:t>
            </a:r>
            <a:r>
              <a:rPr lang="en-US" dirty="0"/>
              <a:t> to regulate, supervise and develop the insurance industry. </a:t>
            </a:r>
            <a:endParaRPr lang="en-US" dirty="0" smtClean="0"/>
          </a:p>
          <a:p>
            <a:r>
              <a:rPr lang="en-US" dirty="0" smtClean="0"/>
              <a:t>It </a:t>
            </a:r>
            <a:r>
              <a:rPr lang="en-US" dirty="0"/>
              <a:t>is governed by a Board of Directors which is vested with the fiduciary responsibility overseeing operations of the Authority and ensuring that they are consistent with provisions of the Insurance Act.</a:t>
            </a:r>
          </a:p>
          <a:p>
            <a:r>
              <a:rPr lang="en-US" dirty="0"/>
              <a:t>The Authority is the successor of the Office of the Commissioner of Insurance which came into existence with the enactment of the Insurance Act, CAP 487 in 1986. </a:t>
            </a:r>
            <a:endParaRPr lang="en-US" dirty="0" smtClean="0"/>
          </a:p>
          <a:p>
            <a:r>
              <a:rPr lang="en-US" dirty="0" smtClean="0"/>
              <a:t>Prior </a:t>
            </a:r>
            <a:r>
              <a:rPr lang="en-US" dirty="0"/>
              <a:t>to this, insurance regulation was based on the UK legislation under the Companies Act 1960.</a:t>
            </a:r>
          </a:p>
          <a:p>
            <a:endParaRPr lang="en-US" dirty="0"/>
          </a:p>
        </p:txBody>
      </p:sp>
    </p:spTree>
    <p:extLst>
      <p:ext uri="{BB962C8B-B14F-4D97-AF65-F5344CB8AC3E}">
        <p14:creationId xmlns:p14="http://schemas.microsoft.com/office/powerpoint/2010/main" val="125655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IRA</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1.Ensure </a:t>
            </a:r>
            <a:r>
              <a:rPr lang="en-US" dirty="0"/>
              <a:t>the effective administration, supervision, regulation and control of insurance and reinsurance business in Kenya</a:t>
            </a:r>
          </a:p>
          <a:p>
            <a:r>
              <a:rPr lang="en-US" dirty="0" smtClean="0"/>
              <a:t>2. Formulate </a:t>
            </a:r>
            <a:r>
              <a:rPr lang="en-US" dirty="0"/>
              <a:t>and enforce standards for the conduct of insurance and reinsurance business in Kenya</a:t>
            </a:r>
          </a:p>
          <a:p>
            <a:r>
              <a:rPr lang="en-US" dirty="0" smtClean="0"/>
              <a:t>3. License </a:t>
            </a:r>
            <a:r>
              <a:rPr lang="en-US" dirty="0"/>
              <a:t>all persons involved in or connected with insurance business, including insurance and reinsurance companies, insurance and reinsurance intermediaries, loss adjusters and assessors, risk surveyors and </a:t>
            </a:r>
            <a:r>
              <a:rPr lang="en-US" dirty="0" err="1"/>
              <a:t>valuers</a:t>
            </a:r>
            <a:endParaRPr lang="en-US" dirty="0"/>
          </a:p>
          <a:p>
            <a:r>
              <a:rPr lang="en-US" dirty="0" smtClean="0"/>
              <a:t>4. Advise </a:t>
            </a:r>
            <a:r>
              <a:rPr lang="en-US" dirty="0"/>
              <a:t>the Government on the national policy to be followed in order to ensure adequate insurance protection and security for national assets and national properties</a:t>
            </a:r>
          </a:p>
          <a:p>
            <a:r>
              <a:rPr lang="en-US" dirty="0" smtClean="0"/>
              <a:t>5. Issue </a:t>
            </a:r>
            <a:r>
              <a:rPr lang="en-US" dirty="0"/>
              <a:t>supervisory guidelines and prudential standards from time to time, for the better administration of the insurance business of persons licensed under the Insurance Act</a:t>
            </a:r>
          </a:p>
          <a:p>
            <a:endParaRPr lang="en-US" dirty="0"/>
          </a:p>
        </p:txBody>
      </p:sp>
    </p:spTree>
    <p:extLst>
      <p:ext uri="{BB962C8B-B14F-4D97-AF65-F5344CB8AC3E}">
        <p14:creationId xmlns:p14="http://schemas.microsoft.com/office/powerpoint/2010/main" val="1706042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6.Conduct </a:t>
            </a:r>
            <a:r>
              <a:rPr lang="en-US" dirty="0"/>
              <a:t>inquiries and share information with other regulatory authorities and to carry out any other related activities in furtherance of its supervisory role</a:t>
            </a:r>
          </a:p>
          <a:p>
            <a:r>
              <a:rPr lang="en-US" dirty="0" smtClean="0"/>
              <a:t>7.Educate </a:t>
            </a:r>
            <a:r>
              <a:rPr lang="en-US" dirty="0"/>
              <a:t>the public regularly on the right to independently select an underwriter or broker from a list of underwriters or brokers licensed by the Authority</a:t>
            </a:r>
          </a:p>
          <a:p>
            <a:r>
              <a:rPr lang="en-US" dirty="0" smtClean="0"/>
              <a:t>8.Regulate </a:t>
            </a:r>
            <a:r>
              <a:rPr lang="en-US" dirty="0"/>
              <a:t>the business of bancassurance offered by banks in the same manner as the ordinary insurance business, including capital requirements and disclosures</a:t>
            </a:r>
          </a:p>
          <a:p>
            <a:r>
              <a:rPr lang="en-US" dirty="0" smtClean="0"/>
              <a:t>9.Undertake </a:t>
            </a:r>
            <a:r>
              <a:rPr lang="en-US" dirty="0"/>
              <a:t>such other functions as may be conferred by the Insurance Act or any other written law</a:t>
            </a:r>
          </a:p>
        </p:txBody>
      </p:sp>
    </p:spTree>
    <p:extLst>
      <p:ext uri="{BB962C8B-B14F-4D97-AF65-F5344CB8AC3E}">
        <p14:creationId xmlns:p14="http://schemas.microsoft.com/office/powerpoint/2010/main" val="623535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INSURANCE</a:t>
            </a:r>
            <a:endParaRPr lang="en-US" dirty="0"/>
          </a:p>
        </p:txBody>
      </p:sp>
      <p:sp>
        <p:nvSpPr>
          <p:cNvPr id="3" name="Content Placeholder 2"/>
          <p:cNvSpPr>
            <a:spLocks noGrp="1"/>
          </p:cNvSpPr>
          <p:nvPr>
            <p:ph idx="1"/>
          </p:nvPr>
        </p:nvSpPr>
        <p:spPr/>
        <p:txBody>
          <a:bodyPr>
            <a:normAutofit lnSpcReduction="10000"/>
          </a:bodyPr>
          <a:lstStyle/>
          <a:p>
            <a:r>
              <a:rPr lang="en-US" dirty="0" smtClean="0"/>
              <a:t>The basic threats which all of us may encounter to varied extent and which result in cut off of income or sudden increase in - uncalled for expenses (beyond our means or higher than our earnings) i.e. dislocates the human life, are: </a:t>
            </a:r>
          </a:p>
          <a:p>
            <a:r>
              <a:rPr lang="en-US" dirty="0" smtClean="0"/>
              <a:t>ILLNESS (malnutrition, environment, chronic) – uncertain </a:t>
            </a:r>
          </a:p>
          <a:p>
            <a:r>
              <a:rPr lang="en-US" dirty="0" smtClean="0"/>
              <a:t>ACCIDENT – (uncertain) Disability – Permanent or Temporary (uncertain) </a:t>
            </a:r>
          </a:p>
          <a:p>
            <a:r>
              <a:rPr lang="en-US" dirty="0" smtClean="0"/>
              <a:t>OLD AGE – (certain) </a:t>
            </a:r>
          </a:p>
          <a:p>
            <a:r>
              <a:rPr lang="en-US" dirty="0" smtClean="0"/>
              <a:t>DEATH – (certain)</a:t>
            </a:r>
            <a:endParaRPr lang="en-US" dirty="0"/>
          </a:p>
        </p:txBody>
      </p:sp>
    </p:spTree>
    <p:extLst>
      <p:ext uri="{BB962C8B-B14F-4D97-AF65-F5344CB8AC3E}">
        <p14:creationId xmlns:p14="http://schemas.microsoft.com/office/powerpoint/2010/main" val="272180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INSURANCE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Definition/ Meaning:</a:t>
            </a:r>
          </a:p>
          <a:p>
            <a:r>
              <a:rPr lang="en-US" dirty="0" smtClean="0"/>
              <a:t>Life insurance is a contract in which one party agrees to pay given sum on the happening of a particular event contingent upon the duration of the human life in consideration of the immediate payment of a smaller sum or certain equivalent periodical payments by another. </a:t>
            </a:r>
          </a:p>
          <a:p>
            <a:endParaRPr lang="en-US" dirty="0"/>
          </a:p>
          <a:p>
            <a:r>
              <a:rPr lang="en-US" dirty="0" smtClean="0"/>
              <a:t>is an arrangement through which a person can plan for the continuation of income when uncertainties and certainties (i.e.) illness or Accident and death or old age disrupt or destroy his ability to earn his livelihood.</a:t>
            </a:r>
            <a:endParaRPr lang="en-US" dirty="0"/>
          </a:p>
        </p:txBody>
      </p:sp>
    </p:spTree>
    <p:extLst>
      <p:ext uri="{BB962C8B-B14F-4D97-AF65-F5344CB8AC3E}">
        <p14:creationId xmlns:p14="http://schemas.microsoft.com/office/powerpoint/2010/main" val="893882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for issuance of Life Policy</a:t>
            </a:r>
            <a:endParaRPr lang="en-US" dirty="0"/>
          </a:p>
        </p:txBody>
      </p:sp>
      <p:sp>
        <p:nvSpPr>
          <p:cNvPr id="3" name="Content Placeholder 2"/>
          <p:cNvSpPr>
            <a:spLocks noGrp="1"/>
          </p:cNvSpPr>
          <p:nvPr>
            <p:ph idx="1"/>
          </p:nvPr>
        </p:nvSpPr>
        <p:spPr/>
        <p:txBody>
          <a:bodyPr>
            <a:normAutofit lnSpcReduction="10000"/>
          </a:bodyPr>
          <a:lstStyle/>
          <a:p>
            <a:r>
              <a:rPr lang="en-US" dirty="0" smtClean="0"/>
              <a:t>1. Proposal for insurance policy: The person intending to take an insurance policy has to make a written requisition in the prescribed form to the insurance company. The insured has to provide information on various aspects such as name, occupation, address, mode of payment, sum assured, etc. The insured should provide true and correct information to the insurance company otherwise the contract cannot be enforceable. </a:t>
            </a:r>
          </a:p>
          <a:p>
            <a:r>
              <a:rPr lang="en-US" dirty="0" smtClean="0"/>
              <a:t>2. Providing proof of age: The proposer has to give proof of his age along with proposal form if the age is less than 25 </a:t>
            </a:r>
            <a:r>
              <a:rPr lang="en-US" dirty="0" err="1" smtClean="0"/>
              <a:t>yrs</a:t>
            </a:r>
            <a:r>
              <a:rPr lang="en-US" dirty="0" smtClean="0"/>
              <a:t> and more than 50 yrs. However if the age is ranging between 25 to 50 he need not submit the proof of his age.</a:t>
            </a:r>
            <a:endParaRPr lang="en-US" dirty="0"/>
          </a:p>
        </p:txBody>
      </p:sp>
    </p:spTree>
    <p:extLst>
      <p:ext uri="{BB962C8B-B14F-4D97-AF65-F5344CB8AC3E}">
        <p14:creationId xmlns:p14="http://schemas.microsoft.com/office/powerpoint/2010/main" val="3737393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3. Undergoing medical examination: The proposal form is sent to the doctor for approval. The insured has to appear for the medical examination. The doctor examines the proposer’s health condition and prepares a report which is sent to the insurance company. </a:t>
            </a:r>
          </a:p>
          <a:p>
            <a:endParaRPr lang="en-US" dirty="0"/>
          </a:p>
          <a:p>
            <a:r>
              <a:rPr lang="en-US" dirty="0" smtClean="0"/>
              <a:t>4. Confidential report of the agent: After the medical report is received, agent is required to furnish a confidential report about the proposer in prescribed form. The report contains true info about the proposer </a:t>
            </a:r>
            <a:r>
              <a:rPr lang="en-US" dirty="0" err="1" smtClean="0"/>
              <a:t>i.e</a:t>
            </a:r>
            <a:r>
              <a:rPr lang="en-US" dirty="0" smtClean="0"/>
              <a:t> health condition, financial position, reputation etc. </a:t>
            </a:r>
            <a:endParaRPr lang="en-US" dirty="0"/>
          </a:p>
        </p:txBody>
      </p:sp>
    </p:spTree>
    <p:extLst>
      <p:ext uri="{BB962C8B-B14F-4D97-AF65-F5344CB8AC3E}">
        <p14:creationId xmlns:p14="http://schemas.microsoft.com/office/powerpoint/2010/main" val="1506741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5. Acceptance of proposal: the insurance company determines type of risk, volume of risk, premium rate </a:t>
            </a:r>
            <a:r>
              <a:rPr lang="en-US" dirty="0" err="1" smtClean="0"/>
              <a:t>etc</a:t>
            </a:r>
            <a:r>
              <a:rPr lang="en-US" dirty="0" smtClean="0"/>
              <a:t> and if the assessment is favorable, insurer accepts the proposal. </a:t>
            </a:r>
          </a:p>
          <a:p>
            <a:endParaRPr lang="en-US" dirty="0"/>
          </a:p>
          <a:p>
            <a:r>
              <a:rPr lang="en-US" dirty="0" smtClean="0"/>
              <a:t>6. Payment of first premium: on receiving the acceptance letter the proposer has to pay the first premium within the time stipulated. Once the first premium paid by the insured, the insurer becomes liable from the day on which it is paid. Premium may be paid monthly, quarterly, and half yearly. </a:t>
            </a:r>
          </a:p>
          <a:p>
            <a:endParaRPr lang="en-US" dirty="0"/>
          </a:p>
          <a:p>
            <a:r>
              <a:rPr lang="en-US" dirty="0" smtClean="0"/>
              <a:t>7. Preparing and issuing insurance policy: once the premium receipt issue by the insurance company, the policy comes into operation and risk is covered from that date only. </a:t>
            </a:r>
            <a:endParaRPr lang="en-US" dirty="0"/>
          </a:p>
        </p:txBody>
      </p:sp>
    </p:spTree>
    <p:extLst>
      <p:ext uri="{BB962C8B-B14F-4D97-AF65-F5344CB8AC3E}">
        <p14:creationId xmlns:p14="http://schemas.microsoft.com/office/powerpoint/2010/main" val="896351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Issuance of duplicate Policy</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It is the duty of the insured to safeguard the original policy but it might misplace due to certain reasons such as theft. Fire etc. </a:t>
            </a:r>
          </a:p>
          <a:p>
            <a:pPr marL="0" indent="0">
              <a:buNone/>
            </a:pPr>
            <a:r>
              <a:rPr lang="en-US" dirty="0" smtClean="0"/>
              <a:t>if the policy is in force and not matured the policyholder may ask for duplicate policy. The insurer has to verify the reasons under which the policy is lost. </a:t>
            </a:r>
          </a:p>
          <a:p>
            <a:pPr marL="0" indent="0">
              <a:buNone/>
            </a:pPr>
            <a:r>
              <a:rPr lang="en-US" dirty="0" smtClean="0"/>
              <a:t>The insurer has to obtain an indemnity bond duly signed by the policy holder and surety. The insurer should verify whether FIR is filed in PS in case of loss of policy by theft. </a:t>
            </a:r>
          </a:p>
          <a:p>
            <a:pPr marL="0" indent="0">
              <a:buNone/>
            </a:pPr>
            <a:r>
              <a:rPr lang="en-US" dirty="0" smtClean="0"/>
              <a:t>After satisfying all the formalities a new document is issued. A rubber stamp indicating Duplicate may be affixed on the new policy document. The insured has to bear the costs of issue of duplicate policy, stamp duty etc.</a:t>
            </a:r>
            <a:endParaRPr lang="en-US" dirty="0"/>
          </a:p>
        </p:txBody>
      </p:sp>
    </p:spTree>
    <p:extLst>
      <p:ext uri="{BB962C8B-B14F-4D97-AF65-F5344CB8AC3E}">
        <p14:creationId xmlns:p14="http://schemas.microsoft.com/office/powerpoint/2010/main" val="192973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Nomination</a:t>
            </a:r>
            <a:endParaRPr lang="en-US" dirty="0"/>
          </a:p>
        </p:txBody>
      </p:sp>
      <p:sp>
        <p:nvSpPr>
          <p:cNvPr id="3" name="Content Placeholder 2"/>
          <p:cNvSpPr>
            <a:spLocks noGrp="1"/>
          </p:cNvSpPr>
          <p:nvPr>
            <p:ph idx="1"/>
          </p:nvPr>
        </p:nvSpPr>
        <p:spPr/>
        <p:txBody>
          <a:bodyPr/>
          <a:lstStyle/>
          <a:p>
            <a:r>
              <a:rPr lang="en-US" dirty="0" smtClean="0"/>
              <a:t>The insured who takes the life insurance policy nominate the person or person to whom the money secured by the policy shall be paid in the event of the death. </a:t>
            </a:r>
          </a:p>
          <a:p>
            <a:pPr marL="1028700" lvl="1" indent="-571500">
              <a:buFont typeface="+mj-lt"/>
              <a:buAutoNum type="romanLcPeriod"/>
            </a:pPr>
            <a:r>
              <a:rPr lang="en-US" dirty="0" smtClean="0"/>
              <a:t>The insured may nominate a person to whom the policy shall be paid in the event of the death. </a:t>
            </a:r>
          </a:p>
          <a:p>
            <a:pPr marL="1028700" lvl="1" indent="-571500">
              <a:buFont typeface="+mj-lt"/>
              <a:buAutoNum type="romanLcPeriod"/>
            </a:pPr>
            <a:r>
              <a:rPr lang="en-US" dirty="0" smtClean="0"/>
              <a:t>Any change in the name of nominee must be communicated by insured to the insurer with in a written notice </a:t>
            </a:r>
          </a:p>
          <a:p>
            <a:pPr marL="1028700" lvl="1" indent="-571500">
              <a:buFont typeface="+mj-lt"/>
              <a:buAutoNum type="romanLcPeriod"/>
            </a:pPr>
            <a:r>
              <a:rPr lang="en-US" dirty="0" smtClean="0"/>
              <a:t>If the nominee dies before the policy matures the amount is paid to the policy holder and if he too expires the amount is paid to the legal representatives of insured.</a:t>
            </a:r>
            <a:endParaRPr lang="en-US" dirty="0"/>
          </a:p>
        </p:txBody>
      </p:sp>
    </p:spTree>
    <p:extLst>
      <p:ext uri="{BB962C8B-B14F-4D97-AF65-F5344CB8AC3E}">
        <p14:creationId xmlns:p14="http://schemas.microsoft.com/office/powerpoint/2010/main" val="661251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Surrender Value</a:t>
            </a:r>
            <a:endParaRPr lang="en-US" dirty="0"/>
          </a:p>
        </p:txBody>
      </p:sp>
      <p:sp>
        <p:nvSpPr>
          <p:cNvPr id="3" name="Content Placeholder 2"/>
          <p:cNvSpPr>
            <a:spLocks noGrp="1"/>
          </p:cNvSpPr>
          <p:nvPr>
            <p:ph idx="1"/>
          </p:nvPr>
        </p:nvSpPr>
        <p:spPr/>
        <p:txBody>
          <a:bodyPr/>
          <a:lstStyle/>
          <a:p>
            <a:r>
              <a:rPr lang="en-US" dirty="0" smtClean="0"/>
              <a:t>it is a voluntary termination of the contract by the policy holder. </a:t>
            </a:r>
          </a:p>
          <a:p>
            <a:r>
              <a:rPr lang="en-US" dirty="0" smtClean="0"/>
              <a:t>The policy holder can surrender the policy at any time before it becomes a claim. </a:t>
            </a:r>
          </a:p>
          <a:p>
            <a:r>
              <a:rPr lang="en-US" dirty="0" smtClean="0"/>
              <a:t>The amount payable by insurer to the insured on the surrender policy is called as surrender value. </a:t>
            </a:r>
          </a:p>
          <a:p>
            <a:r>
              <a:rPr lang="en-US" dirty="0" smtClean="0"/>
              <a:t>It is calculated on the basis of actual premium paid and the </a:t>
            </a:r>
            <a:r>
              <a:rPr lang="en-US" dirty="0" err="1" smtClean="0"/>
              <a:t>no.of</a:t>
            </a:r>
            <a:r>
              <a:rPr lang="en-US" dirty="0" smtClean="0"/>
              <a:t> </a:t>
            </a:r>
            <a:r>
              <a:rPr lang="en-US" dirty="0" err="1" smtClean="0"/>
              <a:t>yrs</a:t>
            </a:r>
            <a:r>
              <a:rPr lang="en-US" dirty="0" smtClean="0"/>
              <a:t> of the policy are in force. </a:t>
            </a:r>
          </a:p>
          <a:p>
            <a:r>
              <a:rPr lang="en-US" dirty="0" smtClean="0"/>
              <a:t>The minimum period required for surrender value in Life Insurance Cover is 3 yrs.</a:t>
            </a:r>
            <a:endParaRPr lang="en-US" dirty="0"/>
          </a:p>
        </p:txBody>
      </p:sp>
    </p:spTree>
    <p:extLst>
      <p:ext uri="{BB962C8B-B14F-4D97-AF65-F5344CB8AC3E}">
        <p14:creationId xmlns:p14="http://schemas.microsoft.com/office/powerpoint/2010/main" val="2828263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Policy Loan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Availability of loan on the security of the policy is an important privilege to the policy holder. </a:t>
            </a:r>
          </a:p>
          <a:p>
            <a:r>
              <a:rPr lang="en-US" dirty="0" smtClean="0"/>
              <a:t>Loans are generally granted up to 90% of the surrender value for the policies in force and 85% of surrender value for paid up policies. </a:t>
            </a:r>
          </a:p>
          <a:p>
            <a:r>
              <a:rPr lang="en-US" dirty="0" smtClean="0"/>
              <a:t>The rate of interest charged on policy loans varies dependent of TB rates currently is 15.5 % p.a. for getting the policy loan the policy holder has to assign the policy to the insurer company. </a:t>
            </a:r>
          </a:p>
          <a:p>
            <a:r>
              <a:rPr lang="en-US" dirty="0" smtClean="0"/>
              <a:t>The policy holder has to make interest payment on due date otherwise interest is added to the principal amount. If the loan amount is not paid and interest is not paid and when policy becomes claim </a:t>
            </a:r>
            <a:r>
              <a:rPr lang="en-US" dirty="0" err="1" smtClean="0"/>
              <a:t>i.e</a:t>
            </a:r>
            <a:r>
              <a:rPr lang="en-US" dirty="0" smtClean="0"/>
              <a:t> either death or maturity the outstanding amount is deducted and balance is only paid to the insured. </a:t>
            </a:r>
            <a:endParaRPr lang="en-US" dirty="0"/>
          </a:p>
        </p:txBody>
      </p:sp>
    </p:spTree>
    <p:extLst>
      <p:ext uri="{BB962C8B-B14F-4D97-AF65-F5344CB8AC3E}">
        <p14:creationId xmlns:p14="http://schemas.microsoft.com/office/powerpoint/2010/main" val="1438115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Claims Settlement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1. Maturity claim: </a:t>
            </a:r>
          </a:p>
          <a:p>
            <a:r>
              <a:rPr lang="en-US" dirty="0" smtClean="0"/>
              <a:t>A maturity claim is payable to the insured as per the terms of the contract at the end of the policy period, if he lives up to that date. </a:t>
            </a:r>
          </a:p>
          <a:p>
            <a:r>
              <a:rPr lang="en-US" dirty="0" smtClean="0"/>
              <a:t>Insurer informs to the policy holder about the maturity policy and insured should submit the policy documents, age of proof if it is not admitted and the stamped document of assignment if it is assigned.</a:t>
            </a:r>
          </a:p>
          <a:p>
            <a:r>
              <a:rPr lang="en-US" dirty="0" smtClean="0"/>
              <a:t> After receiving the documents the insurer has to initiate action for making payment and settlement of claims. </a:t>
            </a:r>
          </a:p>
          <a:p>
            <a:r>
              <a:rPr lang="en-US" dirty="0" smtClean="0"/>
              <a:t>Before making the payment the insurer has to verify the age proof, all the premiums are paid or not, original policy is surrendered etc. and then the payment is made to the policy holder. </a:t>
            </a:r>
            <a:endParaRPr lang="en-US" dirty="0"/>
          </a:p>
        </p:txBody>
      </p:sp>
    </p:spTree>
    <p:extLst>
      <p:ext uri="{BB962C8B-B14F-4D97-AF65-F5344CB8AC3E}">
        <p14:creationId xmlns:p14="http://schemas.microsoft.com/office/powerpoint/2010/main" val="269217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2. Death claims: </a:t>
            </a:r>
          </a:p>
          <a:p>
            <a:r>
              <a:rPr lang="en-US" dirty="0" smtClean="0"/>
              <a:t>It is a claim that arises out of death which may be a natural, a suicide or an accidental on. Insurer has to make enquiry about the genuineness of the claim. </a:t>
            </a:r>
          </a:p>
          <a:p>
            <a:r>
              <a:rPr lang="en-US" dirty="0" smtClean="0"/>
              <a:t>To claim the amount the insurer should the claimant to submit the relevant documents such as name of policy holder, place, date, cause, time of death, name of the doctor who treated for illness, etc. </a:t>
            </a:r>
          </a:p>
          <a:p>
            <a:endParaRPr lang="en-US" dirty="0" smtClean="0"/>
          </a:p>
          <a:p>
            <a:r>
              <a:rPr lang="en-US" dirty="0" smtClean="0"/>
              <a:t>Death claim has following procedure: </a:t>
            </a:r>
          </a:p>
          <a:p>
            <a:r>
              <a:rPr lang="en-US" dirty="0" smtClean="0"/>
              <a:t>a. Intimation of death: when the policy holder is dead the intimation must be given to the insurer. </a:t>
            </a:r>
            <a:endParaRPr lang="en-US" dirty="0"/>
          </a:p>
        </p:txBody>
      </p:sp>
    </p:spTree>
    <p:extLst>
      <p:ext uri="{BB962C8B-B14F-4D97-AF65-F5344CB8AC3E}">
        <p14:creationId xmlns:p14="http://schemas.microsoft.com/office/powerpoint/2010/main" val="3336781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b. Filling up claim form: the claimant should fill up all the details in the form given by the insurer. </a:t>
            </a:r>
          </a:p>
          <a:p>
            <a:r>
              <a:rPr lang="en-US" dirty="0" smtClean="0"/>
              <a:t>c. Proof of death: the claimant has to provide the death certificate obtained from the municipality, Mortuary or doctor. </a:t>
            </a:r>
          </a:p>
          <a:p>
            <a:r>
              <a:rPr lang="en-US" dirty="0" smtClean="0"/>
              <a:t>d. Proof of claimant: the person claiming the policy must satisfy the insurer that he is the legal representative or nominee of the insured. </a:t>
            </a:r>
          </a:p>
          <a:p>
            <a:r>
              <a:rPr lang="en-US" dirty="0" smtClean="0"/>
              <a:t>e. Submission of original policy: the claimant ha to submit the original policy document to the insurer and duplicate policy in case when original document is lost. </a:t>
            </a:r>
            <a:endParaRPr lang="en-US" dirty="0"/>
          </a:p>
        </p:txBody>
      </p:sp>
    </p:spTree>
    <p:extLst>
      <p:ext uri="{BB962C8B-B14F-4D97-AF65-F5344CB8AC3E}">
        <p14:creationId xmlns:p14="http://schemas.microsoft.com/office/powerpoint/2010/main" val="2053201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3. Accident and disablement claims: </a:t>
            </a:r>
          </a:p>
          <a:p>
            <a:r>
              <a:rPr lang="en-US" dirty="0" smtClean="0"/>
              <a:t>The death may occur due to accident or disablement. The insurer must be very careful before making the payment. The insurer has to ensure that all the conditions are satisfied or not. </a:t>
            </a:r>
          </a:p>
          <a:p>
            <a:r>
              <a:rPr lang="en-US" dirty="0" smtClean="0"/>
              <a:t>The conditions for making payment for self-accident benefits are: </a:t>
            </a:r>
          </a:p>
          <a:p>
            <a:r>
              <a:rPr lang="en-US" dirty="0" smtClean="0"/>
              <a:t>a. The accident should be unintentional one </a:t>
            </a:r>
          </a:p>
          <a:p>
            <a:r>
              <a:rPr lang="en-US" dirty="0" smtClean="0"/>
              <a:t>b. The death must be result of injuries caused by the accident </a:t>
            </a:r>
          </a:p>
          <a:p>
            <a:r>
              <a:rPr lang="en-US" dirty="0" smtClean="0"/>
              <a:t>c. The death must occur within 120 days or such other period is specified. </a:t>
            </a:r>
          </a:p>
          <a:p>
            <a:r>
              <a:rPr lang="en-US" dirty="0" smtClean="0"/>
              <a:t>d. The claimant has to intimate about the death as a result of the accident and should produce the evidence to the insurer.</a:t>
            </a:r>
            <a:endParaRPr lang="en-US" dirty="0"/>
          </a:p>
        </p:txBody>
      </p:sp>
    </p:spTree>
    <p:extLst>
      <p:ext uri="{BB962C8B-B14F-4D97-AF65-F5344CB8AC3E}">
        <p14:creationId xmlns:p14="http://schemas.microsoft.com/office/powerpoint/2010/main" val="1436906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Disability claim: </a:t>
            </a:r>
          </a:p>
          <a:p>
            <a:r>
              <a:rPr lang="en-US" dirty="0" smtClean="0"/>
              <a:t>It refers to the loss of sight, amputation of hands, legs etc. </a:t>
            </a:r>
          </a:p>
          <a:p>
            <a:endParaRPr lang="en-US" dirty="0"/>
          </a:p>
          <a:p>
            <a:r>
              <a:rPr lang="en-US" dirty="0" smtClean="0"/>
              <a:t>The conditions for claiming the disability benefits are: </a:t>
            </a:r>
          </a:p>
          <a:p>
            <a:r>
              <a:rPr lang="en-US" dirty="0" smtClean="0"/>
              <a:t>a. The disability must be permanent </a:t>
            </a:r>
          </a:p>
          <a:p>
            <a:r>
              <a:rPr lang="en-US" dirty="0" smtClean="0"/>
              <a:t>b. It must result before the assured attain the age of 65 yrs. </a:t>
            </a:r>
          </a:p>
          <a:p>
            <a:endParaRPr lang="en-US" dirty="0"/>
          </a:p>
          <a:p>
            <a:r>
              <a:rPr lang="en-US" dirty="0" smtClean="0"/>
              <a:t>Once all the documents are submitted to the insurer and if he is satisfied the insured will get an additional sum equal to the sum assured is paid in monthly installments over 10 </a:t>
            </a:r>
            <a:r>
              <a:rPr lang="en-US" dirty="0" err="1" smtClean="0"/>
              <a:t>yrs</a:t>
            </a:r>
            <a:r>
              <a:rPr lang="en-US" dirty="0" smtClean="0"/>
              <a:t> the premium is allowed from the date followed by the accident which resulted in disability.</a:t>
            </a:r>
            <a:endParaRPr lang="en-US" dirty="0"/>
          </a:p>
        </p:txBody>
      </p:sp>
    </p:spTree>
    <p:extLst>
      <p:ext uri="{BB962C8B-B14F-4D97-AF65-F5344CB8AC3E}">
        <p14:creationId xmlns:p14="http://schemas.microsoft.com/office/powerpoint/2010/main" val="2422505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4. Survival benefit claims: </a:t>
            </a:r>
          </a:p>
          <a:p>
            <a:r>
              <a:rPr lang="en-US" dirty="0" smtClean="0"/>
              <a:t>Insurance companies offer some policies in which the policy holder is entitled for the survival benefit before the expiry of the full term policy like money back policy. </a:t>
            </a:r>
          </a:p>
          <a:p>
            <a:endParaRPr lang="en-US" dirty="0"/>
          </a:p>
          <a:p>
            <a:r>
              <a:rPr lang="en-US" dirty="0" smtClean="0"/>
              <a:t>The procedure for settlement of benefit claim are: </a:t>
            </a:r>
          </a:p>
          <a:p>
            <a:r>
              <a:rPr lang="en-US" dirty="0" smtClean="0"/>
              <a:t>a. The insurer gives advance intimation about the survival benefit along with discharge voucher. </a:t>
            </a:r>
          </a:p>
          <a:p>
            <a:r>
              <a:rPr lang="en-US" dirty="0" smtClean="0"/>
              <a:t>b. The insured has to return the discharge voucher filled, stamped and signed along with the signatures of witness and their address. </a:t>
            </a:r>
          </a:p>
          <a:p>
            <a:r>
              <a:rPr lang="en-US" dirty="0" smtClean="0"/>
              <a:t>c. The net amount is payable after making necessary deductions.</a:t>
            </a:r>
            <a:endParaRPr lang="en-US" dirty="0"/>
          </a:p>
        </p:txBody>
      </p:sp>
    </p:spTree>
    <p:extLst>
      <p:ext uri="{BB962C8B-B14F-4D97-AF65-F5344CB8AC3E}">
        <p14:creationId xmlns:p14="http://schemas.microsoft.com/office/powerpoint/2010/main" val="705301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LIFE INSURANCE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Definition: </a:t>
            </a:r>
          </a:p>
          <a:p>
            <a:r>
              <a:rPr lang="en-US" dirty="0" smtClean="0"/>
              <a:t>It defines as fire, marine or miscellaneous business, whether carried on singly or in combinations with one or more of them. </a:t>
            </a:r>
          </a:p>
          <a:p>
            <a:r>
              <a:rPr lang="en-US" dirty="0" smtClean="0"/>
              <a:t>Miscellaneous insurances include motor insurance, burglary, personal accident etc. thus the non-life insurance covers the business and other activities except the life insurance. </a:t>
            </a:r>
          </a:p>
          <a:p>
            <a:endParaRPr lang="en-US" dirty="0"/>
          </a:p>
          <a:p>
            <a:r>
              <a:rPr lang="en-US" dirty="0" smtClean="0"/>
              <a:t>Types of non-life insurance products: </a:t>
            </a:r>
          </a:p>
          <a:p>
            <a:r>
              <a:rPr lang="en-US" dirty="0" smtClean="0"/>
              <a:t>1. Commercial line of insurance </a:t>
            </a:r>
          </a:p>
          <a:p>
            <a:r>
              <a:rPr lang="en-US" dirty="0" smtClean="0"/>
              <a:t>2. Personal line of insurance. </a:t>
            </a:r>
            <a:endParaRPr lang="en-US" dirty="0"/>
          </a:p>
        </p:txBody>
      </p:sp>
    </p:spTree>
    <p:extLst>
      <p:ext uri="{BB962C8B-B14F-4D97-AF65-F5344CB8AC3E}">
        <p14:creationId xmlns:p14="http://schemas.microsoft.com/office/powerpoint/2010/main" val="383332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1. Commercial line of insurance </a:t>
            </a:r>
          </a:p>
          <a:p>
            <a:r>
              <a:rPr lang="en-US" dirty="0" smtClean="0"/>
              <a:t>a. Policies for cottage, tiny and small sector industries: the policies intended to meet the requirements of the industries are burglary, cash policy, motor policy etc. </a:t>
            </a:r>
          </a:p>
          <a:p>
            <a:r>
              <a:rPr lang="en-US" dirty="0" smtClean="0"/>
              <a:t>b. Policies for traders: the policies offered to the traders are fire policy, marine cargo policy, plate glass and neon sign insurance, shopkeeper’s policy etc. </a:t>
            </a:r>
          </a:p>
          <a:p>
            <a:r>
              <a:rPr lang="en-US" dirty="0" smtClean="0"/>
              <a:t>c. Policies for professional and specific professions insurance: The policies offered are Hull insurance, stock exchange and brokers insurance etc. </a:t>
            </a:r>
          </a:p>
          <a:p>
            <a:r>
              <a:rPr lang="en-US" dirty="0" smtClean="0"/>
              <a:t>d. Policies fir industries and commercial organizations: the policies can be taken on the basis of project covers and operational covers. </a:t>
            </a:r>
            <a:endParaRPr lang="en-US" dirty="0"/>
          </a:p>
        </p:txBody>
      </p:sp>
    </p:spTree>
    <p:extLst>
      <p:ext uri="{BB962C8B-B14F-4D97-AF65-F5344CB8AC3E}">
        <p14:creationId xmlns:p14="http://schemas.microsoft.com/office/powerpoint/2010/main" val="57724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2. Personal line of insurance. </a:t>
            </a:r>
          </a:p>
          <a:p>
            <a:r>
              <a:rPr lang="en-US" dirty="0" smtClean="0"/>
              <a:t>a. Property insurance policies: the policies offered are phone insurance, householder policy, TV policy etc. </a:t>
            </a:r>
          </a:p>
          <a:p>
            <a:r>
              <a:rPr lang="en-US" dirty="0" smtClean="0"/>
              <a:t>b. Accident insurance policies: policies offered are personal accident policy etc. </a:t>
            </a:r>
          </a:p>
          <a:p>
            <a:r>
              <a:rPr lang="en-US" dirty="0" smtClean="0"/>
              <a:t>c. Health insurance policy: policies offered are </a:t>
            </a:r>
            <a:r>
              <a:rPr lang="en-US" dirty="0" err="1" smtClean="0"/>
              <a:t>medi</a:t>
            </a:r>
            <a:r>
              <a:rPr lang="en-US" dirty="0" smtClean="0"/>
              <a:t>-claim insurance, cancer insurance etc. </a:t>
            </a:r>
          </a:p>
          <a:p>
            <a:r>
              <a:rPr lang="en-US" dirty="0" smtClean="0"/>
              <a:t>d. Liability insurance policies: the policies offered are professional indemnity policy, doctors indemnity policy etc.</a:t>
            </a:r>
            <a:endParaRPr lang="en-US" dirty="0"/>
          </a:p>
        </p:txBody>
      </p:sp>
    </p:spTree>
    <p:extLst>
      <p:ext uri="{BB962C8B-B14F-4D97-AF65-F5344CB8AC3E}">
        <p14:creationId xmlns:p14="http://schemas.microsoft.com/office/powerpoint/2010/main" val="1952627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 INSURANCE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It is an agreement whereby one party in return for a consideration undertake to indemnify the other party against the financial loss for the goods damaged or destroyed by means of fire. </a:t>
            </a:r>
          </a:p>
          <a:p>
            <a:endParaRPr lang="en-US" dirty="0"/>
          </a:p>
          <a:p>
            <a:r>
              <a:rPr lang="en-US" dirty="0" smtClean="0"/>
              <a:t>Characteristics of fire insurance: </a:t>
            </a:r>
          </a:p>
          <a:p>
            <a:r>
              <a:rPr lang="en-US" dirty="0" smtClean="0"/>
              <a:t>1. Contract of indemnity: The insured can only to the value of the goods damaged by fire or the amount of policy whichever is less. </a:t>
            </a:r>
          </a:p>
          <a:p>
            <a:r>
              <a:rPr lang="en-US" dirty="0" smtClean="0"/>
              <a:t>2. Offer and acceptance: offer is made by the insured and acceptance by the insurer. </a:t>
            </a:r>
          </a:p>
          <a:p>
            <a:r>
              <a:rPr lang="en-US" dirty="0" smtClean="0"/>
              <a:t>3. Lawful consideration: the consideration is paid by the insured which is called as premium. </a:t>
            </a:r>
          </a:p>
          <a:p>
            <a:r>
              <a:rPr lang="en-US" dirty="0" smtClean="0"/>
              <a:t>4. Period of insurance: the policy is normally given for 1 year only. It is renewable every year on fulfillment of formalities.</a:t>
            </a:r>
            <a:endParaRPr lang="en-US" dirty="0"/>
          </a:p>
        </p:txBody>
      </p:sp>
    </p:spTree>
    <p:extLst>
      <p:ext uri="{BB962C8B-B14F-4D97-AF65-F5344CB8AC3E}">
        <p14:creationId xmlns:p14="http://schemas.microsoft.com/office/powerpoint/2010/main" val="970087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fontScale="85000" lnSpcReduction="10000"/>
          </a:bodyPr>
          <a:lstStyle/>
          <a:p>
            <a:r>
              <a:rPr lang="en-US" dirty="0" smtClean="0"/>
              <a:t>5. Cause of accident: the loss must be the outcome of fire or ignition. </a:t>
            </a:r>
          </a:p>
          <a:p>
            <a:r>
              <a:rPr lang="en-US" dirty="0" smtClean="0"/>
              <a:t>6. Claim for settlement: if the fire is result of fraud or misconduct on the part of insured the loss is not indemnified. But if the loss occurred due to negligence of the insured is admitted for indemnifying the loss. </a:t>
            </a:r>
          </a:p>
          <a:p>
            <a:endParaRPr lang="en-US" dirty="0"/>
          </a:p>
          <a:p>
            <a:r>
              <a:rPr lang="en-US" dirty="0" smtClean="0"/>
              <a:t>Scope of fire insurance: </a:t>
            </a:r>
          </a:p>
          <a:p>
            <a:r>
              <a:rPr lang="en-US" dirty="0" smtClean="0"/>
              <a:t>1. Ordinary scope: </a:t>
            </a:r>
          </a:p>
          <a:p>
            <a:r>
              <a:rPr lang="en-US" dirty="0" smtClean="0"/>
              <a:t>firstly there must be actual fire or ignition and secondly the fire must be accidental and unintentional. </a:t>
            </a:r>
          </a:p>
          <a:p>
            <a:r>
              <a:rPr lang="en-US" dirty="0" smtClean="0"/>
              <a:t>Normally risks such as fire or ignition, blasting of gas cylinders for household purpose, used for lighting and heating in any building are covered under fire insurance. Goods and properties like precious stones, stamps, </a:t>
            </a:r>
            <a:r>
              <a:rPr lang="en-US" dirty="0" err="1" smtClean="0"/>
              <a:t>cheques</a:t>
            </a:r>
            <a:r>
              <a:rPr lang="en-US" dirty="0" smtClean="0"/>
              <a:t> , books </a:t>
            </a:r>
            <a:r>
              <a:rPr lang="en-US" dirty="0" err="1" smtClean="0"/>
              <a:t>etcand</a:t>
            </a:r>
            <a:r>
              <a:rPr lang="en-US" dirty="0" smtClean="0"/>
              <a:t> loss caused by events like earthquakes , cyclones, floods </a:t>
            </a:r>
            <a:r>
              <a:rPr lang="en-US" dirty="0" err="1" smtClean="0"/>
              <a:t>etc</a:t>
            </a:r>
            <a:r>
              <a:rPr lang="en-US" dirty="0" smtClean="0"/>
              <a:t> are not covered under fire insurance. </a:t>
            </a:r>
          </a:p>
          <a:p>
            <a:r>
              <a:rPr lang="en-US" dirty="0" smtClean="0"/>
              <a:t>2. Broader scope:</a:t>
            </a:r>
          </a:p>
          <a:p>
            <a:r>
              <a:rPr lang="en-US" dirty="0" smtClean="0"/>
              <a:t> these special fire insurance policies my cover the risks excluded from ordinary scope of fire insurance such as perils and risk.</a:t>
            </a:r>
            <a:endParaRPr lang="en-US" dirty="0"/>
          </a:p>
        </p:txBody>
      </p:sp>
    </p:spTree>
    <p:extLst>
      <p:ext uri="{BB962C8B-B14F-4D97-AF65-F5344CB8AC3E}">
        <p14:creationId xmlns:p14="http://schemas.microsoft.com/office/powerpoint/2010/main" val="40482674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8384"/>
          </a:xfrm>
        </p:spPr>
        <p:txBody>
          <a:bodyPr/>
          <a:lstStyle/>
          <a:p>
            <a:r>
              <a:rPr lang="en-US" dirty="0" smtClean="0"/>
              <a:t>MARINE INSURANCE</a:t>
            </a:r>
            <a:endParaRPr lang="en-US" dirty="0"/>
          </a:p>
        </p:txBody>
      </p:sp>
      <p:sp>
        <p:nvSpPr>
          <p:cNvPr id="3" name="Content Placeholder 2"/>
          <p:cNvSpPr>
            <a:spLocks noGrp="1"/>
          </p:cNvSpPr>
          <p:nvPr>
            <p:ph idx="1"/>
          </p:nvPr>
        </p:nvSpPr>
        <p:spPr>
          <a:xfrm>
            <a:off x="838200" y="1093510"/>
            <a:ext cx="10515600" cy="5083453"/>
          </a:xfrm>
        </p:spPr>
        <p:txBody>
          <a:bodyPr>
            <a:normAutofit lnSpcReduction="10000"/>
          </a:bodyPr>
          <a:lstStyle/>
          <a:p>
            <a:r>
              <a:rPr lang="en-US" dirty="0" smtClean="0"/>
              <a:t>Marine insurance is an agreement by which the insurance company or the underwriter agrees to indemnify the owner of the ship or cargo against the risk involved in marine cargo and ship. It covers a large no. of risks such as sinking of ship, burning of ship, sea dacoits, stormy winds etc. </a:t>
            </a:r>
          </a:p>
          <a:p>
            <a:endParaRPr lang="en-US" dirty="0"/>
          </a:p>
          <a:p>
            <a:r>
              <a:rPr lang="en-US" dirty="0" smtClean="0"/>
              <a:t>Characteristics of Marine Insurance: </a:t>
            </a:r>
          </a:p>
          <a:p>
            <a:r>
              <a:rPr lang="en-US" dirty="0" smtClean="0"/>
              <a:t>a. Consideration: insured us under obligation to pay certain amount periodically to the insurer in consideration for accepting the risk. </a:t>
            </a:r>
          </a:p>
          <a:p>
            <a:r>
              <a:rPr lang="en-US" dirty="0" smtClean="0"/>
              <a:t>b. Coverage of insurance: In marine insurance cargo, ship and freight can be insured. </a:t>
            </a:r>
          </a:p>
          <a:p>
            <a:r>
              <a:rPr lang="en-US" dirty="0" smtClean="0"/>
              <a:t>c. Mode of insurance: the insurance may be for single journey or number of journeys or for specific period of time.</a:t>
            </a:r>
            <a:endParaRPr lang="en-US" dirty="0"/>
          </a:p>
        </p:txBody>
      </p:sp>
    </p:spTree>
    <p:extLst>
      <p:ext uri="{BB962C8B-B14F-4D97-AF65-F5344CB8AC3E}">
        <p14:creationId xmlns:p14="http://schemas.microsoft.com/office/powerpoint/2010/main" val="25508915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d. Condition for compensation: insure dis compensated only when the loss is occurred to the ship or cargo. </a:t>
            </a:r>
          </a:p>
          <a:p>
            <a:r>
              <a:rPr lang="en-US" dirty="0" smtClean="0"/>
              <a:t>It also includes third party insurance. Scope for marine insurance: </a:t>
            </a:r>
          </a:p>
          <a:p>
            <a:r>
              <a:rPr lang="en-US" dirty="0" smtClean="0"/>
              <a:t>a. Hull insurance: insuring the ship against the risks of sea transportation is called as hull insurance. It is exposed to various risks such as sinking, burning, collision, explosion etc. </a:t>
            </a:r>
          </a:p>
          <a:p>
            <a:r>
              <a:rPr lang="en-US" dirty="0" smtClean="0"/>
              <a:t>b. Cargo insurance: the term cargo refers to goods carried in a ship in the course of shipment. The insurance which covers the risk such as fire, gales perils etc. is called as cargo insurance, any loss incurred to cargo during transportation from one port to another is indemnified by the insurance company. </a:t>
            </a:r>
            <a:endParaRPr lang="en-US" dirty="0"/>
          </a:p>
        </p:txBody>
      </p:sp>
    </p:spTree>
    <p:extLst>
      <p:ext uri="{BB962C8B-B14F-4D97-AF65-F5344CB8AC3E}">
        <p14:creationId xmlns:p14="http://schemas.microsoft.com/office/powerpoint/2010/main" val="4118282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 Freight insurance: </a:t>
            </a:r>
          </a:p>
          <a:p>
            <a:r>
              <a:rPr lang="en-US" dirty="0" smtClean="0"/>
              <a:t>freight refers to payment received for the transportation of goods. The policy is taken by freight receiver to protect freight purchases. </a:t>
            </a:r>
          </a:p>
          <a:p>
            <a:endParaRPr lang="en-US" dirty="0"/>
          </a:p>
          <a:p>
            <a:r>
              <a:rPr lang="en-US" dirty="0" smtClean="0"/>
              <a:t>If the ship fails to reach the destination due to marine perils, the freight receiver losses the freight. Hence freight insurance is remedy to avoid such risk.</a:t>
            </a:r>
            <a:endParaRPr lang="en-US" dirty="0"/>
          </a:p>
        </p:txBody>
      </p:sp>
    </p:spTree>
    <p:extLst>
      <p:ext uri="{BB962C8B-B14F-4D97-AF65-F5344CB8AC3E}">
        <p14:creationId xmlns:p14="http://schemas.microsoft.com/office/powerpoint/2010/main" val="563425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Insurance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To provide Security and Safety The Life Insurance provides security against premature death and payment in old age to lead the comfortable life. Similarly in general Insurance, the property can be insured against any contingency i.e. fire, earthquake etc. </a:t>
            </a:r>
          </a:p>
          <a:p>
            <a:r>
              <a:rPr lang="en-US" dirty="0" smtClean="0"/>
              <a:t>(b) To provide Peace of Mind The uncertainty due to fire, accident, death, illness, disability in the human life, it is beyond the control of the human beings. By way of Insurance, he may be compensated financially but not emotionally. The financial compensation provides not only peace of mind but also motivates to work more and more. </a:t>
            </a:r>
          </a:p>
          <a:p>
            <a:r>
              <a:rPr lang="en-US" dirty="0" smtClean="0"/>
              <a:t>(c) To Eliminate Dependency On the death of the breadwinner, the consequences need not be explained. Similar to the destruction of property and goods the family would suffer a lot. It could lead to reduction in the standard of living or begging from relatives, friends or </a:t>
            </a:r>
            <a:r>
              <a:rPr lang="en-US" dirty="0" err="1" smtClean="0"/>
              <a:t>neighbours</a:t>
            </a:r>
            <a:r>
              <a:rPr lang="en-US" dirty="0" smtClean="0"/>
              <a:t>. The economic independence of the family is reduced. The Insurance is the only way to assist and provider them adequate at the time of sufferings.</a:t>
            </a:r>
            <a:endParaRPr lang="en-US" dirty="0"/>
          </a:p>
        </p:txBody>
      </p:sp>
    </p:spTree>
    <p:extLst>
      <p:ext uri="{BB962C8B-B14F-4D97-AF65-F5344CB8AC3E}">
        <p14:creationId xmlns:p14="http://schemas.microsoft.com/office/powerpoint/2010/main" val="261802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dirty="0" smtClean="0"/>
              <a:t>(d) To Encourage Savings Life Insurance provides protection and investment while general Insurance provides only protection to the human life and property respectively. Life Insurance provides systematic saving because once the policy is taken then the premium is to be regularly paid otherwise the amount will be forfeited. </a:t>
            </a:r>
          </a:p>
          <a:p>
            <a:endParaRPr lang="en-US" dirty="0"/>
          </a:p>
          <a:p>
            <a:r>
              <a:rPr lang="en-US" dirty="0" smtClean="0"/>
              <a:t>(e) To fulfill the needs of a person </a:t>
            </a:r>
          </a:p>
          <a:p>
            <a:r>
              <a:rPr lang="en-US" dirty="0" smtClean="0"/>
              <a:t>a) Family needs </a:t>
            </a:r>
          </a:p>
          <a:p>
            <a:r>
              <a:rPr lang="en-US" dirty="0" smtClean="0"/>
              <a:t>b) Old age needs </a:t>
            </a:r>
          </a:p>
          <a:p>
            <a:r>
              <a:rPr lang="en-US" dirty="0" smtClean="0"/>
              <a:t>c) Re-adjustment needs </a:t>
            </a:r>
          </a:p>
          <a:p>
            <a:r>
              <a:rPr lang="en-US" dirty="0" smtClean="0"/>
              <a:t>d) Special needs: Education, Marriage, health </a:t>
            </a:r>
          </a:p>
          <a:p>
            <a:r>
              <a:rPr lang="en-US" dirty="0" smtClean="0"/>
              <a:t>e) The clean up needs: After death, ritual ceremonies, payment of wealth tax and income taxes are certain requirements, which decreases the amount of funds of the family members</a:t>
            </a:r>
            <a:endParaRPr lang="en-US" dirty="0"/>
          </a:p>
        </p:txBody>
      </p:sp>
    </p:spTree>
    <p:extLst>
      <p:ext uri="{BB962C8B-B14F-4D97-AF65-F5344CB8AC3E}">
        <p14:creationId xmlns:p14="http://schemas.microsoft.com/office/powerpoint/2010/main" val="3787447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fontScale="92500"/>
          </a:bodyPr>
          <a:lstStyle/>
          <a:p>
            <a:r>
              <a:rPr lang="en-US" dirty="0" smtClean="0"/>
              <a:t>(f) To Reduce the Business Losses: </a:t>
            </a:r>
          </a:p>
          <a:p>
            <a:r>
              <a:rPr lang="en-US" dirty="0" smtClean="0"/>
              <a:t>In business the huge amount is invested in the properties i.e. Building and Plant and Machinery. These properties may be destroyed due to any negligence, if it is not insured no body would like to invest a huge amount in the business and industry. The Insurance reduced the uncertainty of business losses due to fire or accidents etc. </a:t>
            </a:r>
          </a:p>
          <a:p>
            <a:endParaRPr lang="en-US" dirty="0"/>
          </a:p>
          <a:p>
            <a:r>
              <a:rPr lang="en-US" dirty="0" smtClean="0"/>
              <a:t>(g) To Identify the Key man: </a:t>
            </a:r>
          </a:p>
          <a:p>
            <a:r>
              <a:rPr lang="en-US" dirty="0" smtClean="0"/>
              <a:t>Key man is a particular man whose capital, expertise, energy and dutifulness make him the most valuable asset in the business and whose absence will reduce the income of the employer tremendously and </a:t>
            </a:r>
            <a:r>
              <a:rPr lang="en-US" dirty="0" err="1" smtClean="0"/>
              <a:t>upto</a:t>
            </a:r>
            <a:r>
              <a:rPr lang="en-US" dirty="0" smtClean="0"/>
              <a:t> that time when such employee is not substituted.</a:t>
            </a:r>
          </a:p>
          <a:p>
            <a:r>
              <a:rPr lang="en-US" dirty="0" smtClean="0"/>
              <a:t> The death or disability of such valuable lives will prove a more serious loss than that fire or any hazard. The potential loss to be suffered and the compensation to the dependents of such employee require an adequate provision, which is met by purchasing an adequate life policies.</a:t>
            </a:r>
            <a:endParaRPr lang="en-US" dirty="0"/>
          </a:p>
        </p:txBody>
      </p:sp>
    </p:spTree>
    <p:extLst>
      <p:ext uri="{BB962C8B-B14F-4D97-AF65-F5344CB8AC3E}">
        <p14:creationId xmlns:p14="http://schemas.microsoft.com/office/powerpoint/2010/main" val="14630456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a:bodyPr>
          <a:lstStyle/>
          <a:p>
            <a:r>
              <a:rPr lang="en-US" dirty="0" smtClean="0"/>
              <a:t>(h) To Enhance the Limit: The business can obtain loan but pledging the policy as collateral for the loan. The insured persons are getting more loan due to certainty of payment at their death. </a:t>
            </a:r>
          </a:p>
          <a:p>
            <a:endParaRPr lang="en-US" dirty="0"/>
          </a:p>
          <a:p>
            <a:r>
              <a:rPr lang="en-US" dirty="0" smtClean="0"/>
              <a:t>(</a:t>
            </a:r>
            <a:r>
              <a:rPr lang="en-US" dirty="0" err="1" smtClean="0"/>
              <a:t>i</a:t>
            </a:r>
            <a:r>
              <a:rPr lang="en-US" dirty="0" smtClean="0"/>
              <a:t>) Welfare of Employees: </a:t>
            </a:r>
          </a:p>
          <a:p>
            <a:r>
              <a:rPr lang="en-US" dirty="0" smtClean="0"/>
              <a:t>The welfare of the employees is the responsibility of the employer. The employer is supposed to look after the welfare of the employees. The provisions are being made for death, disability and old age. </a:t>
            </a:r>
          </a:p>
          <a:p>
            <a:r>
              <a:rPr lang="en-US" dirty="0" smtClean="0"/>
              <a:t>Though these can be insured through individual life Insurance but an individual may not be insurable due to illness and age. </a:t>
            </a:r>
          </a:p>
          <a:p>
            <a:r>
              <a:rPr lang="en-US" dirty="0" smtClean="0"/>
              <a:t>But the group policy will cover his Insurance and the premium is very low in group Insurance. The expenditure paid on account of premium will be allowable expenditure.</a:t>
            </a:r>
            <a:endParaRPr lang="en-US" dirty="0"/>
          </a:p>
        </p:txBody>
      </p:sp>
    </p:spTree>
    <p:extLst>
      <p:ext uri="{BB962C8B-B14F-4D97-AF65-F5344CB8AC3E}">
        <p14:creationId xmlns:p14="http://schemas.microsoft.com/office/powerpoint/2010/main" val="17416421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Insurance in Economic Development</a:t>
            </a:r>
            <a:endParaRPr lang="en-US" dirty="0"/>
          </a:p>
        </p:txBody>
      </p:sp>
      <p:sp>
        <p:nvSpPr>
          <p:cNvPr id="3" name="Content Placeholder 2"/>
          <p:cNvSpPr>
            <a:spLocks noGrp="1"/>
          </p:cNvSpPr>
          <p:nvPr>
            <p:ph idx="1"/>
          </p:nvPr>
        </p:nvSpPr>
        <p:spPr/>
        <p:txBody>
          <a:bodyPr>
            <a:normAutofit lnSpcReduction="10000"/>
          </a:bodyPr>
          <a:lstStyle/>
          <a:p>
            <a:r>
              <a:rPr lang="en-US" dirty="0" smtClean="0"/>
              <a:t>In addition to contributing to the economy by preserving human life values and assets and protecting loss, Insurance also aids in economic development. </a:t>
            </a:r>
          </a:p>
          <a:p>
            <a:r>
              <a:rPr lang="en-US" dirty="0" smtClean="0"/>
              <a:t>To grow economy, the Govt. needs capital to finance infrastructure i.e. Roads, bridges, industrial farm communication and Railways lines which requires the huge investment. </a:t>
            </a:r>
          </a:p>
          <a:p>
            <a:r>
              <a:rPr lang="en-US" dirty="0" smtClean="0"/>
              <a:t>Individual or Govt. is unable to provide such funds. As the life Insurance contracts are long term contacts. Therefore, insurer by investing funds that flow to them from their many policyholders have become the principal source of capital for the economy.</a:t>
            </a:r>
            <a:endParaRPr lang="en-US" dirty="0"/>
          </a:p>
        </p:txBody>
      </p:sp>
    </p:spTree>
    <p:extLst>
      <p:ext uri="{BB962C8B-B14F-4D97-AF65-F5344CB8AC3E}">
        <p14:creationId xmlns:p14="http://schemas.microsoft.com/office/powerpoint/2010/main" val="4291548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Investments are essential ingredients for economic development of any nation. Investments by Insurance companies are in social sector, infrastructure development and government security, papers and bonds. </a:t>
            </a:r>
          </a:p>
          <a:p>
            <a:endParaRPr lang="en-US" dirty="0" smtClean="0"/>
          </a:p>
          <a:p>
            <a:r>
              <a:rPr lang="en-US" dirty="0" smtClean="0"/>
              <a:t>Life insurance plays a major role in mobilization of pubic savings.</a:t>
            </a:r>
          </a:p>
          <a:p>
            <a:r>
              <a:rPr lang="en-US" dirty="0" smtClean="0"/>
              <a:t> </a:t>
            </a:r>
          </a:p>
          <a:p>
            <a:r>
              <a:rPr lang="en-US" dirty="0" smtClean="0"/>
              <a:t>Savings out of life insurance fund are utilized in investments for growth. (infrastructure bonds, Housing, Railway, equity market etc.)</a:t>
            </a:r>
            <a:endParaRPr lang="en-US" dirty="0"/>
          </a:p>
        </p:txBody>
      </p:sp>
    </p:spTree>
    <p:extLst>
      <p:ext uri="{BB962C8B-B14F-4D97-AF65-F5344CB8AC3E}">
        <p14:creationId xmlns:p14="http://schemas.microsoft.com/office/powerpoint/2010/main" val="1142259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Looking to non-life side business, industry and trade would be seriously handicapped in the absence of insurance cover relating to losses due to fire, earthquake, flood, storm - natural calamities, act of God etc.) </a:t>
            </a:r>
          </a:p>
          <a:p>
            <a:r>
              <a:rPr lang="en-US" dirty="0" smtClean="0"/>
              <a:t>Wide-spread of Insurance brings in indirectly the following advantages </a:t>
            </a:r>
          </a:p>
          <a:p>
            <a:pPr>
              <a:buFont typeface="Wingdings" panose="05000000000000000000" pitchFamily="2" charset="2"/>
              <a:buChar char="ü"/>
            </a:pPr>
            <a:r>
              <a:rPr lang="en-US" dirty="0" smtClean="0"/>
              <a:t>Better living standards </a:t>
            </a:r>
          </a:p>
          <a:p>
            <a:pPr>
              <a:buFont typeface="Wingdings" panose="05000000000000000000" pitchFamily="2" charset="2"/>
              <a:buChar char="ü"/>
            </a:pPr>
            <a:r>
              <a:rPr lang="en-US" dirty="0" smtClean="0"/>
              <a:t>Higher productivity </a:t>
            </a:r>
          </a:p>
          <a:p>
            <a:pPr>
              <a:buFont typeface="Wingdings" panose="05000000000000000000" pitchFamily="2" charset="2"/>
              <a:buChar char="ü"/>
            </a:pPr>
            <a:r>
              <a:rPr lang="en-US" dirty="0" smtClean="0"/>
              <a:t>Improved Law and Order </a:t>
            </a:r>
          </a:p>
          <a:p>
            <a:pPr>
              <a:buFont typeface="Wingdings" panose="05000000000000000000" pitchFamily="2" charset="2"/>
              <a:buChar char="ü"/>
            </a:pPr>
            <a:r>
              <a:rPr lang="en-US" dirty="0" smtClean="0"/>
              <a:t>Higher GDP </a:t>
            </a:r>
          </a:p>
          <a:p>
            <a:pPr>
              <a:buFont typeface="Wingdings" panose="05000000000000000000" pitchFamily="2" charset="2"/>
              <a:buChar char="ü"/>
            </a:pPr>
            <a:r>
              <a:rPr lang="en-US" dirty="0" smtClean="0"/>
              <a:t>Healthy Generation </a:t>
            </a:r>
          </a:p>
          <a:p>
            <a:pPr>
              <a:buFont typeface="Wingdings" panose="05000000000000000000" pitchFamily="2" charset="2"/>
              <a:buChar char="ü"/>
            </a:pPr>
            <a:r>
              <a:rPr lang="en-US" dirty="0" smtClean="0"/>
              <a:t>Discourages bad habits and practices causing damage to human life</a:t>
            </a:r>
            <a:endParaRPr lang="en-US" dirty="0"/>
          </a:p>
        </p:txBody>
      </p:sp>
    </p:spTree>
    <p:extLst>
      <p:ext uri="{BB962C8B-B14F-4D97-AF65-F5344CB8AC3E}">
        <p14:creationId xmlns:p14="http://schemas.microsoft.com/office/powerpoint/2010/main" val="7329789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Higher mortality </a:t>
            </a:r>
          </a:p>
          <a:p>
            <a:pPr>
              <a:buFont typeface="Wingdings" panose="05000000000000000000" pitchFamily="2" charset="2"/>
              <a:buChar char="ü"/>
            </a:pPr>
            <a:r>
              <a:rPr lang="en-US" dirty="0" smtClean="0"/>
              <a:t>Happy society </a:t>
            </a:r>
          </a:p>
          <a:p>
            <a:pPr>
              <a:buFont typeface="Wingdings" panose="05000000000000000000" pitchFamily="2" charset="2"/>
              <a:buChar char="ü"/>
            </a:pPr>
            <a:r>
              <a:rPr lang="en-US" dirty="0" smtClean="0"/>
              <a:t>Enhanced self-esteem </a:t>
            </a:r>
          </a:p>
          <a:p>
            <a:pPr>
              <a:buFont typeface="Wingdings" panose="05000000000000000000" pitchFamily="2" charset="2"/>
              <a:buChar char="ü"/>
            </a:pPr>
            <a:r>
              <a:rPr lang="en-US" dirty="0" smtClean="0"/>
              <a:t>Creative Minds </a:t>
            </a:r>
          </a:p>
          <a:p>
            <a:pPr>
              <a:buFont typeface="Wingdings" panose="05000000000000000000" pitchFamily="2" charset="2"/>
              <a:buChar char="ü"/>
            </a:pPr>
            <a:r>
              <a:rPr lang="en-US" dirty="0" smtClean="0"/>
              <a:t>Entrepreneurship qualities </a:t>
            </a:r>
          </a:p>
          <a:p>
            <a:pPr>
              <a:buFont typeface="Wingdings" panose="05000000000000000000" pitchFamily="2" charset="2"/>
              <a:buChar char="ü"/>
            </a:pPr>
            <a:r>
              <a:rPr lang="en-US" dirty="0" smtClean="0"/>
              <a:t>Social upliftment of the society as a whole</a:t>
            </a:r>
            <a:endParaRPr lang="en-US" dirty="0"/>
          </a:p>
        </p:txBody>
      </p:sp>
    </p:spTree>
    <p:extLst>
      <p:ext uri="{BB962C8B-B14F-4D97-AF65-F5344CB8AC3E}">
        <p14:creationId xmlns:p14="http://schemas.microsoft.com/office/powerpoint/2010/main" val="82433828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Droplet</Template>
  <TotalTime>99</TotalTime>
  <Words>4531</Words>
  <Application>Microsoft Office PowerPoint</Application>
  <PresentationFormat>Widescreen</PresentationFormat>
  <Paragraphs>227</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Tw Cen MT</vt:lpstr>
      <vt:lpstr>Wingdings</vt:lpstr>
      <vt:lpstr>Droplet</vt:lpstr>
      <vt:lpstr>Insurance</vt:lpstr>
      <vt:lpstr>Introduction</vt:lpstr>
      <vt:lpstr>Advantages of Insurance</vt:lpstr>
      <vt:lpstr>Principles of Insurance</vt:lpstr>
      <vt:lpstr>PowerPoint Presentation</vt:lpstr>
      <vt:lpstr>Re-insurance</vt:lpstr>
      <vt:lpstr>Objectives of Reinsurance</vt:lpstr>
      <vt:lpstr>Insurance Regulatory Authority (IRA)</vt:lpstr>
      <vt:lpstr>Functions of IRA</vt:lpstr>
      <vt:lpstr>PowerPoint Presentation</vt:lpstr>
      <vt:lpstr>LIFE INSURANCE</vt:lpstr>
      <vt:lpstr>LIFE INSURANCE</vt:lpstr>
      <vt:lpstr>Procedure for issuance of Life Policy</vt:lpstr>
      <vt:lpstr>PowerPoint Presentation</vt:lpstr>
      <vt:lpstr>PowerPoint Presentation</vt:lpstr>
      <vt:lpstr>Issuance of duplicate Policy</vt:lpstr>
      <vt:lpstr>Nomination</vt:lpstr>
      <vt:lpstr>Surrender Value</vt:lpstr>
      <vt:lpstr>Policy Loan</vt:lpstr>
      <vt:lpstr>Claims Settlement</vt:lpstr>
      <vt:lpstr>PowerPoint Presentation</vt:lpstr>
      <vt:lpstr>PowerPoint Presentation</vt:lpstr>
      <vt:lpstr>PowerPoint Presentation</vt:lpstr>
      <vt:lpstr>PowerPoint Presentation</vt:lpstr>
      <vt:lpstr>PowerPoint Presentation</vt:lpstr>
      <vt:lpstr>NON LIFE INSURANCE</vt:lpstr>
      <vt:lpstr>PowerPoint Presentation</vt:lpstr>
      <vt:lpstr>PowerPoint Presentation</vt:lpstr>
      <vt:lpstr>FIRE INSURANCE</vt:lpstr>
      <vt:lpstr>PowerPoint Presentation</vt:lpstr>
      <vt:lpstr>MARINE INSURANCE</vt:lpstr>
      <vt:lpstr>PowerPoint Presentation</vt:lpstr>
      <vt:lpstr>PowerPoint Presentation</vt:lpstr>
      <vt:lpstr>Need of Insurance</vt:lpstr>
      <vt:lpstr>PowerPoint Presentation</vt:lpstr>
      <vt:lpstr>PowerPoint Presentation</vt:lpstr>
      <vt:lpstr>PowerPoint Presentation</vt:lpstr>
      <vt:lpstr>Role of Insurance in Economic Development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dc:title>
  <dc:creator>user</dc:creator>
  <cp:lastModifiedBy>user</cp:lastModifiedBy>
  <cp:revision>12</cp:revision>
  <dcterms:created xsi:type="dcterms:W3CDTF">2024-11-14T07:52:08Z</dcterms:created>
  <dcterms:modified xsi:type="dcterms:W3CDTF">2024-11-14T09:31:20Z</dcterms:modified>
</cp:coreProperties>
</file>