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4" r:id="rId2"/>
    <p:sldId id="256" r:id="rId3"/>
    <p:sldId id="257" r:id="rId4"/>
    <p:sldId id="258" r:id="rId5"/>
    <p:sldId id="259" r:id="rId6"/>
    <p:sldId id="260" r:id="rId7"/>
    <p:sldId id="270" r:id="rId8"/>
    <p:sldId id="277" r:id="rId9"/>
    <p:sldId id="274" r:id="rId10"/>
    <p:sldId id="275" r:id="rId11"/>
    <p:sldId id="276" r:id="rId12"/>
    <p:sldId id="261" r:id="rId13"/>
    <p:sldId id="271" r:id="rId14"/>
    <p:sldId id="272" r:id="rId15"/>
    <p:sldId id="262" r:id="rId16"/>
    <p:sldId id="263" r:id="rId17"/>
    <p:sldId id="264" r:id="rId18"/>
    <p:sldId id="268" r:id="rId19"/>
    <p:sldId id="269" r:id="rId20"/>
    <p:sldId id="265" r:id="rId21"/>
    <p:sldId id="266" r:id="rId22"/>
    <p:sldId id="26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2197987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3201283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84791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698BD4-E25E-49FA-99E2-52E4933E63EA}"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627342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698BD4-E25E-49FA-99E2-52E4933E63EA}" type="datetimeFigureOut">
              <a:rPr lang="en-US" smtClean="0"/>
              <a:t>11/21/2024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345987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698BD4-E25E-49FA-99E2-52E4933E63EA}" type="datetimeFigureOut">
              <a:rPr lang="en-US" smtClean="0"/>
              <a:t>11/21/2024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229510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98BD4-E25E-49FA-99E2-52E4933E63EA}" type="datetimeFigureOut">
              <a:rPr lang="en-US" smtClean="0"/>
              <a:t>11/21/2024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3396478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698BD4-E25E-49FA-99E2-52E4933E63EA}"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2128201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698BD4-E25E-49FA-99E2-52E4933E63EA}" type="datetimeFigureOut">
              <a:rPr lang="en-US" smtClean="0"/>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402195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2212664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61275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226000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4700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14797454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3470303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98BD4-E25E-49FA-99E2-52E4933E63EA}" type="datetimeFigureOut">
              <a:rPr lang="en-US" smtClean="0"/>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8D998A1-95BF-47AC-B70D-710C1D3B1D60}" type="slidenum">
              <a:rPr lang="en-US" smtClean="0"/>
              <a:t>‹#›</a:t>
            </a:fld>
            <a:endParaRPr lang="en-US"/>
          </a:p>
        </p:txBody>
      </p:sp>
    </p:spTree>
    <p:extLst>
      <p:ext uri="{BB962C8B-B14F-4D97-AF65-F5344CB8AC3E}">
        <p14:creationId xmlns:p14="http://schemas.microsoft.com/office/powerpoint/2010/main" val="1331709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7698BD4-E25E-49FA-99E2-52E4933E63EA}" type="datetimeFigureOut">
              <a:rPr lang="en-US" smtClean="0"/>
              <a:t>11/21/2024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8D998A1-95BF-47AC-B70D-710C1D3B1D60}" type="slidenum">
              <a:rPr lang="en-US" smtClean="0"/>
              <a:t>‹#›</a:t>
            </a:fld>
            <a:endParaRPr lang="en-US"/>
          </a:p>
        </p:txBody>
      </p:sp>
    </p:spTree>
    <p:extLst>
      <p:ext uri="{BB962C8B-B14F-4D97-AF65-F5344CB8AC3E}">
        <p14:creationId xmlns:p14="http://schemas.microsoft.com/office/powerpoint/2010/main" val="2125546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857F0-7617-2CBD-228E-6541C03742F9}"/>
              </a:ext>
            </a:extLst>
          </p:cNvPr>
          <p:cNvSpPr>
            <a:spLocks noGrp="1"/>
          </p:cNvSpPr>
          <p:nvPr>
            <p:ph type="title"/>
          </p:nvPr>
        </p:nvSpPr>
        <p:spPr/>
        <p:txBody>
          <a:bodyPr/>
          <a:lstStyle/>
          <a:p>
            <a:pPr algn="ctr"/>
            <a:r>
              <a:rPr lang="en-US" dirty="0"/>
              <a:t>TAXATION</a:t>
            </a:r>
          </a:p>
        </p:txBody>
      </p:sp>
      <p:sp>
        <p:nvSpPr>
          <p:cNvPr id="3" name="Content Placeholder 2">
            <a:extLst>
              <a:ext uri="{FF2B5EF4-FFF2-40B4-BE49-F238E27FC236}">
                <a16:creationId xmlns:a16="http://schemas.microsoft.com/office/drawing/2014/main" id="{37D09591-AA60-99B6-36BB-9B6E87037802}"/>
              </a:ext>
            </a:extLst>
          </p:cNvPr>
          <p:cNvSpPr>
            <a:spLocks noGrp="1"/>
          </p:cNvSpPr>
          <p:nvPr>
            <p:ph idx="1"/>
          </p:nvPr>
        </p:nvSpPr>
        <p:spPr>
          <a:xfrm>
            <a:off x="677333" y="2160589"/>
            <a:ext cx="9248331" cy="3880773"/>
          </a:xfrm>
        </p:spPr>
        <p:txBody>
          <a:bodyPr>
            <a:normAutofit/>
          </a:bodyPr>
          <a:lstStyle/>
          <a:p>
            <a:pPr algn="ctr"/>
            <a:endParaRPr lang="en-US" sz="4800" dirty="0"/>
          </a:p>
          <a:p>
            <a:pPr algn="ctr"/>
            <a:r>
              <a:rPr lang="en-US" sz="4800" dirty="0"/>
              <a:t>Dr.Daniel Ndua</a:t>
            </a:r>
          </a:p>
        </p:txBody>
      </p:sp>
    </p:spTree>
    <p:extLst>
      <p:ext uri="{BB962C8B-B14F-4D97-AF65-F5344CB8AC3E}">
        <p14:creationId xmlns:p14="http://schemas.microsoft.com/office/powerpoint/2010/main" val="3273985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817FF-E334-DAEF-A3BD-910696B2C9F7}"/>
              </a:ext>
            </a:extLst>
          </p:cNvPr>
          <p:cNvSpPr>
            <a:spLocks noGrp="1"/>
          </p:cNvSpPr>
          <p:nvPr>
            <p:ph type="ctrTitle"/>
          </p:nvPr>
        </p:nvSpPr>
        <p:spPr>
          <a:xfrm>
            <a:off x="1361768" y="628292"/>
            <a:ext cx="9144000" cy="971908"/>
          </a:xfrm>
        </p:spPr>
        <p:txBody>
          <a:bodyPr>
            <a:normAutofit/>
          </a:bodyPr>
          <a:lstStyle/>
          <a:p>
            <a:r>
              <a:rPr lang="en-US" sz="3200" b="1" dirty="0"/>
              <a:t>INTRODUCTION TO TAXATION  </a:t>
            </a:r>
          </a:p>
        </p:txBody>
      </p:sp>
      <p:sp>
        <p:nvSpPr>
          <p:cNvPr id="3" name="Subtitle 2">
            <a:extLst>
              <a:ext uri="{FF2B5EF4-FFF2-40B4-BE49-F238E27FC236}">
                <a16:creationId xmlns:a16="http://schemas.microsoft.com/office/drawing/2014/main" id="{FE6EFC12-00E1-7AC7-E646-373C3F872122}"/>
              </a:ext>
            </a:extLst>
          </p:cNvPr>
          <p:cNvSpPr>
            <a:spLocks noGrp="1"/>
          </p:cNvSpPr>
          <p:nvPr>
            <p:ph type="subTitle" idx="1"/>
          </p:nvPr>
        </p:nvSpPr>
        <p:spPr>
          <a:xfrm>
            <a:off x="398205" y="1773238"/>
            <a:ext cx="11356259" cy="4716052"/>
          </a:xfrm>
        </p:spPr>
        <p:txBody>
          <a:bodyPr/>
          <a:lstStyle/>
          <a:p>
            <a:pPr algn="just"/>
            <a:r>
              <a:rPr lang="en-US" b="1" dirty="0"/>
              <a:t>What is tax?</a:t>
            </a:r>
          </a:p>
          <a:p>
            <a:pPr algn="just"/>
            <a:r>
              <a:rPr lang="en-US" dirty="0"/>
              <a:t>It is a compulsory payment by a tax payer to the state through the revenue authority without involving a direct repayment of goods and services in return i.e. there is no direct reward.</a:t>
            </a:r>
          </a:p>
          <a:p>
            <a:pPr algn="just"/>
            <a:r>
              <a:rPr lang="en-US" b="1" dirty="0"/>
              <a:t>TAXATION</a:t>
            </a:r>
          </a:p>
          <a:p>
            <a:pPr algn="just"/>
            <a:r>
              <a:rPr lang="en-US" dirty="0"/>
              <a:t>It is the part of public finance that deals with the means by which the government raises revenue from the public by imposing taxes which revenue is used by the government to provide goods and services to the citizens. Taxation may be referred to as the revenue raising activity of the government.</a:t>
            </a:r>
          </a:p>
          <a:p>
            <a:pPr algn="just"/>
            <a:r>
              <a:rPr lang="en-US" dirty="0"/>
              <a:t>Public finance is the department of economic theory that deals with public expenditure and revenue.</a:t>
            </a:r>
          </a:p>
          <a:p>
            <a:pPr algn="l"/>
            <a:endParaRPr lang="en-US" dirty="0"/>
          </a:p>
        </p:txBody>
      </p:sp>
    </p:spTree>
    <p:extLst>
      <p:ext uri="{BB962C8B-B14F-4D97-AF65-F5344CB8AC3E}">
        <p14:creationId xmlns:p14="http://schemas.microsoft.com/office/powerpoint/2010/main" val="1784536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221B0-4FB9-DA48-C602-2586F20F8854}"/>
              </a:ext>
            </a:extLst>
          </p:cNvPr>
          <p:cNvSpPr>
            <a:spLocks noGrp="1"/>
          </p:cNvSpPr>
          <p:nvPr>
            <p:ph type="title"/>
          </p:nvPr>
        </p:nvSpPr>
        <p:spPr/>
        <p:txBody>
          <a:bodyPr/>
          <a:lstStyle/>
          <a:p>
            <a:pPr algn="ctr"/>
            <a:r>
              <a:rPr lang="en-US" b="1" dirty="0"/>
              <a:t>INTRODUCTION TO TAXATION </a:t>
            </a:r>
          </a:p>
        </p:txBody>
      </p:sp>
      <p:sp>
        <p:nvSpPr>
          <p:cNvPr id="3" name="Content Placeholder 2">
            <a:extLst>
              <a:ext uri="{FF2B5EF4-FFF2-40B4-BE49-F238E27FC236}">
                <a16:creationId xmlns:a16="http://schemas.microsoft.com/office/drawing/2014/main" id="{1B9F864D-1691-2A8F-C8E2-0A209532E9FD}"/>
              </a:ext>
            </a:extLst>
          </p:cNvPr>
          <p:cNvSpPr>
            <a:spLocks noGrp="1"/>
          </p:cNvSpPr>
          <p:nvPr>
            <p:ph idx="1"/>
          </p:nvPr>
        </p:nvSpPr>
        <p:spPr>
          <a:xfrm>
            <a:off x="309716" y="1825624"/>
            <a:ext cx="11044084" cy="4884891"/>
          </a:xfrm>
        </p:spPr>
        <p:txBody>
          <a:bodyPr>
            <a:normAutofit fontScale="92500"/>
          </a:bodyPr>
          <a:lstStyle/>
          <a:p>
            <a:r>
              <a:rPr lang="en-US" b="1" dirty="0"/>
              <a:t>TAXING AUTHORITY</a:t>
            </a:r>
          </a:p>
          <a:p>
            <a:r>
              <a:rPr lang="en-US" dirty="0"/>
              <a:t>This is the authority with the power to impose tax e.g. the national government or the county government.</a:t>
            </a:r>
          </a:p>
          <a:p>
            <a:r>
              <a:rPr lang="en-US" dirty="0"/>
              <a:t>The taxes are received as public revenue. The taxing authority has power to enforce payment of tax. The national government imposes tax through the KRA.</a:t>
            </a:r>
          </a:p>
          <a:p>
            <a:r>
              <a:rPr lang="en-US" b="1" dirty="0"/>
              <a:t>TAX PAYER</a:t>
            </a:r>
          </a:p>
          <a:p>
            <a:r>
              <a:rPr lang="en-US" dirty="0"/>
              <a:t>The person or the entity that pays tax e.g. individuals or companies</a:t>
            </a:r>
          </a:p>
          <a:p>
            <a:r>
              <a:rPr lang="en-US" b="1" dirty="0"/>
              <a:t>OTHER SOURCES OF GOVERNMENT FUNDS</a:t>
            </a:r>
          </a:p>
          <a:p>
            <a:pPr>
              <a:buFont typeface="+mj-lt"/>
              <a:buAutoNum type="arabicPeriod"/>
            </a:pPr>
            <a:r>
              <a:rPr lang="en-US" dirty="0"/>
              <a:t>Fines imposed on offenders by courts</a:t>
            </a:r>
          </a:p>
          <a:p>
            <a:pPr>
              <a:buFont typeface="+mj-lt"/>
              <a:buAutoNum type="arabicPeriod"/>
            </a:pPr>
            <a:r>
              <a:rPr lang="en-US" dirty="0"/>
              <a:t>Fees charged by government institutions for service rendered</a:t>
            </a:r>
          </a:p>
          <a:p>
            <a:pPr>
              <a:buFont typeface="+mj-lt"/>
              <a:buAutoNum type="arabicPeriod"/>
            </a:pPr>
            <a:r>
              <a:rPr lang="en-US" dirty="0"/>
              <a:t>profits from government companies/parastatals</a:t>
            </a:r>
          </a:p>
          <a:p>
            <a:pPr>
              <a:buFont typeface="+mj-lt"/>
              <a:buAutoNum type="arabicPeriod"/>
            </a:pPr>
            <a:r>
              <a:rPr lang="en-US" dirty="0"/>
              <a:t>Dividends from government shareholdings in private companies</a:t>
            </a:r>
          </a:p>
          <a:p>
            <a:pPr>
              <a:buFont typeface="+mj-lt"/>
              <a:buAutoNum type="arabicPeriod"/>
            </a:pPr>
            <a:r>
              <a:rPr lang="en-US" dirty="0"/>
              <a:t>Renting and selling government properties</a:t>
            </a:r>
          </a:p>
          <a:p>
            <a:pPr>
              <a:buFont typeface="+mj-lt"/>
              <a:buAutoNum type="arabicPeriod"/>
            </a:pPr>
            <a:r>
              <a:rPr lang="en-US" dirty="0"/>
              <a:t>Borrowing internally and externally</a:t>
            </a:r>
          </a:p>
          <a:p>
            <a:endParaRPr lang="en-US" dirty="0"/>
          </a:p>
          <a:p>
            <a:endParaRPr lang="en-US" dirty="0"/>
          </a:p>
          <a:p>
            <a:endParaRPr lang="en-US" dirty="0"/>
          </a:p>
        </p:txBody>
      </p:sp>
    </p:spTree>
    <p:extLst>
      <p:ext uri="{BB962C8B-B14F-4D97-AF65-F5344CB8AC3E}">
        <p14:creationId xmlns:p14="http://schemas.microsoft.com/office/powerpoint/2010/main" val="604728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08A2E-FE54-A9B9-2466-B5FA526C159C}"/>
              </a:ext>
            </a:extLst>
          </p:cNvPr>
          <p:cNvSpPr>
            <a:spLocks noGrp="1"/>
          </p:cNvSpPr>
          <p:nvPr>
            <p:ph type="title"/>
          </p:nvPr>
        </p:nvSpPr>
        <p:spPr/>
        <p:txBody>
          <a:bodyPr/>
          <a:lstStyle/>
          <a:p>
            <a:pPr algn="ctr"/>
            <a:r>
              <a:rPr lang="en-US" b="1" dirty="0"/>
              <a:t>TYPES OF TAXES</a:t>
            </a:r>
            <a:br>
              <a:rPr lang="en-US" dirty="0"/>
            </a:br>
            <a:endParaRPr lang="en-US" dirty="0"/>
          </a:p>
        </p:txBody>
      </p:sp>
      <p:sp>
        <p:nvSpPr>
          <p:cNvPr id="3" name="Content Placeholder 2">
            <a:extLst>
              <a:ext uri="{FF2B5EF4-FFF2-40B4-BE49-F238E27FC236}">
                <a16:creationId xmlns:a16="http://schemas.microsoft.com/office/drawing/2014/main" id="{88732BC9-A1F9-6323-FCEE-2F057045D8E4}"/>
              </a:ext>
            </a:extLst>
          </p:cNvPr>
          <p:cNvSpPr>
            <a:spLocks noGrp="1"/>
          </p:cNvSpPr>
          <p:nvPr>
            <p:ph idx="1"/>
          </p:nvPr>
        </p:nvSpPr>
        <p:spPr>
          <a:xfrm>
            <a:off x="516194" y="1445342"/>
            <a:ext cx="10837606" cy="5412657"/>
          </a:xfrm>
        </p:spPr>
        <p:txBody>
          <a:bodyPr>
            <a:normAutofit/>
          </a:bodyPr>
          <a:lstStyle/>
          <a:p>
            <a:pPr marL="514350" indent="-514350" algn="just">
              <a:buFont typeface="+mj-lt"/>
              <a:buAutoNum type="arabicPeriod"/>
            </a:pPr>
            <a:endParaRPr lang="en-US" dirty="0"/>
          </a:p>
          <a:p>
            <a:pPr marL="514350" indent="-514350" algn="just">
              <a:buFont typeface="+mj-lt"/>
              <a:buAutoNum type="arabicPeriod"/>
            </a:pPr>
            <a:r>
              <a:rPr lang="en-US" dirty="0"/>
              <a:t>Income tax</a:t>
            </a:r>
          </a:p>
          <a:p>
            <a:pPr marL="457200" lvl="1" indent="0" algn="just">
              <a:buNone/>
            </a:pPr>
            <a:r>
              <a:rPr lang="en-US" dirty="0"/>
              <a:t>Income tax is charged for each year of income, upon all the income of a person whether resident or non resident, which is accrued in or was derived from Kenya. </a:t>
            </a:r>
          </a:p>
          <a:p>
            <a:pPr marL="914400" lvl="2" indent="0" algn="just">
              <a:buNone/>
            </a:pPr>
            <a:r>
              <a:rPr lang="en-US" dirty="0"/>
              <a:t>Income tax is imposed on</a:t>
            </a:r>
          </a:p>
          <a:p>
            <a:pPr marL="914400" lvl="2" indent="0" algn="just">
              <a:buNone/>
            </a:pPr>
            <a:r>
              <a:rPr lang="en-US" dirty="0"/>
              <a:t>Business income form any trade or profession</a:t>
            </a:r>
          </a:p>
          <a:p>
            <a:pPr marL="914400" lvl="2" indent="0" algn="just">
              <a:buNone/>
            </a:pPr>
            <a:r>
              <a:rPr lang="en-US" dirty="0"/>
              <a:t>Employment income</a:t>
            </a:r>
          </a:p>
          <a:p>
            <a:pPr marL="914400" lvl="2" indent="0" algn="just">
              <a:buNone/>
            </a:pPr>
            <a:r>
              <a:rPr lang="en-US" dirty="0"/>
              <a:t>Rent income</a:t>
            </a:r>
          </a:p>
          <a:p>
            <a:pPr marL="914400" lvl="2" indent="0" algn="just">
              <a:buNone/>
            </a:pPr>
            <a:r>
              <a:rPr lang="en-US" dirty="0"/>
              <a:t>Dividend and interest</a:t>
            </a:r>
          </a:p>
          <a:p>
            <a:pPr marL="914400" lvl="2" indent="0" algn="just">
              <a:buNone/>
            </a:pPr>
            <a:r>
              <a:rPr lang="en-US" dirty="0"/>
              <a:t>Pension income</a:t>
            </a:r>
          </a:p>
          <a:p>
            <a:pPr marL="914400" lvl="2" indent="0" algn="just">
              <a:buNone/>
            </a:pPr>
            <a:r>
              <a:rPr lang="en-US" dirty="0"/>
              <a:t>Income from a digital marketplace</a:t>
            </a:r>
          </a:p>
          <a:p>
            <a:pPr marL="914400" lvl="2" indent="0" algn="just">
              <a:buNone/>
            </a:pPr>
            <a:r>
              <a:rPr lang="en-US" dirty="0"/>
              <a:t>Natural resource income among others</a:t>
            </a:r>
          </a:p>
          <a:p>
            <a:endParaRPr lang="en-US" dirty="0"/>
          </a:p>
        </p:txBody>
      </p:sp>
    </p:spTree>
    <p:extLst>
      <p:ext uri="{BB962C8B-B14F-4D97-AF65-F5344CB8AC3E}">
        <p14:creationId xmlns:p14="http://schemas.microsoft.com/office/powerpoint/2010/main" val="1028513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DA53D-0EA2-B9B4-EA87-F7327CE960E6}"/>
              </a:ext>
            </a:extLst>
          </p:cNvPr>
          <p:cNvSpPr>
            <a:spLocks noGrp="1"/>
          </p:cNvSpPr>
          <p:nvPr>
            <p:ph type="title"/>
          </p:nvPr>
        </p:nvSpPr>
        <p:spPr/>
        <p:txBody>
          <a:bodyPr/>
          <a:lstStyle/>
          <a:p>
            <a:pPr algn="ctr"/>
            <a:r>
              <a:rPr lang="en-US" dirty="0"/>
              <a:t>TYPES OF TAXES</a:t>
            </a:r>
          </a:p>
        </p:txBody>
      </p:sp>
      <p:sp>
        <p:nvSpPr>
          <p:cNvPr id="3" name="Content Placeholder 2">
            <a:extLst>
              <a:ext uri="{FF2B5EF4-FFF2-40B4-BE49-F238E27FC236}">
                <a16:creationId xmlns:a16="http://schemas.microsoft.com/office/drawing/2014/main" id="{555BD721-5C65-3830-E825-4BDA4D62E630}"/>
              </a:ext>
            </a:extLst>
          </p:cNvPr>
          <p:cNvSpPr>
            <a:spLocks noGrp="1"/>
          </p:cNvSpPr>
          <p:nvPr>
            <p:ph idx="1"/>
          </p:nvPr>
        </p:nvSpPr>
        <p:spPr>
          <a:xfrm>
            <a:off x="838200" y="1283110"/>
            <a:ext cx="11049000" cy="5442155"/>
          </a:xfrm>
        </p:spPr>
        <p:txBody>
          <a:bodyPr>
            <a:normAutofit fontScale="85000" lnSpcReduction="20000"/>
          </a:bodyPr>
          <a:lstStyle/>
          <a:p>
            <a:pPr marL="457200" marR="0" lvl="0" indent="-457200" algn="just" defTabSz="914400" rtl="0" eaLnBrk="1" fontAlgn="auto" latinLnBrk="0" hangingPunct="1">
              <a:lnSpc>
                <a:spcPct val="90000"/>
              </a:lnSpc>
              <a:spcBef>
                <a:spcPts val="1000"/>
              </a:spcBef>
              <a:spcAft>
                <a:spcPts val="0"/>
              </a:spcAft>
              <a:buClrTx/>
              <a:buSzTx/>
              <a:buFont typeface="+mj-lt"/>
              <a:buAutoNum type="arabicPeriod" startAt="2"/>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Rental income tax</a:t>
            </a:r>
          </a:p>
          <a:p>
            <a:pPr lvl="1" algn="just">
              <a:spcBef>
                <a:spcPts val="1000"/>
              </a:spcBef>
              <a:buFont typeface="Wingdings" panose="05000000000000000000" pitchFamily="2" charset="2"/>
              <a:buChar char="§"/>
              <a:defRPr/>
            </a:pPr>
            <a:r>
              <a:rPr lang="en-US" sz="2200" dirty="0">
                <a:solidFill>
                  <a:prstClr val="black"/>
                </a:solidFill>
                <a:latin typeface="Calibri" panose="020F0502020204030204"/>
              </a:rPr>
              <a:t>This is tax charged on rental income received from renting out property. Its is levied at 7.5% of gross rent received.</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457200" marR="0" lvl="0" indent="-457200" algn="just" defTabSz="914400" rtl="0" eaLnBrk="1" fontAlgn="auto" latinLnBrk="0" hangingPunct="1">
              <a:lnSpc>
                <a:spcPct val="90000"/>
              </a:lnSpc>
              <a:spcBef>
                <a:spcPts val="1000"/>
              </a:spcBef>
              <a:spcAft>
                <a:spcPts val="0"/>
              </a:spcAft>
              <a:buClrTx/>
              <a:buSzTx/>
              <a:buFont typeface="+mj-lt"/>
              <a:buAutoNum type="arabicPeriod" startAt="2"/>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Customs duty</a:t>
            </a:r>
          </a:p>
          <a:p>
            <a:pPr lvl="2" algn="ju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Tax levied on goods imported into the country e.g. Motor vehicles, spare parts, textile, machinery etc.</a:t>
            </a:r>
          </a:p>
          <a:p>
            <a:pPr marL="457200" marR="0" lvl="0" indent="-457200" algn="just" defTabSz="914400" rtl="0" eaLnBrk="1" fontAlgn="auto" latinLnBrk="0" hangingPunct="1">
              <a:lnSpc>
                <a:spcPct val="90000"/>
              </a:lnSpc>
              <a:spcBef>
                <a:spcPts val="1000"/>
              </a:spcBef>
              <a:spcAft>
                <a:spcPts val="0"/>
              </a:spcAft>
              <a:buClrTx/>
              <a:buSzTx/>
              <a:buFont typeface="+mj-lt"/>
              <a:buAutoNum type="arabicPeriod" startAt="2"/>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Excise duty</a:t>
            </a:r>
          </a:p>
          <a:p>
            <a:pPr lvl="2" algn="ju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Tax levied on locally manufactured goods. E.g. beer, leather goods, cigarettes </a:t>
            </a:r>
            <a:r>
              <a:rPr kumimoji="0" lang="en-US" sz="2200" b="0" i="0" u="none" strike="noStrike" kern="1200" cap="none" spc="0" normalizeH="0" baseline="0" noProof="0" dirty="0" err="1">
                <a:ln>
                  <a:noFill/>
                </a:ln>
                <a:solidFill>
                  <a:prstClr val="black"/>
                </a:solidFill>
                <a:effectLst/>
                <a:uLnTx/>
                <a:uFillTx/>
                <a:latin typeface="Calibri" panose="020F0502020204030204"/>
                <a:ea typeface="+mn-ea"/>
                <a:cs typeface="+mn-cs"/>
              </a:rPr>
              <a:t>e.t.c</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457200" marR="0" lvl="0" indent="-457200" algn="just" defTabSz="914400" rtl="0" eaLnBrk="1" fontAlgn="auto" latinLnBrk="0" hangingPunct="1">
              <a:lnSpc>
                <a:spcPct val="90000"/>
              </a:lnSpc>
              <a:spcBef>
                <a:spcPts val="1000"/>
              </a:spcBef>
              <a:spcAft>
                <a:spcPts val="0"/>
              </a:spcAft>
              <a:buClrTx/>
              <a:buSzTx/>
              <a:buFont typeface="+mj-lt"/>
              <a:buAutoNum type="arabicPeriod" startAt="2"/>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Corporation tax.</a:t>
            </a:r>
          </a:p>
          <a:p>
            <a:pPr lvl="2" algn="ju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Tax levied on profits made by a body corporates e.g. Companies, banks, insurance companies, co-operative societies etc. Resident companies - 30% (25% from May 2020) and Non Resident companies – 37.5%.</a:t>
            </a:r>
          </a:p>
          <a:p>
            <a:pPr marL="457200" marR="0" lvl="0" indent="-457200" algn="just" defTabSz="914400" rtl="0" eaLnBrk="1" fontAlgn="auto" latinLnBrk="0" hangingPunct="1">
              <a:lnSpc>
                <a:spcPct val="90000"/>
              </a:lnSpc>
              <a:spcBef>
                <a:spcPts val="1000"/>
              </a:spcBef>
              <a:spcAft>
                <a:spcPts val="0"/>
              </a:spcAft>
              <a:buClrTx/>
              <a:buSzTx/>
              <a:buFont typeface="+mj-lt"/>
              <a:buAutoNum type="arabicPeriod" startAt="2"/>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Value added tax (VAT)</a:t>
            </a:r>
          </a:p>
          <a:p>
            <a:pPr lvl="2" algn="ju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Tax levied on the value added to the price of goods and services supplied locally or imported in Kenya.</a:t>
            </a:r>
          </a:p>
          <a:p>
            <a:pPr lvl="2" algn="ju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VAT is applicable to businesses whose annual turnover exceeds Sh.5 million. The rate of VAT is 16%  but for fuel and oils it is 8%.</a:t>
            </a:r>
          </a:p>
          <a:p>
            <a:endParaRPr lang="en-US" dirty="0"/>
          </a:p>
        </p:txBody>
      </p:sp>
    </p:spTree>
    <p:extLst>
      <p:ext uri="{BB962C8B-B14F-4D97-AF65-F5344CB8AC3E}">
        <p14:creationId xmlns:p14="http://schemas.microsoft.com/office/powerpoint/2010/main" val="1613688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A2D12-685D-51B7-B166-E7ABFE71182D}"/>
              </a:ext>
            </a:extLst>
          </p:cNvPr>
          <p:cNvSpPr>
            <a:spLocks noGrp="1"/>
          </p:cNvSpPr>
          <p:nvPr>
            <p:ph type="title"/>
          </p:nvPr>
        </p:nvSpPr>
        <p:spPr>
          <a:xfrm>
            <a:off x="838200" y="365126"/>
            <a:ext cx="10515600" cy="652514"/>
          </a:xfrm>
        </p:spPr>
        <p:txBody>
          <a:bodyPr>
            <a:normAutofit/>
          </a:bodyPr>
          <a:lstStyle/>
          <a:p>
            <a:pPr algn="ctr"/>
            <a:r>
              <a:rPr lang="en-US" b="1" dirty="0"/>
              <a:t>METHODS OF COLLECTING INCOME TAX</a:t>
            </a:r>
          </a:p>
        </p:txBody>
      </p:sp>
      <p:sp>
        <p:nvSpPr>
          <p:cNvPr id="3" name="Content Placeholder 2">
            <a:extLst>
              <a:ext uri="{FF2B5EF4-FFF2-40B4-BE49-F238E27FC236}">
                <a16:creationId xmlns:a16="http://schemas.microsoft.com/office/drawing/2014/main" id="{FE5129BA-F3EF-FB02-CCF3-23B0ADFA0E38}"/>
              </a:ext>
            </a:extLst>
          </p:cNvPr>
          <p:cNvSpPr>
            <a:spLocks noGrp="1"/>
          </p:cNvSpPr>
          <p:nvPr>
            <p:ph idx="1"/>
          </p:nvPr>
        </p:nvSpPr>
        <p:spPr>
          <a:xfrm>
            <a:off x="530941" y="1017639"/>
            <a:ext cx="11282517" cy="5707625"/>
          </a:xfrm>
        </p:spPr>
        <p:txBody>
          <a:bodyPr>
            <a:normAutofit/>
          </a:bodyPr>
          <a:lstStyle/>
          <a:p>
            <a:pPr algn="just"/>
            <a:r>
              <a:rPr lang="en-US" dirty="0"/>
              <a:t>There are different methods of collecting income tax from companies and patnrships,based on their sources of income. They include:</a:t>
            </a:r>
          </a:p>
          <a:p>
            <a:pPr algn="just"/>
            <a:r>
              <a:rPr lang="en-US" b="1" dirty="0"/>
              <a:t>Corporation tax-</a:t>
            </a:r>
          </a:p>
          <a:p>
            <a:pPr algn="just"/>
            <a:r>
              <a:rPr lang="en-US" dirty="0"/>
              <a:t>This is a form of income tax that is levied on corporate bodies such as limited companies, trusts and co-operatives, on their annual income.</a:t>
            </a:r>
          </a:p>
          <a:p>
            <a:pPr algn="just"/>
            <a:r>
              <a:rPr lang="en-US" dirty="0"/>
              <a:t>Companies that are based outside Kenya but operate in Kenya or have a branch in Kenya pay corporation tax on income accrued within Kenya only.</a:t>
            </a:r>
          </a:p>
          <a:p>
            <a:pPr algn="just"/>
            <a:endParaRPr lang="en-US" dirty="0"/>
          </a:p>
        </p:txBody>
      </p:sp>
    </p:spTree>
    <p:extLst>
      <p:ext uri="{BB962C8B-B14F-4D97-AF65-F5344CB8AC3E}">
        <p14:creationId xmlns:p14="http://schemas.microsoft.com/office/powerpoint/2010/main" val="794429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C2A1-1303-DF8D-28D4-FBD838474B4D}"/>
              </a:ext>
            </a:extLst>
          </p:cNvPr>
          <p:cNvSpPr>
            <a:spLocks noGrp="1"/>
          </p:cNvSpPr>
          <p:nvPr>
            <p:ph type="title"/>
          </p:nvPr>
        </p:nvSpPr>
        <p:spPr/>
        <p:txBody>
          <a:bodyPr/>
          <a:lstStyle/>
          <a:p>
            <a:pPr algn="ctr"/>
            <a:r>
              <a:rPr lang="en-US" dirty="0"/>
              <a:t>METHODS OF COLLECTING INCOME TAX</a:t>
            </a:r>
          </a:p>
        </p:txBody>
      </p:sp>
      <p:sp>
        <p:nvSpPr>
          <p:cNvPr id="3" name="Content Placeholder 2">
            <a:extLst>
              <a:ext uri="{FF2B5EF4-FFF2-40B4-BE49-F238E27FC236}">
                <a16:creationId xmlns:a16="http://schemas.microsoft.com/office/drawing/2014/main" id="{776C8AF5-3679-8094-52DE-1D8BBEDDB622}"/>
              </a:ext>
            </a:extLst>
          </p:cNvPr>
          <p:cNvSpPr>
            <a:spLocks noGrp="1"/>
          </p:cNvSpPr>
          <p:nvPr>
            <p:ph idx="1"/>
          </p:nvPr>
        </p:nvSpPr>
        <p:spPr>
          <a:xfrm>
            <a:off x="838200" y="1825625"/>
            <a:ext cx="10515600" cy="4899640"/>
          </a:xfrm>
        </p:spPr>
        <p:txBody>
          <a:bodyPr/>
          <a:lstStyle/>
          <a:p>
            <a:r>
              <a:rPr lang="en-US" b="1" dirty="0"/>
              <a:t>Pay as you earn(PAYE)</a:t>
            </a:r>
          </a:p>
          <a:p>
            <a:r>
              <a:rPr lang="en-US" dirty="0"/>
              <a:t>This is a method of collecting tax at source from individuals in gainful employment. The tax is calculated on graduated rates of tax and personal relief is granted to arrive at the net tax payable.</a:t>
            </a:r>
          </a:p>
          <a:p>
            <a:r>
              <a:rPr lang="en-US" dirty="0"/>
              <a:t>For purposes of computing  PAYE, an employer is required to apply the Individual Income Tax Rates (Bands) that range from 10% to 35% as per Finance Act 2023 as tabulated below (effective 1st July  2023);</a:t>
            </a:r>
          </a:p>
          <a:p>
            <a:endParaRPr lang="en-US" dirty="0"/>
          </a:p>
          <a:p>
            <a:endParaRPr lang="en-US" dirty="0"/>
          </a:p>
        </p:txBody>
      </p:sp>
    </p:spTree>
    <p:extLst>
      <p:ext uri="{BB962C8B-B14F-4D97-AF65-F5344CB8AC3E}">
        <p14:creationId xmlns:p14="http://schemas.microsoft.com/office/powerpoint/2010/main" val="1427317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286A0-4033-AFEE-ACFD-F8952CD16C3A}"/>
              </a:ext>
            </a:extLst>
          </p:cNvPr>
          <p:cNvSpPr>
            <a:spLocks noGrp="1"/>
          </p:cNvSpPr>
          <p:nvPr>
            <p:ph type="title"/>
          </p:nvPr>
        </p:nvSpPr>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METHODS OF COLLECTING INCOME TAX(PAYE)</a:t>
            </a:r>
            <a:endParaRPr lang="en-US" dirty="0"/>
          </a:p>
        </p:txBody>
      </p:sp>
      <p:sp>
        <p:nvSpPr>
          <p:cNvPr id="3" name="Content Placeholder 2">
            <a:extLst>
              <a:ext uri="{FF2B5EF4-FFF2-40B4-BE49-F238E27FC236}">
                <a16:creationId xmlns:a16="http://schemas.microsoft.com/office/drawing/2014/main" id="{FDEE86E6-8E08-9248-4A40-6C897AA687BD}"/>
              </a:ext>
            </a:extLst>
          </p:cNvPr>
          <p:cNvSpPr>
            <a:spLocks noGrp="1"/>
          </p:cNvSpPr>
          <p:nvPr>
            <p:ph idx="1"/>
          </p:nvPr>
        </p:nvSpPr>
        <p:spPr>
          <a:xfrm>
            <a:off x="838200" y="1825625"/>
            <a:ext cx="10515600" cy="4855394"/>
          </a:xfrm>
        </p:spPr>
        <p:txBody>
          <a:bodyPr>
            <a:normAutofit/>
          </a:bodyPr>
          <a:lstStyle/>
          <a:p>
            <a:r>
              <a:rPr lang="en-US" dirty="0"/>
              <a:t>Taxable Employment Income</a:t>
            </a:r>
          </a:p>
          <a:p>
            <a:r>
              <a:rPr lang="en-US" dirty="0"/>
              <a:t>Taxable employment income includes, all cash payments however described and the value of non-cash benefits (exceeding </a:t>
            </a:r>
            <a:r>
              <a:rPr lang="en-US" dirty="0" err="1"/>
              <a:t>Ksh</a:t>
            </a:r>
            <a:r>
              <a:rPr lang="en-US" dirty="0"/>
              <a:t> 3,000 per month).</a:t>
            </a:r>
          </a:p>
          <a:p>
            <a:r>
              <a:rPr lang="en-US" dirty="0"/>
              <a:t>Cash pay includes; wages, salary, sick pay, leave pay, fees, commissions, bonuses, service gratuity, allowances, director’s fees, overtime, pension, entertainment and any other payments received in respect of employment</a:t>
            </a:r>
          </a:p>
          <a:p>
            <a:r>
              <a:rPr lang="en-US" dirty="0"/>
              <a:t>Any excess mileage reimbursement to employee based on the rates that are higher than AA Kenya rates will be taxable on the employee. Effective 1st July 2023.</a:t>
            </a:r>
          </a:p>
          <a:p>
            <a:r>
              <a:rPr lang="en-US" dirty="0"/>
              <a:t>Club entrance and subscription fees shall be treated as taxable income to the extent that the expense has been allowed against the employer’s income.</a:t>
            </a:r>
          </a:p>
          <a:p>
            <a:r>
              <a:rPr lang="en-US" dirty="0"/>
              <a:t>Charged on both Residents and Non-Residents</a:t>
            </a:r>
          </a:p>
          <a:p>
            <a:r>
              <a:rPr lang="en-US" dirty="0"/>
              <a:t>1Tax Accounted for by Employers Only</a:t>
            </a:r>
          </a:p>
          <a:p>
            <a:endParaRPr lang="en-US" dirty="0"/>
          </a:p>
        </p:txBody>
      </p:sp>
    </p:spTree>
    <p:extLst>
      <p:ext uri="{BB962C8B-B14F-4D97-AF65-F5344CB8AC3E}">
        <p14:creationId xmlns:p14="http://schemas.microsoft.com/office/powerpoint/2010/main" val="1047160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5C600-2547-75D1-EECE-765A80281A7A}"/>
              </a:ext>
            </a:extLst>
          </p:cNvPr>
          <p:cNvSpPr>
            <a:spLocks noGrp="1"/>
          </p:cNvSpPr>
          <p:nvPr>
            <p:ph type="title"/>
          </p:nvPr>
        </p:nvSpPr>
        <p:spPr/>
        <p:txBody>
          <a:bodyPr/>
          <a:lstStyle/>
          <a:p>
            <a:pPr algn="ctr"/>
            <a:r>
              <a:rPr lang="en-US" dirty="0"/>
              <a:t>METHODS OF COLLECTING INCOME TAX(PAYE)</a:t>
            </a:r>
          </a:p>
        </p:txBody>
      </p:sp>
      <p:pic>
        <p:nvPicPr>
          <p:cNvPr id="5" name="Content Placeholder 4">
            <a:extLst>
              <a:ext uri="{FF2B5EF4-FFF2-40B4-BE49-F238E27FC236}">
                <a16:creationId xmlns:a16="http://schemas.microsoft.com/office/drawing/2014/main" id="{CE5D3528-1FE4-1722-2BA7-25197A77A3FD}"/>
              </a:ext>
            </a:extLst>
          </p:cNvPr>
          <p:cNvPicPr>
            <a:picLocks noGrp="1" noChangeAspect="1"/>
          </p:cNvPicPr>
          <p:nvPr>
            <p:ph idx="1"/>
          </p:nvPr>
        </p:nvPicPr>
        <p:blipFill>
          <a:blip r:embed="rId2"/>
          <a:stretch>
            <a:fillRect/>
          </a:stretch>
        </p:blipFill>
        <p:spPr>
          <a:xfrm>
            <a:off x="1061884" y="1825625"/>
            <a:ext cx="9851922" cy="4351338"/>
          </a:xfrm>
        </p:spPr>
      </p:pic>
    </p:spTree>
    <p:extLst>
      <p:ext uri="{BB962C8B-B14F-4D97-AF65-F5344CB8AC3E}">
        <p14:creationId xmlns:p14="http://schemas.microsoft.com/office/powerpoint/2010/main" val="834261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CDBB-3622-97A0-395B-31D9D8996806}"/>
              </a:ext>
            </a:extLst>
          </p:cNvPr>
          <p:cNvSpPr>
            <a:spLocks noGrp="1"/>
          </p:cNvSpPr>
          <p:nvPr>
            <p:ph type="title"/>
          </p:nvPr>
        </p:nvSpPr>
        <p:spPr/>
        <p:txBody>
          <a:bodyPr/>
          <a:lstStyle/>
          <a:p>
            <a:pPr algn="ctr"/>
            <a:r>
              <a:rPr lang="en-US" dirty="0"/>
              <a:t>METHODS OF COLLECTING INCOME TAX(PAYE-ILLUSTRATION)</a:t>
            </a:r>
          </a:p>
        </p:txBody>
      </p:sp>
      <p:sp>
        <p:nvSpPr>
          <p:cNvPr id="3" name="Content Placeholder 2">
            <a:extLst>
              <a:ext uri="{FF2B5EF4-FFF2-40B4-BE49-F238E27FC236}">
                <a16:creationId xmlns:a16="http://schemas.microsoft.com/office/drawing/2014/main" id="{27B35582-A7C8-3158-19A5-B71223B40C13}"/>
              </a:ext>
            </a:extLst>
          </p:cNvPr>
          <p:cNvSpPr>
            <a:spLocks noGrp="1"/>
          </p:cNvSpPr>
          <p:nvPr>
            <p:ph idx="1"/>
          </p:nvPr>
        </p:nvSpPr>
        <p:spPr>
          <a:xfrm>
            <a:off x="838200" y="1825624"/>
            <a:ext cx="10515600" cy="5032375"/>
          </a:xfrm>
        </p:spPr>
        <p:txBody>
          <a:bodyPr/>
          <a:lstStyle/>
          <a:p>
            <a:r>
              <a:rPr lang="en-US" dirty="0"/>
              <a:t>Job  is a high school teacher. His gross salary is as follows</a:t>
            </a:r>
          </a:p>
          <a:p>
            <a:r>
              <a:rPr lang="en-US" dirty="0"/>
              <a:t>Basic salary=sh 86,000 per month</a:t>
            </a:r>
          </a:p>
          <a:p>
            <a:r>
              <a:rPr lang="en-US" dirty="0"/>
              <a:t>Transport allowance =sh 16000 per month</a:t>
            </a:r>
          </a:p>
          <a:p>
            <a:r>
              <a:rPr lang="en-US" dirty="0"/>
              <a:t>Overtime allowance =sh 13870</a:t>
            </a:r>
          </a:p>
          <a:p>
            <a:r>
              <a:rPr lang="en-US" dirty="0"/>
              <a:t>Required:</a:t>
            </a:r>
          </a:p>
          <a:p>
            <a:r>
              <a:rPr lang="en-US" dirty="0"/>
              <a:t>Calculate jobs income tax per month</a:t>
            </a:r>
          </a:p>
        </p:txBody>
      </p:sp>
    </p:spTree>
    <p:extLst>
      <p:ext uri="{BB962C8B-B14F-4D97-AF65-F5344CB8AC3E}">
        <p14:creationId xmlns:p14="http://schemas.microsoft.com/office/powerpoint/2010/main" val="1657565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DA1B2-494D-1F5F-B24A-2B5E3F484E06}"/>
              </a:ext>
            </a:extLst>
          </p:cNvPr>
          <p:cNvSpPr>
            <a:spLocks noGrp="1"/>
          </p:cNvSpPr>
          <p:nvPr>
            <p:ph type="title"/>
          </p:nvPr>
        </p:nvSpPr>
        <p:spPr/>
        <p:txBody>
          <a:bodyPr/>
          <a:lstStyle/>
          <a:p>
            <a:pPr algn="ctr"/>
            <a:r>
              <a:rPr lang="en-US" dirty="0"/>
              <a:t>METHODS OF COLLECTING INCOME TAX(PAYE)</a:t>
            </a:r>
          </a:p>
        </p:txBody>
      </p:sp>
      <p:graphicFrame>
        <p:nvGraphicFramePr>
          <p:cNvPr id="4" name="Content Placeholder 3">
            <a:extLst>
              <a:ext uri="{FF2B5EF4-FFF2-40B4-BE49-F238E27FC236}">
                <a16:creationId xmlns:a16="http://schemas.microsoft.com/office/drawing/2014/main" id="{02E1BFAE-B638-3484-0330-9C7150374751}"/>
              </a:ext>
            </a:extLst>
          </p:cNvPr>
          <p:cNvGraphicFramePr>
            <a:graphicFrameLocks noGrp="1"/>
          </p:cNvGraphicFramePr>
          <p:nvPr>
            <p:ph idx="1"/>
            <p:extLst>
              <p:ext uri="{D42A27DB-BD31-4B8C-83A1-F6EECF244321}">
                <p14:modId xmlns:p14="http://schemas.microsoft.com/office/powerpoint/2010/main" val="254645307"/>
              </p:ext>
            </p:extLst>
          </p:nvPr>
        </p:nvGraphicFramePr>
        <p:xfrm>
          <a:off x="1037098" y="2109018"/>
          <a:ext cx="10316701" cy="4241950"/>
        </p:xfrm>
        <a:graphic>
          <a:graphicData uri="http://schemas.openxmlformats.org/drawingml/2006/table">
            <a:tbl>
              <a:tblPr/>
              <a:tblGrid>
                <a:gridCol w="4198579">
                  <a:extLst>
                    <a:ext uri="{9D8B030D-6E8A-4147-A177-3AD203B41FA5}">
                      <a16:colId xmlns:a16="http://schemas.microsoft.com/office/drawing/2014/main" val="2115593"/>
                    </a:ext>
                  </a:extLst>
                </a:gridCol>
                <a:gridCol w="1681317">
                  <a:extLst>
                    <a:ext uri="{9D8B030D-6E8A-4147-A177-3AD203B41FA5}">
                      <a16:colId xmlns:a16="http://schemas.microsoft.com/office/drawing/2014/main" val="817452368"/>
                    </a:ext>
                  </a:extLst>
                </a:gridCol>
                <a:gridCol w="4436805">
                  <a:extLst>
                    <a:ext uri="{9D8B030D-6E8A-4147-A177-3AD203B41FA5}">
                      <a16:colId xmlns:a16="http://schemas.microsoft.com/office/drawing/2014/main" val="1847517944"/>
                    </a:ext>
                  </a:extLst>
                </a:gridCol>
              </a:tblGrid>
              <a:tr h="432259">
                <a:tc>
                  <a:txBody>
                    <a:bodyPr/>
                    <a:lstStyle/>
                    <a:p>
                      <a:pPr algn="l" fontAlgn="b"/>
                      <a:r>
                        <a:rPr lang="en-US" sz="2400" b="1" i="0" u="none" strike="noStrike" dirty="0">
                          <a:solidFill>
                            <a:srgbClr val="000000"/>
                          </a:solidFill>
                          <a:effectLst/>
                          <a:latin typeface="Calibri" panose="020F0502020204030204" pitchFamily="34" charset="0"/>
                        </a:rPr>
                        <a:t>Solution: TOTAL EMPLOYMENT INCOME=86,000+16000+13870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r>
                        <a:rPr lang="en-US" sz="2400" b="1" i="0" u="none" strike="noStrike" dirty="0">
                          <a:solidFill>
                            <a:srgbClr val="000000"/>
                          </a:solidFill>
                          <a:effectLst/>
                          <a:latin typeface="Calibri" panose="020F0502020204030204" pitchFamily="34" charset="0"/>
                        </a:rPr>
                        <a:t>=115870</a:t>
                      </a:r>
                    </a:p>
                    <a:p>
                      <a:pPr algn="l" fontAlgn="b"/>
                      <a:endParaRPr lang="en-US" sz="24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24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0419337"/>
                  </a:ext>
                </a:extLst>
              </a:tr>
              <a:tr h="432259">
                <a:tc>
                  <a:txBody>
                    <a:bodyPr/>
                    <a:lstStyle/>
                    <a:p>
                      <a:pPr algn="l" fontAlgn="b"/>
                      <a:r>
                        <a:rPr lang="en-US" sz="2400" b="1" i="0" u="none" strike="noStrike" dirty="0">
                          <a:solidFill>
                            <a:srgbClr val="000000"/>
                          </a:solidFill>
                          <a:effectLst/>
                          <a:latin typeface="Calibri" panose="020F0502020204030204" pitchFamily="34" charset="0"/>
                        </a:rPr>
                        <a:t>Monthly income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400" b="1" i="0" u="none" strike="noStrike" dirty="0">
                          <a:solidFill>
                            <a:srgbClr val="000000"/>
                          </a:solidFill>
                          <a:effectLst/>
                          <a:latin typeface="Calibri" panose="020F0502020204030204" pitchFamily="34" charset="0"/>
                        </a:rPr>
                        <a:t>Tax rate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400" b="1" i="0" u="none" strike="noStrike" dirty="0">
                          <a:solidFill>
                            <a:srgbClr val="000000"/>
                          </a:solidFill>
                          <a:effectLst/>
                          <a:latin typeface="Calibri" panose="020F0502020204030204" pitchFamily="34" charset="0"/>
                        </a:rPr>
                        <a:t>Amount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7641579"/>
                  </a:ext>
                </a:extLst>
              </a:tr>
              <a:tr h="432259">
                <a:tc>
                  <a:txBody>
                    <a:bodyPr/>
                    <a:lstStyle/>
                    <a:p>
                      <a:pPr algn="l" fontAlgn="b"/>
                      <a:r>
                        <a:rPr lang="en-US" sz="2400" b="0" i="0" u="none" strike="noStrike" dirty="0">
                          <a:solidFill>
                            <a:srgbClr val="000000"/>
                          </a:solidFill>
                          <a:effectLst/>
                          <a:latin typeface="Calibri" panose="020F0502020204030204" pitchFamily="34" charset="0"/>
                        </a:rPr>
                        <a:t>0-24,000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a:solidFill>
                            <a:srgbClr val="000000"/>
                          </a:solidFill>
                          <a:effectLst/>
                          <a:latin typeface="Calibri" panose="020F0502020204030204" pitchFamily="34" charset="0"/>
                        </a:rPr>
                        <a:t>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dirty="0">
                          <a:solidFill>
                            <a:srgbClr val="000000"/>
                          </a:solidFill>
                          <a:effectLst/>
                          <a:latin typeface="Calibri" panose="020F0502020204030204" pitchFamily="34" charset="0"/>
                        </a:rPr>
                        <a:t>10%*2400= 2400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4511358"/>
                  </a:ext>
                </a:extLst>
              </a:tr>
              <a:tr h="432259">
                <a:tc>
                  <a:txBody>
                    <a:bodyPr/>
                    <a:lstStyle/>
                    <a:p>
                      <a:pPr algn="l" fontAlgn="b"/>
                      <a:r>
                        <a:rPr lang="en-US" sz="2400" b="0" i="0" u="none" strike="noStrike" dirty="0">
                          <a:solidFill>
                            <a:srgbClr val="000000"/>
                          </a:solidFill>
                          <a:effectLst/>
                          <a:latin typeface="Calibri" panose="020F0502020204030204" pitchFamily="34" charset="0"/>
                        </a:rPr>
                        <a:t>24,000-32333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a:solidFill>
                            <a:srgbClr val="000000"/>
                          </a:solidFill>
                          <a:effectLst/>
                          <a:latin typeface="Calibri" panose="020F0502020204030204" pitchFamily="34" charset="0"/>
                        </a:rPr>
                        <a:t>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dirty="0">
                          <a:solidFill>
                            <a:srgbClr val="000000"/>
                          </a:solidFill>
                          <a:effectLst/>
                          <a:latin typeface="Calibri" panose="020F0502020204030204" pitchFamily="34" charset="0"/>
                        </a:rPr>
                        <a:t> (32333-24000)*25%=2058.25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2093169"/>
                  </a:ext>
                </a:extLst>
              </a:tr>
              <a:tr h="669805">
                <a:tc>
                  <a:txBody>
                    <a:bodyPr/>
                    <a:lstStyle/>
                    <a:p>
                      <a:pPr algn="l" fontAlgn="b"/>
                      <a:r>
                        <a:rPr lang="en-US" sz="2400" b="0" i="0" u="none" strike="noStrike" dirty="0">
                          <a:solidFill>
                            <a:srgbClr val="000000"/>
                          </a:solidFill>
                          <a:effectLst/>
                          <a:latin typeface="Calibri" panose="020F0502020204030204" pitchFamily="34" charset="0"/>
                        </a:rPr>
                        <a:t>32334-115870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dirty="0">
                          <a:solidFill>
                            <a:srgbClr val="000000"/>
                          </a:solidFill>
                          <a:effectLst/>
                          <a:latin typeface="Calibri" panose="020F0502020204030204" pitchFamily="34" charset="0"/>
                        </a:rPr>
                        <a:t>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dirty="0">
                          <a:solidFill>
                            <a:srgbClr val="000000"/>
                          </a:solidFill>
                          <a:effectLst/>
                          <a:latin typeface="Calibri" panose="020F0502020204030204" pitchFamily="34" charset="0"/>
                        </a:rPr>
                        <a:t>(115870-32334)*30%=25060.8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9761048"/>
                  </a:ext>
                </a:extLst>
              </a:tr>
              <a:tr h="669805">
                <a:tc>
                  <a:txBody>
                    <a:bodyPr/>
                    <a:lstStyle/>
                    <a:p>
                      <a:pPr algn="l" fontAlgn="b"/>
                      <a:r>
                        <a:rPr lang="en-US" sz="2400" b="1" i="0" u="none" strike="noStrike" dirty="0">
                          <a:solidFill>
                            <a:srgbClr val="000000"/>
                          </a:solidFill>
                          <a:effectLst/>
                          <a:latin typeface="Calibri" panose="020F0502020204030204" pitchFamily="34" charset="0"/>
                        </a:rPr>
                        <a:t>Total tax liability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4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dirty="0">
                          <a:solidFill>
                            <a:srgbClr val="000000"/>
                          </a:solidFill>
                          <a:effectLst/>
                          <a:latin typeface="Calibri" panose="020F0502020204030204" pitchFamily="34" charset="0"/>
                        </a:rPr>
                        <a:t>(2400+2058+2506.8)=29519.05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24328529"/>
                  </a:ext>
                </a:extLst>
              </a:tr>
              <a:tr h="432259">
                <a:tc>
                  <a:txBody>
                    <a:bodyPr/>
                    <a:lstStyle/>
                    <a:p>
                      <a:pPr algn="l" fontAlgn="b"/>
                      <a:r>
                        <a:rPr lang="en-US" sz="2400" b="1" i="0" u="none" strike="noStrike" dirty="0">
                          <a:solidFill>
                            <a:srgbClr val="000000"/>
                          </a:solidFill>
                          <a:effectLst/>
                          <a:latin typeface="Calibri" panose="020F0502020204030204" pitchFamily="34" charset="0"/>
                        </a:rPr>
                        <a:t>less personal relief</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4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dirty="0">
                          <a:solidFill>
                            <a:srgbClr val="000000"/>
                          </a:solidFill>
                          <a:effectLst/>
                          <a:latin typeface="Calibri" panose="020F0502020204030204" pitchFamily="34" charset="0"/>
                        </a:rPr>
                        <a:t>(2400)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36906128"/>
                  </a:ext>
                </a:extLst>
              </a:tr>
              <a:tr h="432259">
                <a:tc>
                  <a:txBody>
                    <a:bodyPr/>
                    <a:lstStyle/>
                    <a:p>
                      <a:pPr algn="l" fontAlgn="b"/>
                      <a:r>
                        <a:rPr lang="en-US" sz="2400" b="1" i="0" u="none" strike="noStrike" dirty="0">
                          <a:solidFill>
                            <a:srgbClr val="000000"/>
                          </a:solidFill>
                          <a:effectLst/>
                          <a:latin typeface="Calibri" panose="020F0502020204030204" pitchFamily="34" charset="0"/>
                        </a:rPr>
                        <a:t>Net tax liability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24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2400" b="0" i="0" u="none" strike="noStrike" dirty="0">
                          <a:solidFill>
                            <a:srgbClr val="000000"/>
                          </a:solidFill>
                          <a:effectLst/>
                          <a:latin typeface="Calibri" panose="020F0502020204030204" pitchFamily="34" charset="0"/>
                        </a:rPr>
                        <a:t>(29519.05-2400)=27119.05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7032947"/>
                  </a:ext>
                </a:extLst>
              </a:tr>
            </a:tbl>
          </a:graphicData>
        </a:graphic>
      </p:graphicFrame>
    </p:spTree>
    <p:extLst>
      <p:ext uri="{BB962C8B-B14F-4D97-AF65-F5344CB8AC3E}">
        <p14:creationId xmlns:p14="http://schemas.microsoft.com/office/powerpoint/2010/main" val="2625953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C73C2-0D1D-3EDE-77B7-9C9B97051A7A}"/>
              </a:ext>
            </a:extLst>
          </p:cNvPr>
          <p:cNvSpPr>
            <a:spLocks noGrp="1"/>
          </p:cNvSpPr>
          <p:nvPr>
            <p:ph type="title"/>
          </p:nvPr>
        </p:nvSpPr>
        <p:spPr/>
        <p:txBody>
          <a:bodyPr/>
          <a:lstStyle/>
          <a:p>
            <a:r>
              <a:rPr lang="en-US" dirty="0"/>
              <a:t>METHODS OF COLLECTING INCOME TAX</a:t>
            </a:r>
          </a:p>
        </p:txBody>
      </p:sp>
      <p:sp>
        <p:nvSpPr>
          <p:cNvPr id="3" name="Content Placeholder 2">
            <a:extLst>
              <a:ext uri="{FF2B5EF4-FFF2-40B4-BE49-F238E27FC236}">
                <a16:creationId xmlns:a16="http://schemas.microsoft.com/office/drawing/2014/main" id="{4676ABA0-02E2-CA4B-6CB2-6C0E2BAF11DE}"/>
              </a:ext>
            </a:extLst>
          </p:cNvPr>
          <p:cNvSpPr>
            <a:spLocks noGrp="1"/>
          </p:cNvSpPr>
          <p:nvPr>
            <p:ph idx="1"/>
          </p:nvPr>
        </p:nvSpPr>
        <p:spPr/>
        <p:txBody>
          <a:bodyPr>
            <a:normAutofit/>
          </a:bodyPr>
          <a:lstStyle/>
          <a:p>
            <a:r>
              <a:rPr lang="en-US" b="1" dirty="0"/>
              <a:t>Withholding tax(WHT</a:t>
            </a:r>
            <a:r>
              <a:rPr lang="en-US" dirty="0"/>
              <a:t>)-this is a tax that is deductible from certain classes of income at the point of making a payment, to non -employees</a:t>
            </a:r>
          </a:p>
          <a:p>
            <a:r>
              <a:rPr lang="en-US" dirty="0"/>
              <a:t>WHT is deducted at source from the following sources of income:</a:t>
            </a:r>
          </a:p>
          <a:p>
            <a:pPr lvl="1"/>
            <a:r>
              <a:rPr lang="en-US" dirty="0"/>
              <a:t>Interest</a:t>
            </a:r>
          </a:p>
          <a:p>
            <a:pPr lvl="1"/>
            <a:r>
              <a:rPr lang="en-US" dirty="0"/>
              <a:t>Dividends</a:t>
            </a:r>
          </a:p>
          <a:p>
            <a:pPr lvl="1"/>
            <a:r>
              <a:rPr lang="en-US" dirty="0"/>
              <a:t>Royalties</a:t>
            </a:r>
          </a:p>
          <a:p>
            <a:pPr lvl="1"/>
            <a:r>
              <a:rPr lang="en-US" dirty="0"/>
              <a:t>Management or professional fee</a:t>
            </a:r>
          </a:p>
          <a:p>
            <a:pPr lvl="1"/>
            <a:r>
              <a:rPr lang="en-US" dirty="0"/>
              <a:t>Commissions</a:t>
            </a:r>
          </a:p>
          <a:p>
            <a:pPr lvl="1"/>
            <a:r>
              <a:rPr lang="en-US" dirty="0"/>
              <a:t>Pensions</a:t>
            </a:r>
          </a:p>
        </p:txBody>
      </p:sp>
    </p:spTree>
    <p:extLst>
      <p:ext uri="{BB962C8B-B14F-4D97-AF65-F5344CB8AC3E}">
        <p14:creationId xmlns:p14="http://schemas.microsoft.com/office/powerpoint/2010/main" val="38174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918A7-EAE1-7697-D6D0-717F57C29FB7}"/>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TAX CREDITS</a:t>
            </a:r>
            <a:endParaRPr lang="en-US" dirty="0"/>
          </a:p>
        </p:txBody>
      </p:sp>
      <p:sp>
        <p:nvSpPr>
          <p:cNvPr id="3" name="Content Placeholder 2">
            <a:extLst>
              <a:ext uri="{FF2B5EF4-FFF2-40B4-BE49-F238E27FC236}">
                <a16:creationId xmlns:a16="http://schemas.microsoft.com/office/drawing/2014/main" id="{1989B98F-F815-79F4-131B-A4649284BAC2}"/>
              </a:ext>
            </a:extLst>
          </p:cNvPr>
          <p:cNvSpPr>
            <a:spLocks noGrp="1"/>
          </p:cNvSpPr>
          <p:nvPr>
            <p:ph idx="1"/>
          </p:nvPr>
        </p:nvSpPr>
        <p:spPr>
          <a:xfrm>
            <a:off x="838200" y="1825625"/>
            <a:ext cx="11034252" cy="4781652"/>
          </a:xfrm>
        </p:spPr>
        <p:txBody>
          <a:bodyPr>
            <a:normAutofit fontScale="85000" lnSpcReduction="10000"/>
          </a:bodyPr>
          <a:lstStyle/>
          <a:p>
            <a:r>
              <a:rPr lang="en-US" dirty="0"/>
              <a:t>Tax credits in Kenya are deductions allowed by the Kenya Revenue Authority (KRA) to reduce an individual’s or a company’s tax liability. They are typically provided to incentivize specific activities or to avoid double taxation. Below are the common types of tax credits available in Kenya:</a:t>
            </a:r>
          </a:p>
          <a:p>
            <a:r>
              <a:rPr lang="en-US" b="1" dirty="0"/>
              <a:t>1. Foreign Tax Credit</a:t>
            </a:r>
          </a:p>
          <a:p>
            <a:pPr>
              <a:buFont typeface="Arial" panose="020B0604020202020204" pitchFamily="34" charset="0"/>
              <a:buChar char="•"/>
            </a:pPr>
            <a:r>
              <a:rPr lang="en-US" dirty="0"/>
              <a:t>Applies to Kenyan residents who have income from foreign sources.</a:t>
            </a:r>
          </a:p>
          <a:p>
            <a:pPr>
              <a:buFont typeface="Arial" panose="020B0604020202020204" pitchFamily="34" charset="0"/>
              <a:buChar char="•"/>
            </a:pPr>
            <a:r>
              <a:rPr lang="en-US" dirty="0"/>
              <a:t>Ensures that taxpayers do not pay taxes on the same income in both Kenya and the foreign country.</a:t>
            </a:r>
          </a:p>
          <a:p>
            <a:pPr>
              <a:buFont typeface="Arial" panose="020B0604020202020204" pitchFamily="34" charset="0"/>
              <a:buChar char="•"/>
            </a:pPr>
            <a:r>
              <a:rPr lang="en-US" dirty="0"/>
              <a:t>The credit is limited to the lesser of the foreign tax paid or the Kenyan tax payable on the same income.</a:t>
            </a:r>
          </a:p>
          <a:p>
            <a:r>
              <a:rPr lang="en-US" b="1" dirty="0"/>
              <a:t>2. Investment Tax Credit</a:t>
            </a:r>
          </a:p>
          <a:p>
            <a:pPr>
              <a:buFont typeface="Arial" panose="020B0604020202020204" pitchFamily="34" charset="0"/>
              <a:buChar char="•"/>
            </a:pPr>
            <a:r>
              <a:rPr lang="en-US" dirty="0"/>
              <a:t>Incentives are offered for specific investments, particularly in sectors targeted for growth.</a:t>
            </a:r>
          </a:p>
          <a:p>
            <a:pPr>
              <a:buFont typeface="Arial" panose="020B0604020202020204" pitchFamily="34" charset="0"/>
              <a:buChar char="•"/>
            </a:pPr>
            <a:r>
              <a:rPr lang="en-US" dirty="0"/>
              <a:t>Examples include manufacturing, renewable energy, and other capital-intensive industries.</a:t>
            </a:r>
          </a:p>
          <a:p>
            <a:pPr>
              <a:buFont typeface="Arial" panose="020B0604020202020204" pitchFamily="34" charset="0"/>
              <a:buChar char="•"/>
            </a:pPr>
            <a:r>
              <a:rPr lang="en-US" dirty="0"/>
              <a:t>May come in the form of allowances rather than direct credits (e.g., investment deductions or wear and tear allowances).</a:t>
            </a:r>
          </a:p>
          <a:p>
            <a:r>
              <a:rPr lang="en-US" b="1" dirty="0"/>
              <a:t>3. Withholding Tax Credits</a:t>
            </a:r>
          </a:p>
          <a:p>
            <a:pPr>
              <a:buFont typeface="Arial" panose="020B0604020202020204" pitchFamily="34" charset="0"/>
              <a:buChar char="•"/>
            </a:pPr>
            <a:r>
              <a:rPr lang="en-US" dirty="0"/>
              <a:t>Taxes withheld at the source of income (e.g., dividends, interest, royalties) can be offset against the final tax payable.</a:t>
            </a:r>
          </a:p>
          <a:p>
            <a:pPr>
              <a:buFont typeface="Arial" panose="020B0604020202020204" pitchFamily="34" charset="0"/>
              <a:buChar char="•"/>
            </a:pPr>
            <a:r>
              <a:rPr lang="en-US" dirty="0"/>
              <a:t>The withholding tax serves as an advance tax payment, reducing the final tax obligation.</a:t>
            </a:r>
          </a:p>
          <a:p>
            <a:endParaRPr lang="en-US" dirty="0"/>
          </a:p>
        </p:txBody>
      </p:sp>
    </p:spTree>
    <p:extLst>
      <p:ext uri="{BB962C8B-B14F-4D97-AF65-F5344CB8AC3E}">
        <p14:creationId xmlns:p14="http://schemas.microsoft.com/office/powerpoint/2010/main" val="1054841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86FA7-AC13-D13C-28C2-9984F2C27A11}"/>
              </a:ext>
            </a:extLst>
          </p:cNvPr>
          <p:cNvSpPr>
            <a:spLocks noGrp="1"/>
          </p:cNvSpPr>
          <p:nvPr>
            <p:ph type="title"/>
          </p:nvPr>
        </p:nvSpPr>
        <p:spPr/>
        <p:txBody>
          <a:bodyPr/>
          <a:lstStyle/>
          <a:p>
            <a:pPr algn="ctr"/>
            <a:r>
              <a:rPr lang="en-US" b="1" dirty="0"/>
              <a:t>TAX CREDITS</a:t>
            </a:r>
          </a:p>
        </p:txBody>
      </p:sp>
      <p:sp>
        <p:nvSpPr>
          <p:cNvPr id="3" name="Content Placeholder 2">
            <a:extLst>
              <a:ext uri="{FF2B5EF4-FFF2-40B4-BE49-F238E27FC236}">
                <a16:creationId xmlns:a16="http://schemas.microsoft.com/office/drawing/2014/main" id="{5AA20A29-B028-DBFE-0AD2-0D81EAEB6D12}"/>
              </a:ext>
            </a:extLst>
          </p:cNvPr>
          <p:cNvSpPr>
            <a:spLocks noGrp="1"/>
          </p:cNvSpPr>
          <p:nvPr>
            <p:ph idx="1"/>
          </p:nvPr>
        </p:nvSpPr>
        <p:spPr>
          <a:xfrm>
            <a:off x="838200" y="1825625"/>
            <a:ext cx="11034252" cy="4840646"/>
          </a:xfrm>
        </p:spPr>
        <p:txBody>
          <a:bodyPr>
            <a:normAutofit fontScale="92500" lnSpcReduction="10000"/>
          </a:bodyPr>
          <a:lstStyle/>
          <a:p>
            <a:r>
              <a:rPr lang="en-US" b="1" dirty="0"/>
              <a:t>4. Donations and Charitable Contributions</a:t>
            </a:r>
          </a:p>
          <a:p>
            <a:r>
              <a:rPr lang="en-US" dirty="0"/>
              <a:t>Tax deductions or credits may be available for donations to qualifying charitable organizations, provided they are registered under the Kenyan law and meet KRA requirements.</a:t>
            </a:r>
          </a:p>
          <a:p>
            <a:r>
              <a:rPr lang="en-US" b="1" dirty="0"/>
              <a:t>5. Personal Relief (for Individuals)</a:t>
            </a:r>
          </a:p>
          <a:p>
            <a:r>
              <a:rPr lang="en-US" dirty="0"/>
              <a:t>While not a direct credit, personal relief is an amount granted to individuals to reduce their income tax liability.</a:t>
            </a:r>
          </a:p>
          <a:p>
            <a:r>
              <a:rPr lang="en-US" dirty="0"/>
              <a:t>The standard personal relief as of 2023 was </a:t>
            </a:r>
            <a:r>
              <a:rPr lang="en-US" dirty="0" err="1"/>
              <a:t>Ksh</a:t>
            </a:r>
            <a:r>
              <a:rPr lang="en-US" dirty="0"/>
              <a:t> 2,400 per month or </a:t>
            </a:r>
            <a:r>
              <a:rPr lang="en-US" dirty="0" err="1"/>
              <a:t>Ksh</a:t>
            </a:r>
            <a:r>
              <a:rPr lang="en-US" dirty="0"/>
              <a:t> 28,800 annually.</a:t>
            </a:r>
          </a:p>
          <a:p>
            <a:r>
              <a:rPr lang="en-US" b="1" dirty="0"/>
              <a:t>6. Corporate Incentives</a:t>
            </a:r>
          </a:p>
          <a:p>
            <a:r>
              <a:rPr lang="en-US" dirty="0"/>
              <a:t>Companies in Export Processing Zones (EPZs) and Special Economic Zones (SEZs) may enjoy tax credits and other benefits, such as reduced corporate tax rates, to stimulate exports and investments.</a:t>
            </a:r>
          </a:p>
          <a:p>
            <a:r>
              <a:rPr lang="en-US" b="1" dirty="0"/>
              <a:t>Claiming Tax Credits</a:t>
            </a:r>
          </a:p>
          <a:p>
            <a:r>
              <a:rPr lang="en-US" dirty="0"/>
              <a:t>Taxpayers must file claims during their annual or monthly tax returns, depending on the type of credit.</a:t>
            </a:r>
          </a:p>
          <a:p>
            <a:r>
              <a:rPr lang="en-US" dirty="0"/>
              <a:t>Proper documentation is crucial to substantiate claims, such as receipts for withheld taxes, certificates of donation, or proof of foreign taxes paid.</a:t>
            </a:r>
          </a:p>
          <a:p>
            <a:endParaRPr lang="en-US" dirty="0"/>
          </a:p>
        </p:txBody>
      </p:sp>
    </p:spTree>
    <p:extLst>
      <p:ext uri="{BB962C8B-B14F-4D97-AF65-F5344CB8AC3E}">
        <p14:creationId xmlns:p14="http://schemas.microsoft.com/office/powerpoint/2010/main" val="3473932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1A9A5-6857-03EA-E702-68E3C5760E25}"/>
              </a:ext>
            </a:extLst>
          </p:cNvPr>
          <p:cNvSpPr>
            <a:spLocks noGrp="1"/>
          </p:cNvSpPr>
          <p:nvPr>
            <p:ph type="title"/>
          </p:nvPr>
        </p:nvSpPr>
        <p:spPr/>
        <p:txBody>
          <a:bodyPr/>
          <a:lstStyle/>
          <a:p>
            <a:pPr marL="63500" marR="0" lvl="0" indent="0" algn="ctr" defTabSz="914400" rtl="0" eaLnBrk="1" fontAlgn="auto" latinLnBrk="0" hangingPunct="1">
              <a:lnSpc>
                <a:spcPct val="90000"/>
              </a:lnSpc>
              <a:spcBef>
                <a:spcPts val="1290"/>
              </a:spcBef>
              <a:spcAft>
                <a:spcPts val="0"/>
              </a:spcAft>
              <a:tabLst/>
              <a:defRPr/>
            </a:pPr>
            <a:r>
              <a:rPr kumimoji="0" lang="en-US" sz="3200" b="1" i="0" u="none" strike="noStrike" kern="0" cap="none" spc="0" normalizeH="0" baseline="0" noProof="0" dirty="0">
                <a:ln>
                  <a:noFill/>
                </a:ln>
                <a:solidFill>
                  <a:prstClr val="black"/>
                </a:solidFill>
                <a:effectLst/>
                <a:uLnTx/>
                <a:uFillTx/>
                <a:latin typeface="Caladea"/>
                <a:ea typeface="Caladea"/>
                <a:cs typeface="Caladea"/>
              </a:rPr>
              <a:t>CANONS OR PRINCIPLES OF TAXATION</a:t>
            </a:r>
            <a:br>
              <a:rPr kumimoji="0" lang="en-US" sz="1800" b="1" i="0" u="none" strike="noStrike" kern="0" cap="none" spc="0" normalizeH="0" baseline="0" noProof="0" dirty="0">
                <a:ln>
                  <a:noFill/>
                </a:ln>
                <a:solidFill>
                  <a:prstClr val="black"/>
                </a:solidFill>
                <a:effectLst/>
                <a:uLnTx/>
                <a:uFillTx/>
                <a:latin typeface="Caladea"/>
                <a:ea typeface="Caladea"/>
                <a:cs typeface="Caladea"/>
              </a:rPr>
            </a:br>
            <a:endParaRPr lang="en-US" dirty="0"/>
          </a:p>
        </p:txBody>
      </p:sp>
      <p:sp>
        <p:nvSpPr>
          <p:cNvPr id="3" name="Content Placeholder 2">
            <a:extLst>
              <a:ext uri="{FF2B5EF4-FFF2-40B4-BE49-F238E27FC236}">
                <a16:creationId xmlns:a16="http://schemas.microsoft.com/office/drawing/2014/main" id="{2CCF3F8B-82A6-7EDF-A063-91D1E0AEB497}"/>
              </a:ext>
            </a:extLst>
          </p:cNvPr>
          <p:cNvSpPr>
            <a:spLocks noGrp="1"/>
          </p:cNvSpPr>
          <p:nvPr>
            <p:ph idx="1"/>
          </p:nvPr>
        </p:nvSpPr>
        <p:spPr>
          <a:xfrm>
            <a:off x="162231" y="1224116"/>
            <a:ext cx="11769213" cy="5486399"/>
          </a:xfrm>
        </p:spPr>
        <p:txBody>
          <a:bodyPr>
            <a:normAutofit fontScale="92500" lnSpcReduction="20000"/>
          </a:bodyPr>
          <a:lstStyle/>
          <a:p>
            <a:pPr marL="63500" marR="339725" algn="just"/>
            <a:r>
              <a:rPr lang="en-US" sz="1800" dirty="0">
                <a:effectLst/>
                <a:latin typeface="Caladea"/>
                <a:ea typeface="Caladea"/>
                <a:cs typeface="Caladea"/>
              </a:rPr>
              <a:t>An optimum tax system is the one which will satisfy most of the canons of taxation </a:t>
            </a:r>
            <a:r>
              <a:rPr lang="en-US" sz="1800" dirty="0" err="1">
                <a:effectLst/>
                <a:latin typeface="Caladea"/>
                <a:ea typeface="Caladea"/>
                <a:cs typeface="Caladea"/>
              </a:rPr>
              <a:t>Mr</a:t>
            </a:r>
            <a:r>
              <a:rPr lang="en-US" sz="1800" dirty="0">
                <a:effectLst/>
                <a:latin typeface="Caladea"/>
                <a:ea typeface="Caladea"/>
                <a:cs typeface="Caladea"/>
              </a:rPr>
              <a:t> Adams Smith was the first economist to state what an optimum tax system should fulfil. According to him an optimum tax system should fulfil four principles of taxation. i.e.</a:t>
            </a:r>
          </a:p>
          <a:p>
            <a:pPr marL="342900" marR="0" lvl="0" indent="-342900" algn="just">
              <a:spcBef>
                <a:spcPts val="5"/>
              </a:spcBef>
              <a:buSzPts val="1300"/>
              <a:buFont typeface="+mj-lt"/>
              <a:buAutoNum type="arabicPeriod"/>
              <a:tabLst>
                <a:tab pos="521335" algn="l"/>
              </a:tabLst>
            </a:pPr>
            <a:r>
              <a:rPr lang="en-US" sz="2400" b="1" kern="0" dirty="0">
                <a:effectLst/>
                <a:latin typeface="Caladea"/>
                <a:ea typeface="Caladea"/>
                <a:cs typeface="Caladea"/>
              </a:rPr>
              <a:t>Canon of</a:t>
            </a:r>
            <a:r>
              <a:rPr lang="en-US" sz="2400" b="1" kern="0" spc="5" dirty="0">
                <a:effectLst/>
                <a:latin typeface="Caladea"/>
                <a:ea typeface="Caladea"/>
                <a:cs typeface="Caladea"/>
              </a:rPr>
              <a:t> </a:t>
            </a:r>
            <a:r>
              <a:rPr lang="en-US" sz="2400" b="1" kern="0" dirty="0">
                <a:effectLst/>
                <a:latin typeface="Caladea"/>
                <a:ea typeface="Caladea"/>
                <a:cs typeface="Caladea"/>
              </a:rPr>
              <a:t>equity</a:t>
            </a:r>
          </a:p>
          <a:p>
            <a:pPr lvl="1" algn="just">
              <a:spcBef>
                <a:spcPts val="5"/>
              </a:spcBef>
              <a:buSzPts val="1300"/>
              <a:buFont typeface="Wingdings" panose="05000000000000000000" pitchFamily="2" charset="2"/>
              <a:buChar char="§"/>
              <a:tabLst>
                <a:tab pos="521335" algn="l"/>
              </a:tabLst>
            </a:pPr>
            <a:r>
              <a:rPr lang="en-US" sz="2000" dirty="0">
                <a:effectLst/>
                <a:latin typeface="Times New Roman" panose="02020603050405020304" pitchFamily="18" charset="0"/>
                <a:ea typeface="Caladea"/>
                <a:cs typeface="Times New Roman" panose="02020603050405020304" pitchFamily="18" charset="0"/>
              </a:rPr>
              <a:t>Every person should pay tax according to his ability and not the same amounts. Tax should be paid in proportion to ones income. The rich should be made to pay more taxes than the poor</a:t>
            </a:r>
            <a:r>
              <a:rPr lang="en-US" sz="1000" dirty="0">
                <a:effectLst/>
                <a:latin typeface="Caladea"/>
                <a:ea typeface="Caladea"/>
                <a:cs typeface="Caladea"/>
              </a:rPr>
              <a:t>.</a:t>
            </a:r>
          </a:p>
          <a:p>
            <a:pPr marL="342900" marR="0" lvl="0" indent="-342900" algn="just">
              <a:buSzPts val="1300"/>
              <a:buFont typeface="+mj-lt"/>
              <a:buAutoNum type="arabicPeriod"/>
              <a:tabLst>
                <a:tab pos="521335" algn="l"/>
              </a:tabLst>
            </a:pPr>
            <a:r>
              <a:rPr lang="en-US" sz="2400" b="1" kern="0" dirty="0">
                <a:effectLst/>
                <a:latin typeface="Caladea"/>
                <a:ea typeface="Caladea"/>
                <a:cs typeface="Caladea"/>
              </a:rPr>
              <a:t>Canon of</a:t>
            </a:r>
            <a:r>
              <a:rPr lang="en-US" sz="2400" b="1" kern="0" spc="5" dirty="0">
                <a:effectLst/>
                <a:latin typeface="Caladea"/>
                <a:ea typeface="Caladea"/>
                <a:cs typeface="Caladea"/>
              </a:rPr>
              <a:t> </a:t>
            </a:r>
            <a:r>
              <a:rPr lang="en-US" sz="2400" b="1" kern="0" dirty="0">
                <a:effectLst/>
                <a:latin typeface="Caladea"/>
                <a:ea typeface="Caladea"/>
                <a:cs typeface="Caladea"/>
              </a:rPr>
              <a:t>economy</a:t>
            </a:r>
          </a:p>
          <a:p>
            <a:pPr lvl="1" algn="just">
              <a:buSzPts val="1300"/>
              <a:buFont typeface="Wingdings" panose="05000000000000000000" pitchFamily="2" charset="2"/>
              <a:buChar char="§"/>
              <a:tabLst>
                <a:tab pos="521335" algn="l"/>
              </a:tabLst>
            </a:pPr>
            <a:r>
              <a:rPr lang="en-US" sz="2000" dirty="0">
                <a:effectLst/>
                <a:latin typeface="Times New Roman" panose="02020603050405020304" pitchFamily="18" charset="0"/>
                <a:ea typeface="Caladea"/>
                <a:cs typeface="Times New Roman" panose="02020603050405020304" pitchFamily="18" charset="0"/>
              </a:rPr>
              <a:t>Collection of tax by the state should be economical i.e. the cost of collecting tax should not exceed revenue generated. The tax should also be economical to taxpayers. I.e. they should have sufficient money left with them.</a:t>
            </a:r>
          </a:p>
          <a:p>
            <a:pPr lvl="1" algn="just">
              <a:buSzPts val="1300"/>
              <a:buFont typeface="Wingdings" panose="05000000000000000000" pitchFamily="2" charset="2"/>
              <a:buChar char="§"/>
              <a:tabLst>
                <a:tab pos="521335" algn="l"/>
              </a:tabLst>
            </a:pPr>
            <a:r>
              <a:rPr lang="en-US" sz="2000" dirty="0">
                <a:effectLst/>
                <a:latin typeface="Times New Roman" panose="02020603050405020304" pitchFamily="18" charset="0"/>
                <a:ea typeface="Caladea"/>
                <a:cs typeface="Times New Roman" panose="02020603050405020304" pitchFamily="18" charset="0"/>
              </a:rPr>
              <a:t>A very heavy tax will discourage investments and savings and hence will adversely affect productivity of economy</a:t>
            </a:r>
            <a:r>
              <a:rPr lang="en-US" sz="1000" dirty="0">
                <a:effectLst/>
                <a:latin typeface="Caladea"/>
                <a:ea typeface="Caladea"/>
                <a:cs typeface="Caladea"/>
              </a:rPr>
              <a:t>.</a:t>
            </a:r>
          </a:p>
          <a:p>
            <a:pPr marL="342900" marR="0" lvl="0" indent="-342900" algn="just">
              <a:buSzPts val="1300"/>
              <a:buFont typeface="+mj-lt"/>
              <a:buAutoNum type="arabicPeriod"/>
              <a:tabLst>
                <a:tab pos="521335" algn="l"/>
              </a:tabLst>
            </a:pPr>
            <a:r>
              <a:rPr lang="en-US" sz="2400" b="1" kern="0" dirty="0">
                <a:effectLst/>
                <a:latin typeface="Caladea"/>
                <a:ea typeface="Caladea"/>
                <a:cs typeface="Caladea"/>
              </a:rPr>
              <a:t>Canon of</a:t>
            </a:r>
            <a:r>
              <a:rPr lang="en-US" sz="2400" b="1" kern="0" spc="-10" dirty="0">
                <a:effectLst/>
                <a:latin typeface="Caladea"/>
                <a:ea typeface="Caladea"/>
                <a:cs typeface="Caladea"/>
              </a:rPr>
              <a:t> </a:t>
            </a:r>
            <a:r>
              <a:rPr lang="en-US" sz="2400" b="1" kern="0" dirty="0">
                <a:effectLst/>
                <a:latin typeface="Caladea"/>
                <a:ea typeface="Caladea"/>
                <a:cs typeface="Caladea"/>
              </a:rPr>
              <a:t>certainty</a:t>
            </a:r>
          </a:p>
          <a:p>
            <a:pPr lvl="1" algn="just">
              <a:buSzPts val="1300"/>
              <a:buFont typeface="Wingdings" panose="05000000000000000000" pitchFamily="2" charset="2"/>
              <a:buChar char="§"/>
              <a:tabLst>
                <a:tab pos="521335" algn="l"/>
              </a:tabLst>
            </a:pPr>
            <a:r>
              <a:rPr lang="en-US" sz="2000" dirty="0">
                <a:effectLst/>
                <a:latin typeface="Times New Roman" panose="02020603050405020304" pitchFamily="18" charset="0"/>
                <a:ea typeface="Caladea"/>
                <a:cs typeface="Times New Roman" panose="02020603050405020304" pitchFamily="18" charset="0"/>
              </a:rPr>
              <a:t>The tax which every individual is bound to pay ought to be certain and not arbitrary. Certainty also means that the government should be certain about the amount of revenue expected and the time when the revenue is expected to flow into government account</a:t>
            </a:r>
          </a:p>
          <a:p>
            <a:pPr lvl="1" algn="just">
              <a:buSzPts val="1300"/>
              <a:buFont typeface="Wingdings" panose="05000000000000000000" pitchFamily="2" charset="2"/>
              <a:buChar char="§"/>
              <a:tabLst>
                <a:tab pos="521335" algn="l"/>
              </a:tabLst>
            </a:pPr>
            <a:r>
              <a:rPr lang="en-US" sz="2000" dirty="0">
                <a:effectLst/>
                <a:latin typeface="Times New Roman" panose="02020603050405020304" pitchFamily="18" charset="0"/>
                <a:ea typeface="Caladea"/>
                <a:cs typeface="Times New Roman" panose="02020603050405020304" pitchFamily="18" charset="0"/>
              </a:rPr>
              <a:t>The time of payment , mode of payment and quantity to be paid ought to be clear and plain to the taxpayer and any other person.</a:t>
            </a:r>
          </a:p>
          <a:p>
            <a:endParaRPr lang="en-US" dirty="0"/>
          </a:p>
        </p:txBody>
      </p:sp>
    </p:spTree>
    <p:extLst>
      <p:ext uri="{BB962C8B-B14F-4D97-AF65-F5344CB8AC3E}">
        <p14:creationId xmlns:p14="http://schemas.microsoft.com/office/powerpoint/2010/main" val="3373900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A316C-5E7D-C41A-7CF9-BE9361770B89}"/>
              </a:ext>
            </a:extLst>
          </p:cNvPr>
          <p:cNvSpPr>
            <a:spLocks noGrp="1"/>
          </p:cNvSpPr>
          <p:nvPr>
            <p:ph type="title"/>
          </p:nvPr>
        </p:nvSpPr>
        <p:spPr/>
        <p:txBody>
          <a:bodyPr/>
          <a:lstStyle/>
          <a:p>
            <a:pPr algn="ctr"/>
            <a:r>
              <a:rPr kumimoji="0" lang="en-US" sz="3200" b="1" i="0" u="none" strike="noStrike" kern="0" cap="none" spc="0" normalizeH="0" baseline="0" noProof="0" dirty="0">
                <a:ln>
                  <a:noFill/>
                </a:ln>
                <a:solidFill>
                  <a:prstClr val="black"/>
                </a:solidFill>
                <a:effectLst/>
                <a:uLnTx/>
                <a:uFillTx/>
                <a:latin typeface="Caladea"/>
                <a:ea typeface="Caladea"/>
                <a:cs typeface="Caladea"/>
              </a:rPr>
              <a:t>CANONS OR PRINCIPLES OF TAXATION</a:t>
            </a:r>
            <a:endParaRPr lang="en-US" dirty="0"/>
          </a:p>
        </p:txBody>
      </p:sp>
      <p:sp>
        <p:nvSpPr>
          <p:cNvPr id="3" name="Content Placeholder 2">
            <a:extLst>
              <a:ext uri="{FF2B5EF4-FFF2-40B4-BE49-F238E27FC236}">
                <a16:creationId xmlns:a16="http://schemas.microsoft.com/office/drawing/2014/main" id="{4DDCADE3-22E1-989E-6BE8-F59A75FEA2E5}"/>
              </a:ext>
            </a:extLst>
          </p:cNvPr>
          <p:cNvSpPr>
            <a:spLocks noGrp="1"/>
          </p:cNvSpPr>
          <p:nvPr>
            <p:ph idx="1"/>
          </p:nvPr>
        </p:nvSpPr>
        <p:spPr>
          <a:xfrm>
            <a:off x="838200" y="1825625"/>
            <a:ext cx="10515600" cy="4781652"/>
          </a:xfrm>
        </p:spPr>
        <p:txBody>
          <a:bodyPr>
            <a:normAutofit/>
          </a:bodyPr>
          <a:lstStyle/>
          <a:p>
            <a:pPr marL="514350" marR="0" lvl="0" indent="-514350">
              <a:buSzPts val="1300"/>
              <a:buFont typeface="+mj-lt"/>
              <a:buAutoNum type="arabicPeriod" startAt="4"/>
              <a:tabLst>
                <a:tab pos="521335" algn="l"/>
              </a:tabLst>
            </a:pPr>
            <a:r>
              <a:rPr lang="en-US" sz="3400" b="1" kern="0" dirty="0">
                <a:effectLst/>
                <a:latin typeface="Caladea"/>
                <a:ea typeface="Caladea"/>
                <a:cs typeface="Caladea"/>
              </a:rPr>
              <a:t>Canon of</a:t>
            </a:r>
            <a:r>
              <a:rPr lang="en-US" sz="3400" b="1" kern="0" spc="-10" dirty="0">
                <a:effectLst/>
                <a:latin typeface="Caladea"/>
                <a:ea typeface="Caladea"/>
                <a:cs typeface="Caladea"/>
              </a:rPr>
              <a:t> </a:t>
            </a:r>
            <a:r>
              <a:rPr lang="en-US" sz="3400" b="1" kern="0" dirty="0">
                <a:effectLst/>
                <a:latin typeface="Caladea"/>
                <a:ea typeface="Caladea"/>
                <a:cs typeface="Caladea"/>
              </a:rPr>
              <a:t>convenience</a:t>
            </a:r>
          </a:p>
          <a:p>
            <a:pPr marL="520700" marR="86995" algn="just"/>
            <a:r>
              <a:rPr lang="en-US" sz="2800" dirty="0">
                <a:effectLst/>
                <a:latin typeface="Caladea"/>
                <a:ea typeface="Caladea"/>
                <a:cs typeface="Caladea"/>
              </a:rPr>
              <a:t>Tax ought to be levied at the time or in the manner in which its most likely to be convenient</a:t>
            </a:r>
            <a:r>
              <a:rPr lang="en-US" sz="2800" spc="-15" dirty="0">
                <a:effectLst/>
                <a:latin typeface="Caladea"/>
                <a:ea typeface="Caladea"/>
                <a:cs typeface="Caladea"/>
              </a:rPr>
              <a:t> </a:t>
            </a:r>
            <a:r>
              <a:rPr lang="en-US" sz="2800" dirty="0">
                <a:effectLst/>
                <a:latin typeface="Caladea"/>
                <a:ea typeface="Caladea"/>
                <a:cs typeface="Caladea"/>
              </a:rPr>
              <a:t>for</a:t>
            </a:r>
            <a:r>
              <a:rPr lang="en-US" sz="2800" spc="-15" dirty="0">
                <a:effectLst/>
                <a:latin typeface="Caladea"/>
                <a:ea typeface="Caladea"/>
                <a:cs typeface="Caladea"/>
              </a:rPr>
              <a:t> </a:t>
            </a:r>
            <a:r>
              <a:rPr lang="en-US" sz="2800" dirty="0">
                <a:effectLst/>
                <a:latin typeface="Caladea"/>
                <a:ea typeface="Caladea"/>
                <a:cs typeface="Caladea"/>
              </a:rPr>
              <a:t>the</a:t>
            </a:r>
            <a:r>
              <a:rPr lang="en-US" sz="2800" spc="-5" dirty="0">
                <a:effectLst/>
                <a:latin typeface="Caladea"/>
                <a:ea typeface="Caladea"/>
                <a:cs typeface="Caladea"/>
              </a:rPr>
              <a:t> </a:t>
            </a:r>
            <a:r>
              <a:rPr lang="en-US" sz="2800" dirty="0">
                <a:effectLst/>
                <a:latin typeface="Caladea"/>
                <a:ea typeface="Caladea"/>
                <a:cs typeface="Caladea"/>
              </a:rPr>
              <a:t>taxpayer</a:t>
            </a:r>
            <a:r>
              <a:rPr lang="en-US" sz="2800" spc="-15" dirty="0">
                <a:effectLst/>
                <a:latin typeface="Caladea"/>
                <a:ea typeface="Caladea"/>
                <a:cs typeface="Caladea"/>
              </a:rPr>
              <a:t> </a:t>
            </a:r>
            <a:r>
              <a:rPr lang="en-US" sz="2800" dirty="0">
                <a:effectLst/>
                <a:latin typeface="Caladea"/>
                <a:ea typeface="Caladea"/>
                <a:cs typeface="Caladea"/>
              </a:rPr>
              <a:t>to</a:t>
            </a:r>
            <a:r>
              <a:rPr lang="en-US" sz="2800" spc="-20" dirty="0">
                <a:effectLst/>
                <a:latin typeface="Caladea"/>
                <a:ea typeface="Caladea"/>
                <a:cs typeface="Caladea"/>
              </a:rPr>
              <a:t> </a:t>
            </a:r>
            <a:r>
              <a:rPr lang="en-US" sz="2800" dirty="0">
                <a:effectLst/>
                <a:latin typeface="Caladea"/>
                <a:ea typeface="Caladea"/>
                <a:cs typeface="Caladea"/>
              </a:rPr>
              <a:t>pay.</a:t>
            </a:r>
            <a:r>
              <a:rPr lang="en-US" sz="2800" spc="-20" dirty="0">
                <a:effectLst/>
                <a:latin typeface="Caladea"/>
                <a:ea typeface="Caladea"/>
                <a:cs typeface="Caladea"/>
              </a:rPr>
              <a:t> </a:t>
            </a:r>
            <a:r>
              <a:rPr lang="en-US" sz="2800" dirty="0">
                <a:effectLst/>
                <a:latin typeface="Caladea"/>
                <a:ea typeface="Caladea"/>
                <a:cs typeface="Caladea"/>
              </a:rPr>
              <a:t>E.g.</a:t>
            </a:r>
            <a:r>
              <a:rPr lang="en-US" sz="2800" spc="-5" dirty="0">
                <a:effectLst/>
                <a:latin typeface="Caladea"/>
                <a:ea typeface="Caladea"/>
                <a:cs typeface="Caladea"/>
              </a:rPr>
              <a:t> </a:t>
            </a:r>
            <a:r>
              <a:rPr lang="en-US" sz="2800" dirty="0">
                <a:effectLst/>
                <a:latin typeface="Caladea"/>
                <a:ea typeface="Caladea"/>
                <a:cs typeface="Caladea"/>
              </a:rPr>
              <a:t>Payment</a:t>
            </a:r>
            <a:r>
              <a:rPr lang="en-US" sz="2800" spc="-15" dirty="0">
                <a:effectLst/>
                <a:latin typeface="Caladea"/>
                <a:ea typeface="Caladea"/>
                <a:cs typeface="Caladea"/>
              </a:rPr>
              <a:t> </a:t>
            </a:r>
            <a:r>
              <a:rPr lang="en-US" sz="2800" dirty="0">
                <a:effectLst/>
                <a:latin typeface="Caladea"/>
                <a:ea typeface="Caladea"/>
                <a:cs typeface="Caladea"/>
              </a:rPr>
              <a:t>of</a:t>
            </a:r>
            <a:r>
              <a:rPr lang="en-US" sz="2800" spc="-10" dirty="0">
                <a:effectLst/>
                <a:latin typeface="Caladea"/>
                <a:ea typeface="Caladea"/>
                <a:cs typeface="Caladea"/>
              </a:rPr>
              <a:t> </a:t>
            </a:r>
            <a:r>
              <a:rPr lang="en-US" sz="2800" dirty="0">
                <a:effectLst/>
                <a:latin typeface="Caladea"/>
                <a:ea typeface="Caladea"/>
                <a:cs typeface="Caladea"/>
              </a:rPr>
              <a:t>VAT</a:t>
            </a:r>
            <a:r>
              <a:rPr lang="en-US" sz="2800" spc="-20" dirty="0">
                <a:effectLst/>
                <a:latin typeface="Caladea"/>
                <a:ea typeface="Caladea"/>
                <a:cs typeface="Caladea"/>
              </a:rPr>
              <a:t> </a:t>
            </a:r>
            <a:r>
              <a:rPr lang="en-US" sz="2800" dirty="0">
                <a:effectLst/>
                <a:latin typeface="Caladea"/>
                <a:ea typeface="Caladea"/>
                <a:cs typeface="Caladea"/>
              </a:rPr>
              <a:t>and</a:t>
            </a:r>
            <a:r>
              <a:rPr lang="en-US" sz="2800" spc="-20" dirty="0">
                <a:effectLst/>
                <a:latin typeface="Caladea"/>
                <a:ea typeface="Caladea"/>
                <a:cs typeface="Caladea"/>
              </a:rPr>
              <a:t> </a:t>
            </a:r>
            <a:r>
              <a:rPr lang="en-US" sz="2800" dirty="0">
                <a:effectLst/>
                <a:latin typeface="Caladea"/>
                <a:ea typeface="Caladea"/>
                <a:cs typeface="Caladea"/>
              </a:rPr>
              <a:t>customs</a:t>
            </a:r>
            <a:r>
              <a:rPr lang="en-US" sz="2800" spc="-20" dirty="0">
                <a:effectLst/>
                <a:latin typeface="Caladea"/>
                <a:ea typeface="Caladea"/>
                <a:cs typeface="Caladea"/>
              </a:rPr>
              <a:t> </a:t>
            </a:r>
            <a:r>
              <a:rPr lang="en-US" sz="2800" dirty="0">
                <a:effectLst/>
                <a:latin typeface="Caladea"/>
                <a:ea typeface="Caladea"/>
                <a:cs typeface="Caladea"/>
              </a:rPr>
              <a:t>duty</a:t>
            </a:r>
            <a:r>
              <a:rPr lang="en-US" sz="2800" spc="-25" dirty="0">
                <a:effectLst/>
                <a:latin typeface="Caladea"/>
                <a:ea typeface="Caladea"/>
                <a:cs typeface="Caladea"/>
              </a:rPr>
              <a:t> </a:t>
            </a:r>
            <a:r>
              <a:rPr lang="en-US" sz="2800" dirty="0">
                <a:effectLst/>
                <a:latin typeface="Caladea"/>
                <a:ea typeface="Caladea"/>
                <a:cs typeface="Caladea"/>
              </a:rPr>
              <a:t>by</a:t>
            </a:r>
            <a:r>
              <a:rPr lang="en-US" sz="2800" spc="-25" dirty="0">
                <a:effectLst/>
                <a:latin typeface="Caladea"/>
                <a:ea typeface="Caladea"/>
                <a:cs typeface="Caladea"/>
              </a:rPr>
              <a:t> </a:t>
            </a:r>
            <a:r>
              <a:rPr lang="en-US" sz="2800" dirty="0">
                <a:effectLst/>
                <a:latin typeface="Caladea"/>
                <a:ea typeface="Caladea"/>
                <a:cs typeface="Caladea"/>
              </a:rPr>
              <a:t>the</a:t>
            </a:r>
            <a:r>
              <a:rPr lang="en-US" sz="2800" spc="-15" dirty="0">
                <a:effectLst/>
                <a:latin typeface="Caladea"/>
                <a:ea typeface="Caladea"/>
                <a:cs typeface="Caladea"/>
              </a:rPr>
              <a:t> </a:t>
            </a:r>
            <a:r>
              <a:rPr lang="en-US" sz="2800" dirty="0">
                <a:effectLst/>
                <a:latin typeface="Caladea"/>
                <a:ea typeface="Caladea"/>
                <a:cs typeface="Caladea"/>
              </a:rPr>
              <a:t>consumer is convenient because one pays when he has the means to buy the goods and the tax is included in the price of</a:t>
            </a:r>
            <a:r>
              <a:rPr lang="en-US" sz="2800" spc="-10" dirty="0">
                <a:effectLst/>
                <a:latin typeface="Caladea"/>
                <a:ea typeface="Caladea"/>
                <a:cs typeface="Caladea"/>
              </a:rPr>
              <a:t> </a:t>
            </a:r>
            <a:r>
              <a:rPr lang="en-US" sz="2800" dirty="0">
                <a:effectLst/>
                <a:latin typeface="Caladea"/>
                <a:ea typeface="Caladea"/>
                <a:cs typeface="Caladea"/>
              </a:rPr>
              <a:t>goods.</a:t>
            </a:r>
          </a:p>
          <a:p>
            <a:pPr marL="977900" lvl="1" algn="just"/>
            <a:endParaRPr lang="en-US" dirty="0">
              <a:effectLst/>
              <a:latin typeface="Caladea"/>
              <a:ea typeface="Caladea"/>
              <a:cs typeface="Caladea"/>
            </a:endParaRPr>
          </a:p>
          <a:p>
            <a:endParaRPr lang="en-US" dirty="0"/>
          </a:p>
        </p:txBody>
      </p:sp>
    </p:spTree>
    <p:extLst>
      <p:ext uri="{BB962C8B-B14F-4D97-AF65-F5344CB8AC3E}">
        <p14:creationId xmlns:p14="http://schemas.microsoft.com/office/powerpoint/2010/main" val="3325902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620E3-72A3-F2C3-56BA-32B89078E77D}"/>
              </a:ext>
            </a:extLst>
          </p:cNvPr>
          <p:cNvSpPr>
            <a:spLocks noGrp="1"/>
          </p:cNvSpPr>
          <p:nvPr>
            <p:ph type="title"/>
          </p:nvPr>
        </p:nvSpPr>
        <p:spPr/>
        <p:txBody>
          <a:bodyPr>
            <a:normAutofit fontScale="90000"/>
          </a:bodyPr>
          <a:lstStyle/>
          <a:p>
            <a:pPr algn="ctr"/>
            <a:r>
              <a:rPr kumimoji="0" lang="en-US" sz="4400" b="1" i="0" u="none" strike="noStrike" kern="0" cap="none" spc="0" normalizeH="0" baseline="0" noProof="0" dirty="0">
                <a:ln>
                  <a:noFill/>
                </a:ln>
                <a:solidFill>
                  <a:prstClr val="black"/>
                </a:solidFill>
                <a:effectLst/>
                <a:uLnTx/>
                <a:uFillTx/>
                <a:latin typeface="Caladea"/>
                <a:ea typeface="Caladea"/>
                <a:cs typeface="Caladea"/>
              </a:rPr>
              <a:t>CANONS OR PRINCIPLES OF TAXATION</a:t>
            </a:r>
            <a:endParaRPr lang="en-US" dirty="0"/>
          </a:p>
        </p:txBody>
      </p:sp>
      <p:sp>
        <p:nvSpPr>
          <p:cNvPr id="3" name="Content Placeholder 2">
            <a:extLst>
              <a:ext uri="{FF2B5EF4-FFF2-40B4-BE49-F238E27FC236}">
                <a16:creationId xmlns:a16="http://schemas.microsoft.com/office/drawing/2014/main" id="{1B30AEED-260E-CDB9-5492-C38827C0E7DB}"/>
              </a:ext>
            </a:extLst>
          </p:cNvPr>
          <p:cNvSpPr>
            <a:spLocks noGrp="1"/>
          </p:cNvSpPr>
          <p:nvPr>
            <p:ph idx="1"/>
          </p:nvPr>
        </p:nvSpPr>
        <p:spPr>
          <a:xfrm>
            <a:off x="398205" y="1825624"/>
            <a:ext cx="11459497" cy="5032375"/>
          </a:xfrm>
        </p:spPr>
        <p:txBody>
          <a:bodyPr>
            <a:normAutofit fontScale="92500" lnSpcReduction="10000"/>
          </a:bodyPr>
          <a:lstStyle/>
          <a:p>
            <a:pPr marL="520700" marR="0" algn="just">
              <a:spcBef>
                <a:spcPts val="425"/>
              </a:spcBef>
            </a:pPr>
            <a:r>
              <a:rPr lang="en-US" sz="2800" u="sng" dirty="0">
                <a:effectLst/>
                <a:latin typeface="Caladea"/>
                <a:ea typeface="Caladea"/>
                <a:cs typeface="Caladea"/>
              </a:rPr>
              <a:t>Other economists have expounded on the main cannons and have included the following</a:t>
            </a:r>
            <a:r>
              <a:rPr lang="en-US" sz="2800" dirty="0">
                <a:effectLst/>
                <a:latin typeface="Caladea"/>
                <a:ea typeface="Caladea"/>
                <a:cs typeface="Caladea"/>
              </a:rPr>
              <a:t>:</a:t>
            </a:r>
          </a:p>
          <a:p>
            <a:pPr marL="800100" lvl="1" indent="-342900" algn="just">
              <a:buSzPts val="1300"/>
              <a:buFont typeface="Caladea"/>
              <a:buAutoNum type="arabicPeriod"/>
              <a:tabLst>
                <a:tab pos="521335" algn="l"/>
              </a:tabLst>
            </a:pPr>
            <a:r>
              <a:rPr lang="en-US" sz="2200" b="1" kern="0" dirty="0">
                <a:effectLst/>
                <a:latin typeface="Times New Roman" panose="02020603050405020304" pitchFamily="18" charset="0"/>
                <a:ea typeface="Caladea"/>
                <a:cs typeface="Times New Roman" panose="02020603050405020304" pitchFamily="18" charset="0"/>
              </a:rPr>
              <a:t>Canon of</a:t>
            </a:r>
            <a:r>
              <a:rPr lang="en-US" sz="2200" b="1" kern="0" spc="-10" dirty="0">
                <a:effectLst/>
                <a:latin typeface="Times New Roman" panose="02020603050405020304" pitchFamily="18" charset="0"/>
                <a:ea typeface="Caladea"/>
                <a:cs typeface="Times New Roman" panose="02020603050405020304" pitchFamily="18" charset="0"/>
              </a:rPr>
              <a:t> </a:t>
            </a:r>
            <a:r>
              <a:rPr lang="en-US" sz="2200" b="1" kern="0" dirty="0">
                <a:effectLst/>
                <a:latin typeface="Times New Roman" panose="02020603050405020304" pitchFamily="18" charset="0"/>
                <a:ea typeface="Caladea"/>
                <a:cs typeface="Times New Roman" panose="02020603050405020304" pitchFamily="18" charset="0"/>
              </a:rPr>
              <a:t>simplicity.</a:t>
            </a:r>
          </a:p>
          <a:p>
            <a:pPr lvl="2" algn="just">
              <a:buSzPts val="1300"/>
              <a:buFont typeface="Wingdings" panose="05000000000000000000" pitchFamily="2" charset="2"/>
              <a:buChar char="§"/>
              <a:tabLst>
                <a:tab pos="521335" algn="l"/>
              </a:tabLst>
            </a:pPr>
            <a:r>
              <a:rPr lang="en-US" dirty="0">
                <a:effectLst/>
                <a:latin typeface="Times New Roman" panose="02020603050405020304" pitchFamily="18" charset="0"/>
                <a:ea typeface="Caladea"/>
                <a:cs typeface="Times New Roman" panose="02020603050405020304" pitchFamily="18" charset="0"/>
              </a:rPr>
              <a:t>A good tax system should be so simple to an ordinary person. The forms to be used, mode of payment and computation should be simple so that a taxpayer can not need the assistance of tax experts in handling tax matters.</a:t>
            </a:r>
          </a:p>
          <a:p>
            <a:pPr marL="800100" lvl="1" indent="-342900" algn="just">
              <a:spcBef>
                <a:spcPts val="5"/>
              </a:spcBef>
              <a:buSzPts val="1300"/>
              <a:buFont typeface="Caladea"/>
              <a:buAutoNum type="arabicPeriod"/>
              <a:tabLst>
                <a:tab pos="521335" algn="l"/>
              </a:tabLst>
            </a:pPr>
            <a:r>
              <a:rPr lang="en-US" sz="2200" b="1" kern="0" dirty="0">
                <a:effectLst/>
                <a:latin typeface="Times New Roman" panose="02020603050405020304" pitchFamily="18" charset="0"/>
                <a:ea typeface="Caladea"/>
                <a:cs typeface="Times New Roman" panose="02020603050405020304" pitchFamily="18" charset="0"/>
              </a:rPr>
              <a:t>Canon of</a:t>
            </a:r>
            <a:r>
              <a:rPr lang="en-US" sz="2200" b="1" kern="0" spc="5" dirty="0">
                <a:effectLst/>
                <a:latin typeface="Times New Roman" panose="02020603050405020304" pitchFamily="18" charset="0"/>
                <a:ea typeface="Caladea"/>
                <a:cs typeface="Times New Roman" panose="02020603050405020304" pitchFamily="18" charset="0"/>
              </a:rPr>
              <a:t> </a:t>
            </a:r>
            <a:r>
              <a:rPr lang="en-US" sz="2200" b="1" kern="0" dirty="0">
                <a:effectLst/>
                <a:latin typeface="Times New Roman" panose="02020603050405020304" pitchFamily="18" charset="0"/>
                <a:ea typeface="Caladea"/>
                <a:cs typeface="Times New Roman" panose="02020603050405020304" pitchFamily="18" charset="0"/>
              </a:rPr>
              <a:t>flexibility</a:t>
            </a:r>
          </a:p>
          <a:p>
            <a:pPr lvl="2" algn="just">
              <a:spcBef>
                <a:spcPts val="5"/>
              </a:spcBef>
              <a:buSzPts val="1300"/>
              <a:buFont typeface="Wingdings" panose="05000000000000000000" pitchFamily="2" charset="2"/>
              <a:buChar char="§"/>
              <a:tabLst>
                <a:tab pos="521335" algn="l"/>
              </a:tabLst>
            </a:pPr>
            <a:r>
              <a:rPr lang="en-US" dirty="0">
                <a:effectLst/>
                <a:latin typeface="Times New Roman" panose="02020603050405020304" pitchFamily="18" charset="0"/>
                <a:ea typeface="Caladea"/>
                <a:cs typeface="Times New Roman" panose="02020603050405020304" pitchFamily="18" charset="0"/>
              </a:rPr>
              <a:t>There should be no rigidity in taxation. Tax provisions, rules and regulations should be easily amended, adjusted or discarded to meet the revenue requirement of the state and taxpayers.</a:t>
            </a:r>
          </a:p>
          <a:p>
            <a:pPr marL="800100" lvl="1" indent="-342900" algn="just">
              <a:buSzPts val="1300"/>
              <a:buFont typeface="Caladea"/>
              <a:buAutoNum type="arabicPeriod"/>
              <a:tabLst>
                <a:tab pos="521335" algn="l"/>
              </a:tabLst>
            </a:pPr>
            <a:r>
              <a:rPr lang="en-US" sz="2200" b="1" kern="0" dirty="0">
                <a:effectLst/>
                <a:latin typeface="Times New Roman" panose="02020603050405020304" pitchFamily="18" charset="0"/>
                <a:ea typeface="Caladea"/>
                <a:cs typeface="Times New Roman" panose="02020603050405020304" pitchFamily="18" charset="0"/>
              </a:rPr>
              <a:t>Canon of elasticity or</a:t>
            </a:r>
            <a:r>
              <a:rPr lang="en-US" sz="2200" b="1" kern="0" spc="10" dirty="0">
                <a:effectLst/>
                <a:latin typeface="Times New Roman" panose="02020603050405020304" pitchFamily="18" charset="0"/>
                <a:ea typeface="Caladea"/>
                <a:cs typeface="Times New Roman" panose="02020603050405020304" pitchFamily="18" charset="0"/>
              </a:rPr>
              <a:t> </a:t>
            </a:r>
            <a:r>
              <a:rPr lang="en-US" sz="2200" b="1" kern="0" dirty="0">
                <a:effectLst/>
                <a:latin typeface="Times New Roman" panose="02020603050405020304" pitchFamily="18" charset="0"/>
                <a:ea typeface="Caladea"/>
                <a:cs typeface="Times New Roman" panose="02020603050405020304" pitchFamily="18" charset="0"/>
              </a:rPr>
              <a:t>buoyancy.</a:t>
            </a:r>
          </a:p>
          <a:p>
            <a:pPr lvl="2" algn="just">
              <a:buSzPts val="1300"/>
              <a:buFont typeface="Wingdings" panose="05000000000000000000" pitchFamily="2" charset="2"/>
              <a:buChar char="§"/>
              <a:tabLst>
                <a:tab pos="521335" algn="l"/>
              </a:tabLst>
            </a:pPr>
            <a:r>
              <a:rPr lang="en-US" dirty="0">
                <a:effectLst/>
                <a:latin typeface="Times New Roman" panose="02020603050405020304" pitchFamily="18" charset="0"/>
                <a:ea typeface="Caladea"/>
                <a:cs typeface="Times New Roman" panose="02020603050405020304" pitchFamily="18" charset="0"/>
              </a:rPr>
              <a:t>The government should be able to reduce or raise the tax rates whenever the need arises</a:t>
            </a:r>
            <a:r>
              <a:rPr lang="en-US" dirty="0">
                <a:effectLst/>
                <a:latin typeface="Caladea"/>
                <a:ea typeface="Caladea"/>
                <a:cs typeface="Caladea"/>
              </a:rPr>
              <a:t>.</a:t>
            </a:r>
          </a:p>
          <a:p>
            <a:pPr marL="800100" lvl="1" indent="-342900" algn="just">
              <a:buSzPts val="1300"/>
              <a:buFont typeface="Caladea"/>
              <a:buAutoNum type="arabicPeriod"/>
              <a:tabLst>
                <a:tab pos="521335" algn="l"/>
              </a:tabLst>
            </a:pPr>
            <a:r>
              <a:rPr lang="en-US" sz="2200" b="1" kern="0" dirty="0">
                <a:effectLst/>
                <a:latin typeface="Times New Roman" panose="02020603050405020304" pitchFamily="18" charset="0"/>
                <a:ea typeface="Caladea"/>
                <a:cs typeface="Times New Roman" panose="02020603050405020304" pitchFamily="18" charset="0"/>
              </a:rPr>
              <a:t>Canon of</a:t>
            </a:r>
            <a:r>
              <a:rPr lang="en-US" sz="2200" b="1" kern="0" spc="5" dirty="0">
                <a:effectLst/>
                <a:latin typeface="Times New Roman" panose="02020603050405020304" pitchFamily="18" charset="0"/>
                <a:ea typeface="Caladea"/>
                <a:cs typeface="Times New Roman" panose="02020603050405020304" pitchFamily="18" charset="0"/>
              </a:rPr>
              <a:t> </a:t>
            </a:r>
            <a:r>
              <a:rPr lang="en-US" sz="2200" b="1" kern="0" dirty="0">
                <a:effectLst/>
                <a:latin typeface="Times New Roman" panose="02020603050405020304" pitchFamily="18" charset="0"/>
                <a:ea typeface="Caladea"/>
                <a:cs typeface="Times New Roman" panose="02020603050405020304" pitchFamily="18" charset="0"/>
              </a:rPr>
              <a:t>productivity.</a:t>
            </a:r>
          </a:p>
          <a:p>
            <a:pPr lvl="2" algn="just">
              <a:buSzPts val="1300"/>
              <a:buFont typeface="Wingdings" panose="05000000000000000000" pitchFamily="2" charset="2"/>
              <a:buChar char="§"/>
              <a:tabLst>
                <a:tab pos="521335" algn="l"/>
              </a:tabLst>
            </a:pPr>
            <a:r>
              <a:rPr lang="en-US" dirty="0">
                <a:effectLst/>
                <a:latin typeface="Times New Roman" panose="02020603050405020304" pitchFamily="18" charset="0"/>
                <a:ea typeface="Caladea"/>
                <a:cs typeface="Times New Roman" panose="02020603050405020304" pitchFamily="18" charset="0"/>
              </a:rPr>
              <a:t>A good tax system should raise substantial amount of revenue to the government. A tax system whose yield is not substantial should be discarded to reduce unnecessary number of taxes</a:t>
            </a:r>
            <a:r>
              <a:rPr lang="en-US" dirty="0">
                <a:effectLst/>
                <a:latin typeface="Caladea"/>
                <a:ea typeface="Caladea"/>
                <a:cs typeface="Caladea"/>
              </a:rPr>
              <a:t>.</a:t>
            </a:r>
          </a:p>
          <a:p>
            <a:pPr marL="800100" lvl="1" indent="-342900" algn="just">
              <a:buSzPts val="1300"/>
              <a:buFont typeface="Caladea"/>
              <a:buAutoNum type="arabicPeriod"/>
              <a:tabLst>
                <a:tab pos="521335" algn="l"/>
              </a:tabLst>
            </a:pPr>
            <a:r>
              <a:rPr lang="en-US" sz="2200" b="1" kern="0" dirty="0">
                <a:effectLst/>
                <a:latin typeface="Times New Roman" panose="02020603050405020304" pitchFamily="18" charset="0"/>
                <a:ea typeface="Caladea"/>
                <a:cs typeface="Times New Roman" panose="02020603050405020304" pitchFamily="18" charset="0"/>
              </a:rPr>
              <a:t>Canon of</a:t>
            </a:r>
            <a:r>
              <a:rPr lang="en-US" sz="2200" b="1" kern="0" spc="5" dirty="0">
                <a:effectLst/>
                <a:latin typeface="Times New Roman" panose="02020603050405020304" pitchFamily="18" charset="0"/>
                <a:ea typeface="Caladea"/>
                <a:cs typeface="Times New Roman" panose="02020603050405020304" pitchFamily="18" charset="0"/>
              </a:rPr>
              <a:t> </a:t>
            </a:r>
            <a:r>
              <a:rPr lang="en-US" sz="2200" b="1" kern="0" dirty="0">
                <a:effectLst/>
                <a:latin typeface="Times New Roman" panose="02020603050405020304" pitchFamily="18" charset="0"/>
                <a:ea typeface="Caladea"/>
                <a:cs typeface="Times New Roman" panose="02020603050405020304" pitchFamily="18" charset="0"/>
              </a:rPr>
              <a:t>Diversity</a:t>
            </a:r>
          </a:p>
          <a:p>
            <a:pPr lvl="2" algn="just">
              <a:buSzPts val="1300"/>
              <a:buFont typeface="Wingdings" panose="05000000000000000000" pitchFamily="2" charset="2"/>
              <a:buChar char="§"/>
              <a:tabLst>
                <a:tab pos="521335" algn="l"/>
              </a:tabLst>
            </a:pPr>
            <a:r>
              <a:rPr lang="en-US" dirty="0">
                <a:effectLst/>
                <a:latin typeface="Times New Roman" panose="02020603050405020304" pitchFamily="18" charset="0"/>
                <a:ea typeface="Caladea"/>
                <a:cs typeface="Times New Roman" panose="02020603050405020304" pitchFamily="18" charset="0"/>
              </a:rPr>
              <a:t>A single or a few taxes cannot meet the revenue requirement of state nor satisfy the canon of equity. There should be a variety of taxes so that all citizens can contribute to the states revenue according to their ability to pay. There should be a variety of taxes, direct and indirect taxes but a large multiplicity of taxes would be difficult to administer and hence uneconomical.</a:t>
            </a:r>
          </a:p>
          <a:p>
            <a:endParaRPr lang="en-US" dirty="0"/>
          </a:p>
        </p:txBody>
      </p:sp>
    </p:spTree>
    <p:extLst>
      <p:ext uri="{BB962C8B-B14F-4D97-AF65-F5344CB8AC3E}">
        <p14:creationId xmlns:p14="http://schemas.microsoft.com/office/powerpoint/2010/main" val="158248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F6425-0D46-1571-F397-514360C0AE59}"/>
              </a:ext>
            </a:extLst>
          </p:cNvPr>
          <p:cNvSpPr>
            <a:spLocks noGrp="1"/>
          </p:cNvSpPr>
          <p:nvPr>
            <p:ph type="title"/>
          </p:nvPr>
        </p:nvSpPr>
        <p:spPr>
          <a:xfrm>
            <a:off x="838200" y="365126"/>
            <a:ext cx="10515600" cy="962230"/>
          </a:xfrm>
        </p:spPr>
        <p:txBody>
          <a:bodyPr>
            <a:normAutofit fontScale="90000"/>
          </a:bodyPr>
          <a:lstStyle/>
          <a:p>
            <a:pPr marL="228600" marR="0" lvl="0" indent="-228600" algn="ctr" defTabSz="914400" rtl="0" eaLnBrk="1" fontAlgn="auto" latinLnBrk="0" hangingPunct="1">
              <a:lnSpc>
                <a:spcPct val="90000"/>
              </a:lnSpc>
              <a:spcBef>
                <a:spcPts val="1000"/>
              </a:spcBef>
              <a:spcAft>
                <a:spcPts val="0"/>
              </a:spcAft>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Purposes of taxation/why the government levy taxes</a:t>
            </a: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t>
            </a:r>
            <a:b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US" dirty="0"/>
          </a:p>
        </p:txBody>
      </p:sp>
      <p:sp>
        <p:nvSpPr>
          <p:cNvPr id="3" name="Content Placeholder 2">
            <a:extLst>
              <a:ext uri="{FF2B5EF4-FFF2-40B4-BE49-F238E27FC236}">
                <a16:creationId xmlns:a16="http://schemas.microsoft.com/office/drawing/2014/main" id="{1E0A6B54-E225-2299-8BBF-A7537302C119}"/>
              </a:ext>
            </a:extLst>
          </p:cNvPr>
          <p:cNvSpPr>
            <a:spLocks noGrp="1"/>
          </p:cNvSpPr>
          <p:nvPr>
            <p:ph idx="1"/>
          </p:nvPr>
        </p:nvSpPr>
        <p:spPr>
          <a:xfrm>
            <a:off x="838200" y="1165123"/>
            <a:ext cx="10515600" cy="5486400"/>
          </a:xfrm>
        </p:spPr>
        <p:txBody>
          <a:bodyPr>
            <a:normAutofit/>
          </a:bodyPr>
          <a:lstStyle/>
          <a:p>
            <a:endParaRPr lang="en-US" dirty="0"/>
          </a:p>
          <a:p>
            <a:pPr marL="514350" indent="-514350" algn="just">
              <a:buFont typeface="+mj-lt"/>
              <a:buAutoNum type="arabicPeriod"/>
            </a:pPr>
            <a:r>
              <a:rPr lang="en-US" b="1" dirty="0"/>
              <a:t>To raise revenue </a:t>
            </a:r>
            <a:r>
              <a:rPr lang="en-US" dirty="0"/>
              <a:t>i.e. tax is the major source of revenue to the government.</a:t>
            </a:r>
          </a:p>
          <a:p>
            <a:pPr marL="514350" indent="-514350" algn="just">
              <a:buFont typeface="+mj-lt"/>
              <a:buAutoNum type="arabicPeriod"/>
            </a:pPr>
            <a:r>
              <a:rPr lang="en-US" b="1" dirty="0"/>
              <a:t>	To protect local industries </a:t>
            </a:r>
            <a:r>
              <a:rPr lang="en-US" dirty="0"/>
              <a:t>– heavy taxes are imposed on goods which are imported and they are found in plenty in Kenya, they are substandard or luxurious goods.</a:t>
            </a:r>
          </a:p>
          <a:p>
            <a:pPr marL="514350" indent="-514350" algn="just">
              <a:buFont typeface="+mj-lt"/>
              <a:buAutoNum type="arabicPeriod"/>
            </a:pPr>
            <a:r>
              <a:rPr lang="en-US" dirty="0"/>
              <a:t>	</a:t>
            </a:r>
            <a:r>
              <a:rPr lang="en-US" b="1" dirty="0"/>
              <a:t>To protect the health of citizens </a:t>
            </a:r>
            <a:r>
              <a:rPr lang="en-US" dirty="0"/>
              <a:t>– heavy taxes are imposed on goods which are considered to be harmful to the citizens’ health e.g. beer, cigarettes, wines and spirits, cosmetics etc.</a:t>
            </a:r>
          </a:p>
          <a:p>
            <a:pPr marL="514350" indent="-514350" algn="just">
              <a:buFont typeface="+mj-lt"/>
              <a:buAutoNum type="arabicPeriod"/>
            </a:pPr>
            <a:r>
              <a:rPr lang="en-US" dirty="0"/>
              <a:t>	</a:t>
            </a:r>
            <a:r>
              <a:rPr lang="en-US" b="1" dirty="0"/>
              <a:t>As a fair means of distributing wealth </a:t>
            </a:r>
            <a:r>
              <a:rPr lang="en-US" dirty="0"/>
              <a:t>– tax is said to rob the rich to pay the poor i.e. persons with higher incomes pay more taxes than those with lower incomes.</a:t>
            </a:r>
          </a:p>
          <a:p>
            <a:pPr marL="514350" indent="-514350" algn="just">
              <a:buFont typeface="+mj-lt"/>
              <a:buAutoNum type="arabicPeriod"/>
            </a:pPr>
            <a:r>
              <a:rPr lang="en-US" b="1" dirty="0"/>
              <a:t>To stabilize the economy </a:t>
            </a:r>
            <a:r>
              <a:rPr lang="en-US" dirty="0"/>
              <a:t>– During inflation the rates of tax are raised in order to discourage spending and therefore reduce the amount of money in circulation during deflation tax rates are lowered to encourage to spending and therefore increase the amount of money in circulation.</a:t>
            </a:r>
          </a:p>
          <a:p>
            <a:endParaRPr lang="en-US" dirty="0"/>
          </a:p>
        </p:txBody>
      </p:sp>
    </p:spTree>
    <p:extLst>
      <p:ext uri="{BB962C8B-B14F-4D97-AF65-F5344CB8AC3E}">
        <p14:creationId xmlns:p14="http://schemas.microsoft.com/office/powerpoint/2010/main" val="2463469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5ACB4-BB11-3F52-AB45-7E851445A89B}"/>
              </a:ext>
            </a:extLst>
          </p:cNvPr>
          <p:cNvSpPr>
            <a:spLocks noGrp="1"/>
          </p:cNvSpPr>
          <p:nvPr>
            <p:ph type="title"/>
          </p:nvPr>
        </p:nvSpPr>
        <p:spPr/>
        <p:txBody>
          <a:bodyPr/>
          <a:lstStyle/>
          <a:p>
            <a:pPr algn="ctr"/>
            <a:r>
              <a:rPr kumimoji="0" lang="en-US" sz="2900" b="1" i="0" u="none" strike="noStrike" kern="1200" cap="none" spc="0" normalizeH="0" baseline="0" noProof="0" dirty="0">
                <a:ln>
                  <a:noFill/>
                </a:ln>
                <a:solidFill>
                  <a:prstClr val="black"/>
                </a:solidFill>
                <a:effectLst/>
                <a:uLnTx/>
                <a:uFillTx/>
                <a:latin typeface="Calibri" panose="020F0502020204030204"/>
                <a:ea typeface="+mj-ea"/>
                <a:cs typeface="+mj-cs"/>
              </a:rPr>
              <a:t>Purposes of taxation/why the government levy taxes</a:t>
            </a:r>
            <a:r>
              <a:rPr kumimoji="0" lang="en-US" sz="600" b="1" i="0" u="none" strike="noStrike" kern="1200" cap="none" spc="0" normalizeH="0" baseline="0" noProof="0" dirty="0">
                <a:ln>
                  <a:noFill/>
                </a:ln>
                <a:solidFill>
                  <a:prstClr val="black"/>
                </a:solidFill>
                <a:effectLst/>
                <a:uLnTx/>
                <a:uFillTx/>
                <a:latin typeface="Calibri" panose="020F0502020204030204"/>
                <a:ea typeface="+mj-ea"/>
                <a:cs typeface="+mj-cs"/>
              </a:rPr>
              <a:t>.</a:t>
            </a:r>
            <a:endParaRPr lang="en-US" b="1" dirty="0"/>
          </a:p>
        </p:txBody>
      </p:sp>
      <p:sp>
        <p:nvSpPr>
          <p:cNvPr id="3" name="Content Placeholder 2">
            <a:extLst>
              <a:ext uri="{FF2B5EF4-FFF2-40B4-BE49-F238E27FC236}">
                <a16:creationId xmlns:a16="http://schemas.microsoft.com/office/drawing/2014/main" id="{FBA8E026-AEB4-6349-7608-6645BEAA95E6}"/>
              </a:ext>
            </a:extLst>
          </p:cNvPr>
          <p:cNvSpPr>
            <a:spLocks noGrp="1"/>
          </p:cNvSpPr>
          <p:nvPr>
            <p:ph idx="1"/>
          </p:nvPr>
        </p:nvSpPr>
        <p:spPr>
          <a:xfrm>
            <a:off x="412955" y="1825624"/>
            <a:ext cx="10940845" cy="4870143"/>
          </a:xfrm>
        </p:spPr>
        <p:txBody>
          <a:bodyPr>
            <a:normAutofit/>
          </a:bodyPr>
          <a:lstStyle/>
          <a:p>
            <a:pPr marL="514350" indent="-514350">
              <a:buFont typeface="+mj-lt"/>
              <a:buAutoNum type="arabicPeriod" startAt="6"/>
            </a:pPr>
            <a:r>
              <a:rPr lang="en-US" dirty="0"/>
              <a:t>.To encourage exportation hence generation of foreign currency. This occurs through EPZ regions. i.e.</a:t>
            </a:r>
          </a:p>
          <a:p>
            <a:pPr lvl="1" algn="just"/>
            <a:r>
              <a:rPr lang="en-US" dirty="0"/>
              <a:t>They are exempted from corporation tax for the 1st 10 years. From the 11th year to the 20th year they pay corporation tax at a lower rate of 25%.</a:t>
            </a:r>
          </a:p>
          <a:p>
            <a:pPr lvl="1" algn="just"/>
            <a:r>
              <a:rPr lang="en-US" dirty="0"/>
              <a:t>Their imports of raw materials and machinery are fully exempted from custom duty.</a:t>
            </a:r>
          </a:p>
          <a:p>
            <a:pPr lvl="1" algn="just"/>
            <a:r>
              <a:rPr lang="en-US" dirty="0"/>
              <a:t>Their sales are zero rated hence they can claim total input tax paid on purchases.</a:t>
            </a:r>
          </a:p>
          <a:p>
            <a:pPr marL="514350" indent="-514350">
              <a:buFont typeface="+mj-lt"/>
              <a:buAutoNum type="arabicPeriod" startAt="6"/>
            </a:pPr>
            <a:r>
              <a:rPr lang="en-US" dirty="0"/>
              <a:t>To encourage development of industries.</a:t>
            </a:r>
          </a:p>
          <a:p>
            <a:pPr marL="457200" lvl="1" indent="0">
              <a:buNone/>
            </a:pPr>
            <a:r>
              <a:rPr lang="en-US" dirty="0"/>
              <a:t>This is through claiming of capital allowances. Capital allowances are deducted in arriving at taxable income and therefore they reduce the tax payable by the business.</a:t>
            </a:r>
          </a:p>
          <a:p>
            <a:pPr marL="514350" indent="-514350">
              <a:buFont typeface="+mj-lt"/>
              <a:buAutoNum type="arabicPeriod" startAt="6"/>
            </a:pPr>
            <a:r>
              <a:rPr lang="en-US" dirty="0"/>
              <a:t>To encourage investment. This occurs through</a:t>
            </a:r>
          </a:p>
          <a:p>
            <a:pPr lvl="1"/>
            <a:r>
              <a:rPr lang="en-US" dirty="0"/>
              <a:t>.For qualifying dividends withholding tax at the rate of 5% is final. These are dividends received from Ltd. Co’s, quoted companies and saccos.</a:t>
            </a:r>
          </a:p>
          <a:p>
            <a:pPr lvl="1"/>
            <a:r>
              <a:rPr lang="en-US" dirty="0"/>
              <a:t>.For qualifying interest withholding tax at the rate of 5% is final tax. This interest received by individuals from financial institutions, treasury bills and bonds and saccos.</a:t>
            </a:r>
          </a:p>
          <a:p>
            <a:endParaRPr lang="en-US" dirty="0"/>
          </a:p>
        </p:txBody>
      </p:sp>
    </p:spTree>
    <p:extLst>
      <p:ext uri="{BB962C8B-B14F-4D97-AF65-F5344CB8AC3E}">
        <p14:creationId xmlns:p14="http://schemas.microsoft.com/office/powerpoint/2010/main" val="926344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86CDB-AE74-0842-EC74-CD9419027010}"/>
              </a:ext>
            </a:extLst>
          </p:cNvPr>
          <p:cNvSpPr>
            <a:spLocks noGrp="1"/>
          </p:cNvSpPr>
          <p:nvPr>
            <p:ph type="title"/>
          </p:nvPr>
        </p:nvSpPr>
        <p:spPr/>
        <p:txBody>
          <a:bodyPr/>
          <a:lstStyle/>
          <a:p>
            <a:pPr marL="0" marR="0" lvl="0" indent="-228600" algn="ctr" defTabSz="914400" rtl="0" eaLnBrk="1" fontAlgn="auto" latinLnBrk="0" hangingPunct="1">
              <a:lnSpc>
                <a:spcPct val="90000"/>
              </a:lnSpc>
              <a:spcBef>
                <a:spcPts val="1000"/>
              </a:spcBef>
              <a:spcAft>
                <a:spcPts val="0"/>
              </a:spcAft>
              <a:tabLst>
                <a:tab pos="685800" algn="l"/>
              </a:tabLst>
              <a:defRPr/>
            </a:pPr>
            <a:r>
              <a:rPr kumimoji="0" lang="en-US" sz="3200" b="1" i="0" u="none" strike="noStrike" kern="1200" cap="none" spc="0" normalizeH="0" baseline="0" noProof="0" dirty="0">
                <a:ln>
                  <a:noFill/>
                </a:ln>
                <a:solidFill>
                  <a:prstClr val="black"/>
                </a:solidFill>
                <a:effectLst/>
                <a:uLnTx/>
                <a:uFillTx/>
                <a:latin typeface="Cambria" panose="02040503050406030204" pitchFamily="18" charset="0"/>
                <a:ea typeface="Caladea"/>
                <a:cs typeface="Caladea"/>
              </a:rPr>
              <a:t>TAX AVOIDANCE</a:t>
            </a:r>
            <a:br>
              <a:rPr kumimoji="0" lang="en-US" sz="1700" b="0" i="0" u="none" strike="noStrike" kern="1200" cap="none" spc="0" normalizeH="0" baseline="0" noProof="0" dirty="0">
                <a:ln>
                  <a:noFill/>
                </a:ln>
                <a:solidFill>
                  <a:prstClr val="black"/>
                </a:solidFill>
                <a:effectLst/>
                <a:uLnTx/>
                <a:uFillTx/>
                <a:latin typeface="Caladea"/>
                <a:ea typeface="Caladea"/>
                <a:cs typeface="Caladea"/>
              </a:rPr>
            </a:br>
            <a:endParaRPr lang="en-US" dirty="0"/>
          </a:p>
        </p:txBody>
      </p:sp>
      <p:sp>
        <p:nvSpPr>
          <p:cNvPr id="3" name="Content Placeholder 2">
            <a:extLst>
              <a:ext uri="{FF2B5EF4-FFF2-40B4-BE49-F238E27FC236}">
                <a16:creationId xmlns:a16="http://schemas.microsoft.com/office/drawing/2014/main" id="{432A9805-19C3-0FCF-1019-A71B1AD1EF19}"/>
              </a:ext>
            </a:extLst>
          </p:cNvPr>
          <p:cNvSpPr>
            <a:spLocks noGrp="1"/>
          </p:cNvSpPr>
          <p:nvPr>
            <p:ph idx="1"/>
          </p:nvPr>
        </p:nvSpPr>
        <p:spPr>
          <a:xfrm>
            <a:off x="221225" y="1825625"/>
            <a:ext cx="12078929" cy="4667250"/>
          </a:xfrm>
        </p:spPr>
        <p:txBody>
          <a:bodyPr>
            <a:normAutofit/>
          </a:bodyPr>
          <a:lstStyle/>
          <a:p>
            <a:pPr marL="0" marR="0">
              <a:tabLst>
                <a:tab pos="685800" algn="l"/>
              </a:tabLst>
            </a:pPr>
            <a:r>
              <a:rPr lang="en-US" sz="1800" b="1" dirty="0">
                <a:effectLst/>
                <a:latin typeface="Cambria" panose="02040503050406030204" pitchFamily="18" charset="0"/>
                <a:ea typeface="Caladea"/>
                <a:cs typeface="Caladea"/>
              </a:rPr>
              <a:t>TAX AVOIDANCE</a:t>
            </a:r>
            <a:endParaRPr lang="en-US" sz="1800" dirty="0">
              <a:effectLst/>
              <a:latin typeface="Caladea"/>
              <a:ea typeface="Caladea"/>
              <a:cs typeface="Caladea"/>
            </a:endParaRPr>
          </a:p>
          <a:p>
            <a:pPr marL="0" marR="0" algn="just">
              <a:tabLst>
                <a:tab pos="685800" algn="l"/>
              </a:tabLst>
            </a:pPr>
            <a:r>
              <a:rPr lang="en-US" sz="1800" dirty="0">
                <a:effectLst/>
                <a:latin typeface="Cambria" panose="02040503050406030204" pitchFamily="18" charset="0"/>
                <a:ea typeface="Caladea"/>
                <a:cs typeface="Caladea"/>
              </a:rPr>
              <a:t>This is a legal/professional way of reducing ones tax burden.  A tax payer uses the tax regime provided by the government and using lawful means capitalizes on the loop holes provided in the tax provisions to reduce his tax liability.</a:t>
            </a:r>
            <a:endParaRPr lang="en-US" sz="1800" dirty="0">
              <a:effectLst/>
              <a:latin typeface="Caladea"/>
              <a:ea typeface="Caladea"/>
              <a:cs typeface="Caladea"/>
            </a:endParaRPr>
          </a:p>
          <a:p>
            <a:pPr marL="0" marR="0" algn="just">
              <a:tabLst>
                <a:tab pos="685800" algn="l"/>
              </a:tabLst>
            </a:pPr>
            <a:r>
              <a:rPr lang="en-US" sz="1800" dirty="0">
                <a:effectLst/>
                <a:latin typeface="Cambria" panose="02040503050406030204" pitchFamily="18" charset="0"/>
                <a:ea typeface="Caladea"/>
                <a:cs typeface="Caladea"/>
              </a:rPr>
              <a:t>There are no penalties for tax avoidance.</a:t>
            </a:r>
            <a:endParaRPr lang="en-US" sz="1800" dirty="0">
              <a:effectLst/>
              <a:latin typeface="Caladea"/>
              <a:ea typeface="Caladea"/>
              <a:cs typeface="Caladea"/>
            </a:endParaRPr>
          </a:p>
          <a:p>
            <a:pPr marL="0" marR="0" algn="just">
              <a:tabLst>
                <a:tab pos="685800" algn="l"/>
              </a:tabLst>
            </a:pPr>
            <a:r>
              <a:rPr lang="en-US" sz="1800" b="1" dirty="0">
                <a:effectLst/>
                <a:latin typeface="Cambria" panose="02040503050406030204" pitchFamily="18" charset="0"/>
                <a:ea typeface="Caladea"/>
                <a:cs typeface="Caladea"/>
              </a:rPr>
              <a:t> Ways of tax avoidance</a:t>
            </a:r>
            <a:endParaRPr lang="en-US" sz="1800" dirty="0">
              <a:effectLst/>
              <a:latin typeface="Caladea"/>
              <a:ea typeface="Caladea"/>
              <a:cs typeface="Caladea"/>
            </a:endParaRPr>
          </a:p>
          <a:p>
            <a:pPr marL="342900" marR="0" lvl="0" indent="-342900" algn="just">
              <a:lnSpc>
                <a:spcPct val="115000"/>
              </a:lnSpc>
              <a:buFont typeface="+mj-lt"/>
              <a:buAutoNum type="arabicPeriod"/>
              <a:tabLst>
                <a:tab pos="685800" algn="l"/>
              </a:tabLst>
            </a:pPr>
            <a:r>
              <a:rPr lang="en-US" sz="1800" dirty="0">
                <a:effectLst/>
                <a:latin typeface="Cambria" panose="02040503050406030204" pitchFamily="18" charset="0"/>
                <a:ea typeface="Caladea"/>
                <a:cs typeface="Caladea"/>
              </a:rPr>
              <a:t>By investing in areas where income received is fully exempted from tax e.g. interest from post office saving bank, interest &amp; dividends arising from outside Kenya.</a:t>
            </a:r>
            <a:endParaRPr lang="en-US" sz="1800" dirty="0">
              <a:effectLst/>
              <a:latin typeface="Caladea"/>
              <a:ea typeface="Caladea"/>
              <a:cs typeface="Caladea"/>
            </a:endParaRPr>
          </a:p>
          <a:p>
            <a:pPr marL="342900" marR="0" lvl="0" indent="-342900" algn="just">
              <a:lnSpc>
                <a:spcPct val="115000"/>
              </a:lnSpc>
              <a:buFont typeface="+mj-lt"/>
              <a:buAutoNum type="arabicPeriod"/>
              <a:tabLst>
                <a:tab pos="685800" algn="l"/>
              </a:tabLst>
            </a:pPr>
            <a:r>
              <a:rPr lang="en-US" sz="1800" dirty="0">
                <a:effectLst/>
                <a:latin typeface="Cambria" panose="02040503050406030204" pitchFamily="18" charset="0"/>
                <a:ea typeface="Caladea"/>
                <a:cs typeface="Caladea"/>
              </a:rPr>
              <a:t>By investing in areas where income received is taxed at withholding tax which is final e.g. qualifying dividends and interests.</a:t>
            </a:r>
            <a:endParaRPr lang="en-US" sz="1800" dirty="0">
              <a:effectLst/>
              <a:latin typeface="Caladea"/>
              <a:ea typeface="Caladea"/>
              <a:cs typeface="Caladea"/>
            </a:endParaRPr>
          </a:p>
          <a:p>
            <a:pPr marL="342900" marR="0" lvl="0" indent="-342900" algn="just">
              <a:lnSpc>
                <a:spcPct val="115000"/>
              </a:lnSpc>
              <a:buFont typeface="+mj-lt"/>
              <a:buAutoNum type="arabicPeriod"/>
              <a:tabLst>
                <a:tab pos="685800" algn="l"/>
              </a:tabLst>
            </a:pPr>
            <a:r>
              <a:rPr lang="en-US" sz="1800" dirty="0">
                <a:effectLst/>
                <a:latin typeface="Cambria" panose="02040503050406030204" pitchFamily="18" charset="0"/>
                <a:ea typeface="Caladea"/>
                <a:cs typeface="Caladea"/>
              </a:rPr>
              <a:t>By investing in marketable securities where profit made from their sale is not taxable. i.e. capital gains</a:t>
            </a:r>
            <a:endParaRPr lang="en-US" sz="1800" dirty="0">
              <a:effectLst/>
              <a:latin typeface="Caladea"/>
              <a:ea typeface="Caladea"/>
              <a:cs typeface="Caladea"/>
            </a:endParaRPr>
          </a:p>
          <a:p>
            <a:pPr marL="342900" marR="0" lvl="0" indent="-342900" algn="just">
              <a:lnSpc>
                <a:spcPct val="115000"/>
              </a:lnSpc>
              <a:buFont typeface="+mj-lt"/>
              <a:buAutoNum type="arabicPeriod"/>
              <a:tabLst>
                <a:tab pos="685800" algn="l"/>
              </a:tabLst>
            </a:pPr>
            <a:r>
              <a:rPr lang="en-US" sz="1800" dirty="0">
                <a:effectLst/>
                <a:latin typeface="Cambria" panose="02040503050406030204" pitchFamily="18" charset="0"/>
                <a:ea typeface="Caladea"/>
                <a:cs typeface="Caladea"/>
              </a:rPr>
              <a:t>By claiming reliefs and allowances e.g. mortgage relief, pension relief, capital allowances etc.</a:t>
            </a:r>
            <a:endParaRPr lang="en-US" sz="1800" dirty="0">
              <a:effectLst/>
              <a:latin typeface="Caladea"/>
              <a:ea typeface="Caladea"/>
              <a:cs typeface="Caladea"/>
            </a:endParaRPr>
          </a:p>
          <a:p>
            <a:endParaRPr lang="en-US" dirty="0"/>
          </a:p>
        </p:txBody>
      </p:sp>
    </p:spTree>
    <p:extLst>
      <p:ext uri="{BB962C8B-B14F-4D97-AF65-F5344CB8AC3E}">
        <p14:creationId xmlns:p14="http://schemas.microsoft.com/office/powerpoint/2010/main" val="33837471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726C0-B6C4-54DA-80B7-4CDEE6023861}"/>
              </a:ext>
            </a:extLst>
          </p:cNvPr>
          <p:cNvSpPr>
            <a:spLocks noGrp="1"/>
          </p:cNvSpPr>
          <p:nvPr>
            <p:ph type="title"/>
          </p:nvPr>
        </p:nvSpPr>
        <p:spPr/>
        <p:txBody>
          <a:bodyPr/>
          <a:lstStyle/>
          <a:p>
            <a:pPr algn="ctr"/>
            <a:r>
              <a:rPr kumimoji="0" lang="en-US" sz="3200" b="1" i="0" u="none" strike="noStrike" kern="1200" cap="none" spc="0" normalizeH="0" baseline="0" noProof="0" dirty="0">
                <a:ln>
                  <a:noFill/>
                </a:ln>
                <a:solidFill>
                  <a:prstClr val="black"/>
                </a:solidFill>
                <a:effectLst/>
                <a:uLnTx/>
                <a:uFillTx/>
                <a:latin typeface="Cambria" panose="02040503050406030204" pitchFamily="18" charset="0"/>
                <a:ea typeface="Caladea"/>
                <a:cs typeface="Caladea"/>
              </a:rPr>
              <a:t>TAX EVASION</a:t>
            </a:r>
            <a:endParaRPr lang="en-US" dirty="0"/>
          </a:p>
        </p:txBody>
      </p:sp>
      <p:sp>
        <p:nvSpPr>
          <p:cNvPr id="3" name="Content Placeholder 2">
            <a:extLst>
              <a:ext uri="{FF2B5EF4-FFF2-40B4-BE49-F238E27FC236}">
                <a16:creationId xmlns:a16="http://schemas.microsoft.com/office/drawing/2014/main" id="{78313E68-4998-4437-0AF7-3C9EE747E1D0}"/>
              </a:ext>
            </a:extLst>
          </p:cNvPr>
          <p:cNvSpPr>
            <a:spLocks noGrp="1"/>
          </p:cNvSpPr>
          <p:nvPr>
            <p:ph idx="1"/>
          </p:nvPr>
        </p:nvSpPr>
        <p:spPr>
          <a:xfrm>
            <a:off x="279128" y="1592826"/>
            <a:ext cx="10354460" cy="4881716"/>
          </a:xfrm>
        </p:spPr>
        <p:txBody>
          <a:bodyPr>
            <a:normAutofit fontScale="25000" lnSpcReduction="20000"/>
          </a:bodyPr>
          <a:lstStyle/>
          <a:p>
            <a:pPr marL="0" marR="0">
              <a:tabLst>
                <a:tab pos="685800" algn="l"/>
              </a:tabLst>
            </a:pPr>
            <a:r>
              <a:rPr lang="en-US" sz="8000" b="1" dirty="0">
                <a:effectLst/>
                <a:latin typeface="Cambria" panose="02040503050406030204" pitchFamily="18" charset="0"/>
                <a:ea typeface="Caladea"/>
                <a:cs typeface="Caladea"/>
              </a:rPr>
              <a:t>TAX EVASION</a:t>
            </a:r>
            <a:endParaRPr lang="en-US" sz="8000" dirty="0">
              <a:effectLst/>
              <a:latin typeface="Caladea"/>
              <a:ea typeface="Caladea"/>
              <a:cs typeface="Caladea"/>
            </a:endParaRPr>
          </a:p>
          <a:p>
            <a:pPr marL="0" marR="0" algn="just">
              <a:tabLst>
                <a:tab pos="685800" algn="l"/>
              </a:tabLst>
            </a:pPr>
            <a:r>
              <a:rPr lang="en-US" sz="7400" dirty="0">
                <a:effectLst/>
                <a:latin typeface="Cambria" panose="02040503050406030204" pitchFamily="18" charset="0"/>
                <a:ea typeface="Caladea"/>
                <a:cs typeface="Caladea"/>
              </a:rPr>
              <a:t>It is an illegal means of reducing ones tax burden.  It occurs through.</a:t>
            </a:r>
            <a:endParaRPr lang="en-US" sz="7400" dirty="0">
              <a:effectLst/>
              <a:latin typeface="Caladea"/>
              <a:ea typeface="Caladea"/>
              <a:cs typeface="Caladea"/>
            </a:endParaRPr>
          </a:p>
          <a:p>
            <a:pPr marL="342900" marR="0" lvl="0" indent="-342900" algn="just">
              <a:lnSpc>
                <a:spcPct val="115000"/>
              </a:lnSpc>
              <a:buFont typeface="+mj-lt"/>
              <a:buAutoNum type="alphaLcPeriod"/>
              <a:tabLst>
                <a:tab pos="685800" algn="l"/>
              </a:tabLst>
            </a:pPr>
            <a:r>
              <a:rPr lang="en-US" sz="7400" dirty="0">
                <a:effectLst/>
                <a:latin typeface="Cambria" panose="02040503050406030204" pitchFamily="18" charset="0"/>
                <a:ea typeface="Caladea"/>
                <a:cs typeface="Caladea"/>
              </a:rPr>
              <a:t>Claim of expenses one is not entitled to.  E.g. Private expenses under business income.</a:t>
            </a:r>
            <a:endParaRPr lang="en-US" sz="7400" dirty="0">
              <a:effectLst/>
              <a:latin typeface="Caladea"/>
              <a:ea typeface="Caladea"/>
              <a:cs typeface="Caladea"/>
            </a:endParaRPr>
          </a:p>
          <a:p>
            <a:pPr marL="342900" marR="0" lvl="0" indent="-342900" algn="just">
              <a:lnSpc>
                <a:spcPct val="115000"/>
              </a:lnSpc>
              <a:buFont typeface="+mj-lt"/>
              <a:buAutoNum type="alphaLcPeriod"/>
              <a:tabLst>
                <a:tab pos="685800" algn="l"/>
              </a:tabLst>
            </a:pPr>
            <a:r>
              <a:rPr lang="en-US" sz="7400" dirty="0">
                <a:effectLst/>
                <a:latin typeface="Cambria" panose="02040503050406030204" pitchFamily="18" charset="0"/>
                <a:ea typeface="Caladea"/>
                <a:cs typeface="Caladea"/>
              </a:rPr>
              <a:t>Under declaration of taxable income</a:t>
            </a:r>
            <a:endParaRPr lang="en-US" sz="7400" dirty="0">
              <a:effectLst/>
              <a:latin typeface="Caladea"/>
              <a:ea typeface="Caladea"/>
              <a:cs typeface="Caladea"/>
            </a:endParaRPr>
          </a:p>
          <a:p>
            <a:pPr marL="342900" marR="3003550" lvl="0" indent="-342900" algn="just">
              <a:lnSpc>
                <a:spcPct val="115000"/>
              </a:lnSpc>
              <a:buFont typeface="+mj-lt"/>
              <a:buAutoNum type="alphaLcPeriod"/>
              <a:tabLst>
                <a:tab pos="520700" algn="l"/>
                <a:tab pos="521335" algn="l"/>
              </a:tabLst>
            </a:pPr>
            <a:r>
              <a:rPr lang="en-US" sz="7400" dirty="0">
                <a:effectLst/>
                <a:latin typeface="Cambria" panose="02040503050406030204" pitchFamily="18" charset="0"/>
                <a:ea typeface="Caladea"/>
                <a:cs typeface="Caladea"/>
              </a:rPr>
              <a:t>Non-declaration of taxable income</a:t>
            </a:r>
            <a:endParaRPr lang="en-US" sz="7400" dirty="0">
              <a:effectLst/>
              <a:latin typeface="Caladea"/>
              <a:ea typeface="Caladea"/>
              <a:cs typeface="Caladea"/>
            </a:endParaRPr>
          </a:p>
          <a:p>
            <a:pPr marL="457200" marR="3003550" indent="0" algn="just">
              <a:lnSpc>
                <a:spcPct val="115000"/>
              </a:lnSpc>
              <a:tabLst>
                <a:tab pos="520700" algn="l"/>
                <a:tab pos="521335" algn="l"/>
              </a:tabLst>
            </a:pPr>
            <a:r>
              <a:rPr lang="en-US" sz="7400" u="sng" dirty="0">
                <a:effectLst/>
                <a:latin typeface="Cambria" panose="02040503050406030204" pitchFamily="18" charset="0"/>
                <a:ea typeface="Caladea"/>
                <a:cs typeface="Caladea"/>
              </a:rPr>
              <a:t>Reasons for tax evasion are:</a:t>
            </a:r>
            <a:endParaRPr lang="en-US" sz="7400" dirty="0">
              <a:effectLst/>
              <a:latin typeface="Caladea"/>
              <a:ea typeface="Caladea"/>
              <a:cs typeface="Caladea"/>
            </a:endParaRPr>
          </a:p>
          <a:p>
            <a:pPr marL="342900" marR="3003550" lvl="0" indent="-342900" algn="just">
              <a:lnSpc>
                <a:spcPct val="115000"/>
              </a:lnSpc>
              <a:buFont typeface="+mj-lt"/>
              <a:buAutoNum type="arabicPeriod"/>
              <a:tabLst>
                <a:tab pos="520700" algn="l"/>
                <a:tab pos="521335" algn="l"/>
              </a:tabLst>
            </a:pPr>
            <a:r>
              <a:rPr lang="en-US" sz="7400" dirty="0">
                <a:effectLst/>
                <a:latin typeface="Cambria" panose="02040503050406030204" pitchFamily="18" charset="0"/>
                <a:ea typeface="Caladea"/>
                <a:cs typeface="Caladea"/>
              </a:rPr>
              <a:t>High tax rates</a:t>
            </a:r>
            <a:endParaRPr lang="en-US" sz="7400" dirty="0">
              <a:effectLst/>
              <a:latin typeface="Caladea"/>
              <a:ea typeface="Caladea"/>
              <a:cs typeface="Caladea"/>
            </a:endParaRPr>
          </a:p>
          <a:p>
            <a:pPr marL="342900" marR="3003550" lvl="0" indent="-342900" algn="just">
              <a:lnSpc>
                <a:spcPct val="115000"/>
              </a:lnSpc>
              <a:buFont typeface="+mj-lt"/>
              <a:buAutoNum type="arabicPeriod"/>
              <a:tabLst>
                <a:tab pos="520700" algn="l"/>
                <a:tab pos="521335" algn="l"/>
              </a:tabLst>
            </a:pPr>
            <a:r>
              <a:rPr lang="en-US" sz="7400" dirty="0">
                <a:effectLst/>
                <a:latin typeface="Cambria" panose="02040503050406030204" pitchFamily="18" charset="0"/>
                <a:ea typeface="Caladea"/>
                <a:cs typeface="Caladea"/>
              </a:rPr>
              <a:t>Corruption</a:t>
            </a:r>
            <a:endParaRPr lang="en-US" sz="7400" dirty="0">
              <a:effectLst/>
              <a:latin typeface="Caladea"/>
              <a:ea typeface="Caladea"/>
              <a:cs typeface="Caladea"/>
            </a:endParaRPr>
          </a:p>
          <a:p>
            <a:pPr marL="342900" marR="3003550" lvl="0" indent="-342900" algn="just">
              <a:lnSpc>
                <a:spcPct val="115000"/>
              </a:lnSpc>
              <a:buFont typeface="+mj-lt"/>
              <a:buAutoNum type="arabicPeriod"/>
              <a:tabLst>
                <a:tab pos="520700" algn="l"/>
                <a:tab pos="521335" algn="l"/>
              </a:tabLst>
            </a:pPr>
            <a:r>
              <a:rPr lang="en-US" sz="7400" dirty="0">
                <a:effectLst/>
                <a:latin typeface="Cambria" panose="02040503050406030204" pitchFamily="18" charset="0"/>
                <a:ea typeface="Caladea"/>
                <a:cs typeface="Caladea"/>
              </a:rPr>
              <a:t>Complex tax systems</a:t>
            </a:r>
            <a:endParaRPr lang="en-US" sz="7400" dirty="0">
              <a:effectLst/>
              <a:latin typeface="Caladea"/>
              <a:ea typeface="Caladea"/>
              <a:cs typeface="Caladea"/>
            </a:endParaRPr>
          </a:p>
          <a:p>
            <a:pPr marL="342900" marR="3003550" lvl="0" indent="-342900" algn="just">
              <a:lnSpc>
                <a:spcPct val="115000"/>
              </a:lnSpc>
              <a:buFont typeface="+mj-lt"/>
              <a:buAutoNum type="arabicPeriod"/>
              <a:tabLst>
                <a:tab pos="520700" algn="l"/>
                <a:tab pos="521335" algn="l"/>
              </a:tabLst>
            </a:pPr>
            <a:r>
              <a:rPr lang="en-US" sz="7400" dirty="0">
                <a:effectLst/>
                <a:latin typeface="Cambria" panose="02040503050406030204" pitchFamily="18" charset="0"/>
                <a:ea typeface="Caladea"/>
                <a:cs typeface="Caladea"/>
              </a:rPr>
              <a:t>Lack of publicity of tax matters</a:t>
            </a:r>
            <a:endParaRPr lang="en-US" sz="7400" dirty="0">
              <a:effectLst/>
              <a:latin typeface="Caladea"/>
              <a:ea typeface="Caladea"/>
              <a:cs typeface="Caladea"/>
            </a:endParaRPr>
          </a:p>
          <a:p>
            <a:pPr marL="457200" marR="3003550" indent="0" algn="just">
              <a:lnSpc>
                <a:spcPct val="115000"/>
              </a:lnSpc>
              <a:tabLst>
                <a:tab pos="520700" algn="l"/>
                <a:tab pos="521335" algn="l"/>
              </a:tabLst>
            </a:pPr>
            <a:r>
              <a:rPr lang="en-US" sz="7400" dirty="0">
                <a:effectLst/>
                <a:latin typeface="Cambria" panose="02040503050406030204" pitchFamily="18" charset="0"/>
                <a:ea typeface="Caladea"/>
                <a:cs typeface="Caladea"/>
              </a:rPr>
              <a:t> </a:t>
            </a:r>
            <a:endParaRPr lang="en-US" sz="7400" dirty="0">
              <a:effectLst/>
              <a:latin typeface="Caladea"/>
              <a:ea typeface="Caladea"/>
              <a:cs typeface="Caladea"/>
            </a:endParaRPr>
          </a:p>
          <a:p>
            <a:endParaRPr lang="en-US" dirty="0"/>
          </a:p>
        </p:txBody>
      </p:sp>
    </p:spTree>
    <p:extLst>
      <p:ext uri="{BB962C8B-B14F-4D97-AF65-F5344CB8AC3E}">
        <p14:creationId xmlns:p14="http://schemas.microsoft.com/office/powerpoint/2010/main" val="1169919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1B6F-1D42-2003-D30E-53E791DD6846}"/>
              </a:ext>
            </a:extLst>
          </p:cNvPr>
          <p:cNvSpPr>
            <a:spLocks noGrp="1"/>
          </p:cNvSpPr>
          <p:nvPr>
            <p:ph type="title"/>
          </p:nvPr>
        </p:nvSpPr>
        <p:spPr/>
        <p:txBody>
          <a:bodyPr/>
          <a:lstStyle/>
          <a:p>
            <a:pPr algn="ctr"/>
            <a:r>
              <a:rPr lang="en-US" dirty="0"/>
              <a:t>COSTS OF TAXATION</a:t>
            </a:r>
            <a:br>
              <a:rPr lang="en-US" dirty="0"/>
            </a:br>
            <a:endParaRPr lang="en-US" dirty="0"/>
          </a:p>
        </p:txBody>
      </p:sp>
      <p:sp>
        <p:nvSpPr>
          <p:cNvPr id="3" name="Content Placeholder 2">
            <a:extLst>
              <a:ext uri="{FF2B5EF4-FFF2-40B4-BE49-F238E27FC236}">
                <a16:creationId xmlns:a16="http://schemas.microsoft.com/office/drawing/2014/main" id="{387EB166-22DF-4CE5-1CBC-22B241494F52}"/>
              </a:ext>
            </a:extLst>
          </p:cNvPr>
          <p:cNvSpPr>
            <a:spLocks noGrp="1"/>
          </p:cNvSpPr>
          <p:nvPr>
            <p:ph idx="1"/>
          </p:nvPr>
        </p:nvSpPr>
        <p:spPr/>
        <p:txBody>
          <a:bodyPr>
            <a:normAutofit/>
          </a:bodyPr>
          <a:lstStyle/>
          <a:p>
            <a:r>
              <a:rPr lang="en-US" dirty="0"/>
              <a:t>These are incidental costs of taxation Include</a:t>
            </a:r>
          </a:p>
          <a:p>
            <a:pPr marL="514350" indent="-514350">
              <a:buFont typeface="+mj-lt"/>
              <a:buAutoNum type="arabicPeriod"/>
            </a:pPr>
            <a:r>
              <a:rPr lang="en-US" dirty="0"/>
              <a:t>Discourage saving when part of income is paid to government</a:t>
            </a:r>
          </a:p>
          <a:p>
            <a:pPr marL="514350" indent="-514350">
              <a:buFont typeface="+mj-lt"/>
              <a:buAutoNum type="arabicPeriod"/>
            </a:pPr>
            <a:r>
              <a:rPr lang="en-US" dirty="0"/>
              <a:t>Discourage investments when investors are taxed</a:t>
            </a:r>
          </a:p>
          <a:p>
            <a:pPr marL="514350" indent="-514350">
              <a:buFont typeface="+mj-lt"/>
              <a:buAutoNum type="arabicPeriod"/>
            </a:pPr>
            <a:r>
              <a:rPr lang="en-US" dirty="0"/>
              <a:t>Shifting investment to other countries where taxes are less</a:t>
            </a:r>
          </a:p>
          <a:p>
            <a:pPr marL="514350" indent="-514350">
              <a:buFont typeface="+mj-lt"/>
              <a:buAutoNum type="arabicPeriod"/>
            </a:pPr>
            <a:r>
              <a:rPr lang="en-US" dirty="0"/>
              <a:t>Discourage people from working hard if part of income is taken</a:t>
            </a:r>
          </a:p>
          <a:p>
            <a:pPr marL="514350" indent="-514350">
              <a:buFont typeface="+mj-lt"/>
              <a:buAutoNum type="arabicPeriod"/>
            </a:pPr>
            <a:r>
              <a:rPr lang="en-US" dirty="0"/>
              <a:t>Cost of compliance</a:t>
            </a:r>
          </a:p>
          <a:p>
            <a:pPr marL="514350" indent="-514350">
              <a:buFont typeface="+mj-lt"/>
              <a:buAutoNum type="arabicPeriod"/>
            </a:pPr>
            <a:r>
              <a:rPr lang="en-US" dirty="0"/>
              <a:t>Can cause inflation</a:t>
            </a:r>
          </a:p>
          <a:p>
            <a:endParaRPr lang="en-US" dirty="0"/>
          </a:p>
        </p:txBody>
      </p:sp>
    </p:spTree>
    <p:extLst>
      <p:ext uri="{BB962C8B-B14F-4D97-AF65-F5344CB8AC3E}">
        <p14:creationId xmlns:p14="http://schemas.microsoft.com/office/powerpoint/2010/main" val="3401694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B6450-CF50-F596-4805-4F519CA3C639}"/>
              </a:ext>
            </a:extLst>
          </p:cNvPr>
          <p:cNvSpPr>
            <a:spLocks noGrp="1"/>
          </p:cNvSpPr>
          <p:nvPr>
            <p:ph type="title"/>
          </p:nvPr>
        </p:nvSpPr>
        <p:spPr/>
        <p:txBody>
          <a:bodyPr/>
          <a:lstStyle/>
          <a:p>
            <a:pPr algn="ctr"/>
            <a:r>
              <a:rPr lang="en-US" dirty="0"/>
              <a:t>Filling tax returns</a:t>
            </a:r>
          </a:p>
        </p:txBody>
      </p:sp>
      <p:sp>
        <p:nvSpPr>
          <p:cNvPr id="3" name="Content Placeholder 2">
            <a:extLst>
              <a:ext uri="{FF2B5EF4-FFF2-40B4-BE49-F238E27FC236}">
                <a16:creationId xmlns:a16="http://schemas.microsoft.com/office/drawing/2014/main" id="{9FE7BDB3-14C1-CF76-8B0E-00535A40A756}"/>
              </a:ext>
            </a:extLst>
          </p:cNvPr>
          <p:cNvSpPr>
            <a:spLocks noGrp="1"/>
          </p:cNvSpPr>
          <p:nvPr>
            <p:ph idx="1"/>
          </p:nvPr>
        </p:nvSpPr>
        <p:spPr>
          <a:xfrm>
            <a:off x="838200" y="1825624"/>
            <a:ext cx="10515600" cy="4884891"/>
          </a:xfrm>
        </p:spPr>
        <p:txBody>
          <a:bodyPr>
            <a:normAutofit/>
          </a:bodyPr>
          <a:lstStyle/>
          <a:p>
            <a:r>
              <a:rPr lang="en-US" dirty="0"/>
              <a:t>Filing tax returns in Kenya is a legal requirement for individuals and businesses. It is overseen by the Kenya Revenue Authority (KRA) and is done primarily through the </a:t>
            </a:r>
            <a:r>
              <a:rPr lang="en-US" dirty="0" err="1"/>
              <a:t>iTax</a:t>
            </a:r>
            <a:r>
              <a:rPr lang="en-US" dirty="0"/>
              <a:t> platform. The steps to follow in filling the returns include</a:t>
            </a:r>
          </a:p>
          <a:p>
            <a:pPr marL="0" indent="0">
              <a:buNone/>
            </a:pPr>
            <a:r>
              <a:rPr lang="en-US" b="1" dirty="0"/>
              <a:t>1. Determine the Type of Return to File</a:t>
            </a:r>
          </a:p>
          <a:p>
            <a:r>
              <a:rPr lang="en-US" dirty="0"/>
              <a:t>There are several types of tax returns, depending on the taxpayer category:</a:t>
            </a:r>
          </a:p>
          <a:p>
            <a:pPr>
              <a:buFont typeface="Arial" panose="020B0604020202020204" pitchFamily="34" charset="0"/>
              <a:buChar char="•"/>
            </a:pPr>
            <a:r>
              <a:rPr lang="en-US" b="1" dirty="0"/>
              <a:t>Individual Returns</a:t>
            </a:r>
            <a:r>
              <a:rPr lang="en-US" dirty="0"/>
              <a:t>: For individuals earning employment income, business income, or any other taxable income.</a:t>
            </a:r>
          </a:p>
          <a:p>
            <a:pPr>
              <a:buFont typeface="Arial" panose="020B0604020202020204" pitchFamily="34" charset="0"/>
              <a:buChar char="•"/>
            </a:pPr>
            <a:r>
              <a:rPr lang="en-US" b="1" dirty="0"/>
              <a:t>Corporate Returns</a:t>
            </a:r>
            <a:r>
              <a:rPr lang="en-US" dirty="0"/>
              <a:t>: For registered companies and partnerships.</a:t>
            </a:r>
          </a:p>
          <a:p>
            <a:pPr>
              <a:buFont typeface="Arial" panose="020B0604020202020204" pitchFamily="34" charset="0"/>
              <a:buChar char="•"/>
            </a:pPr>
            <a:r>
              <a:rPr lang="en-US" b="1" dirty="0"/>
              <a:t>Nil Returns</a:t>
            </a:r>
            <a:r>
              <a:rPr lang="en-US" dirty="0"/>
              <a:t>: For individuals or entities with no taxable income during the financial year.</a:t>
            </a:r>
          </a:p>
          <a:p>
            <a:pPr>
              <a:buFont typeface="Arial" panose="020B0604020202020204" pitchFamily="34" charset="0"/>
              <a:buChar char="•"/>
            </a:pPr>
            <a:r>
              <a:rPr lang="en-US" b="1" dirty="0"/>
              <a:t>Value Added Tax (VAT) Returns</a:t>
            </a:r>
            <a:r>
              <a:rPr lang="en-US" dirty="0"/>
              <a:t>: For businesses registered for VAT.</a:t>
            </a:r>
          </a:p>
          <a:p>
            <a:pPr>
              <a:buFont typeface="Arial" panose="020B0604020202020204" pitchFamily="34" charset="0"/>
              <a:buChar char="•"/>
            </a:pPr>
            <a:r>
              <a:rPr lang="en-US" b="1" dirty="0"/>
              <a:t>Pay As You Earn (PAYE) Returns</a:t>
            </a:r>
            <a:r>
              <a:rPr lang="en-US" dirty="0"/>
              <a:t>: For employers deducting and remitting employee taxes.</a:t>
            </a:r>
          </a:p>
          <a:p>
            <a:endParaRPr lang="en-US" dirty="0"/>
          </a:p>
        </p:txBody>
      </p:sp>
    </p:spTree>
    <p:extLst>
      <p:ext uri="{BB962C8B-B14F-4D97-AF65-F5344CB8AC3E}">
        <p14:creationId xmlns:p14="http://schemas.microsoft.com/office/powerpoint/2010/main" val="1821716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F598-FEE0-37F3-FF31-F0CE5D5E743E}"/>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Filling tax returns</a:t>
            </a:r>
            <a:endParaRPr lang="en-US" b="1" dirty="0"/>
          </a:p>
        </p:txBody>
      </p:sp>
      <p:sp>
        <p:nvSpPr>
          <p:cNvPr id="3" name="Content Placeholder 2">
            <a:extLst>
              <a:ext uri="{FF2B5EF4-FFF2-40B4-BE49-F238E27FC236}">
                <a16:creationId xmlns:a16="http://schemas.microsoft.com/office/drawing/2014/main" id="{8180F33B-F4D3-AF62-F859-FF0DA606B50F}"/>
              </a:ext>
            </a:extLst>
          </p:cNvPr>
          <p:cNvSpPr>
            <a:spLocks noGrp="1"/>
          </p:cNvSpPr>
          <p:nvPr>
            <p:ph idx="1"/>
          </p:nvPr>
        </p:nvSpPr>
        <p:spPr>
          <a:xfrm>
            <a:off x="838200" y="1825625"/>
            <a:ext cx="10515600" cy="4855394"/>
          </a:xfrm>
        </p:spPr>
        <p:txBody>
          <a:bodyPr>
            <a:normAutofit/>
          </a:bodyPr>
          <a:lstStyle/>
          <a:p>
            <a:pPr marL="514350" indent="-514350">
              <a:buFont typeface="+mj-lt"/>
              <a:buAutoNum type="arabicPeriod" startAt="2"/>
            </a:pPr>
            <a:r>
              <a:rPr lang="en-US" b="1" dirty="0"/>
              <a:t>Register on </a:t>
            </a:r>
            <a:r>
              <a:rPr lang="en-US" b="1" dirty="0" err="1"/>
              <a:t>iTax</a:t>
            </a:r>
            <a:endParaRPr lang="en-US" b="1" dirty="0"/>
          </a:p>
          <a:p>
            <a:pPr lvl="1"/>
            <a:r>
              <a:rPr lang="en-US" dirty="0"/>
              <a:t>Create an account on the KRA </a:t>
            </a:r>
            <a:r>
              <a:rPr lang="en-US" b="1" dirty="0" err="1"/>
              <a:t>iTax</a:t>
            </a:r>
            <a:r>
              <a:rPr lang="en-US" dirty="0"/>
              <a:t> platform if you don’t already have one.</a:t>
            </a:r>
          </a:p>
          <a:p>
            <a:pPr lvl="1"/>
            <a:r>
              <a:rPr lang="en-US" dirty="0"/>
              <a:t>Ensure your account details are up-to-date, including your email and phone number.</a:t>
            </a:r>
          </a:p>
          <a:p>
            <a:pPr marL="514350" indent="-514350">
              <a:buFont typeface="+mj-lt"/>
              <a:buAutoNum type="arabicPeriod" startAt="2"/>
            </a:pPr>
            <a:r>
              <a:rPr lang="en-US" b="1" dirty="0"/>
              <a:t> Gather Required Documents</a:t>
            </a:r>
          </a:p>
          <a:p>
            <a:pPr lvl="1"/>
            <a:r>
              <a:rPr lang="en-US" dirty="0"/>
              <a:t>Depending on the type of return, you may need:</a:t>
            </a:r>
          </a:p>
          <a:p>
            <a:pPr lvl="1"/>
            <a:r>
              <a:rPr lang="en-US" b="1" dirty="0"/>
              <a:t>P9 Form</a:t>
            </a:r>
            <a:r>
              <a:rPr lang="en-US" dirty="0"/>
              <a:t>: For employed individuals, provided by the employer.</a:t>
            </a:r>
          </a:p>
          <a:p>
            <a:pPr lvl="1"/>
            <a:r>
              <a:rPr lang="en-US" b="1" dirty="0"/>
              <a:t>Business Records</a:t>
            </a:r>
            <a:r>
              <a:rPr lang="en-US" dirty="0"/>
              <a:t>: For business income, such as financial statements.</a:t>
            </a:r>
          </a:p>
          <a:p>
            <a:pPr lvl="1"/>
            <a:r>
              <a:rPr lang="en-US" b="1" dirty="0"/>
              <a:t>Withholding Tax Certificates</a:t>
            </a:r>
            <a:r>
              <a:rPr lang="en-US" dirty="0"/>
              <a:t>: If taxes have been withheld on income.</a:t>
            </a:r>
          </a:p>
          <a:p>
            <a:pPr lvl="1"/>
            <a:r>
              <a:rPr lang="en-US" b="1" dirty="0"/>
              <a:t>VAT Invoices</a:t>
            </a:r>
            <a:r>
              <a:rPr lang="en-US" dirty="0"/>
              <a:t>: For VAT returns.</a:t>
            </a:r>
          </a:p>
          <a:p>
            <a:pPr lvl="1"/>
            <a:r>
              <a:rPr lang="en-US" dirty="0"/>
              <a:t>Any other relevant documentation showing income and allowable expenses.</a:t>
            </a:r>
          </a:p>
          <a:p>
            <a:endParaRPr lang="en-US" dirty="0"/>
          </a:p>
        </p:txBody>
      </p:sp>
    </p:spTree>
    <p:extLst>
      <p:ext uri="{BB962C8B-B14F-4D97-AF65-F5344CB8AC3E}">
        <p14:creationId xmlns:p14="http://schemas.microsoft.com/office/powerpoint/2010/main" val="1549292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F74A-93EB-5A01-7F36-69994EC22E57}"/>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Filling tax returns</a:t>
            </a:r>
            <a:endParaRPr lang="en-US" b="1" dirty="0"/>
          </a:p>
        </p:txBody>
      </p:sp>
      <p:sp>
        <p:nvSpPr>
          <p:cNvPr id="3" name="Content Placeholder 2">
            <a:extLst>
              <a:ext uri="{FF2B5EF4-FFF2-40B4-BE49-F238E27FC236}">
                <a16:creationId xmlns:a16="http://schemas.microsoft.com/office/drawing/2014/main" id="{40A833BE-B7B8-98D3-0630-E36CE9D47356}"/>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startAt="4"/>
            </a:pPr>
            <a:r>
              <a:rPr lang="en-US" b="1" dirty="0"/>
              <a:t>Log in to </a:t>
            </a:r>
            <a:r>
              <a:rPr lang="en-US" b="1" dirty="0" err="1"/>
              <a:t>iTax</a:t>
            </a:r>
            <a:endParaRPr lang="en-US" b="1" dirty="0"/>
          </a:p>
          <a:p>
            <a:pPr lvl="1"/>
            <a:r>
              <a:rPr lang="en-US" dirty="0"/>
              <a:t>Visit the </a:t>
            </a:r>
            <a:r>
              <a:rPr lang="en-US" dirty="0" err="1"/>
              <a:t>iTax</a:t>
            </a:r>
            <a:r>
              <a:rPr lang="en-US" dirty="0"/>
              <a:t> portal (https://itax.kra.go.ke).</a:t>
            </a:r>
          </a:p>
          <a:p>
            <a:pPr lvl="1"/>
            <a:r>
              <a:rPr lang="en-US" dirty="0"/>
              <a:t>Enter your </a:t>
            </a:r>
            <a:r>
              <a:rPr lang="en-US" b="1" dirty="0"/>
              <a:t>PIN</a:t>
            </a:r>
            <a:r>
              <a:rPr lang="en-US" dirty="0"/>
              <a:t> and password to access your account.</a:t>
            </a:r>
          </a:p>
          <a:p>
            <a:pPr marL="514350" indent="-514350">
              <a:buFont typeface="+mj-lt"/>
              <a:buAutoNum type="arabicPeriod" startAt="4"/>
            </a:pPr>
            <a:r>
              <a:rPr lang="en-US" b="1" dirty="0"/>
              <a:t>File the Return</a:t>
            </a:r>
          </a:p>
          <a:p>
            <a:pPr lvl="1"/>
            <a:r>
              <a:rPr lang="en-US" dirty="0"/>
              <a:t>Choose the relevant tax return form on </a:t>
            </a:r>
            <a:r>
              <a:rPr lang="en-US" dirty="0" err="1"/>
              <a:t>iTax</a:t>
            </a:r>
            <a:r>
              <a:rPr lang="en-US" dirty="0"/>
              <a:t>:</a:t>
            </a:r>
          </a:p>
          <a:p>
            <a:pPr marL="1200150" lvl="2" indent="-285750"/>
            <a:r>
              <a:rPr lang="en-US" dirty="0"/>
              <a:t>For individuals: "Income Tax – Resident Individual Form."</a:t>
            </a:r>
          </a:p>
          <a:p>
            <a:pPr marL="1200150" lvl="2" indent="-285750"/>
            <a:r>
              <a:rPr lang="en-US" dirty="0"/>
              <a:t>For companies: "Income Tax – Company Return."</a:t>
            </a:r>
          </a:p>
          <a:p>
            <a:pPr marL="1200150" lvl="2" indent="-285750"/>
            <a:r>
              <a:rPr lang="en-US" dirty="0"/>
              <a:t>For nil returns: "Nil Return Form."</a:t>
            </a:r>
          </a:p>
          <a:p>
            <a:pPr lvl="1"/>
            <a:r>
              <a:rPr lang="en-US" dirty="0"/>
              <a:t>Fill out the form with accurate details.</a:t>
            </a:r>
          </a:p>
          <a:p>
            <a:pPr marL="1200150" lvl="2" indent="-285750"/>
            <a:r>
              <a:rPr lang="en-US" dirty="0"/>
              <a:t>Declare all sources of income and claim allowable deductions or reliefs.</a:t>
            </a:r>
          </a:p>
          <a:p>
            <a:pPr marL="1200150" lvl="2" indent="-285750"/>
            <a:r>
              <a:rPr lang="en-US" dirty="0"/>
              <a:t>Attach supporting documents if required.</a:t>
            </a:r>
          </a:p>
          <a:p>
            <a:pPr lvl="1"/>
            <a:r>
              <a:rPr lang="en-US" dirty="0"/>
              <a:t>Validate and submit the return.</a:t>
            </a:r>
          </a:p>
          <a:p>
            <a:endParaRPr lang="en-US" dirty="0"/>
          </a:p>
        </p:txBody>
      </p:sp>
    </p:spTree>
    <p:extLst>
      <p:ext uri="{BB962C8B-B14F-4D97-AF65-F5344CB8AC3E}">
        <p14:creationId xmlns:p14="http://schemas.microsoft.com/office/powerpoint/2010/main" val="3244111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79B0-C60E-933C-945A-CA092B67F82C}"/>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Filling tax returns</a:t>
            </a:r>
            <a:endParaRPr lang="en-US" b="1" dirty="0"/>
          </a:p>
        </p:txBody>
      </p:sp>
      <p:sp>
        <p:nvSpPr>
          <p:cNvPr id="3" name="Content Placeholder 2">
            <a:extLst>
              <a:ext uri="{FF2B5EF4-FFF2-40B4-BE49-F238E27FC236}">
                <a16:creationId xmlns:a16="http://schemas.microsoft.com/office/drawing/2014/main" id="{09CD3E21-DC9A-6F12-9125-FF09155B6123}"/>
              </a:ext>
            </a:extLst>
          </p:cNvPr>
          <p:cNvSpPr>
            <a:spLocks noGrp="1"/>
          </p:cNvSpPr>
          <p:nvPr>
            <p:ph idx="1"/>
          </p:nvPr>
        </p:nvSpPr>
        <p:spPr/>
        <p:txBody>
          <a:bodyPr/>
          <a:lstStyle/>
          <a:p>
            <a:pPr marL="514350" indent="-514350">
              <a:buFont typeface="+mj-lt"/>
              <a:buAutoNum type="arabicPeriod" startAt="6"/>
            </a:pPr>
            <a:r>
              <a:rPr lang="en-US" b="1" dirty="0"/>
              <a:t>Pay Taxes (If Any)</a:t>
            </a:r>
          </a:p>
          <a:p>
            <a:pPr lvl="1"/>
            <a:r>
              <a:rPr lang="en-US" dirty="0"/>
              <a:t>If the return indicates tax payable, generate a </a:t>
            </a:r>
            <a:r>
              <a:rPr lang="en-US" b="1" dirty="0"/>
              <a:t>Payment Slip</a:t>
            </a:r>
            <a:r>
              <a:rPr lang="en-US" dirty="0"/>
              <a:t> on </a:t>
            </a:r>
            <a:r>
              <a:rPr lang="en-US" dirty="0" err="1"/>
              <a:t>iTax</a:t>
            </a:r>
            <a:r>
              <a:rPr lang="en-US" dirty="0"/>
              <a:t>.</a:t>
            </a:r>
          </a:p>
          <a:p>
            <a:pPr lvl="1"/>
            <a:r>
              <a:rPr lang="en-US" dirty="0"/>
              <a:t>Pay using one of the approved methods:</a:t>
            </a:r>
          </a:p>
          <a:p>
            <a:pPr marL="1200150" lvl="2" indent="-285750"/>
            <a:r>
              <a:rPr lang="en-US" dirty="0"/>
              <a:t>Mobile money platforms (e.g., M-Pesa).</a:t>
            </a:r>
          </a:p>
          <a:p>
            <a:pPr marL="1200150" lvl="2" indent="-285750"/>
            <a:r>
              <a:rPr lang="en-US" dirty="0"/>
              <a:t>Bank transfer or deposit.</a:t>
            </a:r>
          </a:p>
          <a:p>
            <a:pPr marL="514350" indent="-514350">
              <a:buFont typeface="+mj-lt"/>
              <a:buAutoNum type="arabicPeriod" startAt="6"/>
            </a:pPr>
            <a:r>
              <a:rPr lang="en-US" b="1" dirty="0"/>
              <a:t>Obtain a Confirmation Receipt</a:t>
            </a:r>
          </a:p>
          <a:p>
            <a:pPr lvl="1"/>
            <a:r>
              <a:rPr lang="en-US" dirty="0"/>
              <a:t>After filing, </a:t>
            </a:r>
            <a:r>
              <a:rPr lang="en-US" dirty="0" err="1"/>
              <a:t>iTax</a:t>
            </a:r>
            <a:r>
              <a:rPr lang="en-US" dirty="0"/>
              <a:t> generates an </a:t>
            </a:r>
            <a:r>
              <a:rPr lang="en-US" b="1" dirty="0"/>
              <a:t>Acknowledgement Receipt</a:t>
            </a:r>
            <a:r>
              <a:rPr lang="en-US" dirty="0"/>
              <a:t> as proof of submission. Keep this for your records.</a:t>
            </a:r>
          </a:p>
          <a:p>
            <a:endParaRPr lang="en-US" dirty="0"/>
          </a:p>
        </p:txBody>
      </p:sp>
    </p:spTree>
    <p:extLst>
      <p:ext uri="{BB962C8B-B14F-4D97-AF65-F5344CB8AC3E}">
        <p14:creationId xmlns:p14="http://schemas.microsoft.com/office/powerpoint/2010/main" val="731507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C42CB-AEA0-FCDB-28A8-D6CF2D984F63}"/>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Filling tax returns</a:t>
            </a:r>
            <a:endParaRPr lang="en-US" b="1" dirty="0"/>
          </a:p>
        </p:txBody>
      </p:sp>
      <p:sp>
        <p:nvSpPr>
          <p:cNvPr id="3" name="Content Placeholder 2">
            <a:extLst>
              <a:ext uri="{FF2B5EF4-FFF2-40B4-BE49-F238E27FC236}">
                <a16:creationId xmlns:a16="http://schemas.microsoft.com/office/drawing/2014/main" id="{7F42D9A2-918B-44BA-C7B4-C293A72018AD}"/>
              </a:ext>
            </a:extLst>
          </p:cNvPr>
          <p:cNvSpPr>
            <a:spLocks noGrp="1"/>
          </p:cNvSpPr>
          <p:nvPr>
            <p:ph idx="1"/>
          </p:nvPr>
        </p:nvSpPr>
        <p:spPr>
          <a:xfrm>
            <a:off x="838200" y="1825625"/>
            <a:ext cx="10515600" cy="4667250"/>
          </a:xfrm>
        </p:spPr>
        <p:txBody>
          <a:bodyPr>
            <a:normAutofit/>
          </a:bodyPr>
          <a:lstStyle/>
          <a:p>
            <a:pPr marL="514350" indent="-514350">
              <a:buFont typeface="+mj-lt"/>
              <a:buAutoNum type="arabicPeriod"/>
            </a:pPr>
            <a:r>
              <a:rPr lang="en-US" b="1" dirty="0"/>
              <a:t>Key Deadlines</a:t>
            </a:r>
          </a:p>
          <a:p>
            <a:pPr lvl="1"/>
            <a:r>
              <a:rPr lang="en-US" b="1" dirty="0"/>
              <a:t>Individual Tax Returns</a:t>
            </a:r>
            <a:r>
              <a:rPr lang="en-US" dirty="0"/>
              <a:t>: Due annually by </a:t>
            </a:r>
            <a:r>
              <a:rPr lang="en-US" b="1" dirty="0"/>
              <a:t>30th June</a:t>
            </a:r>
            <a:r>
              <a:rPr lang="en-US" dirty="0"/>
              <a:t>.</a:t>
            </a:r>
          </a:p>
          <a:p>
            <a:pPr lvl="1"/>
            <a:r>
              <a:rPr lang="en-US" b="1" dirty="0"/>
              <a:t>Monthly Returns</a:t>
            </a:r>
            <a:r>
              <a:rPr lang="en-US" dirty="0"/>
              <a:t> (e.g., PAYE, VAT): Due by the </a:t>
            </a:r>
            <a:r>
              <a:rPr lang="en-US" b="1" dirty="0"/>
              <a:t>20th of the following month</a:t>
            </a:r>
            <a:r>
              <a:rPr lang="en-US" dirty="0"/>
              <a:t>.</a:t>
            </a:r>
          </a:p>
          <a:p>
            <a:pPr marL="514350" indent="-514350">
              <a:buFont typeface="+mj-lt"/>
              <a:buAutoNum type="arabicPeriod"/>
            </a:pPr>
            <a:r>
              <a:rPr lang="en-US" b="1" dirty="0"/>
              <a:t>Penalties for Non-Compliance</a:t>
            </a:r>
          </a:p>
          <a:p>
            <a:pPr lvl="1"/>
            <a:r>
              <a:rPr lang="en-US" dirty="0"/>
              <a:t>Failing to file or filing late can attract penalties:</a:t>
            </a:r>
          </a:p>
          <a:p>
            <a:pPr lvl="1"/>
            <a:r>
              <a:rPr lang="en-US" dirty="0"/>
              <a:t>Individual returns: </a:t>
            </a:r>
            <a:r>
              <a:rPr lang="en-US" dirty="0" err="1"/>
              <a:t>Ksh</a:t>
            </a:r>
            <a:r>
              <a:rPr lang="en-US" dirty="0"/>
              <a:t> 2,000 or 5% of the tax due, whichever is higher.</a:t>
            </a:r>
          </a:p>
          <a:p>
            <a:pPr lvl="1"/>
            <a:r>
              <a:rPr lang="en-US" dirty="0"/>
              <a:t>Corporate returns: </a:t>
            </a:r>
            <a:r>
              <a:rPr lang="en-US" dirty="0" err="1"/>
              <a:t>Ksh</a:t>
            </a:r>
            <a:r>
              <a:rPr lang="en-US" dirty="0"/>
              <a:t> 20,000 or 5% of the tax due, whichever is </a:t>
            </a:r>
            <a:r>
              <a:rPr lang="en-US" dirty="0" err="1"/>
              <a:t>higheR</a:t>
            </a:r>
            <a:endParaRPr lang="en-US" dirty="0"/>
          </a:p>
          <a:p>
            <a:endParaRPr lang="en-US" dirty="0"/>
          </a:p>
        </p:txBody>
      </p:sp>
    </p:spTree>
    <p:extLst>
      <p:ext uri="{BB962C8B-B14F-4D97-AF65-F5344CB8AC3E}">
        <p14:creationId xmlns:p14="http://schemas.microsoft.com/office/powerpoint/2010/main" val="143910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EA087-13DF-ED77-2510-D661275B06B7}"/>
              </a:ext>
            </a:extLst>
          </p:cNvPr>
          <p:cNvSpPr>
            <a:spLocks noGrp="1"/>
          </p:cNvSpPr>
          <p:nvPr>
            <p:ph type="title"/>
          </p:nvPr>
        </p:nvSpPr>
        <p:spPr/>
        <p:txBody>
          <a:bodyPr/>
          <a:lstStyle/>
          <a:p>
            <a:pPr algn="ctr"/>
            <a:r>
              <a:rPr lang="en-US" dirty="0"/>
              <a:t>END</a:t>
            </a:r>
          </a:p>
        </p:txBody>
      </p:sp>
      <p:sp>
        <p:nvSpPr>
          <p:cNvPr id="3" name="Content Placeholder 2">
            <a:extLst>
              <a:ext uri="{FF2B5EF4-FFF2-40B4-BE49-F238E27FC236}">
                <a16:creationId xmlns:a16="http://schemas.microsoft.com/office/drawing/2014/main" id="{BF7196C5-D485-9FA0-88D3-BD89112C70B3}"/>
              </a:ext>
            </a:extLst>
          </p:cNvPr>
          <p:cNvSpPr>
            <a:spLocks noGrp="1"/>
          </p:cNvSpPr>
          <p:nvPr>
            <p:ph idx="1"/>
          </p:nvPr>
        </p:nvSpPr>
        <p:spPr/>
        <p:txBody>
          <a:bodyPr/>
          <a:lstStyle/>
          <a:p>
            <a:pPr algn="ctr"/>
            <a:r>
              <a:rPr lang="en-US" dirty="0">
                <a:solidFill>
                  <a:srgbClr val="FF0000"/>
                </a:solidFill>
              </a:rPr>
              <a:t>THANK YOU ALL</a:t>
            </a:r>
          </a:p>
        </p:txBody>
      </p:sp>
    </p:spTree>
    <p:extLst>
      <p:ext uri="{BB962C8B-B14F-4D97-AF65-F5344CB8AC3E}">
        <p14:creationId xmlns:p14="http://schemas.microsoft.com/office/powerpoint/2010/main" val="29021402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224</TotalTime>
  <Words>3074</Words>
  <Application>Microsoft Office PowerPoint</Application>
  <PresentationFormat>Widescreen</PresentationFormat>
  <Paragraphs>251</Paragraphs>
  <Slides>28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Caladea</vt:lpstr>
      <vt:lpstr>Calibri</vt:lpstr>
      <vt:lpstr>Calibri Light</vt:lpstr>
      <vt:lpstr>Cambria</vt:lpstr>
      <vt:lpstr>Times New Roman</vt:lpstr>
      <vt:lpstr>Trebuchet MS</vt:lpstr>
      <vt:lpstr>Wingdings</vt:lpstr>
      <vt:lpstr>Wingdings 3</vt:lpstr>
      <vt:lpstr>Facet</vt:lpstr>
      <vt:lpstr>TAXATION</vt:lpstr>
      <vt:lpstr>INTRODUCTION TO TAXATION  </vt:lpstr>
      <vt:lpstr>INTRODUCTION TO TAXATION </vt:lpstr>
      <vt:lpstr>TYPES OF TAXES </vt:lpstr>
      <vt:lpstr>TYPES OF TAXES</vt:lpstr>
      <vt:lpstr>METHODS OF COLLECTING INCOME TAX</vt:lpstr>
      <vt:lpstr>METHODS OF COLLECTING INCOME TAX</vt:lpstr>
      <vt:lpstr>METHODS OF COLLECTING INCOME TAX(PAYE)</vt:lpstr>
      <vt:lpstr>METHODS OF COLLECTING INCOME TAX(PAYE)</vt:lpstr>
      <vt:lpstr>METHODS OF COLLECTING INCOME TAX(PAYE-ILLUSTRATION)</vt:lpstr>
      <vt:lpstr>METHODS OF COLLECTING INCOME TAX(PAYE)</vt:lpstr>
      <vt:lpstr>METHODS OF COLLECTING INCOME TAX</vt:lpstr>
      <vt:lpstr>TAX CREDITS</vt:lpstr>
      <vt:lpstr>TAX CREDITS</vt:lpstr>
      <vt:lpstr>CANONS OR PRINCIPLES OF TAXATION </vt:lpstr>
      <vt:lpstr>CANONS OR PRINCIPLES OF TAXATION</vt:lpstr>
      <vt:lpstr>CANONS OR PRINCIPLES OF TAXATION</vt:lpstr>
      <vt:lpstr>Purposes of taxation/why the government levy taxes. </vt:lpstr>
      <vt:lpstr>Purposes of taxation/why the government levy taxes.</vt:lpstr>
      <vt:lpstr>TAX AVOIDANCE </vt:lpstr>
      <vt:lpstr>TAX EVASION</vt:lpstr>
      <vt:lpstr>COSTS OF TAXATION </vt:lpstr>
      <vt:lpstr>Filling tax returns</vt:lpstr>
      <vt:lpstr>Filling tax returns</vt:lpstr>
      <vt:lpstr>Filling tax returns</vt:lpstr>
      <vt:lpstr>Filling tax returns</vt:lpstr>
      <vt:lpstr>Filling tax returns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54</cp:revision>
  <dcterms:created xsi:type="dcterms:W3CDTF">2024-11-20T09:32:43Z</dcterms:created>
  <dcterms:modified xsi:type="dcterms:W3CDTF">2024-11-21T14:12:51Z</dcterms:modified>
</cp:coreProperties>
</file>