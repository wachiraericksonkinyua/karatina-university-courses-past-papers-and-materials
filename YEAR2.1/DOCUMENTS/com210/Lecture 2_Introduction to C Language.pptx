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36"/>
  </p:notesMasterIdLst>
  <p:sldIdLst>
    <p:sldId id="256" r:id="rId2"/>
    <p:sldId id="272" r:id="rId3"/>
    <p:sldId id="273" r:id="rId4"/>
    <p:sldId id="274" r:id="rId5"/>
    <p:sldId id="275" r:id="rId6"/>
    <p:sldId id="276" r:id="rId7"/>
    <p:sldId id="277" r:id="rId8"/>
    <p:sldId id="278" r:id="rId9"/>
    <p:sldId id="279" r:id="rId10"/>
    <p:sldId id="280" r:id="rId11"/>
    <p:sldId id="281" r:id="rId12"/>
    <p:sldId id="282" r:id="rId13"/>
    <p:sldId id="283" r:id="rId14"/>
    <p:sldId id="284" r:id="rId15"/>
    <p:sldId id="285" r:id="rId16"/>
    <p:sldId id="286" r:id="rId17"/>
    <p:sldId id="287" r:id="rId18"/>
    <p:sldId id="288" r:id="rId19"/>
    <p:sldId id="289" r:id="rId20"/>
    <p:sldId id="290" r:id="rId21"/>
    <p:sldId id="291" r:id="rId22"/>
    <p:sldId id="292" r:id="rId23"/>
    <p:sldId id="293" r:id="rId24"/>
    <p:sldId id="294" r:id="rId25"/>
    <p:sldId id="295" r:id="rId26"/>
    <p:sldId id="296" r:id="rId27"/>
    <p:sldId id="297" r:id="rId28"/>
    <p:sldId id="298" r:id="rId29"/>
    <p:sldId id="299" r:id="rId30"/>
    <p:sldId id="300" r:id="rId31"/>
    <p:sldId id="301" r:id="rId32"/>
    <p:sldId id="302" r:id="rId33"/>
    <p:sldId id="303" r:id="rId34"/>
    <p:sldId id="304"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025" autoAdjust="0"/>
    <p:restoredTop sz="94660"/>
  </p:normalViewPr>
  <p:slideViewPr>
    <p:cSldViewPr snapToGrid="0">
      <p:cViewPr varScale="1">
        <p:scale>
          <a:sx n="89" d="100"/>
          <a:sy n="89" d="100"/>
        </p:scale>
        <p:origin x="864"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D6C2FE-DCD9-49FD-A768-934456BC73AC}" type="datetimeFigureOut">
              <a:rPr lang="en-US" smtClean="0"/>
              <a:t>10/09/2024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19DA13-635C-42A3-A39E-4FEBC52DCD86}" type="slidenum">
              <a:rPr lang="en-US" smtClean="0"/>
              <a:t>‹#›</a:t>
            </a:fld>
            <a:endParaRPr lang="en-US"/>
          </a:p>
        </p:txBody>
      </p:sp>
    </p:spTree>
    <p:extLst>
      <p:ext uri="{BB962C8B-B14F-4D97-AF65-F5344CB8AC3E}">
        <p14:creationId xmlns:p14="http://schemas.microsoft.com/office/powerpoint/2010/main" val="21776397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1E1BAEB7-A5ED-4D32-B589-A2BC714B47A6}" type="datetime1">
              <a:rPr lang="en-US" smtClean="0"/>
              <a:t>10/09/2024</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r>
              <a:rPr lang="en-US" smtClean="0"/>
              <a:t>Mr. Astone Owino | 0729378167 | aowino@karu.ac.ke</a:t>
            </a:r>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71766878-3199-4EAB-94E7-2D6D11070E14}" type="slidenum">
              <a:rPr lang="en-US" dirty="0"/>
              <a:pPr/>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1BDDC10-D885-4C09-8F2E-BF9759D436F9}" type="datetime1">
              <a:rPr lang="en-US" smtClean="0"/>
              <a:t>10/09/2024</a:t>
            </a:fld>
            <a:endParaRPr lang="en-US" dirty="0"/>
          </a:p>
        </p:txBody>
      </p:sp>
      <p:sp>
        <p:nvSpPr>
          <p:cNvPr id="5" name="Footer Placeholder 4"/>
          <p:cNvSpPr>
            <a:spLocks noGrp="1"/>
          </p:cNvSpPr>
          <p:nvPr>
            <p:ph type="ftr" sz="quarter" idx="11"/>
          </p:nvPr>
        </p:nvSpPr>
        <p:spPr/>
        <p:txBody>
          <a:bodyPr/>
          <a:lstStyle/>
          <a:p>
            <a:r>
              <a:rPr lang="en-US" smtClean="0"/>
              <a:t>Mr. Astone Owino | 0729378167 | aowino@karu.ac.ke</a:t>
            </a:r>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C727B08C-B49B-4A85-BD6B-8510F9C6A25B}" type="datetime1">
              <a:rPr lang="en-US" smtClean="0"/>
              <a:t>10/09/2024</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r>
              <a:rPr lang="en-US" smtClean="0"/>
              <a:t>Mr. Astone Owino | 0729378167 | aowino@karu.ac.ke</a:t>
            </a:r>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71766878-3199-4EAB-94E7-2D6D11070E14}" type="slidenum">
              <a:rPr lang="en-US" dirty="0"/>
              <a:pPr/>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A68D551-88F3-4F48-9DB8-8AFB614A0218}" type="datetime1">
              <a:rPr lang="en-US" smtClean="0"/>
              <a:t>10/09/2024</a:t>
            </a:fld>
            <a:endParaRPr lang="en-US" dirty="0"/>
          </a:p>
        </p:txBody>
      </p:sp>
      <p:sp>
        <p:nvSpPr>
          <p:cNvPr id="6" name="Footer Placeholder 5"/>
          <p:cNvSpPr>
            <a:spLocks noGrp="1"/>
          </p:cNvSpPr>
          <p:nvPr>
            <p:ph type="ftr" sz="quarter" idx="11"/>
          </p:nvPr>
        </p:nvSpPr>
        <p:spPr/>
        <p:txBody>
          <a:bodyPr/>
          <a:lstStyle/>
          <a:p>
            <a:r>
              <a:rPr lang="en-US" smtClean="0"/>
              <a:t>Mr. Astone Owino | 0729378167 | aowino@karu.ac.ke</a:t>
            </a:r>
            <a:endParaRPr lang="en-US" dirty="0"/>
          </a:p>
        </p:txBody>
      </p:sp>
      <p:sp>
        <p:nvSpPr>
          <p:cNvPr id="7" name="Slide Number Placeholder 6"/>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mod="1">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5185A6B-6C9D-4A74-815B-D6CFBA4A8B0D}" type="datetime1">
              <a:rPr lang="en-US" smtClean="0"/>
              <a:t>10/09/2024</a:t>
            </a:fld>
            <a:endParaRPr lang="en-US" dirty="0"/>
          </a:p>
        </p:txBody>
      </p:sp>
      <p:sp>
        <p:nvSpPr>
          <p:cNvPr id="8" name="Footer Placeholder 7"/>
          <p:cNvSpPr>
            <a:spLocks noGrp="1"/>
          </p:cNvSpPr>
          <p:nvPr>
            <p:ph type="ftr" sz="quarter" idx="11"/>
          </p:nvPr>
        </p:nvSpPr>
        <p:spPr/>
        <p:txBody>
          <a:bodyPr/>
          <a:lstStyle/>
          <a:p>
            <a:r>
              <a:rPr lang="en-US" smtClean="0"/>
              <a:t>Mr. Astone Owino | 0729378167 | aowino@karu.ac.ke</a:t>
            </a:r>
            <a:endParaRPr lang="en-US" dirty="0"/>
          </a:p>
        </p:txBody>
      </p:sp>
      <p:sp>
        <p:nvSpPr>
          <p:cNvPr id="9" name="Slide Number Placeholder 8"/>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extLst mod="1">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D46C4B-4B96-4DD2-80D7-E01F82E898A9}" type="datetime1">
              <a:rPr lang="en-US" smtClean="0"/>
              <a:t>10/09/2024</a:t>
            </a:fld>
            <a:endParaRPr lang="en-US" dirty="0"/>
          </a:p>
        </p:txBody>
      </p:sp>
      <p:sp>
        <p:nvSpPr>
          <p:cNvPr id="4" name="Footer Placeholder 3"/>
          <p:cNvSpPr>
            <a:spLocks noGrp="1"/>
          </p:cNvSpPr>
          <p:nvPr>
            <p:ph type="ftr" sz="quarter" idx="11"/>
          </p:nvPr>
        </p:nvSpPr>
        <p:spPr/>
        <p:txBody>
          <a:bodyPr/>
          <a:lstStyle/>
          <a:p>
            <a:r>
              <a:rPr lang="en-US" smtClean="0"/>
              <a:t>Mr. Astone Owino | 0729378167 | aowino@karu.ac.ke</a:t>
            </a:r>
            <a:endParaRPr lang="en-US" dirty="0"/>
          </a:p>
        </p:txBody>
      </p:sp>
      <p:sp>
        <p:nvSpPr>
          <p:cNvPr id="5" name="Slide Number Placeholder 4"/>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255B67-66FD-443B-9449-EF686213AB33}" type="datetime1">
              <a:rPr lang="en-US" smtClean="0"/>
              <a:t>10/09/2024</a:t>
            </a:fld>
            <a:endParaRPr lang="en-US" dirty="0"/>
          </a:p>
        </p:txBody>
      </p:sp>
      <p:sp>
        <p:nvSpPr>
          <p:cNvPr id="3" name="Footer Placeholder 2"/>
          <p:cNvSpPr>
            <a:spLocks noGrp="1"/>
          </p:cNvSpPr>
          <p:nvPr>
            <p:ph type="ftr" sz="quarter" idx="11"/>
          </p:nvPr>
        </p:nvSpPr>
        <p:spPr/>
        <p:txBody>
          <a:bodyPr/>
          <a:lstStyle/>
          <a:p>
            <a:r>
              <a:rPr lang="en-US" smtClean="0"/>
              <a:t>Mr. Astone Owino | 0729378167 | aowino@karu.ac.ke</a:t>
            </a:r>
            <a:endParaRPr lang="en-US" dirty="0"/>
          </a:p>
        </p:txBody>
      </p:sp>
      <p:sp>
        <p:nvSpPr>
          <p:cNvPr id="4" name="Slide Number Placeholder 3"/>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051" y="6375679"/>
            <a:ext cx="1233355" cy="348462"/>
          </a:xfrm>
        </p:spPr>
        <p:txBody>
          <a:bodyPr/>
          <a:lstStyle/>
          <a:p>
            <a:fld id="{6FA97B37-199B-42E3-A412-0C476A0E5C27}" type="datetime1">
              <a:rPr lang="en-US" smtClean="0"/>
              <a:t>10/09/2024</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r>
              <a:rPr lang="en-US" smtClean="0"/>
              <a:t>Mr. Astone Owino | 0729378167 | aowino@karu.ac.ke</a:t>
            </a:r>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71766878-3199-4EAB-94E7-2D6D11070E14}" type="slidenum">
              <a:rPr lang="en-US" dirty="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extLst mod="1">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765950" y="6375679"/>
            <a:ext cx="1232456" cy="348462"/>
          </a:xfrm>
        </p:spPr>
        <p:txBody>
          <a:bodyPr/>
          <a:lstStyle/>
          <a:p>
            <a:fld id="{DB911FC9-184E-433C-A882-06D0F38B8622}" type="datetime1">
              <a:rPr lang="en-US" smtClean="0"/>
              <a:t>10/09/2024</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r>
              <a:rPr lang="en-US" smtClean="0"/>
              <a:t>Mr. Astone Owino | 0729378167 | aowino@karu.ac.ke</a:t>
            </a:r>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71766878-3199-4EAB-94E7-2D6D11070E14}"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46AD12C-63D7-4CA2-83E1-C2D5ABC1FB9B}" type="datetime1">
              <a:rPr lang="en-US" smtClean="0"/>
              <a:t>10/09/2024</a:t>
            </a:fld>
            <a:endParaRPr lang="en-US" dirty="0"/>
          </a:p>
        </p:txBody>
      </p:sp>
      <p:sp>
        <p:nvSpPr>
          <p:cNvPr id="5" name="Footer Placeholder 4"/>
          <p:cNvSpPr>
            <a:spLocks noGrp="1"/>
          </p:cNvSpPr>
          <p:nvPr>
            <p:ph type="ftr" sz="quarter" idx="11"/>
          </p:nvPr>
        </p:nvSpPr>
        <p:spPr/>
        <p:txBody>
          <a:bodyPr/>
          <a:lstStyle/>
          <a:p>
            <a:r>
              <a:rPr lang="en-US" smtClean="0"/>
              <a:t>Mr. Astone Owino | 0729378167 | aowino@karu.ac.ke</a:t>
            </a:r>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A9DE5E-C8D9-4C68-9CCC-F53E0B7F3B75}" type="datetime1">
              <a:rPr lang="en-US" smtClean="0"/>
              <a:t>10/09/2024</a:t>
            </a:fld>
            <a:endParaRPr lang="en-US" dirty="0"/>
          </a:p>
        </p:txBody>
      </p:sp>
      <p:sp>
        <p:nvSpPr>
          <p:cNvPr id="5" name="Footer Placeholder 4"/>
          <p:cNvSpPr>
            <a:spLocks noGrp="1"/>
          </p:cNvSpPr>
          <p:nvPr>
            <p:ph type="ftr" sz="quarter" idx="11"/>
          </p:nvPr>
        </p:nvSpPr>
        <p:spPr/>
        <p:txBody>
          <a:bodyPr/>
          <a:lstStyle/>
          <a:p>
            <a:r>
              <a:rPr lang="en-US" smtClean="0"/>
              <a:t>Mr. Astone Owino | 0729378167 | aowino@karu.ac.ke</a:t>
            </a:r>
            <a:endParaRPr lang="en-US" dirty="0"/>
          </a:p>
        </p:txBody>
      </p:sp>
      <p:sp>
        <p:nvSpPr>
          <p:cNvPr id="6" name="Slide Number Placeholder 5"/>
          <p:cNvSpPr>
            <a:spLocks noGrp="1"/>
          </p:cNvSpPr>
          <p:nvPr>
            <p:ph type="sldNum" sz="quarter" idx="12"/>
          </p:nvPr>
        </p:nvSpPr>
        <p:spPr/>
        <p:txBody>
          <a:bodyPr/>
          <a:lstStyle/>
          <a:p>
            <a:fld id="{71766878-3199-4EAB-94E7-2D6D11070E14}"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71910D73-585E-464B-883E-3A1EAA3D085A}" type="datetime1">
              <a:rPr lang="en-US" smtClean="0"/>
              <a:t>10/09/2024</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r>
              <a:rPr lang="en-US" smtClean="0"/>
              <a:t>Mr. Astone Owino | 0729378167 | aowino@karu.ac.ke</a:t>
            </a:r>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71766878-3199-4EAB-94E7-2D6D11070E14}" type="slidenum">
              <a:rPr lang="en-US" dirty="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3125" y="617838"/>
            <a:ext cx="11598875" cy="5361358"/>
          </a:xfrm>
        </p:spPr>
        <p:txBody>
          <a:bodyPr/>
          <a:lstStyle/>
          <a:p>
            <a:r>
              <a:rPr lang="en-US" sz="6000" dirty="0" smtClean="0"/>
              <a:t>Introduction </a:t>
            </a:r>
            <a:r>
              <a:rPr lang="en-US" sz="6000" dirty="0"/>
              <a:t>to the C Language</a:t>
            </a:r>
            <a:endParaRPr lang="en-CA"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81029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ChangeArrowheads="1"/>
          </p:cNvSpPr>
          <p:nvPr/>
        </p:nvSpPr>
        <p:spPr>
          <a:xfrm>
            <a:off x="1021976" y="1354211"/>
            <a:ext cx="10623177" cy="3690938"/>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marL="457200" lvl="1" indent="0">
              <a:lnSpc>
                <a:spcPct val="90000"/>
              </a:lnSpc>
              <a:buNone/>
            </a:pPr>
            <a:endParaRPr lang="en-US" altLang="en-US" sz="3200" dirty="0">
              <a:solidFill>
                <a:schemeClr val="tx1"/>
              </a:solidFill>
            </a:endParaRPr>
          </a:p>
        </p:txBody>
      </p:sp>
      <p:sp>
        <p:nvSpPr>
          <p:cNvPr id="8" name="Rectangle 11"/>
          <p:cNvSpPr>
            <a:spLocks noChangeArrowheads="1"/>
          </p:cNvSpPr>
          <p:nvPr/>
        </p:nvSpPr>
        <p:spPr bwMode="auto">
          <a:xfrm>
            <a:off x="2241698" y="2305941"/>
            <a:ext cx="8077200" cy="584775"/>
          </a:xfrm>
          <a:prstGeom prst="rect">
            <a:avLst/>
          </a:prstGeom>
          <a:solidFill>
            <a:srgbClr val="99FF33"/>
          </a:solidFill>
          <a:ln>
            <a:noFill/>
          </a:ln>
          <a:effectLst/>
          <a:extLst>
            <a:ext uri="{91240B29-F687-4F45-9708-019B960494DF}">
              <a14:hiddenLine xmlns:a14="http://schemas.microsoft.com/office/drawing/2010/main" w="76200"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endParaRPr lang="en-US" altLang="en-US" sz="3200" i="0" baseline="0" dirty="0">
              <a:latin typeface="Arial" panose="020B0604020202020204" pitchFamily="34" charset="0"/>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spTree>
    <p:extLst>
      <p:ext uri="{BB962C8B-B14F-4D97-AF65-F5344CB8AC3E}">
        <p14:creationId xmlns:p14="http://schemas.microsoft.com/office/powerpoint/2010/main" val="1046969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2426284" y="176499"/>
            <a:ext cx="7772400" cy="906071"/>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dirty="0"/>
              <a:t>Background of C</a:t>
            </a:r>
          </a:p>
        </p:txBody>
      </p:sp>
      <p:sp>
        <p:nvSpPr>
          <p:cNvPr id="6" name="Rectangle 3"/>
          <p:cNvSpPr txBox="1">
            <a:spLocks noChangeArrowheads="1"/>
          </p:cNvSpPr>
          <p:nvPr/>
        </p:nvSpPr>
        <p:spPr>
          <a:xfrm>
            <a:off x="484657" y="882755"/>
            <a:ext cx="11499977" cy="5585500"/>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altLang="en-US" sz="2800" dirty="0" smtClean="0">
                <a:solidFill>
                  <a:schemeClr val="tx1"/>
                </a:solidFill>
              </a:rPr>
              <a:t>C is </a:t>
            </a:r>
            <a:r>
              <a:rPr lang="en-US" altLang="en-US" sz="2800" dirty="0">
                <a:solidFill>
                  <a:schemeClr val="tx1"/>
                </a:solidFill>
              </a:rPr>
              <a:t>a middle level language it combines the best elements of </a:t>
            </a:r>
            <a:r>
              <a:rPr lang="en-US" altLang="en-US" sz="2800" dirty="0" smtClean="0">
                <a:solidFill>
                  <a:schemeClr val="tx1"/>
                </a:solidFill>
              </a:rPr>
              <a:t>high-level languages </a:t>
            </a:r>
            <a:r>
              <a:rPr lang="en-US" altLang="en-US" sz="2800" dirty="0">
                <a:solidFill>
                  <a:schemeClr val="tx1"/>
                </a:solidFill>
              </a:rPr>
              <a:t>with the control and flexibility of assembly </a:t>
            </a:r>
            <a:r>
              <a:rPr lang="en-US" altLang="en-US" sz="2800" dirty="0" smtClean="0">
                <a:solidFill>
                  <a:schemeClr val="tx1"/>
                </a:solidFill>
              </a:rPr>
              <a:t>language.</a:t>
            </a:r>
          </a:p>
          <a:p>
            <a:pPr lvl="1">
              <a:lnSpc>
                <a:spcPct val="90000"/>
              </a:lnSpc>
              <a:buFont typeface="Arial" panose="020B0604020202020204" pitchFamily="34" charset="0"/>
              <a:buChar char="•"/>
            </a:pPr>
            <a:r>
              <a:rPr lang="en-US" altLang="en-US" sz="2800" dirty="0" smtClean="0">
                <a:solidFill>
                  <a:schemeClr val="tx1"/>
                </a:solidFill>
              </a:rPr>
              <a:t>Like </a:t>
            </a:r>
            <a:r>
              <a:rPr lang="en-US" altLang="en-US" sz="2800" dirty="0">
                <a:solidFill>
                  <a:schemeClr val="tx1"/>
                </a:solidFill>
              </a:rPr>
              <a:t>most modern languages, C is also derived from ALGOL 60 (</a:t>
            </a:r>
            <a:r>
              <a:rPr lang="en-US" altLang="en-US" sz="2800" dirty="0" smtClean="0">
                <a:solidFill>
                  <a:schemeClr val="tx1"/>
                </a:solidFill>
              </a:rPr>
              <a:t>1960).</a:t>
            </a:r>
          </a:p>
          <a:p>
            <a:pPr lvl="1">
              <a:lnSpc>
                <a:spcPct val="90000"/>
              </a:lnSpc>
              <a:buFont typeface="Arial" panose="020B0604020202020204" pitchFamily="34" charset="0"/>
              <a:buChar char="•"/>
            </a:pPr>
            <a:r>
              <a:rPr lang="en-US" altLang="en-US" sz="2800" dirty="0" smtClean="0">
                <a:solidFill>
                  <a:schemeClr val="tx1"/>
                </a:solidFill>
              </a:rPr>
              <a:t>Developed </a:t>
            </a:r>
            <a:r>
              <a:rPr lang="en-US" altLang="en-US" sz="2800" dirty="0">
                <a:solidFill>
                  <a:schemeClr val="tx1"/>
                </a:solidFill>
              </a:rPr>
              <a:t>by Dennis Ritchie in 1972 using many concepts from </a:t>
            </a:r>
            <a:r>
              <a:rPr lang="en-US" altLang="en-US" sz="2800" dirty="0" smtClean="0">
                <a:solidFill>
                  <a:schemeClr val="tx1"/>
                </a:solidFill>
              </a:rPr>
              <a:t>its predecessors </a:t>
            </a:r>
            <a:r>
              <a:rPr lang="en-US" altLang="en-US" sz="2800" dirty="0">
                <a:solidFill>
                  <a:schemeClr val="tx1"/>
                </a:solidFill>
              </a:rPr>
              <a:t>– ALGOL,BCPL and B and by adding the concept of </a:t>
            </a:r>
            <a:r>
              <a:rPr lang="en-US" altLang="en-US" sz="2800" dirty="0" smtClean="0">
                <a:solidFill>
                  <a:schemeClr val="tx1"/>
                </a:solidFill>
              </a:rPr>
              <a:t>data types.</a:t>
            </a:r>
          </a:p>
          <a:p>
            <a:pPr lvl="1">
              <a:lnSpc>
                <a:spcPct val="90000"/>
              </a:lnSpc>
              <a:buFont typeface="Arial" panose="020B0604020202020204" pitchFamily="34" charset="0"/>
              <a:buChar char="•"/>
            </a:pPr>
            <a:r>
              <a:rPr lang="en-US" altLang="en-US" sz="2800" dirty="0" smtClean="0">
                <a:solidFill>
                  <a:schemeClr val="tx1"/>
                </a:solidFill>
              </a:rPr>
              <a:t>American </a:t>
            </a:r>
            <a:r>
              <a:rPr lang="en-US" altLang="en-US" sz="2800" dirty="0">
                <a:solidFill>
                  <a:schemeClr val="tx1"/>
                </a:solidFill>
              </a:rPr>
              <a:t>National Standards Institute (ANSI) began the standardization </a:t>
            </a:r>
            <a:r>
              <a:rPr lang="en-US" altLang="en-US" sz="2800" dirty="0" smtClean="0">
                <a:solidFill>
                  <a:schemeClr val="tx1"/>
                </a:solidFill>
              </a:rPr>
              <a:t>of C </a:t>
            </a:r>
            <a:r>
              <a:rPr lang="en-US" altLang="en-US" sz="2800" dirty="0">
                <a:solidFill>
                  <a:schemeClr val="tx1"/>
                </a:solidFill>
              </a:rPr>
              <a:t>in 1983 which was approved in </a:t>
            </a:r>
            <a:r>
              <a:rPr lang="en-US" altLang="en-US" sz="2800" dirty="0" smtClean="0">
                <a:solidFill>
                  <a:schemeClr val="tx1"/>
                </a:solidFill>
              </a:rPr>
              <a:t>1989</a:t>
            </a:r>
          </a:p>
          <a:p>
            <a:pPr lvl="1">
              <a:lnSpc>
                <a:spcPct val="90000"/>
              </a:lnSpc>
              <a:buFont typeface="Arial" panose="020B0604020202020204" pitchFamily="34" charset="0"/>
              <a:buChar char="•"/>
            </a:pPr>
            <a:r>
              <a:rPr lang="en-US" altLang="en-US" sz="2800" dirty="0" smtClean="0">
                <a:solidFill>
                  <a:schemeClr val="tx1"/>
                </a:solidFill>
              </a:rPr>
              <a:t>In </a:t>
            </a:r>
            <a:r>
              <a:rPr lang="en-US" altLang="en-US" sz="2800" dirty="0">
                <a:solidFill>
                  <a:schemeClr val="tx1"/>
                </a:solidFill>
              </a:rPr>
              <a:t>1990 International Standards Organization (ISO) adopted the </a:t>
            </a:r>
            <a:r>
              <a:rPr lang="en-US" altLang="en-US" sz="2800" dirty="0" smtClean="0">
                <a:solidFill>
                  <a:schemeClr val="tx1"/>
                </a:solidFill>
              </a:rPr>
              <a:t>ANSI standard </a:t>
            </a:r>
            <a:r>
              <a:rPr lang="en-US" altLang="en-US" sz="2800" dirty="0">
                <a:solidFill>
                  <a:schemeClr val="tx1"/>
                </a:solidFill>
              </a:rPr>
              <a:t>version known as </a:t>
            </a:r>
            <a:r>
              <a:rPr lang="en-US" altLang="en-US" sz="2800" dirty="0" smtClean="0">
                <a:solidFill>
                  <a:schemeClr val="tx1"/>
                </a:solidFill>
              </a:rPr>
              <a:t>C89.</a:t>
            </a:r>
          </a:p>
          <a:p>
            <a:pPr lvl="1">
              <a:lnSpc>
                <a:spcPct val="90000"/>
              </a:lnSpc>
              <a:buFont typeface="Arial" panose="020B0604020202020204" pitchFamily="34" charset="0"/>
              <a:buChar char="•"/>
            </a:pPr>
            <a:r>
              <a:rPr lang="en-US" altLang="en-US" sz="2800" dirty="0" smtClean="0">
                <a:solidFill>
                  <a:schemeClr val="tx1"/>
                </a:solidFill>
              </a:rPr>
              <a:t>Minor </a:t>
            </a:r>
            <a:r>
              <a:rPr lang="en-US" altLang="en-US" sz="2800" dirty="0">
                <a:solidFill>
                  <a:schemeClr val="tx1"/>
                </a:solidFill>
              </a:rPr>
              <a:t>changes were made to C89 in 1995 which came to be known </a:t>
            </a:r>
            <a:r>
              <a:rPr lang="en-US" altLang="en-US" sz="2800" dirty="0" smtClean="0">
                <a:solidFill>
                  <a:schemeClr val="tx1"/>
                </a:solidFill>
              </a:rPr>
              <a:t>as C95</a:t>
            </a:r>
          </a:p>
          <a:p>
            <a:pPr lvl="1">
              <a:lnSpc>
                <a:spcPct val="90000"/>
              </a:lnSpc>
              <a:buFont typeface="Arial" panose="020B0604020202020204" pitchFamily="34" charset="0"/>
              <a:buChar char="•"/>
            </a:pPr>
            <a:r>
              <a:rPr lang="en-US" altLang="en-US" sz="2800" dirty="0" smtClean="0">
                <a:solidFill>
                  <a:schemeClr val="tx1"/>
                </a:solidFill>
              </a:rPr>
              <a:t>Much </a:t>
            </a:r>
            <a:r>
              <a:rPr lang="en-US" altLang="en-US" sz="2800" dirty="0">
                <a:solidFill>
                  <a:schemeClr val="tx1"/>
                </a:solidFill>
              </a:rPr>
              <a:t>more significant updates were made in 1999 and named as C99</a:t>
            </a: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spTree>
    <p:extLst>
      <p:ext uri="{BB962C8B-B14F-4D97-AF65-F5344CB8AC3E}">
        <p14:creationId xmlns:p14="http://schemas.microsoft.com/office/powerpoint/2010/main" val="31556764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2426284" y="176499"/>
            <a:ext cx="7772400" cy="906071"/>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dirty="0"/>
              <a:t>Features of C</a:t>
            </a:r>
          </a:p>
        </p:txBody>
      </p:sp>
      <p:sp>
        <p:nvSpPr>
          <p:cNvPr id="6" name="Rectangle 3"/>
          <p:cNvSpPr txBox="1">
            <a:spLocks noChangeArrowheads="1"/>
          </p:cNvSpPr>
          <p:nvPr/>
        </p:nvSpPr>
        <p:spPr>
          <a:xfrm>
            <a:off x="675801" y="790179"/>
            <a:ext cx="11215691" cy="5585500"/>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altLang="en-US" sz="3200" dirty="0">
                <a:solidFill>
                  <a:schemeClr val="tx1"/>
                </a:solidFill>
              </a:rPr>
              <a:t>C is a structured programming language which allows </a:t>
            </a:r>
            <a:r>
              <a:rPr lang="en-US" altLang="en-US" sz="3200" dirty="0" smtClean="0">
                <a:solidFill>
                  <a:schemeClr val="tx1"/>
                </a:solidFill>
              </a:rPr>
              <a:t>compartmentalization of </a:t>
            </a:r>
            <a:r>
              <a:rPr lang="en-US" altLang="en-US" sz="3200" dirty="0">
                <a:solidFill>
                  <a:schemeClr val="tx1"/>
                </a:solidFill>
              </a:rPr>
              <a:t>code and </a:t>
            </a:r>
            <a:r>
              <a:rPr lang="en-US" altLang="en-US" sz="3200" dirty="0" smtClean="0">
                <a:solidFill>
                  <a:schemeClr val="tx1"/>
                </a:solidFill>
              </a:rPr>
              <a:t>data.</a:t>
            </a:r>
          </a:p>
          <a:p>
            <a:pPr lvl="1">
              <a:lnSpc>
                <a:spcPct val="90000"/>
              </a:lnSpc>
              <a:buFont typeface="Arial" panose="020B0604020202020204" pitchFamily="34" charset="0"/>
              <a:buChar char="•"/>
            </a:pPr>
            <a:r>
              <a:rPr lang="en-US" altLang="en-US" sz="3200" dirty="0">
                <a:solidFill>
                  <a:schemeClr val="tx1"/>
                </a:solidFill>
              </a:rPr>
              <a:t>A structured language offers a variety of programming possibilities. </a:t>
            </a:r>
            <a:r>
              <a:rPr lang="en-US" altLang="en-US" sz="3200" dirty="0" smtClean="0">
                <a:solidFill>
                  <a:schemeClr val="tx1"/>
                </a:solidFill>
              </a:rPr>
              <a:t>For example</a:t>
            </a:r>
            <a:r>
              <a:rPr lang="en-US" altLang="en-US" sz="3200" dirty="0">
                <a:solidFill>
                  <a:schemeClr val="tx1"/>
                </a:solidFill>
              </a:rPr>
              <a:t>, structured languages typically support several loop </a:t>
            </a:r>
            <a:r>
              <a:rPr lang="en-US" altLang="en-US" sz="3200" dirty="0" smtClean="0">
                <a:solidFill>
                  <a:schemeClr val="tx1"/>
                </a:solidFill>
              </a:rPr>
              <a:t>constructs, such </a:t>
            </a:r>
            <a:r>
              <a:rPr lang="en-US" altLang="en-US" sz="3200" dirty="0">
                <a:solidFill>
                  <a:schemeClr val="tx1"/>
                </a:solidFill>
              </a:rPr>
              <a:t>as </a:t>
            </a:r>
            <a:r>
              <a:rPr lang="en-US" altLang="en-US" sz="3200" b="1" dirty="0">
                <a:solidFill>
                  <a:schemeClr val="tx1"/>
                </a:solidFill>
              </a:rPr>
              <a:t>while</a:t>
            </a:r>
            <a:r>
              <a:rPr lang="en-US" altLang="en-US" sz="3200" dirty="0">
                <a:solidFill>
                  <a:schemeClr val="tx1"/>
                </a:solidFill>
              </a:rPr>
              <a:t>, </a:t>
            </a:r>
            <a:r>
              <a:rPr lang="en-US" altLang="en-US" sz="3200" b="1" dirty="0">
                <a:solidFill>
                  <a:schemeClr val="tx1"/>
                </a:solidFill>
              </a:rPr>
              <a:t>do-while</a:t>
            </a:r>
            <a:r>
              <a:rPr lang="en-US" altLang="en-US" sz="3200" dirty="0">
                <a:solidFill>
                  <a:schemeClr val="tx1"/>
                </a:solidFill>
              </a:rPr>
              <a:t>, and </a:t>
            </a:r>
            <a:r>
              <a:rPr lang="en-US" altLang="en-US" sz="3200" b="1" dirty="0" smtClean="0">
                <a:solidFill>
                  <a:schemeClr val="tx1"/>
                </a:solidFill>
              </a:rPr>
              <a:t>for.</a:t>
            </a:r>
          </a:p>
          <a:p>
            <a:pPr lvl="1">
              <a:lnSpc>
                <a:spcPct val="90000"/>
              </a:lnSpc>
              <a:buFont typeface="Arial" panose="020B0604020202020204" pitchFamily="34" charset="0"/>
              <a:buChar char="•"/>
            </a:pPr>
            <a:r>
              <a:rPr lang="en-US" altLang="en-US" sz="3200" dirty="0">
                <a:solidFill>
                  <a:schemeClr val="tx1"/>
                </a:solidFill>
              </a:rPr>
              <a:t>A structured language allows one to place statements anywhere on a </a:t>
            </a:r>
            <a:r>
              <a:rPr lang="en-US" altLang="en-US" sz="3200" dirty="0" smtClean="0">
                <a:solidFill>
                  <a:schemeClr val="tx1"/>
                </a:solidFill>
              </a:rPr>
              <a:t>line and </a:t>
            </a:r>
            <a:r>
              <a:rPr lang="en-US" altLang="en-US" sz="3200" dirty="0">
                <a:solidFill>
                  <a:schemeClr val="tx1"/>
                </a:solidFill>
              </a:rPr>
              <a:t>does not require a strict field </a:t>
            </a:r>
            <a:r>
              <a:rPr lang="en-US" altLang="en-US" sz="3200" dirty="0" smtClean="0">
                <a:solidFill>
                  <a:schemeClr val="tx1"/>
                </a:solidFill>
              </a:rPr>
              <a:t>concept.</a:t>
            </a:r>
          </a:p>
          <a:p>
            <a:pPr lvl="1">
              <a:lnSpc>
                <a:spcPct val="90000"/>
              </a:lnSpc>
              <a:buFont typeface="Arial" panose="020B0604020202020204" pitchFamily="34" charset="0"/>
              <a:buChar char="•"/>
            </a:pPr>
            <a:r>
              <a:rPr lang="en-US" altLang="en-US" sz="3200" dirty="0">
                <a:solidFill>
                  <a:schemeClr val="tx1"/>
                </a:solidFill>
              </a:rPr>
              <a:t>In a structured language, the use of </a:t>
            </a:r>
            <a:r>
              <a:rPr lang="en-US" altLang="en-US" sz="3200" b="1" dirty="0" err="1">
                <a:solidFill>
                  <a:schemeClr val="tx1"/>
                </a:solidFill>
              </a:rPr>
              <a:t>goto</a:t>
            </a:r>
            <a:r>
              <a:rPr lang="en-US" altLang="en-US" sz="3200" dirty="0">
                <a:solidFill>
                  <a:schemeClr val="tx1"/>
                </a:solidFill>
              </a:rPr>
              <a:t> is either prohibited </a:t>
            </a:r>
            <a:r>
              <a:rPr lang="en-US" altLang="en-US" sz="3200" dirty="0" smtClean="0">
                <a:solidFill>
                  <a:schemeClr val="tx1"/>
                </a:solidFill>
              </a:rPr>
              <a:t>or discouraged </a:t>
            </a:r>
            <a:r>
              <a:rPr lang="en-US" altLang="en-US" sz="3200" dirty="0">
                <a:solidFill>
                  <a:schemeClr val="tx1"/>
                </a:solidFill>
              </a:rPr>
              <a:t>and is not the common form of program </a:t>
            </a:r>
            <a:r>
              <a:rPr lang="en-US" altLang="en-US" sz="3200" dirty="0" smtClean="0">
                <a:solidFill>
                  <a:schemeClr val="tx1"/>
                </a:solidFill>
              </a:rPr>
              <a:t>control</a:t>
            </a:r>
            <a:r>
              <a:rPr lang="en-US" altLang="en-US" sz="3200" dirty="0" smtClean="0">
                <a:solidFill>
                  <a:schemeClr val="tx1"/>
                </a:solidFill>
              </a:rPr>
              <a:t>. </a:t>
            </a:r>
            <a:endParaRPr lang="en-US" altLang="en-US" sz="3200" dirty="0">
              <a:solidFill>
                <a:schemeClr val="tx1"/>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spTree>
    <p:extLst>
      <p:ext uri="{BB962C8B-B14F-4D97-AF65-F5344CB8AC3E}">
        <p14:creationId xmlns:p14="http://schemas.microsoft.com/office/powerpoint/2010/main" val="4283633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2426283" y="176499"/>
            <a:ext cx="8831329" cy="906071"/>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dirty="0"/>
              <a:t>Structure of a C Program</a:t>
            </a: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pic>
        <p:nvPicPr>
          <p:cNvPr id="3" name="Picture 2"/>
          <p:cNvPicPr>
            <a:picLocks noChangeAspect="1"/>
          </p:cNvPicPr>
          <p:nvPr/>
        </p:nvPicPr>
        <p:blipFill>
          <a:blip r:embed="rId2"/>
          <a:stretch>
            <a:fillRect/>
          </a:stretch>
        </p:blipFill>
        <p:spPr>
          <a:xfrm>
            <a:off x="1580477" y="933080"/>
            <a:ext cx="8709285" cy="5343861"/>
          </a:xfrm>
          <a:prstGeom prst="rect">
            <a:avLst/>
          </a:prstGeom>
        </p:spPr>
      </p:pic>
    </p:spTree>
    <p:extLst>
      <p:ext uri="{BB962C8B-B14F-4D97-AF65-F5344CB8AC3E}">
        <p14:creationId xmlns:p14="http://schemas.microsoft.com/office/powerpoint/2010/main" val="296916452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499"/>
            <a:ext cx="10110864" cy="906071"/>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dirty="0"/>
              <a:t>Dissecting a minimal C program</a:t>
            </a:r>
          </a:p>
        </p:txBody>
      </p:sp>
      <p:sp>
        <p:nvSpPr>
          <p:cNvPr id="6" name="Rectangle 3"/>
          <p:cNvSpPr txBox="1">
            <a:spLocks noChangeArrowheads="1"/>
          </p:cNvSpPr>
          <p:nvPr/>
        </p:nvSpPr>
        <p:spPr>
          <a:xfrm>
            <a:off x="838018" y="852774"/>
            <a:ext cx="10987426" cy="5585500"/>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endParaRPr lang="en-US" altLang="en-US" sz="3200" dirty="0" smtClean="0">
              <a:solidFill>
                <a:schemeClr val="tx1"/>
              </a:solidFill>
            </a:endParaRPr>
          </a:p>
          <a:p>
            <a:pPr lvl="1">
              <a:lnSpc>
                <a:spcPct val="90000"/>
              </a:lnSpc>
              <a:buFont typeface="Arial" panose="020B0604020202020204" pitchFamily="34" charset="0"/>
              <a:buChar char="•"/>
            </a:pPr>
            <a:endParaRPr lang="en-US" altLang="en-US" sz="3200" dirty="0">
              <a:solidFill>
                <a:schemeClr val="tx1"/>
              </a:solidFill>
            </a:endParaRPr>
          </a:p>
          <a:p>
            <a:pPr lvl="1">
              <a:lnSpc>
                <a:spcPct val="90000"/>
              </a:lnSpc>
              <a:buFont typeface="Arial" panose="020B0604020202020204" pitchFamily="34" charset="0"/>
              <a:buChar char="•"/>
            </a:pPr>
            <a:endParaRPr lang="en-US" altLang="en-US" sz="3200" dirty="0" smtClean="0">
              <a:solidFill>
                <a:schemeClr val="tx1"/>
              </a:solidFill>
            </a:endParaRPr>
          </a:p>
          <a:p>
            <a:pPr lvl="1">
              <a:lnSpc>
                <a:spcPct val="90000"/>
              </a:lnSpc>
              <a:buFont typeface="Arial" panose="020B0604020202020204" pitchFamily="34" charset="0"/>
              <a:buChar char="•"/>
            </a:pPr>
            <a:endParaRPr lang="en-US" altLang="en-US" sz="3200" dirty="0">
              <a:solidFill>
                <a:schemeClr val="tx1"/>
              </a:solidFill>
            </a:endParaRPr>
          </a:p>
          <a:p>
            <a:pPr lvl="1">
              <a:lnSpc>
                <a:spcPct val="90000"/>
              </a:lnSpc>
              <a:buFont typeface="Arial" panose="020B0604020202020204" pitchFamily="34" charset="0"/>
              <a:buChar char="•"/>
            </a:pPr>
            <a:endParaRPr lang="en-US" altLang="en-US" sz="3200" dirty="0" smtClean="0">
              <a:solidFill>
                <a:schemeClr val="tx1"/>
              </a:solidFill>
            </a:endParaRPr>
          </a:p>
          <a:p>
            <a:pPr marL="457200" lvl="1" indent="0">
              <a:lnSpc>
                <a:spcPct val="90000"/>
              </a:lnSpc>
              <a:buNone/>
            </a:pPr>
            <a:endParaRPr lang="en-US" altLang="en-US" sz="3200" dirty="0">
              <a:solidFill>
                <a:schemeClr val="tx1"/>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pic>
        <p:nvPicPr>
          <p:cNvPr id="3" name="Picture 2"/>
          <p:cNvPicPr>
            <a:picLocks noChangeAspect="1"/>
          </p:cNvPicPr>
          <p:nvPr/>
        </p:nvPicPr>
        <p:blipFill>
          <a:blip r:embed="rId2"/>
          <a:stretch>
            <a:fillRect/>
          </a:stretch>
        </p:blipFill>
        <p:spPr>
          <a:xfrm>
            <a:off x="834254" y="1517284"/>
            <a:ext cx="11073776" cy="4014087"/>
          </a:xfrm>
          <a:prstGeom prst="rect">
            <a:avLst/>
          </a:prstGeom>
        </p:spPr>
      </p:pic>
    </p:spTree>
    <p:extLst>
      <p:ext uri="{BB962C8B-B14F-4D97-AF65-F5344CB8AC3E}">
        <p14:creationId xmlns:p14="http://schemas.microsoft.com/office/powerpoint/2010/main" val="2056170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499"/>
            <a:ext cx="10110864" cy="906071"/>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dirty="0"/>
              <a:t>Dissecting a minimal C program</a:t>
            </a:r>
          </a:p>
        </p:txBody>
      </p:sp>
      <p:sp>
        <p:nvSpPr>
          <p:cNvPr id="6" name="Rectangle 3"/>
          <p:cNvSpPr txBox="1">
            <a:spLocks noChangeArrowheads="1"/>
          </p:cNvSpPr>
          <p:nvPr/>
        </p:nvSpPr>
        <p:spPr>
          <a:xfrm>
            <a:off x="794842" y="848918"/>
            <a:ext cx="11105237" cy="5624862"/>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altLang="en-US" sz="3200" dirty="0" smtClean="0">
                <a:solidFill>
                  <a:schemeClr val="tx1"/>
                </a:solidFill>
              </a:rPr>
              <a:t>The first C program has.</a:t>
            </a:r>
          </a:p>
          <a:p>
            <a:pPr lvl="3">
              <a:lnSpc>
                <a:spcPct val="90000"/>
              </a:lnSpc>
            </a:pPr>
            <a:r>
              <a:rPr lang="en-US" altLang="en-US" sz="2800" b="1" dirty="0">
                <a:solidFill>
                  <a:schemeClr val="tx1"/>
                </a:solidFill>
              </a:rPr>
              <a:t>Preprocessor </a:t>
            </a:r>
            <a:r>
              <a:rPr lang="en-US" altLang="en-US" sz="2800" b="1" dirty="0" smtClean="0">
                <a:solidFill>
                  <a:schemeClr val="tx1"/>
                </a:solidFill>
              </a:rPr>
              <a:t>Commands- </a:t>
            </a:r>
            <a:r>
              <a:rPr lang="en-US" altLang="en-US" sz="2800" dirty="0" smtClean="0">
                <a:solidFill>
                  <a:schemeClr val="tx1"/>
                </a:solidFill>
              </a:rPr>
              <a:t>placed at the beginning starting with #, tells the computer </a:t>
            </a:r>
            <a:r>
              <a:rPr lang="en-US" altLang="en-US" sz="2800" dirty="0">
                <a:solidFill>
                  <a:schemeClr val="tx1"/>
                </a:solidFill>
              </a:rPr>
              <a:t>to include standard input/output library file (</a:t>
            </a:r>
            <a:r>
              <a:rPr lang="en-US" altLang="en-US" sz="2800" dirty="0" err="1">
                <a:solidFill>
                  <a:schemeClr val="tx1"/>
                </a:solidFill>
              </a:rPr>
              <a:t>stdio.h</a:t>
            </a:r>
            <a:r>
              <a:rPr lang="en-US" altLang="en-US" sz="2800" dirty="0" smtClean="0">
                <a:solidFill>
                  <a:schemeClr val="tx1"/>
                </a:solidFill>
              </a:rPr>
              <a:t>) needed to print the message. </a:t>
            </a:r>
            <a:r>
              <a:rPr lang="en-US" altLang="en-US" sz="2800" dirty="0" err="1" smtClean="0">
                <a:solidFill>
                  <a:schemeClr val="tx1"/>
                </a:solidFill>
              </a:rPr>
              <a:t>Wrt</a:t>
            </a:r>
            <a:r>
              <a:rPr lang="en-US" altLang="en-US" sz="2800" dirty="0" smtClean="0">
                <a:solidFill>
                  <a:schemeClr val="tx1"/>
                </a:solidFill>
              </a:rPr>
              <a:t> bet &lt;&gt;</a:t>
            </a:r>
          </a:p>
          <a:p>
            <a:pPr marL="1371600" lvl="3" indent="0">
              <a:lnSpc>
                <a:spcPct val="90000"/>
              </a:lnSpc>
              <a:buNone/>
            </a:pPr>
            <a:endParaRPr lang="en-US" altLang="en-US" sz="2800" dirty="0" smtClean="0">
              <a:solidFill>
                <a:schemeClr val="tx1"/>
              </a:solidFill>
            </a:endParaRPr>
          </a:p>
          <a:p>
            <a:pPr marL="1371600" lvl="3" indent="0">
              <a:lnSpc>
                <a:spcPct val="90000"/>
              </a:lnSpc>
              <a:buNone/>
            </a:pPr>
            <a:endParaRPr lang="en-US" altLang="en-US" sz="2800" dirty="0">
              <a:solidFill>
                <a:schemeClr val="tx1"/>
              </a:solidFill>
            </a:endParaRPr>
          </a:p>
          <a:p>
            <a:pPr marL="1371600" lvl="3" indent="0">
              <a:lnSpc>
                <a:spcPct val="90000"/>
              </a:lnSpc>
              <a:buNone/>
            </a:pPr>
            <a:endParaRPr lang="en-US" altLang="en-US" sz="2800" dirty="0" smtClean="0">
              <a:solidFill>
                <a:schemeClr val="tx1"/>
              </a:solidFill>
            </a:endParaRPr>
          </a:p>
          <a:p>
            <a:pPr marL="1371600" lvl="3" indent="0">
              <a:lnSpc>
                <a:spcPct val="90000"/>
              </a:lnSpc>
              <a:buNone/>
            </a:pPr>
            <a:endParaRPr lang="en-US" altLang="en-US" sz="2800" dirty="0" smtClean="0">
              <a:solidFill>
                <a:schemeClr val="tx1"/>
              </a:solidFill>
            </a:endParaRPr>
          </a:p>
          <a:p>
            <a:pPr lvl="3">
              <a:lnSpc>
                <a:spcPct val="90000"/>
              </a:lnSpc>
            </a:pPr>
            <a:endParaRPr lang="en-US" altLang="en-US" sz="2800" dirty="0" smtClean="0">
              <a:solidFill>
                <a:schemeClr val="tx1"/>
              </a:solidFill>
            </a:endParaRPr>
          </a:p>
          <a:p>
            <a:pPr lvl="3">
              <a:lnSpc>
                <a:spcPct val="90000"/>
              </a:lnSpc>
            </a:pPr>
            <a:r>
              <a:rPr lang="en-US" altLang="en-US" sz="2800" b="1" dirty="0" smtClean="0">
                <a:solidFill>
                  <a:schemeClr val="tx1"/>
                </a:solidFill>
              </a:rPr>
              <a:t>Main function</a:t>
            </a:r>
            <a:r>
              <a:rPr lang="en-US" altLang="en-US" sz="2800" dirty="0">
                <a:solidFill>
                  <a:schemeClr val="tx1"/>
                </a:solidFill>
              </a:rPr>
              <a:t>-Executable part of the program begins with main </a:t>
            </a:r>
            <a:r>
              <a:rPr lang="en-US" altLang="en-US" sz="2800" dirty="0" smtClean="0">
                <a:solidFill>
                  <a:schemeClr val="tx1"/>
                </a:solidFill>
              </a:rPr>
              <a:t>function General Syntax: </a:t>
            </a:r>
            <a:r>
              <a:rPr lang="en-US" altLang="en-US" sz="2800" dirty="0" err="1" smtClean="0">
                <a:solidFill>
                  <a:schemeClr val="tx1"/>
                </a:solidFill>
              </a:rPr>
              <a:t>int</a:t>
            </a:r>
            <a:r>
              <a:rPr lang="en-US" altLang="en-US" sz="2800" dirty="0" smtClean="0">
                <a:solidFill>
                  <a:schemeClr val="tx1"/>
                </a:solidFill>
              </a:rPr>
              <a:t> </a:t>
            </a:r>
            <a:r>
              <a:rPr lang="en-US" altLang="en-US" sz="2800" dirty="0" smtClean="0">
                <a:solidFill>
                  <a:schemeClr val="tx1"/>
                </a:solidFill>
              </a:rPr>
              <a:t>main. </a:t>
            </a:r>
            <a:r>
              <a:rPr lang="en-US" altLang="en-US" sz="2800" dirty="0" smtClean="0">
                <a:solidFill>
                  <a:schemeClr val="tx1"/>
                </a:solidFill>
              </a:rPr>
              <a:t>“</a:t>
            </a:r>
            <a:r>
              <a:rPr lang="en-US" altLang="en-US" sz="2800" dirty="0" err="1" smtClean="0">
                <a:solidFill>
                  <a:schemeClr val="tx1"/>
                </a:solidFill>
              </a:rPr>
              <a:t>int</a:t>
            </a:r>
            <a:r>
              <a:rPr lang="en-US" altLang="en-US" sz="2800" dirty="0" smtClean="0">
                <a:solidFill>
                  <a:schemeClr val="tx1"/>
                </a:solidFill>
              </a:rPr>
              <a:t>” indicates the function will return an integer. “void” main does not require any parameters.</a:t>
            </a: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pic>
        <p:nvPicPr>
          <p:cNvPr id="4" name="Picture 3"/>
          <p:cNvPicPr>
            <a:picLocks noChangeAspect="1"/>
          </p:cNvPicPr>
          <p:nvPr/>
        </p:nvPicPr>
        <p:blipFill>
          <a:blip r:embed="rId2"/>
          <a:stretch>
            <a:fillRect/>
          </a:stretch>
        </p:blipFill>
        <p:spPr>
          <a:xfrm>
            <a:off x="1821071" y="2708600"/>
            <a:ext cx="8549858" cy="2139150"/>
          </a:xfrm>
          <a:prstGeom prst="rect">
            <a:avLst/>
          </a:prstGeom>
        </p:spPr>
      </p:pic>
    </p:spTree>
    <p:extLst>
      <p:ext uri="{BB962C8B-B14F-4D97-AF65-F5344CB8AC3E}">
        <p14:creationId xmlns:p14="http://schemas.microsoft.com/office/powerpoint/2010/main" val="2466993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499"/>
            <a:ext cx="10110864" cy="906071"/>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dirty="0"/>
              <a:t>Creating and Compiling the minimal C program</a:t>
            </a:r>
          </a:p>
        </p:txBody>
      </p:sp>
      <p:sp>
        <p:nvSpPr>
          <p:cNvPr id="6" name="Rectangle 3"/>
          <p:cNvSpPr txBox="1">
            <a:spLocks noChangeArrowheads="1"/>
          </p:cNvSpPr>
          <p:nvPr/>
        </p:nvSpPr>
        <p:spPr>
          <a:xfrm>
            <a:off x="656002" y="1693742"/>
            <a:ext cx="11092357" cy="4915443"/>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marL="457200" lvl="1" indent="0">
              <a:lnSpc>
                <a:spcPct val="90000"/>
              </a:lnSpc>
              <a:buNone/>
            </a:pPr>
            <a:endParaRPr lang="en-US" altLang="en-US" sz="2800" dirty="0" smtClean="0">
              <a:solidFill>
                <a:schemeClr val="tx1"/>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pic>
        <p:nvPicPr>
          <p:cNvPr id="3" name="Picture 2"/>
          <p:cNvPicPr>
            <a:picLocks noChangeAspect="1"/>
          </p:cNvPicPr>
          <p:nvPr/>
        </p:nvPicPr>
        <p:blipFill>
          <a:blip r:embed="rId2"/>
          <a:stretch>
            <a:fillRect/>
          </a:stretch>
        </p:blipFill>
        <p:spPr>
          <a:xfrm>
            <a:off x="1757266" y="1971207"/>
            <a:ext cx="9383843" cy="3793154"/>
          </a:xfrm>
          <a:prstGeom prst="rect">
            <a:avLst/>
          </a:prstGeom>
        </p:spPr>
      </p:pic>
    </p:spTree>
    <p:extLst>
      <p:ext uri="{BB962C8B-B14F-4D97-AF65-F5344CB8AC3E}">
        <p14:creationId xmlns:p14="http://schemas.microsoft.com/office/powerpoint/2010/main" val="4072243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499"/>
            <a:ext cx="10601610" cy="906071"/>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dirty="0"/>
              <a:t>Summary of writing and executing a C program</a:t>
            </a:r>
          </a:p>
        </p:txBody>
      </p:sp>
      <p:sp>
        <p:nvSpPr>
          <p:cNvPr id="6" name="Rectangle 3"/>
          <p:cNvSpPr txBox="1">
            <a:spLocks noChangeArrowheads="1"/>
          </p:cNvSpPr>
          <p:nvPr/>
        </p:nvSpPr>
        <p:spPr>
          <a:xfrm>
            <a:off x="760933" y="1633134"/>
            <a:ext cx="10913203" cy="4915443"/>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marL="457200" lvl="1" indent="0">
              <a:lnSpc>
                <a:spcPct val="90000"/>
              </a:lnSpc>
              <a:buNone/>
            </a:pPr>
            <a:endParaRPr lang="en-US" altLang="en-US" sz="2800" dirty="0" smtClean="0">
              <a:solidFill>
                <a:schemeClr val="tx1"/>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pic>
        <p:nvPicPr>
          <p:cNvPr id="4" name="Picture 3"/>
          <p:cNvPicPr>
            <a:picLocks noChangeAspect="1"/>
          </p:cNvPicPr>
          <p:nvPr/>
        </p:nvPicPr>
        <p:blipFill>
          <a:blip r:embed="rId2"/>
          <a:stretch>
            <a:fillRect/>
          </a:stretch>
        </p:blipFill>
        <p:spPr>
          <a:xfrm>
            <a:off x="4038600" y="1528997"/>
            <a:ext cx="4498297" cy="4924781"/>
          </a:xfrm>
          <a:prstGeom prst="rect">
            <a:avLst/>
          </a:prstGeom>
        </p:spPr>
      </p:pic>
    </p:spTree>
    <p:extLst>
      <p:ext uri="{BB962C8B-B14F-4D97-AF65-F5344CB8AC3E}">
        <p14:creationId xmlns:p14="http://schemas.microsoft.com/office/powerpoint/2010/main" val="703889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499"/>
            <a:ext cx="10601610" cy="906071"/>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dirty="0"/>
              <a:t>C Comments</a:t>
            </a:r>
          </a:p>
        </p:txBody>
      </p:sp>
      <p:sp>
        <p:nvSpPr>
          <p:cNvPr id="6" name="Rectangle 3"/>
          <p:cNvSpPr txBox="1">
            <a:spLocks noChangeArrowheads="1"/>
          </p:cNvSpPr>
          <p:nvPr/>
        </p:nvSpPr>
        <p:spPr>
          <a:xfrm>
            <a:off x="669319" y="1175934"/>
            <a:ext cx="10976365" cy="4915443"/>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altLang="en-US" sz="2800" dirty="0" smtClean="0">
                <a:solidFill>
                  <a:schemeClr val="tx1"/>
                </a:solidFill>
              </a:rPr>
              <a:t>/*Help </a:t>
            </a:r>
            <a:r>
              <a:rPr lang="en-US" altLang="en-US" sz="2800" dirty="0">
                <a:solidFill>
                  <a:schemeClr val="tx1"/>
                </a:solidFill>
              </a:rPr>
              <a:t>the reader </a:t>
            </a:r>
            <a:r>
              <a:rPr lang="en-US" altLang="en-US" sz="2800" dirty="0" smtClean="0">
                <a:solidFill>
                  <a:schemeClr val="tx1"/>
                </a:solidFill>
              </a:rPr>
              <a:t>to understand </a:t>
            </a:r>
            <a:r>
              <a:rPr lang="en-US" altLang="en-US" sz="2800" dirty="0">
                <a:solidFill>
                  <a:schemeClr val="tx1"/>
                </a:solidFill>
              </a:rPr>
              <a:t>the meaning of sections of code which are not very </a:t>
            </a:r>
            <a:r>
              <a:rPr lang="en-US" altLang="en-US" sz="2800" dirty="0" smtClean="0">
                <a:solidFill>
                  <a:schemeClr val="tx1"/>
                </a:solidFill>
              </a:rPr>
              <a:t>clear.</a:t>
            </a:r>
          </a:p>
          <a:p>
            <a:pPr lvl="1">
              <a:lnSpc>
                <a:spcPct val="90000"/>
              </a:lnSpc>
              <a:buFont typeface="Arial" panose="020B0604020202020204" pitchFamily="34" charset="0"/>
              <a:buChar char="•"/>
            </a:pPr>
            <a:r>
              <a:rPr lang="en-US" altLang="en-US" sz="2800" dirty="0" smtClean="0">
                <a:solidFill>
                  <a:schemeClr val="tx1"/>
                </a:solidFill>
              </a:rPr>
              <a:t>Are internal program documentation.</a:t>
            </a:r>
          </a:p>
          <a:p>
            <a:pPr lvl="1">
              <a:lnSpc>
                <a:spcPct val="90000"/>
              </a:lnSpc>
              <a:buFont typeface="Arial" panose="020B0604020202020204" pitchFamily="34" charset="0"/>
              <a:buChar char="•"/>
            </a:pPr>
            <a:r>
              <a:rPr lang="en-US" altLang="en-US" sz="2800" dirty="0" smtClean="0">
                <a:solidFill>
                  <a:schemeClr val="tx1"/>
                </a:solidFill>
              </a:rPr>
              <a:t>Compiler ignores the comments when translating the program to executable code. </a:t>
            </a:r>
            <a:r>
              <a:rPr lang="en-US" altLang="en-US" sz="2800" dirty="0" smtClean="0">
                <a:solidFill>
                  <a:schemeClr val="tx1"/>
                </a:solidFill>
              </a:rPr>
              <a:t>*/</a:t>
            </a:r>
            <a:endParaRPr lang="en-US" altLang="en-US" sz="2800" dirty="0" smtClean="0">
              <a:solidFill>
                <a:schemeClr val="tx1"/>
              </a:solidFill>
            </a:endParaRPr>
          </a:p>
          <a:p>
            <a:pPr lvl="1">
              <a:lnSpc>
                <a:spcPct val="90000"/>
              </a:lnSpc>
              <a:buFont typeface="Arial" panose="020B0604020202020204" pitchFamily="34" charset="0"/>
              <a:buChar char="•"/>
            </a:pPr>
            <a:r>
              <a:rPr lang="en-US" altLang="en-US" sz="2800" dirty="0" smtClean="0">
                <a:solidFill>
                  <a:schemeClr val="tx1"/>
                </a:solidFill>
              </a:rPr>
              <a:t>Two comments formats:</a:t>
            </a:r>
          </a:p>
          <a:p>
            <a:pPr lvl="3">
              <a:lnSpc>
                <a:spcPct val="90000"/>
              </a:lnSpc>
            </a:pPr>
            <a:r>
              <a:rPr lang="en-US" altLang="en-US" sz="2400" dirty="0" smtClean="0">
                <a:solidFill>
                  <a:schemeClr val="tx1"/>
                </a:solidFill>
              </a:rPr>
              <a:t>Line comment: Uses // </a:t>
            </a:r>
            <a:r>
              <a:rPr lang="en-US" altLang="en-US" sz="2400" dirty="0" err="1" smtClean="0">
                <a:solidFill>
                  <a:schemeClr val="tx1"/>
                </a:solidFill>
              </a:rPr>
              <a:t>eg</a:t>
            </a:r>
            <a:r>
              <a:rPr lang="en-US" altLang="en-US" sz="2400" dirty="0" smtClean="0">
                <a:solidFill>
                  <a:schemeClr val="tx1"/>
                </a:solidFill>
              </a:rPr>
              <a:t>. //This is a comment.</a:t>
            </a:r>
          </a:p>
          <a:p>
            <a:pPr lvl="3">
              <a:lnSpc>
                <a:spcPct val="90000"/>
              </a:lnSpc>
            </a:pPr>
            <a:r>
              <a:rPr lang="en-US" altLang="en-US" sz="2400" dirty="0" smtClean="0">
                <a:solidFill>
                  <a:schemeClr val="tx1"/>
                </a:solidFill>
              </a:rPr>
              <a:t>Block comment: Used when comment </a:t>
            </a:r>
            <a:r>
              <a:rPr lang="en-US" altLang="en-US" sz="2400" dirty="0">
                <a:solidFill>
                  <a:schemeClr val="tx1"/>
                </a:solidFill>
              </a:rPr>
              <a:t>spans several lines. </a:t>
            </a:r>
            <a:r>
              <a:rPr lang="en-US" altLang="en-US" sz="2400" dirty="0" smtClean="0">
                <a:solidFill>
                  <a:schemeClr val="tx1"/>
                </a:solidFill>
              </a:rPr>
              <a:t>/*comment */</a:t>
            </a:r>
            <a:endParaRPr lang="en-US" altLang="en-US" sz="2400" dirty="0">
              <a:solidFill>
                <a:schemeClr val="tx1"/>
              </a:solidFill>
            </a:endParaRPr>
          </a:p>
          <a:p>
            <a:pPr marL="860425" lvl="4" indent="-342900">
              <a:lnSpc>
                <a:spcPct val="90000"/>
              </a:lnSpc>
            </a:pPr>
            <a:r>
              <a:rPr lang="en-US" altLang="en-US" sz="2400" dirty="0" smtClean="0">
                <a:solidFill>
                  <a:schemeClr val="tx1"/>
                </a:solidFill>
              </a:rPr>
              <a:t>Caution with comments- Should not be nested.</a:t>
            </a: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pic>
        <p:nvPicPr>
          <p:cNvPr id="3" name="Picture 2"/>
          <p:cNvPicPr>
            <a:picLocks noChangeAspect="1"/>
          </p:cNvPicPr>
          <p:nvPr/>
        </p:nvPicPr>
        <p:blipFill>
          <a:blip r:embed="rId2"/>
          <a:stretch>
            <a:fillRect/>
          </a:stretch>
        </p:blipFill>
        <p:spPr>
          <a:xfrm>
            <a:off x="1550848" y="5061293"/>
            <a:ext cx="5201101" cy="1389337"/>
          </a:xfrm>
          <a:prstGeom prst="rect">
            <a:avLst/>
          </a:prstGeom>
        </p:spPr>
      </p:pic>
    </p:spTree>
    <p:extLst>
      <p:ext uri="{BB962C8B-B14F-4D97-AF65-F5344CB8AC3E}">
        <p14:creationId xmlns:p14="http://schemas.microsoft.com/office/powerpoint/2010/main" val="4204625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499"/>
            <a:ext cx="10601610" cy="906071"/>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dirty="0"/>
              <a:t>The C Character Set</a:t>
            </a:r>
          </a:p>
        </p:txBody>
      </p:sp>
      <p:sp>
        <p:nvSpPr>
          <p:cNvPr id="6" name="Rectangle 3"/>
          <p:cNvSpPr txBox="1">
            <a:spLocks noChangeArrowheads="1"/>
          </p:cNvSpPr>
          <p:nvPr/>
        </p:nvSpPr>
        <p:spPr>
          <a:xfrm>
            <a:off x="656002" y="1175934"/>
            <a:ext cx="10976365" cy="4915443"/>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altLang="en-US" sz="2800" dirty="0">
                <a:solidFill>
                  <a:schemeClr val="tx1"/>
                </a:solidFill>
              </a:rPr>
              <a:t>Character set specifies the valid symbols that can be used in a </a:t>
            </a:r>
            <a:r>
              <a:rPr lang="en-US" altLang="en-US" sz="2800" dirty="0" smtClean="0">
                <a:solidFill>
                  <a:schemeClr val="tx1"/>
                </a:solidFill>
              </a:rPr>
              <a:t>C program</a:t>
            </a:r>
            <a:r>
              <a:rPr lang="en-US" altLang="en-US" sz="2400" dirty="0" smtClean="0">
                <a:solidFill>
                  <a:schemeClr val="tx1"/>
                </a:solidFill>
              </a:rPr>
              <a:t>.</a:t>
            </a:r>
            <a:endParaRPr lang="en-US" altLang="en-US" sz="2400" dirty="0">
              <a:solidFill>
                <a:schemeClr val="tx1"/>
              </a:solidFill>
            </a:endParaRPr>
          </a:p>
          <a:p>
            <a:pPr lvl="1">
              <a:lnSpc>
                <a:spcPct val="90000"/>
              </a:lnSpc>
              <a:buFont typeface="Arial" panose="020B0604020202020204" pitchFamily="34" charset="0"/>
              <a:buChar char="•"/>
            </a:pPr>
            <a:r>
              <a:rPr lang="en-US" altLang="en-US" sz="2400" dirty="0" smtClean="0">
                <a:solidFill>
                  <a:schemeClr val="tx1"/>
                </a:solidFill>
              </a:rPr>
              <a:t>Symbols </a:t>
            </a:r>
            <a:r>
              <a:rPr lang="en-US" altLang="en-US" sz="2400" dirty="0">
                <a:solidFill>
                  <a:schemeClr val="tx1"/>
                </a:solidFill>
              </a:rPr>
              <a:t>and </a:t>
            </a:r>
            <a:r>
              <a:rPr lang="en-US" altLang="en-US" sz="2400" dirty="0" smtClean="0">
                <a:solidFill>
                  <a:schemeClr val="tx1"/>
                </a:solidFill>
              </a:rPr>
              <a:t>escape sequence </a:t>
            </a:r>
            <a:r>
              <a:rPr lang="en-US" altLang="en-US" sz="2400" dirty="0">
                <a:solidFill>
                  <a:schemeClr val="tx1"/>
                </a:solidFill>
              </a:rPr>
              <a:t>characters</a:t>
            </a:r>
            <a:endParaRPr lang="en-US" altLang="en-US" sz="2400" dirty="0" smtClean="0">
              <a:solidFill>
                <a:schemeClr val="tx1"/>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pic>
        <p:nvPicPr>
          <p:cNvPr id="4" name="Picture 3"/>
          <p:cNvPicPr>
            <a:picLocks noChangeAspect="1"/>
          </p:cNvPicPr>
          <p:nvPr/>
        </p:nvPicPr>
        <p:blipFill>
          <a:blip r:embed="rId2"/>
          <a:stretch>
            <a:fillRect/>
          </a:stretch>
        </p:blipFill>
        <p:spPr>
          <a:xfrm>
            <a:off x="2837989" y="2595000"/>
            <a:ext cx="6058673" cy="2875155"/>
          </a:xfrm>
          <a:prstGeom prst="rect">
            <a:avLst/>
          </a:prstGeom>
        </p:spPr>
      </p:pic>
    </p:spTree>
    <p:extLst>
      <p:ext uri="{BB962C8B-B14F-4D97-AF65-F5344CB8AC3E}">
        <p14:creationId xmlns:p14="http://schemas.microsoft.com/office/powerpoint/2010/main" val="3201958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499"/>
            <a:ext cx="10601610" cy="906071"/>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dirty="0"/>
              <a:t>Escape Sequence characters</a:t>
            </a:r>
          </a:p>
        </p:txBody>
      </p:sp>
      <p:sp>
        <p:nvSpPr>
          <p:cNvPr id="6" name="Rectangle 3"/>
          <p:cNvSpPr txBox="1">
            <a:spLocks noChangeArrowheads="1"/>
          </p:cNvSpPr>
          <p:nvPr/>
        </p:nvSpPr>
        <p:spPr>
          <a:xfrm>
            <a:off x="663497" y="1153448"/>
            <a:ext cx="6089572" cy="4915443"/>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altLang="en-US" sz="2800" dirty="0">
                <a:solidFill>
                  <a:schemeClr val="tx1"/>
                </a:solidFill>
              </a:rPr>
              <a:t>Escape sequence characters are </a:t>
            </a:r>
            <a:r>
              <a:rPr lang="en-US" altLang="en-US" sz="2800" dirty="0" smtClean="0">
                <a:solidFill>
                  <a:schemeClr val="tx1"/>
                </a:solidFill>
              </a:rPr>
              <a:t>a combination </a:t>
            </a:r>
            <a:r>
              <a:rPr lang="en-US" altLang="en-US" sz="2800" dirty="0">
                <a:solidFill>
                  <a:schemeClr val="tx1"/>
                </a:solidFill>
              </a:rPr>
              <a:t>of two characters </a:t>
            </a:r>
            <a:r>
              <a:rPr lang="en-US" altLang="en-US" sz="2800" dirty="0" smtClean="0">
                <a:solidFill>
                  <a:schemeClr val="tx1"/>
                </a:solidFill>
              </a:rPr>
              <a:t>but treated </a:t>
            </a:r>
            <a:r>
              <a:rPr lang="en-US" altLang="en-US" sz="2800" dirty="0">
                <a:solidFill>
                  <a:schemeClr val="tx1"/>
                </a:solidFill>
              </a:rPr>
              <a:t>as a single </a:t>
            </a:r>
            <a:r>
              <a:rPr lang="en-US" altLang="en-US" sz="2800" dirty="0" smtClean="0">
                <a:solidFill>
                  <a:schemeClr val="tx1"/>
                </a:solidFill>
              </a:rPr>
              <a:t>character.</a:t>
            </a:r>
          </a:p>
          <a:p>
            <a:pPr lvl="1">
              <a:lnSpc>
                <a:spcPct val="90000"/>
              </a:lnSpc>
              <a:buFont typeface="Arial" panose="020B0604020202020204" pitchFamily="34" charset="0"/>
              <a:buChar char="•"/>
            </a:pPr>
            <a:r>
              <a:rPr lang="en-US" altLang="en-US" sz="2800" dirty="0" smtClean="0">
                <a:solidFill>
                  <a:schemeClr val="tx1"/>
                </a:solidFill>
              </a:rPr>
              <a:t>Often </a:t>
            </a:r>
            <a:r>
              <a:rPr lang="en-US" altLang="en-US" sz="2800" dirty="0">
                <a:solidFill>
                  <a:schemeClr val="tx1"/>
                </a:solidFill>
              </a:rPr>
              <a:t>used in </a:t>
            </a:r>
            <a:r>
              <a:rPr lang="en-US" altLang="en-US" sz="2800" dirty="0" err="1">
                <a:solidFill>
                  <a:schemeClr val="tx1"/>
                </a:solidFill>
              </a:rPr>
              <a:t>printf</a:t>
            </a:r>
            <a:r>
              <a:rPr lang="en-US" altLang="en-US" sz="2800" dirty="0">
                <a:solidFill>
                  <a:schemeClr val="tx1"/>
                </a:solidFill>
              </a:rPr>
              <a:t> </a:t>
            </a:r>
            <a:r>
              <a:rPr lang="en-US" altLang="en-US" sz="2800" dirty="0" smtClean="0">
                <a:solidFill>
                  <a:schemeClr val="tx1"/>
                </a:solidFill>
              </a:rPr>
              <a:t>statements, they are </a:t>
            </a:r>
            <a:r>
              <a:rPr lang="en-US" altLang="en-US" sz="2800" dirty="0">
                <a:solidFill>
                  <a:schemeClr val="tx1"/>
                </a:solidFill>
              </a:rPr>
              <a:t>not printed explicitly on </a:t>
            </a:r>
            <a:r>
              <a:rPr lang="en-US" altLang="en-US" sz="2800" dirty="0" smtClean="0">
                <a:solidFill>
                  <a:schemeClr val="tx1"/>
                </a:solidFill>
              </a:rPr>
              <a:t>the screen </a:t>
            </a:r>
            <a:r>
              <a:rPr lang="en-US" altLang="en-US" sz="2800" dirty="0">
                <a:solidFill>
                  <a:schemeClr val="tx1"/>
                </a:solidFill>
              </a:rPr>
              <a:t>but the effect of </a:t>
            </a:r>
            <a:r>
              <a:rPr lang="en-US" altLang="en-US" sz="2800" dirty="0" smtClean="0">
                <a:solidFill>
                  <a:schemeClr val="tx1"/>
                </a:solidFill>
              </a:rPr>
              <a:t>these characters </a:t>
            </a:r>
            <a:r>
              <a:rPr lang="en-US" altLang="en-US" sz="2800" dirty="0">
                <a:solidFill>
                  <a:schemeClr val="tx1"/>
                </a:solidFill>
              </a:rPr>
              <a:t>can be </a:t>
            </a:r>
            <a:r>
              <a:rPr lang="en-US" altLang="en-US" sz="2800" dirty="0" smtClean="0">
                <a:solidFill>
                  <a:schemeClr val="tx1"/>
                </a:solidFill>
              </a:rPr>
              <a:t>observed.</a:t>
            </a:r>
          </a:p>
          <a:p>
            <a:pPr lvl="1">
              <a:lnSpc>
                <a:spcPct val="90000"/>
              </a:lnSpc>
              <a:buFont typeface="Arial" panose="020B0604020202020204" pitchFamily="34" charset="0"/>
              <a:buChar char="•"/>
            </a:pPr>
            <a:r>
              <a:rPr lang="en-US" altLang="en-US" sz="2800" dirty="0" smtClean="0">
                <a:solidFill>
                  <a:schemeClr val="tx1"/>
                </a:solidFill>
              </a:rPr>
              <a:t>The </a:t>
            </a:r>
            <a:r>
              <a:rPr lang="en-US" altLang="en-US" sz="2800" dirty="0">
                <a:solidFill>
                  <a:schemeClr val="tx1"/>
                </a:solidFill>
              </a:rPr>
              <a:t>table beside shows some </a:t>
            </a:r>
            <a:r>
              <a:rPr lang="en-US" altLang="en-US" sz="2800" dirty="0" smtClean="0">
                <a:solidFill>
                  <a:schemeClr val="tx1"/>
                </a:solidFill>
              </a:rPr>
              <a:t>ASCII characters </a:t>
            </a:r>
            <a:r>
              <a:rPr lang="en-US" altLang="en-US" sz="2800" dirty="0">
                <a:solidFill>
                  <a:schemeClr val="tx1"/>
                </a:solidFill>
              </a:rPr>
              <a:t>and </a:t>
            </a:r>
            <a:r>
              <a:rPr lang="en-US" altLang="en-US" sz="2800" dirty="0" smtClean="0">
                <a:solidFill>
                  <a:schemeClr val="tx1"/>
                </a:solidFill>
              </a:rPr>
              <a:t>their corresponding escape </a:t>
            </a:r>
            <a:r>
              <a:rPr lang="en-US" altLang="en-US" sz="2800" dirty="0">
                <a:solidFill>
                  <a:schemeClr val="tx1"/>
                </a:solidFill>
              </a:rPr>
              <a:t>character format</a:t>
            </a:r>
            <a:endParaRPr lang="en-US" altLang="en-US" sz="2400" dirty="0" smtClean="0">
              <a:solidFill>
                <a:schemeClr val="tx1"/>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pic>
        <p:nvPicPr>
          <p:cNvPr id="3" name="Picture 2"/>
          <p:cNvPicPr>
            <a:picLocks noChangeAspect="1"/>
          </p:cNvPicPr>
          <p:nvPr/>
        </p:nvPicPr>
        <p:blipFill>
          <a:blip r:embed="rId2"/>
          <a:stretch>
            <a:fillRect/>
          </a:stretch>
        </p:blipFill>
        <p:spPr>
          <a:xfrm>
            <a:off x="7053914" y="1082570"/>
            <a:ext cx="4278148" cy="5199745"/>
          </a:xfrm>
          <a:prstGeom prst="rect">
            <a:avLst/>
          </a:prstGeom>
        </p:spPr>
      </p:pic>
    </p:spTree>
    <p:extLst>
      <p:ext uri="{BB962C8B-B14F-4D97-AF65-F5344CB8AC3E}">
        <p14:creationId xmlns:p14="http://schemas.microsoft.com/office/powerpoint/2010/main" val="940282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499"/>
            <a:ext cx="10601610" cy="906071"/>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dirty="0"/>
              <a:t>Exercises</a:t>
            </a:r>
          </a:p>
        </p:txBody>
      </p:sp>
      <p:sp>
        <p:nvSpPr>
          <p:cNvPr id="6" name="Rectangle 3"/>
          <p:cNvSpPr txBox="1">
            <a:spLocks noChangeArrowheads="1"/>
          </p:cNvSpPr>
          <p:nvPr/>
        </p:nvSpPr>
        <p:spPr>
          <a:xfrm>
            <a:off x="583550" y="1187894"/>
            <a:ext cx="11084862" cy="5082460"/>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altLang="en-US" sz="2800" dirty="0">
                <a:solidFill>
                  <a:schemeClr val="tx1"/>
                </a:solidFill>
              </a:rPr>
              <a:t>Write a program that will output your name and address using </a:t>
            </a:r>
            <a:r>
              <a:rPr lang="en-US" altLang="en-US" sz="2800" dirty="0" smtClean="0">
                <a:solidFill>
                  <a:schemeClr val="tx1"/>
                </a:solidFill>
              </a:rPr>
              <a:t>a separate </a:t>
            </a:r>
            <a:r>
              <a:rPr lang="en-US" altLang="en-US" sz="2800" dirty="0" err="1">
                <a:solidFill>
                  <a:schemeClr val="tx1"/>
                </a:solidFill>
              </a:rPr>
              <a:t>printf</a:t>
            </a:r>
            <a:r>
              <a:rPr lang="en-US" altLang="en-US" sz="2800" dirty="0">
                <a:solidFill>
                  <a:schemeClr val="tx1"/>
                </a:solidFill>
              </a:rPr>
              <a:t>() statement for each line of </a:t>
            </a:r>
            <a:r>
              <a:rPr lang="en-US" altLang="en-US" sz="2800" dirty="0" smtClean="0">
                <a:solidFill>
                  <a:schemeClr val="tx1"/>
                </a:solidFill>
              </a:rPr>
              <a:t>output.</a:t>
            </a:r>
          </a:p>
          <a:p>
            <a:pPr lvl="1">
              <a:lnSpc>
                <a:spcPct val="90000"/>
              </a:lnSpc>
              <a:buFont typeface="Arial" panose="020B0604020202020204" pitchFamily="34" charset="0"/>
              <a:buChar char="•"/>
            </a:pPr>
            <a:r>
              <a:rPr lang="en-US" altLang="en-US" sz="2800" dirty="0" smtClean="0">
                <a:solidFill>
                  <a:schemeClr val="tx1"/>
                </a:solidFill>
              </a:rPr>
              <a:t>Write </a:t>
            </a:r>
            <a:r>
              <a:rPr lang="en-US" altLang="en-US" sz="2800" dirty="0">
                <a:solidFill>
                  <a:schemeClr val="tx1"/>
                </a:solidFill>
              </a:rPr>
              <a:t>a program to print the pattern of asterisks as shown </a:t>
            </a:r>
            <a:r>
              <a:rPr lang="en-US" altLang="en-US" sz="2800" dirty="0" smtClean="0">
                <a:solidFill>
                  <a:schemeClr val="tx1"/>
                </a:solidFill>
              </a:rPr>
              <a:t>below</a:t>
            </a:r>
          </a:p>
          <a:p>
            <a:pPr lvl="1">
              <a:lnSpc>
                <a:spcPct val="90000"/>
              </a:lnSpc>
              <a:buFont typeface="Arial" panose="020B0604020202020204" pitchFamily="34" charset="0"/>
              <a:buChar char="•"/>
            </a:pPr>
            <a:endParaRPr lang="en-US" altLang="en-US" sz="2800" dirty="0">
              <a:solidFill>
                <a:schemeClr val="tx1"/>
              </a:solidFill>
            </a:endParaRPr>
          </a:p>
          <a:p>
            <a:pPr lvl="1">
              <a:lnSpc>
                <a:spcPct val="90000"/>
              </a:lnSpc>
              <a:buFont typeface="Arial" panose="020B0604020202020204" pitchFamily="34" charset="0"/>
              <a:buChar char="•"/>
            </a:pPr>
            <a:endParaRPr lang="en-US" altLang="en-US" sz="2800" dirty="0" smtClean="0">
              <a:solidFill>
                <a:schemeClr val="tx1"/>
              </a:solidFill>
            </a:endParaRPr>
          </a:p>
          <a:p>
            <a:pPr lvl="1">
              <a:lnSpc>
                <a:spcPct val="90000"/>
              </a:lnSpc>
              <a:buFont typeface="Arial" panose="020B0604020202020204" pitchFamily="34" charset="0"/>
              <a:buChar char="•"/>
            </a:pPr>
            <a:endParaRPr lang="en-US" altLang="en-US" sz="2800" dirty="0" smtClean="0">
              <a:solidFill>
                <a:schemeClr val="tx1"/>
              </a:solidFill>
            </a:endParaRPr>
          </a:p>
          <a:p>
            <a:pPr lvl="1">
              <a:lnSpc>
                <a:spcPct val="90000"/>
              </a:lnSpc>
              <a:buFont typeface="Arial" panose="020B0604020202020204" pitchFamily="34" charset="0"/>
              <a:buChar char="•"/>
            </a:pPr>
            <a:endParaRPr lang="en-US" altLang="en-US" sz="2800" dirty="0" smtClean="0">
              <a:solidFill>
                <a:schemeClr val="tx1"/>
              </a:solidFill>
            </a:endParaRPr>
          </a:p>
          <a:p>
            <a:pPr lvl="1">
              <a:lnSpc>
                <a:spcPct val="90000"/>
              </a:lnSpc>
              <a:buFont typeface="Arial" panose="020B0604020202020204" pitchFamily="34" charset="0"/>
              <a:buChar char="•"/>
            </a:pPr>
            <a:endParaRPr lang="en-US" altLang="en-US" sz="2400" dirty="0" smtClean="0">
              <a:solidFill>
                <a:schemeClr val="tx1"/>
              </a:solidFill>
            </a:endParaRPr>
          </a:p>
          <a:p>
            <a:pPr lvl="1">
              <a:lnSpc>
                <a:spcPct val="90000"/>
              </a:lnSpc>
              <a:buFont typeface="Arial" panose="020B0604020202020204" pitchFamily="34" charset="0"/>
              <a:buChar char="•"/>
            </a:pPr>
            <a:r>
              <a:rPr lang="en-US" altLang="en-US" sz="2400" dirty="0" smtClean="0">
                <a:solidFill>
                  <a:schemeClr val="tx1"/>
                </a:solidFill>
              </a:rPr>
              <a:t>Write </a:t>
            </a:r>
            <a:r>
              <a:rPr lang="en-US" altLang="en-US" sz="2400" dirty="0">
                <a:solidFill>
                  <a:schemeClr val="tx1"/>
                </a:solidFill>
              </a:rPr>
              <a:t>a program to print the following figure using </a:t>
            </a:r>
            <a:r>
              <a:rPr lang="en-US" altLang="en-US" sz="2400" dirty="0" smtClean="0">
                <a:solidFill>
                  <a:schemeClr val="tx1"/>
                </a:solidFill>
              </a:rPr>
              <a:t>suitable characters</a:t>
            </a: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pic>
        <p:nvPicPr>
          <p:cNvPr id="4" name="Picture 3"/>
          <p:cNvPicPr>
            <a:picLocks noChangeAspect="1"/>
          </p:cNvPicPr>
          <p:nvPr/>
        </p:nvPicPr>
        <p:blipFill>
          <a:blip r:embed="rId2"/>
          <a:stretch>
            <a:fillRect/>
          </a:stretch>
        </p:blipFill>
        <p:spPr>
          <a:xfrm>
            <a:off x="2990492" y="2572311"/>
            <a:ext cx="5228411" cy="2041865"/>
          </a:xfrm>
          <a:prstGeom prst="rect">
            <a:avLst/>
          </a:prstGeom>
        </p:spPr>
      </p:pic>
      <p:pic>
        <p:nvPicPr>
          <p:cNvPr id="7" name="Picture 6"/>
          <p:cNvPicPr>
            <a:picLocks noChangeAspect="1"/>
          </p:cNvPicPr>
          <p:nvPr/>
        </p:nvPicPr>
        <p:blipFill>
          <a:blip r:embed="rId3"/>
          <a:stretch>
            <a:fillRect/>
          </a:stretch>
        </p:blipFill>
        <p:spPr>
          <a:xfrm>
            <a:off x="4250314" y="5263062"/>
            <a:ext cx="4096105" cy="1112616"/>
          </a:xfrm>
          <a:prstGeom prst="rect">
            <a:avLst/>
          </a:prstGeom>
        </p:spPr>
      </p:pic>
    </p:spTree>
    <p:extLst>
      <p:ext uri="{BB962C8B-B14F-4D97-AF65-F5344CB8AC3E}">
        <p14:creationId xmlns:p14="http://schemas.microsoft.com/office/powerpoint/2010/main" val="4267523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499"/>
            <a:ext cx="10601610" cy="906071"/>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dirty="0" smtClean="0"/>
              <a:t>Solutions</a:t>
            </a:r>
            <a:endParaRPr lang="en-US" altLang="en-US" dirty="0"/>
          </a:p>
        </p:txBody>
      </p:sp>
      <p:sp>
        <p:nvSpPr>
          <p:cNvPr id="6" name="Rectangle 3"/>
          <p:cNvSpPr txBox="1">
            <a:spLocks noChangeArrowheads="1"/>
          </p:cNvSpPr>
          <p:nvPr/>
        </p:nvSpPr>
        <p:spPr>
          <a:xfrm>
            <a:off x="583550" y="1187894"/>
            <a:ext cx="11084862" cy="5082460"/>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marL="457200" lvl="1" indent="0">
              <a:lnSpc>
                <a:spcPct val="90000"/>
              </a:lnSpc>
              <a:buNone/>
            </a:pPr>
            <a:r>
              <a:rPr lang="en-US" altLang="en-US" sz="2400" dirty="0">
                <a:solidFill>
                  <a:schemeClr val="tx1"/>
                </a:solidFill>
              </a:rPr>
              <a:t>#include&lt;</a:t>
            </a:r>
            <a:r>
              <a:rPr lang="en-US" altLang="en-US" sz="2400" dirty="0" err="1">
                <a:solidFill>
                  <a:schemeClr val="tx1"/>
                </a:solidFill>
              </a:rPr>
              <a:t>stdio.h</a:t>
            </a:r>
            <a:r>
              <a:rPr lang="en-US" altLang="en-US" sz="2400" dirty="0">
                <a:solidFill>
                  <a:schemeClr val="tx1"/>
                </a:solidFill>
              </a:rPr>
              <a:t>&gt;</a:t>
            </a:r>
          </a:p>
          <a:p>
            <a:pPr marL="457200" lvl="1" indent="0">
              <a:lnSpc>
                <a:spcPct val="90000"/>
              </a:lnSpc>
              <a:buNone/>
            </a:pPr>
            <a:r>
              <a:rPr lang="en-US" altLang="en-US" sz="2400" dirty="0" err="1">
                <a:solidFill>
                  <a:schemeClr val="tx1"/>
                </a:solidFill>
              </a:rPr>
              <a:t>int</a:t>
            </a:r>
            <a:r>
              <a:rPr lang="en-US" altLang="en-US" sz="2400" dirty="0">
                <a:solidFill>
                  <a:schemeClr val="tx1"/>
                </a:solidFill>
              </a:rPr>
              <a:t> main()</a:t>
            </a:r>
          </a:p>
          <a:p>
            <a:pPr marL="457200" lvl="1" indent="0">
              <a:lnSpc>
                <a:spcPct val="90000"/>
              </a:lnSpc>
              <a:buNone/>
            </a:pPr>
            <a:r>
              <a:rPr lang="en-US" altLang="en-US" sz="2400" dirty="0">
                <a:solidFill>
                  <a:schemeClr val="tx1"/>
                </a:solidFill>
              </a:rPr>
              <a:t>{</a:t>
            </a:r>
          </a:p>
          <a:p>
            <a:pPr marL="457200" lvl="1" indent="0">
              <a:lnSpc>
                <a:spcPct val="90000"/>
              </a:lnSpc>
              <a:buNone/>
            </a:pPr>
            <a:r>
              <a:rPr lang="en-US" altLang="en-US" sz="2400" dirty="0" err="1">
                <a:solidFill>
                  <a:schemeClr val="tx1"/>
                </a:solidFill>
              </a:rPr>
              <a:t>printf</a:t>
            </a:r>
            <a:r>
              <a:rPr lang="en-US" altLang="en-US" sz="2400" dirty="0" smtClean="0">
                <a:solidFill>
                  <a:schemeClr val="tx1"/>
                </a:solidFill>
              </a:rPr>
              <a:t>(“John Doe, </a:t>
            </a:r>
            <a:r>
              <a:rPr lang="en-US" altLang="en-US" sz="2400" dirty="0">
                <a:solidFill>
                  <a:schemeClr val="tx1"/>
                </a:solidFill>
              </a:rPr>
              <a:t>");</a:t>
            </a:r>
          </a:p>
          <a:p>
            <a:pPr marL="457200" lvl="1" indent="0">
              <a:lnSpc>
                <a:spcPct val="90000"/>
              </a:lnSpc>
              <a:buNone/>
            </a:pPr>
            <a:r>
              <a:rPr lang="en-US" altLang="en-US" sz="2400" dirty="0" err="1">
                <a:solidFill>
                  <a:schemeClr val="tx1"/>
                </a:solidFill>
              </a:rPr>
              <a:t>printf</a:t>
            </a:r>
            <a:r>
              <a:rPr lang="en-US" altLang="en-US" sz="2400" dirty="0">
                <a:solidFill>
                  <a:schemeClr val="tx1"/>
                </a:solidFill>
              </a:rPr>
              <a:t>("</a:t>
            </a:r>
            <a:r>
              <a:rPr lang="en-US" altLang="en-US" sz="2400" dirty="0" err="1">
                <a:solidFill>
                  <a:schemeClr val="tx1"/>
                </a:solidFill>
              </a:rPr>
              <a:t>Asst.Professor</a:t>
            </a:r>
            <a:r>
              <a:rPr lang="en-US" altLang="en-US" sz="2400" dirty="0">
                <a:solidFill>
                  <a:schemeClr val="tx1"/>
                </a:solidFill>
              </a:rPr>
              <a:t>, CSE </a:t>
            </a:r>
            <a:r>
              <a:rPr lang="en-US" altLang="en-US" sz="2400" dirty="0" err="1">
                <a:solidFill>
                  <a:schemeClr val="tx1"/>
                </a:solidFill>
              </a:rPr>
              <a:t>Dept</a:t>
            </a:r>
            <a:r>
              <a:rPr lang="en-US" altLang="en-US" sz="2400" dirty="0">
                <a:solidFill>
                  <a:schemeClr val="tx1"/>
                </a:solidFill>
              </a:rPr>
              <a:t>, ");</a:t>
            </a:r>
          </a:p>
          <a:p>
            <a:pPr marL="457200" lvl="1" indent="0">
              <a:lnSpc>
                <a:spcPct val="90000"/>
              </a:lnSpc>
              <a:buNone/>
            </a:pPr>
            <a:r>
              <a:rPr lang="en-US" altLang="en-US" sz="2400" dirty="0" err="1">
                <a:solidFill>
                  <a:schemeClr val="tx1"/>
                </a:solidFill>
              </a:rPr>
              <a:t>printf</a:t>
            </a:r>
            <a:r>
              <a:rPr lang="en-US" altLang="en-US" sz="2400" dirty="0">
                <a:solidFill>
                  <a:schemeClr val="tx1"/>
                </a:solidFill>
              </a:rPr>
              <a:t>("Amrita School of Engineering, ");</a:t>
            </a:r>
          </a:p>
          <a:p>
            <a:pPr marL="457200" lvl="1" indent="0">
              <a:lnSpc>
                <a:spcPct val="90000"/>
              </a:lnSpc>
              <a:buNone/>
            </a:pPr>
            <a:r>
              <a:rPr lang="en-US" altLang="en-US" sz="2400" dirty="0" err="1">
                <a:solidFill>
                  <a:schemeClr val="tx1"/>
                </a:solidFill>
              </a:rPr>
              <a:t>printf</a:t>
            </a:r>
            <a:r>
              <a:rPr lang="en-US" altLang="en-US" sz="2400" dirty="0">
                <a:solidFill>
                  <a:schemeClr val="tx1"/>
                </a:solidFill>
              </a:rPr>
              <a:t>("Amrita </a:t>
            </a:r>
            <a:r>
              <a:rPr lang="en-US" altLang="en-US" sz="2400" dirty="0" err="1">
                <a:solidFill>
                  <a:schemeClr val="tx1"/>
                </a:solidFill>
              </a:rPr>
              <a:t>Vishwa</a:t>
            </a:r>
            <a:r>
              <a:rPr lang="en-US" altLang="en-US" sz="2400" dirty="0">
                <a:solidFill>
                  <a:schemeClr val="tx1"/>
                </a:solidFill>
              </a:rPr>
              <a:t> Vidyapeetham, ");</a:t>
            </a:r>
          </a:p>
          <a:p>
            <a:pPr marL="457200" lvl="1" indent="0">
              <a:lnSpc>
                <a:spcPct val="90000"/>
              </a:lnSpc>
              <a:buNone/>
            </a:pPr>
            <a:r>
              <a:rPr lang="en-US" altLang="en-US" sz="2400" dirty="0" err="1">
                <a:solidFill>
                  <a:schemeClr val="tx1"/>
                </a:solidFill>
              </a:rPr>
              <a:t>printf</a:t>
            </a:r>
            <a:r>
              <a:rPr lang="en-US" altLang="en-US" sz="2400" dirty="0">
                <a:solidFill>
                  <a:schemeClr val="tx1"/>
                </a:solidFill>
              </a:rPr>
              <a:t>("Amrita Nagar Post, ");</a:t>
            </a:r>
          </a:p>
          <a:p>
            <a:pPr marL="457200" lvl="1" indent="0">
              <a:lnSpc>
                <a:spcPct val="90000"/>
              </a:lnSpc>
              <a:buNone/>
            </a:pPr>
            <a:r>
              <a:rPr lang="en-US" altLang="en-US" sz="2400" dirty="0" err="1">
                <a:solidFill>
                  <a:schemeClr val="tx1"/>
                </a:solidFill>
              </a:rPr>
              <a:t>printf</a:t>
            </a:r>
            <a:r>
              <a:rPr lang="en-US" altLang="en-US" sz="2400" dirty="0">
                <a:solidFill>
                  <a:schemeClr val="tx1"/>
                </a:solidFill>
              </a:rPr>
              <a:t>("Coimbatore 641 112 ");</a:t>
            </a:r>
          </a:p>
          <a:p>
            <a:pPr marL="457200" lvl="1" indent="0">
              <a:lnSpc>
                <a:spcPct val="90000"/>
              </a:lnSpc>
              <a:buNone/>
            </a:pPr>
            <a:r>
              <a:rPr lang="en-US" altLang="en-US" sz="2400" dirty="0">
                <a:solidFill>
                  <a:schemeClr val="tx1"/>
                </a:solidFill>
              </a:rPr>
              <a:t>return 0;</a:t>
            </a:r>
          </a:p>
          <a:p>
            <a:pPr marL="457200" lvl="1" indent="0">
              <a:lnSpc>
                <a:spcPct val="90000"/>
              </a:lnSpc>
              <a:buNone/>
            </a:pPr>
            <a:r>
              <a:rPr lang="en-US" altLang="en-US" sz="2400" dirty="0">
                <a:solidFill>
                  <a:schemeClr val="tx1"/>
                </a:solidFill>
              </a:rPr>
              <a:t>}</a:t>
            </a:r>
            <a:endParaRPr lang="en-US" altLang="en-US" sz="2400" dirty="0" smtClean="0">
              <a:solidFill>
                <a:schemeClr val="tx1"/>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spTree>
    <p:extLst>
      <p:ext uri="{BB962C8B-B14F-4D97-AF65-F5344CB8AC3E}">
        <p14:creationId xmlns:p14="http://schemas.microsoft.com/office/powerpoint/2010/main" val="608374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499"/>
            <a:ext cx="10601610" cy="906071"/>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dirty="0" smtClean="0"/>
              <a:t>Solutions</a:t>
            </a:r>
            <a:endParaRPr lang="en-US" altLang="en-US" dirty="0"/>
          </a:p>
        </p:txBody>
      </p:sp>
      <p:sp>
        <p:nvSpPr>
          <p:cNvPr id="6" name="Rectangle 3"/>
          <p:cNvSpPr txBox="1">
            <a:spLocks noChangeArrowheads="1"/>
          </p:cNvSpPr>
          <p:nvPr/>
        </p:nvSpPr>
        <p:spPr>
          <a:xfrm>
            <a:off x="583550" y="1187894"/>
            <a:ext cx="11084862" cy="5082460"/>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marL="457200" lvl="1" indent="0">
              <a:lnSpc>
                <a:spcPct val="90000"/>
              </a:lnSpc>
              <a:buNone/>
            </a:pPr>
            <a:r>
              <a:rPr lang="en-US" altLang="en-US" sz="2400" dirty="0">
                <a:solidFill>
                  <a:schemeClr val="tx1"/>
                </a:solidFill>
              </a:rPr>
              <a:t>//Prints a triangular pattern - Author: </a:t>
            </a:r>
            <a:r>
              <a:rPr lang="en-US" altLang="en-US" sz="2400" dirty="0" smtClean="0">
                <a:solidFill>
                  <a:schemeClr val="tx1"/>
                </a:solidFill>
              </a:rPr>
              <a:t>John Doe</a:t>
            </a:r>
            <a:endParaRPr lang="en-US" altLang="en-US" sz="2400" dirty="0">
              <a:solidFill>
                <a:schemeClr val="tx1"/>
              </a:solidFill>
            </a:endParaRPr>
          </a:p>
          <a:p>
            <a:pPr marL="457200" lvl="1" indent="0">
              <a:lnSpc>
                <a:spcPct val="90000"/>
              </a:lnSpc>
              <a:buNone/>
            </a:pPr>
            <a:r>
              <a:rPr lang="en-US" altLang="en-US" sz="2400" dirty="0">
                <a:solidFill>
                  <a:schemeClr val="tx1"/>
                </a:solidFill>
              </a:rPr>
              <a:t>#include&lt;</a:t>
            </a:r>
            <a:r>
              <a:rPr lang="en-US" altLang="en-US" sz="2400" dirty="0" err="1">
                <a:solidFill>
                  <a:schemeClr val="tx1"/>
                </a:solidFill>
              </a:rPr>
              <a:t>stdio.h</a:t>
            </a:r>
            <a:r>
              <a:rPr lang="en-US" altLang="en-US" sz="2400" dirty="0">
                <a:solidFill>
                  <a:schemeClr val="tx1"/>
                </a:solidFill>
              </a:rPr>
              <a:t>&gt;</a:t>
            </a:r>
          </a:p>
          <a:p>
            <a:pPr marL="457200" lvl="1" indent="0">
              <a:lnSpc>
                <a:spcPct val="90000"/>
              </a:lnSpc>
              <a:buNone/>
            </a:pPr>
            <a:r>
              <a:rPr lang="en-US" altLang="en-US" sz="2400" dirty="0" err="1">
                <a:solidFill>
                  <a:schemeClr val="tx1"/>
                </a:solidFill>
              </a:rPr>
              <a:t>int</a:t>
            </a:r>
            <a:r>
              <a:rPr lang="en-US" altLang="en-US" sz="2400" dirty="0">
                <a:solidFill>
                  <a:schemeClr val="tx1"/>
                </a:solidFill>
              </a:rPr>
              <a:t> main()</a:t>
            </a:r>
          </a:p>
          <a:p>
            <a:pPr marL="457200" lvl="1" indent="0">
              <a:lnSpc>
                <a:spcPct val="90000"/>
              </a:lnSpc>
              <a:buNone/>
            </a:pPr>
            <a:r>
              <a:rPr lang="en-US" altLang="en-US" sz="2400" dirty="0">
                <a:solidFill>
                  <a:schemeClr val="tx1"/>
                </a:solidFill>
              </a:rPr>
              <a:t>{</a:t>
            </a:r>
          </a:p>
          <a:p>
            <a:pPr marL="457200" lvl="1" indent="0">
              <a:lnSpc>
                <a:spcPct val="90000"/>
              </a:lnSpc>
              <a:buNone/>
            </a:pPr>
            <a:r>
              <a:rPr lang="en-US" altLang="en-US" sz="2400" dirty="0" err="1">
                <a:solidFill>
                  <a:schemeClr val="tx1"/>
                </a:solidFill>
              </a:rPr>
              <a:t>printf</a:t>
            </a:r>
            <a:r>
              <a:rPr lang="en-US" altLang="en-US" sz="2400" dirty="0">
                <a:solidFill>
                  <a:schemeClr val="tx1"/>
                </a:solidFill>
              </a:rPr>
              <a:t>("*\n"); //prints first line</a:t>
            </a:r>
          </a:p>
          <a:p>
            <a:pPr marL="457200" lvl="1" indent="0">
              <a:lnSpc>
                <a:spcPct val="90000"/>
              </a:lnSpc>
              <a:buNone/>
            </a:pPr>
            <a:r>
              <a:rPr lang="en-US" altLang="en-US" sz="2400" dirty="0" err="1">
                <a:solidFill>
                  <a:schemeClr val="tx1"/>
                </a:solidFill>
              </a:rPr>
              <a:t>printf</a:t>
            </a:r>
            <a:r>
              <a:rPr lang="en-US" altLang="en-US" sz="2400" dirty="0">
                <a:solidFill>
                  <a:schemeClr val="tx1"/>
                </a:solidFill>
              </a:rPr>
              <a:t>("*\t*\n");</a:t>
            </a:r>
          </a:p>
          <a:p>
            <a:pPr marL="457200" lvl="1" indent="0">
              <a:lnSpc>
                <a:spcPct val="90000"/>
              </a:lnSpc>
              <a:buNone/>
            </a:pPr>
            <a:r>
              <a:rPr lang="en-US" altLang="en-US" sz="2400" dirty="0" err="1">
                <a:solidFill>
                  <a:schemeClr val="tx1"/>
                </a:solidFill>
              </a:rPr>
              <a:t>printf</a:t>
            </a:r>
            <a:r>
              <a:rPr lang="en-US" altLang="en-US" sz="2400" dirty="0">
                <a:solidFill>
                  <a:schemeClr val="tx1"/>
                </a:solidFill>
              </a:rPr>
              <a:t>("*\t*\t*\n");</a:t>
            </a:r>
          </a:p>
          <a:p>
            <a:pPr marL="457200" lvl="1" indent="0">
              <a:lnSpc>
                <a:spcPct val="90000"/>
              </a:lnSpc>
              <a:buNone/>
            </a:pPr>
            <a:r>
              <a:rPr lang="en-US" altLang="en-US" sz="2400" dirty="0" err="1">
                <a:solidFill>
                  <a:schemeClr val="tx1"/>
                </a:solidFill>
              </a:rPr>
              <a:t>printf</a:t>
            </a:r>
            <a:r>
              <a:rPr lang="en-US" altLang="en-US" sz="2400" dirty="0">
                <a:solidFill>
                  <a:schemeClr val="tx1"/>
                </a:solidFill>
              </a:rPr>
              <a:t>("*\t*\t*\t*\n"); //prints last line</a:t>
            </a:r>
          </a:p>
          <a:p>
            <a:pPr marL="457200" lvl="1" indent="0">
              <a:lnSpc>
                <a:spcPct val="90000"/>
              </a:lnSpc>
              <a:buNone/>
            </a:pPr>
            <a:r>
              <a:rPr lang="en-US" altLang="en-US" sz="2400" dirty="0">
                <a:solidFill>
                  <a:schemeClr val="tx1"/>
                </a:solidFill>
              </a:rPr>
              <a:t>return 0;</a:t>
            </a:r>
          </a:p>
          <a:p>
            <a:pPr marL="457200" lvl="1" indent="0">
              <a:lnSpc>
                <a:spcPct val="90000"/>
              </a:lnSpc>
              <a:buNone/>
            </a:pPr>
            <a:r>
              <a:rPr lang="en-US" altLang="en-US" sz="2400" dirty="0">
                <a:solidFill>
                  <a:schemeClr val="tx1"/>
                </a:solidFill>
              </a:rPr>
              <a:t>}</a:t>
            </a:r>
            <a:endParaRPr lang="en-US" altLang="en-US" sz="2400" dirty="0" smtClean="0">
              <a:solidFill>
                <a:schemeClr val="tx1"/>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spTree>
    <p:extLst>
      <p:ext uri="{BB962C8B-B14F-4D97-AF65-F5344CB8AC3E}">
        <p14:creationId xmlns:p14="http://schemas.microsoft.com/office/powerpoint/2010/main" val="3647945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499"/>
            <a:ext cx="10601610" cy="906071"/>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dirty="0" smtClean="0"/>
              <a:t>Solutions</a:t>
            </a:r>
            <a:endParaRPr lang="en-US" altLang="en-US" dirty="0"/>
          </a:p>
        </p:txBody>
      </p:sp>
      <p:sp>
        <p:nvSpPr>
          <p:cNvPr id="6" name="Rectangle 3"/>
          <p:cNvSpPr txBox="1">
            <a:spLocks noChangeArrowheads="1"/>
          </p:cNvSpPr>
          <p:nvPr/>
        </p:nvSpPr>
        <p:spPr>
          <a:xfrm>
            <a:off x="583550" y="1187894"/>
            <a:ext cx="11084862" cy="5082460"/>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marL="457200" lvl="1" indent="0">
              <a:lnSpc>
                <a:spcPct val="90000"/>
              </a:lnSpc>
              <a:buNone/>
            </a:pPr>
            <a:r>
              <a:rPr lang="en-US" altLang="en-US" sz="2400" dirty="0">
                <a:solidFill>
                  <a:schemeClr val="tx1"/>
                </a:solidFill>
              </a:rPr>
              <a:t>//Prints a pattern - Author: </a:t>
            </a:r>
            <a:r>
              <a:rPr lang="en-US" altLang="en-US" sz="2400" dirty="0" smtClean="0">
                <a:solidFill>
                  <a:schemeClr val="tx1"/>
                </a:solidFill>
              </a:rPr>
              <a:t>John Doe</a:t>
            </a:r>
          </a:p>
          <a:p>
            <a:pPr marL="457200" lvl="1" indent="0">
              <a:lnSpc>
                <a:spcPct val="90000"/>
              </a:lnSpc>
              <a:buNone/>
            </a:pPr>
            <a:r>
              <a:rPr lang="en-US" altLang="en-US" sz="2400" dirty="0">
                <a:solidFill>
                  <a:schemeClr val="tx1"/>
                </a:solidFill>
              </a:rPr>
              <a:t>#include&lt;</a:t>
            </a:r>
            <a:r>
              <a:rPr lang="en-US" altLang="en-US" sz="2400" dirty="0" err="1">
                <a:solidFill>
                  <a:schemeClr val="tx1"/>
                </a:solidFill>
              </a:rPr>
              <a:t>stdio.h</a:t>
            </a:r>
            <a:r>
              <a:rPr lang="en-US" altLang="en-US" sz="2400" dirty="0">
                <a:solidFill>
                  <a:schemeClr val="tx1"/>
                </a:solidFill>
              </a:rPr>
              <a:t>&gt;</a:t>
            </a:r>
          </a:p>
          <a:p>
            <a:pPr marL="457200" lvl="1" indent="0">
              <a:lnSpc>
                <a:spcPct val="90000"/>
              </a:lnSpc>
              <a:buNone/>
            </a:pPr>
            <a:endParaRPr lang="en-US" altLang="en-US" sz="2400" dirty="0">
              <a:solidFill>
                <a:schemeClr val="tx1"/>
              </a:solidFill>
            </a:endParaRPr>
          </a:p>
          <a:p>
            <a:pPr marL="457200" lvl="1" indent="0">
              <a:lnSpc>
                <a:spcPct val="90000"/>
              </a:lnSpc>
              <a:buNone/>
            </a:pPr>
            <a:r>
              <a:rPr lang="en-US" altLang="en-US" sz="2400" dirty="0" err="1">
                <a:solidFill>
                  <a:schemeClr val="tx1"/>
                </a:solidFill>
              </a:rPr>
              <a:t>int</a:t>
            </a:r>
            <a:r>
              <a:rPr lang="en-US" altLang="en-US" sz="2400" dirty="0">
                <a:solidFill>
                  <a:schemeClr val="tx1"/>
                </a:solidFill>
              </a:rPr>
              <a:t> main() </a:t>
            </a:r>
          </a:p>
          <a:p>
            <a:pPr marL="457200" lvl="1" indent="0">
              <a:lnSpc>
                <a:spcPct val="90000"/>
              </a:lnSpc>
              <a:buNone/>
            </a:pPr>
            <a:r>
              <a:rPr lang="en-US" altLang="en-US" sz="2400" dirty="0">
                <a:solidFill>
                  <a:schemeClr val="tx1"/>
                </a:solidFill>
              </a:rPr>
              <a:t>{</a:t>
            </a:r>
          </a:p>
          <a:p>
            <a:pPr marL="457200" lvl="1" indent="0">
              <a:lnSpc>
                <a:spcPct val="90000"/>
              </a:lnSpc>
              <a:buNone/>
            </a:pPr>
            <a:r>
              <a:rPr lang="en-US" altLang="en-US" sz="2400" dirty="0">
                <a:solidFill>
                  <a:schemeClr val="tx1"/>
                </a:solidFill>
              </a:rPr>
              <a:t>    </a:t>
            </a:r>
            <a:r>
              <a:rPr lang="en-US" altLang="en-US" sz="2400" dirty="0" err="1">
                <a:solidFill>
                  <a:schemeClr val="tx1"/>
                </a:solidFill>
              </a:rPr>
              <a:t>printf</a:t>
            </a:r>
            <a:r>
              <a:rPr lang="en-US" altLang="en-US" sz="2400" dirty="0">
                <a:solidFill>
                  <a:schemeClr val="tx1"/>
                </a:solidFill>
              </a:rPr>
              <a:t>("----------      ----------\n");  // Prints the top horizontal bars</a:t>
            </a:r>
          </a:p>
          <a:p>
            <a:pPr marL="457200" lvl="1" indent="0">
              <a:lnSpc>
                <a:spcPct val="90000"/>
              </a:lnSpc>
              <a:buNone/>
            </a:pPr>
            <a:r>
              <a:rPr lang="en-US" altLang="en-US" sz="2400" dirty="0">
                <a:solidFill>
                  <a:schemeClr val="tx1"/>
                </a:solidFill>
              </a:rPr>
              <a:t>    </a:t>
            </a:r>
            <a:r>
              <a:rPr lang="en-US" altLang="en-US" sz="2400" dirty="0" err="1">
                <a:solidFill>
                  <a:schemeClr val="tx1"/>
                </a:solidFill>
              </a:rPr>
              <a:t>printf</a:t>
            </a:r>
            <a:r>
              <a:rPr lang="en-US" altLang="en-US" sz="2400" dirty="0">
                <a:solidFill>
                  <a:schemeClr val="tx1"/>
                </a:solidFill>
              </a:rPr>
              <a:t>("|        |  &gt;&gt;  |        |\n");   // Prints the vertical bars and the arrows</a:t>
            </a:r>
          </a:p>
          <a:p>
            <a:pPr marL="457200" lvl="1" indent="0">
              <a:lnSpc>
                <a:spcPct val="90000"/>
              </a:lnSpc>
              <a:buNone/>
            </a:pPr>
            <a:r>
              <a:rPr lang="en-US" altLang="en-US" sz="2400" dirty="0">
                <a:solidFill>
                  <a:schemeClr val="tx1"/>
                </a:solidFill>
              </a:rPr>
              <a:t>    </a:t>
            </a:r>
            <a:r>
              <a:rPr lang="en-US" altLang="en-US" sz="2400" dirty="0" err="1">
                <a:solidFill>
                  <a:schemeClr val="tx1"/>
                </a:solidFill>
              </a:rPr>
              <a:t>printf</a:t>
            </a:r>
            <a:r>
              <a:rPr lang="en-US" altLang="en-US" sz="2400" dirty="0">
                <a:solidFill>
                  <a:schemeClr val="tx1"/>
                </a:solidFill>
              </a:rPr>
              <a:t>("|        |      |        |\n");   // Prints the second set of vertical bars</a:t>
            </a:r>
          </a:p>
          <a:p>
            <a:pPr marL="457200" lvl="1" indent="0">
              <a:lnSpc>
                <a:spcPct val="90000"/>
              </a:lnSpc>
              <a:buNone/>
            </a:pPr>
            <a:r>
              <a:rPr lang="en-US" altLang="en-US" sz="2400" dirty="0">
                <a:solidFill>
                  <a:schemeClr val="tx1"/>
                </a:solidFill>
              </a:rPr>
              <a:t>    </a:t>
            </a:r>
            <a:r>
              <a:rPr lang="en-US" altLang="en-US" sz="2400" dirty="0" err="1">
                <a:solidFill>
                  <a:schemeClr val="tx1"/>
                </a:solidFill>
              </a:rPr>
              <a:t>printf</a:t>
            </a:r>
            <a:r>
              <a:rPr lang="en-US" altLang="en-US" sz="2400" dirty="0">
                <a:solidFill>
                  <a:schemeClr val="tx1"/>
                </a:solidFill>
              </a:rPr>
              <a:t>("----------      ----------\n");  // Prints the bottom horizontal bars</a:t>
            </a:r>
          </a:p>
          <a:p>
            <a:pPr marL="457200" lvl="1" indent="0">
              <a:lnSpc>
                <a:spcPct val="90000"/>
              </a:lnSpc>
              <a:buNone/>
            </a:pPr>
            <a:endParaRPr lang="en-US" altLang="en-US" sz="2400" dirty="0">
              <a:solidFill>
                <a:schemeClr val="tx1"/>
              </a:solidFill>
            </a:endParaRPr>
          </a:p>
          <a:p>
            <a:pPr marL="457200" lvl="1" indent="0">
              <a:lnSpc>
                <a:spcPct val="90000"/>
              </a:lnSpc>
              <a:buNone/>
            </a:pPr>
            <a:r>
              <a:rPr lang="en-US" altLang="en-US" sz="2400" dirty="0">
                <a:solidFill>
                  <a:schemeClr val="tx1"/>
                </a:solidFill>
              </a:rPr>
              <a:t>    return 0;</a:t>
            </a:r>
          </a:p>
          <a:p>
            <a:pPr marL="457200" lvl="1" indent="0">
              <a:lnSpc>
                <a:spcPct val="90000"/>
              </a:lnSpc>
              <a:buNone/>
            </a:pPr>
            <a:r>
              <a:rPr lang="en-US" altLang="en-US" sz="2400">
                <a:solidFill>
                  <a:schemeClr val="tx1"/>
                </a:solidFill>
              </a:rPr>
              <a:t>}</a:t>
            </a:r>
          </a:p>
          <a:p>
            <a:pPr marL="457200" lvl="1" indent="0">
              <a:lnSpc>
                <a:spcPct val="90000"/>
              </a:lnSpc>
              <a:buNone/>
            </a:pPr>
            <a:endParaRPr lang="en-US" altLang="en-US" sz="2400" dirty="0">
              <a:solidFill>
                <a:schemeClr val="tx1"/>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spTree>
    <p:extLst>
      <p:ext uri="{BB962C8B-B14F-4D97-AF65-F5344CB8AC3E}">
        <p14:creationId xmlns:p14="http://schemas.microsoft.com/office/powerpoint/2010/main" val="1822706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500"/>
            <a:ext cx="10601610" cy="745396"/>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sz="3200" dirty="0"/>
              <a:t>Identifiers in C – (Recollect Name Bindings </a:t>
            </a:r>
            <a:r>
              <a:rPr lang="en-US" altLang="en-US" sz="3200" dirty="0" smtClean="0"/>
              <a:t>in CTPS</a:t>
            </a:r>
            <a:r>
              <a:rPr lang="en-US" altLang="en-US" sz="3200" dirty="0"/>
              <a:t>)</a:t>
            </a:r>
          </a:p>
        </p:txBody>
      </p:sp>
      <p:sp>
        <p:nvSpPr>
          <p:cNvPr id="6" name="Rectangle 3"/>
          <p:cNvSpPr txBox="1">
            <a:spLocks noChangeArrowheads="1"/>
          </p:cNvSpPr>
          <p:nvPr/>
        </p:nvSpPr>
        <p:spPr>
          <a:xfrm>
            <a:off x="663497" y="805645"/>
            <a:ext cx="11084862" cy="5082460"/>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altLang="en-US" sz="3200" dirty="0">
                <a:solidFill>
                  <a:schemeClr val="tx1"/>
                </a:solidFill>
              </a:rPr>
              <a:t>Identifiers allow us to name data and other user created </a:t>
            </a:r>
            <a:r>
              <a:rPr lang="en-US" altLang="en-US" sz="3200" dirty="0" smtClean="0">
                <a:solidFill>
                  <a:schemeClr val="tx1"/>
                </a:solidFill>
              </a:rPr>
              <a:t>components in </a:t>
            </a:r>
            <a:r>
              <a:rPr lang="en-US" altLang="en-US" sz="3200" dirty="0">
                <a:solidFill>
                  <a:schemeClr val="tx1"/>
                </a:solidFill>
              </a:rPr>
              <a:t>a </a:t>
            </a:r>
            <a:r>
              <a:rPr lang="en-US" altLang="en-US" sz="3200" dirty="0" smtClean="0">
                <a:solidFill>
                  <a:schemeClr val="tx1"/>
                </a:solidFill>
              </a:rPr>
              <a:t>program </a:t>
            </a:r>
            <a:endParaRPr lang="en-US" altLang="en-US" sz="3200" dirty="0" smtClean="0">
              <a:solidFill>
                <a:schemeClr val="tx1"/>
              </a:solidFill>
            </a:endParaRPr>
          </a:p>
          <a:p>
            <a:pPr lvl="1">
              <a:lnSpc>
                <a:spcPct val="90000"/>
              </a:lnSpc>
              <a:buFont typeface="Arial" panose="020B0604020202020204" pitchFamily="34" charset="0"/>
              <a:buChar char="•"/>
            </a:pPr>
            <a:r>
              <a:rPr lang="en-US" altLang="en-US" sz="3200" dirty="0" smtClean="0">
                <a:solidFill>
                  <a:schemeClr val="tx1"/>
                </a:solidFill>
              </a:rPr>
              <a:t>Each </a:t>
            </a:r>
            <a:r>
              <a:rPr lang="en-US" altLang="en-US" sz="3200" dirty="0">
                <a:solidFill>
                  <a:schemeClr val="tx1"/>
                </a:solidFill>
              </a:rPr>
              <a:t>identified component is stored at a unique location in </a:t>
            </a:r>
            <a:r>
              <a:rPr lang="en-US" altLang="en-US" sz="3200" dirty="0" smtClean="0">
                <a:solidFill>
                  <a:schemeClr val="tx1"/>
                </a:solidFill>
              </a:rPr>
              <a:t>the computer’s memory.</a:t>
            </a:r>
          </a:p>
          <a:p>
            <a:pPr lvl="1">
              <a:lnSpc>
                <a:spcPct val="90000"/>
              </a:lnSpc>
              <a:buFont typeface="Arial" panose="020B0604020202020204" pitchFamily="34" charset="0"/>
              <a:buChar char="•"/>
            </a:pPr>
            <a:r>
              <a:rPr lang="en-US" altLang="en-US" sz="3200" dirty="0" smtClean="0">
                <a:solidFill>
                  <a:schemeClr val="tx1"/>
                </a:solidFill>
              </a:rPr>
              <a:t>With </a:t>
            </a:r>
            <a:r>
              <a:rPr lang="en-US" altLang="en-US" sz="3200" dirty="0">
                <a:solidFill>
                  <a:schemeClr val="tx1"/>
                </a:solidFill>
              </a:rPr>
              <a:t>no identifiers to symbolically represent data locations, </a:t>
            </a:r>
            <a:r>
              <a:rPr lang="en-US" altLang="en-US" sz="3200" dirty="0" smtClean="0">
                <a:solidFill>
                  <a:schemeClr val="tx1"/>
                </a:solidFill>
              </a:rPr>
              <a:t>we should </a:t>
            </a:r>
            <a:r>
              <a:rPr lang="en-US" altLang="en-US" sz="3200" dirty="0">
                <a:solidFill>
                  <a:schemeClr val="tx1"/>
                </a:solidFill>
              </a:rPr>
              <a:t>know and use the </a:t>
            </a:r>
            <a:r>
              <a:rPr lang="en-US" altLang="en-US" sz="3200" dirty="0" smtClean="0">
                <a:solidFill>
                  <a:schemeClr val="tx1"/>
                </a:solidFill>
              </a:rPr>
              <a:t>component’s </a:t>
            </a:r>
            <a:r>
              <a:rPr lang="en-US" altLang="en-US" sz="3200" dirty="0">
                <a:solidFill>
                  <a:schemeClr val="tx1"/>
                </a:solidFill>
              </a:rPr>
              <a:t>memory </a:t>
            </a:r>
            <a:r>
              <a:rPr lang="en-US" altLang="en-US" sz="3200" dirty="0" smtClean="0">
                <a:solidFill>
                  <a:schemeClr val="tx1"/>
                </a:solidFill>
              </a:rPr>
              <a:t>address.</a:t>
            </a:r>
          </a:p>
          <a:p>
            <a:pPr lvl="1">
              <a:lnSpc>
                <a:spcPct val="90000"/>
              </a:lnSpc>
              <a:buFont typeface="Arial" panose="020B0604020202020204" pitchFamily="34" charset="0"/>
              <a:buChar char="•"/>
            </a:pPr>
            <a:r>
              <a:rPr lang="en-US" altLang="en-US" sz="3200" dirty="0" smtClean="0">
                <a:solidFill>
                  <a:schemeClr val="tx1"/>
                </a:solidFill>
              </a:rPr>
              <a:t>Using </a:t>
            </a:r>
            <a:r>
              <a:rPr lang="en-US" altLang="en-US" sz="3200" dirty="0">
                <a:solidFill>
                  <a:schemeClr val="tx1"/>
                </a:solidFill>
              </a:rPr>
              <a:t>Identifiers, we simply name the data and let the </a:t>
            </a:r>
            <a:r>
              <a:rPr lang="en-US" altLang="en-US" sz="3200" dirty="0" smtClean="0">
                <a:solidFill>
                  <a:schemeClr val="tx1"/>
                </a:solidFill>
              </a:rPr>
              <a:t>computer keep </a:t>
            </a:r>
            <a:r>
              <a:rPr lang="en-US" altLang="en-US" sz="3200" dirty="0">
                <a:solidFill>
                  <a:schemeClr val="tx1"/>
                </a:solidFill>
              </a:rPr>
              <a:t>track </a:t>
            </a:r>
            <a:r>
              <a:rPr lang="en-US" altLang="en-US" sz="3200" dirty="0" smtClean="0">
                <a:solidFill>
                  <a:schemeClr val="tx1"/>
                </a:solidFill>
              </a:rPr>
              <a:t>of where </a:t>
            </a:r>
            <a:r>
              <a:rPr lang="en-US" altLang="en-US" sz="3200" dirty="0">
                <a:solidFill>
                  <a:schemeClr val="tx1"/>
                </a:solidFill>
              </a:rPr>
              <a:t>they are physically located in the </a:t>
            </a:r>
            <a:r>
              <a:rPr lang="en-US" altLang="en-US" sz="3200" dirty="0" smtClean="0">
                <a:solidFill>
                  <a:schemeClr val="tx1"/>
                </a:solidFill>
              </a:rPr>
              <a:t>computer’s </a:t>
            </a:r>
            <a:r>
              <a:rPr lang="en-US" altLang="en-US" sz="3200" dirty="0" smtClean="0">
                <a:solidFill>
                  <a:schemeClr val="tx1"/>
                </a:solidFill>
              </a:rPr>
              <a:t>memory</a:t>
            </a:r>
          </a:p>
          <a:p>
            <a:pPr lvl="1">
              <a:lnSpc>
                <a:spcPct val="90000"/>
              </a:lnSpc>
              <a:buFont typeface="Arial" panose="020B0604020202020204" pitchFamily="34" charset="0"/>
              <a:buChar char="•"/>
            </a:pPr>
            <a:endParaRPr lang="en-US" altLang="en-US" sz="3200" dirty="0">
              <a:solidFill>
                <a:schemeClr val="tx1"/>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spTree>
    <p:extLst>
      <p:ext uri="{BB962C8B-B14F-4D97-AF65-F5344CB8AC3E}">
        <p14:creationId xmlns:p14="http://schemas.microsoft.com/office/powerpoint/2010/main" val="300624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500"/>
            <a:ext cx="10601610" cy="745396"/>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sz="3200" dirty="0"/>
              <a:t>Rules for Identifiers in C</a:t>
            </a:r>
          </a:p>
        </p:txBody>
      </p:sp>
      <p:sp>
        <p:nvSpPr>
          <p:cNvPr id="6" name="Rectangle 3"/>
          <p:cNvSpPr txBox="1">
            <a:spLocks noChangeArrowheads="1"/>
          </p:cNvSpPr>
          <p:nvPr/>
        </p:nvSpPr>
        <p:spPr>
          <a:xfrm>
            <a:off x="663496" y="805644"/>
            <a:ext cx="11223703" cy="5826975"/>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altLang="en-US" sz="3200" dirty="0" smtClean="0">
                <a:solidFill>
                  <a:schemeClr val="tx1"/>
                </a:solidFill>
              </a:rPr>
              <a:t>Valid alphabets for naming are A to Z, and a to z</a:t>
            </a:r>
            <a:r>
              <a:rPr lang="en-US" altLang="en-US" sz="3200" dirty="0" smtClean="0">
                <a:solidFill>
                  <a:schemeClr val="tx1"/>
                </a:solidFill>
              </a:rPr>
              <a:t>. student</a:t>
            </a:r>
            <a:endParaRPr lang="en-US" altLang="en-US" sz="3200" dirty="0" smtClean="0">
              <a:solidFill>
                <a:schemeClr val="tx1"/>
              </a:solidFill>
            </a:endParaRPr>
          </a:p>
          <a:p>
            <a:pPr lvl="1">
              <a:lnSpc>
                <a:spcPct val="90000"/>
              </a:lnSpc>
              <a:buFont typeface="Arial" panose="020B0604020202020204" pitchFamily="34" charset="0"/>
              <a:buChar char="•"/>
            </a:pPr>
            <a:r>
              <a:rPr lang="en-US" altLang="en-US" sz="3200" dirty="0" smtClean="0">
                <a:solidFill>
                  <a:schemeClr val="tx1"/>
                </a:solidFill>
              </a:rPr>
              <a:t>_(underscore) is the only special symbol. </a:t>
            </a:r>
            <a:r>
              <a:rPr lang="en-US" altLang="en-US" sz="3200" u="sng" dirty="0" smtClean="0">
                <a:solidFill>
                  <a:schemeClr val="tx1"/>
                </a:solidFill>
              </a:rPr>
              <a:t>Student, student, </a:t>
            </a:r>
            <a:r>
              <a:rPr lang="en-US" altLang="en-US" sz="3200" u="sng" dirty="0" err="1" smtClean="0">
                <a:solidFill>
                  <a:schemeClr val="tx1"/>
                </a:solidFill>
              </a:rPr>
              <a:t>allxt</a:t>
            </a:r>
            <a:endParaRPr lang="en-US" altLang="en-US" sz="3200" u="sng" dirty="0" smtClean="0">
              <a:solidFill>
                <a:schemeClr val="tx1"/>
              </a:solidFill>
            </a:endParaRPr>
          </a:p>
          <a:p>
            <a:pPr lvl="1">
              <a:lnSpc>
                <a:spcPct val="90000"/>
              </a:lnSpc>
              <a:buFont typeface="Arial" panose="020B0604020202020204" pitchFamily="34" charset="0"/>
              <a:buChar char="•"/>
            </a:pPr>
            <a:r>
              <a:rPr lang="en-US" altLang="en-US" sz="3200" dirty="0" smtClean="0">
                <a:solidFill>
                  <a:schemeClr val="tx1"/>
                </a:solidFill>
              </a:rPr>
              <a:t>Numbers from 0 to 9 can be used, however, 1</a:t>
            </a:r>
            <a:r>
              <a:rPr lang="en-US" altLang="en-US" sz="3200" baseline="30000" dirty="0" smtClean="0">
                <a:solidFill>
                  <a:schemeClr val="tx1"/>
                </a:solidFill>
              </a:rPr>
              <a:t>st</a:t>
            </a:r>
            <a:r>
              <a:rPr lang="en-US" altLang="en-US" sz="3200" dirty="0" smtClean="0">
                <a:solidFill>
                  <a:schemeClr val="tx1"/>
                </a:solidFill>
              </a:rPr>
              <a:t> symbol cannot be a number</a:t>
            </a:r>
            <a:r>
              <a:rPr lang="en-US" altLang="en-US" sz="3200" dirty="0" smtClean="0">
                <a:solidFill>
                  <a:schemeClr val="tx1"/>
                </a:solidFill>
              </a:rPr>
              <a:t>. </a:t>
            </a:r>
            <a:r>
              <a:rPr lang="en-US" altLang="en-US" sz="3200" strike="sngStrike" dirty="0">
                <a:solidFill>
                  <a:schemeClr val="tx1"/>
                </a:solidFill>
              </a:rPr>
              <a:t>2</a:t>
            </a:r>
            <a:r>
              <a:rPr lang="en-US" altLang="en-US" sz="3200" strike="sngStrike" dirty="0" smtClean="0">
                <a:solidFill>
                  <a:schemeClr val="tx1"/>
                </a:solidFill>
              </a:rPr>
              <a:t>student.</a:t>
            </a:r>
            <a:r>
              <a:rPr lang="en-US" altLang="en-US" sz="3200" dirty="0" smtClean="0">
                <a:solidFill>
                  <a:schemeClr val="tx1"/>
                </a:solidFill>
              </a:rPr>
              <a:t> Student109, Stu91tr</a:t>
            </a:r>
            <a:endParaRPr lang="en-US" altLang="en-US" sz="3200" dirty="0" smtClean="0">
              <a:solidFill>
                <a:schemeClr val="tx1"/>
              </a:solidFill>
            </a:endParaRPr>
          </a:p>
          <a:p>
            <a:pPr lvl="1">
              <a:lnSpc>
                <a:spcPct val="90000"/>
              </a:lnSpc>
              <a:buFont typeface="Arial" panose="020B0604020202020204" pitchFamily="34" charset="0"/>
              <a:buChar char="•"/>
            </a:pPr>
            <a:r>
              <a:rPr lang="en-US" altLang="en-US" sz="3200" dirty="0">
                <a:solidFill>
                  <a:schemeClr val="tx1"/>
                </a:solidFill>
              </a:rPr>
              <a:t>The first symbol of an identifier must be an alphabet or an </a:t>
            </a:r>
            <a:r>
              <a:rPr lang="en-US" altLang="en-US" sz="3200" dirty="0" smtClean="0">
                <a:solidFill>
                  <a:schemeClr val="tx1"/>
                </a:solidFill>
              </a:rPr>
              <a:t>underscore. </a:t>
            </a:r>
            <a:r>
              <a:rPr lang="en-US" altLang="en-US" sz="3200" dirty="0" err="1" smtClean="0">
                <a:solidFill>
                  <a:schemeClr val="tx1"/>
                </a:solidFill>
              </a:rPr>
              <a:t>StudentID</a:t>
            </a:r>
            <a:r>
              <a:rPr lang="en-US" altLang="en-US" sz="3200" dirty="0" smtClean="0">
                <a:solidFill>
                  <a:schemeClr val="tx1"/>
                </a:solidFill>
              </a:rPr>
              <a:t>, _</a:t>
            </a:r>
            <a:r>
              <a:rPr lang="en-US" altLang="en-US" sz="3200" strike="sngStrike" dirty="0" err="1" smtClean="0">
                <a:solidFill>
                  <a:schemeClr val="tx1"/>
                </a:solidFill>
              </a:rPr>
              <a:t>StudentID</a:t>
            </a:r>
            <a:endParaRPr lang="en-US" altLang="en-US" sz="3200" strike="sngStrike" dirty="0">
              <a:solidFill>
                <a:schemeClr val="tx1"/>
              </a:solidFill>
            </a:endParaRPr>
          </a:p>
          <a:p>
            <a:pPr lvl="1">
              <a:lnSpc>
                <a:spcPct val="90000"/>
              </a:lnSpc>
              <a:buFont typeface="Arial" panose="020B0604020202020204" pitchFamily="34" charset="0"/>
              <a:buChar char="•"/>
            </a:pPr>
            <a:r>
              <a:rPr lang="en-US" altLang="en-US" sz="3200" dirty="0">
                <a:solidFill>
                  <a:schemeClr val="tx1"/>
                </a:solidFill>
              </a:rPr>
              <a:t>Typically application programs do not use underscore as the first symbol because </a:t>
            </a:r>
            <a:r>
              <a:rPr lang="en-US" altLang="en-US" sz="3200" dirty="0" smtClean="0">
                <a:solidFill>
                  <a:schemeClr val="tx1"/>
                </a:solidFill>
              </a:rPr>
              <a:t>many of </a:t>
            </a:r>
            <a:r>
              <a:rPr lang="en-US" altLang="en-US" sz="3200" dirty="0">
                <a:solidFill>
                  <a:schemeClr val="tx1"/>
                </a:solidFill>
              </a:rPr>
              <a:t>the identifiers in C system libraries start with an </a:t>
            </a:r>
            <a:r>
              <a:rPr lang="en-US" altLang="en-US" sz="3200" dirty="0" smtClean="0">
                <a:solidFill>
                  <a:schemeClr val="tx1"/>
                </a:solidFill>
              </a:rPr>
              <a:t>underscore</a:t>
            </a:r>
            <a:r>
              <a:rPr lang="en-US" altLang="en-US" sz="3200" dirty="0" smtClean="0">
                <a:solidFill>
                  <a:schemeClr val="tx1"/>
                </a:solidFill>
              </a:rPr>
              <a:t>. </a:t>
            </a:r>
            <a:r>
              <a:rPr lang="en-US" altLang="en-US" sz="3200" dirty="0" err="1" smtClean="0">
                <a:solidFill>
                  <a:schemeClr val="tx1"/>
                </a:solidFill>
              </a:rPr>
              <a:t>Student_ID</a:t>
            </a:r>
            <a:endParaRPr lang="en-US" altLang="en-US" sz="3200" dirty="0" smtClean="0">
              <a:solidFill>
                <a:schemeClr val="tx1"/>
              </a:solidFill>
            </a:endParaRPr>
          </a:p>
          <a:p>
            <a:pPr lvl="1">
              <a:lnSpc>
                <a:spcPct val="90000"/>
              </a:lnSpc>
              <a:buFont typeface="Arial" panose="020B0604020202020204" pitchFamily="34" charset="0"/>
              <a:buChar char="•"/>
            </a:pPr>
            <a:r>
              <a:rPr lang="en-US" altLang="en-US" sz="3200" dirty="0">
                <a:solidFill>
                  <a:schemeClr val="tx1"/>
                </a:solidFill>
              </a:rPr>
              <a:t>C has 32 keywords also known as reserved words, which have </a:t>
            </a:r>
            <a:r>
              <a:rPr lang="en-US" altLang="en-US" sz="3200" dirty="0" smtClean="0">
                <a:solidFill>
                  <a:schemeClr val="tx1"/>
                </a:solidFill>
              </a:rPr>
              <a:t>a predefined </a:t>
            </a:r>
            <a:r>
              <a:rPr lang="en-US" altLang="en-US" sz="3200" dirty="0">
                <a:solidFill>
                  <a:schemeClr val="tx1"/>
                </a:solidFill>
              </a:rPr>
              <a:t>meaning and cannot be used as identifier names. </a:t>
            </a: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spTree>
    <p:extLst>
      <p:ext uri="{BB962C8B-B14F-4D97-AF65-F5344CB8AC3E}">
        <p14:creationId xmlns:p14="http://schemas.microsoft.com/office/powerpoint/2010/main" val="3496554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500"/>
            <a:ext cx="10601610" cy="745396"/>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sz="3200" dirty="0"/>
              <a:t>Some Keywords/Reserved words in C</a:t>
            </a: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pic>
        <p:nvPicPr>
          <p:cNvPr id="3" name="Picture 2"/>
          <p:cNvPicPr>
            <a:picLocks noChangeAspect="1"/>
          </p:cNvPicPr>
          <p:nvPr/>
        </p:nvPicPr>
        <p:blipFill>
          <a:blip r:embed="rId2"/>
          <a:stretch>
            <a:fillRect/>
          </a:stretch>
        </p:blipFill>
        <p:spPr>
          <a:xfrm>
            <a:off x="2178785" y="1120904"/>
            <a:ext cx="8741549" cy="5055767"/>
          </a:xfrm>
          <a:prstGeom prst="rect">
            <a:avLst/>
          </a:prstGeom>
        </p:spPr>
      </p:pic>
    </p:spTree>
    <p:extLst>
      <p:ext uri="{BB962C8B-B14F-4D97-AF65-F5344CB8AC3E}">
        <p14:creationId xmlns:p14="http://schemas.microsoft.com/office/powerpoint/2010/main" val="241034330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500"/>
            <a:ext cx="10601610" cy="745396"/>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sz="3200" dirty="0"/>
              <a:t>Examples of Valid and Invalid Identifier Names</a:t>
            </a:r>
          </a:p>
        </p:txBody>
      </p:sp>
      <p:sp>
        <p:nvSpPr>
          <p:cNvPr id="6" name="Rectangle 3"/>
          <p:cNvSpPr txBox="1">
            <a:spLocks noChangeArrowheads="1"/>
          </p:cNvSpPr>
          <p:nvPr/>
        </p:nvSpPr>
        <p:spPr>
          <a:xfrm>
            <a:off x="663497" y="809938"/>
            <a:ext cx="11084862" cy="5082460"/>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endParaRPr lang="en-US" altLang="en-US" sz="3200" dirty="0">
              <a:solidFill>
                <a:schemeClr val="tx1"/>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pic>
        <p:nvPicPr>
          <p:cNvPr id="3" name="Picture 2"/>
          <p:cNvPicPr>
            <a:picLocks noChangeAspect="1"/>
          </p:cNvPicPr>
          <p:nvPr/>
        </p:nvPicPr>
        <p:blipFill>
          <a:blip r:embed="rId2"/>
          <a:stretch>
            <a:fillRect/>
          </a:stretch>
        </p:blipFill>
        <p:spPr>
          <a:xfrm>
            <a:off x="1497270" y="805645"/>
            <a:ext cx="9696510" cy="5372100"/>
          </a:xfrm>
          <a:prstGeom prst="rect">
            <a:avLst/>
          </a:prstGeom>
        </p:spPr>
      </p:pic>
    </p:spTree>
    <p:extLst>
      <p:ext uri="{BB962C8B-B14F-4D97-AF65-F5344CB8AC3E}">
        <p14:creationId xmlns:p14="http://schemas.microsoft.com/office/powerpoint/2010/main" val="3989110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500"/>
            <a:ext cx="10601610" cy="745396"/>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sz="3200" dirty="0"/>
              <a:t>Exercises</a:t>
            </a:r>
          </a:p>
        </p:txBody>
      </p:sp>
      <p:sp>
        <p:nvSpPr>
          <p:cNvPr id="6" name="Rectangle 3"/>
          <p:cNvSpPr txBox="1">
            <a:spLocks noChangeArrowheads="1"/>
          </p:cNvSpPr>
          <p:nvPr/>
        </p:nvSpPr>
        <p:spPr>
          <a:xfrm>
            <a:off x="663497" y="805645"/>
            <a:ext cx="11129258" cy="5419144"/>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sz="3200" dirty="0"/>
              <a:t>Identify whether the following identifiers are valid. If not give reason and correct them (a) record1 (b) #tax (c) </a:t>
            </a:r>
            <a:r>
              <a:rPr lang="en-US" sz="3200" dirty="0" err="1"/>
              <a:t>name_and_address</a:t>
            </a:r>
            <a:r>
              <a:rPr lang="en-US" sz="3200" dirty="0"/>
              <a:t> (d) 1record (e) name (f) name-and-address (g)file_3 (h) name and address (</a:t>
            </a:r>
            <a:r>
              <a:rPr lang="en-US" sz="3200" dirty="0" err="1"/>
              <a:t>i</a:t>
            </a:r>
            <a:r>
              <a:rPr lang="en-US" sz="3200" dirty="0"/>
              <a:t>) return (j) </a:t>
            </a:r>
            <a:r>
              <a:rPr lang="en-US" sz="3200" dirty="0" smtClean="0"/>
              <a:t>T23-45-6789 </a:t>
            </a:r>
            <a:endParaRPr lang="en-US" sz="3200" dirty="0"/>
          </a:p>
          <a:p>
            <a:pPr lvl="1">
              <a:lnSpc>
                <a:spcPct val="90000"/>
              </a:lnSpc>
              <a:buFont typeface="Arial" panose="020B0604020202020204" pitchFamily="34" charset="0"/>
              <a:buChar char="•"/>
            </a:pPr>
            <a:r>
              <a:rPr lang="en-US" sz="3200" dirty="0" smtClean="0"/>
              <a:t>Assume </a:t>
            </a:r>
            <a:r>
              <a:rPr lang="en-US" sz="3200" dirty="0"/>
              <a:t>a version of C that can recognize only the first 8 characters of an identifier name, though the identifier names can be arbitrarily long. Which of the following pairs of identifier names are considered to be identical and which are distinct? (a) name, names (b) address, Address (c) list1, Iist2 (d) char1,char_1 (e) </a:t>
            </a:r>
            <a:r>
              <a:rPr lang="en-US" sz="3200" strike="sngStrike" dirty="0"/>
              <a:t>identifi</a:t>
            </a:r>
            <a:r>
              <a:rPr lang="en-US" sz="3200" dirty="0"/>
              <a:t>er_1, </a:t>
            </a:r>
            <a:r>
              <a:rPr lang="en-US" sz="3200" strike="sngStrike" dirty="0"/>
              <a:t>identifi</a:t>
            </a:r>
            <a:r>
              <a:rPr lang="en-US" sz="3200" dirty="0"/>
              <a:t>er_2 (f) answer, ANSWER</a:t>
            </a:r>
            <a:endParaRPr lang="en-US" altLang="en-US" sz="3200" dirty="0">
              <a:solidFill>
                <a:schemeClr val="tx1"/>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spTree>
    <p:extLst>
      <p:ext uri="{BB962C8B-B14F-4D97-AF65-F5344CB8AC3E}">
        <p14:creationId xmlns:p14="http://schemas.microsoft.com/office/powerpoint/2010/main" val="24283833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500"/>
            <a:ext cx="10601610" cy="745396"/>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sz="3600" dirty="0"/>
              <a:t>Types in C</a:t>
            </a:r>
          </a:p>
        </p:txBody>
      </p:sp>
      <p:sp>
        <p:nvSpPr>
          <p:cNvPr id="6" name="Rectangle 3"/>
          <p:cNvSpPr txBox="1">
            <a:spLocks noChangeArrowheads="1"/>
          </p:cNvSpPr>
          <p:nvPr/>
        </p:nvSpPr>
        <p:spPr>
          <a:xfrm>
            <a:off x="663497" y="805645"/>
            <a:ext cx="10987590" cy="5082460"/>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sz="3200" dirty="0"/>
              <a:t>A type defines a set of values and a set of operations that can </a:t>
            </a:r>
            <a:r>
              <a:rPr lang="en-US" sz="3200" dirty="0" smtClean="0"/>
              <a:t>be applied </a:t>
            </a:r>
            <a:r>
              <a:rPr lang="en-US" sz="3200" dirty="0"/>
              <a:t>on those </a:t>
            </a:r>
            <a:r>
              <a:rPr lang="en-US" sz="3200" dirty="0" smtClean="0"/>
              <a:t>values.</a:t>
            </a:r>
          </a:p>
          <a:p>
            <a:pPr lvl="1">
              <a:lnSpc>
                <a:spcPct val="90000"/>
              </a:lnSpc>
              <a:buFont typeface="Arial" panose="020B0604020202020204" pitchFamily="34" charset="0"/>
              <a:buChar char="•"/>
            </a:pPr>
            <a:r>
              <a:rPr lang="en-US" sz="3200" dirty="0"/>
              <a:t>For example a light switch can be compared to a </a:t>
            </a:r>
            <a:r>
              <a:rPr lang="en-US" sz="3200" dirty="0" smtClean="0"/>
              <a:t>type</a:t>
            </a:r>
          </a:p>
          <a:p>
            <a:pPr lvl="3">
              <a:lnSpc>
                <a:spcPct val="90000"/>
              </a:lnSpc>
            </a:pPr>
            <a:r>
              <a:rPr lang="en-US" sz="2800" dirty="0" smtClean="0"/>
              <a:t>It </a:t>
            </a:r>
            <a:r>
              <a:rPr lang="en-US" sz="2800" dirty="0"/>
              <a:t>can have two values on and </a:t>
            </a:r>
            <a:r>
              <a:rPr lang="en-US" sz="2800" dirty="0" smtClean="0"/>
              <a:t>off/ </a:t>
            </a:r>
            <a:endParaRPr lang="en-US" sz="2800" dirty="0" smtClean="0"/>
          </a:p>
          <a:p>
            <a:pPr lvl="3">
              <a:lnSpc>
                <a:spcPct val="90000"/>
              </a:lnSpc>
            </a:pPr>
            <a:r>
              <a:rPr lang="en-US" sz="3200" dirty="0" smtClean="0"/>
              <a:t>Only </a:t>
            </a:r>
            <a:r>
              <a:rPr lang="en-US" sz="3200" dirty="0"/>
              <a:t>two operations can be applied to the light switch: turn </a:t>
            </a:r>
            <a:r>
              <a:rPr lang="en-US" sz="3200" dirty="0" smtClean="0"/>
              <a:t>on and </a:t>
            </a:r>
            <a:r>
              <a:rPr lang="en-US" sz="3200" dirty="0"/>
              <a:t>turn off</a:t>
            </a:r>
          </a:p>
          <a:p>
            <a:pPr lvl="1">
              <a:lnSpc>
                <a:spcPct val="90000"/>
              </a:lnSpc>
              <a:buFont typeface="Arial" panose="020B0604020202020204" pitchFamily="34" charset="0"/>
              <a:buChar char="•"/>
            </a:pPr>
            <a:endParaRPr lang="en-US" altLang="en-US" sz="3200" dirty="0">
              <a:solidFill>
                <a:schemeClr val="tx1"/>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spTree>
    <p:extLst>
      <p:ext uri="{BB962C8B-B14F-4D97-AF65-F5344CB8AC3E}">
        <p14:creationId xmlns:p14="http://schemas.microsoft.com/office/powerpoint/2010/main" val="4226513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500"/>
            <a:ext cx="10601610" cy="745396"/>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sz="3600" dirty="0"/>
              <a:t>Types in C</a:t>
            </a:r>
          </a:p>
        </p:txBody>
      </p:sp>
      <p:sp>
        <p:nvSpPr>
          <p:cNvPr id="6" name="Rectangle 3"/>
          <p:cNvSpPr txBox="1">
            <a:spLocks noChangeArrowheads="1"/>
          </p:cNvSpPr>
          <p:nvPr/>
        </p:nvSpPr>
        <p:spPr>
          <a:xfrm>
            <a:off x="663497" y="805645"/>
            <a:ext cx="11084862" cy="5082460"/>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sz="3200" dirty="0" smtClean="0"/>
              <a:t>The </a:t>
            </a:r>
            <a:r>
              <a:rPr lang="en-US" sz="3200" dirty="0"/>
              <a:t>defined set of types in C can be divided into four </a:t>
            </a:r>
            <a:r>
              <a:rPr lang="en-US" sz="3200" dirty="0" smtClean="0"/>
              <a:t>general categories</a:t>
            </a:r>
            <a:r>
              <a:rPr lang="en-US" sz="3200" dirty="0"/>
              <a:t>: void, integral, floating-point and </a:t>
            </a:r>
            <a:r>
              <a:rPr lang="en-US" sz="3200" dirty="0" smtClean="0"/>
              <a:t>derived.</a:t>
            </a:r>
            <a:endParaRPr lang="en-US" altLang="en-US" sz="3200" dirty="0">
              <a:solidFill>
                <a:schemeClr val="tx1"/>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pic>
        <p:nvPicPr>
          <p:cNvPr id="3" name="Picture 2"/>
          <p:cNvPicPr>
            <a:picLocks noChangeAspect="1"/>
          </p:cNvPicPr>
          <p:nvPr/>
        </p:nvPicPr>
        <p:blipFill>
          <a:blip r:embed="rId2"/>
          <a:stretch>
            <a:fillRect/>
          </a:stretch>
        </p:blipFill>
        <p:spPr>
          <a:xfrm>
            <a:off x="1958339" y="2091574"/>
            <a:ext cx="9502141" cy="3570086"/>
          </a:xfrm>
          <a:prstGeom prst="rect">
            <a:avLst/>
          </a:prstGeom>
        </p:spPr>
      </p:pic>
    </p:spTree>
    <p:extLst>
      <p:ext uri="{BB962C8B-B14F-4D97-AF65-F5344CB8AC3E}">
        <p14:creationId xmlns:p14="http://schemas.microsoft.com/office/powerpoint/2010/main" val="17178285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500"/>
            <a:ext cx="10601610" cy="745396"/>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sz="3600" dirty="0"/>
              <a:t>Types in C</a:t>
            </a:r>
          </a:p>
        </p:txBody>
      </p:sp>
      <p:sp>
        <p:nvSpPr>
          <p:cNvPr id="6" name="Rectangle 3"/>
          <p:cNvSpPr txBox="1">
            <a:spLocks noChangeArrowheads="1"/>
          </p:cNvSpPr>
          <p:nvPr/>
        </p:nvSpPr>
        <p:spPr>
          <a:xfrm>
            <a:off x="396240" y="921896"/>
            <a:ext cx="11954599" cy="5045315"/>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sz="3200" b="1" dirty="0" smtClean="0"/>
              <a:t>Void Type</a:t>
            </a:r>
            <a:r>
              <a:rPr lang="en-US" sz="3200" dirty="0" smtClean="0"/>
              <a:t>:</a:t>
            </a:r>
          </a:p>
          <a:p>
            <a:pPr lvl="3">
              <a:lnSpc>
                <a:spcPct val="90000"/>
              </a:lnSpc>
            </a:pPr>
            <a:r>
              <a:rPr lang="en-US" sz="3200" dirty="0"/>
              <a:t>Is designated by the key word void</a:t>
            </a:r>
          </a:p>
          <a:p>
            <a:pPr lvl="3">
              <a:lnSpc>
                <a:spcPct val="90000"/>
              </a:lnSpc>
            </a:pPr>
            <a:r>
              <a:rPr lang="en-US" sz="3200" dirty="0" smtClean="0"/>
              <a:t>Has </a:t>
            </a:r>
            <a:r>
              <a:rPr lang="en-US" sz="3200" dirty="0"/>
              <a:t>no values and no operations</a:t>
            </a:r>
          </a:p>
          <a:p>
            <a:pPr lvl="3">
              <a:lnSpc>
                <a:spcPct val="90000"/>
              </a:lnSpc>
            </a:pPr>
            <a:r>
              <a:rPr lang="en-US" sz="3200" dirty="0" smtClean="0"/>
              <a:t>Very </a:t>
            </a:r>
            <a:r>
              <a:rPr lang="en-US" sz="3200" dirty="0"/>
              <a:t>useful </a:t>
            </a:r>
            <a:r>
              <a:rPr lang="en-US" sz="3200" dirty="0" smtClean="0"/>
              <a:t>type</a:t>
            </a:r>
          </a:p>
          <a:p>
            <a:pPr lvl="3">
              <a:lnSpc>
                <a:spcPct val="90000"/>
              </a:lnSpc>
            </a:pPr>
            <a:r>
              <a:rPr lang="en-US" sz="3200" dirty="0" smtClean="0"/>
              <a:t>Used </a:t>
            </a:r>
            <a:r>
              <a:rPr lang="en-US" sz="3200" dirty="0"/>
              <a:t>in cases where a function has no parameters or return </a:t>
            </a:r>
            <a:r>
              <a:rPr lang="en-US" sz="3200" dirty="0" smtClean="0"/>
              <a:t>values and </a:t>
            </a:r>
            <a:r>
              <a:rPr lang="en-US" sz="3200" dirty="0"/>
              <a:t>for many other purposes which will be covered in </a:t>
            </a:r>
            <a:r>
              <a:rPr lang="en-US" sz="3200" dirty="0" smtClean="0"/>
              <a:t>the forthcoming topics.</a:t>
            </a:r>
          </a:p>
          <a:p>
            <a:pPr marL="860425" lvl="3" indent="-457200">
              <a:lnSpc>
                <a:spcPct val="90000"/>
              </a:lnSpc>
              <a:buFont typeface="Arial" panose="020B0604020202020204" pitchFamily="34" charset="0"/>
              <a:buChar char="•"/>
            </a:pPr>
            <a:r>
              <a:rPr lang="en-US" sz="3200" b="1" dirty="0"/>
              <a:t>Integral type</a:t>
            </a:r>
            <a:r>
              <a:rPr lang="en-US" sz="3200" b="1" dirty="0" smtClean="0"/>
              <a:t>:</a:t>
            </a:r>
            <a:endParaRPr lang="en-US" sz="3200" b="1" dirty="0" smtClean="0"/>
          </a:p>
          <a:p>
            <a:pPr marL="1774825" lvl="5" indent="-457200">
              <a:lnSpc>
                <a:spcPct val="90000"/>
              </a:lnSpc>
            </a:pPr>
            <a:r>
              <a:rPr lang="en-US" sz="3200" dirty="0" smtClean="0"/>
              <a:t>Contains only number quantities. </a:t>
            </a:r>
          </a:p>
          <a:p>
            <a:pPr marL="1774825" lvl="5" indent="-457200">
              <a:lnSpc>
                <a:spcPct val="90000"/>
              </a:lnSpc>
            </a:pPr>
            <a:r>
              <a:rPr lang="en-US" sz="3200" dirty="0" smtClean="0"/>
              <a:t>C has 3 types of integral parts: Boolean (T or F</a:t>
            </a:r>
            <a:r>
              <a:rPr lang="en-US" sz="3200" dirty="0" smtClean="0"/>
              <a:t>), </a:t>
            </a:r>
            <a:r>
              <a:rPr lang="en-US" sz="3200" dirty="0" smtClean="0"/>
              <a:t>Character also char (symbols), and integer (whole numbers).</a:t>
            </a:r>
            <a:endParaRPr lang="en-US" sz="3200" dirty="0"/>
          </a:p>
          <a:p>
            <a:pPr marL="403225" lvl="3" indent="0">
              <a:lnSpc>
                <a:spcPct val="90000"/>
              </a:lnSpc>
              <a:buNone/>
            </a:pPr>
            <a:endParaRPr lang="en-US" sz="2200" dirty="0" smtClean="0"/>
          </a:p>
          <a:p>
            <a:pPr lvl="2">
              <a:lnSpc>
                <a:spcPct val="90000"/>
              </a:lnSpc>
            </a:pPr>
            <a:endParaRPr lang="en-US" altLang="en-US" sz="3000" dirty="0">
              <a:solidFill>
                <a:schemeClr val="tx1"/>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spTree>
    <p:extLst>
      <p:ext uri="{BB962C8B-B14F-4D97-AF65-F5344CB8AC3E}">
        <p14:creationId xmlns:p14="http://schemas.microsoft.com/office/powerpoint/2010/main" val="1840363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500"/>
            <a:ext cx="10601610" cy="745396"/>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sz="3600" dirty="0"/>
              <a:t>Types in C</a:t>
            </a: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pic>
        <p:nvPicPr>
          <p:cNvPr id="3" name="Picture 2"/>
          <p:cNvPicPr>
            <a:picLocks noChangeAspect="1"/>
          </p:cNvPicPr>
          <p:nvPr/>
        </p:nvPicPr>
        <p:blipFill>
          <a:blip r:embed="rId2"/>
          <a:stretch>
            <a:fillRect/>
          </a:stretch>
        </p:blipFill>
        <p:spPr>
          <a:xfrm>
            <a:off x="1146749" y="1104776"/>
            <a:ext cx="10630701" cy="4579744"/>
          </a:xfrm>
          <a:prstGeom prst="rect">
            <a:avLst/>
          </a:prstGeom>
        </p:spPr>
      </p:pic>
    </p:spTree>
    <p:extLst>
      <p:ext uri="{BB962C8B-B14F-4D97-AF65-F5344CB8AC3E}">
        <p14:creationId xmlns:p14="http://schemas.microsoft.com/office/powerpoint/2010/main" val="104985085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500"/>
            <a:ext cx="10601610" cy="745396"/>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sz="3600" dirty="0"/>
              <a:t>Types in C</a:t>
            </a:r>
          </a:p>
        </p:txBody>
      </p:sp>
      <p:sp>
        <p:nvSpPr>
          <p:cNvPr id="6" name="Rectangle 3"/>
          <p:cNvSpPr txBox="1">
            <a:spLocks noChangeArrowheads="1"/>
          </p:cNvSpPr>
          <p:nvPr/>
        </p:nvSpPr>
        <p:spPr>
          <a:xfrm>
            <a:off x="525781" y="805645"/>
            <a:ext cx="11082378" cy="5082460"/>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sz="3200" b="1" dirty="0" smtClean="0"/>
              <a:t>Floating-Point Type</a:t>
            </a:r>
            <a:r>
              <a:rPr lang="en-US" sz="3200" dirty="0" smtClean="0"/>
              <a:t>:</a:t>
            </a:r>
          </a:p>
          <a:p>
            <a:pPr lvl="3">
              <a:lnSpc>
                <a:spcPct val="90000"/>
              </a:lnSpc>
            </a:pPr>
            <a:r>
              <a:rPr lang="en-US" sz="3200" dirty="0" smtClean="0"/>
              <a:t>Real type holds values with </a:t>
            </a:r>
            <a:r>
              <a:rPr lang="en-US" sz="3200" dirty="0"/>
              <a:t>fraction and integer  can be (float, double and long double</a:t>
            </a:r>
            <a:r>
              <a:rPr lang="en-US" sz="3200" dirty="0" smtClean="0"/>
              <a:t>). 34.5 students.</a:t>
            </a:r>
            <a:endParaRPr lang="en-US" sz="3200" dirty="0" smtClean="0"/>
          </a:p>
          <a:p>
            <a:pPr lvl="3">
              <a:lnSpc>
                <a:spcPct val="90000"/>
              </a:lnSpc>
            </a:pPr>
            <a:r>
              <a:rPr lang="en-US" sz="3200" b="1" dirty="0" smtClean="0"/>
              <a:t>Imaginary type</a:t>
            </a:r>
            <a:r>
              <a:rPr lang="en-US" sz="3200" dirty="0" smtClean="0"/>
              <a:t>: component of complex type, C does not support it.</a:t>
            </a:r>
          </a:p>
          <a:p>
            <a:pPr lvl="3">
              <a:lnSpc>
                <a:spcPct val="90000"/>
              </a:lnSpc>
            </a:pPr>
            <a:r>
              <a:rPr lang="en-US" sz="3200" b="1" dirty="0" smtClean="0"/>
              <a:t>Complex type</a:t>
            </a:r>
            <a:r>
              <a:rPr lang="en-US" sz="3200" dirty="0"/>
              <a:t>: Similar to real type can be of three different sizes: float </a:t>
            </a:r>
            <a:r>
              <a:rPr lang="en-US" sz="3200" dirty="0" smtClean="0"/>
              <a:t>complex, double </a:t>
            </a:r>
            <a:r>
              <a:rPr lang="en-US" sz="3200" dirty="0"/>
              <a:t>complex and long </a:t>
            </a:r>
            <a:r>
              <a:rPr lang="en-US" sz="3200" dirty="0" err="1"/>
              <a:t>long</a:t>
            </a:r>
            <a:r>
              <a:rPr lang="en-US" sz="3200" dirty="0"/>
              <a:t> </a:t>
            </a:r>
            <a:r>
              <a:rPr lang="en-US" sz="3200" dirty="0" smtClean="0"/>
              <a:t>complex</a:t>
            </a:r>
            <a:r>
              <a:rPr lang="en-US" sz="3200" dirty="0" smtClean="0"/>
              <a:t>.</a:t>
            </a:r>
          </a:p>
          <a:p>
            <a:pPr lvl="3">
              <a:lnSpc>
                <a:spcPct val="90000"/>
              </a:lnSpc>
            </a:pPr>
            <a:endParaRPr lang="en-US" sz="3200" dirty="0"/>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spTree>
    <p:extLst>
      <p:ext uri="{BB962C8B-B14F-4D97-AF65-F5344CB8AC3E}">
        <p14:creationId xmlns:p14="http://schemas.microsoft.com/office/powerpoint/2010/main" val="2739649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500"/>
            <a:ext cx="10601610" cy="745396"/>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sz="3600" dirty="0"/>
              <a:t>Types in C</a:t>
            </a:r>
          </a:p>
        </p:txBody>
      </p:sp>
      <p:sp>
        <p:nvSpPr>
          <p:cNvPr id="6" name="Rectangle 3"/>
          <p:cNvSpPr txBox="1">
            <a:spLocks noChangeArrowheads="1"/>
          </p:cNvSpPr>
          <p:nvPr/>
        </p:nvSpPr>
        <p:spPr>
          <a:xfrm>
            <a:off x="525780" y="809938"/>
            <a:ext cx="11666219" cy="5082460"/>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sz="3200" b="1" dirty="0" smtClean="0"/>
              <a:t>Summary </a:t>
            </a:r>
            <a:endParaRPr lang="en-US" sz="3200" dirty="0" smtClean="0"/>
          </a:p>
          <a:p>
            <a:pPr marL="403225" lvl="3" indent="0">
              <a:lnSpc>
                <a:spcPct val="90000"/>
              </a:lnSpc>
              <a:buNone/>
            </a:pPr>
            <a:endParaRPr lang="en-US" sz="2200" dirty="0" smtClean="0"/>
          </a:p>
          <a:p>
            <a:pPr lvl="2">
              <a:lnSpc>
                <a:spcPct val="90000"/>
              </a:lnSpc>
            </a:pPr>
            <a:endParaRPr lang="en-US" altLang="en-US" sz="3000" dirty="0">
              <a:solidFill>
                <a:schemeClr val="tx1"/>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pic>
        <p:nvPicPr>
          <p:cNvPr id="3" name="Picture 2"/>
          <p:cNvPicPr>
            <a:picLocks noChangeAspect="1"/>
          </p:cNvPicPr>
          <p:nvPr/>
        </p:nvPicPr>
        <p:blipFill>
          <a:blip r:embed="rId2"/>
          <a:stretch>
            <a:fillRect/>
          </a:stretch>
        </p:blipFill>
        <p:spPr>
          <a:xfrm>
            <a:off x="2119968" y="1551041"/>
            <a:ext cx="7504092" cy="4824638"/>
          </a:xfrm>
          <a:prstGeom prst="rect">
            <a:avLst/>
          </a:prstGeom>
        </p:spPr>
      </p:pic>
    </p:spTree>
    <p:extLst>
      <p:ext uri="{BB962C8B-B14F-4D97-AF65-F5344CB8AC3E}">
        <p14:creationId xmlns:p14="http://schemas.microsoft.com/office/powerpoint/2010/main" val="3222783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500"/>
            <a:ext cx="10601610" cy="745396"/>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sz="3600" dirty="0"/>
              <a:t>Variables in C</a:t>
            </a:r>
          </a:p>
        </p:txBody>
      </p:sp>
      <p:sp>
        <p:nvSpPr>
          <p:cNvPr id="6" name="Rectangle 3"/>
          <p:cNvSpPr txBox="1">
            <a:spLocks noChangeArrowheads="1"/>
          </p:cNvSpPr>
          <p:nvPr/>
        </p:nvSpPr>
        <p:spPr>
          <a:xfrm>
            <a:off x="685799" y="845819"/>
            <a:ext cx="11132821" cy="5529859"/>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sz="3200" dirty="0"/>
              <a:t>Variables are named memory locations which have a type such </a:t>
            </a:r>
            <a:r>
              <a:rPr lang="en-US" sz="3200" dirty="0" smtClean="0"/>
              <a:t>as integer </a:t>
            </a:r>
            <a:r>
              <a:rPr lang="en-US" sz="3200" dirty="0"/>
              <a:t>or </a:t>
            </a:r>
            <a:r>
              <a:rPr lang="en-US" sz="3200" dirty="0" smtClean="0"/>
              <a:t>character.</a:t>
            </a:r>
          </a:p>
          <a:p>
            <a:pPr lvl="1">
              <a:lnSpc>
                <a:spcPct val="90000"/>
              </a:lnSpc>
              <a:buFont typeface="Arial" panose="020B0604020202020204" pitchFamily="34" charset="0"/>
              <a:buChar char="•"/>
            </a:pPr>
            <a:r>
              <a:rPr lang="en-US" sz="3200" dirty="0" smtClean="0"/>
              <a:t>The types specified for a variable determines the value that the variable may contain. </a:t>
            </a:r>
            <a:endParaRPr lang="en-US" sz="3200" dirty="0"/>
          </a:p>
          <a:p>
            <a:pPr lvl="1">
              <a:lnSpc>
                <a:spcPct val="90000"/>
              </a:lnSpc>
              <a:buFont typeface="Arial" panose="020B0604020202020204" pitchFamily="34" charset="0"/>
              <a:buChar char="•"/>
            </a:pPr>
            <a:r>
              <a:rPr lang="en-US" sz="3200" dirty="0" smtClean="0"/>
              <a:t>Variable </a:t>
            </a:r>
            <a:r>
              <a:rPr lang="en-US" sz="3200" dirty="0" smtClean="0"/>
              <a:t>must be declared. </a:t>
            </a:r>
          </a:p>
          <a:p>
            <a:pPr lvl="1">
              <a:lnSpc>
                <a:spcPct val="90000"/>
              </a:lnSpc>
              <a:buFont typeface="Arial" panose="020B0604020202020204" pitchFamily="34" charset="0"/>
              <a:buChar char="•"/>
            </a:pPr>
            <a:r>
              <a:rPr lang="en-US" sz="3200" dirty="0"/>
              <a:t>A C declaration is giving name to a </a:t>
            </a:r>
            <a:r>
              <a:rPr lang="en-US" sz="3200" dirty="0" smtClean="0"/>
              <a:t>variable.</a:t>
            </a:r>
          </a:p>
          <a:p>
            <a:pPr lvl="1">
              <a:lnSpc>
                <a:spcPct val="90000"/>
              </a:lnSpc>
              <a:buFont typeface="Arial" panose="020B0604020202020204" pitchFamily="34" charset="0"/>
              <a:buChar char="•"/>
            </a:pPr>
            <a:r>
              <a:rPr lang="en-US" sz="3200" dirty="0" smtClean="0"/>
              <a:t>Once </a:t>
            </a:r>
            <a:r>
              <a:rPr lang="en-US" sz="3200" dirty="0"/>
              <a:t>defined, variables are used to hold the data required by </a:t>
            </a:r>
            <a:r>
              <a:rPr lang="en-US" sz="3200" dirty="0" smtClean="0"/>
              <a:t>the program </a:t>
            </a:r>
            <a:r>
              <a:rPr lang="en-US" sz="3200" dirty="0"/>
              <a:t>for its </a:t>
            </a:r>
            <a:r>
              <a:rPr lang="en-US" sz="3200" dirty="0" smtClean="0"/>
              <a:t>operation.</a:t>
            </a:r>
          </a:p>
          <a:p>
            <a:pPr lvl="1">
              <a:lnSpc>
                <a:spcPct val="90000"/>
              </a:lnSpc>
              <a:buFont typeface="Arial" panose="020B0604020202020204" pitchFamily="34" charset="0"/>
              <a:buChar char="•"/>
            </a:pPr>
            <a:r>
              <a:rPr lang="en-US" sz="3200" dirty="0" smtClean="0"/>
              <a:t>Definition </a:t>
            </a:r>
            <a:r>
              <a:rPr lang="en-US" sz="3200" dirty="0"/>
              <a:t>reserves memory for the variables</a:t>
            </a:r>
            <a:endParaRPr lang="en-US" sz="3200" dirty="0" smtClean="0"/>
          </a:p>
          <a:p>
            <a:pPr marL="403225" lvl="3" indent="0">
              <a:lnSpc>
                <a:spcPct val="90000"/>
              </a:lnSpc>
              <a:buNone/>
            </a:pPr>
            <a:r>
              <a:rPr lang="en-US" sz="2200" dirty="0" smtClean="0"/>
              <a:t> </a:t>
            </a:r>
          </a:p>
          <a:p>
            <a:pPr lvl="2">
              <a:lnSpc>
                <a:spcPct val="90000"/>
              </a:lnSpc>
            </a:pPr>
            <a:endParaRPr lang="en-US" altLang="en-US" sz="3000" dirty="0">
              <a:solidFill>
                <a:schemeClr val="tx1"/>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spTree>
    <p:extLst>
      <p:ext uri="{BB962C8B-B14F-4D97-AF65-F5344CB8AC3E}">
        <p14:creationId xmlns:p14="http://schemas.microsoft.com/office/powerpoint/2010/main" val="41273341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500"/>
            <a:ext cx="10601610" cy="745396"/>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sz="3600" dirty="0"/>
              <a:t>Variables in C</a:t>
            </a:r>
          </a:p>
        </p:txBody>
      </p:sp>
      <p:sp>
        <p:nvSpPr>
          <p:cNvPr id="6" name="Rectangle 3"/>
          <p:cNvSpPr txBox="1">
            <a:spLocks noChangeArrowheads="1"/>
          </p:cNvSpPr>
          <p:nvPr/>
        </p:nvSpPr>
        <p:spPr>
          <a:xfrm>
            <a:off x="685799" y="921896"/>
            <a:ext cx="11287260" cy="5529859"/>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sz="3200" dirty="0" smtClean="0"/>
              <a:t>Examples of variables declaration</a:t>
            </a:r>
            <a:r>
              <a:rPr lang="en-US" sz="3200" dirty="0" smtClean="0"/>
              <a:t>. </a:t>
            </a:r>
            <a:endParaRPr lang="en-US" sz="3200" dirty="0"/>
          </a:p>
          <a:p>
            <a:pPr lvl="1">
              <a:lnSpc>
                <a:spcPct val="90000"/>
              </a:lnSpc>
              <a:buFont typeface="Arial" panose="020B0604020202020204" pitchFamily="34" charset="0"/>
              <a:buChar char="•"/>
            </a:pPr>
            <a:endParaRPr lang="en-US" sz="3200" dirty="0" smtClean="0"/>
          </a:p>
          <a:p>
            <a:pPr lvl="1">
              <a:lnSpc>
                <a:spcPct val="90000"/>
              </a:lnSpc>
              <a:buFont typeface="Arial" panose="020B0604020202020204" pitchFamily="34" charset="0"/>
              <a:buChar char="•"/>
            </a:pPr>
            <a:endParaRPr lang="en-US" sz="3200" smtClean="0"/>
          </a:p>
          <a:p>
            <a:pPr lvl="1">
              <a:lnSpc>
                <a:spcPct val="90000"/>
              </a:lnSpc>
              <a:buFont typeface="Arial" panose="020B0604020202020204" pitchFamily="34" charset="0"/>
              <a:buChar char="•"/>
            </a:pPr>
            <a:endParaRPr lang="en-US" sz="3200" dirty="0" smtClean="0"/>
          </a:p>
          <a:p>
            <a:pPr lvl="1">
              <a:lnSpc>
                <a:spcPct val="90000"/>
              </a:lnSpc>
              <a:buFont typeface="Arial" panose="020B0604020202020204" pitchFamily="34" charset="0"/>
              <a:buChar char="•"/>
            </a:pPr>
            <a:r>
              <a:rPr lang="en-US" sz="3200" dirty="0"/>
              <a:t>To create a variable, first specify the type, which automatically specifies its </a:t>
            </a:r>
            <a:r>
              <a:rPr lang="en-US" sz="3200" dirty="0" smtClean="0"/>
              <a:t>size (precision</a:t>
            </a:r>
            <a:r>
              <a:rPr lang="en-US" sz="3200" dirty="0"/>
              <a:t>) and then its </a:t>
            </a:r>
            <a:r>
              <a:rPr lang="en-US" sz="3200" dirty="0" smtClean="0"/>
              <a:t>identifier</a:t>
            </a:r>
          </a:p>
          <a:p>
            <a:pPr lvl="3">
              <a:lnSpc>
                <a:spcPct val="90000"/>
              </a:lnSpc>
            </a:pPr>
            <a:r>
              <a:rPr lang="en-US" sz="2800" dirty="0" smtClean="0"/>
              <a:t>For </a:t>
            </a:r>
            <a:r>
              <a:rPr lang="en-US" sz="2800" dirty="0"/>
              <a:t>example</a:t>
            </a:r>
          </a:p>
          <a:p>
            <a:pPr marL="914400" lvl="2" indent="0">
              <a:lnSpc>
                <a:spcPct val="90000"/>
              </a:lnSpc>
              <a:buNone/>
            </a:pPr>
            <a:r>
              <a:rPr lang="en-US" sz="3000" dirty="0" smtClean="0"/>
              <a:t>	</a:t>
            </a:r>
            <a:r>
              <a:rPr lang="en-US" sz="3000" dirty="0" smtClean="0">
                <a:solidFill>
                  <a:srgbClr val="0070C0"/>
                </a:solidFill>
              </a:rPr>
              <a:t>float</a:t>
            </a:r>
            <a:r>
              <a:rPr lang="en-US" sz="3000" dirty="0" smtClean="0"/>
              <a:t> </a:t>
            </a:r>
            <a:r>
              <a:rPr lang="en-US" sz="3000" dirty="0">
                <a:solidFill>
                  <a:schemeClr val="accent5"/>
                </a:solidFill>
              </a:rPr>
              <a:t>price</a:t>
            </a:r>
            <a:r>
              <a:rPr lang="en-US" sz="3000" dirty="0"/>
              <a:t>;</a:t>
            </a:r>
          </a:p>
          <a:p>
            <a:pPr lvl="1">
              <a:lnSpc>
                <a:spcPct val="90000"/>
              </a:lnSpc>
              <a:buFont typeface="Arial" panose="020B0604020202020204" pitchFamily="34" charset="0"/>
              <a:buChar char="•"/>
            </a:pPr>
            <a:r>
              <a:rPr lang="en-US" sz="3200" dirty="0"/>
              <a:t>denotes the definition of a real variable named </a:t>
            </a:r>
            <a:r>
              <a:rPr lang="en-US" sz="3200" u="sng" dirty="0"/>
              <a:t>price</a:t>
            </a:r>
            <a:r>
              <a:rPr lang="en-US" sz="3200" dirty="0"/>
              <a:t> of type </a:t>
            </a:r>
            <a:r>
              <a:rPr lang="en-US" sz="3200" u="sng" dirty="0"/>
              <a:t>float</a:t>
            </a:r>
            <a:endParaRPr lang="en-US" sz="3200" u="sng" dirty="0" smtClean="0"/>
          </a:p>
          <a:p>
            <a:pPr marL="403225" lvl="3" indent="0">
              <a:lnSpc>
                <a:spcPct val="90000"/>
              </a:lnSpc>
              <a:buNone/>
            </a:pPr>
            <a:endParaRPr lang="en-US" sz="2200" dirty="0" smtClean="0"/>
          </a:p>
          <a:p>
            <a:pPr lvl="2">
              <a:lnSpc>
                <a:spcPct val="90000"/>
              </a:lnSpc>
            </a:pPr>
            <a:endParaRPr lang="en-US" altLang="en-US" sz="3000" dirty="0">
              <a:solidFill>
                <a:schemeClr val="tx1"/>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pic>
        <p:nvPicPr>
          <p:cNvPr id="3" name="Picture 2"/>
          <p:cNvPicPr>
            <a:picLocks noChangeAspect="1"/>
          </p:cNvPicPr>
          <p:nvPr/>
        </p:nvPicPr>
        <p:blipFill>
          <a:blip r:embed="rId2"/>
          <a:stretch>
            <a:fillRect/>
          </a:stretch>
        </p:blipFill>
        <p:spPr>
          <a:xfrm>
            <a:off x="2950090" y="1234760"/>
            <a:ext cx="5452302" cy="1548416"/>
          </a:xfrm>
          <a:prstGeom prst="rect">
            <a:avLst/>
          </a:prstGeom>
        </p:spPr>
      </p:pic>
    </p:spTree>
    <p:extLst>
      <p:ext uri="{BB962C8B-B14F-4D97-AF65-F5344CB8AC3E}">
        <p14:creationId xmlns:p14="http://schemas.microsoft.com/office/powerpoint/2010/main" val="667835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500"/>
            <a:ext cx="10601610" cy="745396"/>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sz="3600" dirty="0"/>
              <a:t>Variables in C</a:t>
            </a:r>
          </a:p>
        </p:txBody>
      </p:sp>
      <p:sp>
        <p:nvSpPr>
          <p:cNvPr id="6" name="Rectangle 3"/>
          <p:cNvSpPr txBox="1">
            <a:spLocks noChangeArrowheads="1"/>
          </p:cNvSpPr>
          <p:nvPr/>
        </p:nvSpPr>
        <p:spPr>
          <a:xfrm>
            <a:off x="685799" y="921896"/>
            <a:ext cx="11132821" cy="5529859"/>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sz="3200" dirty="0" smtClean="0"/>
              <a:t>Examples of variables declaration.</a:t>
            </a:r>
          </a:p>
          <a:p>
            <a:pPr lvl="1">
              <a:lnSpc>
                <a:spcPct val="90000"/>
              </a:lnSpc>
              <a:buFont typeface="Arial" panose="020B0604020202020204" pitchFamily="34" charset="0"/>
              <a:buChar char="•"/>
            </a:pPr>
            <a:endParaRPr lang="en-US" sz="3200" dirty="0"/>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pic>
        <p:nvPicPr>
          <p:cNvPr id="4" name="Picture 3"/>
          <p:cNvPicPr>
            <a:picLocks noChangeAspect="1"/>
          </p:cNvPicPr>
          <p:nvPr/>
        </p:nvPicPr>
        <p:blipFill>
          <a:blip r:embed="rId2"/>
          <a:stretch>
            <a:fillRect/>
          </a:stretch>
        </p:blipFill>
        <p:spPr>
          <a:xfrm>
            <a:off x="1679475" y="1938204"/>
            <a:ext cx="8456341" cy="3623429"/>
          </a:xfrm>
          <a:prstGeom prst="rect">
            <a:avLst/>
          </a:prstGeom>
        </p:spPr>
      </p:pic>
    </p:spTree>
    <p:extLst>
      <p:ext uri="{BB962C8B-B14F-4D97-AF65-F5344CB8AC3E}">
        <p14:creationId xmlns:p14="http://schemas.microsoft.com/office/powerpoint/2010/main" val="2906061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500"/>
            <a:ext cx="10601610" cy="745396"/>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sz="3600" dirty="0"/>
              <a:t>Variables in C</a:t>
            </a:r>
          </a:p>
        </p:txBody>
      </p:sp>
      <p:sp>
        <p:nvSpPr>
          <p:cNvPr id="6" name="Rectangle 3"/>
          <p:cNvSpPr txBox="1">
            <a:spLocks noChangeArrowheads="1"/>
          </p:cNvSpPr>
          <p:nvPr/>
        </p:nvSpPr>
        <p:spPr>
          <a:xfrm>
            <a:off x="615538" y="845820"/>
            <a:ext cx="11198682" cy="5529859"/>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sz="3200" b="1" dirty="0" smtClean="0"/>
              <a:t>Variable Initialization </a:t>
            </a:r>
          </a:p>
          <a:p>
            <a:pPr lvl="2">
              <a:lnSpc>
                <a:spcPct val="90000"/>
              </a:lnSpc>
            </a:pPr>
            <a:r>
              <a:rPr lang="en-US" sz="3000" dirty="0" smtClean="0"/>
              <a:t>When variables are defined, they usually contain meaningless values.</a:t>
            </a:r>
          </a:p>
          <a:p>
            <a:pPr lvl="2">
              <a:lnSpc>
                <a:spcPct val="90000"/>
              </a:lnSpc>
            </a:pPr>
            <a:r>
              <a:rPr lang="en-US" sz="3000" dirty="0" smtClean="0"/>
              <a:t>There is the need to store data in them by initialization before accessing the value.</a:t>
            </a:r>
          </a:p>
          <a:p>
            <a:pPr lvl="2">
              <a:lnSpc>
                <a:spcPct val="90000"/>
              </a:lnSpc>
            </a:pPr>
            <a:r>
              <a:rPr lang="en-US" sz="3000" dirty="0"/>
              <a:t>A variable can be initialized at the time of declaration using an </a:t>
            </a:r>
            <a:r>
              <a:rPr lang="en-US" sz="3000" dirty="0" smtClean="0"/>
              <a:t>initializer.</a:t>
            </a:r>
          </a:p>
          <a:p>
            <a:pPr lvl="2">
              <a:lnSpc>
                <a:spcPct val="90000"/>
              </a:lnSpc>
            </a:pPr>
            <a:r>
              <a:rPr lang="en-US" sz="3000" dirty="0" smtClean="0"/>
              <a:t>Example:</a:t>
            </a:r>
          </a:p>
          <a:p>
            <a:pPr lvl="3">
              <a:lnSpc>
                <a:spcPct val="90000"/>
              </a:lnSpc>
            </a:pPr>
            <a:r>
              <a:rPr lang="en-US" sz="2800" u="sng" dirty="0" err="1">
                <a:solidFill>
                  <a:srgbClr val="00B0F0"/>
                </a:solidFill>
              </a:rPr>
              <a:t>int</a:t>
            </a:r>
            <a:r>
              <a:rPr lang="en-US" sz="2800" dirty="0">
                <a:solidFill>
                  <a:srgbClr val="00B0F0"/>
                </a:solidFill>
              </a:rPr>
              <a:t> </a:t>
            </a:r>
            <a:r>
              <a:rPr lang="en-US" sz="2800" u="sng" dirty="0">
                <a:solidFill>
                  <a:srgbClr val="00B0F0"/>
                </a:solidFill>
              </a:rPr>
              <a:t>count</a:t>
            </a:r>
            <a:r>
              <a:rPr lang="en-US" sz="2800" dirty="0">
                <a:solidFill>
                  <a:srgbClr val="00B0F0"/>
                </a:solidFill>
              </a:rPr>
              <a:t> = </a:t>
            </a:r>
            <a:r>
              <a:rPr lang="en-US" sz="2800" u="sng" dirty="0" smtClean="0">
                <a:solidFill>
                  <a:srgbClr val="00B0F0"/>
                </a:solidFill>
              </a:rPr>
              <a:t>0</a:t>
            </a:r>
            <a:r>
              <a:rPr lang="en-US" sz="2800" dirty="0" smtClean="0">
                <a:solidFill>
                  <a:srgbClr val="00B0F0"/>
                </a:solidFill>
              </a:rPr>
              <a:t>;</a:t>
            </a:r>
          </a:p>
          <a:p>
            <a:pPr marL="457200" lvl="1" indent="0">
              <a:lnSpc>
                <a:spcPct val="90000"/>
              </a:lnSpc>
              <a:buNone/>
            </a:pPr>
            <a:r>
              <a:rPr lang="en-US" sz="2800" dirty="0"/>
              <a:t>Every time the function containing count is entered, count is set to </a:t>
            </a:r>
            <a:r>
              <a:rPr lang="en-US" sz="2800" dirty="0" smtClean="0"/>
              <a:t>zero</a:t>
            </a:r>
          </a:p>
          <a:p>
            <a:pPr marL="457200" lvl="1" indent="0">
              <a:lnSpc>
                <a:spcPct val="90000"/>
              </a:lnSpc>
              <a:buNone/>
            </a:pPr>
            <a:r>
              <a:rPr lang="en-US" sz="3200" dirty="0" smtClean="0"/>
              <a:t>Question: Are both counts and sum </a:t>
            </a:r>
            <a:r>
              <a:rPr lang="en-US" sz="3200" dirty="0"/>
              <a:t>initialized in </a:t>
            </a:r>
            <a:r>
              <a:rPr lang="en-US" sz="3200" dirty="0" err="1">
                <a:solidFill>
                  <a:srgbClr val="00B0F0"/>
                </a:solidFill>
              </a:rPr>
              <a:t>int</a:t>
            </a:r>
            <a:r>
              <a:rPr lang="en-US" sz="3200" dirty="0">
                <a:solidFill>
                  <a:srgbClr val="00B0F0"/>
                </a:solidFill>
              </a:rPr>
              <a:t> count, sum=0</a:t>
            </a:r>
            <a:r>
              <a:rPr lang="en-US" sz="3200" dirty="0" smtClean="0">
                <a:solidFill>
                  <a:srgbClr val="00B0F0"/>
                </a:solidFill>
              </a:rPr>
              <a:t>; - </a:t>
            </a:r>
            <a:r>
              <a:rPr lang="en-US" sz="3200" dirty="0" smtClean="0">
                <a:solidFill>
                  <a:schemeClr val="tx1"/>
                </a:solidFill>
              </a:rPr>
              <a:t>No, only sum is initialized.</a:t>
            </a:r>
            <a:endParaRPr lang="en-US" sz="3200" dirty="0">
              <a:solidFill>
                <a:srgbClr val="00B0F0"/>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spTree>
    <p:extLst>
      <p:ext uri="{BB962C8B-B14F-4D97-AF65-F5344CB8AC3E}">
        <p14:creationId xmlns:p14="http://schemas.microsoft.com/office/powerpoint/2010/main" val="4131090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500"/>
            <a:ext cx="10601610" cy="745396"/>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altLang="en-US" sz="3600" dirty="0"/>
              <a:t>Variables in C</a:t>
            </a:r>
          </a:p>
        </p:txBody>
      </p:sp>
      <p:sp>
        <p:nvSpPr>
          <p:cNvPr id="6" name="Rectangle 3"/>
          <p:cNvSpPr txBox="1">
            <a:spLocks noChangeArrowheads="1"/>
          </p:cNvSpPr>
          <p:nvPr/>
        </p:nvSpPr>
        <p:spPr>
          <a:xfrm>
            <a:off x="881143" y="654218"/>
            <a:ext cx="11132821" cy="5529859"/>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sz="3200" b="1" dirty="0" smtClean="0"/>
              <a:t>Variable Initialization </a:t>
            </a:r>
          </a:p>
          <a:p>
            <a:pPr lvl="2">
              <a:lnSpc>
                <a:spcPct val="90000"/>
              </a:lnSpc>
            </a:pPr>
            <a:r>
              <a:rPr lang="en-US" sz="3000" dirty="0" smtClean="0"/>
              <a:t>To avoid confusion and error, declaration is done per line.</a:t>
            </a:r>
          </a:p>
          <a:p>
            <a:pPr lvl="3">
              <a:lnSpc>
                <a:spcPct val="90000"/>
              </a:lnSpc>
            </a:pPr>
            <a:r>
              <a:rPr lang="en-US" sz="3000" dirty="0" err="1">
                <a:solidFill>
                  <a:srgbClr val="00B0F0"/>
                </a:solidFill>
              </a:rPr>
              <a:t>int</a:t>
            </a:r>
            <a:r>
              <a:rPr lang="en-US" sz="3000" dirty="0">
                <a:solidFill>
                  <a:srgbClr val="00B0F0"/>
                </a:solidFill>
              </a:rPr>
              <a:t> count = 0;</a:t>
            </a:r>
          </a:p>
          <a:p>
            <a:pPr lvl="3">
              <a:lnSpc>
                <a:spcPct val="90000"/>
              </a:lnSpc>
            </a:pPr>
            <a:r>
              <a:rPr lang="en-US" sz="3000" dirty="0" err="1">
                <a:solidFill>
                  <a:srgbClr val="00B0F0"/>
                </a:solidFill>
              </a:rPr>
              <a:t>int</a:t>
            </a:r>
            <a:r>
              <a:rPr lang="en-US" sz="3000" dirty="0">
                <a:solidFill>
                  <a:srgbClr val="00B0F0"/>
                </a:solidFill>
              </a:rPr>
              <a:t> sum =0</a:t>
            </a:r>
            <a:r>
              <a:rPr lang="en-US" sz="3000" dirty="0" smtClean="0">
                <a:solidFill>
                  <a:srgbClr val="00B0F0"/>
                </a:solidFill>
              </a:rPr>
              <a:t>;</a:t>
            </a:r>
          </a:p>
          <a:p>
            <a:pPr marL="60325" lvl="3" indent="-60325">
              <a:lnSpc>
                <a:spcPct val="90000"/>
              </a:lnSpc>
              <a:buNone/>
            </a:pPr>
            <a:r>
              <a:rPr lang="en-US" sz="3000" dirty="0" smtClean="0">
                <a:solidFill>
                  <a:srgbClr val="00B0F0"/>
                </a:solidFill>
              </a:rPr>
              <a:t>		</a:t>
            </a:r>
            <a:r>
              <a:rPr lang="en-US" sz="3000" dirty="0" smtClean="0">
                <a:solidFill>
                  <a:schemeClr val="tx1"/>
                </a:solidFill>
              </a:rPr>
              <a:t>Revisit variable </a:t>
            </a:r>
            <a:r>
              <a:rPr lang="en-US" sz="3000" dirty="0">
                <a:solidFill>
                  <a:schemeClr val="tx1"/>
                </a:solidFill>
              </a:rPr>
              <a:t>declaration and definition along</a:t>
            </a:r>
          </a:p>
          <a:p>
            <a:pPr marL="60325" lvl="3" indent="-60325">
              <a:lnSpc>
                <a:spcPct val="90000"/>
              </a:lnSpc>
              <a:buNone/>
            </a:pPr>
            <a:r>
              <a:rPr lang="en-US" sz="3000" dirty="0" smtClean="0">
                <a:solidFill>
                  <a:schemeClr val="tx1"/>
                </a:solidFill>
              </a:rPr>
              <a:t>		with </a:t>
            </a:r>
            <a:r>
              <a:rPr lang="en-US" sz="3000" dirty="0">
                <a:solidFill>
                  <a:schemeClr val="tx1"/>
                </a:solidFill>
              </a:rPr>
              <a:t>initialization and the memory representation</a:t>
            </a:r>
            <a:endParaRPr lang="en-US" sz="3000" dirty="0" smtClean="0">
              <a:solidFill>
                <a:schemeClr val="tx1"/>
              </a:solidFill>
            </a:endParaRPr>
          </a:p>
          <a:p>
            <a:pPr lvl="3">
              <a:lnSpc>
                <a:spcPct val="90000"/>
              </a:lnSpc>
            </a:pPr>
            <a:endParaRPr lang="en-US" sz="3000" dirty="0">
              <a:solidFill>
                <a:srgbClr val="00B0F0"/>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pic>
        <p:nvPicPr>
          <p:cNvPr id="3" name="Picture 2"/>
          <p:cNvPicPr>
            <a:picLocks noChangeAspect="1"/>
          </p:cNvPicPr>
          <p:nvPr/>
        </p:nvPicPr>
        <p:blipFill>
          <a:blip r:embed="rId2"/>
          <a:stretch>
            <a:fillRect/>
          </a:stretch>
        </p:blipFill>
        <p:spPr>
          <a:xfrm>
            <a:off x="3115853" y="3624483"/>
            <a:ext cx="7755525" cy="2751196"/>
          </a:xfrm>
          <a:prstGeom prst="rect">
            <a:avLst/>
          </a:prstGeom>
        </p:spPr>
      </p:pic>
    </p:spTree>
    <p:extLst>
      <p:ext uri="{BB962C8B-B14F-4D97-AF65-F5344CB8AC3E}">
        <p14:creationId xmlns:p14="http://schemas.microsoft.com/office/powerpoint/2010/main" val="4287348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500"/>
            <a:ext cx="10601610" cy="745396"/>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sz="3600" dirty="0"/>
              <a:t>Constants in C</a:t>
            </a:r>
            <a:endParaRPr lang="en-US" altLang="en-US" sz="3600" dirty="0"/>
          </a:p>
        </p:txBody>
      </p:sp>
      <p:sp>
        <p:nvSpPr>
          <p:cNvPr id="6" name="Rectangle 3"/>
          <p:cNvSpPr txBox="1">
            <a:spLocks noChangeArrowheads="1"/>
          </p:cNvSpPr>
          <p:nvPr/>
        </p:nvSpPr>
        <p:spPr>
          <a:xfrm>
            <a:off x="881143" y="654218"/>
            <a:ext cx="11132821" cy="5529859"/>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sz="3200" dirty="0" smtClean="0"/>
              <a:t>More constants </a:t>
            </a:r>
          </a:p>
          <a:p>
            <a:pPr lvl="3">
              <a:lnSpc>
                <a:spcPct val="90000"/>
              </a:lnSpc>
            </a:pPr>
            <a:r>
              <a:rPr lang="en-US" sz="2400" dirty="0" smtClean="0"/>
              <a:t>Coding constants- e.g. liberal (unnamed constant used to specify data such as a=b+5), defined constant (uses #define), and memory constant (indicates that the data cannot </a:t>
            </a:r>
            <a:r>
              <a:rPr lang="en-US" sz="2400" dirty="0"/>
              <a:t>be </a:t>
            </a:r>
            <a:r>
              <a:rPr lang="en-US" sz="2400" dirty="0" smtClean="0"/>
              <a:t>changed e.g. </a:t>
            </a:r>
            <a:r>
              <a:rPr lang="en-US" sz="2400" dirty="0" err="1" smtClean="0">
                <a:solidFill>
                  <a:srgbClr val="0070C0"/>
                </a:solidFill>
              </a:rPr>
              <a:t>const</a:t>
            </a:r>
            <a:r>
              <a:rPr lang="en-US" sz="2400" dirty="0" smtClean="0">
                <a:solidFill>
                  <a:srgbClr val="0070C0"/>
                </a:solidFill>
              </a:rPr>
              <a:t> </a:t>
            </a:r>
            <a:r>
              <a:rPr lang="en-US" sz="2400" dirty="0">
                <a:solidFill>
                  <a:srgbClr val="0070C0"/>
                </a:solidFill>
              </a:rPr>
              <a:t>type identifier = value;</a:t>
            </a:r>
            <a:endParaRPr lang="en-US" sz="2400" dirty="0" smtClean="0">
              <a:solidFill>
                <a:srgbClr val="0070C0"/>
              </a:solidFill>
            </a:endParaRP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spTree>
    <p:extLst>
      <p:ext uri="{BB962C8B-B14F-4D97-AF65-F5344CB8AC3E}">
        <p14:creationId xmlns:p14="http://schemas.microsoft.com/office/powerpoint/2010/main" val="236820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1146749" y="176500"/>
            <a:ext cx="10601610" cy="745396"/>
          </a:xfrm>
          <a:prstGeom prst="rect">
            <a:avLst/>
          </a:prstGeom>
          <a:ln/>
        </p:spPr>
        <p:txBody>
          <a:bodyPr/>
          <a:lst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a:lstStyle>
          <a:p>
            <a:pPr algn="ctr"/>
            <a:r>
              <a:rPr lang="en-US" sz="3600" dirty="0"/>
              <a:t>Constants in C</a:t>
            </a:r>
            <a:endParaRPr lang="en-US" altLang="en-US" sz="3600" dirty="0"/>
          </a:p>
        </p:txBody>
      </p:sp>
      <p:sp>
        <p:nvSpPr>
          <p:cNvPr id="6" name="Rectangle 3"/>
          <p:cNvSpPr txBox="1">
            <a:spLocks noChangeArrowheads="1"/>
          </p:cNvSpPr>
          <p:nvPr/>
        </p:nvSpPr>
        <p:spPr>
          <a:xfrm>
            <a:off x="881143" y="654218"/>
            <a:ext cx="11132821" cy="5529859"/>
          </a:xfrm>
          <a:prstGeom prst="rect">
            <a:avLst/>
          </a:prstGeom>
          <a:noFill/>
          <a:ln/>
        </p:spPr>
        <p:txBody>
          <a:bodyPr/>
          <a:lst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a:lstStyle>
          <a:p>
            <a:pPr lvl="1">
              <a:lnSpc>
                <a:spcPct val="90000"/>
              </a:lnSpc>
              <a:buFont typeface="Arial" panose="020B0604020202020204" pitchFamily="34" charset="0"/>
              <a:buChar char="•"/>
            </a:pPr>
            <a:r>
              <a:rPr lang="en-US" sz="3200" dirty="0"/>
              <a:t>Constants are data values that cannot be changed during </a:t>
            </a:r>
            <a:r>
              <a:rPr lang="en-US" sz="3200" dirty="0" smtClean="0"/>
              <a:t>the execution </a:t>
            </a:r>
            <a:r>
              <a:rPr lang="en-US" sz="3200" dirty="0"/>
              <a:t>of a </a:t>
            </a:r>
            <a:r>
              <a:rPr lang="en-US" sz="3200" dirty="0" smtClean="0"/>
              <a:t>program.</a:t>
            </a:r>
          </a:p>
          <a:p>
            <a:pPr lvl="1">
              <a:lnSpc>
                <a:spcPct val="90000"/>
              </a:lnSpc>
              <a:buFont typeface="Arial" panose="020B0604020202020204" pitchFamily="34" charset="0"/>
              <a:buChar char="•"/>
            </a:pPr>
            <a:r>
              <a:rPr lang="en-US" sz="3200" dirty="0"/>
              <a:t>Like variables, constants also have a </a:t>
            </a:r>
            <a:r>
              <a:rPr lang="en-US" sz="3200" dirty="0" smtClean="0"/>
              <a:t>type.</a:t>
            </a:r>
          </a:p>
          <a:p>
            <a:pPr lvl="3">
              <a:lnSpc>
                <a:spcPct val="90000"/>
              </a:lnSpc>
            </a:pPr>
            <a:r>
              <a:rPr lang="en-US" sz="2800" b="1" dirty="0" smtClean="0"/>
              <a:t>Boolean: </a:t>
            </a:r>
            <a:r>
              <a:rPr lang="en-US" sz="2800" dirty="0" smtClean="0"/>
              <a:t>Have only one value T or F, use library </a:t>
            </a:r>
            <a:r>
              <a:rPr lang="en-US" sz="2800" dirty="0" err="1" smtClean="0"/>
              <a:t>stdbool.h</a:t>
            </a:r>
            <a:endParaRPr lang="en-US" sz="2800" b="1" dirty="0" smtClean="0"/>
          </a:p>
          <a:p>
            <a:pPr lvl="3">
              <a:lnSpc>
                <a:spcPct val="90000"/>
              </a:lnSpc>
            </a:pPr>
            <a:r>
              <a:rPr lang="en-US" sz="2800" b="1" dirty="0" smtClean="0"/>
              <a:t>Character: </a:t>
            </a:r>
            <a:r>
              <a:rPr lang="en-US" sz="2800" dirty="0" smtClean="0"/>
              <a:t>Enclosed in quotes ‘a’, escape character is preceded by a backslash \ so ‘\n’</a:t>
            </a:r>
            <a:endParaRPr lang="en-US" sz="2800" b="1" dirty="0" smtClean="0"/>
          </a:p>
          <a:p>
            <a:pPr lvl="3">
              <a:lnSpc>
                <a:spcPct val="90000"/>
              </a:lnSpc>
            </a:pPr>
            <a:r>
              <a:rPr lang="en-US" sz="2800" b="1" dirty="0" smtClean="0"/>
              <a:t>Integer: </a:t>
            </a:r>
            <a:r>
              <a:rPr lang="en-US" sz="2800" dirty="0" smtClean="0"/>
              <a:t>numeric</a:t>
            </a:r>
            <a:endParaRPr lang="en-US" sz="2800" b="1" dirty="0" smtClean="0"/>
          </a:p>
          <a:p>
            <a:pPr lvl="3">
              <a:lnSpc>
                <a:spcPct val="90000"/>
              </a:lnSpc>
            </a:pPr>
            <a:r>
              <a:rPr lang="en-US" sz="2800" b="1" dirty="0" smtClean="0"/>
              <a:t>Real:</a:t>
            </a:r>
          </a:p>
          <a:p>
            <a:pPr lvl="3">
              <a:lnSpc>
                <a:spcPct val="90000"/>
              </a:lnSpc>
            </a:pPr>
            <a:r>
              <a:rPr lang="en-US" sz="2800" b="1" dirty="0" smtClean="0"/>
              <a:t>Complex:</a:t>
            </a:r>
          </a:p>
          <a:p>
            <a:pPr lvl="3">
              <a:lnSpc>
                <a:spcPct val="90000"/>
              </a:lnSpc>
            </a:pPr>
            <a:r>
              <a:rPr lang="en-US" sz="2800" b="1" dirty="0" smtClean="0"/>
              <a:t>String </a:t>
            </a:r>
            <a:r>
              <a:rPr lang="en-US" sz="2800" b="1" dirty="0"/>
              <a:t>constants: </a:t>
            </a:r>
            <a:r>
              <a:rPr lang="en-US" sz="2800" dirty="0"/>
              <a:t>a sequence of zero or more characters enclosed in double quotes. “Hello world\n</a:t>
            </a:r>
            <a:r>
              <a:rPr lang="en-US" sz="2800" dirty="0" smtClean="0"/>
              <a:t>”</a:t>
            </a:r>
          </a:p>
        </p:txBody>
      </p:sp>
      <p:sp>
        <p:nvSpPr>
          <p:cNvPr id="2" name="Footer Placeholder 1"/>
          <p:cNvSpPr>
            <a:spLocks noGrp="1"/>
          </p:cNvSpPr>
          <p:nvPr>
            <p:ph type="ftr" sz="quarter" idx="11"/>
          </p:nvPr>
        </p:nvSpPr>
        <p:spPr/>
        <p:txBody>
          <a:bodyPr/>
          <a:lstStyle/>
          <a:p>
            <a:r>
              <a:rPr lang="en-US" dirty="0" smtClean="0"/>
              <a:t>Mr. </a:t>
            </a:r>
            <a:r>
              <a:rPr lang="en-US" dirty="0" err="1" smtClean="0"/>
              <a:t>Astone</a:t>
            </a:r>
            <a:r>
              <a:rPr lang="en-US" dirty="0" smtClean="0"/>
              <a:t> </a:t>
            </a:r>
            <a:r>
              <a:rPr lang="en-US" dirty="0" err="1" smtClean="0"/>
              <a:t>Owino</a:t>
            </a:r>
            <a:r>
              <a:rPr lang="en-US" dirty="0" smtClean="0"/>
              <a:t> | 0729378167 | aowino@karu.ac.ke</a:t>
            </a:r>
            <a:endParaRPr lang="en-US" dirty="0"/>
          </a:p>
        </p:txBody>
      </p:sp>
    </p:spTree>
    <p:extLst>
      <p:ext uri="{BB962C8B-B14F-4D97-AF65-F5344CB8AC3E}">
        <p14:creationId xmlns:p14="http://schemas.microsoft.com/office/powerpoint/2010/main" val="3020965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theme/theme1.xml><?xml version="1.0" encoding="utf-8"?>
<a:theme xmlns:a="http://schemas.openxmlformats.org/drawingml/2006/main" name="Badge">
  <a:themeElements>
    <a:clrScheme name="Badge">
      <a:dk1>
        <a:sysClr val="windowText" lastClr="000000"/>
      </a:dk1>
      <a:lt1>
        <a:sysClr val="window" lastClr="FFFFFF"/>
      </a:lt1>
      <a:dk2>
        <a:srgbClr val="2A1A00"/>
      </a:dk2>
      <a:lt2>
        <a:srgbClr val="F3F3F2"/>
      </a:lt2>
      <a:accent1>
        <a:srgbClr val="F8B323"/>
      </a:accent1>
      <a:accent2>
        <a:srgbClr val="656A59"/>
      </a:accent2>
      <a:accent3>
        <a:srgbClr val="46B2B5"/>
      </a:accent3>
      <a:accent4>
        <a:srgbClr val="8CAA7E"/>
      </a:accent4>
      <a:accent5>
        <a:srgbClr val="D36F68"/>
      </a:accent5>
      <a:accent6>
        <a:srgbClr val="826276"/>
      </a:accent6>
      <a:hlink>
        <a:srgbClr val="46B2B5"/>
      </a:hlink>
      <a:folHlink>
        <a:srgbClr val="A46694"/>
      </a:folHlink>
    </a:clrScheme>
    <a:fontScheme name="Badge">
      <a:majorFont>
        <a:latin typeface="Impact" panose="020B080603090205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ill Sans MT" panose="020B0502020104020203"/>
        <a:ea typeface=""/>
        <a:cs typeface=""/>
        <a:font script="Grek" typeface="Corbel"/>
        <a:font script="Cyrl" typeface="Corbel"/>
        <a:font script="Jpan" typeface="メイリオ"/>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771EA782-DFA6-45B1-AEA3-661F1715B3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TM10001106[[fn=Badge]]</Template>
  <TotalTime>6491</TotalTime>
  <Words>1941</Words>
  <Application>Microsoft Office PowerPoint</Application>
  <PresentationFormat>Widescreen</PresentationFormat>
  <Paragraphs>212</Paragraphs>
  <Slides>34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34</vt:i4>
      </vt:variant>
    </vt:vector>
  </HeadingPairs>
  <TitlesOfParts>
    <vt:vector size="40" baseType="lpstr">
      <vt:lpstr>Arial</vt:lpstr>
      <vt:lpstr>Calibri</vt:lpstr>
      <vt:lpstr>Gill Sans MT</vt:lpstr>
      <vt:lpstr>Impact</vt:lpstr>
      <vt:lpstr>Times New Roman</vt:lpstr>
      <vt:lpstr>Badge</vt:lpstr>
      <vt:lpstr>Introduction to the C Language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ADMS 3930 Management</dc:title>
  <dc:creator>David Weitzner</dc:creator>
  <cp:lastModifiedBy>Administrator</cp:lastModifiedBy>
  <cp:revision>389</cp:revision>
  <dcterms:created xsi:type="dcterms:W3CDTF">2018-08-19T18:02:28Z</dcterms:created>
  <dcterms:modified xsi:type="dcterms:W3CDTF">2024-09-10T08:34:51Z</dcterms:modified>
</cp:coreProperties>
</file>