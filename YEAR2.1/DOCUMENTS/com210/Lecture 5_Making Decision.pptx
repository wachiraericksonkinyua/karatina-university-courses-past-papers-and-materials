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2"/>
  </p:notesMasterIdLst>
  <p:sldIdLst>
    <p:sldId id="545" r:id="rId2"/>
    <p:sldId id="599" r:id="rId3"/>
    <p:sldId id="726" r:id="rId4"/>
    <p:sldId id="727" r:id="rId5"/>
    <p:sldId id="728" r:id="rId6"/>
    <p:sldId id="729" r:id="rId7"/>
    <p:sldId id="730" r:id="rId8"/>
    <p:sldId id="731" r:id="rId9"/>
    <p:sldId id="732" r:id="rId10"/>
    <p:sldId id="733" r:id="rId11"/>
    <p:sldId id="734" r:id="rId12"/>
    <p:sldId id="736" r:id="rId13"/>
    <p:sldId id="737" r:id="rId14"/>
    <p:sldId id="738" r:id="rId15"/>
    <p:sldId id="739" r:id="rId16"/>
    <p:sldId id="740" r:id="rId17"/>
    <p:sldId id="741" r:id="rId18"/>
    <p:sldId id="742" r:id="rId19"/>
    <p:sldId id="743" r:id="rId20"/>
    <p:sldId id="744" r:id="rId21"/>
    <p:sldId id="745" r:id="rId22"/>
    <p:sldId id="746" r:id="rId23"/>
    <p:sldId id="747" r:id="rId24"/>
    <p:sldId id="748" r:id="rId25"/>
    <p:sldId id="749" r:id="rId26"/>
    <p:sldId id="750" r:id="rId27"/>
    <p:sldId id="751" r:id="rId28"/>
    <p:sldId id="752" r:id="rId29"/>
    <p:sldId id="851" r:id="rId30"/>
    <p:sldId id="852" r:id="rId31"/>
    <p:sldId id="753" r:id="rId32"/>
    <p:sldId id="842" r:id="rId33"/>
    <p:sldId id="801" r:id="rId34"/>
    <p:sldId id="754" r:id="rId35"/>
    <p:sldId id="755" r:id="rId36"/>
    <p:sldId id="756" r:id="rId37"/>
    <p:sldId id="757" r:id="rId38"/>
    <p:sldId id="758" r:id="rId39"/>
    <p:sldId id="759" r:id="rId40"/>
    <p:sldId id="760" r:id="rId41"/>
    <p:sldId id="761" r:id="rId42"/>
    <p:sldId id="763" r:id="rId43"/>
    <p:sldId id="764" r:id="rId44"/>
    <p:sldId id="765" r:id="rId45"/>
    <p:sldId id="766" r:id="rId46"/>
    <p:sldId id="767" r:id="rId47"/>
    <p:sldId id="768" r:id="rId48"/>
    <p:sldId id="769" r:id="rId49"/>
    <p:sldId id="785" r:id="rId50"/>
    <p:sldId id="771" r:id="rId51"/>
  </p:sldIdLst>
  <p:sldSz cx="9144000" cy="6858000" type="screen4x3"/>
  <p:notesSz cx="6858000" cy="91440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FFFFD2"/>
    <a:srgbClr val="FFFFD3"/>
    <a:srgbClr val="FFFFDB"/>
    <a:srgbClr val="FFFFAF"/>
    <a:srgbClr val="FFFFFF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08" autoAdjust="0"/>
    <p:restoredTop sz="94680" autoAdjust="0"/>
  </p:normalViewPr>
  <p:slideViewPr>
    <p:cSldViewPr>
      <p:cViewPr varScale="1">
        <p:scale>
          <a:sx n="89" d="100"/>
          <a:sy n="89" d="100"/>
        </p:scale>
        <p:origin x="1735" y="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6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446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6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fld id="{4FF53684-8968-489C-8843-09308C98230A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charset="-12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charset="-12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charset="-12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zh-TW" altLang="en-US" smtClean="0">
                  <a:ea typeface="新細明體" charset="-12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zh-TW" altLang="en-US" smtClean="0">
                <a:ea typeface="新細明體" charset="-12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zh-TW" altLang="en-US" smtClean="0">
                <a:ea typeface="新細明體" charset="-12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zh-TW" altLang="en-US" smtClean="0">
                <a:ea typeface="新細明體" charset="-120"/>
              </a:endParaRPr>
            </a:p>
          </p:txBody>
        </p:sp>
      </p:grpSp>
      <p:sp>
        <p:nvSpPr>
          <p:cNvPr id="14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 smtClean="0">
                <a:latin typeface="McGrawHill-Italic" pitchFamily="2" charset="0"/>
              </a:rPr>
              <a:t>The McGraw-Hill Companies, Inc., 2000</a:t>
            </a:r>
            <a:endParaRPr lang="en-US" altLang="en-US" b="0" smtClean="0"/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TW"/>
              <a:t>Click to edit Master subtitle style</a:t>
            </a:r>
          </a:p>
        </p:txBody>
      </p:sp>
      <p:sp>
        <p:nvSpPr>
          <p:cNvPr id="15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b="0">
                <a:solidFill>
                  <a:schemeClr val="bg2"/>
                </a:solidFill>
              </a:defRPr>
            </a:lvl1pPr>
          </a:lstStyle>
          <a:p>
            <a:fld id="{5C7BF593-ED07-4381-B7F2-96E2542827D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353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0ECA4-DE1B-4081-B173-2F632E47098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608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4B0F50-ACA1-4BF1-BB6E-72468588CB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889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DE9947-D343-463C-AC2C-89453FD56DA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630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C6B74-E37A-40C1-942A-5CBE891EE49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939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6244B0-460E-432D-9B08-9C415F5D8C4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248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221C19-6B40-4CD3-A0E9-73FE631E6C9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055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D9949B-2DE2-4359-8A99-70E7649B225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376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C6D9C2-06F4-4E85-8D4B-1A535F92F27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9661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3EDD6-7039-45BD-8522-981D689C926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064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C3EE42-02CB-4A89-9400-05041CCD68E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4939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Tahoma" panose="020B0604030504040204" pitchFamily="34" charset="0"/>
                <a:ea typeface="新細明體" charset="-120"/>
              </a:defRPr>
            </a:lvl1pPr>
          </a:lstStyle>
          <a:p>
            <a:fld id="{6C2F5284-453B-4A70-AAD5-DD2243443D61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1027" name="Text Box 15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©"/>
              <a:defRPr/>
            </a:pPr>
            <a:endParaRPr lang="en-US" altLang="en-US" b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wmf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w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A9970B1-91CC-4263-A787-F929DE72171E}" type="slidenum">
              <a:rPr lang="zh-TW" altLang="en-US" sz="1000">
                <a:latin typeface="Tahoma" panose="020B0604030504040204" pitchFamily="34" charset="0"/>
              </a:rPr>
              <a:pPr/>
              <a:t>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075" name="Line 2"/>
          <p:cNvSpPr>
            <a:spLocks noChangeShapeType="1"/>
          </p:cNvSpPr>
          <p:nvPr/>
        </p:nvSpPr>
        <p:spPr bwMode="auto">
          <a:xfrm>
            <a:off x="228600" y="28194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" name="Line 3"/>
          <p:cNvSpPr>
            <a:spLocks noChangeShapeType="1"/>
          </p:cNvSpPr>
          <p:nvPr/>
        </p:nvSpPr>
        <p:spPr bwMode="auto">
          <a:xfrm>
            <a:off x="266700" y="304800"/>
            <a:ext cx="8610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Rectangle 18"/>
          <p:cNvSpPr>
            <a:spLocks noChangeArrowheads="1"/>
          </p:cNvSpPr>
          <p:nvPr/>
        </p:nvSpPr>
        <p:spPr bwMode="auto">
          <a:xfrm>
            <a:off x="76200" y="2209800"/>
            <a:ext cx="76962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3600">
                <a:solidFill>
                  <a:schemeClr val="hlink"/>
                </a:solidFill>
                <a:ea typeface="新細明體" charset="-120"/>
              </a:rPr>
              <a:t>Objectives </a:t>
            </a:r>
            <a:r>
              <a:rPr lang="en-US" altLang="zh-TW" sz="2800">
                <a:solidFill>
                  <a:schemeClr val="hlink"/>
                </a:solidFill>
                <a:ea typeface="新細明體" charset="-120"/>
              </a:rPr>
              <a:t/>
            </a:r>
            <a:br>
              <a:rPr lang="en-US" altLang="zh-TW" sz="2800">
                <a:solidFill>
                  <a:schemeClr val="hlink"/>
                </a:solidFill>
                <a:ea typeface="新細明體" charset="-120"/>
              </a:rPr>
            </a:br>
            <a:endParaRPr lang="en-US" altLang="zh-TW" sz="2800">
              <a:ea typeface="新細明體" charset="-120"/>
            </a:endParaRPr>
          </a:p>
        </p:txBody>
      </p:sp>
      <p:sp>
        <p:nvSpPr>
          <p:cNvPr id="3078" name="Rectangle 19"/>
          <p:cNvSpPr>
            <a:spLocks noChangeArrowheads="1"/>
          </p:cNvSpPr>
          <p:nvPr/>
        </p:nvSpPr>
        <p:spPr bwMode="auto">
          <a:xfrm>
            <a:off x="381000" y="2989709"/>
            <a:ext cx="83058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zh-TW" altLang="en-US" sz="2000" dirty="0">
                <a:ea typeface="新細明體" charset="-120"/>
              </a:rPr>
              <a:t>❏ </a:t>
            </a:r>
            <a:r>
              <a:rPr lang="en-US" altLang="zh-TW" sz="2000" dirty="0">
                <a:ea typeface="新細明體" charset="-120"/>
              </a:rPr>
              <a:t>To understand how decisions are made in a computer</a:t>
            </a:r>
          </a:p>
          <a:p>
            <a:pPr algn="just"/>
            <a:r>
              <a:rPr lang="en-US" altLang="zh-TW" sz="2000" dirty="0">
                <a:ea typeface="新細明體" charset="-120"/>
              </a:rPr>
              <a:t>❏ To understand the logical operators: </a:t>
            </a:r>
            <a:r>
              <a:rPr lang="en-US" altLang="zh-TW" sz="2000" i="1" dirty="0">
                <a:ea typeface="新細明體" charset="-120"/>
              </a:rPr>
              <a:t>and</a:t>
            </a:r>
            <a:r>
              <a:rPr lang="en-US" altLang="zh-TW" sz="2000" dirty="0">
                <a:ea typeface="新細明體" charset="-120"/>
              </a:rPr>
              <a:t>, </a:t>
            </a:r>
            <a:r>
              <a:rPr lang="en-US" altLang="zh-TW" sz="2000" i="1" dirty="0">
                <a:ea typeface="新細明體" charset="-120"/>
              </a:rPr>
              <a:t>or</a:t>
            </a:r>
            <a:r>
              <a:rPr lang="en-US" altLang="zh-TW" sz="2000" dirty="0">
                <a:ea typeface="新細明體" charset="-120"/>
              </a:rPr>
              <a:t>, and </a:t>
            </a:r>
            <a:r>
              <a:rPr lang="en-US" altLang="zh-TW" sz="2000" i="1" dirty="0" smtClean="0">
                <a:ea typeface="新細明體" charset="-120"/>
              </a:rPr>
              <a:t>not A+L+U</a:t>
            </a:r>
          </a:p>
          <a:p>
            <a:pPr algn="just"/>
            <a:r>
              <a:rPr lang="en-US" altLang="zh-TW" sz="2000" dirty="0" smtClean="0">
                <a:ea typeface="新細明體" charset="-120"/>
              </a:rPr>
              <a:t>❏ To understand how a C program evaluates a logical expression</a:t>
            </a:r>
          </a:p>
          <a:p>
            <a:pPr algn="just"/>
            <a:r>
              <a:rPr lang="en-US" altLang="zh-TW" sz="2000" dirty="0" smtClean="0">
                <a:ea typeface="新細明體" charset="-120"/>
              </a:rPr>
              <a:t>❏ </a:t>
            </a:r>
            <a:r>
              <a:rPr lang="en-US" altLang="zh-TW" sz="2000" dirty="0">
                <a:ea typeface="新細明體" charset="-120"/>
              </a:rPr>
              <a:t>To write programs using logical and comparative operators</a:t>
            </a:r>
          </a:p>
          <a:p>
            <a:pPr algn="just"/>
            <a:r>
              <a:rPr lang="en-US" altLang="zh-TW" sz="2000" dirty="0">
                <a:ea typeface="新細明體" charset="-120"/>
              </a:rPr>
              <a:t>❏ To write programs that use two-way selection: </a:t>
            </a:r>
            <a:r>
              <a:rPr lang="en-US" altLang="zh-TW" sz="2000" i="1" dirty="0">
                <a:ea typeface="新細明體" charset="-120"/>
              </a:rPr>
              <a:t>if ... else</a:t>
            </a:r>
            <a:r>
              <a:rPr lang="en-US" altLang="zh-TW" sz="2000" dirty="0">
                <a:ea typeface="新細明體" charset="-120"/>
              </a:rPr>
              <a:t> statements</a:t>
            </a:r>
          </a:p>
          <a:p>
            <a:pPr algn="just"/>
            <a:r>
              <a:rPr lang="en-US" altLang="zh-TW" sz="2000" dirty="0">
                <a:ea typeface="新細明體" charset="-120"/>
              </a:rPr>
              <a:t>❏ To write programs that use multi-way selection: </a:t>
            </a:r>
            <a:r>
              <a:rPr lang="en-US" altLang="zh-TW" sz="2000" i="1" dirty="0">
                <a:ea typeface="新細明體" charset="-120"/>
              </a:rPr>
              <a:t>switch</a:t>
            </a:r>
            <a:r>
              <a:rPr lang="en-US" altLang="zh-TW" sz="2000" dirty="0">
                <a:ea typeface="新細明體" charset="-120"/>
              </a:rPr>
              <a:t> and </a:t>
            </a:r>
            <a:r>
              <a:rPr lang="en-US" altLang="zh-TW" sz="2000" i="1" dirty="0">
                <a:ea typeface="新細明體" charset="-120"/>
              </a:rPr>
              <a:t>else ...if</a:t>
            </a:r>
          </a:p>
          <a:p>
            <a:pPr algn="just"/>
            <a:r>
              <a:rPr lang="en-US" altLang="zh-TW" sz="2000" dirty="0">
                <a:ea typeface="新細明體" charset="-120"/>
              </a:rPr>
              <a:t>❏ To understand C’s classification of </a:t>
            </a:r>
            <a:r>
              <a:rPr lang="en-US" altLang="zh-TW" sz="2000" dirty="0" smtClean="0">
                <a:ea typeface="新細明體" charset="-120"/>
              </a:rPr>
              <a:t>characters </a:t>
            </a:r>
          </a:p>
          <a:p>
            <a:pPr algn="just"/>
            <a:r>
              <a:rPr lang="en-US" altLang="zh-TW" sz="2000" dirty="0" smtClean="0">
                <a:ea typeface="新細明體" charset="-120"/>
              </a:rPr>
              <a:t>❏ </a:t>
            </a:r>
            <a:r>
              <a:rPr lang="en-US" altLang="zh-TW" sz="2000" dirty="0">
                <a:ea typeface="新細明體" charset="-120"/>
              </a:rPr>
              <a:t>To write programs that use C’s character functions</a:t>
            </a:r>
          </a:p>
          <a:p>
            <a:pPr algn="just"/>
            <a:r>
              <a:rPr lang="en-US" altLang="zh-TW" sz="2000" dirty="0">
                <a:ea typeface="新細明體" charset="-120"/>
              </a:rPr>
              <a:t>❏ To be able to design a structure chart that specifies function selection</a:t>
            </a:r>
          </a:p>
        </p:txBody>
      </p:sp>
      <p:sp>
        <p:nvSpPr>
          <p:cNvPr id="444436" name="Text Box 20"/>
          <p:cNvSpPr txBox="1">
            <a:spLocks noChangeArrowheads="1"/>
          </p:cNvSpPr>
          <p:nvPr/>
        </p:nvSpPr>
        <p:spPr bwMode="auto">
          <a:xfrm>
            <a:off x="1828800" y="752475"/>
            <a:ext cx="683101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TW" altLang="en-US" sz="40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                                    </a:t>
            </a:r>
            <a:r>
              <a:rPr lang="en-US" altLang="zh-TW" sz="40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Chapter 5</a:t>
            </a:r>
          </a:p>
          <a:p>
            <a:pPr algn="l">
              <a:defRPr/>
            </a:pPr>
            <a:r>
              <a:rPr lang="en-US" altLang="zh-TW" sz="40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   Selection—Making Decisions</a:t>
            </a:r>
          </a:p>
        </p:txBody>
      </p:sp>
      <p:sp>
        <p:nvSpPr>
          <p:cNvPr id="3080" name="Text Box 21"/>
          <p:cNvSpPr txBox="1">
            <a:spLocks noChangeArrowheads="1"/>
          </p:cNvSpPr>
          <p:nvPr/>
        </p:nvSpPr>
        <p:spPr bwMode="auto">
          <a:xfrm>
            <a:off x="80391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zh-TW" altLang="en-US" sz="1800"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372B97-7A31-44D4-88E9-3B64037DF2A4}" type="slidenum">
              <a:rPr lang="zh-TW" altLang="en-US" sz="1000">
                <a:latin typeface="Tahoma" panose="020B0604030504040204" pitchFamily="34" charset="0"/>
              </a:rPr>
              <a:pPr/>
              <a:t>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zh-TW">
              <a:ea typeface="新細明體" charset="-120"/>
            </a:endParaRP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797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4000">
                <a:latin typeface="Arial" panose="020B0604020202020204" pitchFamily="34" charset="0"/>
                <a:ea typeface="新細明體" charset="-120"/>
              </a:rPr>
              <a:t>5-1   Logical Data and Operators</a:t>
            </a:r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zh-TW" altLang="zh-TW" sz="1800">
              <a:ea typeface="新細明體" charset="-120"/>
            </a:endParaRPr>
          </a:p>
        </p:txBody>
      </p:sp>
      <p:sp>
        <p:nvSpPr>
          <p:cNvPr id="501765" name="Rectangle 5"/>
          <p:cNvSpPr>
            <a:spLocks noChangeArrowheads="1"/>
          </p:cNvSpPr>
          <p:nvPr/>
        </p:nvSpPr>
        <p:spPr bwMode="auto">
          <a:xfrm>
            <a:off x="304800" y="1524000"/>
            <a:ext cx="8229600" cy="222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A piece of data is called logical if it conveys the idea of true or false. In real life, logical data (true or false) are created in answer to a question that needs a yes–no answer. In computer science, we do not use yes or no, we use true or false.</a:t>
            </a:r>
          </a:p>
        </p:txBody>
      </p:sp>
      <p:sp>
        <p:nvSpPr>
          <p:cNvPr id="4103" name="Rectangle 6"/>
          <p:cNvSpPr>
            <a:spLocks noChangeArrowheads="1"/>
          </p:cNvSpPr>
          <p:nvPr/>
        </p:nvSpPr>
        <p:spPr bwMode="auto">
          <a:xfrm>
            <a:off x="304800" y="4438650"/>
            <a:ext cx="5715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Logical Data in C</a:t>
            </a:r>
            <a:endParaRPr lang="fr-FR" altLang="zh-TW" dirty="0">
              <a:solidFill>
                <a:schemeClr val="hlink"/>
              </a:solidFill>
              <a:ea typeface="新細明體" charset="-120"/>
            </a:endParaRP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 dirty="0" err="1">
                <a:solidFill>
                  <a:schemeClr val="hlink"/>
                </a:solidFill>
                <a:ea typeface="新細明體" charset="-120"/>
              </a:rPr>
              <a:t>Logical</a:t>
            </a:r>
            <a:r>
              <a:rPr lang="fr-FR" altLang="zh-TW" dirty="0">
                <a:solidFill>
                  <a:schemeClr val="hlink"/>
                </a:solidFill>
                <a:ea typeface="新細明體" charset="-120"/>
              </a:rPr>
              <a:t> </a:t>
            </a:r>
            <a:r>
              <a:rPr lang="fr-FR" altLang="zh-TW" dirty="0" err="1">
                <a:solidFill>
                  <a:schemeClr val="hlink"/>
                </a:solidFill>
                <a:ea typeface="新細明體" charset="-120"/>
              </a:rPr>
              <a:t>Operators</a:t>
            </a:r>
            <a:endParaRPr lang="fr-FR" altLang="zh-TW" dirty="0">
              <a:solidFill>
                <a:schemeClr val="hlink"/>
              </a:solidFill>
              <a:ea typeface="新細明體" charset="-120"/>
            </a:endParaRP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Evaluating Logical Expressions</a:t>
            </a: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Comparative Operators</a:t>
            </a:r>
          </a:p>
        </p:txBody>
      </p:sp>
      <p:sp>
        <p:nvSpPr>
          <p:cNvPr id="501767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D153975-C211-4620-B169-C72959001679}" type="slidenum">
              <a:rPr lang="zh-TW" altLang="en-US" sz="1000">
                <a:latin typeface="Tahoma" panose="020B0604030504040204" pitchFamily="34" charset="0"/>
              </a:rPr>
              <a:pPr/>
              <a:t>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12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152400" y="5791200"/>
            <a:ext cx="5759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</a:t>
            </a:r>
            <a:r>
              <a:rPr lang="en-US" altLang="zh-TW" sz="2000">
                <a:ea typeface="新細明體" charset="-120"/>
              </a:rPr>
              <a:t>  </a:t>
            </a:r>
            <a:r>
              <a:rPr lang="en-US" altLang="zh-TW" sz="2000" i="1">
                <a:ea typeface="新細明體" charset="-120"/>
              </a:rPr>
              <a:t>true</a:t>
            </a:r>
            <a:r>
              <a:rPr lang="en-US" altLang="zh-TW" sz="2000">
                <a:ea typeface="新細明體" charset="-120"/>
              </a:rPr>
              <a:t> and </a:t>
            </a:r>
            <a:r>
              <a:rPr lang="en-US" altLang="zh-TW" sz="2000" i="1">
                <a:ea typeface="新細明體" charset="-120"/>
              </a:rPr>
              <a:t>false</a:t>
            </a:r>
            <a:r>
              <a:rPr lang="en-US" altLang="zh-TW" sz="2000">
                <a:ea typeface="新細明體" charset="-120"/>
              </a:rPr>
              <a:t> on the Arithmetic Scale</a:t>
            </a:r>
          </a:p>
        </p:txBody>
      </p:sp>
      <p:grpSp>
        <p:nvGrpSpPr>
          <p:cNvPr id="512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12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126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2424113"/>
            <a:ext cx="7751055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54E542-825C-4F21-ADBD-DAB1922C1C4F}" type="slidenum">
              <a:rPr lang="zh-TW" altLang="en-US" sz="1000">
                <a:latin typeface="Tahoma" panose="020B0604030504040204" pitchFamily="34" charset="0"/>
              </a:rPr>
              <a:pPr/>
              <a:t>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614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152400" y="5791200"/>
            <a:ext cx="5078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 dirty="0">
                <a:solidFill>
                  <a:schemeClr val="folHlink"/>
                </a:solidFill>
                <a:ea typeface="新細明體" charset="-120"/>
              </a:rPr>
              <a:t>FIGURE 5-2</a:t>
            </a:r>
            <a:r>
              <a:rPr lang="en-US" altLang="zh-TW" sz="2000" dirty="0">
                <a:ea typeface="新細明體" charset="-120"/>
              </a:rPr>
              <a:t>  Logical Operators Truth Table</a:t>
            </a:r>
          </a:p>
        </p:txBody>
      </p:sp>
      <p:grpSp>
        <p:nvGrpSpPr>
          <p:cNvPr id="614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615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150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39752"/>
            <a:ext cx="7437183" cy="1729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14455" y="3842197"/>
            <a:ext cx="2441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ea typeface="新細明體" charset="-120"/>
              </a:rPr>
              <a:t>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4FB7F17-F981-4340-A887-B6DAC0C2444C}" type="slidenum">
              <a:rPr lang="zh-TW" altLang="en-US" sz="1000">
                <a:latin typeface="Tahoma" panose="020B0604030504040204" pitchFamily="34" charset="0"/>
              </a:rPr>
              <a:pPr/>
              <a:t>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717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257175" y="5791200"/>
            <a:ext cx="7820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5-3</a:t>
            </a:r>
            <a:r>
              <a:rPr lang="en-US" altLang="zh-TW" sz="2000">
                <a:ea typeface="新細明體" charset="-120"/>
              </a:rPr>
              <a:t>  Short-circuit Methods for </a:t>
            </a:r>
            <a:r>
              <a:rPr lang="en-US" altLang="zh-TW" sz="2000" i="1">
                <a:ea typeface="新細明體" charset="-120"/>
              </a:rPr>
              <a:t>and</a:t>
            </a:r>
            <a:r>
              <a:rPr lang="en-US" altLang="zh-TW" sz="2000">
                <a:ea typeface="新細明體" charset="-120"/>
              </a:rPr>
              <a:t> /</a:t>
            </a:r>
            <a:r>
              <a:rPr lang="en-US" altLang="zh-TW" sz="2000" i="1">
                <a:ea typeface="新細明體" charset="-120"/>
              </a:rPr>
              <a:t>or</a:t>
            </a:r>
          </a:p>
        </p:txBody>
      </p:sp>
      <p:grpSp>
        <p:nvGrpSpPr>
          <p:cNvPr id="717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717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45035"/>
            <a:ext cx="785177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EF86D4-3ED1-4160-A94F-C1E16F41D0BD}" type="slidenum">
              <a:rPr lang="zh-TW" altLang="en-US" sz="1000">
                <a:latin typeface="Tahoma" panose="020B0604030504040204" pitchFamily="34" charset="0"/>
              </a:rPr>
              <a:pPr/>
              <a:t>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69863" y="889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5-1</a:t>
            </a: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2268538" y="88900"/>
            <a:ext cx="2347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dirty="0">
                <a:ea typeface="新細明體" charset="-120"/>
              </a:rPr>
              <a:t>Logical Expressions</a:t>
            </a:r>
          </a:p>
        </p:txBody>
      </p:sp>
      <p:grpSp>
        <p:nvGrpSpPr>
          <p:cNvPr id="8197" name="Group 7"/>
          <p:cNvGrpSpPr>
            <a:grpSpLocks/>
          </p:cNvGrpSpPr>
          <p:nvPr/>
        </p:nvGrpSpPr>
        <p:grpSpPr bwMode="auto">
          <a:xfrm>
            <a:off x="126485" y="381000"/>
            <a:ext cx="6536253" cy="4245699"/>
            <a:chOff x="176" y="453"/>
            <a:chExt cx="5208" cy="3479"/>
          </a:xfrm>
        </p:grpSpPr>
        <p:pic>
          <p:nvPicPr>
            <p:cNvPr id="8200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" y="453"/>
              <a:ext cx="5200" cy="2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1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" y="3360"/>
              <a:ext cx="5200" cy="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19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4724400"/>
            <a:ext cx="6548438" cy="20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066800"/>
            <a:ext cx="1862138" cy="178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A1034E-D0F9-43E6-AC63-F066389B751F}" type="slidenum">
              <a:rPr lang="zh-TW" altLang="en-US" sz="1000">
                <a:latin typeface="Tahoma" panose="020B0604030504040204" pitchFamily="34" charset="0"/>
              </a:rPr>
              <a:pPr/>
              <a:t>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921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152400" y="5791200"/>
            <a:ext cx="6172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 dirty="0">
                <a:solidFill>
                  <a:schemeClr val="folHlink"/>
                </a:solidFill>
                <a:ea typeface="新細明體" charset="-120"/>
              </a:rPr>
              <a:t>FIGURE 5-4</a:t>
            </a:r>
            <a:r>
              <a:rPr lang="en-US" altLang="zh-TW" sz="2000" dirty="0">
                <a:ea typeface="新細明體" charset="-120"/>
              </a:rPr>
              <a:t>  Relational </a:t>
            </a:r>
            <a:r>
              <a:rPr lang="en-US" altLang="zh-TW" sz="2000" dirty="0" smtClean="0">
                <a:ea typeface="新細明體" charset="-120"/>
              </a:rPr>
              <a:t>Operators     </a:t>
            </a:r>
            <a:endParaRPr lang="en-US" altLang="zh-TW" sz="2000" dirty="0">
              <a:ea typeface="新細明體" charset="-120"/>
            </a:endParaRPr>
          </a:p>
        </p:txBody>
      </p:sp>
      <p:grpSp>
        <p:nvGrpSpPr>
          <p:cNvPr id="922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922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22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30"/>
            <a:ext cx="807720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07D3D2-EE88-4331-A3AD-02A646804818}" type="slidenum">
              <a:rPr lang="zh-TW" altLang="en-US" sz="1000">
                <a:latin typeface="Tahoma" panose="020B0604030504040204" pitchFamily="34" charset="0"/>
              </a:rPr>
              <a:pPr/>
              <a:t>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024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152400" y="5791200"/>
            <a:ext cx="868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 dirty="0">
                <a:solidFill>
                  <a:schemeClr val="folHlink"/>
                </a:solidFill>
                <a:ea typeface="新細明體" charset="-120"/>
              </a:rPr>
              <a:t>FIGURE 5-5</a:t>
            </a:r>
            <a:r>
              <a:rPr lang="en-US" altLang="zh-TW" sz="2000" dirty="0">
                <a:ea typeface="新細明體" charset="-120"/>
              </a:rPr>
              <a:t>  Comparative Operator Complements </a:t>
            </a:r>
            <a:r>
              <a:rPr lang="en-US" altLang="zh-TW" sz="2000" dirty="0" smtClean="0">
                <a:ea typeface="新細明體" charset="-120"/>
              </a:rPr>
              <a:t> </a:t>
            </a:r>
            <a:endParaRPr lang="en-US" altLang="zh-TW" sz="2000" dirty="0">
              <a:ea typeface="新細明體" charset="-120"/>
            </a:endParaRPr>
          </a:p>
        </p:txBody>
      </p:sp>
      <p:grpSp>
        <p:nvGrpSpPr>
          <p:cNvPr id="1024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024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4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76400"/>
            <a:ext cx="5173663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7010400" y="6477000"/>
            <a:ext cx="1905000" cy="457200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5A7175-BB29-40E9-8FD1-BD508C9EA5AA}" type="slidenum">
              <a:rPr lang="zh-TW" altLang="en-US" sz="1000">
                <a:latin typeface="Tahoma" panose="020B0604030504040204" pitchFamily="34" charset="0"/>
              </a:rPr>
              <a:pPr/>
              <a:t>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762000" y="4556125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Table  5-1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2057400" y="4556125"/>
            <a:ext cx="546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Examples of Simplifying Operator Complements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43050"/>
            <a:ext cx="727710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E5392C-5FC4-4DD1-A0E9-AA296BF1E0AF}" type="slidenum">
              <a:rPr lang="zh-TW" altLang="en-US" sz="1000">
                <a:latin typeface="Tahoma" panose="020B0604030504040204" pitchFamily="34" charset="0"/>
              </a:rPr>
              <a:pPr/>
              <a:t>10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5-2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2870018" y="149225"/>
            <a:ext cx="29594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dirty="0">
                <a:ea typeface="新細明體" charset="-120"/>
              </a:rPr>
              <a:t>Comparative Operators </a:t>
            </a:r>
          </a:p>
        </p:txBody>
      </p:sp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7283450" cy="451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5130800"/>
            <a:ext cx="72771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828800"/>
            <a:ext cx="1851025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AF6F5F-CED0-4C03-993E-57140B334E2C}" type="slidenum">
              <a:rPr lang="zh-TW" altLang="en-US" sz="1000">
                <a:latin typeface="Tahoma" panose="020B0604030504040204" pitchFamily="34" charset="0"/>
              </a:rPr>
              <a:pPr/>
              <a:t>11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zh-TW">
              <a:ea typeface="新細明體" charset="-120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59705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4000">
                <a:latin typeface="Arial" panose="020B0604020202020204" pitchFamily="34" charset="0"/>
                <a:ea typeface="新細明體" charset="-120"/>
              </a:rPr>
              <a:t>5-2   Two-Way Selection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zh-TW" altLang="zh-TW" sz="1800">
              <a:ea typeface="新細明體" charset="-120"/>
            </a:endParaRPr>
          </a:p>
        </p:txBody>
      </p:sp>
      <p:sp>
        <p:nvSpPr>
          <p:cNvPr id="669701" name="Rectangle 5"/>
          <p:cNvSpPr>
            <a:spLocks noChangeArrowheads="1"/>
          </p:cNvSpPr>
          <p:nvPr/>
        </p:nvSpPr>
        <p:spPr bwMode="auto">
          <a:xfrm>
            <a:off x="304800" y="1447800"/>
            <a:ext cx="8229600" cy="222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The decision is described to the computer as a conditional statement that can be answered either true or false. If the answer is true, one or more action statements are executed. If the answer is false, then a different action or set of actions is executed. 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304800" y="4619625"/>
            <a:ext cx="6781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chemeClr val="hlink"/>
                </a:solidFill>
                <a:ea typeface="新細明體" charset="-120"/>
              </a:rPr>
              <a:t>if</a:t>
            </a: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…</a:t>
            </a:r>
            <a:r>
              <a:rPr lang="en-US" altLang="zh-TW" i="1" dirty="0">
                <a:solidFill>
                  <a:schemeClr val="hlink"/>
                </a:solidFill>
                <a:ea typeface="新細明體" charset="-120"/>
              </a:rPr>
              <a:t>else</a:t>
            </a:r>
            <a:r>
              <a:rPr lang="fr-FR" altLang="zh-TW" i="1" dirty="0">
                <a:solidFill>
                  <a:schemeClr val="hlink"/>
                </a:solidFill>
                <a:ea typeface="新細明體" charset="-120"/>
              </a:rPr>
              <a:t>  and </a:t>
            </a:r>
            <a:r>
              <a:rPr lang="fr-FR" altLang="zh-TW" dirty="0" err="1">
                <a:solidFill>
                  <a:schemeClr val="hlink"/>
                </a:solidFill>
                <a:ea typeface="新細明體" charset="-120"/>
              </a:rPr>
              <a:t>Null</a:t>
            </a:r>
            <a:r>
              <a:rPr lang="fr-FR" altLang="zh-TW" dirty="0">
                <a:solidFill>
                  <a:schemeClr val="hlink"/>
                </a:solidFill>
                <a:ea typeface="新細明體" charset="-120"/>
              </a:rPr>
              <a:t> </a:t>
            </a:r>
            <a:r>
              <a:rPr lang="fr-FR" altLang="zh-TW" i="1" dirty="0" err="1">
                <a:solidFill>
                  <a:schemeClr val="hlink"/>
                </a:solidFill>
                <a:ea typeface="新細明體" charset="-120"/>
              </a:rPr>
              <a:t>else</a:t>
            </a:r>
            <a:r>
              <a:rPr lang="fr-FR" altLang="zh-TW" dirty="0">
                <a:solidFill>
                  <a:schemeClr val="hlink"/>
                </a:solidFill>
                <a:ea typeface="新細明體" charset="-120"/>
              </a:rPr>
              <a:t> </a:t>
            </a:r>
            <a:r>
              <a:rPr lang="fr-FR" altLang="zh-TW" dirty="0" err="1">
                <a:solidFill>
                  <a:schemeClr val="hlink"/>
                </a:solidFill>
                <a:ea typeface="新細明體" charset="-120"/>
              </a:rPr>
              <a:t>Statement</a:t>
            </a:r>
            <a:endParaRPr lang="fr-FR" altLang="zh-TW" dirty="0">
              <a:solidFill>
                <a:schemeClr val="hlink"/>
              </a:solidFill>
              <a:ea typeface="新細明體" charset="-120"/>
            </a:endParaRP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Nested </a:t>
            </a:r>
            <a:r>
              <a:rPr lang="en-US" altLang="zh-TW" i="1" dirty="0">
                <a:solidFill>
                  <a:schemeClr val="hlink"/>
                </a:solidFill>
                <a:ea typeface="新細明體" charset="-120"/>
              </a:rPr>
              <a:t>if</a:t>
            </a: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 Statements and Dangling </a:t>
            </a:r>
            <a:r>
              <a:rPr lang="en-US" altLang="zh-TW" i="1" dirty="0">
                <a:solidFill>
                  <a:schemeClr val="hlink"/>
                </a:solidFill>
                <a:ea typeface="新細明體" charset="-120"/>
              </a:rPr>
              <a:t>else</a:t>
            </a: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 Problem</a:t>
            </a: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Simplifying </a:t>
            </a:r>
            <a:r>
              <a:rPr lang="en-US" altLang="zh-TW" i="1" dirty="0">
                <a:solidFill>
                  <a:schemeClr val="hlink"/>
                </a:solidFill>
                <a:ea typeface="新細明體" charset="-120"/>
              </a:rPr>
              <a:t>if</a:t>
            </a: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 Statements</a:t>
            </a: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Conditional Expressions</a:t>
            </a:r>
          </a:p>
        </p:txBody>
      </p:sp>
      <p:sp>
        <p:nvSpPr>
          <p:cNvPr id="669703" name="Text Box 7"/>
          <p:cNvSpPr txBox="1">
            <a:spLocks noChangeArrowheads="1"/>
          </p:cNvSpPr>
          <p:nvPr/>
        </p:nvSpPr>
        <p:spPr bwMode="auto">
          <a:xfrm>
            <a:off x="317500" y="4070350"/>
            <a:ext cx="4862513" cy="51911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9B74ED-BD49-4E4A-95DC-2ADAAA3B474A}" type="slidenum">
              <a:rPr lang="zh-TW" altLang="en-US" sz="1000">
                <a:latin typeface="Tahoma" panose="020B0604030504040204" pitchFamily="34" charset="0"/>
              </a:rPr>
              <a:pPr/>
              <a:t>12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433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152400" y="5791200"/>
            <a:ext cx="3709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5-7</a:t>
            </a:r>
            <a:r>
              <a:rPr lang="en-US" altLang="zh-TW" sz="2000">
                <a:ea typeface="新細明體" charset="-120"/>
              </a:rPr>
              <a:t>  </a:t>
            </a:r>
            <a:r>
              <a:rPr lang="en-US" altLang="zh-TW" sz="2000" i="1">
                <a:ea typeface="新細明體" charset="-120"/>
              </a:rPr>
              <a:t>if...else</a:t>
            </a:r>
            <a:r>
              <a:rPr lang="en-US" altLang="zh-TW" sz="2000">
                <a:ea typeface="新細明體" charset="-120"/>
              </a:rPr>
              <a:t> Logic Flow</a:t>
            </a:r>
          </a:p>
        </p:txBody>
      </p:sp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228600" y="328613"/>
            <a:ext cx="8610600" cy="5995987"/>
            <a:chOff x="336" y="159"/>
            <a:chExt cx="5232" cy="3777"/>
          </a:xfrm>
        </p:grpSpPr>
        <p:sp>
          <p:nvSpPr>
            <p:cNvPr id="1434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34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" y="927102"/>
            <a:ext cx="8702675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72C635-0D6B-43CE-A38D-80AE8F33C9E3}" type="slidenum">
              <a:rPr lang="zh-TW" altLang="en-US" sz="1000">
                <a:latin typeface="Tahoma" panose="020B0604030504040204" pitchFamily="34" charset="0"/>
              </a:rPr>
              <a:pPr/>
              <a:t>13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838200" y="5013325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Table  5-2</a:t>
            </a: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2122202" y="5013325"/>
            <a:ext cx="46027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dirty="0">
                <a:ea typeface="新細明體" charset="-120"/>
              </a:rPr>
              <a:t>Syntactical Rules for </a:t>
            </a:r>
            <a:r>
              <a:rPr lang="en-US" altLang="zh-TW" sz="2000" i="1" dirty="0">
                <a:ea typeface="新細明體" charset="-120"/>
              </a:rPr>
              <a:t>if…else</a:t>
            </a:r>
            <a:r>
              <a:rPr lang="en-US" altLang="zh-TW" sz="2000" dirty="0">
                <a:ea typeface="新細明體" charset="-120"/>
              </a:rPr>
              <a:t> </a:t>
            </a:r>
            <a:r>
              <a:rPr lang="en-US" altLang="zh-TW" sz="2000" dirty="0" smtClean="0">
                <a:ea typeface="新細明體" charset="-120"/>
              </a:rPr>
              <a:t>Statements</a:t>
            </a:r>
          </a:p>
          <a:p>
            <a:pPr algn="ctr"/>
            <a:endParaRPr lang="en-US" altLang="zh-TW" sz="2000" dirty="0">
              <a:ea typeface="新細明體" charset="-120"/>
            </a:endParaRP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331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B6A52B-5149-4CF7-9F37-FEDCF4138144}" type="slidenum">
              <a:rPr lang="zh-TW" altLang="en-US" sz="1000">
                <a:latin typeface="Tahoma" panose="020B0604030504040204" pitchFamily="34" charset="0"/>
              </a:rPr>
              <a:pPr/>
              <a:t>14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638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52400" y="5791200"/>
            <a:ext cx="4659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5-8</a:t>
            </a:r>
            <a:r>
              <a:rPr lang="en-US" altLang="zh-TW" sz="2000">
                <a:ea typeface="新細明體" charset="-120"/>
              </a:rPr>
              <a:t>  A Simple </a:t>
            </a:r>
            <a:r>
              <a:rPr lang="en-US" altLang="zh-TW" sz="2000" i="1">
                <a:ea typeface="新細明體" charset="-120"/>
              </a:rPr>
              <a:t>if...else</a:t>
            </a:r>
            <a:r>
              <a:rPr lang="en-US" altLang="zh-TW" sz="2000">
                <a:ea typeface="新細明體" charset="-120"/>
              </a:rPr>
              <a:t> Statement</a:t>
            </a: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639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39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1868488"/>
            <a:ext cx="7158037" cy="270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B5FC62-FFE3-42B6-83BF-A008802D9BC0}" type="slidenum">
              <a:rPr lang="zh-TW" altLang="en-US" sz="1000">
                <a:latin typeface="Tahoma" panose="020B0604030504040204" pitchFamily="34" charset="0"/>
              </a:rPr>
              <a:pPr/>
              <a:t>15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741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152400" y="5791200"/>
            <a:ext cx="558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5-9</a:t>
            </a:r>
            <a:r>
              <a:rPr lang="en-US" altLang="zh-TW" sz="2000">
                <a:ea typeface="新細明體" charset="-120"/>
              </a:rPr>
              <a:t>  Compound Statements in an </a:t>
            </a:r>
            <a:r>
              <a:rPr lang="en-US" altLang="zh-TW" sz="2000" i="1">
                <a:ea typeface="新細明體" charset="-120"/>
              </a:rPr>
              <a:t>if...else</a:t>
            </a:r>
          </a:p>
        </p:txBody>
      </p:sp>
      <p:grpSp>
        <p:nvGrpSpPr>
          <p:cNvPr id="1741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741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14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627188"/>
            <a:ext cx="8528050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1D815F-C16F-4B92-A4D3-FE94D6A9D8E6}" type="slidenum">
              <a:rPr lang="zh-TW" altLang="en-US" sz="1000">
                <a:latin typeface="Tahoma" panose="020B0604030504040204" pitchFamily="34" charset="0"/>
              </a:rPr>
              <a:pPr/>
              <a:t>16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8435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52400" y="5791200"/>
            <a:ext cx="554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5-10</a:t>
            </a:r>
            <a:r>
              <a:rPr lang="en-US" altLang="zh-TW" sz="2000">
                <a:ea typeface="新細明體" charset="-120"/>
              </a:rPr>
              <a:t>  Complemented </a:t>
            </a:r>
            <a:r>
              <a:rPr lang="en-US" altLang="zh-TW" sz="2000" i="1">
                <a:ea typeface="新細明體" charset="-120"/>
              </a:rPr>
              <a:t>if...else</a:t>
            </a:r>
            <a:r>
              <a:rPr lang="en-US" altLang="zh-TW" sz="2000">
                <a:ea typeface="新細明體" charset="-120"/>
              </a:rPr>
              <a:t> Statements</a:t>
            </a:r>
          </a:p>
        </p:txBody>
      </p:sp>
      <p:grpSp>
        <p:nvGrpSpPr>
          <p:cNvPr id="18437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8439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43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739775"/>
            <a:ext cx="7304087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B47571-29FE-4BCA-86BF-53D4D88D61F5}" type="slidenum">
              <a:rPr lang="zh-TW" altLang="en-US" sz="1000">
                <a:latin typeface="Tahoma" panose="020B0604030504040204" pitchFamily="34" charset="0"/>
              </a:rPr>
              <a:pPr/>
              <a:t>17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945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152400" y="5791200"/>
            <a:ext cx="416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 dirty="0">
                <a:solidFill>
                  <a:schemeClr val="folHlink"/>
                </a:solidFill>
                <a:ea typeface="新細明體" charset="-120"/>
              </a:rPr>
              <a:t>FIGURE 5-11</a:t>
            </a:r>
            <a:r>
              <a:rPr lang="en-US" altLang="zh-TW" sz="2000" dirty="0">
                <a:ea typeface="新細明體" charset="-120"/>
              </a:rPr>
              <a:t>  A Null </a:t>
            </a:r>
            <a:r>
              <a:rPr lang="en-US" altLang="zh-TW" sz="2000" i="1" dirty="0">
                <a:ea typeface="新細明體" charset="-120"/>
              </a:rPr>
              <a:t>else</a:t>
            </a:r>
            <a:r>
              <a:rPr lang="en-US" altLang="zh-TW" sz="2000" dirty="0">
                <a:ea typeface="新細明體" charset="-120"/>
              </a:rPr>
              <a:t> Statement</a:t>
            </a:r>
          </a:p>
        </p:txBody>
      </p:sp>
      <p:grpSp>
        <p:nvGrpSpPr>
          <p:cNvPr id="1946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1946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46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2349500"/>
            <a:ext cx="8934450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520515-002C-4498-820C-05DA5815D742}" type="slidenum">
              <a:rPr lang="zh-TW" altLang="en-US" sz="1000">
                <a:latin typeface="Tahoma" panose="020B0604030504040204" pitchFamily="34" charset="0"/>
              </a:rPr>
              <a:pPr/>
              <a:t>18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048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152400" y="5791200"/>
            <a:ext cx="3921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5-12</a:t>
            </a:r>
            <a:r>
              <a:rPr lang="en-US" altLang="zh-TW" sz="2000">
                <a:ea typeface="新細明體" charset="-120"/>
              </a:rPr>
              <a:t>  A Null </a:t>
            </a:r>
            <a:r>
              <a:rPr lang="en-US" altLang="zh-TW" sz="2000" i="1">
                <a:ea typeface="新細明體" charset="-120"/>
              </a:rPr>
              <a:t>if </a:t>
            </a:r>
            <a:r>
              <a:rPr lang="en-US" altLang="zh-TW" sz="2000">
                <a:ea typeface="新細明體" charset="-120"/>
              </a:rPr>
              <a:t>Statement</a:t>
            </a:r>
          </a:p>
        </p:txBody>
      </p:sp>
      <p:grpSp>
        <p:nvGrpSpPr>
          <p:cNvPr id="2048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048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48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8848725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9133F1-91DD-41F3-9456-68DFB66F4501}" type="slidenum">
              <a:rPr lang="zh-TW" altLang="en-US" sz="1000">
                <a:latin typeface="Tahoma" panose="020B0604030504040204" pitchFamily="34" charset="0"/>
              </a:rPr>
              <a:pPr/>
              <a:t>19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5-3</a:t>
            </a: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2482850" y="152400"/>
            <a:ext cx="2222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Two-way Selection</a:t>
            </a:r>
          </a:p>
        </p:txBody>
      </p:sp>
      <p:grpSp>
        <p:nvGrpSpPr>
          <p:cNvPr id="21509" name="Group 7"/>
          <p:cNvGrpSpPr>
            <a:grpSpLocks/>
          </p:cNvGrpSpPr>
          <p:nvPr/>
        </p:nvGrpSpPr>
        <p:grpSpPr bwMode="auto">
          <a:xfrm>
            <a:off x="279646" y="549275"/>
            <a:ext cx="6665912" cy="4160838"/>
            <a:chOff x="153" y="336"/>
            <a:chExt cx="5223" cy="3120"/>
          </a:xfrm>
        </p:grpSpPr>
        <p:pic>
          <p:nvPicPr>
            <p:cNvPr id="21512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" y="336"/>
              <a:ext cx="5223" cy="1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2112"/>
              <a:ext cx="5200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151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495800"/>
            <a:ext cx="673735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00200"/>
            <a:ext cx="4070350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414047-03FE-4AC6-A9DA-4C19A6C3D584}" type="slidenum">
              <a:rPr lang="zh-TW" altLang="en-US" sz="1000">
                <a:latin typeface="Tahoma" panose="020B0604030504040204" pitchFamily="34" charset="0"/>
              </a:rPr>
              <a:pPr/>
              <a:t>20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152400" y="5791200"/>
            <a:ext cx="4040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5-13</a:t>
            </a:r>
            <a:r>
              <a:rPr lang="en-US" altLang="zh-TW" sz="2000">
                <a:ea typeface="新細明體" charset="-120"/>
              </a:rPr>
              <a:t>  Nested </a:t>
            </a:r>
            <a:r>
              <a:rPr lang="en-US" altLang="zh-TW" sz="2000" i="1">
                <a:ea typeface="新細明體" charset="-120"/>
              </a:rPr>
              <a:t>if</a:t>
            </a:r>
            <a:r>
              <a:rPr lang="en-US" altLang="zh-TW" sz="2000">
                <a:ea typeface="新細明體" charset="-120"/>
              </a:rPr>
              <a:t> Statements</a:t>
            </a:r>
          </a:p>
        </p:txBody>
      </p:sp>
      <p:grpSp>
        <p:nvGrpSpPr>
          <p:cNvPr id="2253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253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253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831850"/>
            <a:ext cx="8940800" cy="480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15880B5-3749-44E5-8DF2-FD4655DBC20C}" type="slidenum">
              <a:rPr lang="zh-TW" altLang="en-US" sz="1000">
                <a:latin typeface="Tahoma" panose="020B0604030504040204" pitchFamily="34" charset="0"/>
              </a:rPr>
              <a:pPr/>
              <a:t>21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5-4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2397125" y="152400"/>
            <a:ext cx="2395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Nested </a:t>
            </a:r>
            <a:r>
              <a:rPr lang="en-US" altLang="zh-TW" sz="2000" i="1">
                <a:ea typeface="新細明體" charset="-120"/>
              </a:rPr>
              <a:t>if </a:t>
            </a:r>
            <a:r>
              <a:rPr lang="en-US" altLang="zh-TW" sz="2000">
                <a:ea typeface="新細明體" charset="-120"/>
              </a:rPr>
              <a:t>Statements</a:t>
            </a: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633413"/>
            <a:ext cx="6237288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4249291"/>
            <a:ext cx="6227762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752600"/>
            <a:ext cx="46005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84C459-8469-4A5E-9388-4B78789A4EE6}" type="slidenum">
              <a:rPr lang="zh-TW" altLang="en-US" sz="1000">
                <a:latin typeface="Tahoma" panose="020B0604030504040204" pitchFamily="34" charset="0"/>
              </a:rPr>
              <a:pPr/>
              <a:t>22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457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152400" y="5791200"/>
            <a:ext cx="327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5-14</a:t>
            </a:r>
            <a:r>
              <a:rPr lang="en-US" altLang="zh-TW" sz="2000">
                <a:ea typeface="新細明體" charset="-120"/>
              </a:rPr>
              <a:t>  Dangling </a:t>
            </a:r>
            <a:r>
              <a:rPr lang="en-US" altLang="zh-TW" sz="2000" i="1">
                <a:ea typeface="新細明體" charset="-120"/>
              </a:rPr>
              <a:t>else</a:t>
            </a:r>
          </a:p>
        </p:txBody>
      </p:sp>
      <p:grpSp>
        <p:nvGrpSpPr>
          <p:cNvPr id="2458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458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4582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1601788"/>
            <a:ext cx="7535863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Line 13"/>
          <p:cNvSpPr>
            <a:spLocks noChangeShapeType="1"/>
          </p:cNvSpPr>
          <p:nvPr/>
        </p:nvSpPr>
        <p:spPr bwMode="auto">
          <a:xfrm>
            <a:off x="387350" y="889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Line 14"/>
          <p:cNvSpPr>
            <a:spLocks noChangeShapeType="1"/>
          </p:cNvSpPr>
          <p:nvPr/>
        </p:nvSpPr>
        <p:spPr bwMode="auto">
          <a:xfrm>
            <a:off x="388938" y="1498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Rectangle 15"/>
          <p:cNvSpPr>
            <a:spLocks noChangeArrowheads="1"/>
          </p:cNvSpPr>
          <p:nvPr/>
        </p:nvSpPr>
        <p:spPr bwMode="auto">
          <a:xfrm>
            <a:off x="425450" y="981075"/>
            <a:ext cx="8077200" cy="457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i="1">
                <a:ea typeface="新細明體" charset="-120"/>
              </a:rPr>
              <a:t>else</a:t>
            </a:r>
            <a:r>
              <a:rPr lang="en-US" altLang="zh-TW">
                <a:ea typeface="新細明體" charset="-120"/>
              </a:rPr>
              <a:t> is always paired with the most recent unpaired </a:t>
            </a:r>
            <a:r>
              <a:rPr lang="en-US" altLang="zh-TW" i="1">
                <a:ea typeface="新細明體" charset="-120"/>
              </a:rPr>
              <a:t>if</a:t>
            </a:r>
            <a:r>
              <a:rPr lang="en-US" altLang="zh-TW">
                <a:ea typeface="新細明體" charset="-120"/>
              </a:rPr>
              <a:t>.</a:t>
            </a:r>
          </a:p>
        </p:txBody>
      </p:sp>
      <p:sp>
        <p:nvSpPr>
          <p:cNvPr id="682000" name="Text Box 16"/>
          <p:cNvSpPr txBox="1">
            <a:spLocks noChangeArrowheads="1"/>
          </p:cNvSpPr>
          <p:nvPr/>
        </p:nvSpPr>
        <p:spPr bwMode="auto">
          <a:xfrm>
            <a:off x="406400" y="355600"/>
            <a:ext cx="874713" cy="51911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0ADED7-9ED1-4993-A0A7-BA2AFD4793DC}" type="slidenum">
              <a:rPr lang="zh-TW" altLang="en-US" sz="1000">
                <a:latin typeface="Tahoma" panose="020B0604030504040204" pitchFamily="34" charset="0"/>
              </a:rPr>
              <a:pPr/>
              <a:t>23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560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52400" y="5791200"/>
            <a:ext cx="4238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5-15</a:t>
            </a:r>
            <a:r>
              <a:rPr lang="en-US" altLang="zh-TW" sz="2000">
                <a:ea typeface="新細明體" charset="-120"/>
              </a:rPr>
              <a:t>  Dangling </a:t>
            </a:r>
            <a:r>
              <a:rPr lang="en-US" altLang="zh-TW" sz="2000" i="1">
                <a:ea typeface="新細明體" charset="-120"/>
              </a:rPr>
              <a:t>else</a:t>
            </a:r>
            <a:r>
              <a:rPr lang="en-US" altLang="zh-TW" sz="2000">
                <a:ea typeface="新細明體" charset="-120"/>
              </a:rPr>
              <a:t> Solution</a:t>
            </a:r>
          </a:p>
        </p:txBody>
      </p:sp>
      <p:grpSp>
        <p:nvGrpSpPr>
          <p:cNvPr id="2560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560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60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5352"/>
            <a:ext cx="7943850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FAF9A91-51F9-4708-B534-07666CF1CA8C}" type="slidenum">
              <a:rPr lang="zh-TW" altLang="en-US" sz="1000">
                <a:latin typeface="Tahoma" panose="020B0604030504040204" pitchFamily="34" charset="0"/>
              </a:rPr>
              <a:pPr/>
              <a:t>24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838200" y="4038600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Table  5-3</a:t>
            </a:r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2133600" y="4038600"/>
            <a:ext cx="298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Simplifying the Condition</a:t>
            </a: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2000250"/>
            <a:ext cx="73310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267B5EA-29E2-456C-B4B4-B8C4F5BF14B0}" type="slidenum">
              <a:rPr lang="zh-TW" altLang="en-US" sz="1000">
                <a:latin typeface="Tahoma" panose="020B0604030504040204" pitchFamily="34" charset="0"/>
              </a:rPr>
              <a:pPr/>
              <a:t>25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765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52400" y="5791200"/>
            <a:ext cx="4373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5-16</a:t>
            </a:r>
            <a:r>
              <a:rPr lang="en-US" altLang="zh-TW" sz="2000">
                <a:ea typeface="新細明體" charset="-120"/>
              </a:rPr>
              <a:t>  Conditional Expression</a:t>
            </a:r>
          </a:p>
        </p:txBody>
      </p:sp>
      <p:grpSp>
        <p:nvGrpSpPr>
          <p:cNvPr id="2765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765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765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1554163"/>
            <a:ext cx="8345487" cy="332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CA7FAB-30D9-41B0-9C6D-7E961301FEF5}" type="slidenum">
              <a:rPr lang="zh-TW" altLang="en-US" sz="1000">
                <a:latin typeface="Tahoma" panose="020B0604030504040204" pitchFamily="34" charset="0"/>
              </a:rPr>
              <a:pPr/>
              <a:t>26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914400" y="4632325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Table  5-4</a:t>
            </a: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2460625" y="4632325"/>
            <a:ext cx="3751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Examples of Marginal Tax Rates</a:t>
            </a: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248525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7D17FE-1F69-4BEB-96FB-45414213FEAB}" type="slidenum">
              <a:rPr lang="zh-TW" altLang="en-US" sz="1000">
                <a:latin typeface="Tahoma" panose="020B0604030504040204" pitchFamily="34" charset="0"/>
              </a:rPr>
              <a:pPr/>
              <a:t>27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969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152400" y="5791200"/>
            <a:ext cx="4740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5-17</a:t>
            </a:r>
            <a:r>
              <a:rPr lang="en-US" altLang="zh-TW" sz="2000">
                <a:ea typeface="新細明體" charset="-120"/>
              </a:rPr>
              <a:t>  Design for Calculate Taxes</a:t>
            </a:r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2970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970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492250"/>
            <a:ext cx="7934325" cy="315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6182C3-CB72-4BC8-9D44-13EF0DB1E4EA}" type="slidenum">
              <a:rPr lang="zh-TW" altLang="en-US" sz="1000">
                <a:latin typeface="Tahoma" panose="020B0604030504040204" pitchFamily="34" charset="0"/>
              </a:rPr>
              <a:pPr/>
              <a:t>28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072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152400" y="5791200"/>
            <a:ext cx="5260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5-18</a:t>
            </a:r>
            <a:r>
              <a:rPr lang="en-US" altLang="zh-TW" sz="2000">
                <a:ea typeface="新細明體" charset="-120"/>
              </a:rPr>
              <a:t>  Design for Program 5-5 (Part I)</a:t>
            </a:r>
          </a:p>
        </p:txBody>
      </p:sp>
      <p:grpSp>
        <p:nvGrpSpPr>
          <p:cNvPr id="3072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3072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2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141413"/>
            <a:ext cx="8739187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2DE961-7D97-47E2-BA08-A3716D411CEE}" type="slidenum">
              <a:rPr lang="zh-TW" altLang="en-US" sz="1000">
                <a:latin typeface="Tahoma" panose="020B0604030504040204" pitchFamily="34" charset="0"/>
              </a:rPr>
              <a:pPr/>
              <a:t>29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174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152400" y="5791200"/>
            <a:ext cx="535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5-18</a:t>
            </a:r>
            <a:r>
              <a:rPr lang="en-US" altLang="zh-TW" sz="2000">
                <a:ea typeface="新細明體" charset="-120"/>
              </a:rPr>
              <a:t>  Design for Program 5-5 (Part II)</a:t>
            </a:r>
          </a:p>
        </p:txBody>
      </p:sp>
      <p:grpSp>
        <p:nvGrpSpPr>
          <p:cNvPr id="3174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3175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1750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63" y="685800"/>
            <a:ext cx="4643437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374337-A0B7-4841-9B54-B31841238598}" type="slidenum">
              <a:rPr lang="zh-TW" altLang="en-US" sz="1000">
                <a:latin typeface="Tahoma" panose="020B0604030504040204" pitchFamily="34" charset="0"/>
              </a:rPr>
              <a:pPr/>
              <a:t>30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277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152400" y="5791200"/>
            <a:ext cx="545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5-18</a:t>
            </a:r>
            <a:r>
              <a:rPr lang="en-US" altLang="zh-TW" sz="2000">
                <a:ea typeface="新細明體" charset="-120"/>
              </a:rPr>
              <a:t>  Design for Program 5-5 (Part III)</a:t>
            </a:r>
          </a:p>
        </p:txBody>
      </p:sp>
      <p:grpSp>
        <p:nvGrpSpPr>
          <p:cNvPr id="3277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3277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2774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85800"/>
            <a:ext cx="4543425" cy="487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5B7F66-2FAD-4DD1-BEDA-4F0F1B216C75}" type="slidenum">
              <a:rPr lang="zh-TW" altLang="en-US" sz="1000">
                <a:latin typeface="Tahoma" panose="020B0604030504040204" pitchFamily="34" charset="0"/>
              </a:rPr>
              <a:pPr/>
              <a:t>31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5562600" y="3048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5-5</a:t>
            </a:r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5638800" y="762000"/>
            <a:ext cx="191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Calculate Taxes</a:t>
            </a:r>
          </a:p>
        </p:txBody>
      </p:sp>
      <p:pic>
        <p:nvPicPr>
          <p:cNvPr id="3379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12700"/>
            <a:ext cx="5197475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594100"/>
            <a:ext cx="5181600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799" name="Group 8"/>
          <p:cNvGrpSpPr>
            <a:grpSpLocks/>
          </p:cNvGrpSpPr>
          <p:nvPr/>
        </p:nvGrpSpPr>
        <p:grpSpPr bwMode="auto">
          <a:xfrm>
            <a:off x="4038600" y="2514600"/>
            <a:ext cx="5105400" cy="3505200"/>
            <a:chOff x="191" y="432"/>
            <a:chExt cx="5274" cy="3579"/>
          </a:xfrm>
        </p:grpSpPr>
        <p:pic>
          <p:nvPicPr>
            <p:cNvPr id="33800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" y="432"/>
              <a:ext cx="5240" cy="1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01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" y="1776"/>
              <a:ext cx="5274" cy="2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0762A4D-A441-4C32-9CBB-F917418DA64E}" type="slidenum">
              <a:rPr lang="zh-TW" altLang="en-US" sz="1000">
                <a:latin typeface="Tahoma" panose="020B0604030504040204" pitchFamily="34" charset="0"/>
              </a:rPr>
              <a:pPr/>
              <a:t>32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14300"/>
            <a:ext cx="4678363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2800"/>
            <a:ext cx="4681538" cy="204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7500"/>
            <a:ext cx="46926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3352800"/>
            <a:ext cx="46767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01600"/>
            <a:ext cx="4686300" cy="323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773CCA9-2A80-4BE8-8932-93DB793CE198}" type="slidenum">
              <a:rPr lang="zh-TW" altLang="en-US" sz="1000">
                <a:latin typeface="Tahoma" panose="020B0604030504040204" pitchFamily="34" charset="0"/>
              </a:rPr>
              <a:pPr/>
              <a:t>33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pic>
        <p:nvPicPr>
          <p:cNvPr id="3584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46482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767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472440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50800"/>
            <a:ext cx="46720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200" y="914400"/>
            <a:ext cx="4678363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495800"/>
            <a:ext cx="46386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D0616E-5866-4FDF-A4AA-930B526925F0}" type="slidenum">
              <a:rPr lang="zh-TW" altLang="en-US" sz="1000">
                <a:latin typeface="Tahoma" panose="020B0604030504040204" pitchFamily="34" charset="0"/>
              </a:rPr>
              <a:pPr/>
              <a:t>34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zh-TW">
              <a:ea typeface="新細明體" charset="-120"/>
            </a:endParaRP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58880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4000">
                <a:latin typeface="Arial" panose="020B0604020202020204" pitchFamily="34" charset="0"/>
                <a:ea typeface="新細明體" charset="-120"/>
              </a:rPr>
              <a:t>5-3   Multiway Selection</a:t>
            </a:r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zh-TW" altLang="zh-TW" sz="1800">
              <a:ea typeface="新細明體" charset="-120"/>
            </a:endParaRPr>
          </a:p>
        </p:txBody>
      </p:sp>
      <p:sp>
        <p:nvSpPr>
          <p:cNvPr id="690181" name="Rectangle 5"/>
          <p:cNvSpPr>
            <a:spLocks noChangeArrowheads="1"/>
          </p:cNvSpPr>
          <p:nvPr/>
        </p:nvSpPr>
        <p:spPr bwMode="auto">
          <a:xfrm>
            <a:off x="304800" y="1536700"/>
            <a:ext cx="8229600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In addition to two-way selection, most programming languages provide another selection concept known as multiway selection. Multiway selection chooses among several alternatives. C has two different ways to implement multiway selection: the </a:t>
            </a:r>
            <a:r>
              <a:rPr lang="en-US" altLang="zh-TW" sz="2800" b="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switch</a:t>
            </a: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 statement and </a:t>
            </a:r>
            <a:r>
              <a:rPr lang="en-US" altLang="zh-TW" sz="2800" b="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else-if</a:t>
            </a:r>
            <a:r>
              <a:rPr lang="en-US" altLang="zh-TW" sz="2800" i="1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 construct.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304800" y="5121275"/>
            <a:ext cx="5715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  <a:ea typeface="新細明體" charset="-120"/>
              </a:rPr>
              <a:t>The </a:t>
            </a:r>
            <a:r>
              <a:rPr lang="en-US" altLang="zh-TW" i="1">
                <a:solidFill>
                  <a:schemeClr val="hlink"/>
                </a:solidFill>
                <a:ea typeface="新細明體" charset="-120"/>
              </a:rPr>
              <a:t>switch </a:t>
            </a:r>
            <a:r>
              <a:rPr lang="en-US" altLang="zh-TW">
                <a:solidFill>
                  <a:schemeClr val="hlink"/>
                </a:solidFill>
                <a:ea typeface="新細明體" charset="-120"/>
              </a:rPr>
              <a:t>Statement</a:t>
            </a:r>
            <a:endParaRPr lang="fr-FR" altLang="zh-TW">
              <a:solidFill>
                <a:schemeClr val="hlink"/>
              </a:solidFill>
              <a:ea typeface="新細明體" charset="-120"/>
            </a:endParaRP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>
                <a:solidFill>
                  <a:schemeClr val="hlink"/>
                </a:solidFill>
                <a:ea typeface="新細明體" charset="-120"/>
              </a:rPr>
              <a:t>The </a:t>
            </a:r>
            <a:r>
              <a:rPr lang="fr-FR" altLang="zh-TW" i="1">
                <a:solidFill>
                  <a:schemeClr val="hlink"/>
                </a:solidFill>
                <a:ea typeface="新細明體" charset="-120"/>
              </a:rPr>
              <a:t>else-if</a:t>
            </a:r>
            <a:endParaRPr lang="en-US" altLang="zh-TW">
              <a:solidFill>
                <a:schemeClr val="hlink"/>
              </a:solidFill>
              <a:ea typeface="新細明體" charset="-120"/>
            </a:endParaRPr>
          </a:p>
        </p:txBody>
      </p:sp>
      <p:sp>
        <p:nvSpPr>
          <p:cNvPr id="690183" name="Text Box 7"/>
          <p:cNvSpPr txBox="1">
            <a:spLocks noChangeArrowheads="1"/>
          </p:cNvSpPr>
          <p:nvPr/>
        </p:nvSpPr>
        <p:spPr bwMode="auto">
          <a:xfrm>
            <a:off x="317500" y="4616450"/>
            <a:ext cx="4862513" cy="51911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D8EDB0-94BC-4568-8F50-6074A91001C1}" type="slidenum">
              <a:rPr lang="zh-TW" altLang="en-US" sz="1000">
                <a:latin typeface="Tahoma" panose="020B0604030504040204" pitchFamily="34" charset="0"/>
              </a:rPr>
              <a:pPr/>
              <a:t>35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789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152400" y="5791200"/>
            <a:ext cx="414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5-19</a:t>
            </a:r>
            <a:r>
              <a:rPr lang="en-US" altLang="zh-TW" sz="2000">
                <a:ea typeface="新細明體" charset="-120"/>
              </a:rPr>
              <a:t>  </a:t>
            </a:r>
            <a:r>
              <a:rPr lang="en-US" altLang="zh-TW" sz="2000" i="1">
                <a:ea typeface="新細明體" charset="-120"/>
              </a:rPr>
              <a:t>switch</a:t>
            </a:r>
            <a:r>
              <a:rPr lang="en-US" altLang="zh-TW" sz="2000">
                <a:ea typeface="新細明體" charset="-120"/>
              </a:rPr>
              <a:t> Decision Logic</a:t>
            </a:r>
          </a:p>
        </p:txBody>
      </p:sp>
      <p:grpSp>
        <p:nvGrpSpPr>
          <p:cNvPr id="3789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3789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789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0"/>
            <a:ext cx="7788275" cy="520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D1205F-0C07-4ADD-A383-634FAC4DCF0F}" type="slidenum">
              <a:rPr lang="zh-TW" altLang="en-US" sz="1000">
                <a:latin typeface="Tahoma" panose="020B0604030504040204" pitchFamily="34" charset="0"/>
              </a:rPr>
              <a:pPr/>
              <a:t>36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8915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152400" y="5791200"/>
            <a:ext cx="4464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5-20</a:t>
            </a:r>
            <a:r>
              <a:rPr lang="en-US" altLang="zh-TW" sz="2000">
                <a:ea typeface="新細明體" charset="-120"/>
              </a:rPr>
              <a:t>  </a:t>
            </a:r>
            <a:r>
              <a:rPr lang="en-US" altLang="zh-TW" sz="2000" i="1">
                <a:ea typeface="新細明體" charset="-120"/>
              </a:rPr>
              <a:t>switch</a:t>
            </a:r>
            <a:r>
              <a:rPr lang="en-US" altLang="zh-TW" sz="2000">
                <a:ea typeface="新細明體" charset="-120"/>
              </a:rPr>
              <a:t> Statement Syntax</a:t>
            </a:r>
          </a:p>
        </p:txBody>
      </p:sp>
      <p:grpSp>
        <p:nvGrpSpPr>
          <p:cNvPr id="38917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38919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0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1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891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827088"/>
            <a:ext cx="5475287" cy="481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52A28D9-8ECC-438F-B073-8E557802E067}" type="slidenum">
              <a:rPr lang="zh-TW" altLang="en-US" sz="1000">
                <a:latin typeface="Tahoma" panose="020B0604030504040204" pitchFamily="34" charset="0"/>
              </a:rPr>
              <a:pPr/>
              <a:t>37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3993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152400" y="5791200"/>
            <a:ext cx="3090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5-21</a:t>
            </a:r>
            <a:r>
              <a:rPr lang="en-US" altLang="zh-TW" sz="2000">
                <a:ea typeface="新細明體" charset="-120"/>
              </a:rPr>
              <a:t>  </a:t>
            </a:r>
            <a:r>
              <a:rPr lang="en-US" altLang="zh-TW" sz="2000" i="1">
                <a:ea typeface="新細明體" charset="-120"/>
              </a:rPr>
              <a:t>switch</a:t>
            </a:r>
            <a:r>
              <a:rPr lang="en-US" altLang="zh-TW" sz="2000">
                <a:ea typeface="新細明體" charset="-120"/>
              </a:rPr>
              <a:t> Flow</a:t>
            </a:r>
          </a:p>
        </p:txBody>
      </p:sp>
      <p:grpSp>
        <p:nvGrpSpPr>
          <p:cNvPr id="3994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3994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9942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84188"/>
            <a:ext cx="4662487" cy="515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E871A7-3E98-4994-87D1-990E8338DC2E}" type="slidenum">
              <a:rPr lang="zh-TW" altLang="en-US" sz="1000">
                <a:latin typeface="Tahoma" panose="020B0604030504040204" pitchFamily="34" charset="0"/>
              </a:rPr>
              <a:pPr/>
              <a:t>38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5-6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2151063" y="152400"/>
            <a:ext cx="3868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Demonstrate the </a:t>
            </a:r>
            <a:r>
              <a:rPr lang="en-US" altLang="zh-TW" sz="2000" i="1">
                <a:ea typeface="新細明體" charset="-120"/>
              </a:rPr>
              <a:t>switch</a:t>
            </a:r>
            <a:r>
              <a:rPr lang="en-US" altLang="zh-TW" sz="2000">
                <a:ea typeface="新細明體" charset="-120"/>
              </a:rPr>
              <a:t> Statement</a:t>
            </a:r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83185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FF6EAD6-974D-455E-98AB-EC8B2421AA2C}" type="slidenum">
              <a:rPr lang="zh-TW" altLang="en-US" sz="1000">
                <a:latin typeface="Tahoma" panose="020B0604030504040204" pitchFamily="34" charset="0"/>
              </a:rPr>
              <a:pPr/>
              <a:t>39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1987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152400" y="5791200"/>
            <a:ext cx="3343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5-22</a:t>
            </a:r>
            <a:r>
              <a:rPr lang="en-US" altLang="zh-TW" sz="2000">
                <a:ea typeface="新細明體" charset="-120"/>
              </a:rPr>
              <a:t>  </a:t>
            </a:r>
            <a:r>
              <a:rPr lang="en-US" altLang="zh-TW" sz="2000" i="1">
                <a:ea typeface="新細明體" charset="-120"/>
              </a:rPr>
              <a:t>switch</a:t>
            </a:r>
            <a:r>
              <a:rPr lang="en-US" altLang="zh-TW" sz="2000">
                <a:ea typeface="新細明體" charset="-120"/>
              </a:rPr>
              <a:t> Results</a:t>
            </a:r>
          </a:p>
        </p:txBody>
      </p:sp>
      <p:grpSp>
        <p:nvGrpSpPr>
          <p:cNvPr id="41989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4199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199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82813"/>
            <a:ext cx="8812213" cy="223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5D8647-D470-4D7A-82F2-D7BF68479EC0}" type="slidenum">
              <a:rPr lang="zh-TW" altLang="en-US" sz="1000">
                <a:latin typeface="Tahoma" panose="020B0604030504040204" pitchFamily="34" charset="0"/>
              </a:rPr>
              <a:pPr/>
              <a:t>40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3011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Rectangle 3"/>
          <p:cNvSpPr>
            <a:spLocks noChangeArrowheads="1"/>
          </p:cNvSpPr>
          <p:nvPr/>
        </p:nvSpPr>
        <p:spPr bwMode="auto">
          <a:xfrm>
            <a:off x="152400" y="5791200"/>
            <a:ext cx="5197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FIGURE 5-23</a:t>
            </a:r>
            <a:r>
              <a:rPr lang="en-US" altLang="zh-TW" sz="2000">
                <a:ea typeface="新細明體" charset="-120"/>
              </a:rPr>
              <a:t>  A </a:t>
            </a:r>
            <a:r>
              <a:rPr lang="en-US" altLang="zh-TW" sz="2000" i="1">
                <a:ea typeface="新細明體" charset="-120"/>
              </a:rPr>
              <a:t>switch</a:t>
            </a:r>
            <a:r>
              <a:rPr lang="en-US" altLang="zh-TW" sz="2000">
                <a:ea typeface="新細明體" charset="-120"/>
              </a:rPr>
              <a:t> with </a:t>
            </a:r>
            <a:r>
              <a:rPr lang="en-US" altLang="zh-TW" sz="2000" i="1">
                <a:ea typeface="新細明體" charset="-120"/>
              </a:rPr>
              <a:t>break</a:t>
            </a:r>
            <a:r>
              <a:rPr lang="en-US" altLang="zh-TW" sz="2000">
                <a:ea typeface="新細明體" charset="-120"/>
              </a:rPr>
              <a:t> Statements</a:t>
            </a:r>
          </a:p>
        </p:txBody>
      </p:sp>
      <p:grpSp>
        <p:nvGrpSpPr>
          <p:cNvPr id="43013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43015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7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3014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928688"/>
            <a:ext cx="7596187" cy="45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825752-6E2E-497E-B71B-90544424B9B9}" type="slidenum">
              <a:rPr lang="zh-TW" altLang="en-US" sz="1000">
                <a:latin typeface="Tahoma" panose="020B0604030504040204" pitchFamily="34" charset="0"/>
              </a:rPr>
              <a:pPr/>
              <a:t>41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5-7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2209800" y="152400"/>
            <a:ext cx="328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Multivalued </a:t>
            </a:r>
            <a:r>
              <a:rPr lang="en-US" altLang="zh-TW" sz="2000" i="1">
                <a:ea typeface="新細明體" charset="-120"/>
              </a:rPr>
              <a:t>case</a:t>
            </a:r>
            <a:r>
              <a:rPr lang="en-US" altLang="zh-TW" sz="2000">
                <a:ea typeface="新細明體" charset="-120"/>
              </a:rPr>
              <a:t> Statements</a:t>
            </a:r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318500" cy="536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96D9333-BE54-4383-A1FA-48DB9D6FDD01}" type="slidenum">
              <a:rPr lang="zh-TW" altLang="en-US" sz="1000">
                <a:latin typeface="Tahoma" panose="020B0604030504040204" pitchFamily="34" charset="0"/>
              </a:rPr>
              <a:pPr/>
              <a:t>42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4953000" y="22860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5-8</a:t>
            </a:r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6972300" y="241300"/>
            <a:ext cx="2009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Student Grading</a:t>
            </a:r>
          </a:p>
        </p:txBody>
      </p:sp>
      <p:grpSp>
        <p:nvGrpSpPr>
          <p:cNvPr id="45061" name="Group 7"/>
          <p:cNvGrpSpPr>
            <a:grpSpLocks/>
          </p:cNvGrpSpPr>
          <p:nvPr/>
        </p:nvGrpSpPr>
        <p:grpSpPr bwMode="auto">
          <a:xfrm>
            <a:off x="0" y="152400"/>
            <a:ext cx="4859338" cy="3211513"/>
            <a:chOff x="119" y="384"/>
            <a:chExt cx="5257" cy="3664"/>
          </a:xfrm>
        </p:grpSpPr>
        <p:pic>
          <p:nvPicPr>
            <p:cNvPr id="4506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" y="384"/>
              <a:ext cx="5257" cy="2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" y="2688"/>
              <a:ext cx="5240" cy="1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506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70263"/>
            <a:ext cx="4876800" cy="328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870958"/>
            <a:ext cx="4608512" cy="248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4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12" y="2286000"/>
            <a:ext cx="4410075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B875B7B-5BE1-44C6-AE85-77A43B108C5E}" type="slidenum">
              <a:rPr lang="zh-TW" altLang="en-US" sz="1000">
                <a:latin typeface="Tahoma" panose="020B0604030504040204" pitchFamily="34" charset="0"/>
              </a:rPr>
              <a:pPr/>
              <a:t>43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6083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152400" y="5791200"/>
            <a:ext cx="6240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 dirty="0">
                <a:solidFill>
                  <a:schemeClr val="folHlink"/>
                </a:solidFill>
                <a:ea typeface="新細明體" charset="-120"/>
              </a:rPr>
              <a:t>FIGURE 5-24</a:t>
            </a:r>
            <a:r>
              <a:rPr lang="en-US" altLang="zh-TW" sz="2000" dirty="0">
                <a:ea typeface="新細明體" charset="-120"/>
              </a:rPr>
              <a:t>  The </a:t>
            </a:r>
            <a:r>
              <a:rPr lang="en-US" altLang="zh-TW" sz="2000" i="1" dirty="0">
                <a:ea typeface="新細明體" charset="-120"/>
              </a:rPr>
              <a:t>else-if</a:t>
            </a:r>
            <a:r>
              <a:rPr lang="en-US" altLang="zh-TW" sz="2000" dirty="0">
                <a:ea typeface="新細明體" charset="-120"/>
              </a:rPr>
              <a:t> Logic Design for Program 5-9</a:t>
            </a:r>
          </a:p>
        </p:txBody>
      </p:sp>
      <p:grpSp>
        <p:nvGrpSpPr>
          <p:cNvPr id="46085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4608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608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457200"/>
            <a:ext cx="5895975" cy="528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9850B7-9650-4F52-8AB9-5FA80C33D5E2}" type="slidenum">
              <a:rPr lang="zh-TW" altLang="en-US" sz="1000">
                <a:latin typeface="Tahoma" panose="020B0604030504040204" pitchFamily="34" charset="0"/>
              </a:rPr>
              <a:pPr/>
              <a:t>44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7107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8" name="Line 3"/>
          <p:cNvSpPr>
            <a:spLocks noChangeShapeType="1"/>
          </p:cNvSpPr>
          <p:nvPr/>
        </p:nvSpPr>
        <p:spPr bwMode="auto">
          <a:xfrm>
            <a:off x="439738" y="4038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476250" y="2759075"/>
            <a:ext cx="8077200" cy="11874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dirty="0">
                <a:ea typeface="新細明體" charset="-120"/>
              </a:rPr>
              <a:t>The </a:t>
            </a:r>
            <a:r>
              <a:rPr lang="en-US" altLang="zh-TW" i="1" dirty="0">
                <a:ea typeface="新細明體" charset="-120"/>
              </a:rPr>
              <a:t>else-if</a:t>
            </a:r>
            <a:r>
              <a:rPr lang="en-US" altLang="zh-TW" dirty="0">
                <a:ea typeface="新細明體" charset="-120"/>
              </a:rPr>
              <a:t> is an artificial C construct that is only used when</a:t>
            </a:r>
          </a:p>
          <a:p>
            <a:pPr algn="l"/>
            <a:r>
              <a:rPr lang="en-US" altLang="zh-TW" dirty="0">
                <a:ea typeface="新細明體" charset="-120"/>
              </a:rPr>
              <a:t>1. The selection variable is not an integral, and</a:t>
            </a:r>
          </a:p>
          <a:p>
            <a:pPr algn="l"/>
            <a:r>
              <a:rPr lang="en-US" altLang="zh-TW" dirty="0">
                <a:ea typeface="新細明體" charset="-120"/>
              </a:rPr>
              <a:t>2. The same variable is being tested in the expressions.</a:t>
            </a:r>
          </a:p>
        </p:txBody>
      </p:sp>
      <p:sp>
        <p:nvSpPr>
          <p:cNvPr id="701445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83B61B-504E-422F-B40A-A196EC9870C2}" type="slidenum">
              <a:rPr lang="zh-TW" altLang="en-US" sz="1000">
                <a:latin typeface="Tahoma" panose="020B0604030504040204" pitchFamily="34" charset="0"/>
              </a:rPr>
              <a:pPr/>
              <a:t>45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8131" name="Text Box 2"/>
          <p:cNvSpPr txBox="1">
            <a:spLocks noChangeArrowheads="1"/>
          </p:cNvSpPr>
          <p:nvPr/>
        </p:nvSpPr>
        <p:spPr bwMode="auto">
          <a:xfrm>
            <a:off x="5715000" y="0"/>
            <a:ext cx="1927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5-9</a:t>
            </a:r>
          </a:p>
        </p:txBody>
      </p:sp>
      <p:sp>
        <p:nvSpPr>
          <p:cNvPr id="48132" name="Text Box 3"/>
          <p:cNvSpPr txBox="1">
            <a:spLocks noChangeArrowheads="1"/>
          </p:cNvSpPr>
          <p:nvPr/>
        </p:nvSpPr>
        <p:spPr bwMode="auto">
          <a:xfrm>
            <a:off x="5715000" y="381000"/>
            <a:ext cx="2771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Convert Score to Grade</a:t>
            </a:r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2400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60725"/>
            <a:ext cx="5214938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61619"/>
            <a:ext cx="29718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048000"/>
            <a:ext cx="4048125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C55E8F-FDE1-4080-9804-1E980DE242D4}" type="slidenum">
              <a:rPr lang="zh-TW" altLang="en-US" sz="1000">
                <a:latin typeface="Tahoma" panose="020B0604030504040204" pitchFamily="34" charset="0"/>
              </a:rPr>
              <a:pPr/>
              <a:t>46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49155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TW" altLang="zh-TW">
              <a:ea typeface="新細明體" charset="-120"/>
            </a:endParaRPr>
          </a:p>
        </p:txBody>
      </p:sp>
      <p:sp>
        <p:nvSpPr>
          <p:cNvPr id="49156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7464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4000">
                <a:latin typeface="Arial" panose="020B0604020202020204" pitchFamily="34" charset="0"/>
                <a:ea typeface="新細明體" charset="-120"/>
              </a:rPr>
              <a:t>5-4   More Standard Functions</a:t>
            </a:r>
          </a:p>
        </p:txBody>
      </p:sp>
      <p:sp>
        <p:nvSpPr>
          <p:cNvPr id="49157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zh-TW" altLang="zh-TW" sz="1800">
              <a:ea typeface="新細明體" charset="-120"/>
            </a:endParaRPr>
          </a:p>
        </p:txBody>
      </p:sp>
      <p:sp>
        <p:nvSpPr>
          <p:cNvPr id="703493" name="Rectangle 5"/>
          <p:cNvSpPr>
            <a:spLocks noChangeArrowheads="1"/>
          </p:cNvSpPr>
          <p:nvPr/>
        </p:nvSpPr>
        <p:spPr bwMode="auto">
          <a:xfrm>
            <a:off x="304800" y="1506538"/>
            <a:ext cx="8229600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TW" sz="2800" i="1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One of the assets of the C language is its rich set of standard functions that make programming much easier. For example, C99 has two parallel but separate header files for manipulating characters: ctype.h and wctype.h.</a:t>
            </a:r>
          </a:p>
        </p:txBody>
      </p:sp>
      <p:sp>
        <p:nvSpPr>
          <p:cNvPr id="49159" name="Rectangle 6"/>
          <p:cNvSpPr>
            <a:spLocks noChangeArrowheads="1"/>
          </p:cNvSpPr>
          <p:nvPr/>
        </p:nvSpPr>
        <p:spPr bwMode="auto">
          <a:xfrm>
            <a:off x="381000" y="4876800"/>
            <a:ext cx="5715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Standard Characters Functions</a:t>
            </a:r>
            <a:endParaRPr lang="fr-FR" altLang="zh-TW" dirty="0">
              <a:solidFill>
                <a:schemeClr val="hlink"/>
              </a:solidFill>
              <a:ea typeface="新細明體" charset="-120"/>
            </a:endParaRP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zh-TW" dirty="0">
                <a:solidFill>
                  <a:schemeClr val="hlink"/>
                </a:solidFill>
                <a:ea typeface="新細明體" charset="-120"/>
              </a:rPr>
              <a:t>A Classification Program</a:t>
            </a: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chemeClr val="hlink"/>
                </a:solidFill>
                <a:ea typeface="新細明體" charset="-120"/>
              </a:rPr>
              <a:t>Handling Major Errors</a:t>
            </a:r>
          </a:p>
        </p:txBody>
      </p:sp>
      <p:sp>
        <p:nvSpPr>
          <p:cNvPr id="703495" name="Text Box 7"/>
          <p:cNvSpPr txBox="1">
            <a:spLocks noChangeArrowheads="1"/>
          </p:cNvSpPr>
          <p:nvPr/>
        </p:nvSpPr>
        <p:spPr bwMode="auto">
          <a:xfrm>
            <a:off x="317500" y="4279900"/>
            <a:ext cx="4862513" cy="51911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800" i="1" u="sng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15BD9E-DB02-44D4-961B-24EB3629B38D}" type="slidenum">
              <a:rPr lang="zh-TW" altLang="en-US" sz="1000">
                <a:latin typeface="Tahoma" panose="020B0604030504040204" pitchFamily="34" charset="0"/>
              </a:rPr>
              <a:pPr/>
              <a:t>47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0179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0" name="Rectangle 3"/>
          <p:cNvSpPr>
            <a:spLocks noChangeArrowheads="1"/>
          </p:cNvSpPr>
          <p:nvPr/>
        </p:nvSpPr>
        <p:spPr bwMode="auto">
          <a:xfrm>
            <a:off x="152400" y="5791200"/>
            <a:ext cx="5859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 dirty="0">
                <a:solidFill>
                  <a:schemeClr val="folHlink"/>
                </a:solidFill>
                <a:ea typeface="新細明體" charset="-120"/>
              </a:rPr>
              <a:t>FIGURE 5-25</a:t>
            </a:r>
            <a:r>
              <a:rPr lang="en-US" altLang="zh-TW" sz="2000" dirty="0">
                <a:ea typeface="新細明體" charset="-120"/>
              </a:rPr>
              <a:t>  </a:t>
            </a:r>
            <a:r>
              <a:rPr lang="en-US" altLang="zh-TW" sz="2000" dirty="0" smtClean="0">
                <a:ea typeface="新細明體" charset="-120"/>
              </a:rPr>
              <a:t>Classifications of the Character Type</a:t>
            </a:r>
            <a:endParaRPr lang="en-US" altLang="zh-TW" sz="2000" dirty="0">
              <a:ea typeface="新細明體" charset="-120"/>
            </a:endParaRPr>
          </a:p>
        </p:txBody>
      </p:sp>
      <p:grpSp>
        <p:nvGrpSpPr>
          <p:cNvPr id="50181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018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018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601663"/>
            <a:ext cx="6307137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0253AC-BFDD-4F9C-9302-B26F299D720F}" type="slidenum">
              <a:rPr lang="zh-TW" altLang="en-US" sz="1000">
                <a:latin typeface="Tahoma" panose="020B0604030504040204" pitchFamily="34" charset="0"/>
              </a:rPr>
              <a:pPr/>
              <a:t>48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760413" y="5029200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Table  5-6</a:t>
            </a: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2055813" y="5029200"/>
            <a:ext cx="2516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Classifying Functions</a:t>
            </a:r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203325"/>
            <a:ext cx="7277100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 Box 7"/>
          <p:cNvSpPr txBox="1">
            <a:spLocks noChangeArrowheads="1"/>
          </p:cNvSpPr>
          <p:nvPr/>
        </p:nvSpPr>
        <p:spPr bwMode="auto">
          <a:xfrm>
            <a:off x="6759575" y="838200"/>
            <a:ext cx="1227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 i="1">
                <a:ea typeface="新細明體" charset="-120"/>
              </a:rPr>
              <a:t>continued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70ED20-C279-4AB0-9DBF-C5A96F0DC8F0}" type="slidenum">
              <a:rPr lang="zh-TW" altLang="en-US" sz="1000">
                <a:latin typeface="Tahoma" panose="020B0604030504040204" pitchFamily="34" charset="0"/>
              </a:rPr>
              <a:pPr/>
              <a:t>49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647700" y="3452813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Table  5-6</a:t>
            </a: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1987550" y="3452813"/>
            <a:ext cx="3790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Classifying Functions </a:t>
            </a:r>
            <a:r>
              <a:rPr lang="en-US" altLang="zh-TW" sz="2000" i="1">
                <a:ea typeface="新細明體" charset="-120"/>
              </a:rPr>
              <a:t>(continued)</a:t>
            </a:r>
          </a:p>
        </p:txBody>
      </p:sp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"/>
            <a:ext cx="7277100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Text Box 3"/>
          <p:cNvSpPr txBox="1">
            <a:spLocks noChangeArrowheads="1"/>
          </p:cNvSpPr>
          <p:nvPr/>
        </p:nvSpPr>
        <p:spPr bwMode="auto">
          <a:xfrm>
            <a:off x="1930400" y="5851525"/>
            <a:ext cx="2560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ea typeface="新細明體" charset="-120"/>
              </a:rPr>
              <a:t>Conversion Functions</a:t>
            </a:r>
          </a:p>
        </p:txBody>
      </p:sp>
      <p:pic>
        <p:nvPicPr>
          <p:cNvPr id="5223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3962400"/>
            <a:ext cx="7331075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2" name="Text Box 2"/>
          <p:cNvSpPr txBox="1">
            <a:spLocks noChangeArrowheads="1"/>
          </p:cNvSpPr>
          <p:nvPr/>
        </p:nvSpPr>
        <p:spPr bwMode="auto">
          <a:xfrm>
            <a:off x="647700" y="5873750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Table  5-7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71AFCD-9BA7-4547-AF76-B022E9DF4C88}" type="slidenum">
              <a:rPr lang="zh-TW" altLang="en-US" sz="1000">
                <a:latin typeface="Tahoma" panose="020B0604030504040204" pitchFamily="34" charset="0"/>
              </a:rPr>
              <a:pPr/>
              <a:t>50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5562600" y="152400"/>
            <a:ext cx="2054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TW" sz="2000">
                <a:solidFill>
                  <a:schemeClr val="folHlink"/>
                </a:solidFill>
                <a:ea typeface="新細明體" charset="-120"/>
              </a:rPr>
              <a:t>PROGRAM 5-10</a:t>
            </a:r>
          </a:p>
        </p:txBody>
      </p:sp>
      <p:sp>
        <p:nvSpPr>
          <p:cNvPr id="53252" name="Text Box 3"/>
          <p:cNvSpPr txBox="1">
            <a:spLocks noChangeArrowheads="1"/>
          </p:cNvSpPr>
          <p:nvPr/>
        </p:nvSpPr>
        <p:spPr bwMode="auto">
          <a:xfrm>
            <a:off x="5613400" y="533400"/>
            <a:ext cx="297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sz="2000">
                <a:ea typeface="新細明體" charset="-120"/>
              </a:rPr>
              <a:t>Demonstrate Classification Functions</a:t>
            </a:r>
          </a:p>
        </p:txBody>
      </p:sp>
      <p:pic>
        <p:nvPicPr>
          <p:cNvPr id="532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136525"/>
            <a:ext cx="5181600" cy="365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797300"/>
            <a:ext cx="52451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688" y="1752600"/>
            <a:ext cx="39624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3487</TotalTime>
  <Words>738</Words>
  <Application>Microsoft Office PowerPoint</Application>
  <PresentationFormat>On-screen Show (4:3)</PresentationFormat>
  <Paragraphs>155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McGrawHill-Italic</vt:lpstr>
      <vt:lpstr>新細明體</vt:lpstr>
      <vt:lpstr>Tahoma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Administrator</cp:lastModifiedBy>
  <cp:revision>208</cp:revision>
  <dcterms:created xsi:type="dcterms:W3CDTF">2000-01-15T04:50:39Z</dcterms:created>
  <dcterms:modified xsi:type="dcterms:W3CDTF">2024-11-12T08:11:12Z</dcterms:modified>
</cp:coreProperties>
</file>