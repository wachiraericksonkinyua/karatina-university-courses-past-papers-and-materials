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54"/>
  </p:notesMasterIdLst>
  <p:sldIdLst>
    <p:sldId id="545" r:id="rId2"/>
    <p:sldId id="599" r:id="rId3"/>
    <p:sldId id="734" r:id="rId4"/>
    <p:sldId id="736" r:id="rId5"/>
    <p:sldId id="738" r:id="rId6"/>
    <p:sldId id="739" r:id="rId7"/>
    <p:sldId id="740" r:id="rId8"/>
    <p:sldId id="742" r:id="rId9"/>
    <p:sldId id="743" r:id="rId10"/>
    <p:sldId id="744" r:id="rId11"/>
    <p:sldId id="812" r:id="rId12"/>
    <p:sldId id="745" r:id="rId13"/>
    <p:sldId id="746" r:id="rId14"/>
    <p:sldId id="747" r:id="rId15"/>
    <p:sldId id="733" r:id="rId16"/>
    <p:sldId id="748" r:id="rId17"/>
    <p:sldId id="813" r:id="rId18"/>
    <p:sldId id="749" r:id="rId19"/>
    <p:sldId id="750" r:id="rId20"/>
    <p:sldId id="752" r:id="rId21"/>
    <p:sldId id="753" r:id="rId22"/>
    <p:sldId id="754" r:id="rId23"/>
    <p:sldId id="755" r:id="rId24"/>
    <p:sldId id="756" r:id="rId25"/>
    <p:sldId id="757" r:id="rId26"/>
    <p:sldId id="758" r:id="rId27"/>
    <p:sldId id="759" r:id="rId28"/>
    <p:sldId id="760" r:id="rId29"/>
    <p:sldId id="761" r:id="rId30"/>
    <p:sldId id="762" r:id="rId31"/>
    <p:sldId id="763" r:id="rId32"/>
    <p:sldId id="764" r:id="rId33"/>
    <p:sldId id="765" r:id="rId34"/>
    <p:sldId id="766" r:id="rId35"/>
    <p:sldId id="768" r:id="rId36"/>
    <p:sldId id="769" r:id="rId37"/>
    <p:sldId id="772" r:id="rId38"/>
    <p:sldId id="773" r:id="rId39"/>
    <p:sldId id="774" r:id="rId40"/>
    <p:sldId id="839" r:id="rId41"/>
    <p:sldId id="776" r:id="rId42"/>
    <p:sldId id="777" r:id="rId43"/>
    <p:sldId id="778" r:id="rId44"/>
    <p:sldId id="779" r:id="rId45"/>
    <p:sldId id="780" r:id="rId46"/>
    <p:sldId id="841" r:id="rId47"/>
    <p:sldId id="783" r:id="rId48"/>
    <p:sldId id="784" r:id="rId49"/>
    <p:sldId id="785" r:id="rId50"/>
    <p:sldId id="786" r:id="rId51"/>
    <p:sldId id="787" r:id="rId52"/>
    <p:sldId id="788" r:id="rId53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949494"/>
    <a:srgbClr val="339966"/>
    <a:srgbClr val="FFFF66"/>
    <a:srgbClr val="D7EB15"/>
    <a:srgbClr val="33CC33"/>
    <a:srgbClr val="99FF33"/>
    <a:srgbClr val="FFF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60" autoAdjust="0"/>
    <p:restoredTop sz="94680" autoAdjust="0"/>
  </p:normalViewPr>
  <p:slideViewPr>
    <p:cSldViewPr>
      <p:cViewPr varScale="1">
        <p:scale>
          <a:sx n="89" d="100"/>
          <a:sy n="89" d="100"/>
        </p:scale>
        <p:origin x="1678" y="-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5" d="100"/>
        <a:sy n="75" d="100"/>
      </p:scale>
      <p:origin x="0" y="99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46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63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6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Click to edit Master text styles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446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46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fld id="{13EFA808-D3F8-49E0-87A7-13ECBCCFFB6D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zh-TW" altLang="en-US" smtClean="0">
                  <a:ea typeface="新細明體" pitchFamily="18" charset="-12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zh-TW" altLang="en-US" smtClean="0">
                  <a:ea typeface="新細明體" pitchFamily="18" charset="-12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zh-TW" altLang="en-US" smtClean="0">
                  <a:ea typeface="新細明體" pitchFamily="18" charset="-12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zh-TW" altLang="en-US" smtClean="0">
                  <a:ea typeface="新細明體" pitchFamily="18" charset="-12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zh-TW" altLang="en-US" smtClean="0">
                <a:ea typeface="新細明體" pitchFamily="18" charset="-12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zh-TW" altLang="en-US" smtClean="0">
                <a:ea typeface="新細明體" pitchFamily="18" charset="-12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zh-TW" altLang="en-US" smtClean="0">
                <a:ea typeface="新細明體" pitchFamily="18" charset="-120"/>
              </a:endParaRPr>
            </a:p>
          </p:txBody>
        </p:sp>
      </p:grpSp>
      <p:sp>
        <p:nvSpPr>
          <p:cNvPr id="14" name="Text Box 17"/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0" smtClean="0">
                <a:latin typeface="McGrawHill-Italic" pitchFamily="2" charset="0"/>
              </a:rPr>
              <a:t>McGraw-Hill</a:t>
            </a:r>
            <a:endParaRPr lang="en-US" altLang="en-US" b="0" smtClean="0"/>
          </a:p>
        </p:txBody>
      </p:sp>
      <p:sp>
        <p:nvSpPr>
          <p:cNvPr id="15" name="Text Box 18"/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Char char="©"/>
              <a:defRPr/>
            </a:pPr>
            <a:r>
              <a:rPr lang="en-US" altLang="en-US" sz="1400" b="0" smtClean="0">
                <a:latin typeface="McGrawHill-Italic" pitchFamily="2" charset="0"/>
              </a:rPr>
              <a:t>The McGraw-Hill Companies, Inc., 2000</a:t>
            </a:r>
            <a:endParaRPr lang="en-US" altLang="en-US" b="0" smtClean="0"/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zh-TW" noProof="0" smtClean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zh-TW" noProof="0" smtClean="0"/>
              <a:t>Click to edit Master subtitle style</a:t>
            </a:r>
          </a:p>
        </p:txBody>
      </p:sp>
      <p:sp>
        <p:nvSpPr>
          <p:cNvPr id="16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7" name="Rectangle 1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bg2"/>
                </a:solidFill>
                <a:latin typeface="+mn-lt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zh-TW" altLang="en-US"/>
              <a:t>Computer Science: A Structured Programming Approach Using C</a:t>
            </a:r>
            <a:endParaRPr lang="en-US" altLang="zh-TW"/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 b="0">
                <a:solidFill>
                  <a:schemeClr val="bg2"/>
                </a:solidFill>
              </a:defRPr>
            </a:lvl1pPr>
          </a:lstStyle>
          <a:p>
            <a:fld id="{67614628-5909-4455-92DF-9CB3367D211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74307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6FD89F-94F8-414F-9BB2-C6CA50346D0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5799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1ACDCC-A1E6-4B12-A028-E5722300419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29688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CD4629-1EAC-4A24-BACA-801F64099E8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85833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079096-6AC9-4C73-BA73-661E98A8FD0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67321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03B65A-007E-4544-92BD-3B2F7D82B4C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2226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AF6AC3-C2F0-4F78-89B6-E2CFC953DFF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89547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55B688-51FF-49E5-829B-E1B6527A899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4608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5FFBDB-0491-482E-9961-9E51F6574ED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3355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FAE0BD-4A04-4987-AAA8-85BDB1DEF7C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05143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7DFD2F-988B-4E42-8F08-FAB3BF48C15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51616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Tahoma" panose="020B0604030504040204" pitchFamily="34" charset="0"/>
                <a:ea typeface="新細明體" pitchFamily="18" charset="-120"/>
              </a:defRPr>
            </a:lvl1pPr>
          </a:lstStyle>
          <a:p>
            <a:fld id="{97E138D0-E7DB-40DC-A4B1-42BCA6387F8A}" type="slidenum">
              <a:rPr lang="zh-TW" altLang="en-US"/>
              <a:pPr/>
              <a:t>‹#›</a:t>
            </a:fld>
            <a:endParaRPr lang="en-US" altLang="zh-TW"/>
          </a:p>
        </p:txBody>
      </p:sp>
      <p:sp>
        <p:nvSpPr>
          <p:cNvPr id="1027" name="Text Box 15"/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4572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Char char="©"/>
              <a:defRPr/>
            </a:pPr>
            <a:endParaRPr lang="en-US" altLang="en-US" b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wm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BB64D0-9FE9-4478-81BE-0C5F4F9DF9E9}" type="slidenum">
              <a:rPr lang="zh-TW" altLang="en-US" sz="1000">
                <a:latin typeface="Tahoma" panose="020B0604030504040204" pitchFamily="34" charset="0"/>
              </a:rPr>
              <a:pPr/>
              <a:t>1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075" name="Line 2"/>
          <p:cNvSpPr>
            <a:spLocks noChangeShapeType="1"/>
          </p:cNvSpPr>
          <p:nvPr/>
        </p:nvSpPr>
        <p:spPr bwMode="auto">
          <a:xfrm>
            <a:off x="228600" y="2819400"/>
            <a:ext cx="861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" name="Line 3"/>
          <p:cNvSpPr>
            <a:spLocks noChangeShapeType="1"/>
          </p:cNvSpPr>
          <p:nvPr/>
        </p:nvSpPr>
        <p:spPr bwMode="auto">
          <a:xfrm>
            <a:off x="266700" y="304800"/>
            <a:ext cx="8610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" name="Rectangle 4"/>
          <p:cNvSpPr>
            <a:spLocks noChangeArrowheads="1"/>
          </p:cNvSpPr>
          <p:nvPr/>
        </p:nvSpPr>
        <p:spPr bwMode="auto">
          <a:xfrm>
            <a:off x="973138" y="457200"/>
            <a:ext cx="44450" cy="8477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873125" y="457200"/>
            <a:ext cx="44450" cy="746125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3079" name="Rectangle 6"/>
          <p:cNvSpPr>
            <a:spLocks noChangeArrowheads="1"/>
          </p:cNvSpPr>
          <p:nvPr/>
        </p:nvSpPr>
        <p:spPr bwMode="auto">
          <a:xfrm>
            <a:off x="771525" y="457200"/>
            <a:ext cx="44450" cy="636588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3080" name="Rectangle 7"/>
          <p:cNvSpPr>
            <a:spLocks noChangeArrowheads="1"/>
          </p:cNvSpPr>
          <p:nvPr/>
        </p:nvSpPr>
        <p:spPr bwMode="auto">
          <a:xfrm>
            <a:off x="669925" y="457200"/>
            <a:ext cx="44450" cy="530225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3081" name="Rectangle 8"/>
          <p:cNvSpPr>
            <a:spLocks noChangeArrowheads="1"/>
          </p:cNvSpPr>
          <p:nvPr/>
        </p:nvSpPr>
        <p:spPr bwMode="auto">
          <a:xfrm>
            <a:off x="569913" y="457200"/>
            <a:ext cx="44450" cy="427038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3082" name="Rectangle 9"/>
          <p:cNvSpPr>
            <a:spLocks noChangeArrowheads="1"/>
          </p:cNvSpPr>
          <p:nvPr/>
        </p:nvSpPr>
        <p:spPr bwMode="auto">
          <a:xfrm>
            <a:off x="468313" y="457200"/>
            <a:ext cx="44450" cy="312738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3083" name="Rectangle 10"/>
          <p:cNvSpPr>
            <a:spLocks noChangeArrowheads="1"/>
          </p:cNvSpPr>
          <p:nvPr/>
        </p:nvSpPr>
        <p:spPr bwMode="auto">
          <a:xfrm>
            <a:off x="366713" y="457200"/>
            <a:ext cx="46037" cy="2159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3084" name="Rectangle 11"/>
          <p:cNvSpPr>
            <a:spLocks noChangeArrowheads="1"/>
          </p:cNvSpPr>
          <p:nvPr/>
        </p:nvSpPr>
        <p:spPr bwMode="auto">
          <a:xfrm>
            <a:off x="266700" y="457200"/>
            <a:ext cx="44450" cy="10795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3085" name="Rectangle 12"/>
          <p:cNvSpPr>
            <a:spLocks noChangeArrowheads="1"/>
          </p:cNvSpPr>
          <p:nvPr/>
        </p:nvSpPr>
        <p:spPr bwMode="auto">
          <a:xfrm>
            <a:off x="1074738" y="457200"/>
            <a:ext cx="41275" cy="9509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3086" name="Rectangle 13"/>
          <p:cNvSpPr>
            <a:spLocks noChangeArrowheads="1"/>
          </p:cNvSpPr>
          <p:nvPr/>
        </p:nvSpPr>
        <p:spPr bwMode="auto">
          <a:xfrm>
            <a:off x="1173163" y="457200"/>
            <a:ext cx="41275" cy="10588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3087" name="Rectangle 14"/>
          <p:cNvSpPr>
            <a:spLocks noChangeArrowheads="1"/>
          </p:cNvSpPr>
          <p:nvPr/>
        </p:nvSpPr>
        <p:spPr bwMode="auto">
          <a:xfrm>
            <a:off x="1270000" y="457200"/>
            <a:ext cx="42863" cy="1160463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3088" name="Rectangle 15"/>
          <p:cNvSpPr>
            <a:spLocks noChangeArrowheads="1"/>
          </p:cNvSpPr>
          <p:nvPr/>
        </p:nvSpPr>
        <p:spPr bwMode="auto">
          <a:xfrm>
            <a:off x="1370013" y="457200"/>
            <a:ext cx="44450" cy="12700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3089" name="Rectangle 16"/>
          <p:cNvSpPr>
            <a:spLocks noChangeArrowheads="1"/>
          </p:cNvSpPr>
          <p:nvPr/>
        </p:nvSpPr>
        <p:spPr bwMode="auto">
          <a:xfrm>
            <a:off x="1470025" y="457200"/>
            <a:ext cx="42863" cy="13716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3090" name="Rectangle 18"/>
          <p:cNvSpPr>
            <a:spLocks noChangeArrowheads="1"/>
          </p:cNvSpPr>
          <p:nvPr/>
        </p:nvSpPr>
        <p:spPr bwMode="auto">
          <a:xfrm>
            <a:off x="76200" y="2209800"/>
            <a:ext cx="7696200" cy="106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3600">
                <a:solidFill>
                  <a:schemeClr val="hlink"/>
                </a:solidFill>
                <a:ea typeface="新細明體" pitchFamily="18" charset="-120"/>
              </a:rPr>
              <a:t>Objectives </a:t>
            </a:r>
            <a:r>
              <a:rPr lang="en-US" altLang="zh-TW" sz="2800">
                <a:solidFill>
                  <a:schemeClr val="hlink"/>
                </a:solidFill>
                <a:ea typeface="新細明體" pitchFamily="18" charset="-120"/>
              </a:rPr>
              <a:t/>
            </a:r>
            <a:br>
              <a:rPr lang="en-US" altLang="zh-TW" sz="2800">
                <a:solidFill>
                  <a:schemeClr val="hlink"/>
                </a:solidFill>
                <a:ea typeface="新細明體" pitchFamily="18" charset="-120"/>
              </a:rPr>
            </a:br>
            <a:endParaRPr lang="en-US" altLang="zh-TW" sz="2800">
              <a:ea typeface="新細明體" pitchFamily="18" charset="-120"/>
            </a:endParaRPr>
          </a:p>
        </p:txBody>
      </p:sp>
      <p:sp>
        <p:nvSpPr>
          <p:cNvPr id="3091" name="Rectangle 19"/>
          <p:cNvSpPr>
            <a:spLocks noChangeArrowheads="1"/>
          </p:cNvSpPr>
          <p:nvPr/>
        </p:nvSpPr>
        <p:spPr bwMode="auto">
          <a:xfrm>
            <a:off x="0" y="2895600"/>
            <a:ext cx="9144000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zh-TW" altLang="en-US" sz="2000">
                <a:ea typeface="新細明體" pitchFamily="18" charset="-120"/>
              </a:rPr>
              <a:t>❏ </a:t>
            </a:r>
            <a:r>
              <a:rPr lang="en-US" altLang="zh-TW" sz="2000">
                <a:ea typeface="新細明體" pitchFamily="18" charset="-120"/>
              </a:rPr>
              <a:t>To understand basic loop concepts:</a:t>
            </a:r>
          </a:p>
          <a:p>
            <a:pPr algn="just"/>
            <a:r>
              <a:rPr lang="en-US" altLang="zh-TW" sz="2000">
                <a:ea typeface="新細明體" pitchFamily="18" charset="-120"/>
              </a:rPr>
              <a:t>	■  pretest loops and post-test loops</a:t>
            </a:r>
          </a:p>
          <a:p>
            <a:pPr algn="just"/>
            <a:r>
              <a:rPr lang="en-US" altLang="zh-TW" sz="2000">
                <a:ea typeface="新細明體" pitchFamily="18" charset="-120"/>
              </a:rPr>
              <a:t>  	■  loop initialization and updating</a:t>
            </a:r>
          </a:p>
          <a:p>
            <a:pPr algn="just"/>
            <a:r>
              <a:rPr lang="en-US" altLang="zh-TW" sz="2000">
                <a:ea typeface="新細明體" pitchFamily="18" charset="-120"/>
              </a:rPr>
              <a:t>	■  event and counter controlled loops</a:t>
            </a:r>
          </a:p>
          <a:p>
            <a:pPr algn="just"/>
            <a:r>
              <a:rPr lang="en-US" altLang="zh-TW" sz="2000">
                <a:ea typeface="新細明體" pitchFamily="18" charset="-120"/>
              </a:rPr>
              <a:t>❏ To understand and be able to select the best loop construct for a given problem.</a:t>
            </a:r>
          </a:p>
          <a:p>
            <a:pPr algn="just"/>
            <a:r>
              <a:rPr lang="en-US" altLang="zh-TW" sz="2000">
                <a:ea typeface="新細明體" pitchFamily="18" charset="-120"/>
              </a:rPr>
              <a:t>❏ To write programs that use the </a:t>
            </a:r>
            <a:r>
              <a:rPr lang="en-US" altLang="zh-TW" sz="2000" i="1">
                <a:ea typeface="新細明體" pitchFamily="18" charset="-120"/>
              </a:rPr>
              <a:t>while</a:t>
            </a:r>
            <a:r>
              <a:rPr lang="en-US" altLang="zh-TW" sz="2000">
                <a:ea typeface="新細明體" pitchFamily="18" charset="-120"/>
              </a:rPr>
              <a:t>, </a:t>
            </a:r>
            <a:r>
              <a:rPr lang="en-US" altLang="zh-TW" sz="2000" i="1">
                <a:ea typeface="新細明體" pitchFamily="18" charset="-120"/>
              </a:rPr>
              <a:t>for</a:t>
            </a:r>
            <a:r>
              <a:rPr lang="en-US" altLang="zh-TW" sz="2000">
                <a:ea typeface="新細明體" pitchFamily="18" charset="-120"/>
              </a:rPr>
              <a:t>, or </a:t>
            </a:r>
            <a:r>
              <a:rPr lang="en-US" altLang="zh-TW" sz="2000" i="1">
                <a:ea typeface="新細明體" pitchFamily="18" charset="-120"/>
              </a:rPr>
              <a:t>do ... while</a:t>
            </a:r>
            <a:r>
              <a:rPr lang="en-US" altLang="zh-TW" sz="2000">
                <a:ea typeface="新細明體" pitchFamily="18" charset="-120"/>
              </a:rPr>
              <a:t> statements.</a:t>
            </a:r>
          </a:p>
          <a:p>
            <a:pPr algn="just"/>
            <a:r>
              <a:rPr lang="en-US" altLang="zh-TW" sz="2000">
                <a:ea typeface="新細明體" pitchFamily="18" charset="-120"/>
              </a:rPr>
              <a:t>❏ To understand the basic concepts and usage of recursion algorithms.</a:t>
            </a:r>
          </a:p>
          <a:p>
            <a:pPr algn="just"/>
            <a:r>
              <a:rPr lang="en-US" altLang="zh-TW" sz="2000">
                <a:ea typeface="新細明體" pitchFamily="18" charset="-120"/>
              </a:rPr>
              <a:t>❏ To understand and be able to determine the efficiency of an algorithm through</a:t>
            </a:r>
          </a:p>
          <a:p>
            <a:pPr algn="just"/>
            <a:r>
              <a:rPr lang="en-US" altLang="zh-TW" sz="2000">
                <a:ea typeface="新細明體" pitchFamily="18" charset="-120"/>
              </a:rPr>
              <a:t>      an analysis of its looping constructs.</a:t>
            </a:r>
          </a:p>
        </p:txBody>
      </p:sp>
      <p:sp>
        <p:nvSpPr>
          <p:cNvPr id="444436" name="Text Box 20"/>
          <p:cNvSpPr txBox="1">
            <a:spLocks noChangeArrowheads="1"/>
          </p:cNvSpPr>
          <p:nvPr/>
        </p:nvSpPr>
        <p:spPr bwMode="auto">
          <a:xfrm>
            <a:off x="1828800" y="752475"/>
            <a:ext cx="6831013" cy="13112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altLang="en-US" sz="4000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                                    </a:t>
            </a:r>
            <a:r>
              <a:rPr lang="en-US" altLang="zh-TW" sz="4000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Chapter 6</a:t>
            </a:r>
          </a:p>
          <a:p>
            <a:pPr>
              <a:defRPr/>
            </a:pPr>
            <a:r>
              <a:rPr lang="en-US" altLang="zh-TW" sz="4000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                                   Repetition</a:t>
            </a:r>
          </a:p>
        </p:txBody>
      </p:sp>
      <p:sp>
        <p:nvSpPr>
          <p:cNvPr id="3093" name="Text Box 21"/>
          <p:cNvSpPr txBox="1">
            <a:spLocks noChangeArrowheads="1"/>
          </p:cNvSpPr>
          <p:nvPr/>
        </p:nvSpPr>
        <p:spPr bwMode="auto">
          <a:xfrm>
            <a:off x="80391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 sz="1800"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3095F2C-3F12-4041-807F-C5D7D3F31579}" type="slidenum">
              <a:rPr lang="zh-TW" altLang="en-US" sz="1000">
                <a:latin typeface="Tahoma" panose="020B0604030504040204" pitchFamily="34" charset="0"/>
              </a:rPr>
              <a:pPr/>
              <a:t>2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099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zh-TW" altLang="en-US">
              <a:ea typeface="新細明體" pitchFamily="18" charset="-120"/>
            </a:endParaRPr>
          </a:p>
        </p:txBody>
      </p:sp>
      <p:sp>
        <p:nvSpPr>
          <p:cNvPr id="4100" name="Text Box 3"/>
          <p:cNvSpPr txBox="1">
            <a:spLocks noChangeArrowheads="1"/>
          </p:cNvSpPr>
          <p:nvPr/>
        </p:nvSpPr>
        <p:spPr bwMode="auto">
          <a:xfrm>
            <a:off x="228600" y="304800"/>
            <a:ext cx="56292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4000">
                <a:latin typeface="Arial" panose="020B0604020202020204" pitchFamily="34" charset="0"/>
                <a:ea typeface="新細明體" pitchFamily="18" charset="-120"/>
              </a:rPr>
              <a:t>6-1   Concept of a loop</a:t>
            </a:r>
          </a:p>
        </p:txBody>
      </p:sp>
      <p:sp>
        <p:nvSpPr>
          <p:cNvPr id="4101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 sz="1800">
              <a:ea typeface="新細明體" pitchFamily="18" charset="-120"/>
            </a:endParaRPr>
          </a:p>
        </p:txBody>
      </p:sp>
      <p:sp>
        <p:nvSpPr>
          <p:cNvPr id="501768" name="Rectangle 8"/>
          <p:cNvSpPr>
            <a:spLocks noChangeArrowheads="1"/>
          </p:cNvSpPr>
          <p:nvPr/>
        </p:nvSpPr>
        <p:spPr bwMode="auto">
          <a:xfrm>
            <a:off x="63500" y="1581150"/>
            <a:ext cx="5727700" cy="37861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TW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The real power of computers is in their ability to repeat an operation or a series of operations many times. This repetition, called looping, is one of the</a:t>
            </a:r>
          </a:p>
          <a:p>
            <a:pPr algn="just" eaLnBrk="1" hangingPunct="1">
              <a:defRPr/>
            </a:pPr>
            <a:r>
              <a:rPr lang="en-US" altLang="zh-TW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basic structured programming concepts.</a:t>
            </a:r>
          </a:p>
          <a:p>
            <a:pPr algn="just" eaLnBrk="1" hangingPunct="1">
              <a:defRPr/>
            </a:pPr>
            <a:endParaRPr lang="en-US" altLang="zh-TW" i="1" dirty="0">
              <a:effectLst>
                <a:outerShdw blurRad="38100" dist="38100" dir="2700000" algn="tl">
                  <a:srgbClr val="C0C0C0"/>
                </a:outerShdw>
              </a:effectLst>
              <a:ea typeface="新細明體" pitchFamily="18" charset="-120"/>
            </a:endParaRPr>
          </a:p>
          <a:p>
            <a:pPr algn="just" eaLnBrk="1" hangingPunct="1">
              <a:defRPr/>
            </a:pPr>
            <a:r>
              <a:rPr lang="en-US" altLang="zh-TW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Each loop must have an expression that determines if the loop is done. If it is not done, the loop repeats one more time; if it is done, the loop terminates.  </a:t>
            </a:r>
          </a:p>
        </p:txBody>
      </p:sp>
      <p:sp>
        <p:nvSpPr>
          <p:cNvPr id="4103" name="Rectangle 3"/>
          <p:cNvSpPr>
            <a:spLocks noChangeArrowheads="1"/>
          </p:cNvSpPr>
          <p:nvPr/>
        </p:nvSpPr>
        <p:spPr bwMode="auto">
          <a:xfrm>
            <a:off x="6165850" y="5862638"/>
            <a:ext cx="25558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FIGURE 6-1</a:t>
            </a:r>
            <a:r>
              <a:rPr lang="en-US" altLang="zh-TW" sz="2000">
                <a:ea typeface="新細明體" pitchFamily="18" charset="-120"/>
              </a:rPr>
              <a:t>  Concept of a Loop</a:t>
            </a:r>
          </a:p>
        </p:txBody>
      </p:sp>
      <p:pic>
        <p:nvPicPr>
          <p:cNvPr id="410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5" y="3436938"/>
            <a:ext cx="3171825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EEE8979-5B9F-4766-8426-99FF445BFF7A}" type="slidenum">
              <a:rPr lang="zh-TW" altLang="en-US" sz="1000">
                <a:latin typeface="Tahoma" panose="020B0604030504040204" pitchFamily="34" charset="0"/>
              </a:rPr>
              <a:pPr/>
              <a:t>3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zh-TW" altLang="en-US">
              <a:ea typeface="新細明體" pitchFamily="18" charset="-120"/>
            </a:endParaRPr>
          </a:p>
        </p:txBody>
      </p:sp>
      <p:sp>
        <p:nvSpPr>
          <p:cNvPr id="5124" name="Text Box 3"/>
          <p:cNvSpPr txBox="1">
            <a:spLocks noChangeArrowheads="1"/>
          </p:cNvSpPr>
          <p:nvPr/>
        </p:nvSpPr>
        <p:spPr bwMode="auto">
          <a:xfrm>
            <a:off x="228600" y="304800"/>
            <a:ext cx="808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4000">
                <a:latin typeface="Arial" panose="020B0604020202020204" pitchFamily="34" charset="0"/>
                <a:ea typeface="新細明體" pitchFamily="18" charset="-120"/>
              </a:rPr>
              <a:t>6-2   Pretest and Post-test Loops</a:t>
            </a:r>
          </a:p>
        </p:txBody>
      </p:sp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 sz="1800">
              <a:ea typeface="新細明體" pitchFamily="18" charset="-120"/>
            </a:endParaRPr>
          </a:p>
        </p:txBody>
      </p:sp>
      <p:sp>
        <p:nvSpPr>
          <p:cNvPr id="723973" name="Rectangle 5"/>
          <p:cNvSpPr>
            <a:spLocks noChangeArrowheads="1"/>
          </p:cNvSpPr>
          <p:nvPr/>
        </p:nvSpPr>
        <p:spPr bwMode="auto">
          <a:xfrm>
            <a:off x="304800" y="1931988"/>
            <a:ext cx="8229600" cy="39354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TW" sz="2800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We need to test for the end of a loop, but where should we check it—before or after each iteration? We can have either a pre- or a post-test terminating condition. </a:t>
            </a:r>
          </a:p>
          <a:p>
            <a:pPr algn="just" eaLnBrk="1" hangingPunct="1">
              <a:defRPr/>
            </a:pPr>
            <a:endParaRPr lang="en-US" altLang="zh-TW" sz="2800" i="1" dirty="0">
              <a:effectLst>
                <a:outerShdw blurRad="38100" dist="38100" dir="2700000" algn="tl">
                  <a:srgbClr val="C0C0C0"/>
                </a:outerShdw>
              </a:effectLst>
              <a:ea typeface="新細明體" pitchFamily="18" charset="-120"/>
            </a:endParaRPr>
          </a:p>
          <a:p>
            <a:pPr algn="just" eaLnBrk="1" hangingPunct="1">
              <a:defRPr/>
            </a:pPr>
            <a:r>
              <a:rPr lang="en-US" altLang="zh-TW" sz="2800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In a pretest </a:t>
            </a:r>
            <a:r>
              <a:rPr lang="en-US" altLang="zh-TW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loop, </a:t>
            </a:r>
            <a:r>
              <a:rPr lang="en-US" altLang="zh-TW" sz="2800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the </a:t>
            </a:r>
            <a:r>
              <a:rPr lang="en-US" altLang="zh-TW" sz="2800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condition is checked at the beginning of each iteration. </a:t>
            </a:r>
          </a:p>
          <a:p>
            <a:pPr algn="just" eaLnBrk="1" hangingPunct="1">
              <a:defRPr/>
            </a:pPr>
            <a:endParaRPr lang="en-US" altLang="zh-TW" sz="2800" i="1" dirty="0">
              <a:effectLst>
                <a:outerShdw blurRad="38100" dist="38100" dir="2700000" algn="tl">
                  <a:srgbClr val="C0C0C0"/>
                </a:outerShdw>
              </a:effectLst>
              <a:ea typeface="新細明體" pitchFamily="18" charset="-120"/>
            </a:endParaRPr>
          </a:p>
          <a:p>
            <a:pPr algn="just" eaLnBrk="1" hangingPunct="1">
              <a:defRPr/>
            </a:pPr>
            <a:r>
              <a:rPr lang="en-US" altLang="zh-TW" sz="2800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In a post-test </a:t>
            </a:r>
            <a:r>
              <a:rPr lang="en-US" altLang="zh-TW" sz="2800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loop, </a:t>
            </a:r>
            <a:r>
              <a:rPr lang="en-US" altLang="zh-TW" sz="2800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the condition is checked at the end of each iteration.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ADCF5B8-C0F1-4E8E-8CD2-AD6B21F21DD4}" type="slidenum">
              <a:rPr lang="zh-TW" altLang="en-US" sz="1000">
                <a:latin typeface="Tahoma" panose="020B0604030504040204" pitchFamily="34" charset="0"/>
              </a:rPr>
              <a:pPr/>
              <a:t>4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6147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152400" y="5791200"/>
            <a:ext cx="4654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FIGURE 6-2</a:t>
            </a:r>
            <a:r>
              <a:rPr lang="en-US" altLang="zh-TW" sz="2000">
                <a:ea typeface="新細明體" pitchFamily="18" charset="-120"/>
              </a:rPr>
              <a:t>  Pretest and Post-test Loops</a:t>
            </a:r>
          </a:p>
        </p:txBody>
      </p:sp>
      <p:grpSp>
        <p:nvGrpSpPr>
          <p:cNvPr id="6149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6151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2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3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15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955675"/>
            <a:ext cx="8372475" cy="445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B42683E-B55A-46EC-B00B-D28ECACF12C8}" type="slidenum">
              <a:rPr lang="zh-TW" altLang="en-US" sz="1000">
                <a:latin typeface="Tahoma" panose="020B0604030504040204" pitchFamily="34" charset="0"/>
              </a:rPr>
              <a:pPr/>
              <a:t>5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7171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152400" y="5791200"/>
            <a:ext cx="6692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FIGURE 6-4</a:t>
            </a:r>
            <a:r>
              <a:rPr lang="en-US" altLang="zh-TW" sz="2000">
                <a:ea typeface="新細明體" pitchFamily="18" charset="-120"/>
              </a:rPr>
              <a:t>  Minimum Number of Iterations in Two Loops</a:t>
            </a:r>
          </a:p>
        </p:txBody>
      </p:sp>
      <p:grpSp>
        <p:nvGrpSpPr>
          <p:cNvPr id="7173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7175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6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7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717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57313"/>
            <a:ext cx="8915400" cy="382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102F1CB-BD01-4A14-9B62-A83E89586A19}" type="slidenum">
              <a:rPr lang="zh-TW" altLang="en-US" sz="1000">
                <a:latin typeface="Tahoma" panose="020B0604030504040204" pitchFamily="34" charset="0"/>
              </a:rPr>
              <a:pPr/>
              <a:t>6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zh-TW" altLang="en-US">
              <a:ea typeface="新細明體" pitchFamily="18" charset="-120"/>
            </a:endParaRPr>
          </a:p>
        </p:txBody>
      </p:sp>
      <p:sp>
        <p:nvSpPr>
          <p:cNvPr id="8196" name="Text Box 3"/>
          <p:cNvSpPr txBox="1">
            <a:spLocks noChangeArrowheads="1"/>
          </p:cNvSpPr>
          <p:nvPr/>
        </p:nvSpPr>
        <p:spPr bwMode="auto">
          <a:xfrm>
            <a:off x="228600" y="304800"/>
            <a:ext cx="76612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4000">
                <a:latin typeface="Arial" panose="020B0604020202020204" pitchFamily="34" charset="0"/>
                <a:ea typeface="新細明體" pitchFamily="18" charset="-120"/>
              </a:rPr>
              <a:t>6-3   Initialization and Updating</a:t>
            </a:r>
          </a:p>
        </p:txBody>
      </p:sp>
      <p:sp>
        <p:nvSpPr>
          <p:cNvPr id="8197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 sz="1800">
              <a:ea typeface="新細明體" pitchFamily="18" charset="-120"/>
            </a:endParaRPr>
          </a:p>
        </p:txBody>
      </p:sp>
      <p:sp>
        <p:nvSpPr>
          <p:cNvPr id="729093" name="Rectangle 5"/>
          <p:cNvSpPr>
            <a:spLocks noChangeArrowheads="1"/>
          </p:cNvSpPr>
          <p:nvPr/>
        </p:nvSpPr>
        <p:spPr bwMode="auto">
          <a:xfrm>
            <a:off x="304800" y="1676400"/>
            <a:ext cx="8229600" cy="13731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TW" sz="2800" i="1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In addition to the loop control expression, two other processes, initialization and updating, are associated with almost all loops.</a:t>
            </a:r>
          </a:p>
        </p:txBody>
      </p:sp>
      <p:sp>
        <p:nvSpPr>
          <p:cNvPr id="8199" name="Rectangle 6"/>
          <p:cNvSpPr>
            <a:spLocks noChangeArrowheads="1"/>
          </p:cNvSpPr>
          <p:nvPr/>
        </p:nvSpPr>
        <p:spPr bwMode="auto">
          <a:xfrm>
            <a:off x="304800" y="4438650"/>
            <a:ext cx="5715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>
                <a:solidFill>
                  <a:schemeClr val="hlink"/>
                </a:solidFill>
                <a:ea typeface="新細明體" pitchFamily="18" charset="-120"/>
              </a:rPr>
              <a:t>Loop Initialization</a:t>
            </a:r>
            <a:endParaRPr lang="fr-FR" altLang="zh-TW">
              <a:solidFill>
                <a:schemeClr val="hlink"/>
              </a:solidFill>
              <a:ea typeface="新細明體" pitchFamily="18" charset="-120"/>
            </a:endParaRPr>
          </a:p>
          <a:p>
            <a:pPr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fr-FR" altLang="zh-TW">
                <a:solidFill>
                  <a:schemeClr val="hlink"/>
                </a:solidFill>
                <a:ea typeface="新細明體" pitchFamily="18" charset="-120"/>
              </a:rPr>
              <a:t>Loop Update</a:t>
            </a:r>
            <a:endParaRPr lang="en-US" altLang="zh-TW">
              <a:solidFill>
                <a:schemeClr val="hlink"/>
              </a:solidFill>
              <a:ea typeface="新細明體" pitchFamily="18" charset="-120"/>
            </a:endParaRPr>
          </a:p>
        </p:txBody>
      </p:sp>
      <p:sp>
        <p:nvSpPr>
          <p:cNvPr id="729095" name="Text Box 7"/>
          <p:cNvSpPr txBox="1">
            <a:spLocks noChangeArrowheads="1"/>
          </p:cNvSpPr>
          <p:nvPr/>
        </p:nvSpPr>
        <p:spPr bwMode="auto">
          <a:xfrm>
            <a:off x="317500" y="3962400"/>
            <a:ext cx="4862513" cy="5191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2800" i="1" u="sng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Topics discussed in this section: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A36CE95-9943-42EA-868D-FE63CA56D8C0}" type="slidenum">
              <a:rPr lang="zh-TW" altLang="en-US" sz="1000">
                <a:latin typeface="Tahoma" panose="020B0604030504040204" pitchFamily="34" charset="0"/>
              </a:rPr>
              <a:pPr/>
              <a:t>7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9219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152400" y="5791200"/>
            <a:ext cx="5275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FIGURE 6-5</a:t>
            </a:r>
            <a:r>
              <a:rPr lang="en-US" altLang="zh-TW" sz="2000">
                <a:ea typeface="新細明體" pitchFamily="18" charset="-120"/>
              </a:rPr>
              <a:t>  Loop Initialization and Updating</a:t>
            </a:r>
          </a:p>
        </p:txBody>
      </p:sp>
      <p:grpSp>
        <p:nvGrpSpPr>
          <p:cNvPr id="9221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9223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4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5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922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3" y="390525"/>
            <a:ext cx="7386637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A506C6D-6284-40C5-98BF-380914FE16AC}" type="slidenum">
              <a:rPr lang="zh-TW" altLang="en-US" sz="1000">
                <a:latin typeface="Tahoma" panose="020B0604030504040204" pitchFamily="34" charset="0"/>
              </a:rPr>
              <a:pPr/>
              <a:t>8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15240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zh-TW" altLang="en-US">
              <a:ea typeface="新細明體" pitchFamily="18" charset="-120"/>
            </a:endParaRPr>
          </a:p>
        </p:txBody>
      </p:sp>
      <p:sp>
        <p:nvSpPr>
          <p:cNvPr id="10244" name="Text Box 3"/>
          <p:cNvSpPr txBox="1">
            <a:spLocks noChangeArrowheads="1"/>
          </p:cNvSpPr>
          <p:nvPr/>
        </p:nvSpPr>
        <p:spPr bwMode="auto">
          <a:xfrm>
            <a:off x="228600" y="152400"/>
            <a:ext cx="873442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4000">
                <a:latin typeface="Arial" panose="020B0604020202020204" pitchFamily="34" charset="0"/>
                <a:ea typeface="新細明體" pitchFamily="18" charset="-120"/>
              </a:rPr>
              <a:t>6-4  Event- and Counter-Controlled </a:t>
            </a:r>
            <a:br>
              <a:rPr lang="en-US" altLang="zh-TW" sz="4000">
                <a:latin typeface="Arial" panose="020B0604020202020204" pitchFamily="34" charset="0"/>
                <a:ea typeface="新細明體" pitchFamily="18" charset="-120"/>
              </a:rPr>
            </a:br>
            <a:r>
              <a:rPr lang="en-US" altLang="zh-TW" sz="4000">
                <a:latin typeface="Arial" panose="020B0604020202020204" pitchFamily="34" charset="0"/>
                <a:ea typeface="新細明體" pitchFamily="18" charset="-120"/>
              </a:rPr>
              <a:t>       Loops</a:t>
            </a:r>
          </a:p>
        </p:txBody>
      </p:sp>
      <p:sp>
        <p:nvSpPr>
          <p:cNvPr id="10245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 sz="1800">
              <a:ea typeface="新細明體" pitchFamily="18" charset="-120"/>
            </a:endParaRPr>
          </a:p>
        </p:txBody>
      </p:sp>
      <p:sp>
        <p:nvSpPr>
          <p:cNvPr id="732165" name="Rectangle 5"/>
          <p:cNvSpPr>
            <a:spLocks noChangeArrowheads="1"/>
          </p:cNvSpPr>
          <p:nvPr/>
        </p:nvSpPr>
        <p:spPr bwMode="auto">
          <a:xfrm>
            <a:off x="304800" y="1676400"/>
            <a:ext cx="8610600" cy="13731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en-US" altLang="zh-TW" sz="2800" i="1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All the possible expressions that can be used in a loop limit test can be summarized into two general categories: event-controlled loops and counter-controlled loops.</a:t>
            </a:r>
          </a:p>
        </p:txBody>
      </p:sp>
      <p:sp>
        <p:nvSpPr>
          <p:cNvPr id="10247" name="Rectangle 6"/>
          <p:cNvSpPr>
            <a:spLocks noChangeArrowheads="1"/>
          </p:cNvSpPr>
          <p:nvPr/>
        </p:nvSpPr>
        <p:spPr bwMode="auto">
          <a:xfrm>
            <a:off x="304800" y="4438650"/>
            <a:ext cx="5715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chemeClr val="hlink"/>
                </a:solidFill>
                <a:ea typeface="新細明體" pitchFamily="18" charset="-120"/>
              </a:rPr>
              <a:t>Event-Controlled Loops</a:t>
            </a:r>
            <a:endParaRPr lang="fr-FR" altLang="zh-TW" dirty="0">
              <a:solidFill>
                <a:schemeClr val="hlink"/>
              </a:solidFill>
              <a:ea typeface="新細明體" pitchFamily="18" charset="-120"/>
            </a:endParaRPr>
          </a:p>
          <a:p>
            <a:pPr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fr-FR" altLang="zh-TW" dirty="0" err="1">
                <a:solidFill>
                  <a:schemeClr val="hlink"/>
                </a:solidFill>
                <a:ea typeface="新細明體" pitchFamily="18" charset="-120"/>
              </a:rPr>
              <a:t>Counter-Controlled</a:t>
            </a:r>
            <a:r>
              <a:rPr lang="fr-FR" altLang="zh-TW" dirty="0">
                <a:solidFill>
                  <a:schemeClr val="hlink"/>
                </a:solidFill>
                <a:ea typeface="新細明體" pitchFamily="18" charset="-120"/>
              </a:rPr>
              <a:t> </a:t>
            </a:r>
            <a:r>
              <a:rPr lang="fr-FR" altLang="zh-TW" dirty="0" err="1">
                <a:solidFill>
                  <a:schemeClr val="hlink"/>
                </a:solidFill>
                <a:ea typeface="新細明體" pitchFamily="18" charset="-120"/>
              </a:rPr>
              <a:t>Loops</a:t>
            </a:r>
            <a:endParaRPr lang="fr-FR" altLang="zh-TW" dirty="0">
              <a:solidFill>
                <a:schemeClr val="hlink"/>
              </a:solidFill>
              <a:ea typeface="新細明體" pitchFamily="18" charset="-120"/>
            </a:endParaRPr>
          </a:p>
          <a:p>
            <a:pPr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chemeClr val="hlink"/>
                </a:solidFill>
                <a:ea typeface="新細明體" pitchFamily="18" charset="-120"/>
              </a:rPr>
              <a:t>Loop Comparison</a:t>
            </a:r>
          </a:p>
        </p:txBody>
      </p:sp>
      <p:sp>
        <p:nvSpPr>
          <p:cNvPr id="732167" name="Text Box 7"/>
          <p:cNvSpPr txBox="1">
            <a:spLocks noChangeArrowheads="1"/>
          </p:cNvSpPr>
          <p:nvPr/>
        </p:nvSpPr>
        <p:spPr bwMode="auto">
          <a:xfrm>
            <a:off x="317500" y="3962400"/>
            <a:ext cx="4862513" cy="5191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2800" i="1" u="sng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Topics discussed in this section:</a:t>
            </a:r>
          </a:p>
        </p:txBody>
      </p:sp>
      <p:sp>
        <p:nvSpPr>
          <p:cNvPr id="10249" name="Text Box 8"/>
          <p:cNvSpPr txBox="1">
            <a:spLocks noChangeArrowheads="1"/>
          </p:cNvSpPr>
          <p:nvPr/>
        </p:nvSpPr>
        <p:spPr bwMode="auto">
          <a:xfrm>
            <a:off x="228600" y="152400"/>
            <a:ext cx="80010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4000">
                <a:latin typeface="Arial" panose="020B0604020202020204" pitchFamily="34" charset="0"/>
                <a:ea typeface="新細明體" pitchFamily="18" charset="-120"/>
              </a:rPr>
              <a:t>6-4  Event- and Counter-Control </a:t>
            </a:r>
            <a:br>
              <a:rPr lang="en-US" altLang="zh-TW" sz="4000">
                <a:latin typeface="Arial" panose="020B0604020202020204" pitchFamily="34" charset="0"/>
                <a:ea typeface="新細明體" pitchFamily="18" charset="-120"/>
              </a:rPr>
            </a:br>
            <a:r>
              <a:rPr lang="en-US" altLang="zh-TW" sz="4000">
                <a:latin typeface="Arial" panose="020B0604020202020204" pitchFamily="34" charset="0"/>
                <a:ea typeface="新細明體" pitchFamily="18" charset="-120"/>
              </a:rPr>
              <a:t>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499AD59-42A0-4998-9EA5-E9DABC0CDDF5}" type="slidenum">
              <a:rPr lang="zh-TW" altLang="en-US" sz="1000">
                <a:latin typeface="Tahoma" panose="020B0604030504040204" pitchFamily="34" charset="0"/>
              </a:rPr>
              <a:pPr/>
              <a:t>9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1267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52400" y="5791200"/>
            <a:ext cx="5114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 dirty="0">
                <a:solidFill>
                  <a:schemeClr val="folHlink"/>
                </a:solidFill>
                <a:ea typeface="新細明體" pitchFamily="18" charset="-120"/>
              </a:rPr>
              <a:t>FIGURE 6-7</a:t>
            </a:r>
            <a:r>
              <a:rPr lang="en-US" altLang="zh-TW" sz="2000" dirty="0">
                <a:ea typeface="新細明體" pitchFamily="18" charset="-120"/>
              </a:rPr>
              <a:t>  Event-controlled Loop Concept</a:t>
            </a:r>
          </a:p>
        </p:txBody>
      </p:sp>
      <p:grpSp>
        <p:nvGrpSpPr>
          <p:cNvPr id="11269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11271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2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3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1270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33400"/>
            <a:ext cx="7815263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55D8AE8-CFF7-4B96-B859-01C287EEE533}" type="slidenum">
              <a:rPr lang="zh-TW" altLang="en-US" sz="1000">
                <a:latin typeface="Tahoma" panose="020B0604030504040204" pitchFamily="34" charset="0"/>
              </a:rPr>
              <a:pPr/>
              <a:t>10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2291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auto">
          <a:xfrm>
            <a:off x="152400" y="5791200"/>
            <a:ext cx="538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 dirty="0">
                <a:solidFill>
                  <a:schemeClr val="folHlink"/>
                </a:solidFill>
                <a:ea typeface="新細明體" pitchFamily="18" charset="-120"/>
              </a:rPr>
              <a:t>FIGURE 6-8</a:t>
            </a:r>
            <a:r>
              <a:rPr lang="en-US" altLang="zh-TW" sz="2000" dirty="0">
                <a:ea typeface="新細明體" pitchFamily="18" charset="-120"/>
              </a:rPr>
              <a:t>  Counter-controlled Loop Concept</a:t>
            </a:r>
          </a:p>
        </p:txBody>
      </p:sp>
      <p:grpSp>
        <p:nvGrpSpPr>
          <p:cNvPr id="12293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12295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6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7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29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175" y="563563"/>
            <a:ext cx="6956425" cy="507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ADAAF3E-D93F-4DAD-AE8E-F049ABC0327C}" type="slidenum">
              <a:rPr lang="zh-TW" altLang="en-US" sz="1000">
                <a:latin typeface="Tahoma" panose="020B0604030504040204" pitchFamily="34" charset="0"/>
              </a:rPr>
              <a:pPr/>
              <a:t>11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zh-TW" altLang="en-US">
              <a:ea typeface="新細明體" pitchFamily="18" charset="-120"/>
            </a:endParaRPr>
          </a:p>
        </p:txBody>
      </p:sp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228600" y="304800"/>
            <a:ext cx="39639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4000">
                <a:latin typeface="Arial" panose="020B0604020202020204" pitchFamily="34" charset="0"/>
                <a:ea typeface="新細明體" pitchFamily="18" charset="-120"/>
              </a:rPr>
              <a:t>6-5   Loops in C</a:t>
            </a:r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 sz="1800">
              <a:ea typeface="新細明體" pitchFamily="18" charset="-120"/>
            </a:endParaRPr>
          </a:p>
        </p:txBody>
      </p:sp>
      <p:sp>
        <p:nvSpPr>
          <p:cNvPr id="806917" name="Rectangle 5"/>
          <p:cNvSpPr>
            <a:spLocks noChangeArrowheads="1"/>
          </p:cNvSpPr>
          <p:nvPr/>
        </p:nvSpPr>
        <p:spPr bwMode="auto">
          <a:xfrm>
            <a:off x="304800" y="1803400"/>
            <a:ext cx="8229600" cy="1800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TW" sz="2800" i="1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C has three loop statements: the </a:t>
            </a:r>
            <a:r>
              <a:rPr lang="en-US" altLang="zh-TW" sz="2800" b="0" i="1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while</a:t>
            </a:r>
            <a:r>
              <a:rPr lang="en-US" altLang="zh-TW" sz="2800" i="1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, the </a:t>
            </a:r>
            <a:r>
              <a:rPr lang="en-US" altLang="zh-TW" sz="2800" b="0" i="1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for</a:t>
            </a:r>
            <a:r>
              <a:rPr lang="en-US" altLang="zh-TW" sz="2800" i="1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, and the </a:t>
            </a:r>
            <a:r>
              <a:rPr lang="en-US" altLang="zh-TW" sz="2800" b="0" i="1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do…while</a:t>
            </a:r>
            <a:r>
              <a:rPr lang="en-US" altLang="zh-TW" sz="2800" i="1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. The first two are pretest loops, and the</a:t>
            </a:r>
          </a:p>
          <a:p>
            <a:pPr algn="just" eaLnBrk="1" hangingPunct="1">
              <a:defRPr/>
            </a:pPr>
            <a:r>
              <a:rPr lang="en-US" altLang="zh-TW" sz="2800" i="1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the third is a post-test loop. We can use all of them</a:t>
            </a:r>
          </a:p>
          <a:p>
            <a:pPr algn="just" eaLnBrk="1" hangingPunct="1">
              <a:defRPr/>
            </a:pPr>
            <a:r>
              <a:rPr lang="en-US" altLang="zh-TW" sz="2800" i="1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for event-controlled and counter-controlled loops.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304800" y="4438650"/>
            <a:ext cx="5715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>
                <a:solidFill>
                  <a:schemeClr val="hlink"/>
                </a:solidFill>
                <a:ea typeface="新細明體" pitchFamily="18" charset="-120"/>
              </a:rPr>
              <a:t>The </a:t>
            </a:r>
            <a:r>
              <a:rPr lang="en-US" altLang="zh-TW" i="1">
                <a:solidFill>
                  <a:schemeClr val="hlink"/>
                </a:solidFill>
                <a:ea typeface="新細明體" pitchFamily="18" charset="-120"/>
              </a:rPr>
              <a:t>while</a:t>
            </a:r>
            <a:r>
              <a:rPr lang="en-US" altLang="zh-TW">
                <a:solidFill>
                  <a:schemeClr val="hlink"/>
                </a:solidFill>
                <a:ea typeface="新細明體" pitchFamily="18" charset="-120"/>
              </a:rPr>
              <a:t> Loop</a:t>
            </a:r>
            <a:endParaRPr lang="fr-FR" altLang="zh-TW">
              <a:solidFill>
                <a:schemeClr val="hlink"/>
              </a:solidFill>
              <a:ea typeface="新細明體" pitchFamily="18" charset="-120"/>
            </a:endParaRPr>
          </a:p>
          <a:p>
            <a:pPr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fr-FR" altLang="zh-TW">
                <a:solidFill>
                  <a:schemeClr val="hlink"/>
                </a:solidFill>
                <a:ea typeface="新細明體" pitchFamily="18" charset="-120"/>
              </a:rPr>
              <a:t>The </a:t>
            </a:r>
            <a:r>
              <a:rPr lang="fr-FR" altLang="zh-TW" i="1">
                <a:solidFill>
                  <a:schemeClr val="hlink"/>
                </a:solidFill>
                <a:ea typeface="新細明體" pitchFamily="18" charset="-120"/>
              </a:rPr>
              <a:t>for</a:t>
            </a:r>
            <a:r>
              <a:rPr lang="fr-FR" altLang="zh-TW">
                <a:solidFill>
                  <a:schemeClr val="hlink"/>
                </a:solidFill>
                <a:ea typeface="新細明體" pitchFamily="18" charset="-120"/>
              </a:rPr>
              <a:t> Loop</a:t>
            </a:r>
          </a:p>
          <a:p>
            <a:pPr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>
                <a:solidFill>
                  <a:schemeClr val="hlink"/>
                </a:solidFill>
                <a:ea typeface="新細明體" pitchFamily="18" charset="-120"/>
              </a:rPr>
              <a:t>The </a:t>
            </a:r>
            <a:r>
              <a:rPr lang="en-US" altLang="zh-TW" i="1">
                <a:solidFill>
                  <a:schemeClr val="hlink"/>
                </a:solidFill>
                <a:ea typeface="新細明體" pitchFamily="18" charset="-120"/>
              </a:rPr>
              <a:t>do…while</a:t>
            </a:r>
            <a:r>
              <a:rPr lang="en-US" altLang="zh-TW">
                <a:solidFill>
                  <a:schemeClr val="hlink"/>
                </a:solidFill>
                <a:ea typeface="新細明體" pitchFamily="18" charset="-120"/>
              </a:rPr>
              <a:t> Loop</a:t>
            </a:r>
          </a:p>
          <a:p>
            <a:pPr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>
                <a:solidFill>
                  <a:schemeClr val="hlink"/>
                </a:solidFill>
                <a:ea typeface="新細明體" pitchFamily="18" charset="-120"/>
              </a:rPr>
              <a:t>The Comma Expression</a:t>
            </a:r>
          </a:p>
        </p:txBody>
      </p:sp>
      <p:sp>
        <p:nvSpPr>
          <p:cNvPr id="806919" name="Text Box 7"/>
          <p:cNvSpPr txBox="1">
            <a:spLocks noChangeArrowheads="1"/>
          </p:cNvSpPr>
          <p:nvPr/>
        </p:nvSpPr>
        <p:spPr bwMode="auto">
          <a:xfrm>
            <a:off x="317500" y="3962400"/>
            <a:ext cx="4862513" cy="5191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2800" i="1" u="sng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Topics discussed in this section: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F2D3F86-3000-4B87-A7DF-6E89484C7735}" type="slidenum">
              <a:rPr lang="zh-TW" altLang="en-US" sz="1000">
                <a:latin typeface="Tahoma" panose="020B0604030504040204" pitchFamily="34" charset="0"/>
              </a:rPr>
              <a:pPr/>
              <a:t>12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4339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109538" y="5791200"/>
            <a:ext cx="3762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FIGURE 6-9</a:t>
            </a:r>
            <a:r>
              <a:rPr lang="en-US" altLang="zh-TW" sz="2000">
                <a:ea typeface="新細明體" pitchFamily="18" charset="-120"/>
              </a:rPr>
              <a:t>  C Loop Constructs</a:t>
            </a:r>
          </a:p>
        </p:txBody>
      </p:sp>
      <p:grpSp>
        <p:nvGrpSpPr>
          <p:cNvPr id="14341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14343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434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600200"/>
            <a:ext cx="8364537" cy="332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55DF2D9-670C-4C07-B0DC-016C9569D5D4}" type="slidenum">
              <a:rPr lang="zh-TW" altLang="en-US" sz="1000">
                <a:latin typeface="Tahoma" panose="020B0604030504040204" pitchFamily="34" charset="0"/>
              </a:rPr>
              <a:pPr/>
              <a:t>13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5363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228600" y="5791200"/>
            <a:ext cx="4056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FIGURE 6-10</a:t>
            </a:r>
            <a:r>
              <a:rPr lang="en-US" altLang="zh-TW" sz="2000">
                <a:ea typeface="新細明體" pitchFamily="18" charset="-120"/>
              </a:rPr>
              <a:t>  The while Statement</a:t>
            </a:r>
          </a:p>
        </p:txBody>
      </p:sp>
      <p:grpSp>
        <p:nvGrpSpPr>
          <p:cNvPr id="15365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15367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8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536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3" y="1373188"/>
            <a:ext cx="8116887" cy="388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1938E5D-1099-4E1C-B925-C4CEB43B87F9}" type="slidenum">
              <a:rPr lang="zh-TW" altLang="en-US" sz="1000">
                <a:latin typeface="Tahoma" panose="020B0604030504040204" pitchFamily="34" charset="0"/>
              </a:rPr>
              <a:pPr/>
              <a:t>14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6387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152400" y="5791200"/>
            <a:ext cx="4846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FIGURE 6-11</a:t>
            </a:r>
            <a:r>
              <a:rPr lang="en-US" altLang="zh-TW" sz="2000">
                <a:ea typeface="新細明體" pitchFamily="18" charset="-120"/>
              </a:rPr>
              <a:t>  Compound while Statement</a:t>
            </a:r>
          </a:p>
        </p:txBody>
      </p:sp>
      <p:grpSp>
        <p:nvGrpSpPr>
          <p:cNvPr id="16389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16391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3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639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3" y="536575"/>
            <a:ext cx="7970837" cy="517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09E278C-DC39-4D1E-B894-6EF51D00E99B}" type="slidenum">
              <a:rPr lang="zh-TW" altLang="en-US" sz="1000">
                <a:latin typeface="Tahoma" panose="020B0604030504040204" pitchFamily="34" charset="0"/>
              </a:rPr>
              <a:pPr/>
              <a:t>15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7411" name="Text Box 2"/>
          <p:cNvSpPr txBox="1">
            <a:spLocks noChangeArrowheads="1"/>
          </p:cNvSpPr>
          <p:nvPr/>
        </p:nvSpPr>
        <p:spPr bwMode="auto">
          <a:xfrm>
            <a:off x="258763" y="15240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6-1</a:t>
            </a:r>
          </a:p>
        </p:txBody>
      </p:sp>
      <p:sp>
        <p:nvSpPr>
          <p:cNvPr id="17412" name="Text Box 3"/>
          <p:cNvSpPr txBox="1">
            <a:spLocks noChangeArrowheads="1"/>
          </p:cNvSpPr>
          <p:nvPr/>
        </p:nvSpPr>
        <p:spPr bwMode="auto">
          <a:xfrm>
            <a:off x="2162175" y="152400"/>
            <a:ext cx="3721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pitchFamily="18" charset="-120"/>
              </a:rPr>
              <a:t>Process-control System Example</a:t>
            </a:r>
          </a:p>
        </p:txBody>
      </p:sp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33400"/>
            <a:ext cx="8291513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FA226FA-90EA-431D-87B5-014284EF36D8}" type="slidenum">
              <a:rPr lang="zh-TW" altLang="en-US" sz="1000">
                <a:latin typeface="Tahoma" panose="020B0604030504040204" pitchFamily="34" charset="0"/>
              </a:rPr>
              <a:pPr/>
              <a:t>16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6553200" y="15240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6-2</a:t>
            </a:r>
          </a:p>
        </p:txBody>
      </p:sp>
      <p:sp>
        <p:nvSpPr>
          <p:cNvPr id="18436" name="Text Box 3"/>
          <p:cNvSpPr txBox="1">
            <a:spLocks noChangeArrowheads="1"/>
          </p:cNvSpPr>
          <p:nvPr/>
        </p:nvSpPr>
        <p:spPr bwMode="auto">
          <a:xfrm>
            <a:off x="6629400" y="609600"/>
            <a:ext cx="2514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 dirty="0">
                <a:ea typeface="新細明體" pitchFamily="18" charset="-120"/>
              </a:rPr>
              <a:t>A </a:t>
            </a:r>
            <a:r>
              <a:rPr lang="en-US" altLang="zh-TW" sz="2000" i="1" dirty="0">
                <a:ea typeface="新細明體" pitchFamily="18" charset="-120"/>
              </a:rPr>
              <a:t>while</a:t>
            </a:r>
            <a:r>
              <a:rPr lang="en-US" altLang="zh-TW" sz="2000" dirty="0">
                <a:ea typeface="新細明體" pitchFamily="18" charset="-120"/>
              </a:rPr>
              <a:t> Loop to Print Numbers</a:t>
            </a:r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27000"/>
            <a:ext cx="5621338" cy="381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962400"/>
            <a:ext cx="5576888" cy="268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544094"/>
            <a:ext cx="4572000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730EC73-1524-4AEC-BDE8-FAA7596EDB44}" type="slidenum">
              <a:rPr lang="zh-TW" altLang="en-US" sz="1000">
                <a:latin typeface="Tahoma" panose="020B0604030504040204" pitchFamily="34" charset="0"/>
              </a:rPr>
              <a:pPr/>
              <a:t>17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9459" name="Text Box 2"/>
          <p:cNvSpPr txBox="1">
            <a:spLocks noChangeArrowheads="1"/>
          </p:cNvSpPr>
          <p:nvPr/>
        </p:nvSpPr>
        <p:spPr bwMode="auto">
          <a:xfrm>
            <a:off x="258763" y="2540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6-3</a:t>
            </a:r>
          </a:p>
        </p:txBody>
      </p:sp>
      <p:sp>
        <p:nvSpPr>
          <p:cNvPr id="19460" name="Text Box 3"/>
          <p:cNvSpPr txBox="1">
            <a:spLocks noChangeArrowheads="1"/>
          </p:cNvSpPr>
          <p:nvPr/>
        </p:nvSpPr>
        <p:spPr bwMode="auto">
          <a:xfrm>
            <a:off x="2093913" y="25400"/>
            <a:ext cx="300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 dirty="0">
                <a:ea typeface="新細明體" pitchFamily="18" charset="-120"/>
              </a:rPr>
              <a:t>Adding a List of Numbers</a:t>
            </a:r>
          </a:p>
        </p:txBody>
      </p:sp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3" y="542131"/>
            <a:ext cx="7961312" cy="542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425" y="1600200"/>
            <a:ext cx="3676650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1AB9983-B552-4FEB-B17A-D586E8A45173}" type="slidenum">
              <a:rPr lang="zh-TW" altLang="en-US" sz="1000">
                <a:latin typeface="Tahoma" panose="020B0604030504040204" pitchFamily="34" charset="0"/>
              </a:rPr>
              <a:pPr/>
              <a:t>18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0483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152400" y="5791200"/>
            <a:ext cx="3300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 dirty="0">
                <a:solidFill>
                  <a:schemeClr val="folHlink"/>
                </a:solidFill>
                <a:ea typeface="新細明體" pitchFamily="18" charset="-120"/>
              </a:rPr>
              <a:t>FIGURE 6-12</a:t>
            </a:r>
            <a:r>
              <a:rPr lang="en-US" altLang="zh-TW" sz="2000" dirty="0">
                <a:ea typeface="新細明體" pitchFamily="18" charset="-120"/>
              </a:rPr>
              <a:t>  </a:t>
            </a:r>
            <a:r>
              <a:rPr lang="en-US" altLang="zh-TW" sz="2000" i="1" dirty="0">
                <a:ea typeface="新細明體" pitchFamily="18" charset="-120"/>
              </a:rPr>
              <a:t>for</a:t>
            </a:r>
            <a:r>
              <a:rPr lang="en-US" altLang="zh-TW" sz="2000" dirty="0">
                <a:ea typeface="新細明體" pitchFamily="18" charset="-120"/>
              </a:rPr>
              <a:t> Statement</a:t>
            </a:r>
          </a:p>
        </p:txBody>
      </p:sp>
      <p:grpSp>
        <p:nvGrpSpPr>
          <p:cNvPr id="20485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20487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8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9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048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75" y="620713"/>
            <a:ext cx="7121525" cy="509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6C7698C-1675-4170-B764-8ABD00049E56}" type="slidenum">
              <a:rPr lang="zh-TW" altLang="en-US" sz="1000">
                <a:latin typeface="Tahoma" panose="020B0604030504040204" pitchFamily="34" charset="0"/>
              </a:rPr>
              <a:pPr/>
              <a:t>19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1507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152400" y="5791200"/>
            <a:ext cx="4578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FIGURE 6-13</a:t>
            </a:r>
            <a:r>
              <a:rPr lang="en-US" altLang="zh-TW" sz="2000">
                <a:ea typeface="新細明體" pitchFamily="18" charset="-120"/>
              </a:rPr>
              <a:t>  Compound </a:t>
            </a:r>
            <a:r>
              <a:rPr lang="en-US" altLang="zh-TW" sz="2000" i="1">
                <a:ea typeface="新細明體" pitchFamily="18" charset="-120"/>
              </a:rPr>
              <a:t>for</a:t>
            </a:r>
            <a:r>
              <a:rPr lang="en-US" altLang="zh-TW" sz="2000">
                <a:ea typeface="新細明體" pitchFamily="18" charset="-120"/>
              </a:rPr>
              <a:t> Statement</a:t>
            </a:r>
          </a:p>
        </p:txBody>
      </p:sp>
      <p:grpSp>
        <p:nvGrpSpPr>
          <p:cNvPr id="21509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21511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2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3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151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" y="696913"/>
            <a:ext cx="6791325" cy="486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2A4FC8D-4D4D-4BCE-BBFD-562DCE5A0820}" type="slidenum">
              <a:rPr lang="zh-TW" altLang="en-US" sz="1000">
                <a:latin typeface="Tahoma" panose="020B0604030504040204" pitchFamily="34" charset="0"/>
              </a:rPr>
              <a:pPr/>
              <a:t>20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2531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152400" y="5791200"/>
            <a:ext cx="5270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FIGURE 6-14</a:t>
            </a:r>
            <a:r>
              <a:rPr lang="en-US" altLang="zh-TW" sz="2000">
                <a:ea typeface="新細明體" pitchFamily="18" charset="-120"/>
              </a:rPr>
              <a:t>  Comparing </a:t>
            </a:r>
            <a:r>
              <a:rPr lang="en-US" altLang="zh-TW" sz="2000" i="1">
                <a:ea typeface="新細明體" pitchFamily="18" charset="-120"/>
              </a:rPr>
              <a:t>for</a:t>
            </a:r>
            <a:r>
              <a:rPr lang="en-US" altLang="zh-TW" sz="2000">
                <a:ea typeface="新細明體" pitchFamily="18" charset="-120"/>
              </a:rPr>
              <a:t> and </a:t>
            </a:r>
            <a:r>
              <a:rPr lang="en-US" altLang="zh-TW" sz="2000" i="1">
                <a:ea typeface="新細明體" pitchFamily="18" charset="-120"/>
              </a:rPr>
              <a:t>while</a:t>
            </a:r>
            <a:r>
              <a:rPr lang="en-US" altLang="zh-TW" sz="2000">
                <a:ea typeface="新細明體" pitchFamily="18" charset="-120"/>
              </a:rPr>
              <a:t> Loops</a:t>
            </a:r>
          </a:p>
        </p:txBody>
      </p:sp>
      <p:grpSp>
        <p:nvGrpSpPr>
          <p:cNvPr id="22533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22535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6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7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253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00175"/>
            <a:ext cx="7467600" cy="362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8A6D729-7D85-4436-A0D8-AAFA0A829110}" type="slidenum">
              <a:rPr lang="zh-TW" altLang="en-US" sz="1000">
                <a:latin typeface="Tahoma" panose="020B0604030504040204" pitchFamily="34" charset="0"/>
              </a:rPr>
              <a:pPr/>
              <a:t>21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3555" name="Text Box 2"/>
          <p:cNvSpPr txBox="1">
            <a:spLocks noChangeArrowheads="1"/>
          </p:cNvSpPr>
          <p:nvPr/>
        </p:nvSpPr>
        <p:spPr bwMode="auto">
          <a:xfrm>
            <a:off x="258763" y="15240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6-4</a:t>
            </a:r>
          </a:p>
        </p:txBody>
      </p:sp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2289175" y="152400"/>
            <a:ext cx="2609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 dirty="0">
                <a:ea typeface="新細明體" pitchFamily="18" charset="-120"/>
              </a:rPr>
              <a:t>Example of a </a:t>
            </a:r>
            <a:r>
              <a:rPr lang="en-US" altLang="zh-TW" sz="2000" i="1" dirty="0">
                <a:ea typeface="新細明體" pitchFamily="18" charset="-120"/>
              </a:rPr>
              <a:t>for</a:t>
            </a:r>
            <a:r>
              <a:rPr lang="en-US" altLang="zh-TW" sz="2000" dirty="0">
                <a:ea typeface="新細明體" pitchFamily="18" charset="-120"/>
              </a:rPr>
              <a:t> Loop</a:t>
            </a:r>
          </a:p>
        </p:txBody>
      </p:sp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533400"/>
            <a:ext cx="7275513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3" y="1524000"/>
            <a:ext cx="7300912" cy="372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5295900"/>
            <a:ext cx="72771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1941026-2959-4743-8CF9-F1D8C533EDA1}" type="slidenum">
              <a:rPr lang="zh-TW" altLang="en-US" sz="1000">
                <a:latin typeface="Tahoma" panose="020B0604030504040204" pitchFamily="34" charset="0"/>
              </a:rPr>
              <a:pPr/>
              <a:t>22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4579" name="Text Box 2"/>
          <p:cNvSpPr txBox="1">
            <a:spLocks noChangeArrowheads="1"/>
          </p:cNvSpPr>
          <p:nvPr/>
        </p:nvSpPr>
        <p:spPr bwMode="auto">
          <a:xfrm>
            <a:off x="258763" y="15240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6-5</a:t>
            </a:r>
          </a:p>
        </p:txBody>
      </p:sp>
      <p:sp>
        <p:nvSpPr>
          <p:cNvPr id="24580" name="Text Box 3"/>
          <p:cNvSpPr txBox="1">
            <a:spLocks noChangeArrowheads="1"/>
          </p:cNvSpPr>
          <p:nvPr/>
        </p:nvSpPr>
        <p:spPr bwMode="auto">
          <a:xfrm>
            <a:off x="2106613" y="152400"/>
            <a:ext cx="2976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 dirty="0">
                <a:ea typeface="新細明體" pitchFamily="18" charset="-120"/>
              </a:rPr>
              <a:t>A Simple Nested </a:t>
            </a:r>
            <a:r>
              <a:rPr lang="en-US" altLang="zh-TW" sz="2000" i="1" dirty="0">
                <a:ea typeface="新細明體" pitchFamily="18" charset="-120"/>
              </a:rPr>
              <a:t>for</a:t>
            </a:r>
            <a:r>
              <a:rPr lang="en-US" altLang="zh-TW" sz="2000" dirty="0">
                <a:ea typeface="新細明體" pitchFamily="18" charset="-120"/>
              </a:rPr>
              <a:t> Loop</a:t>
            </a:r>
          </a:p>
        </p:txBody>
      </p:sp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3" y="527050"/>
            <a:ext cx="7302500" cy="486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5418138"/>
            <a:ext cx="7288213" cy="131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398295F-38A8-465A-85AC-CB7A1F6978A5}" type="slidenum">
              <a:rPr lang="zh-TW" altLang="en-US" sz="1000">
                <a:latin typeface="Tahoma" panose="020B0604030504040204" pitchFamily="34" charset="0"/>
              </a:rPr>
              <a:pPr/>
              <a:t>23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5603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152400" y="5741988"/>
            <a:ext cx="4575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FIGURE 6-15   </a:t>
            </a:r>
            <a:r>
              <a:rPr lang="en-US" altLang="zh-TW" i="1">
                <a:ea typeface="新細明體" pitchFamily="18" charset="-120"/>
              </a:rPr>
              <a:t>do…while</a:t>
            </a:r>
            <a:r>
              <a:rPr lang="en-US" altLang="zh-TW">
                <a:ea typeface="新細明體" pitchFamily="18" charset="-120"/>
              </a:rPr>
              <a:t> Statement</a:t>
            </a:r>
          </a:p>
        </p:txBody>
      </p:sp>
      <p:grpSp>
        <p:nvGrpSpPr>
          <p:cNvPr id="25605" name="Group 4"/>
          <p:cNvGrpSpPr>
            <a:grpSpLocks/>
          </p:cNvGrpSpPr>
          <p:nvPr/>
        </p:nvGrpSpPr>
        <p:grpSpPr bwMode="auto">
          <a:xfrm>
            <a:off x="228600" y="228600"/>
            <a:ext cx="8610600" cy="5995988"/>
            <a:chOff x="336" y="159"/>
            <a:chExt cx="5232" cy="3777"/>
          </a:xfrm>
        </p:grpSpPr>
        <p:sp>
          <p:nvSpPr>
            <p:cNvPr id="25607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8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9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5606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50863"/>
            <a:ext cx="5229225" cy="485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9C0EA2C-5DDF-417E-A139-AAD7E7001964}" type="slidenum">
              <a:rPr lang="zh-TW" altLang="en-US" sz="1000">
                <a:latin typeface="Tahoma" panose="020B0604030504040204" pitchFamily="34" charset="0"/>
              </a:rPr>
              <a:pPr/>
              <a:t>24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6627" name="Text Box 2"/>
          <p:cNvSpPr txBox="1">
            <a:spLocks noChangeArrowheads="1"/>
          </p:cNvSpPr>
          <p:nvPr/>
        </p:nvSpPr>
        <p:spPr bwMode="auto">
          <a:xfrm>
            <a:off x="5994400" y="15240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6-6</a:t>
            </a:r>
          </a:p>
        </p:txBody>
      </p:sp>
      <p:sp>
        <p:nvSpPr>
          <p:cNvPr id="26628" name="Text Box 3"/>
          <p:cNvSpPr txBox="1">
            <a:spLocks noChangeArrowheads="1"/>
          </p:cNvSpPr>
          <p:nvPr/>
        </p:nvSpPr>
        <p:spPr bwMode="auto">
          <a:xfrm>
            <a:off x="5994400" y="571500"/>
            <a:ext cx="2201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pitchFamily="18" charset="-120"/>
              </a:rPr>
              <a:t>Two Simple Loops</a:t>
            </a:r>
          </a:p>
        </p:txBody>
      </p:sp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0"/>
            <a:ext cx="5718175" cy="261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2616200"/>
            <a:ext cx="5740400" cy="127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3898900"/>
            <a:ext cx="5710238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175" y="1343819"/>
            <a:ext cx="4552950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17494A5-ACB6-4A6F-8FC8-E6F50BFBA0FA}" type="slidenum">
              <a:rPr lang="zh-TW" altLang="en-US" sz="1000">
                <a:latin typeface="Tahoma" panose="020B0604030504040204" pitchFamily="34" charset="0"/>
              </a:rPr>
              <a:pPr/>
              <a:t>25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7651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152400" y="5791200"/>
            <a:ext cx="4486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FIGURE 6-16</a:t>
            </a:r>
            <a:r>
              <a:rPr lang="en-US" altLang="zh-TW" sz="2000">
                <a:ea typeface="新細明體" pitchFamily="18" charset="-120"/>
              </a:rPr>
              <a:t>  Pre- and Post-test Loops</a:t>
            </a:r>
          </a:p>
        </p:txBody>
      </p:sp>
      <p:grpSp>
        <p:nvGrpSpPr>
          <p:cNvPr id="27653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27655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6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7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765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58" y="1241426"/>
            <a:ext cx="8812212" cy="358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5437B17-8419-48E1-95AB-4D3017062414}" type="slidenum">
              <a:rPr lang="zh-TW" altLang="en-US" sz="1000">
                <a:latin typeface="Tahoma" panose="020B0604030504040204" pitchFamily="34" charset="0"/>
              </a:rPr>
              <a:pPr/>
              <a:t>26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6400800" y="15240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6-7</a:t>
            </a:r>
          </a:p>
        </p:txBody>
      </p:sp>
      <p:sp>
        <p:nvSpPr>
          <p:cNvPr id="28676" name="Text Box 3"/>
          <p:cNvSpPr txBox="1">
            <a:spLocks noChangeArrowheads="1"/>
          </p:cNvSpPr>
          <p:nvPr/>
        </p:nvSpPr>
        <p:spPr bwMode="auto">
          <a:xfrm>
            <a:off x="6248400" y="685800"/>
            <a:ext cx="2667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 dirty="0">
                <a:ea typeface="新細明體" pitchFamily="18" charset="-120"/>
              </a:rPr>
              <a:t>Adding a List with the </a:t>
            </a:r>
            <a:r>
              <a:rPr lang="en-US" altLang="zh-TW" sz="2000" i="1" dirty="0">
                <a:ea typeface="新細明體" pitchFamily="18" charset="-120"/>
              </a:rPr>
              <a:t>do…while</a:t>
            </a:r>
          </a:p>
        </p:txBody>
      </p:sp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368300"/>
            <a:ext cx="6240463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27550"/>
            <a:ext cx="624840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63720"/>
            <a:ext cx="4210050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E429984-0D86-4824-9DE3-48628445D0A3}" type="slidenum">
              <a:rPr lang="zh-TW" altLang="en-US" sz="1000">
                <a:latin typeface="Tahoma" panose="020B0604030504040204" pitchFamily="34" charset="0"/>
              </a:rPr>
              <a:pPr/>
              <a:t>27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9699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152400" y="5791200"/>
            <a:ext cx="4748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FIGURE 6-17</a:t>
            </a:r>
            <a:r>
              <a:rPr lang="en-US" altLang="zh-TW" sz="2000">
                <a:ea typeface="新細明體" pitchFamily="18" charset="-120"/>
              </a:rPr>
              <a:t>  Nested Comma Expression</a:t>
            </a:r>
          </a:p>
        </p:txBody>
      </p:sp>
      <p:grpSp>
        <p:nvGrpSpPr>
          <p:cNvPr id="29701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29703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4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5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970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90800"/>
            <a:ext cx="8189913" cy="134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40951CD-9969-4080-9877-40DD017994B5}" type="slidenum">
              <a:rPr lang="zh-TW" altLang="en-US" sz="1000">
                <a:latin typeface="Tahoma" panose="020B0604030504040204" pitchFamily="34" charset="0"/>
              </a:rPr>
              <a:pPr/>
              <a:t>28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6705600" y="15240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6-8</a:t>
            </a:r>
          </a:p>
        </p:txBody>
      </p:sp>
      <p:sp>
        <p:nvSpPr>
          <p:cNvPr id="30724" name="Text Box 3"/>
          <p:cNvSpPr txBox="1">
            <a:spLocks noChangeArrowheads="1"/>
          </p:cNvSpPr>
          <p:nvPr/>
        </p:nvSpPr>
        <p:spPr bwMode="auto">
          <a:xfrm>
            <a:off x="6553200" y="609600"/>
            <a:ext cx="2286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ea typeface="新細明體" pitchFamily="18" charset="-120"/>
              </a:rPr>
              <a:t>Comparison of </a:t>
            </a:r>
            <a:r>
              <a:rPr lang="en-US" altLang="zh-TW" sz="2000" i="1">
                <a:ea typeface="新細明體" pitchFamily="18" charset="-120"/>
              </a:rPr>
              <a:t>while </a:t>
            </a:r>
            <a:r>
              <a:rPr lang="en-US" altLang="zh-TW" sz="2000">
                <a:ea typeface="新細明體" pitchFamily="18" charset="-120"/>
              </a:rPr>
              <a:t>and </a:t>
            </a:r>
            <a:r>
              <a:rPr lang="en-US" altLang="zh-TW" sz="2000" i="1">
                <a:ea typeface="新細明體" pitchFamily="18" charset="-120"/>
              </a:rPr>
              <a:t>do…while</a:t>
            </a:r>
          </a:p>
        </p:txBody>
      </p:sp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5867400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4318000"/>
            <a:ext cx="58674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048000"/>
            <a:ext cx="3886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8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876800"/>
            <a:ext cx="404018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F8877D9-64C7-46AF-B3BB-56DCBC6DB3F3}" type="slidenum">
              <a:rPr lang="zh-TW" altLang="en-US" sz="1000">
                <a:latin typeface="Tahoma" panose="020B0604030504040204" pitchFamily="34" charset="0"/>
              </a:rPr>
              <a:pPr/>
              <a:t>29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zh-TW" altLang="en-US">
              <a:ea typeface="新細明體" pitchFamily="18" charset="-120"/>
            </a:endParaRPr>
          </a:p>
        </p:txBody>
      </p:sp>
      <p:sp>
        <p:nvSpPr>
          <p:cNvPr id="31748" name="Text Box 3"/>
          <p:cNvSpPr txBox="1">
            <a:spLocks noChangeArrowheads="1"/>
          </p:cNvSpPr>
          <p:nvPr/>
        </p:nvSpPr>
        <p:spPr bwMode="auto">
          <a:xfrm>
            <a:off x="228600" y="304800"/>
            <a:ext cx="50942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4000">
                <a:latin typeface="Arial" panose="020B0604020202020204" pitchFamily="34" charset="0"/>
                <a:ea typeface="新細明體" pitchFamily="18" charset="-120"/>
              </a:rPr>
              <a:t>6-6   Loop Examples</a:t>
            </a:r>
          </a:p>
        </p:txBody>
      </p:sp>
      <p:sp>
        <p:nvSpPr>
          <p:cNvPr id="31749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 sz="1800">
              <a:ea typeface="新細明體" pitchFamily="18" charset="-120"/>
            </a:endParaRPr>
          </a:p>
        </p:txBody>
      </p:sp>
      <p:sp>
        <p:nvSpPr>
          <p:cNvPr id="752645" name="Rectangle 5"/>
          <p:cNvSpPr>
            <a:spLocks noChangeArrowheads="1"/>
          </p:cNvSpPr>
          <p:nvPr/>
        </p:nvSpPr>
        <p:spPr bwMode="auto">
          <a:xfrm>
            <a:off x="304800" y="1808163"/>
            <a:ext cx="8229600" cy="1800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TW" sz="2800" i="1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This section contains several short examples of loop applications. Each program demonstrates one or more programming concepts that you will find helpful in solving other problems.</a:t>
            </a:r>
          </a:p>
        </p:txBody>
      </p:sp>
      <p:sp>
        <p:nvSpPr>
          <p:cNvPr id="31751" name="Rectangle 6"/>
          <p:cNvSpPr>
            <a:spLocks noChangeArrowheads="1"/>
          </p:cNvSpPr>
          <p:nvPr/>
        </p:nvSpPr>
        <p:spPr bwMode="auto">
          <a:xfrm>
            <a:off x="304800" y="4438650"/>
            <a:ext cx="5715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chemeClr val="hlink"/>
                </a:solidFill>
                <a:ea typeface="新細明體" pitchFamily="18" charset="-120"/>
              </a:rPr>
              <a:t>for</a:t>
            </a:r>
            <a:r>
              <a:rPr lang="en-US" altLang="zh-TW">
                <a:solidFill>
                  <a:schemeClr val="hlink"/>
                </a:solidFill>
                <a:ea typeface="新細明體" pitchFamily="18" charset="-120"/>
              </a:rPr>
              <a:t> Loops</a:t>
            </a:r>
            <a:endParaRPr lang="fr-FR" altLang="zh-TW">
              <a:solidFill>
                <a:schemeClr val="hlink"/>
              </a:solidFill>
              <a:ea typeface="新細明體" pitchFamily="18" charset="-120"/>
            </a:endParaRPr>
          </a:p>
          <a:p>
            <a:pPr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fr-FR" altLang="zh-TW" i="1">
                <a:solidFill>
                  <a:schemeClr val="hlink"/>
                </a:solidFill>
                <a:ea typeface="新細明體" pitchFamily="18" charset="-120"/>
              </a:rPr>
              <a:t>while</a:t>
            </a:r>
            <a:r>
              <a:rPr lang="fr-FR" altLang="zh-TW">
                <a:solidFill>
                  <a:schemeClr val="hlink"/>
                </a:solidFill>
                <a:ea typeface="新細明體" pitchFamily="18" charset="-120"/>
              </a:rPr>
              <a:t> LOOPS</a:t>
            </a:r>
          </a:p>
          <a:p>
            <a:pPr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chemeClr val="hlink"/>
                </a:solidFill>
                <a:ea typeface="新細明體" pitchFamily="18" charset="-120"/>
              </a:rPr>
              <a:t>do…while</a:t>
            </a:r>
            <a:r>
              <a:rPr lang="en-US" altLang="zh-TW">
                <a:solidFill>
                  <a:schemeClr val="hlink"/>
                </a:solidFill>
                <a:ea typeface="新細明體" pitchFamily="18" charset="-120"/>
              </a:rPr>
              <a:t> LOOPS</a:t>
            </a:r>
          </a:p>
        </p:txBody>
      </p:sp>
      <p:sp>
        <p:nvSpPr>
          <p:cNvPr id="752647" name="Text Box 7"/>
          <p:cNvSpPr txBox="1">
            <a:spLocks noChangeArrowheads="1"/>
          </p:cNvSpPr>
          <p:nvPr/>
        </p:nvSpPr>
        <p:spPr bwMode="auto">
          <a:xfrm>
            <a:off x="317500" y="3962400"/>
            <a:ext cx="4862513" cy="5191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2800" i="1" u="sng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Topics discussed in this section: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6C968B9-3D56-470D-8FE0-0DA954AF511D}" type="slidenum">
              <a:rPr lang="zh-TW" altLang="en-US" sz="1000">
                <a:latin typeface="Tahoma" panose="020B0604030504040204" pitchFamily="34" charset="0"/>
              </a:rPr>
              <a:pPr/>
              <a:t>30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5638800" y="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6-9</a:t>
            </a:r>
          </a:p>
        </p:txBody>
      </p:sp>
      <p:sp>
        <p:nvSpPr>
          <p:cNvPr id="32772" name="Text Box 3"/>
          <p:cNvSpPr txBox="1">
            <a:spLocks noChangeArrowheads="1"/>
          </p:cNvSpPr>
          <p:nvPr/>
        </p:nvSpPr>
        <p:spPr bwMode="auto">
          <a:xfrm>
            <a:off x="5715000" y="381000"/>
            <a:ext cx="2306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pitchFamily="18" charset="-120"/>
              </a:rPr>
              <a:t>Compound Interest</a:t>
            </a:r>
          </a:p>
        </p:txBody>
      </p:sp>
      <p:grpSp>
        <p:nvGrpSpPr>
          <p:cNvPr id="32773" name="Group 8"/>
          <p:cNvGrpSpPr>
            <a:grpSpLocks/>
          </p:cNvGrpSpPr>
          <p:nvPr/>
        </p:nvGrpSpPr>
        <p:grpSpPr bwMode="auto">
          <a:xfrm>
            <a:off x="0" y="0"/>
            <a:ext cx="5486400" cy="3505200"/>
            <a:chOff x="192" y="445"/>
            <a:chExt cx="5274" cy="3299"/>
          </a:xfrm>
        </p:grpSpPr>
        <p:pic>
          <p:nvPicPr>
            <p:cNvPr id="32777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" y="445"/>
              <a:ext cx="5240" cy="27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778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3172"/>
              <a:ext cx="5274" cy="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2774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70275"/>
            <a:ext cx="544830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5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79310"/>
            <a:ext cx="4191000" cy="111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6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543300"/>
            <a:ext cx="1905000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A2FB654-2284-4D20-B9C4-6849227F31B5}" type="slidenum">
              <a:rPr lang="zh-TW" altLang="en-US" sz="1000">
                <a:latin typeface="Tahoma" panose="020B0604030504040204" pitchFamily="34" charset="0"/>
              </a:rPr>
              <a:pPr/>
              <a:t>31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3795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6" name="Rectangle 3"/>
          <p:cNvSpPr>
            <a:spLocks noChangeArrowheads="1"/>
          </p:cNvSpPr>
          <p:nvPr/>
        </p:nvSpPr>
        <p:spPr bwMode="auto">
          <a:xfrm>
            <a:off x="152400" y="5791200"/>
            <a:ext cx="7040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FIGURE 6-18</a:t>
            </a:r>
            <a:r>
              <a:rPr lang="en-US" altLang="zh-TW" sz="2000">
                <a:ea typeface="新細明體" pitchFamily="18" charset="-120"/>
              </a:rPr>
              <a:t>  Print Right Triangle Flowchart and Pseudocode</a:t>
            </a:r>
          </a:p>
        </p:txBody>
      </p:sp>
      <p:grpSp>
        <p:nvGrpSpPr>
          <p:cNvPr id="33797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33799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0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1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3798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63" y="673100"/>
            <a:ext cx="7907337" cy="511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7F70211-BEB5-458B-9EBB-F10B9666B139}" type="slidenum">
              <a:rPr lang="zh-TW" altLang="en-US" sz="1000">
                <a:latin typeface="Tahoma" panose="020B0604030504040204" pitchFamily="34" charset="0"/>
              </a:rPr>
              <a:pPr/>
              <a:t>32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4819" name="Text Box 2"/>
          <p:cNvSpPr txBox="1">
            <a:spLocks noChangeArrowheads="1"/>
          </p:cNvSpPr>
          <p:nvPr/>
        </p:nvSpPr>
        <p:spPr bwMode="auto">
          <a:xfrm>
            <a:off x="6375400" y="127000"/>
            <a:ext cx="2054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6-10</a:t>
            </a:r>
          </a:p>
        </p:txBody>
      </p:sp>
      <p:sp>
        <p:nvSpPr>
          <p:cNvPr id="34820" name="Text Box 3"/>
          <p:cNvSpPr txBox="1">
            <a:spLocks noChangeArrowheads="1"/>
          </p:cNvSpPr>
          <p:nvPr/>
        </p:nvSpPr>
        <p:spPr bwMode="auto">
          <a:xfrm>
            <a:off x="6438900" y="520700"/>
            <a:ext cx="24257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 dirty="0">
                <a:ea typeface="新細明體" pitchFamily="18" charset="-120"/>
              </a:rPr>
              <a:t>Print Right Triangle Using Nested </a:t>
            </a:r>
            <a:r>
              <a:rPr lang="en-US" altLang="zh-TW" sz="2000" i="1" dirty="0">
                <a:ea typeface="新細明體" pitchFamily="18" charset="-120"/>
              </a:rPr>
              <a:t>for</a:t>
            </a:r>
          </a:p>
        </p:txBody>
      </p:sp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101600"/>
            <a:ext cx="6240463" cy="438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4464050"/>
            <a:ext cx="6288088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586288"/>
            <a:ext cx="4605337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4CDCE29-7B08-4950-B736-326445187A7C}" type="slidenum">
              <a:rPr lang="zh-TW" altLang="en-US" sz="1000">
                <a:latin typeface="Tahoma" panose="020B0604030504040204" pitchFamily="34" charset="0"/>
              </a:rPr>
              <a:pPr/>
              <a:t>33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5843" name="Text Box 2"/>
          <p:cNvSpPr txBox="1">
            <a:spLocks noChangeArrowheads="1"/>
          </p:cNvSpPr>
          <p:nvPr/>
        </p:nvSpPr>
        <p:spPr bwMode="auto">
          <a:xfrm>
            <a:off x="6540500" y="127000"/>
            <a:ext cx="2054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6-11</a:t>
            </a:r>
          </a:p>
        </p:txBody>
      </p:sp>
      <p:sp>
        <p:nvSpPr>
          <p:cNvPr id="35844" name="Text Box 3"/>
          <p:cNvSpPr txBox="1">
            <a:spLocks noChangeArrowheads="1"/>
          </p:cNvSpPr>
          <p:nvPr/>
        </p:nvSpPr>
        <p:spPr bwMode="auto">
          <a:xfrm>
            <a:off x="6578600" y="558800"/>
            <a:ext cx="25527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 dirty="0">
                <a:ea typeface="新細明體" pitchFamily="18" charset="-120"/>
              </a:rPr>
              <a:t>Print Number Series Using User-specified Limit</a:t>
            </a:r>
          </a:p>
        </p:txBody>
      </p:sp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03200"/>
            <a:ext cx="6237288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292600"/>
            <a:ext cx="6248400" cy="231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840288"/>
            <a:ext cx="403860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8" name="Text Box 9"/>
          <p:cNvSpPr txBox="1">
            <a:spLocks noChangeArrowheads="1"/>
          </p:cNvSpPr>
          <p:nvPr/>
        </p:nvSpPr>
        <p:spPr bwMode="auto">
          <a:xfrm>
            <a:off x="914400" y="3962400"/>
            <a:ext cx="5029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1600">
                <a:ea typeface="新細明體" pitchFamily="18" charset="-120"/>
              </a:rPr>
              <a:t>for (int row=1; row&lt;=limit; row++)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2D0AC20-30AC-4613-A9C0-4333B4E307A7}" type="slidenum">
              <a:rPr lang="zh-TW" altLang="en-US" sz="1000">
                <a:latin typeface="Tahoma" panose="020B0604030504040204" pitchFamily="34" charset="0"/>
              </a:rPr>
              <a:pPr/>
              <a:t>34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6096000" y="152400"/>
            <a:ext cx="2054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6-12</a:t>
            </a:r>
          </a:p>
        </p:txBody>
      </p:sp>
      <p:sp>
        <p:nvSpPr>
          <p:cNvPr id="36868" name="Text Box 3"/>
          <p:cNvSpPr txBox="1">
            <a:spLocks noChangeArrowheads="1"/>
          </p:cNvSpPr>
          <p:nvPr/>
        </p:nvSpPr>
        <p:spPr bwMode="auto">
          <a:xfrm>
            <a:off x="6248400" y="533400"/>
            <a:ext cx="2624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 dirty="0">
                <a:ea typeface="新細明體" pitchFamily="18" charset="-120"/>
              </a:rPr>
              <a:t>Print Calendar Month</a:t>
            </a:r>
          </a:p>
        </p:txBody>
      </p:sp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906963" cy="340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6870" name="Group 6"/>
          <p:cNvGrpSpPr>
            <a:grpSpLocks/>
          </p:cNvGrpSpPr>
          <p:nvPr/>
        </p:nvGrpSpPr>
        <p:grpSpPr bwMode="auto">
          <a:xfrm>
            <a:off x="25400" y="3441700"/>
            <a:ext cx="4889500" cy="3200400"/>
            <a:chOff x="-308" y="480"/>
            <a:chExt cx="5300" cy="3552"/>
          </a:xfrm>
        </p:grpSpPr>
        <p:pic>
          <p:nvPicPr>
            <p:cNvPr id="36873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08" y="480"/>
              <a:ext cx="5257" cy="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874" name="Picture 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06" y="1392"/>
              <a:ext cx="5298" cy="2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6871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4699000"/>
            <a:ext cx="426720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2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630" y="2224559"/>
            <a:ext cx="3810000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AFC58A3-41F6-4413-85D9-D63C58C9DBD7}" type="slidenum">
              <a:rPr lang="zh-TW" altLang="en-US" sz="1000">
                <a:latin typeface="Tahoma" panose="020B0604030504040204" pitchFamily="34" charset="0"/>
              </a:rPr>
              <a:pPr/>
              <a:t>35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7891" name="Text Box 2"/>
          <p:cNvSpPr txBox="1">
            <a:spLocks noChangeArrowheads="1"/>
          </p:cNvSpPr>
          <p:nvPr/>
        </p:nvSpPr>
        <p:spPr bwMode="auto">
          <a:xfrm>
            <a:off x="6553200" y="152400"/>
            <a:ext cx="2054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6-13</a:t>
            </a:r>
          </a:p>
        </p:txBody>
      </p:sp>
      <p:sp>
        <p:nvSpPr>
          <p:cNvPr id="37892" name="Text Box 3"/>
          <p:cNvSpPr txBox="1">
            <a:spLocks noChangeArrowheads="1"/>
          </p:cNvSpPr>
          <p:nvPr/>
        </p:nvSpPr>
        <p:spPr bwMode="auto">
          <a:xfrm>
            <a:off x="6629400" y="533400"/>
            <a:ext cx="2276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pitchFamily="18" charset="-120"/>
              </a:rPr>
              <a:t>Print Sum of Digits</a:t>
            </a:r>
          </a:p>
        </p:txBody>
      </p:sp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257925" cy="413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279900"/>
            <a:ext cx="6278563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891756"/>
            <a:ext cx="3429000" cy="155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023D446-FA2B-4E12-B31B-CC1812C06009}" type="slidenum">
              <a:rPr lang="zh-TW" altLang="en-US" sz="1000">
                <a:latin typeface="Tahoma" panose="020B0604030504040204" pitchFamily="34" charset="0"/>
              </a:rPr>
              <a:pPr/>
              <a:t>36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pic>
        <p:nvPicPr>
          <p:cNvPr id="3891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971800"/>
            <a:ext cx="6288088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6" name="Text Box 2"/>
          <p:cNvSpPr txBox="1">
            <a:spLocks noChangeArrowheads="1"/>
          </p:cNvSpPr>
          <p:nvPr/>
        </p:nvSpPr>
        <p:spPr bwMode="auto">
          <a:xfrm>
            <a:off x="6553200" y="0"/>
            <a:ext cx="2054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6-14</a:t>
            </a:r>
          </a:p>
        </p:txBody>
      </p:sp>
      <p:sp>
        <p:nvSpPr>
          <p:cNvPr id="38917" name="Text Box 3"/>
          <p:cNvSpPr txBox="1">
            <a:spLocks noChangeArrowheads="1"/>
          </p:cNvSpPr>
          <p:nvPr/>
        </p:nvSpPr>
        <p:spPr bwMode="auto">
          <a:xfrm>
            <a:off x="6553200" y="381000"/>
            <a:ext cx="2209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ea typeface="新細明體" pitchFamily="18" charset="-120"/>
              </a:rPr>
              <a:t>Print Number Backward</a:t>
            </a:r>
          </a:p>
        </p:txBody>
      </p:sp>
      <p:pic>
        <p:nvPicPr>
          <p:cNvPr id="3891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203200"/>
            <a:ext cx="6257925" cy="284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4440238"/>
            <a:ext cx="6297613" cy="176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0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657600"/>
            <a:ext cx="56388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EDA8F7B-956A-4422-8700-25390582C73C}" type="slidenum">
              <a:rPr lang="zh-TW" altLang="en-US" sz="1000">
                <a:latin typeface="Tahoma" panose="020B0604030504040204" pitchFamily="34" charset="0"/>
              </a:rPr>
              <a:pPr/>
              <a:t>37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9939" name="Rectangle 2"/>
          <p:cNvSpPr>
            <a:spLocks noChangeArrowheads="1"/>
          </p:cNvSpPr>
          <p:nvPr/>
        </p:nvSpPr>
        <p:spPr bwMode="auto">
          <a:xfrm>
            <a:off x="0" y="0"/>
            <a:ext cx="9144000" cy="15240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zh-TW" altLang="en-US">
              <a:ea typeface="新細明體" pitchFamily="18" charset="-120"/>
            </a:endParaRPr>
          </a:p>
        </p:txBody>
      </p:sp>
      <p:sp>
        <p:nvSpPr>
          <p:cNvPr id="39940" name="Text Box 3"/>
          <p:cNvSpPr txBox="1">
            <a:spLocks noChangeArrowheads="1"/>
          </p:cNvSpPr>
          <p:nvPr/>
        </p:nvSpPr>
        <p:spPr bwMode="auto">
          <a:xfrm>
            <a:off x="228600" y="152400"/>
            <a:ext cx="769778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4000">
                <a:latin typeface="Arial" panose="020B0604020202020204" pitchFamily="34" charset="0"/>
                <a:ea typeface="新細明體" pitchFamily="18" charset="-120"/>
              </a:rPr>
              <a:t>6-7   Other Statements Related </a:t>
            </a:r>
            <a:br>
              <a:rPr lang="en-US" altLang="zh-TW" sz="4000">
                <a:latin typeface="Arial" panose="020B0604020202020204" pitchFamily="34" charset="0"/>
                <a:ea typeface="新細明體" pitchFamily="18" charset="-120"/>
              </a:rPr>
            </a:br>
            <a:r>
              <a:rPr lang="en-US" altLang="zh-TW" sz="4000">
                <a:latin typeface="Arial" panose="020B0604020202020204" pitchFamily="34" charset="0"/>
                <a:ea typeface="新細明體" pitchFamily="18" charset="-120"/>
              </a:rPr>
              <a:t>         to Looping</a:t>
            </a:r>
          </a:p>
        </p:txBody>
      </p:sp>
      <p:sp>
        <p:nvSpPr>
          <p:cNvPr id="39941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 sz="1800">
              <a:ea typeface="新細明體" pitchFamily="18" charset="-120"/>
            </a:endParaRPr>
          </a:p>
        </p:txBody>
      </p:sp>
      <p:sp>
        <p:nvSpPr>
          <p:cNvPr id="763909" name="Rectangle 5"/>
          <p:cNvSpPr>
            <a:spLocks noChangeArrowheads="1"/>
          </p:cNvSpPr>
          <p:nvPr/>
        </p:nvSpPr>
        <p:spPr bwMode="auto">
          <a:xfrm>
            <a:off x="304800" y="1655763"/>
            <a:ext cx="8229600" cy="1800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TW" sz="2800" i="1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Three other C statements are related to loops: break, continue, and goto. The last statements, the goto, is not valid for structured programs and therefore is not discussed in this text.</a:t>
            </a:r>
          </a:p>
        </p:txBody>
      </p:sp>
      <p:sp>
        <p:nvSpPr>
          <p:cNvPr id="39943" name="Rectangle 6"/>
          <p:cNvSpPr>
            <a:spLocks noChangeArrowheads="1"/>
          </p:cNvSpPr>
          <p:nvPr/>
        </p:nvSpPr>
        <p:spPr bwMode="auto">
          <a:xfrm>
            <a:off x="304800" y="4438650"/>
            <a:ext cx="5715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>
                <a:solidFill>
                  <a:schemeClr val="hlink"/>
                </a:solidFill>
                <a:ea typeface="新細明體" pitchFamily="18" charset="-120"/>
              </a:rPr>
              <a:t>break</a:t>
            </a:r>
            <a:endParaRPr lang="fr-FR" altLang="zh-TW">
              <a:solidFill>
                <a:schemeClr val="hlink"/>
              </a:solidFill>
              <a:ea typeface="新細明體" pitchFamily="18" charset="-120"/>
            </a:endParaRPr>
          </a:p>
          <a:p>
            <a:pPr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fr-FR" altLang="zh-TW">
                <a:solidFill>
                  <a:schemeClr val="hlink"/>
                </a:solidFill>
                <a:ea typeface="新細明體" pitchFamily="18" charset="-120"/>
              </a:rPr>
              <a:t>continue</a:t>
            </a:r>
            <a:endParaRPr lang="en-US" altLang="zh-TW">
              <a:solidFill>
                <a:schemeClr val="hlink"/>
              </a:solidFill>
              <a:ea typeface="新細明體" pitchFamily="18" charset="-120"/>
            </a:endParaRPr>
          </a:p>
        </p:txBody>
      </p:sp>
      <p:sp>
        <p:nvSpPr>
          <p:cNvPr id="763911" name="Text Box 7"/>
          <p:cNvSpPr txBox="1">
            <a:spLocks noChangeArrowheads="1"/>
          </p:cNvSpPr>
          <p:nvPr/>
        </p:nvSpPr>
        <p:spPr bwMode="auto">
          <a:xfrm>
            <a:off x="317500" y="3962400"/>
            <a:ext cx="4862513" cy="5191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2800" i="1" u="sng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Topics discussed in this section: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73FB10D-C27D-41DC-B095-2EB2DA0793F0}" type="slidenum">
              <a:rPr lang="zh-TW" altLang="en-US" sz="1000">
                <a:latin typeface="Tahoma" panose="020B0604030504040204" pitchFamily="34" charset="0"/>
              </a:rPr>
              <a:pPr/>
              <a:t>38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0963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4" name="Rectangle 3"/>
          <p:cNvSpPr>
            <a:spLocks noChangeArrowheads="1"/>
          </p:cNvSpPr>
          <p:nvPr/>
        </p:nvSpPr>
        <p:spPr bwMode="auto">
          <a:xfrm>
            <a:off x="152400" y="5791200"/>
            <a:ext cx="429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FIGURE 6-20</a:t>
            </a:r>
            <a:r>
              <a:rPr lang="en-US" altLang="zh-TW" sz="2000">
                <a:ea typeface="新細明體" pitchFamily="18" charset="-120"/>
              </a:rPr>
              <a:t>  </a:t>
            </a:r>
            <a:r>
              <a:rPr lang="en-US" altLang="zh-TW" sz="2000" i="1">
                <a:ea typeface="新細明體" pitchFamily="18" charset="-120"/>
              </a:rPr>
              <a:t>break</a:t>
            </a:r>
            <a:r>
              <a:rPr lang="en-US" altLang="zh-TW" sz="2000">
                <a:ea typeface="新細明體" pitchFamily="18" charset="-120"/>
              </a:rPr>
              <a:t> and Inner Loops</a:t>
            </a:r>
          </a:p>
        </p:txBody>
      </p:sp>
      <p:grpSp>
        <p:nvGrpSpPr>
          <p:cNvPr id="40965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40967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68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69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096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75" y="930275"/>
            <a:ext cx="6892925" cy="432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044BF67-0FF1-4538-9FFB-6DDE47F4FFFE}" type="slidenum">
              <a:rPr lang="zh-TW" altLang="en-US" sz="1000">
                <a:latin typeface="Tahoma" panose="020B0604030504040204" pitchFamily="34" charset="0"/>
              </a:rPr>
              <a:pPr/>
              <a:t>39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1987" name="Text Box 2"/>
          <p:cNvSpPr txBox="1">
            <a:spLocks noChangeArrowheads="1"/>
          </p:cNvSpPr>
          <p:nvPr/>
        </p:nvSpPr>
        <p:spPr bwMode="auto">
          <a:xfrm>
            <a:off x="195263" y="152400"/>
            <a:ext cx="2054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6-16</a:t>
            </a:r>
          </a:p>
        </p:txBody>
      </p:sp>
      <p:sp>
        <p:nvSpPr>
          <p:cNvPr id="41988" name="Text Box 3"/>
          <p:cNvSpPr txBox="1">
            <a:spLocks noChangeArrowheads="1"/>
          </p:cNvSpPr>
          <p:nvPr/>
        </p:nvSpPr>
        <p:spPr bwMode="auto">
          <a:xfrm>
            <a:off x="2319338" y="152400"/>
            <a:ext cx="42179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pitchFamily="18" charset="-120"/>
              </a:rPr>
              <a:t>The </a:t>
            </a:r>
            <a:r>
              <a:rPr lang="en-US" altLang="zh-TW" sz="2000" i="1">
                <a:ea typeface="新細明體" pitchFamily="18" charset="-120"/>
              </a:rPr>
              <a:t>for</a:t>
            </a:r>
            <a:r>
              <a:rPr lang="en-US" altLang="zh-TW" sz="2000">
                <a:ea typeface="新細明體" pitchFamily="18" charset="-120"/>
              </a:rPr>
              <a:t> and </a:t>
            </a:r>
            <a:r>
              <a:rPr lang="en-US" altLang="zh-TW" sz="2000" i="1">
                <a:ea typeface="新細明體" pitchFamily="18" charset="-120"/>
              </a:rPr>
              <a:t>while</a:t>
            </a:r>
            <a:r>
              <a:rPr lang="en-US" altLang="zh-TW" sz="2000">
                <a:ea typeface="新細明體" pitchFamily="18" charset="-120"/>
              </a:rPr>
              <a:t> as Perpetual Loops</a:t>
            </a:r>
          </a:p>
        </p:txBody>
      </p:sp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995363"/>
            <a:ext cx="8410575" cy="502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DE67D6A-22FA-4EEF-896C-A86F6A8AF3BF}" type="slidenum">
              <a:rPr lang="zh-TW" altLang="en-US" sz="1000">
                <a:latin typeface="Tahoma" panose="020B0604030504040204" pitchFamily="34" charset="0"/>
              </a:rPr>
              <a:pPr/>
              <a:t>40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3011" name="Text Box 2"/>
          <p:cNvSpPr txBox="1">
            <a:spLocks noChangeArrowheads="1"/>
          </p:cNvSpPr>
          <p:nvPr/>
        </p:nvSpPr>
        <p:spPr bwMode="auto">
          <a:xfrm>
            <a:off x="195263" y="152400"/>
            <a:ext cx="2054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6-17</a:t>
            </a:r>
          </a:p>
        </p:txBody>
      </p:sp>
      <p:sp>
        <p:nvSpPr>
          <p:cNvPr id="43012" name="Text Box 3"/>
          <p:cNvSpPr txBox="1">
            <a:spLocks noChangeArrowheads="1"/>
          </p:cNvSpPr>
          <p:nvPr/>
        </p:nvSpPr>
        <p:spPr bwMode="auto">
          <a:xfrm>
            <a:off x="2497138" y="152400"/>
            <a:ext cx="2193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pitchFamily="18" charset="-120"/>
              </a:rPr>
              <a:t>Using a </a:t>
            </a:r>
            <a:r>
              <a:rPr lang="en-US" altLang="zh-TW" sz="2000" i="1">
                <a:ea typeface="新細明體" pitchFamily="18" charset="-120"/>
              </a:rPr>
              <a:t>break</a:t>
            </a:r>
            <a:r>
              <a:rPr lang="en-US" altLang="zh-TW" sz="2000">
                <a:ea typeface="新細明體" pitchFamily="18" charset="-120"/>
              </a:rPr>
              <a:t> Flag</a:t>
            </a:r>
          </a:p>
        </p:txBody>
      </p:sp>
      <p:pic>
        <p:nvPicPr>
          <p:cNvPr id="430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33400"/>
            <a:ext cx="8437563" cy="306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482D5FF-44B3-4FF9-B117-C244C00DC32F}" type="slidenum">
              <a:rPr lang="zh-TW" altLang="en-US" sz="1000">
                <a:latin typeface="Tahoma" panose="020B0604030504040204" pitchFamily="34" charset="0"/>
              </a:rPr>
              <a:pPr/>
              <a:t>41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4035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6" name="Rectangle 3"/>
          <p:cNvSpPr>
            <a:spLocks noChangeArrowheads="1"/>
          </p:cNvSpPr>
          <p:nvPr/>
        </p:nvSpPr>
        <p:spPr bwMode="auto">
          <a:xfrm>
            <a:off x="152400" y="5791200"/>
            <a:ext cx="439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FIGURE 6-21</a:t>
            </a:r>
            <a:r>
              <a:rPr lang="en-US" altLang="zh-TW" sz="2000">
                <a:ea typeface="新細明體" pitchFamily="18" charset="-120"/>
              </a:rPr>
              <a:t>  The </a:t>
            </a:r>
            <a:r>
              <a:rPr lang="en-US" altLang="zh-TW" sz="2000" i="1">
                <a:ea typeface="新細明體" pitchFamily="18" charset="-120"/>
              </a:rPr>
              <a:t>continue</a:t>
            </a:r>
            <a:r>
              <a:rPr lang="en-US" altLang="zh-TW" sz="2000">
                <a:ea typeface="新細明體" pitchFamily="18" charset="-120"/>
              </a:rPr>
              <a:t> Statement</a:t>
            </a:r>
          </a:p>
        </p:txBody>
      </p:sp>
      <p:grpSp>
        <p:nvGrpSpPr>
          <p:cNvPr id="44037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44039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0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1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4038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3" y="2220913"/>
            <a:ext cx="8656637" cy="194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828D22A-19B0-47B8-A2D3-57D58679AC2A}" type="slidenum">
              <a:rPr lang="zh-TW" altLang="en-US" sz="1000">
                <a:latin typeface="Tahoma" panose="020B0604030504040204" pitchFamily="34" charset="0"/>
              </a:rPr>
              <a:pPr/>
              <a:t>42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195263" y="152400"/>
            <a:ext cx="2054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6-18</a:t>
            </a:r>
          </a:p>
        </p:txBody>
      </p:sp>
      <p:sp>
        <p:nvSpPr>
          <p:cNvPr id="45060" name="Text Box 3"/>
          <p:cNvSpPr txBox="1">
            <a:spLocks noChangeArrowheads="1"/>
          </p:cNvSpPr>
          <p:nvPr/>
        </p:nvSpPr>
        <p:spPr bwMode="auto">
          <a:xfrm>
            <a:off x="2533650" y="152400"/>
            <a:ext cx="2122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 i="1">
                <a:ea typeface="新細明體" pitchFamily="18" charset="-120"/>
              </a:rPr>
              <a:t>continue</a:t>
            </a:r>
            <a:r>
              <a:rPr lang="en-US" altLang="zh-TW" sz="2000">
                <a:ea typeface="新細明體" pitchFamily="18" charset="-120"/>
              </a:rPr>
              <a:t> Example</a:t>
            </a:r>
          </a:p>
        </p:txBody>
      </p:sp>
      <p:pic>
        <p:nvPicPr>
          <p:cNvPr id="4506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585788"/>
            <a:ext cx="8464550" cy="573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369BDD4-B294-405F-B806-4898E9463CB6}" type="slidenum">
              <a:rPr lang="zh-TW" altLang="en-US" sz="1000">
                <a:latin typeface="Tahoma" panose="020B0604030504040204" pitchFamily="34" charset="0"/>
              </a:rPr>
              <a:pPr/>
              <a:t>43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6083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zh-TW" altLang="en-US">
              <a:ea typeface="新細明體" pitchFamily="18" charset="-120"/>
            </a:endParaRPr>
          </a:p>
        </p:txBody>
      </p:sp>
      <p:sp>
        <p:nvSpPr>
          <p:cNvPr id="46084" name="Text Box 3"/>
          <p:cNvSpPr txBox="1">
            <a:spLocks noChangeArrowheads="1"/>
          </p:cNvSpPr>
          <p:nvPr/>
        </p:nvSpPr>
        <p:spPr bwMode="auto">
          <a:xfrm>
            <a:off x="228600" y="304800"/>
            <a:ext cx="65293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4000">
                <a:latin typeface="Arial" panose="020B0604020202020204" pitchFamily="34" charset="0"/>
                <a:ea typeface="新細明體" pitchFamily="18" charset="-120"/>
              </a:rPr>
              <a:t>6-8   Looping Applications</a:t>
            </a:r>
          </a:p>
        </p:txBody>
      </p:sp>
      <p:sp>
        <p:nvSpPr>
          <p:cNvPr id="46085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 sz="1800">
              <a:ea typeface="新細明體" pitchFamily="18" charset="-120"/>
            </a:endParaRPr>
          </a:p>
        </p:txBody>
      </p:sp>
      <p:sp>
        <p:nvSpPr>
          <p:cNvPr id="770053" name="Rectangle 5"/>
          <p:cNvSpPr>
            <a:spLocks noChangeArrowheads="1"/>
          </p:cNvSpPr>
          <p:nvPr/>
        </p:nvSpPr>
        <p:spPr bwMode="auto">
          <a:xfrm>
            <a:off x="304800" y="1595438"/>
            <a:ext cx="8534400" cy="222726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TW" sz="2800" i="1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In this section, we examine four common applications for loops: summation, product, smallest and largest, and inquiries. Although the uses for loops are virtually endless, these problems illustrate many common applications.</a:t>
            </a:r>
          </a:p>
        </p:txBody>
      </p:sp>
      <p:sp>
        <p:nvSpPr>
          <p:cNvPr id="46087" name="Rectangle 6"/>
          <p:cNvSpPr>
            <a:spLocks noChangeArrowheads="1"/>
          </p:cNvSpPr>
          <p:nvPr/>
        </p:nvSpPr>
        <p:spPr bwMode="auto">
          <a:xfrm>
            <a:off x="304800" y="4438650"/>
            <a:ext cx="5715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>
                <a:solidFill>
                  <a:schemeClr val="hlink"/>
                </a:solidFill>
                <a:ea typeface="新細明體" pitchFamily="18" charset="-120"/>
              </a:rPr>
              <a:t>Summation</a:t>
            </a:r>
            <a:endParaRPr lang="fr-FR" altLang="zh-TW">
              <a:solidFill>
                <a:schemeClr val="hlink"/>
              </a:solidFill>
              <a:ea typeface="新細明體" pitchFamily="18" charset="-120"/>
            </a:endParaRPr>
          </a:p>
          <a:p>
            <a:pPr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fr-FR" altLang="zh-TW">
                <a:solidFill>
                  <a:schemeClr val="hlink"/>
                </a:solidFill>
                <a:ea typeface="新細明體" pitchFamily="18" charset="-120"/>
              </a:rPr>
              <a:t>Powers</a:t>
            </a:r>
          </a:p>
          <a:p>
            <a:pPr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>
                <a:solidFill>
                  <a:schemeClr val="hlink"/>
                </a:solidFill>
                <a:ea typeface="新細明體" pitchFamily="18" charset="-120"/>
              </a:rPr>
              <a:t>Smallest and Largest</a:t>
            </a:r>
          </a:p>
          <a:p>
            <a:pPr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>
                <a:solidFill>
                  <a:schemeClr val="hlink"/>
                </a:solidFill>
                <a:ea typeface="新細明體" pitchFamily="18" charset="-120"/>
              </a:rPr>
              <a:t>Inquiries</a:t>
            </a:r>
          </a:p>
        </p:txBody>
      </p:sp>
      <p:sp>
        <p:nvSpPr>
          <p:cNvPr id="770055" name="Text Box 7"/>
          <p:cNvSpPr txBox="1">
            <a:spLocks noChangeArrowheads="1"/>
          </p:cNvSpPr>
          <p:nvPr/>
        </p:nvSpPr>
        <p:spPr bwMode="auto">
          <a:xfrm>
            <a:off x="317500" y="3962400"/>
            <a:ext cx="4862513" cy="5191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2800" i="1" u="sng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Topics discussed in this section: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509FDC3-2206-4D33-A3D8-586CA873F116}" type="slidenum">
              <a:rPr lang="zh-TW" altLang="en-US" sz="1000">
                <a:latin typeface="Tahoma" panose="020B0604030504040204" pitchFamily="34" charset="0"/>
              </a:rPr>
              <a:pPr/>
              <a:t>44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7107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08" name="Rectangle 3"/>
          <p:cNvSpPr>
            <a:spLocks noChangeArrowheads="1"/>
          </p:cNvSpPr>
          <p:nvPr/>
        </p:nvSpPr>
        <p:spPr bwMode="auto">
          <a:xfrm>
            <a:off x="152400" y="5791200"/>
            <a:ext cx="5221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FIGURE 6-22</a:t>
            </a:r>
            <a:r>
              <a:rPr lang="en-US" altLang="zh-TW" sz="2000">
                <a:ea typeface="新細明體" pitchFamily="18" charset="-120"/>
              </a:rPr>
              <a:t>  Summation and Product Loops</a:t>
            </a:r>
          </a:p>
        </p:txBody>
      </p:sp>
      <p:grpSp>
        <p:nvGrpSpPr>
          <p:cNvPr id="47109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47111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12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13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711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93775"/>
            <a:ext cx="7248525" cy="436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A57516E-6063-401C-9A94-BF5454B65275}" type="slidenum">
              <a:rPr lang="zh-TW" altLang="en-US" sz="1000">
                <a:latin typeface="Tahoma" panose="020B0604030504040204" pitchFamily="34" charset="0"/>
              </a:rPr>
              <a:pPr/>
              <a:t>45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8131" name="Text Box 2"/>
          <p:cNvSpPr txBox="1">
            <a:spLocks noChangeArrowheads="1"/>
          </p:cNvSpPr>
          <p:nvPr/>
        </p:nvSpPr>
        <p:spPr bwMode="auto">
          <a:xfrm>
            <a:off x="195263" y="152400"/>
            <a:ext cx="2054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6-19</a:t>
            </a:r>
          </a:p>
        </p:txBody>
      </p:sp>
      <p:sp>
        <p:nvSpPr>
          <p:cNvPr id="48132" name="Text Box 3"/>
          <p:cNvSpPr txBox="1">
            <a:spLocks noChangeArrowheads="1"/>
          </p:cNvSpPr>
          <p:nvPr/>
        </p:nvSpPr>
        <p:spPr bwMode="auto">
          <a:xfrm>
            <a:off x="2308225" y="152400"/>
            <a:ext cx="2574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pitchFamily="18" charset="-120"/>
              </a:rPr>
              <a:t>Sum to EOF Function</a:t>
            </a:r>
          </a:p>
        </p:txBody>
      </p:sp>
      <p:pic>
        <p:nvPicPr>
          <p:cNvPr id="4813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14400"/>
            <a:ext cx="6308725" cy="371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4559300"/>
            <a:ext cx="6438900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8A04D10-5237-491F-9FC1-F6BB90B6408E}" type="slidenum">
              <a:rPr lang="zh-TW" altLang="en-US" sz="1000">
                <a:latin typeface="Tahoma" panose="020B0604030504040204" pitchFamily="34" charset="0"/>
              </a:rPr>
              <a:pPr/>
              <a:t>46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9155" name="Text Box 2"/>
          <p:cNvSpPr txBox="1">
            <a:spLocks noChangeArrowheads="1"/>
          </p:cNvSpPr>
          <p:nvPr/>
        </p:nvSpPr>
        <p:spPr bwMode="auto">
          <a:xfrm>
            <a:off x="195263" y="152400"/>
            <a:ext cx="2054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6-20</a:t>
            </a:r>
          </a:p>
        </p:txBody>
      </p:sp>
      <p:sp>
        <p:nvSpPr>
          <p:cNvPr id="49156" name="Text Box 3"/>
          <p:cNvSpPr txBox="1">
            <a:spLocks noChangeArrowheads="1"/>
          </p:cNvSpPr>
          <p:nvPr/>
        </p:nvSpPr>
        <p:spPr bwMode="auto">
          <a:xfrm>
            <a:off x="2589213" y="152400"/>
            <a:ext cx="20113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pitchFamily="18" charset="-120"/>
              </a:rPr>
              <a:t>Powers Function</a:t>
            </a:r>
          </a:p>
        </p:txBody>
      </p:sp>
      <p:pic>
        <p:nvPicPr>
          <p:cNvPr id="4915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09600"/>
            <a:ext cx="62769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0" y="4279900"/>
            <a:ext cx="630237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292FA8D-04BC-43D5-9B24-683A0A5AE839}" type="slidenum">
              <a:rPr lang="zh-TW" altLang="en-US" sz="1000">
                <a:latin typeface="Tahoma" panose="020B0604030504040204" pitchFamily="34" charset="0"/>
              </a:rPr>
              <a:pPr/>
              <a:t>47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50179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0" name="Rectangle 3"/>
          <p:cNvSpPr>
            <a:spLocks noChangeArrowheads="1"/>
          </p:cNvSpPr>
          <p:nvPr/>
        </p:nvSpPr>
        <p:spPr bwMode="auto">
          <a:xfrm>
            <a:off x="152400" y="5791200"/>
            <a:ext cx="4838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FIGURE 6-23</a:t>
            </a:r>
            <a:r>
              <a:rPr lang="en-US" altLang="zh-TW" sz="2000">
                <a:ea typeface="新細明體" pitchFamily="18" charset="-120"/>
              </a:rPr>
              <a:t>  Smallest and Largest Loops</a:t>
            </a:r>
          </a:p>
        </p:txBody>
      </p:sp>
      <p:grpSp>
        <p:nvGrpSpPr>
          <p:cNvPr id="50181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50183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4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5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0182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041400"/>
            <a:ext cx="7148513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1529117-A36D-4AA7-A59A-8062105DC40F}" type="slidenum">
              <a:rPr lang="zh-TW" altLang="en-US" sz="1000">
                <a:latin typeface="Tahoma" panose="020B0604030504040204" pitchFamily="34" charset="0"/>
              </a:rPr>
              <a:pPr/>
              <a:t>48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51203" name="Text Box 2"/>
          <p:cNvSpPr txBox="1">
            <a:spLocks noChangeArrowheads="1"/>
          </p:cNvSpPr>
          <p:nvPr/>
        </p:nvSpPr>
        <p:spPr bwMode="auto">
          <a:xfrm>
            <a:off x="195263" y="152400"/>
            <a:ext cx="2054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6-21</a:t>
            </a:r>
          </a:p>
        </p:txBody>
      </p:sp>
      <p:sp>
        <p:nvSpPr>
          <p:cNvPr id="51204" name="Text Box 3"/>
          <p:cNvSpPr txBox="1">
            <a:spLocks noChangeArrowheads="1"/>
          </p:cNvSpPr>
          <p:nvPr/>
        </p:nvSpPr>
        <p:spPr bwMode="auto">
          <a:xfrm>
            <a:off x="2262188" y="152400"/>
            <a:ext cx="2995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pitchFamily="18" charset="-120"/>
              </a:rPr>
              <a:t>Smallest to EOF Function</a:t>
            </a:r>
          </a:p>
        </p:txBody>
      </p:sp>
      <p:pic>
        <p:nvPicPr>
          <p:cNvPr id="5120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609600"/>
            <a:ext cx="6330950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" y="4559300"/>
            <a:ext cx="630555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BC28DF8-CA6A-4539-8F83-D68300AF9F7E}" type="slidenum">
              <a:rPr lang="zh-TW" altLang="en-US" sz="1000">
                <a:latin typeface="Tahoma" panose="020B0604030504040204" pitchFamily="34" charset="0"/>
              </a:rPr>
              <a:pPr/>
              <a:t>49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52227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28" name="Line 3"/>
          <p:cNvSpPr>
            <a:spLocks noChangeShapeType="1"/>
          </p:cNvSpPr>
          <p:nvPr/>
        </p:nvSpPr>
        <p:spPr bwMode="auto">
          <a:xfrm>
            <a:off x="439738" y="4724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29" name="Rectangle 4"/>
          <p:cNvSpPr>
            <a:spLocks noChangeArrowheads="1"/>
          </p:cNvSpPr>
          <p:nvPr/>
        </p:nvSpPr>
        <p:spPr bwMode="auto">
          <a:xfrm>
            <a:off x="476250" y="2759075"/>
            <a:ext cx="8077200" cy="19177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>
                <a:ea typeface="新細明體" pitchFamily="18" charset="-120"/>
              </a:rPr>
              <a:t>To find the largest, we need to initialize the smallest variable to a very small number, such as INT_MIN.</a:t>
            </a:r>
            <a:br>
              <a:rPr lang="en-US" altLang="zh-TW">
                <a:ea typeface="新細明體" pitchFamily="18" charset="-120"/>
              </a:rPr>
            </a:br>
            <a:endParaRPr lang="en-US" altLang="zh-TW">
              <a:ea typeface="新細明體" pitchFamily="18" charset="-120"/>
            </a:endParaRPr>
          </a:p>
          <a:p>
            <a:pPr algn="ctr"/>
            <a:r>
              <a:rPr lang="en-US" altLang="zh-TW">
                <a:ea typeface="新細明體" pitchFamily="18" charset="-120"/>
              </a:rPr>
              <a:t>To find the smallest, we need to initialize the result to a very large number, such as INT_MAX.</a:t>
            </a:r>
          </a:p>
        </p:txBody>
      </p:sp>
      <p:sp>
        <p:nvSpPr>
          <p:cNvPr id="778245" name="Text Box 5"/>
          <p:cNvSpPr txBox="1">
            <a:spLocks noChangeArrowheads="1"/>
          </p:cNvSpPr>
          <p:nvPr/>
        </p:nvSpPr>
        <p:spPr bwMode="auto">
          <a:xfrm>
            <a:off x="457200" y="2133600"/>
            <a:ext cx="874713" cy="5191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Note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3C47017-5355-4EEB-A64C-4723D46C9DB6}" type="slidenum">
              <a:rPr lang="zh-TW" altLang="en-US" sz="1000">
                <a:latin typeface="Tahoma" panose="020B0604030504040204" pitchFamily="34" charset="0"/>
              </a:rPr>
              <a:pPr/>
              <a:t>50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53251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2" name="Rectangle 3"/>
          <p:cNvSpPr>
            <a:spLocks noChangeArrowheads="1"/>
          </p:cNvSpPr>
          <p:nvPr/>
        </p:nvSpPr>
        <p:spPr bwMode="auto">
          <a:xfrm>
            <a:off x="152400" y="5791200"/>
            <a:ext cx="406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FIGURE 6-24</a:t>
            </a:r>
            <a:r>
              <a:rPr lang="en-US" altLang="zh-TW" sz="2000">
                <a:ea typeface="新細明體" pitchFamily="18" charset="-120"/>
              </a:rPr>
              <a:t>  </a:t>
            </a:r>
            <a:r>
              <a:rPr lang="en-US" altLang="zh-TW" sz="2000" i="1">
                <a:ea typeface="新細明體" pitchFamily="18" charset="-120"/>
              </a:rPr>
              <a:t>any</a:t>
            </a:r>
            <a:r>
              <a:rPr lang="en-US" altLang="zh-TW" sz="2000">
                <a:ea typeface="新細明體" pitchFamily="18" charset="-120"/>
              </a:rPr>
              <a:t> and </a:t>
            </a:r>
            <a:r>
              <a:rPr lang="en-US" altLang="zh-TW" sz="2000" i="1">
                <a:ea typeface="新細明體" pitchFamily="18" charset="-120"/>
              </a:rPr>
              <a:t>all</a:t>
            </a:r>
            <a:r>
              <a:rPr lang="en-US" altLang="zh-TW" sz="2000">
                <a:ea typeface="新細明體" pitchFamily="18" charset="-120"/>
              </a:rPr>
              <a:t> Inquiries</a:t>
            </a:r>
          </a:p>
        </p:txBody>
      </p:sp>
      <p:grpSp>
        <p:nvGrpSpPr>
          <p:cNvPr id="53253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53255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56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57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325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25" y="722313"/>
            <a:ext cx="8016875" cy="491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2113180-AD8E-4180-A6B5-9BDCF957C955}" type="slidenum">
              <a:rPr lang="zh-TW" altLang="en-US" sz="1000">
                <a:latin typeface="Tahoma" panose="020B0604030504040204" pitchFamily="34" charset="0"/>
              </a:rPr>
              <a:pPr/>
              <a:t>51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54275" name="Text Box 2"/>
          <p:cNvSpPr txBox="1">
            <a:spLocks noChangeArrowheads="1"/>
          </p:cNvSpPr>
          <p:nvPr/>
        </p:nvSpPr>
        <p:spPr bwMode="auto">
          <a:xfrm>
            <a:off x="195263" y="152400"/>
            <a:ext cx="2054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6-22</a:t>
            </a:r>
          </a:p>
        </p:txBody>
      </p:sp>
      <p:sp>
        <p:nvSpPr>
          <p:cNvPr id="54276" name="Text Box 3"/>
          <p:cNvSpPr txBox="1">
            <a:spLocks noChangeArrowheads="1"/>
          </p:cNvSpPr>
          <p:nvPr/>
        </p:nvSpPr>
        <p:spPr bwMode="auto">
          <a:xfrm>
            <a:off x="2368550" y="152400"/>
            <a:ext cx="33067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 i="1">
                <a:ea typeface="新細明體" pitchFamily="18" charset="-120"/>
              </a:rPr>
              <a:t>any</a:t>
            </a:r>
            <a:r>
              <a:rPr lang="en-US" altLang="zh-TW" sz="2000">
                <a:ea typeface="新細明體" pitchFamily="18" charset="-120"/>
              </a:rPr>
              <a:t>Positive to EOF Function</a:t>
            </a:r>
          </a:p>
        </p:txBody>
      </p:sp>
      <p:pic>
        <p:nvPicPr>
          <p:cNvPr id="542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00" y="685800"/>
            <a:ext cx="6330950" cy="390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572000"/>
            <a:ext cx="6305550" cy="151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8E37D72-5102-4C0B-9D96-98904038CCFB}" type="slidenum">
              <a:rPr lang="zh-TW" altLang="en-US" sz="1000">
                <a:latin typeface="Tahoma" panose="020B0604030504040204" pitchFamily="34" charset="0"/>
              </a:rPr>
              <a:pPr/>
              <a:t>52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55299" name="Text Box 2"/>
          <p:cNvSpPr txBox="1">
            <a:spLocks noChangeArrowheads="1"/>
          </p:cNvSpPr>
          <p:nvPr/>
        </p:nvSpPr>
        <p:spPr bwMode="auto">
          <a:xfrm>
            <a:off x="195263" y="152400"/>
            <a:ext cx="2054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pitchFamily="18" charset="-120"/>
              </a:rPr>
              <a:t>PROGRAM 6-23</a:t>
            </a:r>
          </a:p>
        </p:txBody>
      </p:sp>
      <p:sp>
        <p:nvSpPr>
          <p:cNvPr id="55300" name="Text Box 3"/>
          <p:cNvSpPr txBox="1">
            <a:spLocks noChangeArrowheads="1"/>
          </p:cNvSpPr>
          <p:nvPr/>
        </p:nvSpPr>
        <p:spPr bwMode="auto">
          <a:xfrm>
            <a:off x="2374900" y="152400"/>
            <a:ext cx="2438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 i="1">
                <a:ea typeface="新細明體" pitchFamily="18" charset="-120"/>
              </a:rPr>
              <a:t>All</a:t>
            </a:r>
            <a:r>
              <a:rPr lang="en-US" altLang="zh-TW" sz="2000">
                <a:ea typeface="新細明體" pitchFamily="18" charset="-120"/>
              </a:rPr>
              <a:t> Positive Function</a:t>
            </a:r>
          </a:p>
        </p:txBody>
      </p:sp>
      <p:pic>
        <p:nvPicPr>
          <p:cNvPr id="5530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762000"/>
            <a:ext cx="6308725" cy="371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2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495800"/>
            <a:ext cx="6311900" cy="175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4272</TotalTime>
  <Words>800</Words>
  <Application>Microsoft Office PowerPoint</Application>
  <PresentationFormat>On-screen Show (4:3)</PresentationFormat>
  <Paragraphs>183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McGrawHill-Italic</vt:lpstr>
      <vt:lpstr>新細明體</vt:lpstr>
      <vt:lpstr>Tahoma</vt:lpstr>
      <vt:lpstr>Times New Roman</vt:lpstr>
      <vt:lpstr>Wingdings</vt:lpstr>
      <vt:lpstr>Blends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Administrator</cp:lastModifiedBy>
  <cp:revision>218</cp:revision>
  <cp:lastPrinted>2012-04-06T10:59:25Z</cp:lastPrinted>
  <dcterms:created xsi:type="dcterms:W3CDTF">2000-01-15T04:50:39Z</dcterms:created>
  <dcterms:modified xsi:type="dcterms:W3CDTF">2024-11-18T19:37:41Z</dcterms:modified>
</cp:coreProperties>
</file>