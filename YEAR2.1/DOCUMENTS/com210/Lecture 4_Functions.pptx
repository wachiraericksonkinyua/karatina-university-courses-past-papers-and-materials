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72"/>
  </p:notesMasterIdLst>
  <p:sldIdLst>
    <p:sldId id="545" r:id="rId2"/>
    <p:sldId id="607" r:id="rId3"/>
    <p:sldId id="599" r:id="rId4"/>
    <p:sldId id="668" r:id="rId5"/>
    <p:sldId id="669" r:id="rId6"/>
    <p:sldId id="674" r:id="rId7"/>
    <p:sldId id="670" r:id="rId8"/>
    <p:sldId id="671" r:id="rId9"/>
    <p:sldId id="672" r:id="rId10"/>
    <p:sldId id="673" r:id="rId11"/>
    <p:sldId id="630" r:id="rId12"/>
    <p:sldId id="743" r:id="rId13"/>
    <p:sldId id="675" r:id="rId14"/>
    <p:sldId id="667" r:id="rId15"/>
    <p:sldId id="676" r:id="rId16"/>
    <p:sldId id="677" r:id="rId17"/>
    <p:sldId id="678" r:id="rId18"/>
    <p:sldId id="679" r:id="rId19"/>
    <p:sldId id="680" r:id="rId20"/>
    <p:sldId id="681" r:id="rId21"/>
    <p:sldId id="747" r:id="rId22"/>
    <p:sldId id="682" r:id="rId23"/>
    <p:sldId id="683" r:id="rId24"/>
    <p:sldId id="684" r:id="rId25"/>
    <p:sldId id="685" r:id="rId26"/>
    <p:sldId id="686" r:id="rId27"/>
    <p:sldId id="687" r:id="rId28"/>
    <p:sldId id="688" r:id="rId29"/>
    <p:sldId id="689" r:id="rId30"/>
    <p:sldId id="690" r:id="rId31"/>
    <p:sldId id="691" r:id="rId32"/>
    <p:sldId id="692" r:id="rId33"/>
    <p:sldId id="740" r:id="rId34"/>
    <p:sldId id="694" r:id="rId35"/>
    <p:sldId id="695" r:id="rId36"/>
    <p:sldId id="697" r:id="rId37"/>
    <p:sldId id="698" r:id="rId38"/>
    <p:sldId id="699" r:id="rId39"/>
    <p:sldId id="700" r:id="rId40"/>
    <p:sldId id="701" r:id="rId41"/>
    <p:sldId id="703" r:id="rId42"/>
    <p:sldId id="704" r:id="rId43"/>
    <p:sldId id="705" r:id="rId44"/>
    <p:sldId id="706" r:id="rId45"/>
    <p:sldId id="707" r:id="rId46"/>
    <p:sldId id="708" r:id="rId47"/>
    <p:sldId id="762" r:id="rId48"/>
    <p:sldId id="709" r:id="rId49"/>
    <p:sldId id="710" r:id="rId50"/>
    <p:sldId id="764" r:id="rId51"/>
    <p:sldId id="711" r:id="rId52"/>
    <p:sldId id="712" r:id="rId53"/>
    <p:sldId id="763" r:id="rId54"/>
    <p:sldId id="768" r:id="rId55"/>
    <p:sldId id="713" r:id="rId56"/>
    <p:sldId id="714" r:id="rId57"/>
    <p:sldId id="715" r:id="rId58"/>
    <p:sldId id="716" r:id="rId59"/>
    <p:sldId id="717" r:id="rId60"/>
    <p:sldId id="718" r:id="rId61"/>
    <p:sldId id="719" r:id="rId62"/>
    <p:sldId id="720" r:id="rId63"/>
    <p:sldId id="721" r:id="rId64"/>
    <p:sldId id="722" r:id="rId65"/>
    <p:sldId id="723" r:id="rId66"/>
    <p:sldId id="726" r:id="rId67"/>
    <p:sldId id="727" r:id="rId68"/>
    <p:sldId id="728" r:id="rId69"/>
    <p:sldId id="729" r:id="rId70"/>
    <p:sldId id="730" r:id="rId71"/>
  </p:sldIdLst>
  <p:sldSz cx="9144000" cy="6858000" type="screen4x3"/>
  <p:notesSz cx="6858000" cy="9144000"/>
  <p:defaultTextStyle>
    <a:defPPr>
      <a:defRPr lang="en-US"/>
    </a:defPPr>
    <a:lvl1pPr algn="r"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1pPr>
    <a:lvl2pPr marL="457200" algn="r"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2pPr>
    <a:lvl3pPr marL="914400" algn="r"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3pPr>
    <a:lvl4pPr marL="1371600" algn="r"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4pPr>
    <a:lvl5pPr marL="1828800" algn="r" rtl="0" eaLnBrk="0" fontAlgn="base" hangingPunct="0">
      <a:spcBef>
        <a:spcPct val="0"/>
      </a:spcBef>
      <a:spcAft>
        <a:spcPct val="0"/>
      </a:spcAft>
      <a:defRPr sz="24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4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4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4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4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949494"/>
    <a:srgbClr val="339966"/>
    <a:srgbClr val="FFFF66"/>
    <a:srgbClr val="D7EB15"/>
    <a:srgbClr val="33CC33"/>
    <a:srgbClr val="99FF33"/>
    <a:srgbClr val="FFFF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80" autoAdjust="0"/>
  </p:normalViewPr>
  <p:slideViewPr>
    <p:cSldViewPr>
      <p:cViewPr varScale="1">
        <p:scale>
          <a:sx n="89" d="100"/>
          <a:sy n="89" d="100"/>
        </p:scale>
        <p:origin x="1274" y="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64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vl1pPr>
          </a:lstStyle>
          <a:p>
            <a:pPr>
              <a:defRPr/>
            </a:pPr>
            <a:endParaRPr lang="en-US" altLang="zh-TW"/>
          </a:p>
        </p:txBody>
      </p:sp>
      <p:sp>
        <p:nvSpPr>
          <p:cNvPr id="44646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zh-TW"/>
          </a:p>
        </p:txBody>
      </p:sp>
      <p:sp>
        <p:nvSpPr>
          <p:cNvPr id="747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646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TW" noProof="0" smtClean="0"/>
              <a:t>Click to edit Master text styles</a:t>
            </a:r>
          </a:p>
          <a:p>
            <a:pPr lvl="1"/>
            <a:r>
              <a:rPr lang="en-US" altLang="zh-TW" noProof="0" smtClean="0"/>
              <a:t>Second level</a:t>
            </a:r>
          </a:p>
          <a:p>
            <a:pPr lvl="2"/>
            <a:r>
              <a:rPr lang="en-US" altLang="zh-TW" noProof="0" smtClean="0"/>
              <a:t>Third level</a:t>
            </a:r>
          </a:p>
          <a:p>
            <a:pPr lvl="3"/>
            <a:r>
              <a:rPr lang="en-US" altLang="zh-TW" noProof="0" smtClean="0"/>
              <a:t>Fourth level</a:t>
            </a:r>
          </a:p>
          <a:p>
            <a:pPr lvl="4"/>
            <a:r>
              <a:rPr lang="en-US" altLang="zh-TW" noProof="0" smtClean="0"/>
              <a:t>Fifth level</a:t>
            </a:r>
          </a:p>
        </p:txBody>
      </p:sp>
      <p:sp>
        <p:nvSpPr>
          <p:cNvPr id="44647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vl1pPr>
          </a:lstStyle>
          <a:p>
            <a:pPr>
              <a:defRPr/>
            </a:pPr>
            <a:endParaRPr lang="en-US" altLang="zh-TW"/>
          </a:p>
        </p:txBody>
      </p:sp>
      <p:sp>
        <p:nvSpPr>
          <p:cNvPr id="44647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fld id="{6549F617-67C7-4236-B113-036B7E1B5791}" type="slidenum">
              <a:rPr lang="en-US" altLang="zh-TW"/>
              <a:pPr/>
              <a:t>‹#›</a:t>
            </a:fld>
            <a:endParaRPr lang="en-US" altLang="zh-T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defRPr/>
              </a:pPr>
              <a:endParaRPr lang="zh-TW" altLang="en-US" smtClean="0">
                <a:ea typeface="新細明體" charset="-120"/>
              </a:endParaRPr>
            </a:p>
          </p:txBody>
        </p:sp>
      </p:grpSp>
      <p:sp>
        <p:nvSpPr>
          <p:cNvPr id="14" name="Text Box 17"/>
          <p:cNvSpPr txBox="1">
            <a:spLocks noChangeArrowheads="1"/>
          </p:cNvSpPr>
          <p:nvPr userDrawn="1"/>
        </p:nvSpPr>
        <p:spPr bwMode="auto">
          <a:xfrm>
            <a:off x="0" y="6553200"/>
            <a:ext cx="2209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algn="l" eaLnBrk="1" hangingPunct="1">
              <a:spcBef>
                <a:spcPct val="50000"/>
              </a:spcBef>
              <a:defRPr/>
            </a:pPr>
            <a:r>
              <a:rPr lang="en-US" altLang="en-US" sz="1400" b="0" smtClean="0">
                <a:latin typeface="McGrawHill-Italic" pitchFamily="2" charset="0"/>
              </a:rPr>
              <a:t>McGraw-Hill</a:t>
            </a:r>
            <a:endParaRPr lang="en-US" altLang="en-US" b="0" smtClean="0"/>
          </a:p>
        </p:txBody>
      </p:sp>
      <p:sp>
        <p:nvSpPr>
          <p:cNvPr id="15" name="Text Box 18"/>
          <p:cNvSpPr txBox="1">
            <a:spLocks noChangeArrowheads="1"/>
          </p:cNvSpPr>
          <p:nvPr userDrawn="1"/>
        </p:nvSpPr>
        <p:spPr bwMode="auto">
          <a:xfrm>
            <a:off x="4572000" y="6553200"/>
            <a:ext cx="457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eaLnBrk="1" hangingPunct="1">
              <a:spcBef>
                <a:spcPct val="50000"/>
              </a:spcBef>
              <a:buFontTx/>
              <a:buChar char="©"/>
              <a:defRPr/>
            </a:pPr>
            <a:r>
              <a:rPr lang="en-US" altLang="en-US" sz="1400" b="0" smtClean="0">
                <a:latin typeface="McGrawHill-Italic" pitchFamily="2" charset="0"/>
              </a:rPr>
              <a:t>The McGraw-Hill Companies, Inc., 2000</a:t>
            </a:r>
            <a:endParaRPr lang="en-US" altLang="en-US" b="0" smtClean="0"/>
          </a:p>
        </p:txBody>
      </p:sp>
      <p:sp>
        <p:nvSpPr>
          <p:cNvPr id="210956" name="Rectangle 12"/>
          <p:cNvSpPr>
            <a:spLocks noGrp="1" noChangeArrowheads="1"/>
          </p:cNvSpPr>
          <p:nvPr>
            <p:ph type="ctrTitle"/>
          </p:nvPr>
        </p:nvSpPr>
        <p:spPr bwMode="auto">
          <a:xfrm>
            <a:off x="990600" y="1676400"/>
            <a:ext cx="7772400" cy="1462088"/>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defRPr/>
            </a:lvl1pPr>
          </a:lstStyle>
          <a:p>
            <a:r>
              <a:rPr lang="en-US" altLang="zh-TW"/>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en-US" altLang="zh-TW"/>
              <a:t>Click to edit Master subtitle style</a:t>
            </a:r>
          </a:p>
        </p:txBody>
      </p:sp>
      <p:sp>
        <p:nvSpPr>
          <p:cNvPr id="16" name="Rectangle 14"/>
          <p:cNvSpPr>
            <a:spLocks noGrp="1" noChangeArrowheads="1"/>
          </p:cNvSpPr>
          <p:nvPr>
            <p:ph type="dt" sz="half" idx="10"/>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l" eaLnBrk="1" hangingPunct="1">
              <a:defRPr sz="1400" b="0">
                <a:solidFill>
                  <a:schemeClr val="bg2"/>
                </a:solidFill>
                <a:latin typeface="+mn-lt"/>
                <a:ea typeface="新細明體" charset="-120"/>
              </a:defRPr>
            </a:lvl1pPr>
          </a:lstStyle>
          <a:p>
            <a:pPr>
              <a:defRPr/>
            </a:pPr>
            <a:endParaRPr lang="en-US" altLang="zh-TW"/>
          </a:p>
        </p:txBody>
      </p:sp>
      <p:sp>
        <p:nvSpPr>
          <p:cNvPr id="17" name="Rectangle 15"/>
          <p:cNvSpPr>
            <a:spLocks noGrp="1" noChangeArrowheads="1"/>
          </p:cNvSpPr>
          <p:nvPr>
            <p:ph type="ftr" sz="quarter" idx="11"/>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新細明體" charset="-120"/>
              </a:defRPr>
            </a:lvl1pPr>
          </a:lstStyle>
          <a:p>
            <a:pPr>
              <a:defRPr/>
            </a:pPr>
            <a:r>
              <a:rPr lang="en-US" altLang="zh-TW"/>
              <a:t>Computer Science: A Structured Programming Approach Using C</a:t>
            </a:r>
          </a:p>
        </p:txBody>
      </p:sp>
      <p:sp>
        <p:nvSpPr>
          <p:cNvPr id="18" name="Rectangle 16"/>
          <p:cNvSpPr>
            <a:spLocks noGrp="1" noChangeArrowheads="1"/>
          </p:cNvSpPr>
          <p:nvPr>
            <p:ph type="sldNum" sz="quarter" idx="12"/>
          </p:nvPr>
        </p:nvSpPr>
        <p:spPr>
          <a:xfrm>
            <a:off x="6858000" y="6248400"/>
            <a:ext cx="1905000" cy="457200"/>
          </a:xfrm>
        </p:spPr>
        <p:txBody>
          <a:bodyPr/>
          <a:lstStyle>
            <a:lvl1pPr>
              <a:defRPr sz="1400" b="0">
                <a:solidFill>
                  <a:schemeClr val="bg2"/>
                </a:solidFill>
              </a:defRPr>
            </a:lvl1pPr>
          </a:lstStyle>
          <a:p>
            <a:fld id="{49CBF41C-5E52-4BDC-A7A2-2EDF1F27082E}" type="slidenum">
              <a:rPr lang="en-US" altLang="zh-TW"/>
              <a:pPr/>
              <a:t>‹#›</a:t>
            </a:fld>
            <a:endParaRPr lang="en-US" altLang="zh-TW"/>
          </a:p>
        </p:txBody>
      </p:sp>
    </p:spTree>
    <p:extLst>
      <p:ext uri="{BB962C8B-B14F-4D97-AF65-F5344CB8AC3E}">
        <p14:creationId xmlns:p14="http://schemas.microsoft.com/office/powerpoint/2010/main" val="2237851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457200" y="1600200"/>
            <a:ext cx="8229600" cy="4525963"/>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3"/>
          <p:cNvSpPr>
            <a:spLocks noGrp="1" noChangeArrowheads="1"/>
          </p:cNvSpPr>
          <p:nvPr>
            <p:ph type="sldNum" sz="quarter" idx="10"/>
          </p:nvPr>
        </p:nvSpPr>
        <p:spPr>
          <a:ln/>
        </p:spPr>
        <p:txBody>
          <a:bodyPr/>
          <a:lstStyle>
            <a:lvl1pPr>
              <a:defRPr/>
            </a:lvl1pPr>
          </a:lstStyle>
          <a:p>
            <a:fld id="{FADD536D-118F-44C8-8FD3-09C97E16821A}" type="slidenum">
              <a:rPr lang="zh-TW" altLang="en-US"/>
              <a:pPr/>
              <a:t>‹#›</a:t>
            </a:fld>
            <a:endParaRPr lang="en-US" altLang="zh-TW"/>
          </a:p>
        </p:txBody>
      </p:sp>
    </p:spTree>
    <p:extLst>
      <p:ext uri="{BB962C8B-B14F-4D97-AF65-F5344CB8AC3E}">
        <p14:creationId xmlns:p14="http://schemas.microsoft.com/office/powerpoint/2010/main" val="4253047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Rectangle 13"/>
          <p:cNvSpPr>
            <a:spLocks noGrp="1" noChangeArrowheads="1"/>
          </p:cNvSpPr>
          <p:nvPr>
            <p:ph type="sldNum" sz="quarter" idx="10"/>
          </p:nvPr>
        </p:nvSpPr>
        <p:spPr>
          <a:ln/>
        </p:spPr>
        <p:txBody>
          <a:bodyPr/>
          <a:lstStyle>
            <a:lvl1pPr>
              <a:defRPr/>
            </a:lvl1pPr>
          </a:lstStyle>
          <a:p>
            <a:fld id="{F688FBA7-9DA8-4324-BA29-F934009292CC}" type="slidenum">
              <a:rPr lang="zh-TW" altLang="en-US"/>
              <a:pPr/>
              <a:t>‹#›</a:t>
            </a:fld>
            <a:endParaRPr lang="en-US" altLang="zh-TW"/>
          </a:p>
        </p:txBody>
      </p:sp>
    </p:spTree>
    <p:extLst>
      <p:ext uri="{BB962C8B-B14F-4D97-AF65-F5344CB8AC3E}">
        <p14:creationId xmlns:p14="http://schemas.microsoft.com/office/powerpoint/2010/main" val="2851225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13"/>
          <p:cNvSpPr>
            <a:spLocks noGrp="1" noChangeArrowheads="1"/>
          </p:cNvSpPr>
          <p:nvPr>
            <p:ph type="sldNum" sz="quarter" idx="10"/>
          </p:nvPr>
        </p:nvSpPr>
        <p:spPr>
          <a:ln/>
        </p:spPr>
        <p:txBody>
          <a:bodyPr/>
          <a:lstStyle>
            <a:lvl1pPr>
              <a:defRPr/>
            </a:lvl1pPr>
          </a:lstStyle>
          <a:p>
            <a:fld id="{94274F5B-4AB6-4EB5-8F5D-662A1CA94B3A}" type="slidenum">
              <a:rPr lang="zh-TW" altLang="en-US"/>
              <a:pPr/>
              <a:t>‹#›</a:t>
            </a:fld>
            <a:endParaRPr lang="en-US" altLang="zh-TW"/>
          </a:p>
        </p:txBody>
      </p:sp>
    </p:spTree>
    <p:extLst>
      <p:ext uri="{BB962C8B-B14F-4D97-AF65-F5344CB8AC3E}">
        <p14:creationId xmlns:p14="http://schemas.microsoft.com/office/powerpoint/2010/main" val="4287974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Rectangle 13"/>
          <p:cNvSpPr>
            <a:spLocks noGrp="1" noChangeArrowheads="1"/>
          </p:cNvSpPr>
          <p:nvPr>
            <p:ph type="sldNum" sz="quarter" idx="10"/>
          </p:nvPr>
        </p:nvSpPr>
        <p:spPr>
          <a:ln/>
        </p:spPr>
        <p:txBody>
          <a:bodyPr/>
          <a:lstStyle>
            <a:lvl1pPr>
              <a:defRPr/>
            </a:lvl1pPr>
          </a:lstStyle>
          <a:p>
            <a:fld id="{1C0D259D-8B50-4280-A9EE-38A546A40106}" type="slidenum">
              <a:rPr lang="zh-TW" altLang="en-US"/>
              <a:pPr/>
              <a:t>‹#›</a:t>
            </a:fld>
            <a:endParaRPr lang="en-US" altLang="zh-TW"/>
          </a:p>
        </p:txBody>
      </p:sp>
    </p:spTree>
    <p:extLst>
      <p:ext uri="{BB962C8B-B14F-4D97-AF65-F5344CB8AC3E}">
        <p14:creationId xmlns:p14="http://schemas.microsoft.com/office/powerpoint/2010/main" val="1543521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Rectangle 13"/>
          <p:cNvSpPr>
            <a:spLocks noGrp="1" noChangeArrowheads="1"/>
          </p:cNvSpPr>
          <p:nvPr>
            <p:ph type="sldNum" sz="quarter" idx="10"/>
          </p:nvPr>
        </p:nvSpPr>
        <p:spPr>
          <a:ln/>
        </p:spPr>
        <p:txBody>
          <a:bodyPr/>
          <a:lstStyle>
            <a:lvl1pPr>
              <a:defRPr/>
            </a:lvl1pPr>
          </a:lstStyle>
          <a:p>
            <a:fld id="{A6D51220-A80E-41E7-83EB-2139832A1271}" type="slidenum">
              <a:rPr lang="zh-TW" altLang="en-US"/>
              <a:pPr/>
              <a:t>‹#›</a:t>
            </a:fld>
            <a:endParaRPr lang="en-US" altLang="zh-TW"/>
          </a:p>
        </p:txBody>
      </p:sp>
    </p:spTree>
    <p:extLst>
      <p:ext uri="{BB962C8B-B14F-4D97-AF65-F5344CB8AC3E}">
        <p14:creationId xmlns:p14="http://schemas.microsoft.com/office/powerpoint/2010/main" val="3223682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a:ln/>
        </p:spPr>
        <p:txBody>
          <a:bodyPr/>
          <a:lstStyle>
            <a:lvl1pPr>
              <a:defRPr/>
            </a:lvl1pPr>
          </a:lstStyle>
          <a:p>
            <a:fld id="{242A3C21-7F4C-447D-BFDB-555F2D4D8EA5}" type="slidenum">
              <a:rPr lang="zh-TW" altLang="en-US"/>
              <a:pPr/>
              <a:t>‹#›</a:t>
            </a:fld>
            <a:endParaRPr lang="en-US" altLang="zh-TW"/>
          </a:p>
        </p:txBody>
      </p:sp>
    </p:spTree>
    <p:extLst>
      <p:ext uri="{BB962C8B-B14F-4D97-AF65-F5344CB8AC3E}">
        <p14:creationId xmlns:p14="http://schemas.microsoft.com/office/powerpoint/2010/main" val="3095641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3"/>
          <p:cNvSpPr>
            <a:spLocks noGrp="1" noChangeArrowheads="1"/>
          </p:cNvSpPr>
          <p:nvPr>
            <p:ph type="sldNum" sz="quarter" idx="10"/>
          </p:nvPr>
        </p:nvSpPr>
        <p:spPr>
          <a:ln/>
        </p:spPr>
        <p:txBody>
          <a:bodyPr/>
          <a:lstStyle>
            <a:lvl1pPr>
              <a:defRPr/>
            </a:lvl1pPr>
          </a:lstStyle>
          <a:p>
            <a:fld id="{FDFAE81C-DDA3-45ED-82AD-40953542D24D}" type="slidenum">
              <a:rPr lang="zh-TW" altLang="en-US"/>
              <a:pPr/>
              <a:t>‹#›</a:t>
            </a:fld>
            <a:endParaRPr lang="en-US" altLang="zh-TW"/>
          </a:p>
        </p:txBody>
      </p:sp>
    </p:spTree>
    <p:extLst>
      <p:ext uri="{BB962C8B-B14F-4D97-AF65-F5344CB8AC3E}">
        <p14:creationId xmlns:p14="http://schemas.microsoft.com/office/powerpoint/2010/main" val="4290011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Rectangle 13"/>
          <p:cNvSpPr>
            <a:spLocks noGrp="1" noChangeArrowheads="1"/>
          </p:cNvSpPr>
          <p:nvPr>
            <p:ph type="sldNum" sz="quarter" idx="10"/>
          </p:nvPr>
        </p:nvSpPr>
        <p:spPr>
          <a:ln/>
        </p:spPr>
        <p:txBody>
          <a:bodyPr/>
          <a:lstStyle>
            <a:lvl1pPr>
              <a:defRPr/>
            </a:lvl1pPr>
          </a:lstStyle>
          <a:p>
            <a:fld id="{F22F7514-4B64-42A8-A8E6-33CD73AFE1F8}" type="slidenum">
              <a:rPr lang="zh-TW" altLang="en-US"/>
              <a:pPr/>
              <a:t>‹#›</a:t>
            </a:fld>
            <a:endParaRPr lang="en-US" altLang="zh-TW"/>
          </a:p>
        </p:txBody>
      </p:sp>
    </p:spTree>
    <p:extLst>
      <p:ext uri="{BB962C8B-B14F-4D97-AF65-F5344CB8AC3E}">
        <p14:creationId xmlns:p14="http://schemas.microsoft.com/office/powerpoint/2010/main" val="2695773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1600200"/>
            <a:ext cx="8229600"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3"/>
          <p:cNvSpPr>
            <a:spLocks noGrp="1" noChangeArrowheads="1"/>
          </p:cNvSpPr>
          <p:nvPr>
            <p:ph type="sldNum" sz="quarter" idx="10"/>
          </p:nvPr>
        </p:nvSpPr>
        <p:spPr>
          <a:ln/>
        </p:spPr>
        <p:txBody>
          <a:bodyPr/>
          <a:lstStyle>
            <a:lvl1pPr>
              <a:defRPr/>
            </a:lvl1pPr>
          </a:lstStyle>
          <a:p>
            <a:fld id="{6EFDD6E2-66F7-4536-BC9D-3266C0FFBC3C}" type="slidenum">
              <a:rPr lang="zh-TW" altLang="en-US"/>
              <a:pPr/>
              <a:t>‹#›</a:t>
            </a:fld>
            <a:endParaRPr lang="en-US" altLang="zh-TW"/>
          </a:p>
        </p:txBody>
      </p:sp>
    </p:spTree>
    <p:extLst>
      <p:ext uri="{BB962C8B-B14F-4D97-AF65-F5344CB8AC3E}">
        <p14:creationId xmlns:p14="http://schemas.microsoft.com/office/powerpoint/2010/main" val="2852380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Rectangle 13"/>
          <p:cNvSpPr>
            <a:spLocks noGrp="1" noChangeArrowheads="1"/>
          </p:cNvSpPr>
          <p:nvPr>
            <p:ph type="sldNum" sz="quarter" idx="10"/>
          </p:nvPr>
        </p:nvSpPr>
        <p:spPr>
          <a:ln/>
        </p:spPr>
        <p:txBody>
          <a:bodyPr/>
          <a:lstStyle>
            <a:lvl1pPr>
              <a:defRPr/>
            </a:lvl1pPr>
          </a:lstStyle>
          <a:p>
            <a:fld id="{664F907B-AA88-42AF-A2BA-EAD3930E3318}" type="slidenum">
              <a:rPr lang="zh-TW" altLang="en-US"/>
              <a:pPr/>
              <a:t>‹#›</a:t>
            </a:fld>
            <a:endParaRPr lang="en-US" altLang="zh-TW"/>
          </a:p>
        </p:txBody>
      </p:sp>
    </p:spTree>
    <p:extLst>
      <p:ext uri="{BB962C8B-B14F-4D97-AF65-F5344CB8AC3E}">
        <p14:creationId xmlns:p14="http://schemas.microsoft.com/office/powerpoint/2010/main" val="4202850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3"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000">
                <a:latin typeface="Tahoma" panose="020B0604030504040204" pitchFamily="34" charset="0"/>
                <a:ea typeface="新細明體" charset="-120"/>
              </a:defRPr>
            </a:lvl1pPr>
          </a:lstStyle>
          <a:p>
            <a:fld id="{18013FC1-9D4D-4378-8BC5-4A1F68061803}" type="slidenum">
              <a:rPr lang="zh-TW" altLang="en-US"/>
              <a:pPr/>
              <a:t>‹#›</a:t>
            </a:fld>
            <a:endParaRPr lang="en-US" altLang="zh-TW"/>
          </a:p>
        </p:txBody>
      </p:sp>
      <p:sp>
        <p:nvSpPr>
          <p:cNvPr id="1027" name="Text Box 15"/>
          <p:cNvSpPr txBox="1">
            <a:spLocks noChangeArrowheads="1"/>
          </p:cNvSpPr>
          <p:nvPr userDrawn="1"/>
        </p:nvSpPr>
        <p:spPr bwMode="auto">
          <a:xfrm>
            <a:off x="4572000" y="65532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itchFamily="18" charset="0"/>
              </a:defRPr>
            </a:lvl1pPr>
            <a:lvl2pPr marL="742950" indent="-285750">
              <a:defRPr sz="2400" b="1">
                <a:solidFill>
                  <a:schemeClr val="tx1"/>
                </a:solidFill>
                <a:latin typeface="Times New Roman" pitchFamily="18" charset="0"/>
              </a:defRPr>
            </a:lvl2pPr>
            <a:lvl3pPr marL="1143000" indent="-228600">
              <a:defRPr sz="2400" b="1">
                <a:solidFill>
                  <a:schemeClr val="tx1"/>
                </a:solidFill>
                <a:latin typeface="Times New Roman" pitchFamily="18" charset="0"/>
              </a:defRPr>
            </a:lvl3pPr>
            <a:lvl4pPr marL="1600200" indent="-228600">
              <a:defRPr sz="2400" b="1">
                <a:solidFill>
                  <a:schemeClr val="tx1"/>
                </a:solidFill>
                <a:latin typeface="Times New Roman" pitchFamily="18" charset="0"/>
              </a:defRPr>
            </a:lvl4pPr>
            <a:lvl5pPr marL="2057400" indent="-228600">
              <a:defRPr sz="2400" b="1">
                <a:solidFill>
                  <a:schemeClr val="tx1"/>
                </a:solidFill>
                <a:latin typeface="Times New Roman" pitchFamily="18" charset="0"/>
              </a:defRPr>
            </a:lvl5pPr>
            <a:lvl6pPr marL="2514600" indent="-228600" algn="r" eaLnBrk="0" fontAlgn="base" hangingPunct="0">
              <a:spcBef>
                <a:spcPct val="0"/>
              </a:spcBef>
              <a:spcAft>
                <a:spcPct val="0"/>
              </a:spcAft>
              <a:defRPr sz="2400" b="1">
                <a:solidFill>
                  <a:schemeClr val="tx1"/>
                </a:solidFill>
                <a:latin typeface="Times New Roman" pitchFamily="18" charset="0"/>
              </a:defRPr>
            </a:lvl6pPr>
            <a:lvl7pPr marL="2971800" indent="-228600" algn="r" eaLnBrk="0" fontAlgn="base" hangingPunct="0">
              <a:spcBef>
                <a:spcPct val="0"/>
              </a:spcBef>
              <a:spcAft>
                <a:spcPct val="0"/>
              </a:spcAft>
              <a:defRPr sz="2400" b="1">
                <a:solidFill>
                  <a:schemeClr val="tx1"/>
                </a:solidFill>
                <a:latin typeface="Times New Roman" pitchFamily="18" charset="0"/>
              </a:defRPr>
            </a:lvl7pPr>
            <a:lvl8pPr marL="3429000" indent="-228600" algn="r" eaLnBrk="0" fontAlgn="base" hangingPunct="0">
              <a:spcBef>
                <a:spcPct val="0"/>
              </a:spcBef>
              <a:spcAft>
                <a:spcPct val="0"/>
              </a:spcAft>
              <a:defRPr sz="2400" b="1">
                <a:solidFill>
                  <a:schemeClr val="tx1"/>
                </a:solidFill>
                <a:latin typeface="Times New Roman" pitchFamily="18" charset="0"/>
              </a:defRPr>
            </a:lvl8pPr>
            <a:lvl9pPr marL="3886200" indent="-228600" algn="r" eaLnBrk="0" fontAlgn="base" hangingPunct="0">
              <a:spcBef>
                <a:spcPct val="0"/>
              </a:spcBef>
              <a:spcAft>
                <a:spcPct val="0"/>
              </a:spcAft>
              <a:defRPr sz="2400" b="1">
                <a:solidFill>
                  <a:schemeClr val="tx1"/>
                </a:solidFill>
                <a:latin typeface="Times New Roman" pitchFamily="18" charset="0"/>
              </a:defRPr>
            </a:lvl9pPr>
          </a:lstStyle>
          <a:p>
            <a:pPr eaLnBrk="1" hangingPunct="1">
              <a:spcBef>
                <a:spcPct val="50000"/>
              </a:spcBef>
              <a:buFontTx/>
              <a:buChar char="©"/>
              <a:defRPr/>
            </a:pPr>
            <a:endParaRPr lang="en-US" altLang="en-US" b="0" smtClean="0"/>
          </a:p>
        </p:txBody>
      </p:sp>
    </p:spTree>
  </p:cSld>
  <p:clrMap bg1="lt1" tx1="dk1" bg2="lt2" tx2="dk2" accent1="accent1" accent2="accent2" accent3="accent3" accent4="accent4" accent5="accent5" accent6="accent6" hlink="hlink" folHlink="folHlink"/>
  <p:sldLayoutIdLst>
    <p:sldLayoutId id="2147483732"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2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wmf"/></Relationships>
</file>

<file path=ppt/slides/_rels/slide29.x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wmf"/><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wmf"/><Relationship Id="rId5" Type="http://schemas.openxmlformats.org/officeDocument/2006/relationships/image" Target="../media/image34.wmf"/><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wmf"/><Relationship Id="rId7" Type="http://schemas.openxmlformats.org/officeDocument/2006/relationships/image" Target="../media/image43.png"/><Relationship Id="rId2" Type="http://schemas.openxmlformats.org/officeDocument/2006/relationships/image" Target="../media/image38.wmf"/><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slideLayout" Target="../slideLayouts/slideLayout7.xml"/><Relationship Id="rId6" Type="http://schemas.openxmlformats.org/officeDocument/2006/relationships/image" Target="../media/image50.wmf"/><Relationship Id="rId5" Type="http://schemas.openxmlformats.org/officeDocument/2006/relationships/image" Target="../media/image49.png"/><Relationship Id="rId4" Type="http://schemas.openxmlformats.org/officeDocument/2006/relationships/image" Target="../media/image48.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slideLayout" Target="../slideLayouts/slideLayout7.xml"/><Relationship Id="rId4" Type="http://schemas.openxmlformats.org/officeDocument/2006/relationships/image" Target="../media/image65.wmf"/></Relationships>
</file>

<file path=ppt/slides/_rels/slide47.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w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wmf"/><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53.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7.w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wmf"/><Relationship Id="rId1" Type="http://schemas.openxmlformats.org/officeDocument/2006/relationships/slideLayout" Target="../slideLayouts/slideLayout7.xml"/><Relationship Id="rId4" Type="http://schemas.openxmlformats.org/officeDocument/2006/relationships/image" Target="../media/image82.wmf"/></Relationships>
</file>

<file path=ppt/slides/_rels/slide59.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60.x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wmf"/><Relationship Id="rId1" Type="http://schemas.openxmlformats.org/officeDocument/2006/relationships/slideLayout" Target="../slideLayouts/slideLayout7.xml"/><Relationship Id="rId4" Type="http://schemas.openxmlformats.org/officeDocument/2006/relationships/image" Target="../media/image89.wmf"/></Relationships>
</file>

<file path=ppt/slides/_rels/slide62.x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96.wmf"/></Relationships>
</file>

<file path=ppt/slides/_rels/slide69.xml.rels><?xml version="1.0" encoding="UTF-8" standalone="yes"?>
<Relationships xmlns="http://schemas.openxmlformats.org/package/2006/relationships"><Relationship Id="rId3" Type="http://schemas.openxmlformats.org/officeDocument/2006/relationships/image" Target="../media/image99.wmf"/><Relationship Id="rId7" Type="http://schemas.openxmlformats.org/officeDocument/2006/relationships/image" Target="../media/image103.pn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wmf"/><Relationship Id="rId5" Type="http://schemas.openxmlformats.org/officeDocument/2006/relationships/image" Target="../media/image101.png"/><Relationship Id="rId4" Type="http://schemas.openxmlformats.org/officeDocument/2006/relationships/image" Target="../media/image100.wmf"/></Relationships>
</file>

<file path=ppt/slides/_rels/slide70.xml.rels><?xml version="1.0" encoding="UTF-8" standalone="yes"?>
<Relationships xmlns="http://schemas.openxmlformats.org/package/2006/relationships"><Relationship Id="rId3" Type="http://schemas.openxmlformats.org/officeDocument/2006/relationships/image" Target="../media/image105.wmf"/><Relationship Id="rId7" Type="http://schemas.openxmlformats.org/officeDocument/2006/relationships/image" Target="../media/image109.png"/><Relationship Id="rId2" Type="http://schemas.openxmlformats.org/officeDocument/2006/relationships/image" Target="../media/image104.wmf"/><Relationship Id="rId1" Type="http://schemas.openxmlformats.org/officeDocument/2006/relationships/slideLayout" Target="../slideLayouts/slideLayout7.xml"/><Relationship Id="rId6" Type="http://schemas.openxmlformats.org/officeDocument/2006/relationships/image" Target="../media/image108.png"/><Relationship Id="rId5" Type="http://schemas.openxmlformats.org/officeDocument/2006/relationships/image" Target="../media/image107.wmf"/><Relationship Id="rId4" Type="http://schemas.openxmlformats.org/officeDocument/2006/relationships/image" Target="../media/image10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216DF8A7-66DB-4A44-91FB-CA73A6186C08}" type="slidenum">
              <a:rPr lang="zh-TW" altLang="en-US" sz="1000">
                <a:latin typeface="Tahoma" panose="020B0604030504040204" pitchFamily="34" charset="0"/>
              </a:rPr>
              <a:pPr/>
              <a:t>1</a:t>
            </a:fld>
            <a:endParaRPr lang="en-US" altLang="zh-TW" sz="1000">
              <a:latin typeface="Tahoma" panose="020B0604030504040204" pitchFamily="34" charset="0"/>
            </a:endParaRPr>
          </a:p>
        </p:txBody>
      </p:sp>
      <p:sp>
        <p:nvSpPr>
          <p:cNvPr id="3075" name="Line 2"/>
          <p:cNvSpPr>
            <a:spLocks noChangeShapeType="1"/>
          </p:cNvSpPr>
          <p:nvPr/>
        </p:nvSpPr>
        <p:spPr bwMode="auto">
          <a:xfrm>
            <a:off x="228600" y="2514600"/>
            <a:ext cx="8610600" cy="0"/>
          </a:xfrm>
          <a:prstGeom prst="line">
            <a:avLst/>
          </a:prstGeom>
          <a:noFill/>
          <a:ln w="127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6" name="Line 3"/>
          <p:cNvSpPr>
            <a:spLocks noChangeShapeType="1"/>
          </p:cNvSpPr>
          <p:nvPr/>
        </p:nvSpPr>
        <p:spPr bwMode="auto">
          <a:xfrm>
            <a:off x="266700" y="304800"/>
            <a:ext cx="86106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77" name="Rectangle 4"/>
          <p:cNvSpPr>
            <a:spLocks noChangeArrowheads="1"/>
          </p:cNvSpPr>
          <p:nvPr/>
        </p:nvSpPr>
        <p:spPr bwMode="auto">
          <a:xfrm>
            <a:off x="973138" y="457200"/>
            <a:ext cx="44450" cy="84772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78" name="Rectangle 5"/>
          <p:cNvSpPr>
            <a:spLocks noChangeArrowheads="1"/>
          </p:cNvSpPr>
          <p:nvPr/>
        </p:nvSpPr>
        <p:spPr bwMode="auto">
          <a:xfrm>
            <a:off x="873125" y="457200"/>
            <a:ext cx="44450" cy="7461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79" name="Rectangle 6"/>
          <p:cNvSpPr>
            <a:spLocks noChangeArrowheads="1"/>
          </p:cNvSpPr>
          <p:nvPr/>
        </p:nvSpPr>
        <p:spPr bwMode="auto">
          <a:xfrm>
            <a:off x="771525" y="457200"/>
            <a:ext cx="44450" cy="63658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0" name="Rectangle 7"/>
          <p:cNvSpPr>
            <a:spLocks noChangeArrowheads="1"/>
          </p:cNvSpPr>
          <p:nvPr/>
        </p:nvSpPr>
        <p:spPr bwMode="auto">
          <a:xfrm>
            <a:off x="669925" y="457200"/>
            <a:ext cx="44450" cy="530225"/>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1" name="Rectangle 8"/>
          <p:cNvSpPr>
            <a:spLocks noChangeArrowheads="1"/>
          </p:cNvSpPr>
          <p:nvPr/>
        </p:nvSpPr>
        <p:spPr bwMode="auto">
          <a:xfrm>
            <a:off x="569913" y="457200"/>
            <a:ext cx="44450" cy="42703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2" name="Rectangle 9"/>
          <p:cNvSpPr>
            <a:spLocks noChangeArrowheads="1"/>
          </p:cNvSpPr>
          <p:nvPr/>
        </p:nvSpPr>
        <p:spPr bwMode="auto">
          <a:xfrm>
            <a:off x="468313" y="457200"/>
            <a:ext cx="44450" cy="312738"/>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3" name="Rectangle 10"/>
          <p:cNvSpPr>
            <a:spLocks noChangeArrowheads="1"/>
          </p:cNvSpPr>
          <p:nvPr/>
        </p:nvSpPr>
        <p:spPr bwMode="auto">
          <a:xfrm>
            <a:off x="366713" y="457200"/>
            <a:ext cx="46037" cy="2159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4" name="Rectangle 11"/>
          <p:cNvSpPr>
            <a:spLocks noChangeArrowheads="1"/>
          </p:cNvSpPr>
          <p:nvPr/>
        </p:nvSpPr>
        <p:spPr bwMode="auto">
          <a:xfrm>
            <a:off x="266700" y="457200"/>
            <a:ext cx="44450" cy="1079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5" name="Rectangle 12"/>
          <p:cNvSpPr>
            <a:spLocks noChangeArrowheads="1"/>
          </p:cNvSpPr>
          <p:nvPr/>
        </p:nvSpPr>
        <p:spPr bwMode="auto">
          <a:xfrm>
            <a:off x="1074738" y="457200"/>
            <a:ext cx="41275" cy="95091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6" name="Rectangle 13"/>
          <p:cNvSpPr>
            <a:spLocks noChangeArrowheads="1"/>
          </p:cNvSpPr>
          <p:nvPr/>
        </p:nvSpPr>
        <p:spPr bwMode="auto">
          <a:xfrm>
            <a:off x="1173163" y="457200"/>
            <a:ext cx="41275" cy="10588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7" name="Rectangle 14"/>
          <p:cNvSpPr>
            <a:spLocks noChangeArrowheads="1"/>
          </p:cNvSpPr>
          <p:nvPr/>
        </p:nvSpPr>
        <p:spPr bwMode="auto">
          <a:xfrm>
            <a:off x="1270000" y="457200"/>
            <a:ext cx="42863" cy="116046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8" name="Rectangle 15"/>
          <p:cNvSpPr>
            <a:spLocks noChangeArrowheads="1"/>
          </p:cNvSpPr>
          <p:nvPr/>
        </p:nvSpPr>
        <p:spPr bwMode="auto">
          <a:xfrm>
            <a:off x="1370013" y="457200"/>
            <a:ext cx="44450" cy="12700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89" name="Rectangle 16"/>
          <p:cNvSpPr>
            <a:spLocks noChangeArrowheads="1"/>
          </p:cNvSpPr>
          <p:nvPr/>
        </p:nvSpPr>
        <p:spPr bwMode="auto">
          <a:xfrm>
            <a:off x="1470025" y="457200"/>
            <a:ext cx="42863" cy="13716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sp>
        <p:nvSpPr>
          <p:cNvPr id="3090" name="Rectangle 18"/>
          <p:cNvSpPr>
            <a:spLocks noChangeArrowheads="1"/>
          </p:cNvSpPr>
          <p:nvPr/>
        </p:nvSpPr>
        <p:spPr bwMode="auto">
          <a:xfrm>
            <a:off x="76200" y="1827213"/>
            <a:ext cx="7696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3600">
                <a:solidFill>
                  <a:schemeClr val="hlink"/>
                </a:solidFill>
                <a:ea typeface="新細明體" charset="-120"/>
              </a:rPr>
              <a:t>Objectives </a:t>
            </a:r>
            <a:endParaRPr lang="en-US" altLang="zh-TW" sz="2800">
              <a:ea typeface="新細明體" charset="-120"/>
            </a:endParaRPr>
          </a:p>
        </p:txBody>
      </p:sp>
      <p:sp>
        <p:nvSpPr>
          <p:cNvPr id="3091" name="Rectangle 19"/>
          <p:cNvSpPr>
            <a:spLocks noChangeArrowheads="1"/>
          </p:cNvSpPr>
          <p:nvPr/>
        </p:nvSpPr>
        <p:spPr bwMode="auto">
          <a:xfrm>
            <a:off x="0" y="2514600"/>
            <a:ext cx="9144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zh-TW" altLang="en-US">
                <a:solidFill>
                  <a:schemeClr val="folHlink"/>
                </a:solidFill>
                <a:ea typeface="新細明體" charset="-120"/>
              </a:rPr>
              <a:t>❏</a:t>
            </a:r>
            <a:r>
              <a:rPr lang="zh-TW" altLang="en-US">
                <a:ea typeface="新細明體" charset="-120"/>
              </a:rPr>
              <a:t>	</a:t>
            </a:r>
            <a:r>
              <a:rPr lang="en-US" altLang="zh-TW">
                <a:ea typeface="新細明體" charset="-120"/>
              </a:rPr>
              <a:t>To design and implement programs with more than one function</a:t>
            </a:r>
          </a:p>
          <a:p>
            <a:pPr algn="l"/>
            <a:r>
              <a:rPr lang="en-US" altLang="zh-TW">
                <a:solidFill>
                  <a:schemeClr val="folHlink"/>
                </a:solidFill>
                <a:ea typeface="新細明體" charset="-120"/>
              </a:rPr>
              <a:t>❏</a:t>
            </a:r>
            <a:r>
              <a:rPr lang="en-US" altLang="zh-TW">
                <a:ea typeface="新細明體" charset="-120"/>
              </a:rPr>
              <a:t>	To be able to design multi-function programs</a:t>
            </a:r>
          </a:p>
          <a:p>
            <a:pPr algn="l"/>
            <a:r>
              <a:rPr lang="en-US" altLang="zh-TW">
                <a:solidFill>
                  <a:schemeClr val="folHlink"/>
                </a:solidFill>
                <a:ea typeface="新細明體" charset="-120"/>
              </a:rPr>
              <a:t>❏</a:t>
            </a:r>
            <a:r>
              <a:rPr lang="en-US" altLang="zh-TW">
                <a:ea typeface="新細明體" charset="-120"/>
              </a:rPr>
              <a:t>	To understand the purpose of the function declaration, call, and definition</a:t>
            </a:r>
          </a:p>
          <a:p>
            <a:pPr algn="l"/>
            <a:r>
              <a:rPr lang="en-US" altLang="zh-TW">
                <a:solidFill>
                  <a:schemeClr val="folHlink"/>
                </a:solidFill>
                <a:ea typeface="新細明體" charset="-120"/>
              </a:rPr>
              <a:t>❏</a:t>
            </a:r>
            <a:r>
              <a:rPr lang="en-US" altLang="zh-TW">
                <a:ea typeface="新細明體" charset="-120"/>
              </a:rPr>
              <a:t>	To understand the four basic function designs</a:t>
            </a:r>
          </a:p>
          <a:p>
            <a:pPr algn="l"/>
            <a:r>
              <a:rPr lang="en-US" altLang="zh-TW">
                <a:solidFill>
                  <a:schemeClr val="folHlink"/>
                </a:solidFill>
                <a:ea typeface="新細明體" charset="-120"/>
              </a:rPr>
              <a:t>❏</a:t>
            </a:r>
            <a:r>
              <a:rPr lang="en-US" altLang="zh-TW">
                <a:ea typeface="新細明體" charset="-120"/>
              </a:rPr>
              <a:t>	To understand how two functions communicate through parameters</a:t>
            </a:r>
          </a:p>
          <a:p>
            <a:pPr algn="l"/>
            <a:r>
              <a:rPr lang="en-US" altLang="zh-TW">
                <a:solidFill>
                  <a:schemeClr val="folHlink"/>
                </a:solidFill>
                <a:ea typeface="新細明體" charset="-120"/>
              </a:rPr>
              <a:t>❏</a:t>
            </a:r>
            <a:r>
              <a:rPr lang="en-US" altLang="zh-TW">
                <a:ea typeface="新細明體" charset="-120"/>
              </a:rPr>
              <a:t>	To understand the differences between global and local scope</a:t>
            </a:r>
          </a:p>
        </p:txBody>
      </p:sp>
      <p:sp>
        <p:nvSpPr>
          <p:cNvPr id="444436" name="Text Box 20"/>
          <p:cNvSpPr txBox="1">
            <a:spLocks noChangeArrowheads="1"/>
          </p:cNvSpPr>
          <p:nvPr/>
        </p:nvSpPr>
        <p:spPr bwMode="auto">
          <a:xfrm>
            <a:off x="1905000" y="500913"/>
            <a:ext cx="6831013" cy="1311275"/>
          </a:xfrm>
          <a:prstGeom prst="rect">
            <a:avLst/>
          </a:prstGeom>
          <a:noFill/>
          <a:ln w="9525">
            <a:noFill/>
            <a:miter lim="800000"/>
            <a:headEnd/>
            <a:tailEnd/>
          </a:ln>
          <a:effectLst/>
        </p:spPr>
        <p:txBody>
          <a:bodyPr wrap="none">
            <a:spAutoFit/>
          </a:bodyPr>
          <a:lstStyle/>
          <a:p>
            <a:pPr algn="l">
              <a:defRPr/>
            </a:pPr>
            <a:r>
              <a:rPr lang="zh-TW" altLang="en-US" sz="4000" i="1" dirty="0">
                <a:effectLst>
                  <a:outerShdw blurRad="38100" dist="38100" dir="2700000" algn="tl">
                    <a:srgbClr val="C0C0C0"/>
                  </a:outerShdw>
                </a:effectLst>
                <a:ea typeface="新細明體" charset="-120"/>
              </a:rPr>
              <a:t>                                    </a:t>
            </a:r>
            <a:r>
              <a:rPr lang="en-US" altLang="zh-TW" sz="4000" i="1" dirty="0">
                <a:effectLst>
                  <a:outerShdw blurRad="38100" dist="38100" dir="2700000" algn="tl">
                    <a:srgbClr val="C0C0C0"/>
                  </a:outerShdw>
                </a:effectLst>
                <a:ea typeface="新細明體" charset="-120"/>
              </a:rPr>
              <a:t>Chapter 4</a:t>
            </a:r>
          </a:p>
          <a:p>
            <a:pPr algn="l">
              <a:defRPr/>
            </a:pPr>
            <a:r>
              <a:rPr lang="en-US" altLang="zh-TW" sz="4000" i="1" dirty="0">
                <a:effectLst>
                  <a:outerShdw blurRad="38100" dist="38100" dir="2700000" algn="tl">
                    <a:srgbClr val="C0C0C0"/>
                  </a:outerShdw>
                </a:effectLst>
                <a:ea typeface="新細明體" charset="-120"/>
              </a:rPr>
              <a:t>                                   Functions</a:t>
            </a:r>
          </a:p>
        </p:txBody>
      </p:sp>
      <p:sp>
        <p:nvSpPr>
          <p:cNvPr id="3093" name="Text Box 21"/>
          <p:cNvSpPr txBox="1">
            <a:spLocks noChangeArrowheads="1"/>
          </p:cNvSpPr>
          <p:nvPr/>
        </p:nvSpPr>
        <p:spPr bwMode="auto">
          <a:xfrm>
            <a:off x="80391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en-US" sz="1800">
              <a:ea typeface="新細明體"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BD511A4-2227-442B-BBBE-7F8DE71E2048}" type="slidenum">
              <a:rPr lang="zh-TW" altLang="en-US" sz="1000">
                <a:latin typeface="Tahoma" panose="020B0604030504040204" pitchFamily="34" charset="0"/>
              </a:rPr>
              <a:pPr/>
              <a:t>2</a:t>
            </a:fld>
            <a:endParaRPr lang="en-US" altLang="zh-TW" sz="1000">
              <a:latin typeface="Tahoma" panose="020B0604030504040204" pitchFamily="34" charset="0"/>
            </a:endParaRPr>
          </a:p>
        </p:txBody>
      </p:sp>
      <p:sp>
        <p:nvSpPr>
          <p:cNvPr id="409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0" name="Rectangle 3"/>
          <p:cNvSpPr>
            <a:spLocks noChangeArrowheads="1"/>
          </p:cNvSpPr>
          <p:nvPr/>
        </p:nvSpPr>
        <p:spPr bwMode="auto">
          <a:xfrm>
            <a:off x="152400" y="5791200"/>
            <a:ext cx="3275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a:t>
            </a:r>
            <a:r>
              <a:rPr lang="en-US" altLang="zh-TW" sz="2000">
                <a:ea typeface="新細明體" charset="-120"/>
              </a:rPr>
              <a:t>  Derived Types</a:t>
            </a:r>
          </a:p>
        </p:txBody>
      </p:sp>
      <p:grpSp>
        <p:nvGrpSpPr>
          <p:cNvPr id="4101" name="Group 4"/>
          <p:cNvGrpSpPr>
            <a:grpSpLocks/>
          </p:cNvGrpSpPr>
          <p:nvPr/>
        </p:nvGrpSpPr>
        <p:grpSpPr bwMode="auto">
          <a:xfrm>
            <a:off x="228600" y="252413"/>
            <a:ext cx="8610600" cy="5995987"/>
            <a:chOff x="336" y="159"/>
            <a:chExt cx="5232" cy="3777"/>
          </a:xfrm>
        </p:grpSpPr>
        <p:sp>
          <p:nvSpPr>
            <p:cNvPr id="4103"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4"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05"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102"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438400"/>
            <a:ext cx="8335963"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C4F1E3DF-5000-4748-ADA1-2785175257A1}" type="slidenum">
              <a:rPr lang="zh-TW" altLang="en-US" sz="1000">
                <a:latin typeface="Tahoma" panose="020B0604030504040204" pitchFamily="34" charset="0"/>
              </a:rPr>
              <a:pPr/>
              <a:t>3</a:t>
            </a:fld>
            <a:endParaRPr lang="en-US" altLang="zh-TW" sz="1000">
              <a:latin typeface="Tahoma" panose="020B0604030504040204" pitchFamily="34" charset="0"/>
            </a:endParaRPr>
          </a:p>
        </p:txBody>
      </p:sp>
      <p:sp>
        <p:nvSpPr>
          <p:cNvPr id="5123"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5124" name="Text Box 3"/>
          <p:cNvSpPr txBox="1">
            <a:spLocks noChangeArrowheads="1"/>
          </p:cNvSpPr>
          <p:nvPr/>
        </p:nvSpPr>
        <p:spPr bwMode="auto">
          <a:xfrm>
            <a:off x="228600" y="0"/>
            <a:ext cx="66468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4-1   Designing Structured </a:t>
            </a:r>
            <a:br>
              <a:rPr lang="en-US" altLang="zh-TW" sz="4000">
                <a:latin typeface="Arial" panose="020B0604020202020204" pitchFamily="34" charset="0"/>
                <a:ea typeface="新細明體" charset="-120"/>
              </a:rPr>
            </a:br>
            <a:r>
              <a:rPr lang="en-US" altLang="zh-TW" sz="4000">
                <a:latin typeface="Arial" panose="020B0604020202020204" pitchFamily="34" charset="0"/>
                <a:ea typeface="新細明體" charset="-120"/>
              </a:rPr>
              <a:t>        Programs</a:t>
            </a:r>
          </a:p>
        </p:txBody>
      </p:sp>
      <p:sp>
        <p:nvSpPr>
          <p:cNvPr id="5125"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501772" name="Rectangle 12"/>
          <p:cNvSpPr>
            <a:spLocks noChangeArrowheads="1"/>
          </p:cNvSpPr>
          <p:nvPr/>
        </p:nvSpPr>
        <p:spPr bwMode="auto">
          <a:xfrm>
            <a:off x="304800" y="1747838"/>
            <a:ext cx="8229600" cy="4362450"/>
          </a:xfrm>
          <a:prstGeom prst="rect">
            <a:avLst/>
          </a:prstGeom>
          <a:noFill/>
          <a:ln w="9525">
            <a:noFill/>
            <a:miter lim="800000"/>
            <a:headEnd/>
            <a:tailEnd/>
          </a:ln>
          <a:effectLst/>
        </p:spPr>
        <p:txBody>
          <a:bodyPr anchor="ctr">
            <a:spAutoFit/>
          </a:bodyPr>
          <a:lstStyle/>
          <a:p>
            <a:pPr algn="just" eaLnBrk="1" hangingPunct="1">
              <a:defRPr/>
            </a:pPr>
            <a:r>
              <a:rPr lang="en-US" altLang="zh-TW" sz="2800" i="1">
                <a:effectLst>
                  <a:outerShdw blurRad="38100" dist="38100" dir="2700000" algn="tl">
                    <a:srgbClr val="C0C0C0"/>
                  </a:outerShdw>
                </a:effectLst>
                <a:ea typeface="新細明體" charset="-120"/>
              </a:rPr>
              <a:t>The programs we have presented so far have been very simple. They solved problems that could be understood without too much effort. </a:t>
            </a:r>
          </a:p>
          <a:p>
            <a:pPr algn="just" eaLnBrk="1" hangingPunct="1">
              <a:defRPr/>
            </a:pPr>
            <a:endParaRPr lang="en-US" altLang="zh-TW" sz="2800" i="1">
              <a:effectLst>
                <a:outerShdw blurRad="38100" dist="38100" dir="2700000" algn="tl">
                  <a:srgbClr val="C0C0C0"/>
                </a:outerShdw>
              </a:effectLst>
              <a:ea typeface="新細明體" charset="-120"/>
            </a:endParaRPr>
          </a:p>
          <a:p>
            <a:pPr algn="just" eaLnBrk="1" hangingPunct="1">
              <a:defRPr/>
            </a:pPr>
            <a:r>
              <a:rPr lang="en-US" altLang="zh-TW" sz="2800" i="1">
                <a:effectLst>
                  <a:outerShdw blurRad="38100" dist="38100" dir="2700000" algn="tl">
                    <a:srgbClr val="C0C0C0"/>
                  </a:outerShdw>
                </a:effectLst>
                <a:ea typeface="新細明體" charset="-120"/>
              </a:rPr>
              <a:t>The principles of top–down design and structured programming dictate that a program should be divided into a main module and its related modules. Each module should also be divided into submodules according to software engineering principles that we discuss in Section 4.8, “Software Engineering.”</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9A793DF7-070A-4987-9982-84D095C602A7}" type="slidenum">
              <a:rPr lang="zh-TW" altLang="en-US" sz="1000">
                <a:latin typeface="Tahoma" panose="020B0604030504040204" pitchFamily="34" charset="0"/>
              </a:rPr>
              <a:pPr/>
              <a:t>4</a:t>
            </a:fld>
            <a:endParaRPr lang="en-US" altLang="zh-TW" sz="1000">
              <a:latin typeface="Tahoma" panose="020B0604030504040204" pitchFamily="34" charset="0"/>
            </a:endParaRPr>
          </a:p>
        </p:txBody>
      </p:sp>
      <p:sp>
        <p:nvSpPr>
          <p:cNvPr id="6147" name="Line 2"/>
          <p:cNvSpPr>
            <a:spLocks noChangeShapeType="1"/>
          </p:cNvSpPr>
          <p:nvPr/>
        </p:nvSpPr>
        <p:spPr bwMode="auto">
          <a:xfrm>
            <a:off x="43815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 name="Line 3"/>
          <p:cNvSpPr>
            <a:spLocks noChangeShapeType="1"/>
          </p:cNvSpPr>
          <p:nvPr/>
        </p:nvSpPr>
        <p:spPr bwMode="auto">
          <a:xfrm>
            <a:off x="439738" y="4572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 name="Rectangle 4"/>
          <p:cNvSpPr>
            <a:spLocks noChangeArrowheads="1"/>
          </p:cNvSpPr>
          <p:nvPr/>
        </p:nvSpPr>
        <p:spPr bwMode="auto">
          <a:xfrm>
            <a:off x="476250" y="2225675"/>
            <a:ext cx="8077200" cy="22828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a:ea typeface="新細明體" charset="-120"/>
              </a:rPr>
              <a:t>In top–down design, a program is divided into a main module and its related modules. </a:t>
            </a:r>
            <a:br>
              <a:rPr lang="en-US" altLang="zh-TW">
                <a:ea typeface="新細明體" charset="-120"/>
              </a:rPr>
            </a:br>
            <a:r>
              <a:rPr lang="en-US" altLang="zh-TW">
                <a:ea typeface="新細明體" charset="-120"/>
              </a:rPr>
              <a:t/>
            </a:r>
            <a:br>
              <a:rPr lang="en-US" altLang="zh-TW">
                <a:ea typeface="新細明體" charset="-120"/>
              </a:rPr>
            </a:br>
            <a:r>
              <a:rPr lang="en-US" altLang="zh-TW">
                <a:ea typeface="新細明體" charset="-120"/>
              </a:rPr>
              <a:t>Each module is in turn divided into submodules until the resulting modules are intrinsic; that is, until they are implicitly understood without further division.</a:t>
            </a:r>
          </a:p>
        </p:txBody>
      </p:sp>
      <p:sp>
        <p:nvSpPr>
          <p:cNvPr id="586757" name="Text Box 5"/>
          <p:cNvSpPr txBox="1">
            <a:spLocks noChangeArrowheads="1"/>
          </p:cNvSpPr>
          <p:nvPr/>
        </p:nvSpPr>
        <p:spPr bwMode="auto">
          <a:xfrm>
            <a:off x="450850" y="1447800"/>
            <a:ext cx="1073150" cy="641350"/>
          </a:xfrm>
          <a:prstGeom prst="rect">
            <a:avLst/>
          </a:prstGeom>
          <a:noFill/>
          <a:ln w="76200" algn="ctr">
            <a:noFill/>
            <a:miter lim="800000"/>
            <a:headEnd/>
            <a:tailEnd/>
          </a:ln>
          <a:effectLst/>
        </p:spPr>
        <p:txBody>
          <a:bodyPr wrap="none">
            <a:spAutoFit/>
          </a:bodyPr>
          <a:lstStyle/>
          <a:p>
            <a:pPr algn="ctr">
              <a:defRPr/>
            </a:pPr>
            <a:r>
              <a:rPr lang="en-US" altLang="zh-TW" sz="36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59B1DE3-0C52-4868-AA12-46D196E58E66}" type="slidenum">
              <a:rPr lang="zh-TW" altLang="en-US" sz="1000">
                <a:latin typeface="Tahoma" panose="020B0604030504040204" pitchFamily="34" charset="0"/>
              </a:rPr>
              <a:pPr/>
              <a:t>5</a:t>
            </a:fld>
            <a:endParaRPr lang="en-US" altLang="zh-TW" sz="1000">
              <a:latin typeface="Tahoma" panose="020B0604030504040204" pitchFamily="34" charset="0"/>
            </a:endParaRPr>
          </a:p>
        </p:txBody>
      </p:sp>
      <p:sp>
        <p:nvSpPr>
          <p:cNvPr id="7171"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 name="Rectangle 3"/>
          <p:cNvSpPr>
            <a:spLocks noChangeArrowheads="1"/>
          </p:cNvSpPr>
          <p:nvPr/>
        </p:nvSpPr>
        <p:spPr bwMode="auto">
          <a:xfrm>
            <a:off x="152400" y="5791200"/>
            <a:ext cx="345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a:t>
            </a:r>
            <a:r>
              <a:rPr lang="en-US" altLang="zh-TW" sz="2000">
                <a:ea typeface="新細明體" charset="-120"/>
              </a:rPr>
              <a:t>  Structure Chart</a:t>
            </a:r>
          </a:p>
        </p:txBody>
      </p:sp>
      <p:grpSp>
        <p:nvGrpSpPr>
          <p:cNvPr id="7173" name="Group 4"/>
          <p:cNvGrpSpPr>
            <a:grpSpLocks/>
          </p:cNvGrpSpPr>
          <p:nvPr/>
        </p:nvGrpSpPr>
        <p:grpSpPr bwMode="auto">
          <a:xfrm>
            <a:off x="228600" y="252413"/>
            <a:ext cx="8610600" cy="5995987"/>
            <a:chOff x="336" y="159"/>
            <a:chExt cx="5232" cy="3777"/>
          </a:xfrm>
        </p:grpSpPr>
        <p:sp>
          <p:nvSpPr>
            <p:cNvPr id="7175"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6"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7"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7174"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981200"/>
            <a:ext cx="8647113"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45E0271-499C-4B18-ABC4-36229A515FE2}" type="slidenum">
              <a:rPr lang="zh-TW" altLang="en-US" sz="1000">
                <a:latin typeface="Tahoma" panose="020B0604030504040204" pitchFamily="34" charset="0"/>
              </a:rPr>
              <a:pPr/>
              <a:t>6</a:t>
            </a:fld>
            <a:endParaRPr lang="en-US" altLang="zh-TW" sz="1000">
              <a:latin typeface="Tahoma" panose="020B0604030504040204" pitchFamily="34" charset="0"/>
            </a:endParaRPr>
          </a:p>
        </p:txBody>
      </p:sp>
      <p:sp>
        <p:nvSpPr>
          <p:cNvPr id="8195"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8196" name="Text Box 3"/>
          <p:cNvSpPr txBox="1">
            <a:spLocks noChangeArrowheads="1"/>
          </p:cNvSpPr>
          <p:nvPr/>
        </p:nvSpPr>
        <p:spPr bwMode="auto">
          <a:xfrm>
            <a:off x="228600" y="304800"/>
            <a:ext cx="4867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4-2   Functions in C</a:t>
            </a:r>
          </a:p>
        </p:txBody>
      </p:sp>
      <p:sp>
        <p:nvSpPr>
          <p:cNvPr id="8197"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592901" name="Rectangle 5"/>
          <p:cNvSpPr>
            <a:spLocks noChangeArrowheads="1"/>
          </p:cNvSpPr>
          <p:nvPr/>
        </p:nvSpPr>
        <p:spPr bwMode="auto">
          <a:xfrm>
            <a:off x="304800" y="1444625"/>
            <a:ext cx="8229600" cy="4789488"/>
          </a:xfrm>
          <a:prstGeom prst="rect">
            <a:avLst/>
          </a:prstGeom>
          <a:noFill/>
          <a:ln w="9525">
            <a:noFill/>
            <a:miter lim="800000"/>
            <a:headEnd/>
            <a:tailEnd/>
          </a:ln>
          <a:effectLst/>
        </p:spPr>
        <p:txBody>
          <a:bodyPr anchor="ctr">
            <a:spAutoFit/>
          </a:bodyPr>
          <a:lstStyle/>
          <a:p>
            <a:pPr algn="just" eaLnBrk="1" hangingPunct="1">
              <a:defRPr/>
            </a:pPr>
            <a:r>
              <a:rPr lang="en-US" altLang="zh-TW" sz="2800" i="1" dirty="0">
                <a:effectLst>
                  <a:outerShdw blurRad="38100" dist="38100" dir="2700000" algn="tl">
                    <a:srgbClr val="C0C0C0"/>
                  </a:outerShdw>
                </a:effectLst>
                <a:ea typeface="新細明體" charset="-120"/>
              </a:rPr>
              <a:t>In C, the idea of top–down design is done using functions. A C program is made of one or more functions, one and only one of which must be named</a:t>
            </a:r>
          </a:p>
          <a:p>
            <a:pPr algn="just" eaLnBrk="1" hangingPunct="1">
              <a:defRPr/>
            </a:pPr>
            <a:r>
              <a:rPr lang="en-US" altLang="zh-TW" sz="2800" i="1" dirty="0">
                <a:solidFill>
                  <a:schemeClr val="hlink"/>
                </a:solidFill>
                <a:effectLst>
                  <a:outerShdw blurRad="38100" dist="38100" dir="2700000" algn="tl">
                    <a:srgbClr val="C0C0C0"/>
                  </a:outerShdw>
                </a:effectLst>
                <a:ea typeface="新細明體" charset="-120"/>
              </a:rPr>
              <a:t>main</a:t>
            </a:r>
            <a:r>
              <a:rPr lang="en-US" altLang="zh-TW" sz="2800" i="1" dirty="0">
                <a:effectLst>
                  <a:outerShdw blurRad="38100" dist="38100" dir="2700000" algn="tl">
                    <a:srgbClr val="C0C0C0"/>
                  </a:outerShdw>
                </a:effectLst>
                <a:ea typeface="新細明體" charset="-120"/>
              </a:rPr>
              <a:t>. </a:t>
            </a:r>
          </a:p>
          <a:p>
            <a:pPr algn="just" eaLnBrk="1" hangingPunct="1">
              <a:defRPr/>
            </a:pPr>
            <a:endParaRPr lang="en-US" altLang="zh-TW" sz="2800" i="1" dirty="0">
              <a:effectLst>
                <a:outerShdw blurRad="38100" dist="38100" dir="2700000" algn="tl">
                  <a:srgbClr val="C0C0C0"/>
                </a:outerShdw>
              </a:effectLst>
              <a:ea typeface="新細明體" charset="-120"/>
            </a:endParaRPr>
          </a:p>
          <a:p>
            <a:pPr algn="just" eaLnBrk="1" hangingPunct="1">
              <a:defRPr/>
            </a:pPr>
            <a:r>
              <a:rPr lang="en-US" altLang="zh-TW" sz="2800" i="1" dirty="0">
                <a:effectLst>
                  <a:outerShdw blurRad="38100" dist="38100" dir="2700000" algn="tl">
                    <a:srgbClr val="C0C0C0"/>
                  </a:outerShdw>
                </a:effectLst>
                <a:ea typeface="新細明體" charset="-120"/>
              </a:rPr>
              <a:t>In general, the purpose of a function is to receive zero or more pieces of data, operate on them, and return at most one piece of data. At the same time, a function can have a side effect. A function side effect is an action that results in a change in the state of the program.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10167635-99B9-4713-B525-672CA67F5741}" type="slidenum">
              <a:rPr lang="zh-TW" altLang="en-US" sz="1000">
                <a:latin typeface="Tahoma" panose="020B0604030504040204" pitchFamily="34" charset="0"/>
              </a:rPr>
              <a:pPr/>
              <a:t>7</a:t>
            </a:fld>
            <a:endParaRPr lang="en-US" altLang="zh-TW" sz="1000">
              <a:latin typeface="Tahoma" panose="020B0604030504040204" pitchFamily="34" charset="0"/>
            </a:endParaRPr>
          </a:p>
        </p:txBody>
      </p:sp>
      <p:sp>
        <p:nvSpPr>
          <p:cNvPr id="9219" name="Line 2"/>
          <p:cNvSpPr>
            <a:spLocks noChangeShapeType="1"/>
          </p:cNvSpPr>
          <p:nvPr/>
        </p:nvSpPr>
        <p:spPr bwMode="auto">
          <a:xfrm>
            <a:off x="43815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0" name="Line 3"/>
          <p:cNvSpPr>
            <a:spLocks noChangeShapeType="1"/>
          </p:cNvSpPr>
          <p:nvPr/>
        </p:nvSpPr>
        <p:spPr bwMode="auto">
          <a:xfrm>
            <a:off x="439738" y="5105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21" name="Rectangle 4"/>
          <p:cNvSpPr>
            <a:spLocks noChangeArrowheads="1"/>
          </p:cNvSpPr>
          <p:nvPr/>
        </p:nvSpPr>
        <p:spPr bwMode="auto">
          <a:xfrm>
            <a:off x="476250" y="2759075"/>
            <a:ext cx="8077200" cy="22828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a:ea typeface="新細明體" charset="-120"/>
              </a:rPr>
              <a:t>In C, a program is made of one or more functions, one and only one of which must be called </a:t>
            </a:r>
            <a:r>
              <a:rPr lang="en-US" altLang="zh-TW" i="1">
                <a:ea typeface="新細明體" charset="-120"/>
              </a:rPr>
              <a:t>main</a:t>
            </a:r>
            <a:r>
              <a:rPr lang="en-US" altLang="zh-TW">
                <a:ea typeface="新細明體" charset="-120"/>
              </a:rPr>
              <a:t>. </a:t>
            </a:r>
            <a:br>
              <a:rPr lang="en-US" altLang="zh-TW">
                <a:ea typeface="新細明體" charset="-120"/>
              </a:rPr>
            </a:br>
            <a:r>
              <a:rPr lang="en-US" altLang="zh-TW">
                <a:ea typeface="新細明體" charset="-120"/>
              </a:rPr>
              <a:t/>
            </a:r>
            <a:br>
              <a:rPr lang="en-US" altLang="zh-TW">
                <a:ea typeface="新細明體" charset="-120"/>
              </a:rPr>
            </a:br>
            <a:r>
              <a:rPr lang="en-US" altLang="zh-TW">
                <a:ea typeface="新細明體" charset="-120"/>
              </a:rPr>
              <a:t>The execution of the program always starts </a:t>
            </a:r>
            <a:br>
              <a:rPr lang="en-US" altLang="zh-TW">
                <a:ea typeface="新細明體" charset="-120"/>
              </a:rPr>
            </a:br>
            <a:r>
              <a:rPr lang="en-US" altLang="zh-TW">
                <a:ea typeface="新細明體" charset="-120"/>
              </a:rPr>
              <a:t>with main, but it can call other functions </a:t>
            </a:r>
            <a:br>
              <a:rPr lang="en-US" altLang="zh-TW">
                <a:ea typeface="新細明體" charset="-120"/>
              </a:rPr>
            </a:br>
            <a:r>
              <a:rPr lang="en-US" altLang="zh-TW">
                <a:ea typeface="新細明體" charset="-120"/>
              </a:rPr>
              <a:t>to do some part of the job.</a:t>
            </a:r>
          </a:p>
        </p:txBody>
      </p:sp>
      <p:sp>
        <p:nvSpPr>
          <p:cNvPr id="588805" name="Text Box 5"/>
          <p:cNvSpPr txBox="1">
            <a:spLocks noChangeArrowheads="1"/>
          </p:cNvSpPr>
          <p:nvPr/>
        </p:nvSpPr>
        <p:spPr bwMode="auto">
          <a:xfrm>
            <a:off x="358775" y="2035175"/>
            <a:ext cx="1073150" cy="641350"/>
          </a:xfrm>
          <a:prstGeom prst="rect">
            <a:avLst/>
          </a:prstGeom>
          <a:noFill/>
          <a:ln w="76200" algn="ctr">
            <a:noFill/>
            <a:miter lim="800000"/>
            <a:headEnd/>
            <a:tailEnd/>
          </a:ln>
          <a:effectLst/>
        </p:spPr>
        <p:txBody>
          <a:bodyPr wrap="none">
            <a:spAutoFit/>
          </a:bodyPr>
          <a:lstStyle/>
          <a:p>
            <a:pPr algn="ctr">
              <a:defRPr/>
            </a:pPr>
            <a:r>
              <a:rPr lang="en-US" altLang="zh-TW" sz="36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6A2CCA24-3DA0-4676-8E86-C1435FE6D010}" type="slidenum">
              <a:rPr lang="zh-TW" altLang="en-US" sz="1000">
                <a:latin typeface="Tahoma" panose="020B0604030504040204" pitchFamily="34" charset="0"/>
              </a:rPr>
              <a:pPr/>
              <a:t>8</a:t>
            </a:fld>
            <a:endParaRPr lang="en-US" altLang="zh-TW" sz="1000">
              <a:latin typeface="Tahoma" panose="020B0604030504040204" pitchFamily="34" charset="0"/>
            </a:endParaRPr>
          </a:p>
        </p:txBody>
      </p:sp>
      <p:sp>
        <p:nvSpPr>
          <p:cNvPr id="10243"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4" name="Rectangle 3"/>
          <p:cNvSpPr>
            <a:spLocks noChangeArrowheads="1"/>
          </p:cNvSpPr>
          <p:nvPr/>
        </p:nvSpPr>
        <p:spPr bwMode="auto">
          <a:xfrm>
            <a:off x="152400" y="5791200"/>
            <a:ext cx="5319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4-3</a:t>
            </a:r>
            <a:r>
              <a:rPr lang="en-US" altLang="zh-TW" sz="2000">
                <a:ea typeface="新細明體" charset="-120"/>
              </a:rPr>
              <a:t>  Structure Chart for a C Program</a:t>
            </a:r>
          </a:p>
        </p:txBody>
      </p:sp>
      <p:grpSp>
        <p:nvGrpSpPr>
          <p:cNvPr id="10245" name="Group 4"/>
          <p:cNvGrpSpPr>
            <a:grpSpLocks/>
          </p:cNvGrpSpPr>
          <p:nvPr/>
        </p:nvGrpSpPr>
        <p:grpSpPr bwMode="auto">
          <a:xfrm>
            <a:off x="228600" y="252413"/>
            <a:ext cx="8610600" cy="5995987"/>
            <a:chOff x="336" y="159"/>
            <a:chExt cx="5232" cy="3777"/>
          </a:xfrm>
        </p:grpSpPr>
        <p:sp>
          <p:nvSpPr>
            <p:cNvPr id="10247"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9"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0246"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6525" y="1573213"/>
            <a:ext cx="8702675"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181F1600-8127-48AF-AA48-006B0EC13CF1}" type="slidenum">
              <a:rPr lang="zh-TW" altLang="en-US" sz="1000">
                <a:latin typeface="Tahoma" panose="020B0604030504040204" pitchFamily="34" charset="0"/>
              </a:rPr>
              <a:pPr/>
              <a:t>9</a:t>
            </a:fld>
            <a:endParaRPr lang="en-US" altLang="zh-TW" sz="1000">
              <a:latin typeface="Tahoma" panose="020B0604030504040204" pitchFamily="34" charset="0"/>
            </a:endParaRPr>
          </a:p>
        </p:txBody>
      </p:sp>
      <p:sp>
        <p:nvSpPr>
          <p:cNvPr id="1126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 name="Rectangle 3"/>
          <p:cNvSpPr>
            <a:spLocks noChangeArrowheads="1"/>
          </p:cNvSpPr>
          <p:nvPr/>
        </p:nvSpPr>
        <p:spPr bwMode="auto">
          <a:xfrm>
            <a:off x="152400" y="5791200"/>
            <a:ext cx="3641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4-4</a:t>
            </a:r>
            <a:r>
              <a:rPr lang="en-US" altLang="zh-TW" sz="2000">
                <a:ea typeface="新細明體" charset="-120"/>
              </a:rPr>
              <a:t>  Function Concept</a:t>
            </a:r>
          </a:p>
        </p:txBody>
      </p:sp>
      <p:grpSp>
        <p:nvGrpSpPr>
          <p:cNvPr id="11269" name="Group 4"/>
          <p:cNvGrpSpPr>
            <a:grpSpLocks/>
          </p:cNvGrpSpPr>
          <p:nvPr/>
        </p:nvGrpSpPr>
        <p:grpSpPr bwMode="auto">
          <a:xfrm>
            <a:off x="228600" y="252413"/>
            <a:ext cx="8610600" cy="5995987"/>
            <a:chOff x="336" y="159"/>
            <a:chExt cx="5232" cy="3777"/>
          </a:xfrm>
        </p:grpSpPr>
        <p:sp>
          <p:nvSpPr>
            <p:cNvPr id="1127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127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990600"/>
            <a:ext cx="5767388" cy="445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C4891B0A-F346-45EF-9EBE-238BED884BAC}" type="slidenum">
              <a:rPr lang="zh-TW" altLang="en-US" sz="1000">
                <a:latin typeface="Tahoma" panose="020B0604030504040204" pitchFamily="34" charset="0"/>
              </a:rPr>
              <a:pPr/>
              <a:t>10</a:t>
            </a:fld>
            <a:endParaRPr lang="en-US" altLang="zh-TW" sz="1000">
              <a:latin typeface="Tahoma" panose="020B0604030504040204" pitchFamily="34" charset="0"/>
            </a:endParaRPr>
          </a:p>
        </p:txBody>
      </p:sp>
      <p:sp>
        <p:nvSpPr>
          <p:cNvPr id="12291" name="Line 2"/>
          <p:cNvSpPr>
            <a:spLocks noChangeShapeType="1"/>
          </p:cNvSpPr>
          <p:nvPr/>
        </p:nvSpPr>
        <p:spPr bwMode="auto">
          <a:xfrm>
            <a:off x="438150" y="2232025"/>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2" name="Line 3"/>
          <p:cNvSpPr>
            <a:spLocks noChangeShapeType="1"/>
          </p:cNvSpPr>
          <p:nvPr/>
        </p:nvSpPr>
        <p:spPr bwMode="auto">
          <a:xfrm>
            <a:off x="439738" y="5029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93" name="Rectangle 4"/>
          <p:cNvSpPr>
            <a:spLocks noChangeArrowheads="1"/>
          </p:cNvSpPr>
          <p:nvPr/>
        </p:nvSpPr>
        <p:spPr bwMode="auto">
          <a:xfrm>
            <a:off x="476250" y="2324100"/>
            <a:ext cx="8077200" cy="264795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a:ea typeface="新細明體" charset="-120"/>
              </a:rPr>
              <a:t>A function in C can have a return value, </a:t>
            </a:r>
            <a:br>
              <a:rPr lang="en-US" altLang="zh-TW">
                <a:ea typeface="新細明體" charset="-120"/>
              </a:rPr>
            </a:br>
            <a:r>
              <a:rPr lang="en-US" altLang="zh-TW">
                <a:ea typeface="新細明體" charset="-120"/>
              </a:rPr>
              <a:t>a side effect, or both. </a:t>
            </a:r>
            <a:br>
              <a:rPr lang="en-US" altLang="zh-TW">
                <a:ea typeface="新細明體" charset="-120"/>
              </a:rPr>
            </a:br>
            <a:endParaRPr lang="en-US" altLang="zh-TW">
              <a:ea typeface="新細明體" charset="-120"/>
            </a:endParaRPr>
          </a:p>
          <a:p>
            <a:pPr algn="ctr"/>
            <a:r>
              <a:rPr lang="en-US" altLang="zh-TW">
                <a:ea typeface="新細明體" charset="-120"/>
              </a:rPr>
              <a:t>The side effect occurs before the value is returned. The function’s value is the value in the expression of </a:t>
            </a:r>
            <a:br>
              <a:rPr lang="en-US" altLang="zh-TW">
                <a:ea typeface="新細明體" charset="-120"/>
              </a:rPr>
            </a:br>
            <a:r>
              <a:rPr lang="en-US" altLang="zh-TW">
                <a:ea typeface="新細明體" charset="-120"/>
              </a:rPr>
              <a:t>the return statement. A function can be called</a:t>
            </a:r>
          </a:p>
          <a:p>
            <a:pPr algn="ctr"/>
            <a:r>
              <a:rPr lang="en-US" altLang="zh-TW">
                <a:ea typeface="新細明體" charset="-120"/>
              </a:rPr>
              <a:t>for its value, its side effect, or both.</a:t>
            </a:r>
          </a:p>
        </p:txBody>
      </p:sp>
      <p:sp>
        <p:nvSpPr>
          <p:cNvPr id="591877" name="Text Box 5"/>
          <p:cNvSpPr txBox="1">
            <a:spLocks noChangeArrowheads="1"/>
          </p:cNvSpPr>
          <p:nvPr/>
        </p:nvSpPr>
        <p:spPr bwMode="auto">
          <a:xfrm>
            <a:off x="358775" y="1524000"/>
            <a:ext cx="1073150" cy="641350"/>
          </a:xfrm>
          <a:prstGeom prst="rect">
            <a:avLst/>
          </a:prstGeom>
          <a:noFill/>
          <a:ln w="76200" algn="ctr">
            <a:noFill/>
            <a:miter lim="800000"/>
            <a:headEnd/>
            <a:tailEnd/>
          </a:ln>
          <a:effectLst/>
        </p:spPr>
        <p:txBody>
          <a:bodyPr wrap="none">
            <a:spAutoFit/>
          </a:bodyPr>
          <a:lstStyle/>
          <a:p>
            <a:pPr algn="ctr">
              <a:defRPr/>
            </a:pPr>
            <a:r>
              <a:rPr lang="en-US" altLang="zh-TW" sz="36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93912D95-29D6-4D13-86AE-90FE658F31A4}" type="slidenum">
              <a:rPr lang="zh-TW" altLang="en-US" sz="1000">
                <a:latin typeface="Tahoma" panose="020B0604030504040204" pitchFamily="34" charset="0"/>
              </a:rPr>
              <a:pPr/>
              <a:t>11</a:t>
            </a:fld>
            <a:endParaRPr lang="en-US" altLang="zh-TW" sz="1000">
              <a:latin typeface="Tahoma" panose="020B0604030504040204" pitchFamily="34" charset="0"/>
            </a:endParaRPr>
          </a:p>
        </p:txBody>
      </p:sp>
      <p:sp>
        <p:nvSpPr>
          <p:cNvPr id="13315" name="Text Box 3"/>
          <p:cNvSpPr txBox="1">
            <a:spLocks noChangeArrowheads="1"/>
          </p:cNvSpPr>
          <p:nvPr/>
        </p:nvSpPr>
        <p:spPr bwMode="auto">
          <a:xfrm>
            <a:off x="609600" y="53340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a:t>
            </a:r>
          </a:p>
        </p:txBody>
      </p:sp>
      <p:sp>
        <p:nvSpPr>
          <p:cNvPr id="13316" name="Text Box 4"/>
          <p:cNvSpPr txBox="1">
            <a:spLocks noChangeArrowheads="1"/>
          </p:cNvSpPr>
          <p:nvPr/>
        </p:nvSpPr>
        <p:spPr bwMode="auto">
          <a:xfrm>
            <a:off x="2667000" y="609600"/>
            <a:ext cx="411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tIns="0" bIns="0">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Sample Program with Subfunction</a:t>
            </a:r>
          </a:p>
        </p:txBody>
      </p:sp>
      <p:pic>
        <p:nvPicPr>
          <p:cNvPr id="13317"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19200"/>
            <a:ext cx="6981825"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80BCE0B6-BDB2-4D5D-BFD8-660B5797BE0B}" type="slidenum">
              <a:rPr lang="zh-TW" altLang="en-US" sz="1000">
                <a:latin typeface="Tahoma" panose="020B0604030504040204" pitchFamily="34" charset="0"/>
              </a:rPr>
              <a:pPr/>
              <a:t>12</a:t>
            </a:fld>
            <a:endParaRPr lang="en-US" altLang="zh-TW" sz="1000">
              <a:latin typeface="Tahoma" panose="020B0604030504040204" pitchFamily="34" charset="0"/>
            </a:endParaRPr>
          </a:p>
        </p:txBody>
      </p:sp>
      <p:pic>
        <p:nvPicPr>
          <p:cNvPr id="1433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28600"/>
            <a:ext cx="6711950" cy="376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1434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00" y="3822700"/>
            <a:ext cx="6762750" cy="265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5C21DB5B-435D-419C-A49A-514DD60ABD88}" type="slidenum">
              <a:rPr lang="zh-TW" altLang="en-US" sz="1000">
                <a:latin typeface="Tahoma" panose="020B0604030504040204" pitchFamily="34" charset="0"/>
              </a:rPr>
              <a:pPr/>
              <a:t>13</a:t>
            </a:fld>
            <a:endParaRPr lang="en-US" altLang="zh-TW" sz="1000">
              <a:latin typeface="Tahoma" panose="020B0604030504040204" pitchFamily="34" charset="0"/>
            </a:endParaRPr>
          </a:p>
        </p:txBody>
      </p:sp>
      <p:sp>
        <p:nvSpPr>
          <p:cNvPr id="15363"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15364" name="Text Box 3"/>
          <p:cNvSpPr txBox="1">
            <a:spLocks noChangeArrowheads="1"/>
          </p:cNvSpPr>
          <p:nvPr/>
        </p:nvSpPr>
        <p:spPr bwMode="auto">
          <a:xfrm>
            <a:off x="228600" y="304800"/>
            <a:ext cx="70707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4-3   User-Defined Functions</a:t>
            </a:r>
          </a:p>
        </p:txBody>
      </p:sp>
      <p:sp>
        <p:nvSpPr>
          <p:cNvPr id="15365"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593925" name="Rectangle 5"/>
          <p:cNvSpPr>
            <a:spLocks noChangeArrowheads="1"/>
          </p:cNvSpPr>
          <p:nvPr/>
        </p:nvSpPr>
        <p:spPr bwMode="auto">
          <a:xfrm>
            <a:off x="304800" y="1592263"/>
            <a:ext cx="8229600" cy="2227262"/>
          </a:xfrm>
          <a:prstGeom prst="rect">
            <a:avLst/>
          </a:prstGeom>
          <a:noFill/>
          <a:ln w="9525">
            <a:noFill/>
            <a:miter lim="800000"/>
            <a:headEnd/>
            <a:tailEnd/>
          </a:ln>
          <a:effectLst/>
        </p:spPr>
        <p:txBody>
          <a:bodyPr anchor="ctr">
            <a:spAutoFit/>
          </a:bodyPr>
          <a:lstStyle/>
          <a:p>
            <a:pPr algn="just" eaLnBrk="1" hangingPunct="1">
              <a:defRPr/>
            </a:pPr>
            <a:r>
              <a:rPr lang="en-US" altLang="zh-TW" sz="2800" i="1">
                <a:effectLst>
                  <a:outerShdw blurRad="38100" dist="38100" dir="2700000" algn="tl">
                    <a:srgbClr val="C0C0C0"/>
                  </a:outerShdw>
                </a:effectLst>
                <a:ea typeface="新細明體" charset="-120"/>
              </a:rPr>
              <a:t>Like every other object in C, functions must be both declared and defined. The function declaration gives the whole picture of the function that needs to be defined later. The function definition contains the code for a function.</a:t>
            </a:r>
          </a:p>
        </p:txBody>
      </p:sp>
      <p:sp>
        <p:nvSpPr>
          <p:cNvPr id="15367" name="Rectangle 6"/>
          <p:cNvSpPr>
            <a:spLocks noChangeArrowheads="1"/>
          </p:cNvSpPr>
          <p:nvPr/>
        </p:nvSpPr>
        <p:spPr bwMode="auto">
          <a:xfrm>
            <a:off x="457200" y="4605338"/>
            <a:ext cx="57150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buClr>
                <a:schemeClr val="tx1"/>
              </a:buClr>
              <a:buSzPct val="117000"/>
              <a:buFont typeface="Wingdings" panose="05000000000000000000" pitchFamily="2" charset="2"/>
              <a:buNone/>
            </a:pPr>
            <a:r>
              <a:rPr lang="en-US" altLang="zh-TW">
                <a:solidFill>
                  <a:schemeClr val="hlink"/>
                </a:solidFill>
                <a:ea typeface="新細明體" charset="-120"/>
              </a:rPr>
              <a:t>Basic Function Designs</a:t>
            </a:r>
            <a:endParaRPr lang="fr-FR" altLang="zh-TW">
              <a:solidFill>
                <a:schemeClr val="hlink"/>
              </a:solidFill>
              <a:ea typeface="新細明體" charset="-120"/>
            </a:endParaRPr>
          </a:p>
          <a:p>
            <a:pPr algn="l">
              <a:buClr>
                <a:schemeClr val="folHlink"/>
              </a:buClr>
              <a:buSzPct val="117000"/>
              <a:buFont typeface="Wingdings" panose="05000000000000000000" pitchFamily="2" charset="2"/>
              <a:buNone/>
            </a:pPr>
            <a:r>
              <a:rPr lang="fr-FR" altLang="zh-TW">
                <a:solidFill>
                  <a:schemeClr val="hlink"/>
                </a:solidFill>
                <a:ea typeface="新細明體" charset="-120"/>
              </a:rPr>
              <a:t>Function Definition</a:t>
            </a:r>
          </a:p>
          <a:p>
            <a:pPr algn="l">
              <a:buClr>
                <a:schemeClr val="folHlink"/>
              </a:buClr>
              <a:buSzPct val="117000"/>
              <a:buFont typeface="Wingdings" panose="05000000000000000000" pitchFamily="2" charset="2"/>
              <a:buNone/>
            </a:pPr>
            <a:r>
              <a:rPr lang="en-US" altLang="zh-TW">
                <a:solidFill>
                  <a:schemeClr val="hlink"/>
                </a:solidFill>
                <a:ea typeface="新細明體" charset="-120"/>
              </a:rPr>
              <a:t>Function Declaration</a:t>
            </a:r>
          </a:p>
          <a:p>
            <a:pPr algn="l">
              <a:buClr>
                <a:schemeClr val="folHlink"/>
              </a:buClr>
              <a:buSzPct val="117000"/>
              <a:buFont typeface="Wingdings" panose="05000000000000000000" pitchFamily="2" charset="2"/>
              <a:buNone/>
            </a:pPr>
            <a:r>
              <a:rPr lang="en-US" altLang="zh-TW">
                <a:solidFill>
                  <a:schemeClr val="hlink"/>
                </a:solidFill>
                <a:ea typeface="新細明體" charset="-120"/>
              </a:rPr>
              <a:t>The Function Call</a:t>
            </a:r>
          </a:p>
        </p:txBody>
      </p:sp>
      <p:sp>
        <p:nvSpPr>
          <p:cNvPr id="593927" name="Text Box 7"/>
          <p:cNvSpPr txBox="1">
            <a:spLocks noChangeArrowheads="1"/>
          </p:cNvSpPr>
          <p:nvPr/>
        </p:nvSpPr>
        <p:spPr bwMode="auto">
          <a:xfrm>
            <a:off x="469900" y="4114800"/>
            <a:ext cx="4862513" cy="519113"/>
          </a:xfrm>
          <a:prstGeom prst="rect">
            <a:avLst/>
          </a:prstGeom>
          <a:noFill/>
          <a:ln w="76200" algn="ctr">
            <a:noFill/>
            <a:miter lim="800000"/>
            <a:headEnd/>
            <a:tailEnd/>
          </a:ln>
          <a:effectLst/>
        </p:spPr>
        <p:txBody>
          <a:bodyPr wrap="none">
            <a:spAutoFit/>
          </a:bodyPr>
          <a:lstStyle/>
          <a:p>
            <a:pPr algn="ctr">
              <a:defRPr/>
            </a:pPr>
            <a:r>
              <a:rPr lang="en-US" altLang="zh-TW" sz="2800" i="1" u="sng">
                <a:effectLst>
                  <a:outerShdw blurRad="38100" dist="38100" dir="2700000" algn="tl">
                    <a:srgbClr val="C0C0C0"/>
                  </a:outerShdw>
                </a:effectLst>
                <a:ea typeface="新細明體" charset="-120"/>
              </a:rPr>
              <a:t>Topics discussed in this section: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EE7EA182-B106-4BE3-BD6E-8BC6C77D749B}" type="slidenum">
              <a:rPr lang="zh-TW" altLang="en-US" sz="1000">
                <a:latin typeface="Tahoma" panose="020B0604030504040204" pitchFamily="34" charset="0"/>
              </a:rPr>
              <a:pPr/>
              <a:t>14</a:t>
            </a:fld>
            <a:endParaRPr lang="en-US" altLang="zh-TW" sz="1000">
              <a:latin typeface="Tahoma" panose="020B0604030504040204" pitchFamily="34" charset="0"/>
            </a:endParaRPr>
          </a:p>
        </p:txBody>
      </p:sp>
      <p:sp>
        <p:nvSpPr>
          <p:cNvPr id="16387" name="Line 2"/>
          <p:cNvSpPr>
            <a:spLocks noChangeShapeType="1"/>
          </p:cNvSpPr>
          <p:nvPr/>
        </p:nvSpPr>
        <p:spPr bwMode="auto">
          <a:xfrm>
            <a:off x="43815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88" name="Line 3"/>
          <p:cNvSpPr>
            <a:spLocks noChangeShapeType="1"/>
          </p:cNvSpPr>
          <p:nvPr/>
        </p:nvSpPr>
        <p:spPr bwMode="auto">
          <a:xfrm>
            <a:off x="439738" y="3657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89" name="Rectangle 4"/>
          <p:cNvSpPr>
            <a:spLocks noChangeArrowheads="1"/>
          </p:cNvSpPr>
          <p:nvPr/>
        </p:nvSpPr>
        <p:spPr bwMode="auto">
          <a:xfrm>
            <a:off x="476250" y="2759075"/>
            <a:ext cx="8077200" cy="8223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a:ea typeface="新細明體" charset="-120"/>
              </a:rPr>
              <a:t>A function name is used three times: for declaration, in a call, and for definition.</a:t>
            </a:r>
          </a:p>
        </p:txBody>
      </p:sp>
      <p:sp>
        <p:nvSpPr>
          <p:cNvPr id="575493" name="Text Box 5"/>
          <p:cNvSpPr txBox="1">
            <a:spLocks noChangeArrowheads="1"/>
          </p:cNvSpPr>
          <p:nvPr/>
        </p:nvSpPr>
        <p:spPr bwMode="auto">
          <a:xfrm>
            <a:off x="358775" y="2035175"/>
            <a:ext cx="1073150" cy="641350"/>
          </a:xfrm>
          <a:prstGeom prst="rect">
            <a:avLst/>
          </a:prstGeom>
          <a:noFill/>
          <a:ln w="76200" algn="ctr">
            <a:noFill/>
            <a:miter lim="800000"/>
            <a:headEnd/>
            <a:tailEnd/>
          </a:ln>
          <a:effectLst/>
        </p:spPr>
        <p:txBody>
          <a:bodyPr wrap="none">
            <a:spAutoFit/>
          </a:bodyPr>
          <a:lstStyle/>
          <a:p>
            <a:pPr algn="ctr">
              <a:defRPr/>
            </a:pPr>
            <a:r>
              <a:rPr lang="en-US" altLang="zh-TW" sz="36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6313ED8-4147-478D-951B-B790105900D1}" type="slidenum">
              <a:rPr lang="zh-TW" altLang="en-US" sz="1000">
                <a:latin typeface="Tahoma" panose="020B0604030504040204" pitchFamily="34" charset="0"/>
              </a:rPr>
              <a:pPr/>
              <a:t>15</a:t>
            </a:fld>
            <a:endParaRPr lang="en-US" altLang="zh-TW" sz="1000">
              <a:latin typeface="Tahoma" panose="020B0604030504040204" pitchFamily="34" charset="0"/>
            </a:endParaRPr>
          </a:p>
        </p:txBody>
      </p:sp>
      <p:sp>
        <p:nvSpPr>
          <p:cNvPr id="17411"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2" name="Rectangle 3"/>
          <p:cNvSpPr>
            <a:spLocks noChangeArrowheads="1"/>
          </p:cNvSpPr>
          <p:nvPr/>
        </p:nvSpPr>
        <p:spPr bwMode="auto">
          <a:xfrm>
            <a:off x="152400" y="5791200"/>
            <a:ext cx="6340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4-5</a:t>
            </a:r>
            <a:r>
              <a:rPr lang="en-US" altLang="zh-TW" sz="2000">
                <a:ea typeface="新細明體" charset="-120"/>
              </a:rPr>
              <a:t>  Declaring, Calling, and Defining Functions</a:t>
            </a:r>
          </a:p>
        </p:txBody>
      </p:sp>
      <p:grpSp>
        <p:nvGrpSpPr>
          <p:cNvPr id="17413" name="Group 4"/>
          <p:cNvGrpSpPr>
            <a:grpSpLocks/>
          </p:cNvGrpSpPr>
          <p:nvPr/>
        </p:nvGrpSpPr>
        <p:grpSpPr bwMode="auto">
          <a:xfrm>
            <a:off x="228600" y="252413"/>
            <a:ext cx="8610600" cy="5995987"/>
            <a:chOff x="336" y="159"/>
            <a:chExt cx="5232" cy="3777"/>
          </a:xfrm>
        </p:grpSpPr>
        <p:sp>
          <p:nvSpPr>
            <p:cNvPr id="17416"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7"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8"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741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1304925"/>
            <a:ext cx="848360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17415" name="文字方塊 1"/>
          <p:cNvSpPr txBox="1">
            <a:spLocks noChangeArrowheads="1"/>
          </p:cNvSpPr>
          <p:nvPr/>
        </p:nvSpPr>
        <p:spPr bwMode="auto">
          <a:xfrm>
            <a:off x="5092700" y="842963"/>
            <a:ext cx="2667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r>
              <a:rPr lang="en-US" altLang="zh-TW">
                <a:solidFill>
                  <a:srgbClr val="FF0000"/>
                </a:solidFill>
                <a:ea typeface="新細明體" charset="-120"/>
              </a:rPr>
              <a:t>Defining Function</a:t>
            </a:r>
            <a:endParaRPr lang="zh-TW" altLang="en-US">
              <a:solidFill>
                <a:srgbClr val="FF0000"/>
              </a:solidFill>
              <a:ea typeface="新細明體" charset="-12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C25728B1-ABFC-4E4D-B465-B4D22E4E9C21}" type="slidenum">
              <a:rPr lang="zh-TW" altLang="en-US" sz="1000">
                <a:latin typeface="Tahoma" panose="020B0604030504040204" pitchFamily="34" charset="0"/>
              </a:rPr>
              <a:pPr/>
              <a:t>16</a:t>
            </a:fld>
            <a:endParaRPr lang="en-US" altLang="zh-TW" sz="1000">
              <a:latin typeface="Tahoma" panose="020B0604030504040204" pitchFamily="34" charset="0"/>
            </a:endParaRPr>
          </a:p>
        </p:txBody>
      </p:sp>
      <p:sp>
        <p:nvSpPr>
          <p:cNvPr id="18435"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6" name="Rectangle 3"/>
          <p:cNvSpPr>
            <a:spLocks noChangeArrowheads="1"/>
          </p:cNvSpPr>
          <p:nvPr/>
        </p:nvSpPr>
        <p:spPr bwMode="auto">
          <a:xfrm>
            <a:off x="228600" y="5791200"/>
            <a:ext cx="5035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4-6</a:t>
            </a:r>
            <a:r>
              <a:rPr lang="en-US" altLang="zh-TW" sz="2000">
                <a:ea typeface="新細明體" charset="-120"/>
              </a:rPr>
              <a:t>  </a:t>
            </a:r>
            <a:r>
              <a:rPr lang="en-US" altLang="zh-TW" sz="2000" i="1">
                <a:ea typeface="新細明體" charset="-120"/>
              </a:rPr>
              <a:t>void</a:t>
            </a:r>
            <a:r>
              <a:rPr lang="en-US" altLang="zh-TW" sz="2000">
                <a:ea typeface="新細明體" charset="-120"/>
              </a:rPr>
              <a:t> Function with Parameters</a:t>
            </a:r>
          </a:p>
        </p:txBody>
      </p:sp>
      <p:grpSp>
        <p:nvGrpSpPr>
          <p:cNvPr id="18437" name="Group 4"/>
          <p:cNvGrpSpPr>
            <a:grpSpLocks/>
          </p:cNvGrpSpPr>
          <p:nvPr/>
        </p:nvGrpSpPr>
        <p:grpSpPr bwMode="auto">
          <a:xfrm>
            <a:off x="228600" y="252413"/>
            <a:ext cx="8610600" cy="5995987"/>
            <a:chOff x="336" y="159"/>
            <a:chExt cx="5232" cy="3777"/>
          </a:xfrm>
        </p:grpSpPr>
        <p:sp>
          <p:nvSpPr>
            <p:cNvPr id="18439"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0"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41"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18438"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33400"/>
            <a:ext cx="8401050"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0D4E5F1C-0A3E-4E28-BB5B-40E8448C52D3}" type="slidenum">
              <a:rPr lang="zh-TW" altLang="en-US" sz="1000">
                <a:latin typeface="Tahoma" panose="020B0604030504040204" pitchFamily="34" charset="0"/>
              </a:rPr>
              <a:pPr/>
              <a:t>17</a:t>
            </a:fld>
            <a:endParaRPr lang="en-US" altLang="zh-TW" sz="1000">
              <a:latin typeface="Tahoma" panose="020B0604030504040204" pitchFamily="34" charset="0"/>
            </a:endParaRPr>
          </a:p>
        </p:txBody>
      </p:sp>
      <p:sp>
        <p:nvSpPr>
          <p:cNvPr id="19459" name="Text Box 2"/>
          <p:cNvSpPr txBox="1">
            <a:spLocks noChangeArrowheads="1"/>
          </p:cNvSpPr>
          <p:nvPr/>
        </p:nvSpPr>
        <p:spPr bwMode="auto">
          <a:xfrm>
            <a:off x="5257800" y="15240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4-2</a:t>
            </a:r>
          </a:p>
        </p:txBody>
      </p:sp>
      <p:sp>
        <p:nvSpPr>
          <p:cNvPr id="19460" name="Text Box 3"/>
          <p:cNvSpPr txBox="1">
            <a:spLocks noChangeArrowheads="1"/>
          </p:cNvSpPr>
          <p:nvPr/>
        </p:nvSpPr>
        <p:spPr bwMode="auto">
          <a:xfrm>
            <a:off x="5334000" y="533400"/>
            <a:ext cx="3609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i="1">
                <a:ea typeface="新細明體" charset="-120"/>
              </a:rPr>
              <a:t>void</a:t>
            </a:r>
            <a:r>
              <a:rPr lang="en-US" altLang="zh-TW" sz="2000">
                <a:ea typeface="新細明體" charset="-120"/>
              </a:rPr>
              <a:t> Function with a Parameter</a:t>
            </a:r>
          </a:p>
        </p:txBody>
      </p:sp>
      <p:pic>
        <p:nvPicPr>
          <p:cNvPr id="19461"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4700588"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1946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405188"/>
            <a:ext cx="47117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1946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388" y="3792538"/>
            <a:ext cx="4641850"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19464"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352800"/>
            <a:ext cx="2847975"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004BC176-D4C8-4FEE-A113-754FB9EA296B}" type="slidenum">
              <a:rPr lang="zh-TW" altLang="en-US" sz="1000">
                <a:latin typeface="Tahoma" panose="020B0604030504040204" pitchFamily="34" charset="0"/>
              </a:rPr>
              <a:pPr/>
              <a:t>18</a:t>
            </a:fld>
            <a:endParaRPr lang="en-US" altLang="zh-TW" sz="1000">
              <a:latin typeface="Tahoma" panose="020B0604030504040204" pitchFamily="34" charset="0"/>
            </a:endParaRPr>
          </a:p>
        </p:txBody>
      </p:sp>
      <p:sp>
        <p:nvSpPr>
          <p:cNvPr id="20483"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84" name="Rectangle 3"/>
          <p:cNvSpPr>
            <a:spLocks noChangeArrowheads="1"/>
          </p:cNvSpPr>
          <p:nvPr/>
        </p:nvSpPr>
        <p:spPr bwMode="auto">
          <a:xfrm>
            <a:off x="152400" y="5791200"/>
            <a:ext cx="5953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4-7</a:t>
            </a:r>
            <a:r>
              <a:rPr lang="en-US" altLang="zh-TW" sz="2000">
                <a:ea typeface="新細明體" charset="-120"/>
              </a:rPr>
              <a:t>  Non-void Function without Parameters</a:t>
            </a:r>
          </a:p>
        </p:txBody>
      </p:sp>
      <p:grpSp>
        <p:nvGrpSpPr>
          <p:cNvPr id="20485" name="Group 4"/>
          <p:cNvGrpSpPr>
            <a:grpSpLocks/>
          </p:cNvGrpSpPr>
          <p:nvPr/>
        </p:nvGrpSpPr>
        <p:grpSpPr bwMode="auto">
          <a:xfrm>
            <a:off x="228600" y="252413"/>
            <a:ext cx="8610600" cy="5995987"/>
            <a:chOff x="336" y="159"/>
            <a:chExt cx="5232" cy="3777"/>
          </a:xfrm>
        </p:grpSpPr>
        <p:sp>
          <p:nvSpPr>
            <p:cNvPr id="20487"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88"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89"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048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8683625"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E72445C-A387-48FB-9420-63B6C190A611}" type="slidenum">
              <a:rPr lang="zh-TW" altLang="en-US" sz="1000">
                <a:latin typeface="Tahoma" panose="020B0604030504040204" pitchFamily="34" charset="0"/>
              </a:rPr>
              <a:pPr/>
              <a:t>19</a:t>
            </a:fld>
            <a:endParaRPr lang="en-US" altLang="zh-TW" sz="1000">
              <a:latin typeface="Tahoma" panose="020B0604030504040204" pitchFamily="34" charset="0"/>
            </a:endParaRPr>
          </a:p>
        </p:txBody>
      </p:sp>
      <p:sp>
        <p:nvSpPr>
          <p:cNvPr id="2150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08" name="Rectangle 3"/>
          <p:cNvSpPr>
            <a:spLocks noChangeArrowheads="1"/>
          </p:cNvSpPr>
          <p:nvPr/>
        </p:nvSpPr>
        <p:spPr bwMode="auto">
          <a:xfrm>
            <a:off x="152400" y="5791200"/>
            <a:ext cx="61309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4-8</a:t>
            </a:r>
            <a:r>
              <a:rPr lang="en-US" altLang="zh-TW" sz="2000">
                <a:ea typeface="新細明體" charset="-120"/>
              </a:rPr>
              <a:t>  Calling a Function That Returns a Value</a:t>
            </a:r>
          </a:p>
        </p:txBody>
      </p:sp>
      <p:grpSp>
        <p:nvGrpSpPr>
          <p:cNvPr id="21509" name="Group 4"/>
          <p:cNvGrpSpPr>
            <a:grpSpLocks/>
          </p:cNvGrpSpPr>
          <p:nvPr/>
        </p:nvGrpSpPr>
        <p:grpSpPr bwMode="auto">
          <a:xfrm>
            <a:off x="228600" y="252413"/>
            <a:ext cx="8610600" cy="5995987"/>
            <a:chOff x="336" y="159"/>
            <a:chExt cx="5232" cy="3777"/>
          </a:xfrm>
        </p:grpSpPr>
        <p:sp>
          <p:nvSpPr>
            <p:cNvPr id="2151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1510"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990600"/>
            <a:ext cx="755015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284184DA-9719-45D5-8613-E03B0A34B1F9}" type="slidenum">
              <a:rPr lang="zh-TW" altLang="en-US" sz="1000">
                <a:latin typeface="Tahoma" panose="020B0604030504040204" pitchFamily="34" charset="0"/>
              </a:rPr>
              <a:pPr/>
              <a:t>20</a:t>
            </a:fld>
            <a:endParaRPr lang="en-US" altLang="zh-TW" sz="1000">
              <a:latin typeface="Tahoma" panose="020B0604030504040204" pitchFamily="34" charset="0"/>
            </a:endParaRPr>
          </a:p>
        </p:txBody>
      </p:sp>
      <p:sp>
        <p:nvSpPr>
          <p:cNvPr id="22531" name="Text Box 2"/>
          <p:cNvSpPr txBox="1">
            <a:spLocks noChangeArrowheads="1"/>
          </p:cNvSpPr>
          <p:nvPr/>
        </p:nvSpPr>
        <p:spPr bwMode="auto">
          <a:xfrm>
            <a:off x="5486400" y="24130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4-3</a:t>
            </a:r>
          </a:p>
        </p:txBody>
      </p:sp>
      <p:sp>
        <p:nvSpPr>
          <p:cNvPr id="22532" name="Text Box 3"/>
          <p:cNvSpPr txBox="1">
            <a:spLocks noChangeArrowheads="1"/>
          </p:cNvSpPr>
          <p:nvPr/>
        </p:nvSpPr>
        <p:spPr bwMode="auto">
          <a:xfrm>
            <a:off x="5486400" y="609600"/>
            <a:ext cx="3465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ea typeface="新細明體" charset="-120"/>
              </a:rPr>
              <a:t>Read a Number and Square It</a:t>
            </a:r>
          </a:p>
        </p:txBody>
      </p:sp>
      <p:pic>
        <p:nvPicPr>
          <p:cNvPr id="2253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1600"/>
            <a:ext cx="5200650" cy="322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2253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0" y="3314700"/>
            <a:ext cx="51974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22535"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0" y="5981700"/>
            <a:ext cx="524033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5280F00-FD01-48DD-AE1F-BFAED954F3D1}" type="slidenum">
              <a:rPr lang="zh-TW" altLang="en-US" sz="1000">
                <a:latin typeface="Tahoma" panose="020B0604030504040204" pitchFamily="34" charset="0"/>
              </a:rPr>
              <a:pPr/>
              <a:t>21</a:t>
            </a:fld>
            <a:endParaRPr lang="en-US" altLang="zh-TW" sz="1000">
              <a:latin typeface="Tahoma" panose="020B0604030504040204" pitchFamily="34" charset="0"/>
            </a:endParaRPr>
          </a:p>
        </p:txBody>
      </p:sp>
      <p:pic>
        <p:nvPicPr>
          <p:cNvPr id="2355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101600"/>
            <a:ext cx="5173663" cy="352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23556"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 y="3627438"/>
            <a:ext cx="5151438" cy="304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774B725-9029-48E3-A5BB-72A10C1E1F7A}" type="slidenum">
              <a:rPr lang="zh-TW" altLang="en-US" sz="1000">
                <a:latin typeface="Tahoma" panose="020B0604030504040204" pitchFamily="34" charset="0"/>
              </a:rPr>
              <a:pPr/>
              <a:t>22</a:t>
            </a:fld>
            <a:endParaRPr lang="en-US" altLang="zh-TW" sz="1000">
              <a:latin typeface="Tahoma" panose="020B0604030504040204" pitchFamily="34" charset="0"/>
            </a:endParaRPr>
          </a:p>
        </p:txBody>
      </p:sp>
      <p:sp>
        <p:nvSpPr>
          <p:cNvPr id="2457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0" name="Rectangle 3"/>
          <p:cNvSpPr>
            <a:spLocks noChangeArrowheads="1"/>
          </p:cNvSpPr>
          <p:nvPr/>
        </p:nvSpPr>
        <p:spPr bwMode="auto">
          <a:xfrm>
            <a:off x="152400" y="5791200"/>
            <a:ext cx="3822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4-9</a:t>
            </a:r>
            <a:r>
              <a:rPr lang="en-US" altLang="zh-TW" sz="2000">
                <a:ea typeface="新細明體" charset="-120"/>
              </a:rPr>
              <a:t>  Function Definition</a:t>
            </a:r>
          </a:p>
        </p:txBody>
      </p:sp>
      <p:grpSp>
        <p:nvGrpSpPr>
          <p:cNvPr id="24581" name="Group 4"/>
          <p:cNvGrpSpPr>
            <a:grpSpLocks/>
          </p:cNvGrpSpPr>
          <p:nvPr/>
        </p:nvGrpSpPr>
        <p:grpSpPr bwMode="auto">
          <a:xfrm>
            <a:off x="228600" y="252413"/>
            <a:ext cx="8610600" cy="5995987"/>
            <a:chOff x="336" y="159"/>
            <a:chExt cx="5232" cy="3777"/>
          </a:xfrm>
        </p:grpSpPr>
        <p:sp>
          <p:nvSpPr>
            <p:cNvPr id="24583"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5"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458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063" y="1531938"/>
            <a:ext cx="8593137" cy="364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6B7F2D90-670A-447E-AE3B-2A93E25D18D7}" type="slidenum">
              <a:rPr lang="zh-TW" altLang="en-US" sz="1000">
                <a:latin typeface="Tahoma" panose="020B0604030504040204" pitchFamily="34" charset="0"/>
              </a:rPr>
              <a:pPr/>
              <a:t>23</a:t>
            </a:fld>
            <a:endParaRPr lang="en-US" altLang="zh-TW" sz="1000">
              <a:latin typeface="Tahoma" panose="020B0604030504040204" pitchFamily="34" charset="0"/>
            </a:endParaRPr>
          </a:p>
        </p:txBody>
      </p:sp>
      <p:sp>
        <p:nvSpPr>
          <p:cNvPr id="25603"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4" name="Rectangle 3"/>
          <p:cNvSpPr>
            <a:spLocks noChangeArrowheads="1"/>
          </p:cNvSpPr>
          <p:nvPr/>
        </p:nvSpPr>
        <p:spPr bwMode="auto">
          <a:xfrm>
            <a:off x="152400" y="5791200"/>
            <a:ext cx="4902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4-10</a:t>
            </a:r>
            <a:r>
              <a:rPr lang="en-US" altLang="zh-TW" sz="2000">
                <a:ea typeface="新細明體" charset="-120"/>
              </a:rPr>
              <a:t>  Function Return Statements</a:t>
            </a:r>
          </a:p>
        </p:txBody>
      </p:sp>
      <p:grpSp>
        <p:nvGrpSpPr>
          <p:cNvPr id="25605" name="Group 4"/>
          <p:cNvGrpSpPr>
            <a:grpSpLocks/>
          </p:cNvGrpSpPr>
          <p:nvPr/>
        </p:nvGrpSpPr>
        <p:grpSpPr bwMode="auto">
          <a:xfrm>
            <a:off x="228600" y="252413"/>
            <a:ext cx="8610600" cy="5995987"/>
            <a:chOff x="336" y="159"/>
            <a:chExt cx="5232" cy="3777"/>
          </a:xfrm>
        </p:grpSpPr>
        <p:sp>
          <p:nvSpPr>
            <p:cNvPr id="25607"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560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27113"/>
            <a:ext cx="8335963"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754F13F-ED6C-4C7F-BD6F-FDCA576C88BC}" type="slidenum">
              <a:rPr lang="zh-TW" altLang="en-US" sz="1000">
                <a:latin typeface="Tahoma" panose="020B0604030504040204" pitchFamily="34" charset="0"/>
              </a:rPr>
              <a:pPr/>
              <a:t>24</a:t>
            </a:fld>
            <a:endParaRPr lang="en-US" altLang="zh-TW" sz="1000">
              <a:latin typeface="Tahoma" panose="020B0604030504040204" pitchFamily="34" charset="0"/>
            </a:endParaRPr>
          </a:p>
        </p:txBody>
      </p:sp>
      <p:sp>
        <p:nvSpPr>
          <p:cNvPr id="2662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28" name="Rectangle 3"/>
          <p:cNvSpPr>
            <a:spLocks noChangeArrowheads="1"/>
          </p:cNvSpPr>
          <p:nvPr/>
        </p:nvSpPr>
        <p:spPr bwMode="auto">
          <a:xfrm>
            <a:off x="152400" y="5791200"/>
            <a:ext cx="4578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4-11</a:t>
            </a:r>
            <a:r>
              <a:rPr lang="en-US" altLang="zh-TW" sz="2000">
                <a:ea typeface="新細明體" charset="-120"/>
              </a:rPr>
              <a:t>  Function Local Variables</a:t>
            </a:r>
          </a:p>
        </p:txBody>
      </p:sp>
      <p:grpSp>
        <p:nvGrpSpPr>
          <p:cNvPr id="26629" name="Group 4"/>
          <p:cNvGrpSpPr>
            <a:grpSpLocks/>
          </p:cNvGrpSpPr>
          <p:nvPr/>
        </p:nvGrpSpPr>
        <p:grpSpPr bwMode="auto">
          <a:xfrm>
            <a:off x="228600" y="252413"/>
            <a:ext cx="8610600" cy="5995987"/>
            <a:chOff x="336" y="159"/>
            <a:chExt cx="5232" cy="3777"/>
          </a:xfrm>
        </p:grpSpPr>
        <p:sp>
          <p:nvSpPr>
            <p:cNvPr id="2663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663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063" y="819150"/>
            <a:ext cx="8593137" cy="451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8C53EC56-1224-45D5-98D5-E7A4224F2BDF}" type="slidenum">
              <a:rPr lang="zh-TW" altLang="en-US" sz="1000">
                <a:latin typeface="Tahoma" panose="020B0604030504040204" pitchFamily="34" charset="0"/>
              </a:rPr>
              <a:pPr/>
              <a:t>25</a:t>
            </a:fld>
            <a:endParaRPr lang="en-US" altLang="zh-TW" sz="1000">
              <a:latin typeface="Tahoma" panose="020B0604030504040204" pitchFamily="34" charset="0"/>
            </a:endParaRPr>
          </a:p>
        </p:txBody>
      </p:sp>
      <p:sp>
        <p:nvSpPr>
          <p:cNvPr id="27651" name="Line 2"/>
          <p:cNvSpPr>
            <a:spLocks noChangeShapeType="1"/>
          </p:cNvSpPr>
          <p:nvPr/>
        </p:nvSpPr>
        <p:spPr bwMode="auto">
          <a:xfrm>
            <a:off x="438150" y="1393825"/>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2" name="Line 3"/>
          <p:cNvSpPr>
            <a:spLocks noChangeShapeType="1"/>
          </p:cNvSpPr>
          <p:nvPr/>
        </p:nvSpPr>
        <p:spPr bwMode="auto">
          <a:xfrm>
            <a:off x="439738" y="5715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3" name="Rectangle 4"/>
          <p:cNvSpPr>
            <a:spLocks noChangeArrowheads="1"/>
          </p:cNvSpPr>
          <p:nvPr/>
        </p:nvSpPr>
        <p:spPr bwMode="auto">
          <a:xfrm>
            <a:off x="476250" y="1485900"/>
            <a:ext cx="8077200" cy="41544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dirty="0" smtClean="0">
                <a:ea typeface="新細明體" charset="-120"/>
              </a:rPr>
              <a:t>Formal </a:t>
            </a:r>
            <a:r>
              <a:rPr lang="en-US" altLang="zh-TW" dirty="0">
                <a:ea typeface="新細明體" charset="-120"/>
              </a:rPr>
              <a:t>and Actual </a:t>
            </a:r>
            <a:r>
              <a:rPr lang="en-US" altLang="zh-TW" dirty="0" smtClean="0">
                <a:ea typeface="新細明體" charset="-120"/>
              </a:rPr>
              <a:t>Parameters</a:t>
            </a:r>
            <a:endParaRPr lang="en-US" altLang="zh-TW" dirty="0">
              <a:ea typeface="新細明體" charset="-120"/>
            </a:endParaRPr>
          </a:p>
          <a:p>
            <a:pPr algn="l"/>
            <a:r>
              <a:rPr lang="en-US" altLang="zh-TW" dirty="0">
                <a:ea typeface="新細明體" charset="-120"/>
              </a:rPr>
              <a:t>Formal parameters are variables that are declared in the header of the function definition.</a:t>
            </a:r>
            <a:br>
              <a:rPr lang="en-US" altLang="zh-TW" dirty="0">
                <a:ea typeface="新細明體" charset="-120"/>
              </a:rPr>
            </a:br>
            <a:endParaRPr lang="en-US" altLang="zh-TW" dirty="0">
              <a:ea typeface="新細明體" charset="-120"/>
            </a:endParaRPr>
          </a:p>
          <a:p>
            <a:pPr algn="l"/>
            <a:r>
              <a:rPr lang="en-US" altLang="zh-TW" dirty="0">
                <a:ea typeface="新細明體" charset="-120"/>
              </a:rPr>
              <a:t>Actual parameters are the expressions in the calling statement.</a:t>
            </a:r>
            <a:br>
              <a:rPr lang="en-US" altLang="zh-TW" dirty="0">
                <a:ea typeface="新細明體" charset="-120"/>
              </a:rPr>
            </a:br>
            <a:endParaRPr lang="en-US" altLang="zh-TW" dirty="0">
              <a:ea typeface="新細明體" charset="-120"/>
            </a:endParaRPr>
          </a:p>
          <a:p>
            <a:pPr algn="l"/>
            <a:r>
              <a:rPr lang="en-US" altLang="zh-TW" dirty="0">
                <a:ea typeface="新細明體" charset="-120"/>
              </a:rPr>
              <a:t>Formal and actual parameters must match exactly in type, order, and number.</a:t>
            </a:r>
            <a:br>
              <a:rPr lang="en-US" altLang="zh-TW" dirty="0">
                <a:ea typeface="新細明體" charset="-120"/>
              </a:rPr>
            </a:br>
            <a:endParaRPr lang="en-US" altLang="zh-TW" dirty="0">
              <a:ea typeface="新細明體" charset="-120"/>
            </a:endParaRPr>
          </a:p>
          <a:p>
            <a:pPr algn="l"/>
            <a:r>
              <a:rPr lang="en-US" altLang="zh-TW" dirty="0">
                <a:ea typeface="新細明體" charset="-120"/>
              </a:rPr>
              <a:t>Their names, however, do not need to match.</a:t>
            </a:r>
          </a:p>
        </p:txBody>
      </p:sp>
      <p:sp>
        <p:nvSpPr>
          <p:cNvPr id="604165" name="Text Box 5"/>
          <p:cNvSpPr txBox="1">
            <a:spLocks noChangeArrowheads="1"/>
          </p:cNvSpPr>
          <p:nvPr/>
        </p:nvSpPr>
        <p:spPr bwMode="auto">
          <a:xfrm>
            <a:off x="358775" y="762000"/>
            <a:ext cx="1073150" cy="641350"/>
          </a:xfrm>
          <a:prstGeom prst="rect">
            <a:avLst/>
          </a:prstGeom>
          <a:noFill/>
          <a:ln w="76200" algn="ctr">
            <a:noFill/>
            <a:miter lim="800000"/>
            <a:headEnd/>
            <a:tailEnd/>
          </a:ln>
          <a:effectLst/>
        </p:spPr>
        <p:txBody>
          <a:bodyPr wrap="none">
            <a:spAutoFit/>
          </a:bodyPr>
          <a:lstStyle/>
          <a:p>
            <a:pPr algn="ctr">
              <a:defRPr/>
            </a:pPr>
            <a:r>
              <a:rPr lang="en-US" altLang="zh-TW" sz="36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B981395E-D45E-41C2-BA1B-9D9B46BBB4E1}" type="slidenum">
              <a:rPr lang="zh-TW" altLang="en-US" sz="1000">
                <a:latin typeface="Tahoma" panose="020B0604030504040204" pitchFamily="34" charset="0"/>
              </a:rPr>
              <a:pPr/>
              <a:t>26</a:t>
            </a:fld>
            <a:endParaRPr lang="en-US" altLang="zh-TW" sz="1000">
              <a:latin typeface="Tahoma" panose="020B0604030504040204" pitchFamily="34" charset="0"/>
            </a:endParaRPr>
          </a:p>
        </p:txBody>
      </p:sp>
      <p:sp>
        <p:nvSpPr>
          <p:cNvPr id="28675"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76" name="Rectangle 3"/>
          <p:cNvSpPr>
            <a:spLocks noChangeArrowheads="1"/>
          </p:cNvSpPr>
          <p:nvPr/>
        </p:nvSpPr>
        <p:spPr bwMode="auto">
          <a:xfrm>
            <a:off x="152400" y="5791200"/>
            <a:ext cx="44227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4-12</a:t>
            </a:r>
            <a:r>
              <a:rPr lang="en-US" altLang="zh-TW" sz="2000">
                <a:ea typeface="新細明體" charset="-120"/>
              </a:rPr>
              <a:t>  Parts of a Function Call</a:t>
            </a:r>
          </a:p>
        </p:txBody>
      </p:sp>
      <p:grpSp>
        <p:nvGrpSpPr>
          <p:cNvPr id="28677" name="Group 4"/>
          <p:cNvGrpSpPr>
            <a:grpSpLocks/>
          </p:cNvGrpSpPr>
          <p:nvPr/>
        </p:nvGrpSpPr>
        <p:grpSpPr bwMode="auto">
          <a:xfrm>
            <a:off x="228600" y="252413"/>
            <a:ext cx="8610600" cy="5995987"/>
            <a:chOff x="336" y="159"/>
            <a:chExt cx="5232" cy="3777"/>
          </a:xfrm>
        </p:grpSpPr>
        <p:sp>
          <p:nvSpPr>
            <p:cNvPr id="28679"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0"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8678"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0613" y="549275"/>
            <a:ext cx="7367587" cy="516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C06EDADC-331D-48A9-A07E-B10B2549C806}" type="slidenum">
              <a:rPr lang="zh-TW" altLang="en-US" sz="1000">
                <a:latin typeface="Tahoma" panose="020B0604030504040204" pitchFamily="34" charset="0"/>
              </a:rPr>
              <a:pPr/>
              <a:t>27</a:t>
            </a:fld>
            <a:endParaRPr lang="en-US" altLang="zh-TW" sz="1000">
              <a:latin typeface="Tahoma" panose="020B0604030504040204" pitchFamily="34" charset="0"/>
            </a:endParaRPr>
          </a:p>
        </p:txBody>
      </p:sp>
      <p:sp>
        <p:nvSpPr>
          <p:cNvPr id="2969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0" name="Rectangle 3"/>
          <p:cNvSpPr>
            <a:spLocks noChangeArrowheads="1"/>
          </p:cNvSpPr>
          <p:nvPr/>
        </p:nvSpPr>
        <p:spPr bwMode="auto">
          <a:xfrm>
            <a:off x="152400" y="5791200"/>
            <a:ext cx="4810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4-13</a:t>
            </a:r>
            <a:r>
              <a:rPr lang="en-US" altLang="zh-TW" sz="2000">
                <a:ea typeface="新細明體" charset="-120"/>
              </a:rPr>
              <a:t>  Examples of Function Calls</a:t>
            </a:r>
          </a:p>
        </p:txBody>
      </p:sp>
      <p:grpSp>
        <p:nvGrpSpPr>
          <p:cNvPr id="29701" name="Group 4"/>
          <p:cNvGrpSpPr>
            <a:grpSpLocks/>
          </p:cNvGrpSpPr>
          <p:nvPr/>
        </p:nvGrpSpPr>
        <p:grpSpPr bwMode="auto">
          <a:xfrm>
            <a:off x="228600" y="252413"/>
            <a:ext cx="8610600" cy="5995987"/>
            <a:chOff x="336" y="159"/>
            <a:chExt cx="5232" cy="3777"/>
          </a:xfrm>
        </p:grpSpPr>
        <p:sp>
          <p:nvSpPr>
            <p:cNvPr id="29703"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4"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05"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2970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8" y="2100263"/>
            <a:ext cx="8418512" cy="255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7677AD6-B2E6-412C-AB3A-45B5F11B9B62}" type="slidenum">
              <a:rPr lang="zh-TW" altLang="en-US" sz="1000">
                <a:latin typeface="Tahoma" panose="020B0604030504040204" pitchFamily="34" charset="0"/>
              </a:rPr>
              <a:pPr/>
              <a:t>28</a:t>
            </a:fld>
            <a:endParaRPr lang="en-US" altLang="zh-TW" sz="1000">
              <a:latin typeface="Tahoma" panose="020B0604030504040204" pitchFamily="34" charset="0"/>
            </a:endParaRPr>
          </a:p>
        </p:txBody>
      </p:sp>
      <p:sp>
        <p:nvSpPr>
          <p:cNvPr id="30723" name="Text Box 2"/>
          <p:cNvSpPr txBox="1">
            <a:spLocks noChangeArrowheads="1"/>
          </p:cNvSpPr>
          <p:nvPr/>
        </p:nvSpPr>
        <p:spPr bwMode="auto">
          <a:xfrm>
            <a:off x="6019800" y="22860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4-4</a:t>
            </a:r>
          </a:p>
        </p:txBody>
      </p:sp>
      <p:sp>
        <p:nvSpPr>
          <p:cNvPr id="30724" name="Text Box 3"/>
          <p:cNvSpPr txBox="1">
            <a:spLocks noChangeArrowheads="1"/>
          </p:cNvSpPr>
          <p:nvPr/>
        </p:nvSpPr>
        <p:spPr bwMode="auto">
          <a:xfrm>
            <a:off x="6088063" y="622300"/>
            <a:ext cx="23828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Print Least Significant Digit</a:t>
            </a:r>
          </a:p>
        </p:txBody>
      </p:sp>
      <p:grpSp>
        <p:nvGrpSpPr>
          <p:cNvPr id="30725" name="Group 7"/>
          <p:cNvGrpSpPr>
            <a:grpSpLocks noChangeAspect="1"/>
          </p:cNvGrpSpPr>
          <p:nvPr/>
        </p:nvGrpSpPr>
        <p:grpSpPr bwMode="auto">
          <a:xfrm>
            <a:off x="381000" y="0"/>
            <a:ext cx="5175250" cy="3381375"/>
            <a:chOff x="167" y="384"/>
            <a:chExt cx="5257" cy="3682"/>
          </a:xfrm>
        </p:grpSpPr>
        <p:pic>
          <p:nvPicPr>
            <p:cNvPr id="30728"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 y="1728"/>
              <a:ext cx="5257" cy="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07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 y="384"/>
              <a:ext cx="5257" cy="1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grpSp>
      <p:pic>
        <p:nvPicPr>
          <p:cNvPr id="30726"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400" y="3378200"/>
            <a:ext cx="5197475"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0727"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130425"/>
            <a:ext cx="42100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BD68C849-B410-4BB9-9227-3ACD04E30865}" type="slidenum">
              <a:rPr lang="zh-TW" altLang="en-US" sz="1000">
                <a:latin typeface="Tahoma" panose="020B0604030504040204" pitchFamily="34" charset="0"/>
              </a:rPr>
              <a:pPr/>
              <a:t>29</a:t>
            </a:fld>
            <a:endParaRPr lang="en-US" altLang="zh-TW" sz="1000">
              <a:latin typeface="Tahoma" panose="020B0604030504040204" pitchFamily="34" charset="0"/>
            </a:endParaRPr>
          </a:p>
        </p:txBody>
      </p:sp>
      <p:sp>
        <p:nvSpPr>
          <p:cNvPr id="3174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48" name="Rectangle 3"/>
          <p:cNvSpPr>
            <a:spLocks noChangeArrowheads="1"/>
          </p:cNvSpPr>
          <p:nvPr/>
        </p:nvSpPr>
        <p:spPr bwMode="auto">
          <a:xfrm>
            <a:off x="152400" y="5791200"/>
            <a:ext cx="4721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4-14</a:t>
            </a:r>
            <a:r>
              <a:rPr lang="en-US" altLang="zh-TW" sz="2000">
                <a:ea typeface="新細明體" charset="-120"/>
              </a:rPr>
              <a:t>  Design for Add Two Digits</a:t>
            </a:r>
          </a:p>
        </p:txBody>
      </p:sp>
      <p:grpSp>
        <p:nvGrpSpPr>
          <p:cNvPr id="31749" name="Group 4"/>
          <p:cNvGrpSpPr>
            <a:grpSpLocks/>
          </p:cNvGrpSpPr>
          <p:nvPr/>
        </p:nvGrpSpPr>
        <p:grpSpPr bwMode="auto">
          <a:xfrm>
            <a:off x="228600" y="252413"/>
            <a:ext cx="8610600" cy="5995987"/>
            <a:chOff x="336" y="159"/>
            <a:chExt cx="5232" cy="3777"/>
          </a:xfrm>
        </p:grpSpPr>
        <p:sp>
          <p:nvSpPr>
            <p:cNvPr id="3175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5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175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1371600"/>
            <a:ext cx="5127625" cy="392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7E5EC59-8081-42F7-A1AC-21B1F804C087}" type="slidenum">
              <a:rPr lang="zh-TW" altLang="en-US" sz="1000">
                <a:latin typeface="Tahoma" panose="020B0604030504040204" pitchFamily="34" charset="0"/>
              </a:rPr>
              <a:pPr/>
              <a:t>30</a:t>
            </a:fld>
            <a:endParaRPr lang="en-US" altLang="zh-TW" sz="1000">
              <a:latin typeface="Tahoma" panose="020B0604030504040204" pitchFamily="34" charset="0"/>
            </a:endParaRPr>
          </a:p>
        </p:txBody>
      </p:sp>
      <p:sp>
        <p:nvSpPr>
          <p:cNvPr id="32771" name="Text Box 2"/>
          <p:cNvSpPr txBox="1">
            <a:spLocks noChangeArrowheads="1"/>
          </p:cNvSpPr>
          <p:nvPr/>
        </p:nvSpPr>
        <p:spPr bwMode="auto">
          <a:xfrm>
            <a:off x="4800600" y="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4-5</a:t>
            </a:r>
          </a:p>
        </p:txBody>
      </p:sp>
      <p:sp>
        <p:nvSpPr>
          <p:cNvPr id="32772" name="Text Box 3"/>
          <p:cNvSpPr txBox="1">
            <a:spLocks noChangeArrowheads="1"/>
          </p:cNvSpPr>
          <p:nvPr/>
        </p:nvSpPr>
        <p:spPr bwMode="auto">
          <a:xfrm>
            <a:off x="6858000" y="0"/>
            <a:ext cx="1892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ea typeface="新細明體" charset="-120"/>
              </a:rPr>
              <a:t>Add Two Digits</a:t>
            </a:r>
          </a:p>
        </p:txBody>
      </p:sp>
      <p:pic>
        <p:nvPicPr>
          <p:cNvPr id="327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4646613"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grpSp>
        <p:nvGrpSpPr>
          <p:cNvPr id="32774" name="Group 6"/>
          <p:cNvGrpSpPr>
            <a:grpSpLocks noChangeAspect="1"/>
          </p:cNvGrpSpPr>
          <p:nvPr/>
        </p:nvGrpSpPr>
        <p:grpSpPr bwMode="auto">
          <a:xfrm>
            <a:off x="13494" y="3509538"/>
            <a:ext cx="4664075" cy="2968625"/>
            <a:chOff x="192" y="336"/>
            <a:chExt cx="5240" cy="3833"/>
          </a:xfrm>
        </p:grpSpPr>
        <p:pic>
          <p:nvPicPr>
            <p:cNvPr id="3277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2" y="336"/>
              <a:ext cx="5240" cy="1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278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 y="1488"/>
              <a:ext cx="5240" cy="2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grpSp>
      <p:pic>
        <p:nvPicPr>
          <p:cNvPr id="32775"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30738" y="381000"/>
            <a:ext cx="4513262"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2776"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48200" y="3479800"/>
            <a:ext cx="4464050"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2777"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0900" y="4876800"/>
            <a:ext cx="356235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2" name="Picture 1"/>
          <p:cNvPicPr>
            <a:picLocks noChangeAspect="1"/>
          </p:cNvPicPr>
          <p:nvPr/>
        </p:nvPicPr>
        <p:blipFill>
          <a:blip r:embed="rId8"/>
          <a:stretch>
            <a:fillRect/>
          </a:stretch>
        </p:blipFill>
        <p:spPr>
          <a:xfrm>
            <a:off x="6696026" y="4639582"/>
            <a:ext cx="2404418" cy="1472092"/>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316B9907-0AFE-4F03-ACE3-241F818987AF}" type="slidenum">
              <a:rPr lang="zh-TW" altLang="en-US" sz="1000">
                <a:latin typeface="Tahoma" panose="020B0604030504040204" pitchFamily="34" charset="0"/>
              </a:rPr>
              <a:pPr/>
              <a:t>31</a:t>
            </a:fld>
            <a:endParaRPr lang="en-US" altLang="zh-TW" sz="1000">
              <a:latin typeface="Tahoma" panose="020B0604030504040204" pitchFamily="34" charset="0"/>
            </a:endParaRPr>
          </a:p>
        </p:txBody>
      </p:sp>
      <p:sp>
        <p:nvSpPr>
          <p:cNvPr id="33795" name="Text Box 2"/>
          <p:cNvSpPr txBox="1">
            <a:spLocks noChangeArrowheads="1"/>
          </p:cNvSpPr>
          <p:nvPr/>
        </p:nvSpPr>
        <p:spPr bwMode="auto">
          <a:xfrm>
            <a:off x="5410200" y="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4-6</a:t>
            </a:r>
          </a:p>
        </p:txBody>
      </p:sp>
      <p:sp>
        <p:nvSpPr>
          <p:cNvPr id="33796" name="Text Box 3"/>
          <p:cNvSpPr txBox="1">
            <a:spLocks noChangeArrowheads="1"/>
          </p:cNvSpPr>
          <p:nvPr/>
        </p:nvSpPr>
        <p:spPr bwMode="auto">
          <a:xfrm>
            <a:off x="5410200" y="381000"/>
            <a:ext cx="3313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dirty="0">
                <a:ea typeface="新細明體" charset="-120"/>
              </a:rPr>
              <a:t>Print Six Digits with Comma</a:t>
            </a:r>
          </a:p>
        </p:txBody>
      </p:sp>
      <p:pic>
        <p:nvPicPr>
          <p:cNvPr id="3379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203825"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7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429000"/>
            <a:ext cx="5186363"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79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1219200"/>
            <a:ext cx="52006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80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00" y="5880100"/>
            <a:ext cx="5200650"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801"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43350" y="2286000"/>
            <a:ext cx="52006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802"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43463" y="5006975"/>
            <a:ext cx="4267200" cy="174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803"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09275" y="3361531"/>
            <a:ext cx="5219700"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3804"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838200"/>
            <a:ext cx="520065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60D95150-B123-427B-A924-AC333B43C9B3}" type="slidenum">
              <a:rPr lang="zh-TW" altLang="en-US" sz="1000">
                <a:latin typeface="Tahoma" panose="020B0604030504040204" pitchFamily="34" charset="0"/>
              </a:rPr>
              <a:pPr/>
              <a:t>32</a:t>
            </a:fld>
            <a:endParaRPr lang="en-US" altLang="zh-TW" sz="1000">
              <a:latin typeface="Tahoma" panose="020B0604030504040204" pitchFamily="34" charset="0"/>
            </a:endParaRPr>
          </a:p>
        </p:txBody>
      </p:sp>
      <p:sp>
        <p:nvSpPr>
          <p:cNvPr id="3481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0" name="Rectangle 3"/>
          <p:cNvSpPr>
            <a:spLocks noChangeArrowheads="1"/>
          </p:cNvSpPr>
          <p:nvPr/>
        </p:nvSpPr>
        <p:spPr bwMode="auto">
          <a:xfrm>
            <a:off x="152400" y="5791200"/>
            <a:ext cx="5197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4-15</a:t>
            </a:r>
            <a:r>
              <a:rPr lang="en-US" altLang="zh-TW" sz="2000">
                <a:ea typeface="新細明體" charset="-120"/>
              </a:rPr>
              <a:t>  Design for Strange College fees</a:t>
            </a:r>
          </a:p>
        </p:txBody>
      </p:sp>
      <p:grpSp>
        <p:nvGrpSpPr>
          <p:cNvPr id="34821" name="Group 4"/>
          <p:cNvGrpSpPr>
            <a:grpSpLocks/>
          </p:cNvGrpSpPr>
          <p:nvPr/>
        </p:nvGrpSpPr>
        <p:grpSpPr bwMode="auto">
          <a:xfrm>
            <a:off x="228600" y="252413"/>
            <a:ext cx="8610600" cy="5995987"/>
            <a:chOff x="336" y="159"/>
            <a:chExt cx="5232" cy="3777"/>
          </a:xfrm>
        </p:grpSpPr>
        <p:sp>
          <p:nvSpPr>
            <p:cNvPr id="34823"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4"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5"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4822"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6937375"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57347DA9-7B97-44E9-8A08-DAE93E3C350A}" type="slidenum">
              <a:rPr lang="zh-TW" altLang="en-US" sz="1000">
                <a:latin typeface="Tahoma" panose="020B0604030504040204" pitchFamily="34" charset="0"/>
              </a:rPr>
              <a:pPr/>
              <a:t>33</a:t>
            </a:fld>
            <a:endParaRPr lang="en-US" altLang="zh-TW" sz="1000">
              <a:latin typeface="Tahoma" panose="020B0604030504040204" pitchFamily="34" charset="0"/>
            </a:endParaRPr>
          </a:p>
        </p:txBody>
      </p:sp>
      <p:sp>
        <p:nvSpPr>
          <p:cNvPr id="35843" name="Text Box 2"/>
          <p:cNvSpPr txBox="1">
            <a:spLocks noChangeArrowheads="1"/>
          </p:cNvSpPr>
          <p:nvPr/>
        </p:nvSpPr>
        <p:spPr bwMode="auto">
          <a:xfrm>
            <a:off x="5791200" y="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4-7</a:t>
            </a:r>
          </a:p>
        </p:txBody>
      </p:sp>
      <p:sp>
        <p:nvSpPr>
          <p:cNvPr id="35844" name="Text Box 3"/>
          <p:cNvSpPr txBox="1">
            <a:spLocks noChangeArrowheads="1"/>
          </p:cNvSpPr>
          <p:nvPr/>
        </p:nvSpPr>
        <p:spPr bwMode="auto">
          <a:xfrm>
            <a:off x="5791200" y="381000"/>
            <a:ext cx="2439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ea typeface="新細明體" charset="-120"/>
              </a:rPr>
              <a:t>Strange College Fees</a:t>
            </a:r>
          </a:p>
        </p:txBody>
      </p:sp>
      <p:pic>
        <p:nvPicPr>
          <p:cNvPr id="3584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81200"/>
            <a:ext cx="5218113" cy="335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584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210175"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5847"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308600"/>
            <a:ext cx="5214938"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5848"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7250" y="5895975"/>
            <a:ext cx="23241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5849" name="Picture 1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11700" y="863600"/>
            <a:ext cx="4394200" cy="175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5850"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24400" y="2657475"/>
            <a:ext cx="447040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35851"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99000" y="5384800"/>
            <a:ext cx="44958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35852" name="文字方塊 1"/>
          <p:cNvSpPr txBox="1">
            <a:spLocks noChangeArrowheads="1"/>
          </p:cNvSpPr>
          <p:nvPr/>
        </p:nvSpPr>
        <p:spPr bwMode="auto">
          <a:xfrm>
            <a:off x="2503488" y="9525"/>
            <a:ext cx="2438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1200">
                <a:ea typeface="新細明體" charset="-120"/>
              </a:rPr>
              <a:t>/* This program prints the tuition at Strange College.  Strange charges $10 for registration, plus $10 per unit and a penalty of $50 for each 12 units, or  fraction of 12, over 12. */ </a:t>
            </a:r>
            <a:endParaRPr lang="zh-TW" altLang="en-US" sz="1200">
              <a:ea typeface="新細明體" charset="-12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BEC035C-C054-44D6-9596-B2077C723CC3}" type="slidenum">
              <a:rPr lang="zh-TW" altLang="en-US" sz="1000">
                <a:latin typeface="Tahoma" panose="020B0604030504040204" pitchFamily="34" charset="0"/>
              </a:rPr>
              <a:pPr/>
              <a:t>34</a:t>
            </a:fld>
            <a:endParaRPr lang="en-US" altLang="zh-TW" sz="1000">
              <a:latin typeface="Tahoma" panose="020B0604030504040204" pitchFamily="34" charset="0"/>
            </a:endParaRPr>
          </a:p>
        </p:txBody>
      </p:sp>
      <p:sp>
        <p:nvSpPr>
          <p:cNvPr id="36867"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36868" name="Text Box 3"/>
          <p:cNvSpPr txBox="1">
            <a:spLocks noChangeArrowheads="1"/>
          </p:cNvSpPr>
          <p:nvPr/>
        </p:nvSpPr>
        <p:spPr bwMode="auto">
          <a:xfrm>
            <a:off x="228600" y="304800"/>
            <a:ext cx="87344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4-4   Inter-Function Communication</a:t>
            </a:r>
          </a:p>
        </p:txBody>
      </p:sp>
      <p:sp>
        <p:nvSpPr>
          <p:cNvPr id="36869"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613381" name="Rectangle 5"/>
          <p:cNvSpPr>
            <a:spLocks noChangeArrowheads="1"/>
          </p:cNvSpPr>
          <p:nvPr/>
        </p:nvSpPr>
        <p:spPr bwMode="auto">
          <a:xfrm>
            <a:off x="304800" y="1379538"/>
            <a:ext cx="8458200" cy="2654300"/>
          </a:xfrm>
          <a:prstGeom prst="rect">
            <a:avLst/>
          </a:prstGeom>
          <a:noFill/>
          <a:ln w="9525">
            <a:noFill/>
            <a:miter lim="800000"/>
            <a:headEnd/>
            <a:tailEnd/>
          </a:ln>
          <a:effectLst/>
        </p:spPr>
        <p:txBody>
          <a:bodyPr anchor="ctr">
            <a:spAutoFit/>
          </a:bodyPr>
          <a:lstStyle/>
          <a:p>
            <a:pPr algn="just" eaLnBrk="1" hangingPunct="1">
              <a:defRPr/>
            </a:pPr>
            <a:r>
              <a:rPr lang="en-US" altLang="zh-TW" sz="2800" i="1">
                <a:effectLst>
                  <a:outerShdw blurRad="38100" dist="38100" dir="2700000" algn="tl">
                    <a:srgbClr val="C0C0C0"/>
                  </a:outerShdw>
                </a:effectLst>
                <a:ea typeface="新細明體" charset="-120"/>
              </a:rPr>
              <a:t>Although the calling and called functions are two separate entities, they need to communicate to exchange data. The data flow between the calling and called functions can be divided into three strategies: a downward flow, an upward flow, and a bi-directional flow. </a:t>
            </a:r>
          </a:p>
        </p:txBody>
      </p:sp>
      <p:sp>
        <p:nvSpPr>
          <p:cNvPr id="36871" name="Rectangle 6"/>
          <p:cNvSpPr>
            <a:spLocks noChangeArrowheads="1"/>
          </p:cNvSpPr>
          <p:nvPr/>
        </p:nvSpPr>
        <p:spPr bwMode="auto">
          <a:xfrm>
            <a:off x="304800" y="4892675"/>
            <a:ext cx="5715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buClr>
                <a:schemeClr val="tx1"/>
              </a:buClr>
              <a:buSzPct val="117000"/>
              <a:buFont typeface="Wingdings" panose="05000000000000000000" pitchFamily="2" charset="2"/>
              <a:buNone/>
            </a:pPr>
            <a:r>
              <a:rPr lang="en-US" altLang="zh-TW">
                <a:solidFill>
                  <a:schemeClr val="hlink"/>
                </a:solidFill>
                <a:ea typeface="新細明體" charset="-120"/>
              </a:rPr>
              <a:t>Basic Concept</a:t>
            </a:r>
            <a:endParaRPr lang="fr-FR" altLang="zh-TW">
              <a:solidFill>
                <a:schemeClr val="hlink"/>
              </a:solidFill>
              <a:ea typeface="新細明體" charset="-120"/>
            </a:endParaRPr>
          </a:p>
          <a:p>
            <a:pPr algn="l">
              <a:buClr>
                <a:schemeClr val="folHlink"/>
              </a:buClr>
              <a:buSzPct val="117000"/>
              <a:buFont typeface="Wingdings" panose="05000000000000000000" pitchFamily="2" charset="2"/>
              <a:buNone/>
            </a:pPr>
            <a:r>
              <a:rPr lang="fr-FR" altLang="zh-TW">
                <a:solidFill>
                  <a:schemeClr val="hlink"/>
                </a:solidFill>
                <a:ea typeface="新細明體" charset="-120"/>
              </a:rPr>
              <a:t>C Implementation</a:t>
            </a:r>
            <a:endParaRPr lang="en-US" altLang="zh-TW">
              <a:solidFill>
                <a:schemeClr val="hlink"/>
              </a:solidFill>
              <a:ea typeface="新細明體" charset="-120"/>
            </a:endParaRPr>
          </a:p>
        </p:txBody>
      </p:sp>
      <p:sp>
        <p:nvSpPr>
          <p:cNvPr id="613383" name="Text Box 7"/>
          <p:cNvSpPr txBox="1">
            <a:spLocks noChangeArrowheads="1"/>
          </p:cNvSpPr>
          <p:nvPr/>
        </p:nvSpPr>
        <p:spPr bwMode="auto">
          <a:xfrm>
            <a:off x="317500" y="4416425"/>
            <a:ext cx="4862513" cy="519113"/>
          </a:xfrm>
          <a:prstGeom prst="rect">
            <a:avLst/>
          </a:prstGeom>
          <a:noFill/>
          <a:ln w="76200" algn="ctr">
            <a:noFill/>
            <a:miter lim="800000"/>
            <a:headEnd/>
            <a:tailEnd/>
          </a:ln>
          <a:effectLst/>
        </p:spPr>
        <p:txBody>
          <a:bodyPr wrap="none">
            <a:spAutoFit/>
          </a:bodyPr>
          <a:lstStyle/>
          <a:p>
            <a:pPr algn="ctr">
              <a:defRPr/>
            </a:pPr>
            <a:r>
              <a:rPr lang="en-US" altLang="zh-TW" sz="2800" i="1" u="sng">
                <a:effectLst>
                  <a:outerShdw blurRad="38100" dist="38100" dir="2700000" algn="tl">
                    <a:srgbClr val="C0C0C0"/>
                  </a:outerShdw>
                </a:effectLst>
                <a:ea typeface="新細明體" charset="-120"/>
              </a:rPr>
              <a:t>Topics discussed in this section: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a:xfrm>
            <a:off x="7053263" y="6248400"/>
            <a:ext cx="1905000" cy="457200"/>
          </a:xfrm>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A62EEC62-5C4E-4615-B78B-7B3930AC8BD4}" type="slidenum">
              <a:rPr lang="zh-TW" altLang="en-US" sz="1000">
                <a:latin typeface="Tahoma" panose="020B0604030504040204" pitchFamily="34" charset="0"/>
              </a:rPr>
              <a:pPr/>
              <a:t>35</a:t>
            </a:fld>
            <a:endParaRPr lang="en-US" altLang="zh-TW" sz="1000">
              <a:latin typeface="Tahoma" panose="020B0604030504040204" pitchFamily="34" charset="0"/>
            </a:endParaRPr>
          </a:p>
        </p:txBody>
      </p:sp>
      <p:sp>
        <p:nvSpPr>
          <p:cNvPr id="37891"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92" name="Rectangle 3"/>
          <p:cNvSpPr>
            <a:spLocks noChangeArrowheads="1"/>
          </p:cNvSpPr>
          <p:nvPr/>
        </p:nvSpPr>
        <p:spPr bwMode="auto">
          <a:xfrm>
            <a:off x="2490788" y="6019800"/>
            <a:ext cx="4086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4-16</a:t>
            </a:r>
            <a:r>
              <a:rPr lang="en-US" altLang="zh-TW" sz="2000">
                <a:ea typeface="新細明體" charset="-120"/>
              </a:rPr>
              <a:t>  Data Flow Strategies</a:t>
            </a:r>
          </a:p>
        </p:txBody>
      </p:sp>
      <p:sp>
        <p:nvSpPr>
          <p:cNvPr id="37893" name="Line 6"/>
          <p:cNvSpPr>
            <a:spLocks noChangeShapeType="1"/>
          </p:cNvSpPr>
          <p:nvPr/>
        </p:nvSpPr>
        <p:spPr bwMode="auto">
          <a:xfrm>
            <a:off x="228600" y="0"/>
            <a:ext cx="8610600"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3789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38" y="2209800"/>
            <a:ext cx="8848725"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1E99AFE1-75E4-4AEF-BE4F-D4F5713FC8D8}" type="slidenum">
              <a:rPr lang="zh-TW" altLang="en-US" sz="1000">
                <a:latin typeface="Tahoma" panose="020B0604030504040204" pitchFamily="34" charset="0"/>
              </a:rPr>
              <a:pPr/>
              <a:t>36</a:t>
            </a:fld>
            <a:endParaRPr lang="en-US" altLang="zh-TW" sz="1000">
              <a:latin typeface="Tahoma" panose="020B0604030504040204" pitchFamily="34" charset="0"/>
            </a:endParaRPr>
          </a:p>
        </p:txBody>
      </p:sp>
      <p:sp>
        <p:nvSpPr>
          <p:cNvPr id="38915"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16" name="Rectangle 3"/>
          <p:cNvSpPr>
            <a:spLocks noChangeArrowheads="1"/>
          </p:cNvSpPr>
          <p:nvPr/>
        </p:nvSpPr>
        <p:spPr bwMode="auto">
          <a:xfrm>
            <a:off x="152400" y="5791200"/>
            <a:ext cx="53641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4-17</a:t>
            </a:r>
            <a:r>
              <a:rPr lang="en-US" altLang="zh-TW" sz="2000">
                <a:ea typeface="新細明體" charset="-120"/>
              </a:rPr>
              <a:t>  Downward Communication in C</a:t>
            </a:r>
          </a:p>
        </p:txBody>
      </p:sp>
      <p:grpSp>
        <p:nvGrpSpPr>
          <p:cNvPr id="38917" name="Group 4"/>
          <p:cNvGrpSpPr>
            <a:grpSpLocks/>
          </p:cNvGrpSpPr>
          <p:nvPr/>
        </p:nvGrpSpPr>
        <p:grpSpPr bwMode="auto">
          <a:xfrm>
            <a:off x="228600" y="252413"/>
            <a:ext cx="8610600" cy="5995987"/>
            <a:chOff x="336" y="159"/>
            <a:chExt cx="5232" cy="3777"/>
          </a:xfrm>
        </p:grpSpPr>
        <p:sp>
          <p:nvSpPr>
            <p:cNvPr id="38919"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0"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8918"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124075"/>
            <a:ext cx="8153400" cy="217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FA609A4-8F77-4E61-A7E4-B5B41ECA7B34}" type="slidenum">
              <a:rPr lang="zh-TW" altLang="en-US" sz="1000">
                <a:latin typeface="Tahoma" panose="020B0604030504040204" pitchFamily="34" charset="0"/>
              </a:rPr>
              <a:pPr/>
              <a:t>37</a:t>
            </a:fld>
            <a:endParaRPr lang="en-US" altLang="zh-TW" sz="1000">
              <a:latin typeface="Tahoma" panose="020B0604030504040204" pitchFamily="34" charset="0"/>
            </a:endParaRPr>
          </a:p>
        </p:txBody>
      </p:sp>
      <p:sp>
        <p:nvSpPr>
          <p:cNvPr id="3993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0" name="Rectangle 3"/>
          <p:cNvSpPr>
            <a:spLocks noChangeArrowheads="1"/>
          </p:cNvSpPr>
          <p:nvPr/>
        </p:nvSpPr>
        <p:spPr bwMode="auto">
          <a:xfrm>
            <a:off x="152400" y="5791200"/>
            <a:ext cx="4841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4-18</a:t>
            </a:r>
            <a:r>
              <a:rPr lang="en-US" altLang="zh-TW" sz="2000">
                <a:ea typeface="新細明體" charset="-120"/>
              </a:rPr>
              <a:t>  Downward Communication</a:t>
            </a:r>
          </a:p>
        </p:txBody>
      </p:sp>
      <p:grpSp>
        <p:nvGrpSpPr>
          <p:cNvPr id="39941" name="Group 4"/>
          <p:cNvGrpSpPr>
            <a:grpSpLocks/>
          </p:cNvGrpSpPr>
          <p:nvPr/>
        </p:nvGrpSpPr>
        <p:grpSpPr bwMode="auto">
          <a:xfrm>
            <a:off x="228600" y="252413"/>
            <a:ext cx="8610600" cy="5995987"/>
            <a:chOff x="336" y="159"/>
            <a:chExt cx="5232" cy="3777"/>
          </a:xfrm>
        </p:grpSpPr>
        <p:sp>
          <p:nvSpPr>
            <p:cNvPr id="39943"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4"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5"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39942"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762000"/>
            <a:ext cx="7065963" cy="471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CE466CC-CE0C-4CDF-B362-A8BB94428B9D}" type="slidenum">
              <a:rPr lang="zh-TW" altLang="en-US" sz="1000">
                <a:latin typeface="Tahoma" panose="020B0604030504040204" pitchFamily="34" charset="0"/>
              </a:rPr>
              <a:pPr/>
              <a:t>38</a:t>
            </a:fld>
            <a:endParaRPr lang="en-US" altLang="zh-TW" sz="1000">
              <a:latin typeface="Tahoma" panose="020B0604030504040204" pitchFamily="34" charset="0"/>
            </a:endParaRPr>
          </a:p>
        </p:txBody>
      </p:sp>
      <p:sp>
        <p:nvSpPr>
          <p:cNvPr id="40963"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4" name="Rectangle 3"/>
          <p:cNvSpPr>
            <a:spLocks noChangeArrowheads="1"/>
          </p:cNvSpPr>
          <p:nvPr/>
        </p:nvSpPr>
        <p:spPr bwMode="auto">
          <a:xfrm>
            <a:off x="152400" y="5791200"/>
            <a:ext cx="5053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4-19</a:t>
            </a:r>
            <a:r>
              <a:rPr lang="en-US" altLang="zh-TW" sz="2000">
                <a:ea typeface="新細明體" charset="-120"/>
              </a:rPr>
              <a:t>  Upward Communication in C</a:t>
            </a:r>
          </a:p>
        </p:txBody>
      </p:sp>
      <p:grpSp>
        <p:nvGrpSpPr>
          <p:cNvPr id="40965" name="Group 4"/>
          <p:cNvGrpSpPr>
            <a:grpSpLocks/>
          </p:cNvGrpSpPr>
          <p:nvPr/>
        </p:nvGrpSpPr>
        <p:grpSpPr bwMode="auto">
          <a:xfrm>
            <a:off x="228600" y="252413"/>
            <a:ext cx="8610600" cy="5995987"/>
            <a:chOff x="336" y="159"/>
            <a:chExt cx="5232" cy="3777"/>
          </a:xfrm>
        </p:grpSpPr>
        <p:sp>
          <p:nvSpPr>
            <p:cNvPr id="40968"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69"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0"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0966"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913" y="2057400"/>
            <a:ext cx="8574087" cy="248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40967" name="Text Box 10"/>
          <p:cNvSpPr txBox="1">
            <a:spLocks noChangeArrowheads="1"/>
          </p:cNvSpPr>
          <p:nvPr/>
        </p:nvSpPr>
        <p:spPr bwMode="auto">
          <a:xfrm>
            <a:off x="381000" y="838200"/>
            <a:ext cx="731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spcBef>
                <a:spcPct val="50000"/>
              </a:spcBef>
            </a:pPr>
            <a:r>
              <a:rPr lang="en-US" altLang="zh-TW">
                <a:ea typeface="新細明體" charset="-120"/>
              </a:rPr>
              <a:t>Call by address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DE60392-8F96-456D-98AA-CDDDF65BE3C7}" type="slidenum">
              <a:rPr lang="zh-TW" altLang="en-US" sz="1000">
                <a:latin typeface="Tahoma" panose="020B0604030504040204" pitchFamily="34" charset="0"/>
              </a:rPr>
              <a:pPr/>
              <a:t>39</a:t>
            </a:fld>
            <a:endParaRPr lang="en-US" altLang="zh-TW" sz="1000">
              <a:latin typeface="Tahoma" panose="020B0604030504040204" pitchFamily="34" charset="0"/>
            </a:endParaRPr>
          </a:p>
        </p:txBody>
      </p:sp>
      <p:sp>
        <p:nvSpPr>
          <p:cNvPr id="4198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88" name="Rectangle 3"/>
          <p:cNvSpPr>
            <a:spLocks noChangeArrowheads="1"/>
          </p:cNvSpPr>
          <p:nvPr/>
        </p:nvSpPr>
        <p:spPr bwMode="auto">
          <a:xfrm>
            <a:off x="152400" y="5791200"/>
            <a:ext cx="4530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4-20</a:t>
            </a:r>
            <a:r>
              <a:rPr lang="en-US" altLang="zh-TW" sz="2000">
                <a:ea typeface="新細明體" charset="-120"/>
              </a:rPr>
              <a:t>  Upward Communication</a:t>
            </a:r>
          </a:p>
        </p:txBody>
      </p:sp>
      <p:grpSp>
        <p:nvGrpSpPr>
          <p:cNvPr id="41989" name="Group 4"/>
          <p:cNvGrpSpPr>
            <a:grpSpLocks/>
          </p:cNvGrpSpPr>
          <p:nvPr/>
        </p:nvGrpSpPr>
        <p:grpSpPr bwMode="auto">
          <a:xfrm>
            <a:off x="228600" y="252413"/>
            <a:ext cx="8610600" cy="5995987"/>
            <a:chOff x="336" y="159"/>
            <a:chExt cx="5232" cy="3777"/>
          </a:xfrm>
        </p:grpSpPr>
        <p:sp>
          <p:nvSpPr>
            <p:cNvPr id="4199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1990"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688" y="549275"/>
            <a:ext cx="7148512" cy="508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6CC88C74-81E0-455C-B1D3-AF52D4628D47}" type="slidenum">
              <a:rPr lang="zh-TW" altLang="en-US" sz="1000">
                <a:latin typeface="Tahoma" panose="020B0604030504040204" pitchFamily="34" charset="0"/>
              </a:rPr>
              <a:pPr/>
              <a:t>40</a:t>
            </a:fld>
            <a:endParaRPr lang="en-US" altLang="zh-TW" sz="1000">
              <a:latin typeface="Tahoma" panose="020B0604030504040204" pitchFamily="34" charset="0"/>
            </a:endParaRPr>
          </a:p>
        </p:txBody>
      </p:sp>
      <p:sp>
        <p:nvSpPr>
          <p:cNvPr id="43011" name="Line 2"/>
          <p:cNvSpPr>
            <a:spLocks noChangeShapeType="1"/>
          </p:cNvSpPr>
          <p:nvPr/>
        </p:nvSpPr>
        <p:spPr bwMode="auto">
          <a:xfrm>
            <a:off x="438150" y="1752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2" name="Line 3"/>
          <p:cNvSpPr>
            <a:spLocks noChangeShapeType="1"/>
          </p:cNvSpPr>
          <p:nvPr/>
        </p:nvSpPr>
        <p:spPr bwMode="auto">
          <a:xfrm>
            <a:off x="439738" y="4953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3" name="Rectangle 4"/>
          <p:cNvSpPr>
            <a:spLocks noChangeArrowheads="1"/>
          </p:cNvSpPr>
          <p:nvPr/>
        </p:nvSpPr>
        <p:spPr bwMode="auto">
          <a:xfrm>
            <a:off x="476250" y="1844675"/>
            <a:ext cx="8077200" cy="301307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a:ea typeface="新細明體" charset="-120"/>
              </a:rPr>
              <a:t>To send data from the called function to the calling function:</a:t>
            </a:r>
            <a:br>
              <a:rPr lang="en-US" altLang="zh-TW">
                <a:ea typeface="新細明體" charset="-120"/>
              </a:rPr>
            </a:br>
            <a:endParaRPr lang="en-US" altLang="zh-TW">
              <a:ea typeface="新細明體" charset="-120"/>
            </a:endParaRPr>
          </a:p>
          <a:p>
            <a:pPr algn="just"/>
            <a:r>
              <a:rPr lang="en-US" altLang="zh-TW">
                <a:ea typeface="新細明體" charset="-120"/>
              </a:rPr>
              <a:t>1. We need to use the &amp; symbol in front of the data variable</a:t>
            </a:r>
            <a:br>
              <a:rPr lang="en-US" altLang="zh-TW">
                <a:ea typeface="新細明體" charset="-120"/>
              </a:rPr>
            </a:br>
            <a:r>
              <a:rPr lang="en-US" altLang="zh-TW">
                <a:ea typeface="新細明體" charset="-120"/>
              </a:rPr>
              <a:t>     when we call the function.</a:t>
            </a:r>
          </a:p>
          <a:p>
            <a:pPr algn="just"/>
            <a:r>
              <a:rPr lang="en-US" altLang="zh-TW">
                <a:ea typeface="新細明體" charset="-120"/>
              </a:rPr>
              <a:t>2. We need to use the * symbol after the data type when we</a:t>
            </a:r>
            <a:br>
              <a:rPr lang="en-US" altLang="zh-TW">
                <a:ea typeface="新細明體" charset="-120"/>
              </a:rPr>
            </a:br>
            <a:r>
              <a:rPr lang="en-US" altLang="zh-TW">
                <a:ea typeface="新細明體" charset="-120"/>
              </a:rPr>
              <a:t>     declare the address variable</a:t>
            </a:r>
          </a:p>
          <a:p>
            <a:pPr algn="just"/>
            <a:r>
              <a:rPr lang="en-US" altLang="zh-TW">
                <a:ea typeface="新細明體" charset="-120"/>
              </a:rPr>
              <a:t>3. We need to use the * in front of the variable when we</a:t>
            </a:r>
            <a:br>
              <a:rPr lang="en-US" altLang="zh-TW">
                <a:ea typeface="新細明體" charset="-120"/>
              </a:rPr>
            </a:br>
            <a:r>
              <a:rPr lang="en-US" altLang="zh-TW">
                <a:ea typeface="新細明體" charset="-120"/>
              </a:rPr>
              <a:t>     store data indirect</a:t>
            </a:r>
          </a:p>
        </p:txBody>
      </p:sp>
      <p:sp>
        <p:nvSpPr>
          <p:cNvPr id="620549" name="Text Box 5"/>
          <p:cNvSpPr txBox="1">
            <a:spLocks noChangeArrowheads="1"/>
          </p:cNvSpPr>
          <p:nvPr/>
        </p:nvSpPr>
        <p:spPr bwMode="auto">
          <a:xfrm>
            <a:off x="358775" y="1120775"/>
            <a:ext cx="1073150" cy="641350"/>
          </a:xfrm>
          <a:prstGeom prst="rect">
            <a:avLst/>
          </a:prstGeom>
          <a:noFill/>
          <a:ln w="76200" algn="ctr">
            <a:noFill/>
            <a:miter lim="800000"/>
            <a:headEnd/>
            <a:tailEnd/>
          </a:ln>
          <a:effectLst/>
        </p:spPr>
        <p:txBody>
          <a:bodyPr wrap="none">
            <a:spAutoFit/>
          </a:bodyPr>
          <a:lstStyle/>
          <a:p>
            <a:pPr algn="ctr">
              <a:defRPr/>
            </a:pPr>
            <a:r>
              <a:rPr lang="en-US" altLang="zh-TW" sz="36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A7D50280-4961-4B7E-8A67-926599C67AA4}" type="slidenum">
              <a:rPr lang="zh-TW" altLang="en-US" sz="1000">
                <a:latin typeface="Tahoma" panose="020B0604030504040204" pitchFamily="34" charset="0"/>
              </a:rPr>
              <a:pPr/>
              <a:t>41</a:t>
            </a:fld>
            <a:endParaRPr lang="en-US" altLang="zh-TW" sz="1000">
              <a:latin typeface="Tahoma" panose="020B0604030504040204" pitchFamily="34" charset="0"/>
            </a:endParaRPr>
          </a:p>
        </p:txBody>
      </p:sp>
      <p:sp>
        <p:nvSpPr>
          <p:cNvPr id="44035"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36" name="Rectangle 3"/>
          <p:cNvSpPr>
            <a:spLocks noChangeArrowheads="1"/>
          </p:cNvSpPr>
          <p:nvPr/>
        </p:nvSpPr>
        <p:spPr bwMode="auto">
          <a:xfrm>
            <a:off x="152400" y="5791200"/>
            <a:ext cx="565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4-21</a:t>
            </a:r>
            <a:r>
              <a:rPr lang="en-US" altLang="zh-TW" sz="2000">
                <a:ea typeface="新細明體" charset="-120"/>
              </a:rPr>
              <a:t>  Bi-directional Communication in C</a:t>
            </a:r>
          </a:p>
        </p:txBody>
      </p:sp>
      <p:grpSp>
        <p:nvGrpSpPr>
          <p:cNvPr id="44037" name="Group 4"/>
          <p:cNvGrpSpPr>
            <a:grpSpLocks/>
          </p:cNvGrpSpPr>
          <p:nvPr/>
        </p:nvGrpSpPr>
        <p:grpSpPr bwMode="auto">
          <a:xfrm>
            <a:off x="228600" y="252413"/>
            <a:ext cx="8610600" cy="5995987"/>
            <a:chOff x="336" y="159"/>
            <a:chExt cx="5232" cy="3777"/>
          </a:xfrm>
        </p:grpSpPr>
        <p:sp>
          <p:nvSpPr>
            <p:cNvPr id="44039"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0"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041"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4038"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913" y="1938338"/>
            <a:ext cx="8574087"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A2A3723B-EC86-4A25-995C-EBDCDA2B35C4}" type="slidenum">
              <a:rPr lang="zh-TW" altLang="en-US" sz="1000">
                <a:latin typeface="Tahoma" panose="020B0604030504040204" pitchFamily="34" charset="0"/>
              </a:rPr>
              <a:pPr/>
              <a:t>42</a:t>
            </a:fld>
            <a:endParaRPr lang="en-US" altLang="zh-TW" sz="1000">
              <a:latin typeface="Tahoma" panose="020B0604030504040204" pitchFamily="34" charset="0"/>
            </a:endParaRPr>
          </a:p>
        </p:txBody>
      </p:sp>
      <p:sp>
        <p:nvSpPr>
          <p:cNvPr id="4505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0" name="Rectangle 3"/>
          <p:cNvSpPr>
            <a:spLocks noChangeArrowheads="1"/>
          </p:cNvSpPr>
          <p:nvPr/>
        </p:nvSpPr>
        <p:spPr bwMode="auto">
          <a:xfrm>
            <a:off x="152400" y="5791200"/>
            <a:ext cx="5132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4-22</a:t>
            </a:r>
            <a:r>
              <a:rPr lang="en-US" altLang="zh-TW" sz="2000">
                <a:ea typeface="新細明體" charset="-120"/>
              </a:rPr>
              <a:t>  Bi-directional Communication</a:t>
            </a:r>
          </a:p>
        </p:txBody>
      </p:sp>
      <p:grpSp>
        <p:nvGrpSpPr>
          <p:cNvPr id="45061" name="Group 4"/>
          <p:cNvGrpSpPr>
            <a:grpSpLocks/>
          </p:cNvGrpSpPr>
          <p:nvPr/>
        </p:nvGrpSpPr>
        <p:grpSpPr bwMode="auto">
          <a:xfrm>
            <a:off x="228600" y="252413"/>
            <a:ext cx="8610600" cy="5995987"/>
            <a:chOff x="336" y="159"/>
            <a:chExt cx="5232" cy="3777"/>
          </a:xfrm>
        </p:grpSpPr>
        <p:sp>
          <p:nvSpPr>
            <p:cNvPr id="45064"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5"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66"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5062"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1388" y="679450"/>
            <a:ext cx="6754812"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45063" name="Text Box 13"/>
          <p:cNvSpPr txBox="1">
            <a:spLocks noChangeArrowheads="1"/>
          </p:cNvSpPr>
          <p:nvPr/>
        </p:nvSpPr>
        <p:spPr bwMode="auto">
          <a:xfrm>
            <a:off x="2590800" y="4648200"/>
            <a:ext cx="228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lIns="0" tIns="0" rIns="0" bIns="0">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spcBef>
                <a:spcPct val="50000"/>
              </a:spcBef>
            </a:pPr>
            <a:r>
              <a:rPr lang="en-US" altLang="zh-TW" sz="1600">
                <a:ea typeface="新細明體" charset="-120"/>
              </a:rPr>
              <a:t>%</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A9EC076D-0113-4D12-BC04-53A1A9D38C5F}" type="slidenum">
              <a:rPr lang="zh-TW" altLang="en-US" sz="1000">
                <a:latin typeface="Tahoma" panose="020B0604030504040204" pitchFamily="34" charset="0"/>
              </a:rPr>
              <a:pPr/>
              <a:t>43</a:t>
            </a:fld>
            <a:endParaRPr lang="en-US" altLang="zh-TW" sz="1000">
              <a:latin typeface="Tahoma" panose="020B0604030504040204" pitchFamily="34" charset="0"/>
            </a:endParaRPr>
          </a:p>
        </p:txBody>
      </p:sp>
      <p:sp>
        <p:nvSpPr>
          <p:cNvPr id="46083"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4" name="Rectangle 3"/>
          <p:cNvSpPr>
            <a:spLocks noChangeArrowheads="1"/>
          </p:cNvSpPr>
          <p:nvPr/>
        </p:nvSpPr>
        <p:spPr bwMode="auto">
          <a:xfrm>
            <a:off x="152400" y="5791200"/>
            <a:ext cx="3924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4-23</a:t>
            </a:r>
            <a:r>
              <a:rPr lang="en-US" altLang="zh-TW" sz="2000">
                <a:ea typeface="新細明體" charset="-120"/>
              </a:rPr>
              <a:t>  Exchange Function</a:t>
            </a:r>
          </a:p>
        </p:txBody>
      </p:sp>
      <p:grpSp>
        <p:nvGrpSpPr>
          <p:cNvPr id="46085" name="Group 4"/>
          <p:cNvGrpSpPr>
            <a:grpSpLocks/>
          </p:cNvGrpSpPr>
          <p:nvPr/>
        </p:nvGrpSpPr>
        <p:grpSpPr bwMode="auto">
          <a:xfrm>
            <a:off x="228600" y="252413"/>
            <a:ext cx="8610600" cy="5995987"/>
            <a:chOff x="336" y="159"/>
            <a:chExt cx="5232" cy="3777"/>
          </a:xfrm>
        </p:grpSpPr>
        <p:sp>
          <p:nvSpPr>
            <p:cNvPr id="46087"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8"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89"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608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609600"/>
            <a:ext cx="5548313" cy="480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0E7C4A2F-3F12-4EE3-9429-5389FB303743}" type="slidenum">
              <a:rPr lang="zh-TW" altLang="en-US" sz="1000">
                <a:latin typeface="Tahoma" panose="020B0604030504040204" pitchFamily="34" charset="0"/>
              </a:rPr>
              <a:pPr/>
              <a:t>44</a:t>
            </a:fld>
            <a:endParaRPr lang="en-US" altLang="zh-TW" sz="1000">
              <a:latin typeface="Tahoma" panose="020B0604030504040204" pitchFamily="34" charset="0"/>
            </a:endParaRPr>
          </a:p>
        </p:txBody>
      </p:sp>
      <p:sp>
        <p:nvSpPr>
          <p:cNvPr id="4710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08" name="Rectangle 3"/>
          <p:cNvSpPr>
            <a:spLocks noChangeArrowheads="1"/>
          </p:cNvSpPr>
          <p:nvPr/>
        </p:nvSpPr>
        <p:spPr bwMode="auto">
          <a:xfrm>
            <a:off x="152400" y="5791200"/>
            <a:ext cx="56276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4-24</a:t>
            </a:r>
            <a:r>
              <a:rPr lang="en-US" altLang="zh-TW" sz="2000">
                <a:ea typeface="新細明體" charset="-120"/>
              </a:rPr>
              <a:t>  Calculate Quotient and Remainder</a:t>
            </a:r>
          </a:p>
        </p:txBody>
      </p:sp>
      <p:grpSp>
        <p:nvGrpSpPr>
          <p:cNvPr id="47109" name="Group 4"/>
          <p:cNvGrpSpPr>
            <a:grpSpLocks/>
          </p:cNvGrpSpPr>
          <p:nvPr/>
        </p:nvGrpSpPr>
        <p:grpSpPr bwMode="auto">
          <a:xfrm>
            <a:off x="228600" y="252413"/>
            <a:ext cx="8610600" cy="5995987"/>
            <a:chOff x="336" y="159"/>
            <a:chExt cx="5232" cy="3777"/>
          </a:xfrm>
        </p:grpSpPr>
        <p:sp>
          <p:nvSpPr>
            <p:cNvPr id="4711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1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7110"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250" y="431800"/>
            <a:ext cx="719455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8FE0062-2FFC-4960-9738-6A9D70A2F21E}" type="slidenum">
              <a:rPr lang="zh-TW" altLang="en-US" sz="1000">
                <a:latin typeface="Tahoma" panose="020B0604030504040204" pitchFamily="34" charset="0"/>
              </a:rPr>
              <a:pPr/>
              <a:t>45</a:t>
            </a:fld>
            <a:endParaRPr lang="en-US" altLang="zh-TW" sz="1000">
              <a:latin typeface="Tahoma" panose="020B0604030504040204" pitchFamily="34" charset="0"/>
            </a:endParaRPr>
          </a:p>
        </p:txBody>
      </p:sp>
      <p:sp>
        <p:nvSpPr>
          <p:cNvPr id="48131"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2" name="Rectangle 3"/>
          <p:cNvSpPr>
            <a:spLocks noChangeArrowheads="1"/>
          </p:cNvSpPr>
          <p:nvPr/>
        </p:nvSpPr>
        <p:spPr bwMode="auto">
          <a:xfrm>
            <a:off x="152400" y="5791200"/>
            <a:ext cx="5332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4-25</a:t>
            </a:r>
            <a:r>
              <a:rPr lang="en-US" altLang="zh-TW" sz="2000">
                <a:ea typeface="新細明體" charset="-120"/>
              </a:rPr>
              <a:t>  Quotient and Remainder Design</a:t>
            </a:r>
          </a:p>
        </p:txBody>
      </p:sp>
      <p:grpSp>
        <p:nvGrpSpPr>
          <p:cNvPr id="48133" name="Group 4"/>
          <p:cNvGrpSpPr>
            <a:grpSpLocks/>
          </p:cNvGrpSpPr>
          <p:nvPr/>
        </p:nvGrpSpPr>
        <p:grpSpPr bwMode="auto">
          <a:xfrm>
            <a:off x="228600" y="252413"/>
            <a:ext cx="8610600" cy="5995987"/>
            <a:chOff x="336" y="159"/>
            <a:chExt cx="5232" cy="3777"/>
          </a:xfrm>
        </p:grpSpPr>
        <p:sp>
          <p:nvSpPr>
            <p:cNvPr id="48135"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6"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7"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813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00" y="1600200"/>
            <a:ext cx="7340600"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B46B610C-EF36-4000-973F-38141396FE6D}" type="slidenum">
              <a:rPr lang="zh-TW" altLang="en-US" sz="1000">
                <a:latin typeface="Tahoma" panose="020B0604030504040204" pitchFamily="34" charset="0"/>
              </a:rPr>
              <a:pPr/>
              <a:t>46</a:t>
            </a:fld>
            <a:endParaRPr lang="en-US" altLang="zh-TW" sz="1000">
              <a:latin typeface="Tahoma" panose="020B0604030504040204" pitchFamily="34" charset="0"/>
            </a:endParaRPr>
          </a:p>
        </p:txBody>
      </p:sp>
      <p:sp>
        <p:nvSpPr>
          <p:cNvPr id="49155" name="Text Box 2"/>
          <p:cNvSpPr txBox="1">
            <a:spLocks noChangeArrowheads="1"/>
          </p:cNvSpPr>
          <p:nvPr/>
        </p:nvSpPr>
        <p:spPr bwMode="auto">
          <a:xfrm>
            <a:off x="5638800" y="15240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4-8</a:t>
            </a:r>
          </a:p>
        </p:txBody>
      </p:sp>
      <p:sp>
        <p:nvSpPr>
          <p:cNvPr id="49156" name="Text Box 3"/>
          <p:cNvSpPr txBox="1">
            <a:spLocks noChangeArrowheads="1"/>
          </p:cNvSpPr>
          <p:nvPr/>
        </p:nvSpPr>
        <p:spPr bwMode="auto">
          <a:xfrm>
            <a:off x="5715000" y="533400"/>
            <a:ext cx="28908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ea typeface="新細明體" charset="-120"/>
              </a:rPr>
              <a:t>Quotient and Remainder</a:t>
            </a:r>
          </a:p>
        </p:txBody>
      </p:sp>
      <p:grpSp>
        <p:nvGrpSpPr>
          <p:cNvPr id="49157" name="Group 11"/>
          <p:cNvGrpSpPr>
            <a:grpSpLocks/>
          </p:cNvGrpSpPr>
          <p:nvPr/>
        </p:nvGrpSpPr>
        <p:grpSpPr bwMode="auto">
          <a:xfrm>
            <a:off x="114300" y="0"/>
            <a:ext cx="5149850" cy="3354388"/>
            <a:chOff x="288" y="408"/>
            <a:chExt cx="5232" cy="3523"/>
          </a:xfrm>
        </p:grpSpPr>
        <p:pic>
          <p:nvPicPr>
            <p:cNvPr id="4915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 y="408"/>
              <a:ext cx="5215" cy="2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4916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 y="2592"/>
              <a:ext cx="5232" cy="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grpSp>
      <p:pic>
        <p:nvPicPr>
          <p:cNvPr id="49158"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00" y="3378200"/>
            <a:ext cx="5124450" cy="330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B5A4FB5F-9B77-4BB1-8599-75080B011137}" type="slidenum">
              <a:rPr lang="zh-TW" altLang="en-US" sz="1000">
                <a:latin typeface="Tahoma" panose="020B0604030504040204" pitchFamily="34" charset="0"/>
              </a:rPr>
              <a:pPr/>
              <a:t>47</a:t>
            </a:fld>
            <a:endParaRPr lang="en-US" altLang="zh-TW" sz="1000">
              <a:latin typeface="Tahoma" panose="020B0604030504040204" pitchFamily="34" charset="0"/>
            </a:endParaRPr>
          </a:p>
        </p:txBody>
      </p:sp>
      <p:pic>
        <p:nvPicPr>
          <p:cNvPr id="5017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12700"/>
            <a:ext cx="5197475" cy="355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5018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3530600"/>
            <a:ext cx="5235575"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13066DD4-3511-477A-BE63-8F58B0B0D2B2}" type="slidenum">
              <a:rPr lang="zh-TW" altLang="en-US" sz="1000">
                <a:latin typeface="Tahoma" panose="020B0604030504040204" pitchFamily="34" charset="0"/>
              </a:rPr>
              <a:pPr/>
              <a:t>48</a:t>
            </a:fld>
            <a:endParaRPr lang="en-US" altLang="zh-TW" sz="1000">
              <a:latin typeface="Tahoma" panose="020B0604030504040204" pitchFamily="34" charset="0"/>
            </a:endParaRPr>
          </a:p>
        </p:txBody>
      </p:sp>
      <p:sp>
        <p:nvSpPr>
          <p:cNvPr id="51203"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51204" name="Text Box 3"/>
          <p:cNvSpPr txBox="1">
            <a:spLocks noChangeArrowheads="1"/>
          </p:cNvSpPr>
          <p:nvPr/>
        </p:nvSpPr>
        <p:spPr bwMode="auto">
          <a:xfrm>
            <a:off x="228600" y="304800"/>
            <a:ext cx="61087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4-5   Standard Functions</a:t>
            </a:r>
          </a:p>
        </p:txBody>
      </p:sp>
      <p:sp>
        <p:nvSpPr>
          <p:cNvPr id="51205"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630789" name="Rectangle 5"/>
          <p:cNvSpPr>
            <a:spLocks noChangeArrowheads="1"/>
          </p:cNvSpPr>
          <p:nvPr/>
        </p:nvSpPr>
        <p:spPr bwMode="auto">
          <a:xfrm>
            <a:off x="304800" y="1524000"/>
            <a:ext cx="8229600" cy="1800225"/>
          </a:xfrm>
          <a:prstGeom prst="rect">
            <a:avLst/>
          </a:prstGeom>
          <a:noFill/>
          <a:ln w="9525">
            <a:noFill/>
            <a:miter lim="800000"/>
            <a:headEnd/>
            <a:tailEnd/>
          </a:ln>
          <a:effectLst/>
        </p:spPr>
        <p:txBody>
          <a:bodyPr anchor="ctr">
            <a:spAutoFit/>
          </a:bodyPr>
          <a:lstStyle/>
          <a:p>
            <a:pPr algn="just" eaLnBrk="1" hangingPunct="1">
              <a:defRPr/>
            </a:pPr>
            <a:r>
              <a:rPr lang="en-US" altLang="zh-TW" sz="2800" i="1">
                <a:effectLst>
                  <a:outerShdw blurRad="38100" dist="38100" dir="2700000" algn="tl">
                    <a:srgbClr val="C0C0C0"/>
                  </a:outerShdw>
                </a:effectLst>
                <a:ea typeface="新細明體" charset="-120"/>
              </a:rPr>
              <a:t>C provides a rich collection of standard functions whose definitions have been written and are ready to be used in our programs. To use these functions, we must include their function declarations.</a:t>
            </a:r>
          </a:p>
        </p:txBody>
      </p:sp>
      <p:sp>
        <p:nvSpPr>
          <p:cNvPr id="51207" name="Rectangle 6"/>
          <p:cNvSpPr>
            <a:spLocks noChangeArrowheads="1"/>
          </p:cNvSpPr>
          <p:nvPr/>
        </p:nvSpPr>
        <p:spPr bwMode="auto">
          <a:xfrm>
            <a:off x="304800" y="4438650"/>
            <a:ext cx="5715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buClr>
                <a:schemeClr val="tx1"/>
              </a:buClr>
              <a:buSzPct val="117000"/>
              <a:buFont typeface="Wingdings" panose="05000000000000000000" pitchFamily="2" charset="2"/>
              <a:buNone/>
            </a:pPr>
            <a:r>
              <a:rPr lang="en-US" altLang="zh-TW">
                <a:solidFill>
                  <a:schemeClr val="hlink"/>
                </a:solidFill>
                <a:ea typeface="新細明體" charset="-120"/>
              </a:rPr>
              <a:t>Math Functions</a:t>
            </a:r>
            <a:endParaRPr lang="fr-FR" altLang="zh-TW">
              <a:solidFill>
                <a:schemeClr val="hlink"/>
              </a:solidFill>
              <a:ea typeface="新細明體" charset="-120"/>
            </a:endParaRPr>
          </a:p>
          <a:p>
            <a:pPr algn="l">
              <a:buClr>
                <a:schemeClr val="folHlink"/>
              </a:buClr>
              <a:buSzPct val="117000"/>
              <a:buFont typeface="Wingdings" panose="05000000000000000000" pitchFamily="2" charset="2"/>
              <a:buNone/>
            </a:pPr>
            <a:r>
              <a:rPr lang="fr-FR" altLang="zh-TW">
                <a:solidFill>
                  <a:schemeClr val="hlink"/>
                </a:solidFill>
                <a:ea typeface="新細明體" charset="-120"/>
              </a:rPr>
              <a:t>Random Numbers</a:t>
            </a:r>
            <a:endParaRPr lang="en-US" altLang="zh-TW">
              <a:solidFill>
                <a:schemeClr val="hlink"/>
              </a:solidFill>
              <a:ea typeface="新細明體" charset="-120"/>
            </a:endParaRPr>
          </a:p>
        </p:txBody>
      </p:sp>
      <p:sp>
        <p:nvSpPr>
          <p:cNvPr id="630791" name="Text Box 7"/>
          <p:cNvSpPr txBox="1">
            <a:spLocks noChangeArrowheads="1"/>
          </p:cNvSpPr>
          <p:nvPr/>
        </p:nvSpPr>
        <p:spPr bwMode="auto">
          <a:xfrm>
            <a:off x="317500" y="3962400"/>
            <a:ext cx="4862513" cy="519113"/>
          </a:xfrm>
          <a:prstGeom prst="rect">
            <a:avLst/>
          </a:prstGeom>
          <a:noFill/>
          <a:ln w="76200" algn="ctr">
            <a:noFill/>
            <a:miter lim="800000"/>
            <a:headEnd/>
            <a:tailEnd/>
          </a:ln>
          <a:effectLst/>
        </p:spPr>
        <p:txBody>
          <a:bodyPr wrap="none">
            <a:spAutoFit/>
          </a:bodyPr>
          <a:lstStyle/>
          <a:p>
            <a:pPr algn="ctr">
              <a:defRPr/>
            </a:pPr>
            <a:r>
              <a:rPr lang="en-US" altLang="zh-TW" sz="2800" i="1" u="sng">
                <a:effectLst>
                  <a:outerShdw blurRad="38100" dist="38100" dir="2700000" algn="tl">
                    <a:srgbClr val="C0C0C0"/>
                  </a:outerShdw>
                </a:effectLst>
                <a:ea typeface="新細明體" charset="-120"/>
              </a:rPr>
              <a:t>Topics discussed in this section:</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ACA3AE48-EC21-4DBE-BB38-32CF620BE536}" type="slidenum">
              <a:rPr lang="zh-TW" altLang="en-US" sz="1000">
                <a:latin typeface="Tahoma" panose="020B0604030504040204" pitchFamily="34" charset="0"/>
              </a:rPr>
              <a:pPr/>
              <a:t>49</a:t>
            </a:fld>
            <a:endParaRPr lang="en-US" altLang="zh-TW" sz="1000">
              <a:latin typeface="Tahoma" panose="020B0604030504040204" pitchFamily="34" charset="0"/>
            </a:endParaRPr>
          </a:p>
        </p:txBody>
      </p:sp>
      <p:sp>
        <p:nvSpPr>
          <p:cNvPr id="5222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28" name="Rectangle 3"/>
          <p:cNvSpPr>
            <a:spLocks noChangeArrowheads="1"/>
          </p:cNvSpPr>
          <p:nvPr/>
        </p:nvSpPr>
        <p:spPr bwMode="auto">
          <a:xfrm>
            <a:off x="152400" y="5791200"/>
            <a:ext cx="5510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4-26</a:t>
            </a:r>
            <a:r>
              <a:rPr lang="en-US" altLang="zh-TW" sz="2000">
                <a:ea typeface="新細明體" charset="-120"/>
              </a:rPr>
              <a:t>  Library Functions and the Linker</a:t>
            </a:r>
          </a:p>
        </p:txBody>
      </p:sp>
      <p:grpSp>
        <p:nvGrpSpPr>
          <p:cNvPr id="52229" name="Group 4"/>
          <p:cNvGrpSpPr>
            <a:grpSpLocks/>
          </p:cNvGrpSpPr>
          <p:nvPr/>
        </p:nvGrpSpPr>
        <p:grpSpPr bwMode="auto">
          <a:xfrm>
            <a:off x="228600" y="252413"/>
            <a:ext cx="8610600" cy="5995987"/>
            <a:chOff x="336" y="159"/>
            <a:chExt cx="5232" cy="3777"/>
          </a:xfrm>
        </p:grpSpPr>
        <p:sp>
          <p:nvSpPr>
            <p:cNvPr id="5223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3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52230"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95400" y="533400"/>
            <a:ext cx="7038975"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CAD4134-CF75-476C-86AC-DB8052CC7C52}" type="slidenum">
              <a:rPr lang="zh-TW" altLang="en-US" sz="1000">
                <a:latin typeface="Tahoma" panose="020B0604030504040204" pitchFamily="34" charset="0"/>
              </a:rPr>
              <a:pPr/>
              <a:t>50</a:t>
            </a:fld>
            <a:endParaRPr lang="en-US" altLang="zh-TW" sz="1000">
              <a:latin typeface="Tahoma" panose="020B0604030504040204" pitchFamily="34" charset="0"/>
            </a:endParaRPr>
          </a:p>
        </p:txBody>
      </p:sp>
      <p:sp>
        <p:nvSpPr>
          <p:cNvPr id="53251" name="Rectangle 2"/>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TW" smtClean="0">
                <a:ea typeface="新細明體" charset="-120"/>
              </a:rPr>
              <a:t>Absolution Value Functions</a:t>
            </a:r>
          </a:p>
        </p:txBody>
      </p:sp>
      <p:pic>
        <p:nvPicPr>
          <p:cNvPr id="532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47800"/>
            <a:ext cx="8604250" cy="484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24FF1C2F-DD56-4C7F-AD8A-A444348F8483}" type="slidenum">
              <a:rPr lang="zh-TW" altLang="en-US" sz="1000">
                <a:latin typeface="Tahoma" panose="020B0604030504040204" pitchFamily="34" charset="0"/>
              </a:rPr>
              <a:pPr/>
              <a:t>51</a:t>
            </a:fld>
            <a:endParaRPr lang="en-US" altLang="zh-TW" sz="1000">
              <a:latin typeface="Tahoma" panose="020B0604030504040204" pitchFamily="34" charset="0"/>
            </a:endParaRPr>
          </a:p>
        </p:txBody>
      </p:sp>
      <p:sp>
        <p:nvSpPr>
          <p:cNvPr id="54275"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76" name="Rectangle 3"/>
          <p:cNvSpPr>
            <a:spLocks noChangeArrowheads="1"/>
          </p:cNvSpPr>
          <p:nvPr/>
        </p:nvSpPr>
        <p:spPr bwMode="auto">
          <a:xfrm>
            <a:off x="152400" y="5791200"/>
            <a:ext cx="3640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4-27</a:t>
            </a:r>
            <a:r>
              <a:rPr lang="en-US" altLang="zh-TW" sz="2000">
                <a:ea typeface="新細明體" charset="-120"/>
              </a:rPr>
              <a:t>  Ceiling Function</a:t>
            </a:r>
          </a:p>
        </p:txBody>
      </p:sp>
      <p:grpSp>
        <p:nvGrpSpPr>
          <p:cNvPr id="54277" name="Group 4"/>
          <p:cNvGrpSpPr>
            <a:grpSpLocks/>
          </p:cNvGrpSpPr>
          <p:nvPr/>
        </p:nvGrpSpPr>
        <p:grpSpPr bwMode="auto">
          <a:xfrm>
            <a:off x="228600" y="252413"/>
            <a:ext cx="8610600" cy="5995987"/>
            <a:chOff x="336" y="159"/>
            <a:chExt cx="5232" cy="3777"/>
          </a:xfrm>
        </p:grpSpPr>
        <p:sp>
          <p:nvSpPr>
            <p:cNvPr id="54280"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1"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82"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5427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57200"/>
            <a:ext cx="79248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5427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133600"/>
            <a:ext cx="8229600" cy="337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138EF5CA-19F5-4664-AD01-3C1F53532B2D}" type="slidenum">
              <a:rPr lang="zh-TW" altLang="en-US" sz="1000">
                <a:latin typeface="Tahoma" panose="020B0604030504040204" pitchFamily="34" charset="0"/>
              </a:rPr>
              <a:pPr/>
              <a:t>52</a:t>
            </a:fld>
            <a:endParaRPr lang="en-US" altLang="zh-TW" sz="1000">
              <a:latin typeface="Tahoma" panose="020B0604030504040204" pitchFamily="34" charset="0"/>
            </a:endParaRPr>
          </a:p>
        </p:txBody>
      </p:sp>
      <p:sp>
        <p:nvSpPr>
          <p:cNvPr id="5529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0" name="Rectangle 3"/>
          <p:cNvSpPr>
            <a:spLocks noChangeArrowheads="1"/>
          </p:cNvSpPr>
          <p:nvPr/>
        </p:nvSpPr>
        <p:spPr bwMode="auto">
          <a:xfrm>
            <a:off x="152400" y="5791200"/>
            <a:ext cx="345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4-28</a:t>
            </a:r>
            <a:r>
              <a:rPr lang="en-US" altLang="zh-TW" sz="2000">
                <a:ea typeface="新細明體" charset="-120"/>
              </a:rPr>
              <a:t>  Floor Function</a:t>
            </a:r>
          </a:p>
        </p:txBody>
      </p:sp>
      <p:grpSp>
        <p:nvGrpSpPr>
          <p:cNvPr id="55301" name="Group 4"/>
          <p:cNvGrpSpPr>
            <a:grpSpLocks/>
          </p:cNvGrpSpPr>
          <p:nvPr/>
        </p:nvGrpSpPr>
        <p:grpSpPr bwMode="auto">
          <a:xfrm>
            <a:off x="228600" y="252413"/>
            <a:ext cx="8610600" cy="5995987"/>
            <a:chOff x="336" y="159"/>
            <a:chExt cx="5232" cy="3777"/>
          </a:xfrm>
        </p:grpSpPr>
        <p:sp>
          <p:nvSpPr>
            <p:cNvPr id="55305"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6"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7"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5530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457200"/>
            <a:ext cx="8043863" cy="185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5530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133600"/>
            <a:ext cx="6399213"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5530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962400"/>
            <a:ext cx="6669088"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4910F95-98E8-4851-A66B-23BC6DB7207A}" type="slidenum">
              <a:rPr lang="zh-TW" altLang="en-US" sz="1000">
                <a:latin typeface="Tahoma" panose="020B0604030504040204" pitchFamily="34" charset="0"/>
              </a:rPr>
              <a:pPr/>
              <a:t>53</a:t>
            </a:fld>
            <a:endParaRPr lang="en-US" altLang="zh-TW" sz="1000">
              <a:latin typeface="Tahoma" panose="020B0604030504040204" pitchFamily="34" charset="0"/>
            </a:endParaRPr>
          </a:p>
        </p:txBody>
      </p:sp>
      <p:sp>
        <p:nvSpPr>
          <p:cNvPr id="56323" name="Rectangle 2"/>
          <p:cNvSpPr>
            <a:spLocks noGrp="1" noChangeArrowheads="1"/>
          </p:cNvSpPr>
          <p:nvPr>
            <p:ph type="title"/>
          </p:nvPr>
        </p:nvSpPr>
        <p:spPr bwMode="auto">
          <a:xfrm>
            <a:off x="444500" y="122238"/>
            <a:ext cx="82296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TW" smtClean="0">
                <a:ea typeface="新細明體" charset="-120"/>
              </a:rPr>
              <a:t>Truncation and Round Function</a:t>
            </a:r>
          </a:p>
        </p:txBody>
      </p:sp>
      <p:pic>
        <p:nvPicPr>
          <p:cNvPr id="5632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000125"/>
            <a:ext cx="5419725" cy="585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810957E4-B5D9-434A-83DF-8A6E36DBF0FB}" type="slidenum">
              <a:rPr lang="zh-TW" altLang="en-US" sz="1000">
                <a:latin typeface="Tahoma" panose="020B0604030504040204" pitchFamily="34" charset="0"/>
              </a:rPr>
              <a:pPr/>
              <a:t>54</a:t>
            </a:fld>
            <a:endParaRPr lang="en-US" altLang="zh-TW" sz="1000">
              <a:latin typeface="Tahoma" panose="020B0604030504040204" pitchFamily="34" charset="0"/>
            </a:endParaRPr>
          </a:p>
        </p:txBody>
      </p:sp>
      <p:sp>
        <p:nvSpPr>
          <p:cNvPr id="57347" name="Rectangle 2"/>
          <p:cNvSpPr>
            <a:spLocks noGrp="1" noChangeArrowheads="1"/>
          </p:cNvSpPr>
          <p:nvPr>
            <p:ph type="title"/>
          </p:nvPr>
        </p:nvSpPr>
        <p:spPr bwMode="auto">
          <a:xfrm>
            <a:off x="457200" y="274638"/>
            <a:ext cx="84582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TW" smtClean="0">
                <a:ea typeface="新細明體" charset="-120"/>
              </a:rPr>
              <a:t>Power and Square Root Function</a:t>
            </a:r>
          </a:p>
        </p:txBody>
      </p:sp>
      <p:pic>
        <p:nvPicPr>
          <p:cNvPr id="573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041400"/>
            <a:ext cx="5205413"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FEBFDF3C-52C1-44ED-BA92-B6276531DDE7}" type="slidenum">
              <a:rPr lang="zh-TW" altLang="en-US" sz="1000">
                <a:latin typeface="Tahoma" panose="020B0604030504040204" pitchFamily="34" charset="0"/>
              </a:rPr>
              <a:pPr/>
              <a:t>55</a:t>
            </a:fld>
            <a:endParaRPr lang="en-US" altLang="zh-TW" sz="1000">
              <a:latin typeface="Tahoma" panose="020B0604030504040204" pitchFamily="34" charset="0"/>
            </a:endParaRPr>
          </a:p>
        </p:txBody>
      </p:sp>
      <p:sp>
        <p:nvSpPr>
          <p:cNvPr id="58371"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8372" name="Rectangle 3"/>
          <p:cNvSpPr>
            <a:spLocks noChangeArrowheads="1"/>
          </p:cNvSpPr>
          <p:nvPr/>
        </p:nvSpPr>
        <p:spPr bwMode="auto">
          <a:xfrm>
            <a:off x="152400" y="5741988"/>
            <a:ext cx="53641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4-29</a:t>
            </a:r>
            <a:r>
              <a:rPr lang="en-US" altLang="zh-TW" sz="2000">
                <a:ea typeface="新細明體" charset="-120"/>
              </a:rPr>
              <a:t>  </a:t>
            </a:r>
            <a:r>
              <a:rPr lang="en-US" altLang="zh-TW" b="0">
                <a:ea typeface="新細明體" charset="-120"/>
              </a:rPr>
              <a:t>Random Number Generation</a:t>
            </a:r>
          </a:p>
          <a:p>
            <a:pPr algn="l"/>
            <a:endParaRPr lang="zh-TW" altLang="en-US" sz="2000">
              <a:ea typeface="新細明體" charset="-120"/>
            </a:endParaRPr>
          </a:p>
        </p:txBody>
      </p:sp>
      <p:pic>
        <p:nvPicPr>
          <p:cNvPr id="58373"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776538"/>
            <a:ext cx="6992938"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58374" name="Rectangle 9"/>
          <p:cNvSpPr>
            <a:spLocks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eaLnBrk="1" hangingPunct="1"/>
            <a:r>
              <a:rPr lang="en-US" altLang="zh-TW" sz="4400" b="0">
                <a:solidFill>
                  <a:schemeClr val="tx2"/>
                </a:solidFill>
                <a:latin typeface="Tahoma" panose="020B0604030504040204" pitchFamily="34" charset="0"/>
                <a:ea typeface="新細明體" charset="-120"/>
              </a:rPr>
              <a:t>Random numbers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541E4165-0E39-4626-8890-C3A24C834A16}" type="slidenum">
              <a:rPr lang="zh-TW" altLang="en-US" sz="1000">
                <a:latin typeface="Tahoma" panose="020B0604030504040204" pitchFamily="34" charset="0"/>
              </a:rPr>
              <a:pPr/>
              <a:t>56</a:t>
            </a:fld>
            <a:endParaRPr lang="en-US" altLang="zh-TW" sz="1000">
              <a:latin typeface="Tahoma" panose="020B0604030504040204" pitchFamily="34" charset="0"/>
            </a:endParaRPr>
          </a:p>
        </p:txBody>
      </p:sp>
      <p:sp>
        <p:nvSpPr>
          <p:cNvPr id="59395"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396" name="Rectangle 3"/>
          <p:cNvSpPr>
            <a:spLocks noChangeArrowheads="1"/>
          </p:cNvSpPr>
          <p:nvPr/>
        </p:nvSpPr>
        <p:spPr bwMode="auto">
          <a:xfrm>
            <a:off x="152400" y="5791200"/>
            <a:ext cx="591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4-30</a:t>
            </a:r>
            <a:r>
              <a:rPr lang="en-US" altLang="zh-TW" sz="2000">
                <a:ea typeface="新細明體" charset="-120"/>
              </a:rPr>
              <a:t>  Generating a Random Number Series</a:t>
            </a:r>
          </a:p>
        </p:txBody>
      </p:sp>
      <p:grpSp>
        <p:nvGrpSpPr>
          <p:cNvPr id="59397" name="Group 4"/>
          <p:cNvGrpSpPr>
            <a:grpSpLocks/>
          </p:cNvGrpSpPr>
          <p:nvPr/>
        </p:nvGrpSpPr>
        <p:grpSpPr bwMode="auto">
          <a:xfrm>
            <a:off x="228600" y="252413"/>
            <a:ext cx="8610600" cy="5995987"/>
            <a:chOff x="336" y="159"/>
            <a:chExt cx="5232" cy="3777"/>
          </a:xfrm>
        </p:grpSpPr>
        <p:sp>
          <p:nvSpPr>
            <p:cNvPr id="59399"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0"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401"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59398"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600200"/>
            <a:ext cx="6362700" cy="322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929FCA8-1CE2-4C85-A552-277C1517DC0A}" type="slidenum">
              <a:rPr lang="zh-TW" altLang="en-US" sz="1000">
                <a:latin typeface="Tahoma" panose="020B0604030504040204" pitchFamily="34" charset="0"/>
              </a:rPr>
              <a:pPr/>
              <a:t>57</a:t>
            </a:fld>
            <a:endParaRPr lang="en-US" altLang="zh-TW" sz="1000">
              <a:latin typeface="Tahoma" panose="020B0604030504040204" pitchFamily="34" charset="0"/>
            </a:endParaRPr>
          </a:p>
        </p:txBody>
      </p:sp>
      <p:sp>
        <p:nvSpPr>
          <p:cNvPr id="60419" name="Line 2"/>
          <p:cNvSpPr>
            <a:spLocks noChangeShapeType="1"/>
          </p:cNvSpPr>
          <p:nvPr/>
        </p:nvSpPr>
        <p:spPr bwMode="auto">
          <a:xfrm>
            <a:off x="266700" y="533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0" name="Line 3"/>
          <p:cNvSpPr>
            <a:spLocks noChangeShapeType="1"/>
          </p:cNvSpPr>
          <p:nvPr/>
        </p:nvSpPr>
        <p:spPr bwMode="auto">
          <a:xfrm>
            <a:off x="268288" y="1524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0421" name="Rectangle 4"/>
          <p:cNvSpPr>
            <a:spLocks noChangeArrowheads="1"/>
          </p:cNvSpPr>
          <p:nvPr/>
        </p:nvSpPr>
        <p:spPr bwMode="auto">
          <a:xfrm>
            <a:off x="304800" y="625475"/>
            <a:ext cx="8077200" cy="8223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i="1">
                <a:ea typeface="新細明體" charset="-120"/>
              </a:rPr>
              <a:t>srand</a:t>
            </a:r>
            <a:r>
              <a:rPr lang="en-US" altLang="zh-TW">
                <a:ea typeface="新細明體" charset="-120"/>
              </a:rPr>
              <a:t> must be called only once for each random</a:t>
            </a:r>
            <a:br>
              <a:rPr lang="en-US" altLang="zh-TW">
                <a:ea typeface="新細明體" charset="-120"/>
              </a:rPr>
            </a:br>
            <a:r>
              <a:rPr lang="en-US" altLang="zh-TW">
                <a:ea typeface="新細明體" charset="-120"/>
              </a:rPr>
              <a:t>number series.</a:t>
            </a:r>
          </a:p>
        </p:txBody>
      </p:sp>
      <p:sp>
        <p:nvSpPr>
          <p:cNvPr id="636933" name="Text Box 5"/>
          <p:cNvSpPr txBox="1">
            <a:spLocks noChangeArrowheads="1"/>
          </p:cNvSpPr>
          <p:nvPr/>
        </p:nvSpPr>
        <p:spPr bwMode="auto">
          <a:xfrm>
            <a:off x="285750" y="0"/>
            <a:ext cx="874713" cy="519113"/>
          </a:xfrm>
          <a:prstGeom prst="rect">
            <a:avLst/>
          </a:prstGeom>
          <a:noFill/>
          <a:ln w="76200" algn="ctr">
            <a:noFill/>
            <a:miter lim="800000"/>
            <a:headEnd/>
            <a:tailEnd/>
          </a:ln>
          <a:effectLst/>
        </p:spPr>
        <p:txBody>
          <a:bodyPr wrap="none">
            <a:spAutoFit/>
          </a:bodyPr>
          <a:lstStyle/>
          <a:p>
            <a:pPr algn="ctr">
              <a:defRPr/>
            </a:pPr>
            <a:r>
              <a:rPr lang="en-US" altLang="zh-TW" sz="2800" i="1">
                <a:solidFill>
                  <a:schemeClr val="hlink"/>
                </a:solidFill>
                <a:effectLst>
                  <a:outerShdw blurRad="38100" dist="38100" dir="2700000" algn="tl">
                    <a:srgbClr val="C0C0C0"/>
                  </a:outerShdw>
                </a:effectLst>
                <a:ea typeface="新細明體" charset="-120"/>
              </a:rPr>
              <a:t>Note</a:t>
            </a:r>
          </a:p>
        </p:txBody>
      </p:sp>
      <p:pic>
        <p:nvPicPr>
          <p:cNvPr id="6042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5715000" cy="49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6CFD9FD-69D1-4434-9BC4-3BDF40773D3A}" type="slidenum">
              <a:rPr lang="zh-TW" altLang="en-US" sz="1000">
                <a:latin typeface="Tahoma" panose="020B0604030504040204" pitchFamily="34" charset="0"/>
              </a:rPr>
              <a:pPr/>
              <a:t>58</a:t>
            </a:fld>
            <a:endParaRPr lang="en-US" altLang="zh-TW" sz="1000">
              <a:latin typeface="Tahoma" panose="020B0604030504040204" pitchFamily="34" charset="0"/>
            </a:endParaRPr>
          </a:p>
        </p:txBody>
      </p:sp>
      <p:sp>
        <p:nvSpPr>
          <p:cNvPr id="61443" name="Text Box 2"/>
          <p:cNvSpPr txBox="1">
            <a:spLocks noChangeArrowheads="1"/>
          </p:cNvSpPr>
          <p:nvPr/>
        </p:nvSpPr>
        <p:spPr bwMode="auto">
          <a:xfrm>
            <a:off x="6286500" y="127000"/>
            <a:ext cx="1927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4-9</a:t>
            </a:r>
          </a:p>
        </p:txBody>
      </p:sp>
      <p:sp>
        <p:nvSpPr>
          <p:cNvPr id="61444" name="Text Box 3"/>
          <p:cNvSpPr txBox="1">
            <a:spLocks noChangeArrowheads="1"/>
          </p:cNvSpPr>
          <p:nvPr/>
        </p:nvSpPr>
        <p:spPr bwMode="auto">
          <a:xfrm>
            <a:off x="6324600" y="571500"/>
            <a:ext cx="2286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Creating Temporal Random Numbers</a:t>
            </a:r>
          </a:p>
        </p:txBody>
      </p:sp>
      <p:pic>
        <p:nvPicPr>
          <p:cNvPr id="614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276975"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1446"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 y="1371600"/>
            <a:ext cx="6223000" cy="2490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1447"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 y="3860800"/>
            <a:ext cx="6280150" cy="304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69BB9004-7F4B-4439-ACE5-C54D05684CC7}" type="slidenum">
              <a:rPr lang="zh-TW" altLang="en-US" sz="1000">
                <a:latin typeface="Tahoma" panose="020B0604030504040204" pitchFamily="34" charset="0"/>
              </a:rPr>
              <a:pPr/>
              <a:t>59</a:t>
            </a:fld>
            <a:endParaRPr lang="en-US" altLang="zh-TW" sz="1000">
              <a:latin typeface="Tahoma" panose="020B0604030504040204" pitchFamily="34" charset="0"/>
            </a:endParaRPr>
          </a:p>
        </p:txBody>
      </p:sp>
      <p:sp>
        <p:nvSpPr>
          <p:cNvPr id="62467" name="Text Box 2"/>
          <p:cNvSpPr txBox="1">
            <a:spLocks noChangeArrowheads="1"/>
          </p:cNvSpPr>
          <p:nvPr/>
        </p:nvSpPr>
        <p:spPr bwMode="auto">
          <a:xfrm>
            <a:off x="6248400" y="152400"/>
            <a:ext cx="205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4-10</a:t>
            </a:r>
          </a:p>
        </p:txBody>
      </p:sp>
      <p:sp>
        <p:nvSpPr>
          <p:cNvPr id="62468" name="Text Box 3"/>
          <p:cNvSpPr txBox="1">
            <a:spLocks noChangeArrowheads="1"/>
          </p:cNvSpPr>
          <p:nvPr/>
        </p:nvSpPr>
        <p:spPr bwMode="auto">
          <a:xfrm>
            <a:off x="6197600" y="533400"/>
            <a:ext cx="2971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Creating Pseudorandom Numbers</a:t>
            </a:r>
          </a:p>
        </p:txBody>
      </p:sp>
      <p:pic>
        <p:nvPicPr>
          <p:cNvPr id="6246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175375" cy="212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247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08200"/>
            <a:ext cx="6172200" cy="199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247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 y="4102100"/>
            <a:ext cx="6223000"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DA9E34D4-07CA-40A4-A3C9-052B85BE1987}" type="slidenum">
              <a:rPr lang="zh-TW" altLang="en-US" sz="1000">
                <a:latin typeface="Tahoma" panose="020B0604030504040204" pitchFamily="34" charset="0"/>
              </a:rPr>
              <a:pPr/>
              <a:t>60</a:t>
            </a:fld>
            <a:endParaRPr lang="en-US" altLang="zh-TW" sz="1000">
              <a:latin typeface="Tahoma" panose="020B0604030504040204" pitchFamily="34" charset="0"/>
            </a:endParaRPr>
          </a:p>
        </p:txBody>
      </p:sp>
      <p:sp>
        <p:nvSpPr>
          <p:cNvPr id="63491"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2" name="Rectangle 3"/>
          <p:cNvSpPr>
            <a:spLocks noChangeArrowheads="1"/>
          </p:cNvSpPr>
          <p:nvPr/>
        </p:nvSpPr>
        <p:spPr bwMode="auto">
          <a:xfrm>
            <a:off x="152400" y="5791200"/>
            <a:ext cx="5411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4-31</a:t>
            </a:r>
            <a:r>
              <a:rPr lang="en-US" altLang="zh-TW" sz="2000">
                <a:ea typeface="新細明體" charset="-120"/>
              </a:rPr>
              <a:t>  Random Number Scaling for 3–7</a:t>
            </a:r>
          </a:p>
        </p:txBody>
      </p:sp>
      <p:grpSp>
        <p:nvGrpSpPr>
          <p:cNvPr id="63493" name="Group 4"/>
          <p:cNvGrpSpPr>
            <a:grpSpLocks/>
          </p:cNvGrpSpPr>
          <p:nvPr/>
        </p:nvGrpSpPr>
        <p:grpSpPr bwMode="auto">
          <a:xfrm>
            <a:off x="228600" y="252413"/>
            <a:ext cx="8610600" cy="5995987"/>
            <a:chOff x="336" y="159"/>
            <a:chExt cx="5232" cy="3777"/>
          </a:xfrm>
        </p:grpSpPr>
        <p:sp>
          <p:nvSpPr>
            <p:cNvPr id="63495"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6"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497"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3494"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1371600"/>
            <a:ext cx="794385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058CCE16-49A7-49EA-AE81-885C1E62EAAC}" type="slidenum">
              <a:rPr lang="zh-TW" altLang="en-US" sz="1000">
                <a:latin typeface="Tahoma" panose="020B0604030504040204" pitchFamily="34" charset="0"/>
              </a:rPr>
              <a:pPr/>
              <a:t>61</a:t>
            </a:fld>
            <a:endParaRPr lang="en-US" altLang="zh-TW" sz="1000">
              <a:latin typeface="Tahoma" panose="020B0604030504040204" pitchFamily="34" charset="0"/>
            </a:endParaRPr>
          </a:p>
        </p:txBody>
      </p:sp>
      <p:sp>
        <p:nvSpPr>
          <p:cNvPr id="64515" name="Text Box 2"/>
          <p:cNvSpPr txBox="1">
            <a:spLocks noChangeArrowheads="1"/>
          </p:cNvSpPr>
          <p:nvPr/>
        </p:nvSpPr>
        <p:spPr bwMode="auto">
          <a:xfrm>
            <a:off x="114300" y="101600"/>
            <a:ext cx="205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4-11</a:t>
            </a:r>
          </a:p>
        </p:txBody>
      </p:sp>
      <p:grpSp>
        <p:nvGrpSpPr>
          <p:cNvPr id="64516" name="Group 9"/>
          <p:cNvGrpSpPr>
            <a:grpSpLocks noChangeAspect="1"/>
          </p:cNvGrpSpPr>
          <p:nvPr/>
        </p:nvGrpSpPr>
        <p:grpSpPr bwMode="auto">
          <a:xfrm>
            <a:off x="25400" y="495300"/>
            <a:ext cx="6581775" cy="4387850"/>
            <a:chOff x="96" y="384"/>
            <a:chExt cx="5328" cy="3552"/>
          </a:xfrm>
        </p:grpSpPr>
        <p:pic>
          <p:nvPicPr>
            <p:cNvPr id="6451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 y="384"/>
              <a:ext cx="5200" cy="1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452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 y="2160"/>
              <a:ext cx="5182"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64521" name="Rectangle 8"/>
            <p:cNvSpPr>
              <a:spLocks noChangeAspect="1" noChangeArrowheads="1"/>
            </p:cNvSpPr>
            <p:nvPr/>
          </p:nvSpPr>
          <p:spPr bwMode="auto">
            <a:xfrm>
              <a:off x="96" y="3696"/>
              <a:ext cx="5328" cy="240"/>
            </a:xfrm>
            <a:prstGeom prst="rect">
              <a:avLst/>
            </a:prstGeom>
            <a:solidFill>
              <a:schemeClr val="bg1"/>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endParaRPr lang="zh-TW" altLang="en-US">
                <a:ea typeface="新細明體" charset="-120"/>
              </a:endParaRPr>
            </a:p>
          </p:txBody>
        </p:sp>
      </p:grpSp>
      <p:pic>
        <p:nvPicPr>
          <p:cNvPr id="64517"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597400"/>
            <a:ext cx="651510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
        <p:nvSpPr>
          <p:cNvPr id="64518" name="Text Box 3"/>
          <p:cNvSpPr txBox="1">
            <a:spLocks noChangeArrowheads="1"/>
          </p:cNvSpPr>
          <p:nvPr/>
        </p:nvSpPr>
        <p:spPr bwMode="auto">
          <a:xfrm>
            <a:off x="2120900" y="114300"/>
            <a:ext cx="6502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Generating Random Numbers in the Range 10 to 20</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8955487C-3F9B-45C4-AFBC-7C91BB14C521}" type="slidenum">
              <a:rPr lang="zh-TW" altLang="en-US" sz="1000">
                <a:latin typeface="Tahoma" panose="020B0604030504040204" pitchFamily="34" charset="0"/>
              </a:rPr>
              <a:pPr/>
              <a:t>62</a:t>
            </a:fld>
            <a:endParaRPr lang="en-US" altLang="zh-TW" sz="1000">
              <a:latin typeface="Tahoma" panose="020B0604030504040204" pitchFamily="34" charset="0"/>
            </a:endParaRPr>
          </a:p>
        </p:txBody>
      </p:sp>
      <p:sp>
        <p:nvSpPr>
          <p:cNvPr id="65539" name="Text Box 2"/>
          <p:cNvSpPr txBox="1">
            <a:spLocks noChangeArrowheads="1"/>
          </p:cNvSpPr>
          <p:nvPr/>
        </p:nvSpPr>
        <p:spPr bwMode="auto">
          <a:xfrm>
            <a:off x="6324600" y="152400"/>
            <a:ext cx="205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4-12</a:t>
            </a:r>
          </a:p>
        </p:txBody>
      </p:sp>
      <p:sp>
        <p:nvSpPr>
          <p:cNvPr id="65540" name="Text Box 3"/>
          <p:cNvSpPr txBox="1">
            <a:spLocks noChangeArrowheads="1"/>
          </p:cNvSpPr>
          <p:nvPr/>
        </p:nvSpPr>
        <p:spPr bwMode="auto">
          <a:xfrm>
            <a:off x="6324600" y="685800"/>
            <a:ext cx="281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Generating Random Real Numbers</a:t>
            </a:r>
          </a:p>
        </p:txBody>
      </p:sp>
      <p:pic>
        <p:nvPicPr>
          <p:cNvPr id="655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3400"/>
            <a:ext cx="6240463"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554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068763"/>
            <a:ext cx="6257925" cy="278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5543"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6240463"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65544"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00" y="393700"/>
            <a:ext cx="6240463" cy="371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451952A0-7281-4931-81AC-A596021825D3}" type="slidenum">
              <a:rPr lang="zh-TW" altLang="en-US" sz="1000">
                <a:latin typeface="Tahoma" panose="020B0604030504040204" pitchFamily="34" charset="0"/>
              </a:rPr>
              <a:pPr/>
              <a:t>63</a:t>
            </a:fld>
            <a:endParaRPr lang="en-US" altLang="zh-TW" sz="1000">
              <a:latin typeface="Tahoma" panose="020B0604030504040204" pitchFamily="34" charset="0"/>
            </a:endParaRPr>
          </a:p>
        </p:txBody>
      </p:sp>
      <p:sp>
        <p:nvSpPr>
          <p:cNvPr id="66563"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66564" name="Text Box 3"/>
          <p:cNvSpPr txBox="1">
            <a:spLocks noChangeArrowheads="1"/>
          </p:cNvSpPr>
          <p:nvPr/>
        </p:nvSpPr>
        <p:spPr bwMode="auto">
          <a:xfrm>
            <a:off x="228600" y="304800"/>
            <a:ext cx="28654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4-6   Scope</a:t>
            </a:r>
          </a:p>
        </p:txBody>
      </p:sp>
      <p:sp>
        <p:nvSpPr>
          <p:cNvPr id="66565"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643077" name="Rectangle 5"/>
          <p:cNvSpPr>
            <a:spLocks noChangeArrowheads="1"/>
          </p:cNvSpPr>
          <p:nvPr/>
        </p:nvSpPr>
        <p:spPr bwMode="auto">
          <a:xfrm>
            <a:off x="304800" y="1524000"/>
            <a:ext cx="8229600" cy="1800225"/>
          </a:xfrm>
          <a:prstGeom prst="rect">
            <a:avLst/>
          </a:prstGeom>
          <a:noFill/>
          <a:ln w="9525">
            <a:noFill/>
            <a:miter lim="800000"/>
            <a:headEnd/>
            <a:tailEnd/>
          </a:ln>
          <a:effectLst/>
        </p:spPr>
        <p:txBody>
          <a:bodyPr anchor="ctr">
            <a:spAutoFit/>
          </a:bodyPr>
          <a:lstStyle/>
          <a:p>
            <a:pPr algn="just" eaLnBrk="1" hangingPunct="1">
              <a:defRPr/>
            </a:pPr>
            <a:r>
              <a:rPr lang="en-US" altLang="zh-TW" sz="2800" i="1">
                <a:effectLst>
                  <a:outerShdw blurRad="38100" dist="38100" dir="2700000" algn="tl">
                    <a:srgbClr val="C0C0C0"/>
                  </a:outerShdw>
                </a:effectLst>
                <a:ea typeface="新細明體" charset="-120"/>
              </a:rPr>
              <a:t>Scope determines the region of the program in which a defined object is visible. Scope pertains to any object that can be declared, such as a variable or</a:t>
            </a:r>
          </a:p>
          <a:p>
            <a:pPr algn="just" eaLnBrk="1" hangingPunct="1">
              <a:defRPr/>
            </a:pPr>
            <a:r>
              <a:rPr lang="en-US" altLang="zh-TW" sz="2800" i="1">
                <a:effectLst>
                  <a:outerShdw blurRad="38100" dist="38100" dir="2700000" algn="tl">
                    <a:srgbClr val="C0C0C0"/>
                  </a:outerShdw>
                </a:effectLst>
                <a:ea typeface="新細明體" charset="-120"/>
              </a:rPr>
              <a:t>a function declaration. </a:t>
            </a:r>
          </a:p>
        </p:txBody>
      </p:sp>
      <p:sp>
        <p:nvSpPr>
          <p:cNvPr id="66567" name="Rectangle 6"/>
          <p:cNvSpPr>
            <a:spLocks noChangeArrowheads="1"/>
          </p:cNvSpPr>
          <p:nvPr/>
        </p:nvSpPr>
        <p:spPr bwMode="auto">
          <a:xfrm>
            <a:off x="304800" y="4438650"/>
            <a:ext cx="5715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buClr>
                <a:schemeClr val="tx1"/>
              </a:buClr>
              <a:buSzPct val="117000"/>
              <a:buFont typeface="Wingdings" panose="05000000000000000000" pitchFamily="2" charset="2"/>
              <a:buNone/>
            </a:pPr>
            <a:r>
              <a:rPr lang="en-US" altLang="zh-TW">
                <a:solidFill>
                  <a:schemeClr val="hlink"/>
                </a:solidFill>
                <a:ea typeface="新細明體" charset="-120"/>
              </a:rPr>
              <a:t>Global Scope</a:t>
            </a:r>
            <a:endParaRPr lang="fr-FR" altLang="zh-TW">
              <a:solidFill>
                <a:schemeClr val="hlink"/>
              </a:solidFill>
              <a:ea typeface="新細明體" charset="-120"/>
            </a:endParaRPr>
          </a:p>
          <a:p>
            <a:pPr algn="l">
              <a:buClr>
                <a:schemeClr val="folHlink"/>
              </a:buClr>
              <a:buSzPct val="117000"/>
              <a:buFont typeface="Wingdings" panose="05000000000000000000" pitchFamily="2" charset="2"/>
              <a:buNone/>
            </a:pPr>
            <a:r>
              <a:rPr lang="fr-FR" altLang="zh-TW">
                <a:solidFill>
                  <a:schemeClr val="hlink"/>
                </a:solidFill>
                <a:ea typeface="新細明體" charset="-120"/>
              </a:rPr>
              <a:t>Local Scope</a:t>
            </a:r>
            <a:endParaRPr lang="en-US" altLang="zh-TW">
              <a:solidFill>
                <a:schemeClr val="hlink"/>
              </a:solidFill>
              <a:ea typeface="新細明體" charset="-120"/>
            </a:endParaRPr>
          </a:p>
        </p:txBody>
      </p:sp>
      <p:sp>
        <p:nvSpPr>
          <p:cNvPr id="643079" name="Text Box 7"/>
          <p:cNvSpPr txBox="1">
            <a:spLocks noChangeArrowheads="1"/>
          </p:cNvSpPr>
          <p:nvPr/>
        </p:nvSpPr>
        <p:spPr bwMode="auto">
          <a:xfrm>
            <a:off x="317500" y="3962400"/>
            <a:ext cx="4862513" cy="519113"/>
          </a:xfrm>
          <a:prstGeom prst="rect">
            <a:avLst/>
          </a:prstGeom>
          <a:noFill/>
          <a:ln w="76200" algn="ctr">
            <a:noFill/>
            <a:miter lim="800000"/>
            <a:headEnd/>
            <a:tailEnd/>
          </a:ln>
          <a:effectLst/>
        </p:spPr>
        <p:txBody>
          <a:bodyPr wrap="none">
            <a:spAutoFit/>
          </a:bodyPr>
          <a:lstStyle/>
          <a:p>
            <a:pPr algn="ctr">
              <a:defRPr/>
            </a:pPr>
            <a:r>
              <a:rPr lang="en-US" altLang="zh-TW" sz="2800" i="1" u="sng">
                <a:effectLst>
                  <a:outerShdw blurRad="38100" dist="38100" dir="2700000" algn="tl">
                    <a:srgbClr val="C0C0C0"/>
                  </a:outerShdw>
                </a:effectLst>
                <a:ea typeface="新細明體" charset="-120"/>
              </a:rPr>
              <a:t>Topics discussed in this section:</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0C8585CE-F3A9-49A2-B2F2-8AFB9E5A8B75}" type="slidenum">
              <a:rPr lang="zh-TW" altLang="en-US" sz="1000">
                <a:latin typeface="Tahoma" panose="020B0604030504040204" pitchFamily="34" charset="0"/>
              </a:rPr>
              <a:pPr/>
              <a:t>64</a:t>
            </a:fld>
            <a:endParaRPr lang="en-US" altLang="zh-TW" sz="1000">
              <a:latin typeface="Tahoma" panose="020B0604030504040204" pitchFamily="34" charset="0"/>
            </a:endParaRPr>
          </a:p>
        </p:txBody>
      </p:sp>
      <p:sp>
        <p:nvSpPr>
          <p:cNvPr id="67587"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88" name="Rectangle 3"/>
          <p:cNvSpPr>
            <a:spLocks noChangeArrowheads="1"/>
          </p:cNvSpPr>
          <p:nvPr/>
        </p:nvSpPr>
        <p:spPr bwMode="auto">
          <a:xfrm>
            <a:off x="152400" y="5791200"/>
            <a:ext cx="5502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4-32</a:t>
            </a:r>
            <a:r>
              <a:rPr lang="en-US" altLang="zh-TW" sz="2000">
                <a:ea typeface="新細明體" charset="-120"/>
              </a:rPr>
              <a:t>  Scope for Global and Block Areas</a:t>
            </a:r>
          </a:p>
        </p:txBody>
      </p:sp>
      <p:grpSp>
        <p:nvGrpSpPr>
          <p:cNvPr id="67589" name="Group 4"/>
          <p:cNvGrpSpPr>
            <a:grpSpLocks/>
          </p:cNvGrpSpPr>
          <p:nvPr/>
        </p:nvGrpSpPr>
        <p:grpSpPr bwMode="auto">
          <a:xfrm>
            <a:off x="228600" y="252413"/>
            <a:ext cx="8610600" cy="5995987"/>
            <a:chOff x="336" y="159"/>
            <a:chExt cx="5232" cy="3777"/>
          </a:xfrm>
        </p:grpSpPr>
        <p:sp>
          <p:nvSpPr>
            <p:cNvPr id="67591"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2"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593"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759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5338" y="609600"/>
            <a:ext cx="4716462"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88C35B7C-019A-42BE-8FFA-E0E20269EEEA}" type="slidenum">
              <a:rPr lang="zh-TW" altLang="en-US" sz="1000">
                <a:latin typeface="Tahoma" panose="020B0604030504040204" pitchFamily="34" charset="0"/>
              </a:rPr>
              <a:pPr/>
              <a:t>65</a:t>
            </a:fld>
            <a:endParaRPr lang="en-US" altLang="zh-TW" sz="1000">
              <a:latin typeface="Tahoma" panose="020B0604030504040204" pitchFamily="34" charset="0"/>
            </a:endParaRPr>
          </a:p>
        </p:txBody>
      </p:sp>
      <p:sp>
        <p:nvSpPr>
          <p:cNvPr id="68611" name="Line 2"/>
          <p:cNvSpPr>
            <a:spLocks noChangeShapeType="1"/>
          </p:cNvSpPr>
          <p:nvPr/>
        </p:nvSpPr>
        <p:spPr bwMode="auto">
          <a:xfrm>
            <a:off x="43815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2" name="Line 3"/>
          <p:cNvSpPr>
            <a:spLocks noChangeShapeType="1"/>
          </p:cNvSpPr>
          <p:nvPr/>
        </p:nvSpPr>
        <p:spPr bwMode="auto">
          <a:xfrm>
            <a:off x="439738" y="3657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3" name="Rectangle 4"/>
          <p:cNvSpPr>
            <a:spLocks noChangeArrowheads="1"/>
          </p:cNvSpPr>
          <p:nvPr/>
        </p:nvSpPr>
        <p:spPr bwMode="auto">
          <a:xfrm>
            <a:off x="476250" y="2759075"/>
            <a:ext cx="8077200" cy="8223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a:ea typeface="新細明體" charset="-120"/>
              </a:rPr>
              <a:t>Variables are in scope from declaration until the </a:t>
            </a:r>
            <a:br>
              <a:rPr lang="en-US" altLang="zh-TW">
                <a:ea typeface="新細明體" charset="-120"/>
              </a:rPr>
            </a:br>
            <a:r>
              <a:rPr lang="en-US" altLang="zh-TW">
                <a:ea typeface="新細明體" charset="-120"/>
              </a:rPr>
              <a:t>end of their block.</a:t>
            </a:r>
          </a:p>
        </p:txBody>
      </p:sp>
      <p:sp>
        <p:nvSpPr>
          <p:cNvPr id="645125" name="Text Box 5"/>
          <p:cNvSpPr txBox="1">
            <a:spLocks noChangeArrowheads="1"/>
          </p:cNvSpPr>
          <p:nvPr/>
        </p:nvSpPr>
        <p:spPr bwMode="auto">
          <a:xfrm>
            <a:off x="457200" y="2133600"/>
            <a:ext cx="874713" cy="519113"/>
          </a:xfrm>
          <a:prstGeom prst="rect">
            <a:avLst/>
          </a:prstGeom>
          <a:noFill/>
          <a:ln w="76200" algn="ctr">
            <a:noFill/>
            <a:miter lim="800000"/>
            <a:headEnd/>
            <a:tailEnd/>
          </a:ln>
          <a:effectLst/>
        </p:spPr>
        <p:txBody>
          <a:bodyPr wrap="none">
            <a:spAutoFit/>
          </a:bodyPr>
          <a:lstStyle/>
          <a:p>
            <a:pPr algn="ctr">
              <a:defRPr/>
            </a:pPr>
            <a:r>
              <a:rPr lang="en-US" altLang="zh-TW" sz="2800" i="1">
                <a:solidFill>
                  <a:schemeClr val="hlink"/>
                </a:solidFill>
                <a:effectLst>
                  <a:outerShdw blurRad="38100" dist="38100" dir="2700000" algn="tl">
                    <a:srgbClr val="C0C0C0"/>
                  </a:outerShdw>
                </a:effectLst>
                <a:ea typeface="新細明體" charset="-120"/>
              </a:rPr>
              <a:t>Note</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86275351-1351-4232-8CA2-C2EFD01FAD76}" type="slidenum">
              <a:rPr lang="zh-TW" altLang="en-US" sz="1000">
                <a:latin typeface="Tahoma" panose="020B0604030504040204" pitchFamily="34" charset="0"/>
              </a:rPr>
              <a:pPr/>
              <a:t>66</a:t>
            </a:fld>
            <a:endParaRPr lang="en-US" altLang="zh-TW" sz="1000">
              <a:latin typeface="Tahoma" panose="020B0604030504040204" pitchFamily="34" charset="0"/>
            </a:endParaRPr>
          </a:p>
        </p:txBody>
      </p:sp>
      <p:sp>
        <p:nvSpPr>
          <p:cNvPr id="69635" name="Rectangle 2"/>
          <p:cNvSpPr>
            <a:spLocks noChangeArrowheads="1"/>
          </p:cNvSpPr>
          <p:nvPr/>
        </p:nvSpPr>
        <p:spPr bwMode="auto">
          <a:xfrm>
            <a:off x="0" y="0"/>
            <a:ext cx="9144000" cy="1371600"/>
          </a:xfrm>
          <a:prstGeom prst="rect">
            <a:avLst/>
          </a:prstGeom>
          <a:solidFill>
            <a:srgbClr val="FFFF66"/>
          </a:solidFill>
          <a:ln w="9525">
            <a:solidFill>
              <a:schemeClr val="tx1"/>
            </a:solidFill>
            <a:miter lim="800000"/>
            <a:headEnd/>
            <a:tailEnd/>
          </a:ln>
        </p:spPr>
        <p:txBody>
          <a:bodyPr wrap="none" anchor="ct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endParaRPr lang="zh-TW" altLang="zh-TW">
              <a:ea typeface="新細明體" charset="-120"/>
            </a:endParaRPr>
          </a:p>
        </p:txBody>
      </p:sp>
      <p:sp>
        <p:nvSpPr>
          <p:cNvPr id="69636" name="Text Box 3"/>
          <p:cNvSpPr txBox="1">
            <a:spLocks noChangeArrowheads="1"/>
          </p:cNvSpPr>
          <p:nvPr/>
        </p:nvSpPr>
        <p:spPr bwMode="auto">
          <a:xfrm>
            <a:off x="228600" y="0"/>
            <a:ext cx="749776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4000">
                <a:latin typeface="Arial" panose="020B0604020202020204" pitchFamily="34" charset="0"/>
                <a:ea typeface="新細明體" charset="-120"/>
              </a:rPr>
              <a:t>4-7   Programming Example—</a:t>
            </a:r>
            <a:br>
              <a:rPr lang="en-US" altLang="zh-TW" sz="4000">
                <a:latin typeface="Arial" panose="020B0604020202020204" pitchFamily="34" charset="0"/>
                <a:ea typeface="新細明體" charset="-120"/>
              </a:rPr>
            </a:br>
            <a:r>
              <a:rPr lang="en-US" altLang="zh-TW" sz="4000">
                <a:latin typeface="Arial" panose="020B0604020202020204" pitchFamily="34" charset="0"/>
                <a:ea typeface="新細明體" charset="-120"/>
              </a:rPr>
              <a:t>        Incremental Development</a:t>
            </a:r>
          </a:p>
        </p:txBody>
      </p:sp>
      <p:sp>
        <p:nvSpPr>
          <p:cNvPr id="69637" name="Text Box 4"/>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endParaRPr lang="zh-TW" altLang="zh-TW" sz="1800">
              <a:ea typeface="新細明體" charset="-120"/>
            </a:endParaRPr>
          </a:p>
        </p:txBody>
      </p:sp>
      <p:sp>
        <p:nvSpPr>
          <p:cNvPr id="648197" name="Rectangle 5"/>
          <p:cNvSpPr>
            <a:spLocks noChangeArrowheads="1"/>
          </p:cNvSpPr>
          <p:nvPr/>
        </p:nvSpPr>
        <p:spPr bwMode="auto">
          <a:xfrm>
            <a:off x="304800" y="1593850"/>
            <a:ext cx="8229600" cy="2227263"/>
          </a:xfrm>
          <a:prstGeom prst="rect">
            <a:avLst/>
          </a:prstGeom>
          <a:noFill/>
          <a:ln w="9525">
            <a:noFill/>
            <a:miter lim="800000"/>
            <a:headEnd/>
            <a:tailEnd/>
          </a:ln>
          <a:effectLst/>
        </p:spPr>
        <p:txBody>
          <a:bodyPr anchor="ctr">
            <a:spAutoFit/>
          </a:bodyPr>
          <a:lstStyle/>
          <a:p>
            <a:pPr algn="just" eaLnBrk="1" hangingPunct="1">
              <a:defRPr/>
            </a:pPr>
            <a:r>
              <a:rPr lang="en-US" altLang="zh-TW" sz="2800" i="1">
                <a:effectLst>
                  <a:outerShdw blurRad="38100" dist="38100" dir="2700000" algn="tl">
                    <a:srgbClr val="C0C0C0"/>
                  </a:outerShdw>
                </a:effectLst>
                <a:ea typeface="新細明體" charset="-120"/>
              </a:rPr>
              <a:t>Top–down development, a concept inherent to modular programming, allows us to develop programs incrementally. By writing and debugging each function separately, we are able to solve the program in smaller steps, making the whole process easier.</a:t>
            </a:r>
          </a:p>
        </p:txBody>
      </p:sp>
      <p:sp>
        <p:nvSpPr>
          <p:cNvPr id="69639" name="Rectangle 6"/>
          <p:cNvSpPr>
            <a:spLocks noChangeArrowheads="1"/>
          </p:cNvSpPr>
          <p:nvPr/>
        </p:nvSpPr>
        <p:spPr bwMode="auto">
          <a:xfrm>
            <a:off x="304800" y="4984750"/>
            <a:ext cx="5715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buClr>
                <a:schemeClr val="tx1"/>
              </a:buClr>
              <a:buSzPct val="117000"/>
              <a:buFont typeface="Wingdings" panose="05000000000000000000" pitchFamily="2" charset="2"/>
              <a:buNone/>
            </a:pPr>
            <a:r>
              <a:rPr lang="en-US" altLang="zh-TW">
                <a:solidFill>
                  <a:schemeClr val="hlink"/>
                </a:solidFill>
                <a:ea typeface="新細明體" charset="-120"/>
              </a:rPr>
              <a:t>First Increment: </a:t>
            </a:r>
            <a:r>
              <a:rPr lang="en-US" altLang="zh-TW" i="1">
                <a:solidFill>
                  <a:schemeClr val="hlink"/>
                </a:solidFill>
                <a:ea typeface="新細明體" charset="-120"/>
              </a:rPr>
              <a:t>main</a:t>
            </a:r>
            <a:r>
              <a:rPr lang="en-US" altLang="zh-TW">
                <a:solidFill>
                  <a:schemeClr val="hlink"/>
                </a:solidFill>
                <a:ea typeface="新細明體" charset="-120"/>
              </a:rPr>
              <a:t> and getData</a:t>
            </a:r>
            <a:endParaRPr lang="fr-FR" altLang="zh-TW">
              <a:solidFill>
                <a:schemeClr val="hlink"/>
              </a:solidFill>
              <a:ea typeface="新細明體" charset="-120"/>
            </a:endParaRPr>
          </a:p>
          <a:p>
            <a:pPr algn="l">
              <a:buClr>
                <a:schemeClr val="folHlink"/>
              </a:buClr>
              <a:buSzPct val="117000"/>
              <a:buFont typeface="Wingdings" panose="05000000000000000000" pitchFamily="2" charset="2"/>
              <a:buNone/>
            </a:pPr>
            <a:r>
              <a:rPr lang="fr-FR" altLang="zh-TW">
                <a:solidFill>
                  <a:schemeClr val="hlink"/>
                </a:solidFill>
                <a:ea typeface="新細明體" charset="-120"/>
              </a:rPr>
              <a:t>Second Increment: add</a:t>
            </a:r>
          </a:p>
          <a:p>
            <a:pPr algn="l">
              <a:buClr>
                <a:schemeClr val="folHlink"/>
              </a:buClr>
              <a:buSzPct val="117000"/>
              <a:buFont typeface="Wingdings" panose="05000000000000000000" pitchFamily="2" charset="2"/>
              <a:buNone/>
            </a:pPr>
            <a:r>
              <a:rPr lang="en-US" altLang="zh-TW">
                <a:solidFill>
                  <a:schemeClr val="hlink"/>
                </a:solidFill>
                <a:ea typeface="新細明體" charset="-120"/>
              </a:rPr>
              <a:t>Final Increment: Print ResultsThe</a:t>
            </a:r>
          </a:p>
        </p:txBody>
      </p:sp>
      <p:sp>
        <p:nvSpPr>
          <p:cNvPr id="648199" name="Text Box 7"/>
          <p:cNvSpPr txBox="1">
            <a:spLocks noChangeArrowheads="1"/>
          </p:cNvSpPr>
          <p:nvPr/>
        </p:nvSpPr>
        <p:spPr bwMode="auto">
          <a:xfrm>
            <a:off x="317500" y="4508500"/>
            <a:ext cx="4862513" cy="519113"/>
          </a:xfrm>
          <a:prstGeom prst="rect">
            <a:avLst/>
          </a:prstGeom>
          <a:noFill/>
          <a:ln w="76200" algn="ctr">
            <a:noFill/>
            <a:miter lim="800000"/>
            <a:headEnd/>
            <a:tailEnd/>
          </a:ln>
          <a:effectLst/>
        </p:spPr>
        <p:txBody>
          <a:bodyPr wrap="none">
            <a:spAutoFit/>
          </a:bodyPr>
          <a:lstStyle/>
          <a:p>
            <a:pPr algn="ctr">
              <a:defRPr/>
            </a:pPr>
            <a:r>
              <a:rPr lang="en-US" altLang="zh-TW" sz="2800" i="1" u="sng">
                <a:effectLst>
                  <a:outerShdw blurRad="38100" dist="38100" dir="2700000" algn="tl">
                    <a:srgbClr val="C0C0C0"/>
                  </a:outerShdw>
                </a:effectLst>
                <a:ea typeface="新細明體" charset="-120"/>
              </a:rPr>
              <a:t>Topics discussed in this section:</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E0CC7EB7-1502-4D0F-8A42-7ED1FA326B2C}" type="slidenum">
              <a:rPr lang="zh-TW" altLang="en-US" sz="1000">
                <a:latin typeface="Tahoma" panose="020B0604030504040204" pitchFamily="34" charset="0"/>
              </a:rPr>
              <a:pPr/>
              <a:t>67</a:t>
            </a:fld>
            <a:endParaRPr lang="en-US" altLang="zh-TW" sz="1000">
              <a:latin typeface="Tahoma" panose="020B0604030504040204" pitchFamily="34" charset="0"/>
            </a:endParaRPr>
          </a:p>
        </p:txBody>
      </p:sp>
      <p:sp>
        <p:nvSpPr>
          <p:cNvPr id="70659" name="Line 2"/>
          <p:cNvSpPr>
            <a:spLocks noChangeShapeType="1"/>
          </p:cNvSpPr>
          <p:nvPr/>
        </p:nvSpPr>
        <p:spPr bwMode="auto">
          <a:xfrm>
            <a:off x="381000" y="4572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0" name="Rectangle 3"/>
          <p:cNvSpPr>
            <a:spLocks noChangeArrowheads="1"/>
          </p:cNvSpPr>
          <p:nvPr/>
        </p:nvSpPr>
        <p:spPr bwMode="auto">
          <a:xfrm>
            <a:off x="152400" y="5791200"/>
            <a:ext cx="48180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solidFill>
                  <a:schemeClr val="folHlink"/>
                </a:solidFill>
                <a:ea typeface="新細明體" charset="-120"/>
              </a:rPr>
              <a:t>FIGURE 4-33</a:t>
            </a:r>
            <a:r>
              <a:rPr lang="en-US" altLang="zh-TW" sz="2000">
                <a:ea typeface="新細明體" charset="-120"/>
              </a:rPr>
              <a:t>  Calculator Program Design</a:t>
            </a:r>
          </a:p>
        </p:txBody>
      </p:sp>
      <p:grpSp>
        <p:nvGrpSpPr>
          <p:cNvPr id="70661" name="Group 4"/>
          <p:cNvGrpSpPr>
            <a:grpSpLocks/>
          </p:cNvGrpSpPr>
          <p:nvPr/>
        </p:nvGrpSpPr>
        <p:grpSpPr bwMode="auto">
          <a:xfrm>
            <a:off x="228600" y="252413"/>
            <a:ext cx="8610600" cy="5995987"/>
            <a:chOff x="336" y="159"/>
            <a:chExt cx="5232" cy="3777"/>
          </a:xfrm>
        </p:grpSpPr>
        <p:sp>
          <p:nvSpPr>
            <p:cNvPr id="70663" name="Line 5"/>
            <p:cNvSpPr>
              <a:spLocks noChangeShapeType="1"/>
            </p:cNvSpPr>
            <p:nvPr/>
          </p:nvSpPr>
          <p:spPr bwMode="auto">
            <a:xfrm>
              <a:off x="336" y="3936"/>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4" name="Line 6"/>
            <p:cNvSpPr>
              <a:spLocks noChangeShapeType="1"/>
            </p:cNvSpPr>
            <p:nvPr/>
          </p:nvSpPr>
          <p:spPr bwMode="auto">
            <a:xfrm>
              <a:off x="336" y="159"/>
              <a:ext cx="5232" cy="0"/>
            </a:xfrm>
            <a:prstGeom prst="line">
              <a:avLst/>
            </a:prstGeom>
            <a:noFill/>
            <a:ln w="762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65" name="Line 7"/>
            <p:cNvSpPr>
              <a:spLocks noChangeShapeType="1"/>
            </p:cNvSpPr>
            <p:nvPr/>
          </p:nvSpPr>
          <p:spPr bwMode="auto">
            <a:xfrm>
              <a:off x="336" y="3663"/>
              <a:ext cx="5232" cy="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70662"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0"/>
            <a:ext cx="8756650"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A4E6CDFA-60F0-4A6A-8AF7-CC4B82C58705}" type="slidenum">
              <a:rPr lang="zh-TW" altLang="en-US" sz="1000">
                <a:latin typeface="Tahoma" panose="020B0604030504040204" pitchFamily="34" charset="0"/>
              </a:rPr>
              <a:pPr/>
              <a:t>68</a:t>
            </a:fld>
            <a:endParaRPr lang="en-US" altLang="zh-TW" sz="1000">
              <a:latin typeface="Tahoma" panose="020B0604030504040204" pitchFamily="34" charset="0"/>
            </a:endParaRPr>
          </a:p>
        </p:txBody>
      </p:sp>
      <p:sp>
        <p:nvSpPr>
          <p:cNvPr id="71683" name="Text Box 2"/>
          <p:cNvSpPr txBox="1">
            <a:spLocks noChangeArrowheads="1"/>
          </p:cNvSpPr>
          <p:nvPr/>
        </p:nvSpPr>
        <p:spPr bwMode="auto">
          <a:xfrm>
            <a:off x="5105400" y="228600"/>
            <a:ext cx="205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4-13</a:t>
            </a:r>
          </a:p>
        </p:txBody>
      </p:sp>
      <p:sp>
        <p:nvSpPr>
          <p:cNvPr id="71684" name="Text Box 3"/>
          <p:cNvSpPr txBox="1">
            <a:spLocks noChangeArrowheads="1"/>
          </p:cNvSpPr>
          <p:nvPr/>
        </p:nvSpPr>
        <p:spPr bwMode="auto">
          <a:xfrm>
            <a:off x="5105400" y="685800"/>
            <a:ext cx="312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l"/>
            <a:r>
              <a:rPr lang="en-US" altLang="zh-TW" sz="2000">
                <a:ea typeface="新細明體" charset="-120"/>
              </a:rPr>
              <a:t>Calculator Program—First Increment</a:t>
            </a:r>
          </a:p>
        </p:txBody>
      </p:sp>
      <p:pic>
        <p:nvPicPr>
          <p:cNvPr id="7168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0"/>
            <a:ext cx="4981575"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168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 y="3467100"/>
            <a:ext cx="4962525" cy="125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168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0" y="4727575"/>
            <a:ext cx="4956175" cy="209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168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1905000"/>
            <a:ext cx="55245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E130566C-7BAB-4CA2-BE4D-0CE68A2ECA46}" type="slidenum">
              <a:rPr lang="zh-TW" altLang="en-US" sz="1000">
                <a:latin typeface="Tahoma" panose="020B0604030504040204" pitchFamily="34" charset="0"/>
              </a:rPr>
              <a:pPr/>
              <a:t>69</a:t>
            </a:fld>
            <a:endParaRPr lang="en-US" altLang="zh-TW" sz="1000">
              <a:latin typeface="Tahoma" panose="020B0604030504040204" pitchFamily="34" charset="0"/>
            </a:endParaRPr>
          </a:p>
        </p:txBody>
      </p:sp>
      <p:sp>
        <p:nvSpPr>
          <p:cNvPr id="72707" name="Text Box 2"/>
          <p:cNvSpPr txBox="1">
            <a:spLocks noChangeArrowheads="1"/>
          </p:cNvSpPr>
          <p:nvPr/>
        </p:nvSpPr>
        <p:spPr bwMode="auto">
          <a:xfrm>
            <a:off x="195263" y="152400"/>
            <a:ext cx="205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4-14</a:t>
            </a:r>
          </a:p>
        </p:txBody>
      </p:sp>
      <p:sp>
        <p:nvSpPr>
          <p:cNvPr id="72708" name="Text Box 3"/>
          <p:cNvSpPr txBox="1">
            <a:spLocks noChangeArrowheads="1"/>
          </p:cNvSpPr>
          <p:nvPr/>
        </p:nvSpPr>
        <p:spPr bwMode="auto">
          <a:xfrm>
            <a:off x="2257425" y="152400"/>
            <a:ext cx="4597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ea typeface="新細明體" charset="-120"/>
              </a:rPr>
              <a:t>Calculator Program—Second Increment</a:t>
            </a:r>
          </a:p>
        </p:txBody>
      </p:sp>
      <p:grpSp>
        <p:nvGrpSpPr>
          <p:cNvPr id="72709" name="Group 7"/>
          <p:cNvGrpSpPr>
            <a:grpSpLocks/>
          </p:cNvGrpSpPr>
          <p:nvPr/>
        </p:nvGrpSpPr>
        <p:grpSpPr bwMode="auto">
          <a:xfrm>
            <a:off x="25400" y="596900"/>
            <a:ext cx="4648200" cy="2819400"/>
            <a:chOff x="161" y="414"/>
            <a:chExt cx="5200" cy="3481"/>
          </a:xfrm>
        </p:grpSpPr>
        <p:pic>
          <p:nvPicPr>
            <p:cNvPr id="7271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 y="414"/>
              <a:ext cx="5182" cy="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2715"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1" y="864"/>
              <a:ext cx="5200" cy="3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grpSp>
      <p:pic>
        <p:nvPicPr>
          <p:cNvPr id="7271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29000"/>
            <a:ext cx="4678363" cy="317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2711"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2463" y="609600"/>
            <a:ext cx="4681537"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2712"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2463" y="2133600"/>
            <a:ext cx="4672012"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2713"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3644900"/>
            <a:ext cx="45720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投影片編號版面配置區 1"/>
          <p:cNvSpPr>
            <a:spLocks noGrp="1"/>
          </p:cNvSpPr>
          <p:nvPr>
            <p:ph type="sldNum" sz="quarter" idx="10"/>
          </p:nvPr>
        </p:nvSpPr>
        <p:spPr/>
        <p:txBody>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fld id="{CBA99F69-F942-4F48-8AD3-321C1A36B03B}" type="slidenum">
              <a:rPr lang="zh-TW" altLang="en-US" sz="1000">
                <a:latin typeface="Tahoma" panose="020B0604030504040204" pitchFamily="34" charset="0"/>
              </a:rPr>
              <a:pPr/>
              <a:t>70</a:t>
            </a:fld>
            <a:endParaRPr lang="en-US" altLang="zh-TW" sz="1000">
              <a:latin typeface="Tahoma" panose="020B0604030504040204" pitchFamily="34" charset="0"/>
            </a:endParaRPr>
          </a:p>
        </p:txBody>
      </p:sp>
      <p:sp>
        <p:nvSpPr>
          <p:cNvPr id="73731" name="Text Box 2"/>
          <p:cNvSpPr txBox="1">
            <a:spLocks noChangeArrowheads="1"/>
          </p:cNvSpPr>
          <p:nvPr/>
        </p:nvSpPr>
        <p:spPr bwMode="auto">
          <a:xfrm>
            <a:off x="195263" y="114300"/>
            <a:ext cx="2054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solidFill>
                  <a:schemeClr val="folHlink"/>
                </a:solidFill>
                <a:ea typeface="新細明體" charset="-120"/>
              </a:rPr>
              <a:t>PROGRAM 4-15</a:t>
            </a:r>
          </a:p>
        </p:txBody>
      </p:sp>
      <p:sp>
        <p:nvSpPr>
          <p:cNvPr id="73732" name="Text Box 3"/>
          <p:cNvSpPr txBox="1">
            <a:spLocks noChangeArrowheads="1"/>
          </p:cNvSpPr>
          <p:nvPr/>
        </p:nvSpPr>
        <p:spPr bwMode="auto">
          <a:xfrm>
            <a:off x="2473325" y="114300"/>
            <a:ext cx="4384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txBody>
          <a:bodyPr wrap="none">
            <a:spAutoFit/>
          </a:bodyPr>
          <a:lstStyle>
            <a:lvl1pPr>
              <a:defRPr sz="2400" b="1">
                <a:solidFill>
                  <a:schemeClr val="tx1"/>
                </a:solidFill>
                <a:latin typeface="Times New Roman" panose="02020603050405020304" pitchFamily="18" charset="0"/>
              </a:defRPr>
            </a:lvl1pPr>
            <a:lvl2pPr marL="742950" indent="-285750">
              <a:defRPr sz="2400" b="1">
                <a:solidFill>
                  <a:schemeClr val="tx1"/>
                </a:solidFill>
                <a:latin typeface="Times New Roman" panose="02020603050405020304" pitchFamily="18" charset="0"/>
              </a:defRPr>
            </a:lvl2pPr>
            <a:lvl3pPr marL="1143000" indent="-228600">
              <a:defRPr sz="2400" b="1">
                <a:solidFill>
                  <a:schemeClr val="tx1"/>
                </a:solidFill>
                <a:latin typeface="Times New Roman" panose="02020603050405020304" pitchFamily="18" charset="0"/>
              </a:defRPr>
            </a:lvl3pPr>
            <a:lvl4pPr marL="1600200" indent="-228600">
              <a:defRPr sz="2400" b="1">
                <a:solidFill>
                  <a:schemeClr val="tx1"/>
                </a:solidFill>
                <a:latin typeface="Times New Roman" panose="02020603050405020304" pitchFamily="18" charset="0"/>
              </a:defRPr>
            </a:lvl4pPr>
            <a:lvl5pPr marL="2057400" indent="-228600">
              <a:defRPr sz="2400" b="1">
                <a:solidFill>
                  <a:schemeClr val="tx1"/>
                </a:solidFill>
                <a:latin typeface="Times New Roman" panose="02020603050405020304" pitchFamily="18" charset="0"/>
              </a:defRPr>
            </a:lvl5pPr>
            <a:lvl6pPr marL="2514600" indent="-228600" algn="r" eaLnBrk="0" fontAlgn="base" hangingPunct="0">
              <a:spcBef>
                <a:spcPct val="0"/>
              </a:spcBef>
              <a:spcAft>
                <a:spcPct val="0"/>
              </a:spcAft>
              <a:defRPr sz="2400" b="1">
                <a:solidFill>
                  <a:schemeClr val="tx1"/>
                </a:solidFill>
                <a:latin typeface="Times New Roman" panose="02020603050405020304" pitchFamily="18" charset="0"/>
              </a:defRPr>
            </a:lvl6pPr>
            <a:lvl7pPr marL="2971800" indent="-228600" algn="r" eaLnBrk="0" fontAlgn="base" hangingPunct="0">
              <a:spcBef>
                <a:spcPct val="0"/>
              </a:spcBef>
              <a:spcAft>
                <a:spcPct val="0"/>
              </a:spcAft>
              <a:defRPr sz="2400" b="1">
                <a:solidFill>
                  <a:schemeClr val="tx1"/>
                </a:solidFill>
                <a:latin typeface="Times New Roman" panose="02020603050405020304" pitchFamily="18" charset="0"/>
              </a:defRPr>
            </a:lvl7pPr>
            <a:lvl8pPr marL="3429000" indent="-228600" algn="r" eaLnBrk="0" fontAlgn="base" hangingPunct="0">
              <a:spcBef>
                <a:spcPct val="0"/>
              </a:spcBef>
              <a:spcAft>
                <a:spcPct val="0"/>
              </a:spcAft>
              <a:defRPr sz="2400" b="1">
                <a:solidFill>
                  <a:schemeClr val="tx1"/>
                </a:solidFill>
                <a:latin typeface="Times New Roman" panose="02020603050405020304" pitchFamily="18" charset="0"/>
              </a:defRPr>
            </a:lvl8pPr>
            <a:lvl9pPr marL="3886200" indent="-228600" algn="r" eaLnBrk="0" fontAlgn="base" hangingPunct="0">
              <a:spcBef>
                <a:spcPct val="0"/>
              </a:spcBef>
              <a:spcAft>
                <a:spcPct val="0"/>
              </a:spcAft>
              <a:defRPr sz="2400" b="1">
                <a:solidFill>
                  <a:schemeClr val="tx1"/>
                </a:solidFill>
                <a:latin typeface="Times New Roman" panose="02020603050405020304" pitchFamily="18" charset="0"/>
              </a:defRPr>
            </a:lvl9pPr>
          </a:lstStyle>
          <a:p>
            <a:pPr algn="ctr"/>
            <a:r>
              <a:rPr lang="en-US" altLang="zh-TW" sz="2000">
                <a:ea typeface="新細明體" charset="-120"/>
              </a:rPr>
              <a:t>Calculator Program—Final Increment</a:t>
            </a:r>
          </a:p>
        </p:txBody>
      </p:sp>
      <p:pic>
        <p:nvPicPr>
          <p:cNvPr id="7373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 y="520700"/>
            <a:ext cx="4667250" cy="294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373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3435350"/>
            <a:ext cx="4678363" cy="307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373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4200" y="546100"/>
            <a:ext cx="4711700" cy="316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3736"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4200" y="3695700"/>
            <a:ext cx="466725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3737"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5313" y="4699000"/>
            <a:ext cx="4681537" cy="90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pic>
        <p:nvPicPr>
          <p:cNvPr id="73738"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19600" y="5867400"/>
            <a:ext cx="4456113" cy="76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76200" cap="flat" cmpd="sng" algn="ctr">
          <a:solidFill>
            <a:schemeClr val="folHlink"/>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76200" cap="flat" cmpd="sng" algn="ctr">
          <a:solidFill>
            <a:schemeClr val="folHlink"/>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3213</TotalTime>
  <Words>1006</Words>
  <Application>Microsoft Office PowerPoint</Application>
  <PresentationFormat>On-screen Show (4:3)</PresentationFormat>
  <Paragraphs>213</Paragraphs>
  <Slides>70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70</vt:i4>
      </vt:variant>
    </vt:vector>
  </HeadingPairs>
  <TitlesOfParts>
    <vt:vector size="77" baseType="lpstr">
      <vt:lpstr>Arial</vt:lpstr>
      <vt:lpstr>McGrawHill-Italic</vt:lpstr>
      <vt:lpstr>新細明體</vt:lpstr>
      <vt:lpstr>Tahoma</vt:lpstr>
      <vt:lpstr>Times New Roman</vt:lpstr>
      <vt:lpstr>Wingdings</vt:lpstr>
      <vt:lpstr>Blends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Absolution Value Functions</vt:lpstr>
      <vt:lpstr>PowerPoint Presentation</vt:lpstr>
      <vt:lpstr>PowerPoint Presentation</vt:lpstr>
      <vt:lpstr>Truncation and Round Function</vt:lpstr>
      <vt:lpstr>Power and Square Root Function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Administrator</cp:lastModifiedBy>
  <cp:revision>200</cp:revision>
  <dcterms:created xsi:type="dcterms:W3CDTF">2000-01-15T04:50:39Z</dcterms:created>
  <dcterms:modified xsi:type="dcterms:W3CDTF">2024-09-16T16:37:28Z</dcterms:modified>
</cp:coreProperties>
</file>