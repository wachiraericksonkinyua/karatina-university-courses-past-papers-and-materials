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37"/>
  </p:notesMasterIdLst>
  <p:sldIdLst>
    <p:sldId id="545" r:id="rId2"/>
    <p:sldId id="599" r:id="rId3"/>
    <p:sldId id="670" r:id="rId4"/>
    <p:sldId id="608" r:id="rId5"/>
    <p:sldId id="722" r:id="rId6"/>
    <p:sldId id="672" r:id="rId7"/>
    <p:sldId id="673" r:id="rId8"/>
    <p:sldId id="674" r:id="rId9"/>
    <p:sldId id="630" r:id="rId10"/>
    <p:sldId id="716" r:id="rId11"/>
    <p:sldId id="675" r:id="rId12"/>
    <p:sldId id="676" r:id="rId13"/>
    <p:sldId id="677" r:id="rId14"/>
    <p:sldId id="678" r:id="rId15"/>
    <p:sldId id="679" r:id="rId16"/>
    <p:sldId id="717" r:id="rId17"/>
    <p:sldId id="680" r:id="rId18"/>
    <p:sldId id="681" r:id="rId19"/>
    <p:sldId id="654" r:id="rId20"/>
    <p:sldId id="682" r:id="rId21"/>
    <p:sldId id="683" r:id="rId22"/>
    <p:sldId id="684" r:id="rId23"/>
    <p:sldId id="718" r:id="rId24"/>
    <p:sldId id="719" r:id="rId25"/>
    <p:sldId id="685" r:id="rId26"/>
    <p:sldId id="686" r:id="rId27"/>
    <p:sldId id="687" r:id="rId28"/>
    <p:sldId id="720" r:id="rId29"/>
    <p:sldId id="721" r:id="rId30"/>
    <p:sldId id="688" r:id="rId31"/>
    <p:sldId id="689" r:id="rId32"/>
    <p:sldId id="723" r:id="rId33"/>
    <p:sldId id="690" r:id="rId34"/>
    <p:sldId id="691" r:id="rId35"/>
    <p:sldId id="692" r:id="rId36"/>
  </p:sldIdLst>
  <p:sldSz cx="9144000" cy="6858000" type="screen4x3"/>
  <p:notesSz cx="6858000" cy="9144000"/>
  <p:defaultTextStyle>
    <a:defPPr>
      <a:defRPr lang="en-US"/>
    </a:defPPr>
    <a:lvl1pPr algn="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 " initials="MSOffice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949494"/>
    <a:srgbClr val="339966"/>
    <a:srgbClr val="FFFF66"/>
    <a:srgbClr val="D7EB15"/>
    <a:srgbClr val="33CC33"/>
    <a:srgbClr val="99FF33"/>
    <a:srgbClr val="FFFF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29" autoAdjust="0"/>
    <p:restoredTop sz="94680" autoAdjust="0"/>
  </p:normalViewPr>
  <p:slideViewPr>
    <p:cSldViewPr>
      <p:cViewPr varScale="1">
        <p:scale>
          <a:sx n="89" d="100"/>
          <a:sy n="89" d="100"/>
        </p:scale>
        <p:origin x="1363" y="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05-09-20T23:14:52.729" idx="1">
    <p:pos x="10" y="10"/>
    <p:text/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/>
            </a:lvl1pPr>
          </a:lstStyle>
          <a:p>
            <a:endParaRPr lang="en-US" altLang="en-US"/>
          </a:p>
        </p:txBody>
      </p:sp>
      <p:sp>
        <p:nvSpPr>
          <p:cNvPr id="4464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/>
            </a:lvl1pPr>
          </a:lstStyle>
          <a:p>
            <a:endParaRPr lang="en-US" altLang="en-US"/>
          </a:p>
        </p:txBody>
      </p:sp>
      <p:sp>
        <p:nvSpPr>
          <p:cNvPr id="446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464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464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/>
            </a:lvl1pPr>
          </a:lstStyle>
          <a:p>
            <a:endParaRPr lang="en-US" altLang="en-US"/>
          </a:p>
        </p:txBody>
      </p:sp>
      <p:sp>
        <p:nvSpPr>
          <p:cNvPr id="4464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/>
            </a:lvl1pPr>
          </a:lstStyle>
          <a:p>
            <a:fld id="{E3D5A316-3D06-402C-8413-2FB2E99AFAA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946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10947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210948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949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10950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210951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952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10953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954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955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0956" name="Rectangle 12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676400"/>
            <a:ext cx="7772400" cy="146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en-US" altLang="en-US" noProof="0" smtClean="0"/>
              <a:t>Click to edit Master title style</a:t>
            </a:r>
          </a:p>
        </p:txBody>
      </p:sp>
      <p:sp>
        <p:nvSpPr>
          <p:cNvPr id="210957" name="Rectangle 1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 smtClean="0"/>
              <a:t>Click to edit Master subtitle style</a:t>
            </a:r>
          </a:p>
        </p:txBody>
      </p:sp>
      <p:sp>
        <p:nvSpPr>
          <p:cNvPr id="210958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400" b="0">
                <a:solidFill>
                  <a:schemeClr val="bg2"/>
                </a:solidFill>
                <a:latin typeface="+mn-lt"/>
              </a:defRPr>
            </a:lvl1pPr>
          </a:lstStyle>
          <a:p>
            <a:endParaRPr lang="en-US" altLang="en-US"/>
          </a:p>
        </p:txBody>
      </p:sp>
      <p:sp>
        <p:nvSpPr>
          <p:cNvPr id="210959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 algn="ctr">
              <a:defRPr sz="1400" b="0">
                <a:solidFill>
                  <a:schemeClr val="bg2"/>
                </a:solidFill>
              </a:defRPr>
            </a:lvl1pPr>
          </a:lstStyle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210960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z="1400" b="0">
                <a:solidFill>
                  <a:schemeClr val="bg2"/>
                </a:solidFill>
              </a:defRPr>
            </a:lvl1pPr>
          </a:lstStyle>
          <a:p>
            <a:fld id="{E7596727-D16F-4C55-9027-3E300186A9F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0961" name="Text Box 17"/>
          <p:cNvSpPr txBox="1">
            <a:spLocks noChangeArrowheads="1"/>
          </p:cNvSpPr>
          <p:nvPr userDrawn="1"/>
        </p:nvSpPr>
        <p:spPr bwMode="auto">
          <a:xfrm>
            <a:off x="0" y="6553200"/>
            <a:ext cx="2209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altLang="en-US" sz="1400" b="0">
                <a:latin typeface="McGrawHill-Italic" pitchFamily="2" charset="0"/>
              </a:rPr>
              <a:t>McGraw-Hill</a:t>
            </a:r>
            <a:endParaRPr lang="en-US" altLang="en-US" b="0"/>
          </a:p>
        </p:txBody>
      </p:sp>
      <p:sp>
        <p:nvSpPr>
          <p:cNvPr id="210962" name="Text Box 18"/>
          <p:cNvSpPr txBox="1">
            <a:spLocks noChangeArrowheads="1"/>
          </p:cNvSpPr>
          <p:nvPr userDrawn="1"/>
        </p:nvSpPr>
        <p:spPr bwMode="auto">
          <a:xfrm>
            <a:off x="4572000" y="6553200"/>
            <a:ext cx="4572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Tx/>
              <a:buChar char="©"/>
            </a:pPr>
            <a:r>
              <a:rPr lang="en-US" altLang="en-US" sz="1400" b="0">
                <a:latin typeface="McGrawHill-Italic" pitchFamily="2" charset="0"/>
              </a:rPr>
              <a:t>The McGraw-Hill Companies, Inc., 2000</a:t>
            </a:r>
            <a:endParaRPr lang="en-US" altLang="en-US" b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435DAC8-37F1-4901-BEF4-42B4635487E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2759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F6C217C-FA4B-452A-AFF9-FE6EEA3B58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5149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F65FA25-9085-4223-984B-95A76C79C9C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0693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9ED0916-D4A2-4734-A7FD-95608B51FA9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7263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1B8522B-DD6E-4857-B4B0-E9945FC35C3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2805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6AB904B-D9A4-472C-88FC-6945E5A5EEB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0542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9B864A3-DE70-47EB-9BC3-0F74398BDA3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7921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C694E46-A0F7-4680-9A48-BBF7B875E51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5219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960CBAD-3AC7-4484-A539-AC74B2A3C5A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9910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AA5CA6D-8B77-435D-99C2-3489F28AA2A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3691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3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52400" y="6243638"/>
            <a:ext cx="518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000">
                <a:latin typeface="+mn-lt"/>
              </a:defRPr>
            </a:lvl1pPr>
          </a:lstStyle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20993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+mn-lt"/>
              </a:defRPr>
            </a:lvl1pPr>
          </a:lstStyle>
          <a:p>
            <a:fld id="{80AE7B4B-99E2-4245-B712-156A1F65AA8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09935" name="Text Box 15"/>
          <p:cNvSpPr txBox="1">
            <a:spLocks noChangeArrowheads="1"/>
          </p:cNvSpPr>
          <p:nvPr userDrawn="1"/>
        </p:nvSpPr>
        <p:spPr bwMode="auto">
          <a:xfrm>
            <a:off x="4572000" y="6553200"/>
            <a:ext cx="457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Tx/>
              <a:buChar char="©"/>
            </a:pPr>
            <a:endParaRPr lang="en-US" altLang="en-US" b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2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3D95503-DD11-43BB-8C6E-0A852799035A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444418" name="Line 2"/>
          <p:cNvSpPr>
            <a:spLocks noChangeShapeType="1"/>
          </p:cNvSpPr>
          <p:nvPr/>
        </p:nvSpPr>
        <p:spPr bwMode="auto">
          <a:xfrm>
            <a:off x="228600" y="2819400"/>
            <a:ext cx="86106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4419" name="Line 3"/>
          <p:cNvSpPr>
            <a:spLocks noChangeShapeType="1"/>
          </p:cNvSpPr>
          <p:nvPr/>
        </p:nvSpPr>
        <p:spPr bwMode="auto">
          <a:xfrm>
            <a:off x="266700" y="304800"/>
            <a:ext cx="86106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4420" name="Rectangle 4"/>
          <p:cNvSpPr>
            <a:spLocks noChangeArrowheads="1"/>
          </p:cNvSpPr>
          <p:nvPr/>
        </p:nvSpPr>
        <p:spPr bwMode="auto">
          <a:xfrm>
            <a:off x="973138" y="457200"/>
            <a:ext cx="44450" cy="847725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4421" name="Rectangle 5"/>
          <p:cNvSpPr>
            <a:spLocks noChangeArrowheads="1"/>
          </p:cNvSpPr>
          <p:nvPr/>
        </p:nvSpPr>
        <p:spPr bwMode="auto">
          <a:xfrm>
            <a:off x="873125" y="457200"/>
            <a:ext cx="44450" cy="746125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4422" name="Rectangle 6"/>
          <p:cNvSpPr>
            <a:spLocks noChangeArrowheads="1"/>
          </p:cNvSpPr>
          <p:nvPr/>
        </p:nvSpPr>
        <p:spPr bwMode="auto">
          <a:xfrm>
            <a:off x="771525" y="457200"/>
            <a:ext cx="44450" cy="636588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4423" name="Rectangle 7"/>
          <p:cNvSpPr>
            <a:spLocks noChangeArrowheads="1"/>
          </p:cNvSpPr>
          <p:nvPr/>
        </p:nvSpPr>
        <p:spPr bwMode="auto">
          <a:xfrm>
            <a:off x="669925" y="457200"/>
            <a:ext cx="44450" cy="530225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4424" name="Rectangle 8"/>
          <p:cNvSpPr>
            <a:spLocks noChangeArrowheads="1"/>
          </p:cNvSpPr>
          <p:nvPr/>
        </p:nvSpPr>
        <p:spPr bwMode="auto">
          <a:xfrm>
            <a:off x="569913" y="457200"/>
            <a:ext cx="44450" cy="427038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4425" name="Rectangle 9"/>
          <p:cNvSpPr>
            <a:spLocks noChangeArrowheads="1"/>
          </p:cNvSpPr>
          <p:nvPr/>
        </p:nvSpPr>
        <p:spPr bwMode="auto">
          <a:xfrm>
            <a:off x="468313" y="457200"/>
            <a:ext cx="44450" cy="312738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4426" name="Rectangle 10"/>
          <p:cNvSpPr>
            <a:spLocks noChangeArrowheads="1"/>
          </p:cNvSpPr>
          <p:nvPr/>
        </p:nvSpPr>
        <p:spPr bwMode="auto">
          <a:xfrm>
            <a:off x="366713" y="457200"/>
            <a:ext cx="46037" cy="2159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4427" name="Rectangle 11"/>
          <p:cNvSpPr>
            <a:spLocks noChangeArrowheads="1"/>
          </p:cNvSpPr>
          <p:nvPr/>
        </p:nvSpPr>
        <p:spPr bwMode="auto">
          <a:xfrm>
            <a:off x="266700" y="457200"/>
            <a:ext cx="44450" cy="10795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4428" name="Rectangle 12"/>
          <p:cNvSpPr>
            <a:spLocks noChangeArrowheads="1"/>
          </p:cNvSpPr>
          <p:nvPr/>
        </p:nvSpPr>
        <p:spPr bwMode="auto">
          <a:xfrm>
            <a:off x="1074738" y="457200"/>
            <a:ext cx="41275" cy="95091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4429" name="Rectangle 13"/>
          <p:cNvSpPr>
            <a:spLocks noChangeArrowheads="1"/>
          </p:cNvSpPr>
          <p:nvPr/>
        </p:nvSpPr>
        <p:spPr bwMode="auto">
          <a:xfrm>
            <a:off x="1173163" y="457200"/>
            <a:ext cx="41275" cy="10588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4430" name="Rectangle 14"/>
          <p:cNvSpPr>
            <a:spLocks noChangeArrowheads="1"/>
          </p:cNvSpPr>
          <p:nvPr/>
        </p:nvSpPr>
        <p:spPr bwMode="auto">
          <a:xfrm>
            <a:off x="1270000" y="457200"/>
            <a:ext cx="42863" cy="1160463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4431" name="Rectangle 15"/>
          <p:cNvSpPr>
            <a:spLocks noChangeArrowheads="1"/>
          </p:cNvSpPr>
          <p:nvPr/>
        </p:nvSpPr>
        <p:spPr bwMode="auto">
          <a:xfrm>
            <a:off x="1370013" y="457200"/>
            <a:ext cx="44450" cy="1270000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4432" name="Rectangle 16"/>
          <p:cNvSpPr>
            <a:spLocks noChangeArrowheads="1"/>
          </p:cNvSpPr>
          <p:nvPr/>
        </p:nvSpPr>
        <p:spPr bwMode="auto">
          <a:xfrm>
            <a:off x="1470025" y="457200"/>
            <a:ext cx="42863" cy="1371600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4434" name="Rectangle 18"/>
          <p:cNvSpPr>
            <a:spLocks noChangeArrowheads="1"/>
          </p:cNvSpPr>
          <p:nvPr/>
        </p:nvSpPr>
        <p:spPr bwMode="auto">
          <a:xfrm>
            <a:off x="76200" y="2209800"/>
            <a:ext cx="7696200" cy="1068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en-US" sz="3600" dirty="0">
                <a:solidFill>
                  <a:schemeClr val="hlink"/>
                </a:solidFill>
              </a:rPr>
              <a:t>Objectives </a:t>
            </a:r>
            <a:r>
              <a:rPr lang="en-US" altLang="en-US" sz="2800" dirty="0">
                <a:solidFill>
                  <a:schemeClr val="hlink"/>
                </a:solidFill>
              </a:rPr>
              <a:t/>
            </a:r>
            <a:br>
              <a:rPr lang="en-US" altLang="en-US" sz="2800" dirty="0">
                <a:solidFill>
                  <a:schemeClr val="hlink"/>
                </a:solidFill>
              </a:rPr>
            </a:br>
            <a:endParaRPr lang="en-US" altLang="en-US" sz="2800" dirty="0"/>
          </a:p>
        </p:txBody>
      </p:sp>
      <p:sp>
        <p:nvSpPr>
          <p:cNvPr id="444435" name="Rectangle 19"/>
          <p:cNvSpPr>
            <a:spLocks noChangeArrowheads="1"/>
          </p:cNvSpPr>
          <p:nvPr/>
        </p:nvSpPr>
        <p:spPr bwMode="auto">
          <a:xfrm>
            <a:off x="0" y="2895601"/>
            <a:ext cx="9040813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dirty="0"/>
              <a:t>❏  To be able to list and describe the six expression categories</a:t>
            </a:r>
          </a:p>
          <a:p>
            <a:r>
              <a:rPr lang="en-US" altLang="en-US" dirty="0"/>
              <a:t>❏  To understand the rules of precedence and associativity in</a:t>
            </a:r>
            <a:br>
              <a:rPr lang="en-US" altLang="en-US" dirty="0"/>
            </a:br>
            <a:r>
              <a:rPr lang="en-US" altLang="en-US" dirty="0"/>
              <a:t> evaluating expressions</a:t>
            </a:r>
          </a:p>
          <a:p>
            <a:r>
              <a:rPr lang="en-US" altLang="en-US" dirty="0"/>
              <a:t>❏  To understand the result of side effects in expression evaluation</a:t>
            </a:r>
          </a:p>
          <a:p>
            <a:r>
              <a:rPr lang="en-US" altLang="en-US" dirty="0"/>
              <a:t>❏  To be able to predict the results when an expression is evaluated</a:t>
            </a:r>
          </a:p>
          <a:p>
            <a:r>
              <a:rPr lang="en-US" altLang="en-US" dirty="0"/>
              <a:t>❏  To understand implicit and explicit type conversion</a:t>
            </a:r>
          </a:p>
          <a:p>
            <a:r>
              <a:rPr lang="en-US" altLang="en-US" dirty="0"/>
              <a:t>❏  To understand and use the first four statement types: null, expression, return, and compound</a:t>
            </a:r>
          </a:p>
        </p:txBody>
      </p:sp>
      <p:sp>
        <p:nvSpPr>
          <p:cNvPr id="444436" name="Text Box 20"/>
          <p:cNvSpPr txBox="1">
            <a:spLocks noChangeArrowheads="1"/>
          </p:cNvSpPr>
          <p:nvPr/>
        </p:nvSpPr>
        <p:spPr bwMode="auto">
          <a:xfrm>
            <a:off x="2209800" y="752475"/>
            <a:ext cx="6831013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4000" i="1"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                        Chapter 3</a:t>
            </a:r>
          </a:p>
          <a:p>
            <a:pPr algn="l"/>
            <a:r>
              <a:rPr lang="en-US" altLang="en-US" sz="4000" i="1">
                <a:effectLst>
                  <a:outerShdw blurRad="38100" dist="38100" dir="2700000" algn="tl">
                    <a:srgbClr val="C0C0C0"/>
                  </a:outerShdw>
                </a:effectLst>
              </a:rPr>
              <a:t>          Structure of a C Program</a:t>
            </a:r>
          </a:p>
        </p:txBody>
      </p:sp>
      <p:sp>
        <p:nvSpPr>
          <p:cNvPr id="444437" name="Text Box 21"/>
          <p:cNvSpPr txBox="1">
            <a:spLocks noChangeArrowheads="1"/>
          </p:cNvSpPr>
          <p:nvPr/>
        </p:nvSpPr>
        <p:spPr bwMode="auto">
          <a:xfrm>
            <a:off x="80391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5CB58A-B116-4F42-BAFB-837229918BAD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501762" name="Rectangle 2"/>
          <p:cNvSpPr>
            <a:spLocks noChangeArrowheads="1"/>
          </p:cNvSpPr>
          <p:nvPr/>
        </p:nvSpPr>
        <p:spPr bwMode="auto">
          <a:xfrm>
            <a:off x="76200" y="505620"/>
            <a:ext cx="8991600" cy="500856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501763" name="Text Box 3"/>
          <p:cNvSpPr txBox="1">
            <a:spLocks noChangeArrowheads="1"/>
          </p:cNvSpPr>
          <p:nvPr/>
        </p:nvSpPr>
        <p:spPr bwMode="auto">
          <a:xfrm>
            <a:off x="228600" y="304800"/>
            <a:ext cx="43624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4000">
                <a:latin typeface="Arial" panose="020B0604020202020204" pitchFamily="34" charset="0"/>
              </a:rPr>
              <a:t>3-1   Expressions</a:t>
            </a:r>
          </a:p>
        </p:txBody>
      </p:sp>
      <p:sp>
        <p:nvSpPr>
          <p:cNvPr id="501764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endParaRPr lang="en-US" altLang="en-US" sz="1800"/>
          </a:p>
        </p:txBody>
      </p:sp>
      <p:sp>
        <p:nvSpPr>
          <p:cNvPr id="501765" name="Rectangle 5"/>
          <p:cNvSpPr>
            <a:spLocks noChangeArrowheads="1"/>
          </p:cNvSpPr>
          <p:nvPr/>
        </p:nvSpPr>
        <p:spPr bwMode="auto">
          <a:xfrm>
            <a:off x="304800" y="1191390"/>
            <a:ext cx="87630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just" eaLnBrk="1" hangingPunct="1"/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An expression is a formula in which operands are linked to each other by the use of operators to compute a value. </a:t>
            </a:r>
            <a:endParaRPr lang="en-US" altLang="en-US" sz="2000" i="1" dirty="0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just" eaLnBrk="1" hangingPunct="1"/>
            <a:r>
              <a:rPr lang="en-US" altLang="en-US" sz="2000" i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An 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expression is a sequence of operands and operators that reduces to a single value. Expressions can be simple or complex. </a:t>
            </a:r>
            <a:endParaRPr lang="en-US" altLang="en-US" sz="2000" i="1" dirty="0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just" eaLnBrk="1" hangingPunct="1"/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</a:t>
            </a:r>
            <a:r>
              <a:rPr lang="en-US" altLang="en-US" sz="2000" i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An 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operator is a syntactical token that requires an action be taken. </a:t>
            </a:r>
            <a:endParaRPr lang="en-US" altLang="en-US" sz="2000" i="1" dirty="0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just" eaLnBrk="1" hangingPunct="1"/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</a:t>
            </a:r>
            <a:r>
              <a:rPr lang="en-US" altLang="en-US" sz="2000" i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An 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operand is an object on which an operation is performed; it receives an operator’s </a:t>
            </a:r>
            <a:r>
              <a:rPr lang="en-US" altLang="en-US" sz="2000" i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action.</a:t>
            </a:r>
          </a:p>
          <a:p>
            <a:pPr algn="just" eaLnBrk="1" hangingPunct="1"/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</a:t>
            </a:r>
            <a:r>
              <a:rPr lang="en-US" altLang="en-US" sz="2000" i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An </a:t>
            </a:r>
            <a:r>
              <a:rPr lang="en-US" altLang="en-US" sz="200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operand can be a function reference, a variable, an array element or a constant</a:t>
            </a:r>
            <a:r>
              <a:rPr lang="en-US" altLang="en-US" sz="2000" i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. </a:t>
            </a:r>
            <a:endParaRPr lang="en-US" altLang="en-US" sz="2000" i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01766" name="Rectangle 6"/>
          <p:cNvSpPr>
            <a:spLocks noChangeArrowheads="1"/>
          </p:cNvSpPr>
          <p:nvPr/>
        </p:nvSpPr>
        <p:spPr bwMode="auto">
          <a:xfrm>
            <a:off x="1733550" y="4466488"/>
            <a:ext cx="57150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chemeClr val="hlink"/>
                </a:solidFill>
              </a:rPr>
              <a:t>Primary </a:t>
            </a:r>
            <a:r>
              <a:rPr lang="en-US" altLang="en-US" dirty="0" smtClean="0">
                <a:solidFill>
                  <a:schemeClr val="hlink"/>
                </a:solidFill>
              </a:rPr>
              <a:t>Expressions </a:t>
            </a:r>
            <a:endParaRPr lang="fr-FR" altLang="en-US" dirty="0">
              <a:solidFill>
                <a:schemeClr val="hlink"/>
              </a:solidFill>
            </a:endParaRPr>
          </a:p>
          <a:p>
            <a:pPr algn="l">
              <a:buClr>
                <a:schemeClr val="folHlink"/>
              </a:buClr>
              <a:buSzPct val="117000"/>
              <a:buFont typeface="Wingdings" panose="05000000000000000000" pitchFamily="2" charset="2"/>
              <a:buNone/>
            </a:pPr>
            <a:r>
              <a:rPr lang="fr-FR" altLang="en-US" dirty="0" err="1">
                <a:solidFill>
                  <a:schemeClr val="hlink"/>
                </a:solidFill>
              </a:rPr>
              <a:t>Postfix</a:t>
            </a:r>
            <a:r>
              <a:rPr lang="fr-FR" altLang="en-US" dirty="0">
                <a:solidFill>
                  <a:schemeClr val="hlink"/>
                </a:solidFill>
              </a:rPr>
              <a:t> Expressions</a:t>
            </a:r>
          </a:p>
          <a:p>
            <a:pPr algn="l">
              <a:buClr>
                <a:schemeClr val="folHlink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chemeClr val="hlink"/>
                </a:solidFill>
              </a:rPr>
              <a:t>Prefix Expressions</a:t>
            </a:r>
          </a:p>
          <a:p>
            <a:pPr algn="l">
              <a:buClr>
                <a:schemeClr val="folHlink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chemeClr val="hlink"/>
                </a:solidFill>
              </a:rPr>
              <a:t>Unary Expressions</a:t>
            </a:r>
          </a:p>
          <a:p>
            <a:pPr algn="l">
              <a:buClr>
                <a:schemeClr val="folHlink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chemeClr val="hlink"/>
                </a:solidFill>
              </a:rPr>
              <a:t>Binary Expressions</a:t>
            </a:r>
          </a:p>
        </p:txBody>
      </p:sp>
      <p:sp>
        <p:nvSpPr>
          <p:cNvPr id="501767" name="Text Box 7"/>
          <p:cNvSpPr txBox="1">
            <a:spLocks noChangeArrowheads="1"/>
          </p:cNvSpPr>
          <p:nvPr/>
        </p:nvSpPr>
        <p:spPr bwMode="auto">
          <a:xfrm>
            <a:off x="317500" y="3962400"/>
            <a:ext cx="48625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800" i="1" u="sng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Topics discussed in this section: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E602FD0-18BD-44B4-8A88-A10554BBBC3A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587778" name="Line 2"/>
          <p:cNvSpPr>
            <a:spLocks noChangeShapeType="1"/>
          </p:cNvSpPr>
          <p:nvPr/>
        </p:nvSpPr>
        <p:spPr bwMode="auto">
          <a:xfrm>
            <a:off x="43815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7779" name="Line 3"/>
          <p:cNvSpPr>
            <a:spLocks noChangeShapeType="1"/>
          </p:cNvSpPr>
          <p:nvPr/>
        </p:nvSpPr>
        <p:spPr bwMode="auto">
          <a:xfrm>
            <a:off x="439738" y="3276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7780" name="Rectangle 4"/>
          <p:cNvSpPr>
            <a:spLocks noChangeArrowheads="1"/>
          </p:cNvSpPr>
          <p:nvPr/>
        </p:nvSpPr>
        <p:spPr bwMode="auto">
          <a:xfrm>
            <a:off x="476250" y="2759075"/>
            <a:ext cx="8077200" cy="46166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dirty="0"/>
              <a:t>An expression always reduces to a single value</a:t>
            </a:r>
            <a:r>
              <a:rPr lang="en-US" altLang="en-US" dirty="0" smtClean="0"/>
              <a:t>.</a:t>
            </a:r>
          </a:p>
        </p:txBody>
      </p:sp>
      <p:sp>
        <p:nvSpPr>
          <p:cNvPr id="587781" name="Text Box 5"/>
          <p:cNvSpPr txBox="1">
            <a:spLocks noChangeArrowheads="1"/>
          </p:cNvSpPr>
          <p:nvPr/>
        </p:nvSpPr>
        <p:spPr bwMode="auto">
          <a:xfrm>
            <a:off x="457200" y="2133600"/>
            <a:ext cx="8747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800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Note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1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1ED11A3-8852-4DD6-975F-64B4DA3B6B82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510978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0979" name="Rectangle 3"/>
          <p:cNvSpPr>
            <a:spLocks noChangeArrowheads="1"/>
          </p:cNvSpPr>
          <p:nvPr/>
        </p:nvSpPr>
        <p:spPr bwMode="auto">
          <a:xfrm>
            <a:off x="152400" y="5791200"/>
            <a:ext cx="41195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2000">
                <a:solidFill>
                  <a:schemeClr val="folHlink"/>
                </a:solidFill>
              </a:rPr>
              <a:t>FIGURE 3-1</a:t>
            </a:r>
            <a:r>
              <a:rPr lang="en-US" altLang="en-US" sz="2000"/>
              <a:t>  Expression Categories</a:t>
            </a:r>
          </a:p>
        </p:txBody>
      </p:sp>
      <p:grpSp>
        <p:nvGrpSpPr>
          <p:cNvPr id="510980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510981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0982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0983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510985" name="Picture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8" y="2238375"/>
            <a:ext cx="8355012" cy="172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1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F604DC-F5C8-45A9-B104-EEA34717C7CC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644098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4099" name="Rectangle 3"/>
          <p:cNvSpPr>
            <a:spLocks noChangeArrowheads="1"/>
          </p:cNvSpPr>
          <p:nvPr/>
        </p:nvSpPr>
        <p:spPr bwMode="auto">
          <a:xfrm>
            <a:off x="152400" y="5791200"/>
            <a:ext cx="38084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2000">
                <a:solidFill>
                  <a:schemeClr val="folHlink"/>
                </a:solidFill>
              </a:rPr>
              <a:t>FIGURE 3-2</a:t>
            </a:r>
            <a:r>
              <a:rPr lang="en-US" altLang="en-US" sz="2000"/>
              <a:t>  Postfix Expressions</a:t>
            </a:r>
          </a:p>
        </p:txBody>
      </p:sp>
      <p:grpSp>
        <p:nvGrpSpPr>
          <p:cNvPr id="644100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644101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4102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4103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644106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8" y="2312988"/>
            <a:ext cx="6481762" cy="156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215ABA-3E53-4E6A-AF72-0FC4D70BE4C9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589826" name="Line 2"/>
          <p:cNvSpPr>
            <a:spLocks noChangeShapeType="1"/>
          </p:cNvSpPr>
          <p:nvPr/>
        </p:nvSpPr>
        <p:spPr bwMode="auto">
          <a:xfrm>
            <a:off x="43815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9827" name="Line 3"/>
          <p:cNvSpPr>
            <a:spLocks noChangeShapeType="1"/>
          </p:cNvSpPr>
          <p:nvPr/>
        </p:nvSpPr>
        <p:spPr bwMode="auto">
          <a:xfrm>
            <a:off x="439738" y="3276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9828" name="Rectangle 4"/>
          <p:cNvSpPr>
            <a:spLocks noChangeArrowheads="1"/>
          </p:cNvSpPr>
          <p:nvPr/>
        </p:nvSpPr>
        <p:spPr bwMode="auto">
          <a:xfrm>
            <a:off x="476250" y="2759075"/>
            <a:ext cx="8077200" cy="4572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dirty="0"/>
              <a:t>(a++) has the same effect as (a = a + 1)</a:t>
            </a:r>
          </a:p>
        </p:txBody>
      </p:sp>
      <p:sp>
        <p:nvSpPr>
          <p:cNvPr id="589829" name="Text Box 5"/>
          <p:cNvSpPr txBox="1">
            <a:spLocks noChangeArrowheads="1"/>
          </p:cNvSpPr>
          <p:nvPr/>
        </p:nvSpPr>
        <p:spPr bwMode="auto">
          <a:xfrm>
            <a:off x="457200" y="2133600"/>
            <a:ext cx="8747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800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Note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1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2D836D-C4F4-49B8-AC1D-B88A40948C01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590850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0851" name="Rectangle 3"/>
          <p:cNvSpPr>
            <a:spLocks noChangeArrowheads="1"/>
          </p:cNvSpPr>
          <p:nvPr/>
        </p:nvSpPr>
        <p:spPr bwMode="auto">
          <a:xfrm>
            <a:off x="211138" y="5791200"/>
            <a:ext cx="51990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en-US" sz="2000">
                <a:solidFill>
                  <a:schemeClr val="folHlink"/>
                </a:solidFill>
              </a:rPr>
              <a:t>FIGURE 3-3</a:t>
            </a:r>
            <a:r>
              <a:rPr lang="en-US" altLang="en-US" sz="2000"/>
              <a:t>  Result of Postfix  a++</a:t>
            </a:r>
          </a:p>
        </p:txBody>
      </p:sp>
      <p:grpSp>
        <p:nvGrpSpPr>
          <p:cNvPr id="590852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590853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0854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0855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590857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820863"/>
            <a:ext cx="8070850" cy="306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D3B1E9E-2888-4AD7-9078-8B42B70B3DA9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591874" name="Line 2"/>
          <p:cNvSpPr>
            <a:spLocks noChangeShapeType="1"/>
          </p:cNvSpPr>
          <p:nvPr/>
        </p:nvSpPr>
        <p:spPr bwMode="auto">
          <a:xfrm>
            <a:off x="43815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1875" name="Line 3"/>
          <p:cNvSpPr>
            <a:spLocks noChangeShapeType="1"/>
          </p:cNvSpPr>
          <p:nvPr/>
        </p:nvSpPr>
        <p:spPr bwMode="auto">
          <a:xfrm>
            <a:off x="439738" y="3276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1876" name="Rectangle 4"/>
          <p:cNvSpPr>
            <a:spLocks noChangeArrowheads="1"/>
          </p:cNvSpPr>
          <p:nvPr/>
        </p:nvSpPr>
        <p:spPr bwMode="auto">
          <a:xfrm>
            <a:off x="476250" y="2759075"/>
            <a:ext cx="8077200" cy="4572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/>
              <a:t>The operand in a postfix expression must be a variable.</a:t>
            </a:r>
          </a:p>
        </p:txBody>
      </p:sp>
      <p:sp>
        <p:nvSpPr>
          <p:cNvPr id="591877" name="Text Box 5"/>
          <p:cNvSpPr txBox="1">
            <a:spLocks noChangeArrowheads="1"/>
          </p:cNvSpPr>
          <p:nvPr/>
        </p:nvSpPr>
        <p:spPr bwMode="auto">
          <a:xfrm>
            <a:off x="457200" y="2133600"/>
            <a:ext cx="8747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800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Note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583C56-99D5-4FBB-9860-8EC67F4A88D6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533507" name="Text Box 3"/>
          <p:cNvSpPr txBox="1">
            <a:spLocks noChangeArrowheads="1"/>
          </p:cNvSpPr>
          <p:nvPr/>
        </p:nvSpPr>
        <p:spPr bwMode="auto">
          <a:xfrm>
            <a:off x="411163" y="152400"/>
            <a:ext cx="19272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000">
                <a:solidFill>
                  <a:schemeClr val="folHlink"/>
                </a:solidFill>
              </a:rPr>
              <a:t>PROGRAM 3-1</a:t>
            </a:r>
          </a:p>
        </p:txBody>
      </p:sp>
      <p:sp>
        <p:nvSpPr>
          <p:cNvPr id="533508" name="Text Box 4"/>
          <p:cNvSpPr txBox="1">
            <a:spLocks noChangeArrowheads="1"/>
          </p:cNvSpPr>
          <p:nvPr/>
        </p:nvSpPr>
        <p:spPr bwMode="auto">
          <a:xfrm>
            <a:off x="2287588" y="152400"/>
            <a:ext cx="35798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000"/>
              <a:t>Demonstrate Postfix Increment</a:t>
            </a:r>
          </a:p>
        </p:txBody>
      </p:sp>
      <p:pic>
        <p:nvPicPr>
          <p:cNvPr id="533515" name="Picture 1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838" y="609600"/>
            <a:ext cx="8335962" cy="533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FAD0C7A-2B98-4387-AA7A-AAD08978D2CF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637954" name="Text Box 2"/>
          <p:cNvSpPr txBox="1">
            <a:spLocks noChangeArrowheads="1"/>
          </p:cNvSpPr>
          <p:nvPr/>
        </p:nvSpPr>
        <p:spPr bwMode="auto">
          <a:xfrm>
            <a:off x="487363" y="974725"/>
            <a:ext cx="19272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000">
                <a:solidFill>
                  <a:schemeClr val="folHlink"/>
                </a:solidFill>
              </a:rPr>
              <a:t>PROGRAM 3-1</a:t>
            </a:r>
          </a:p>
        </p:txBody>
      </p:sp>
      <p:sp>
        <p:nvSpPr>
          <p:cNvPr id="637955" name="Text Box 3"/>
          <p:cNvSpPr txBox="1">
            <a:spLocks noChangeArrowheads="1"/>
          </p:cNvSpPr>
          <p:nvPr/>
        </p:nvSpPr>
        <p:spPr bwMode="auto">
          <a:xfrm>
            <a:off x="2432050" y="974725"/>
            <a:ext cx="4883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000"/>
              <a:t>Demonstrate Postfix Increment </a:t>
            </a:r>
            <a:r>
              <a:rPr lang="en-US" altLang="en-US" sz="2000">
                <a:solidFill>
                  <a:schemeClr val="folHlink"/>
                </a:solidFill>
              </a:rPr>
              <a:t>(continued)</a:t>
            </a:r>
          </a:p>
        </p:txBody>
      </p:sp>
      <p:pic>
        <p:nvPicPr>
          <p:cNvPr id="637959" name="Picture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47800"/>
            <a:ext cx="8364538" cy="149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1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0D3755E-4475-4FF6-BE67-3842238FD72B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592898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2899" name="Rectangle 3"/>
          <p:cNvSpPr>
            <a:spLocks noChangeArrowheads="1"/>
          </p:cNvSpPr>
          <p:nvPr/>
        </p:nvSpPr>
        <p:spPr bwMode="auto">
          <a:xfrm>
            <a:off x="211138" y="5791200"/>
            <a:ext cx="51990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en-US" sz="2000">
                <a:solidFill>
                  <a:schemeClr val="folHlink"/>
                </a:solidFill>
              </a:rPr>
              <a:t>FIGURE 3-4</a:t>
            </a:r>
            <a:r>
              <a:rPr lang="en-US" altLang="en-US" sz="2000"/>
              <a:t>  Prefix Expression</a:t>
            </a:r>
          </a:p>
        </p:txBody>
      </p:sp>
      <p:grpSp>
        <p:nvGrpSpPr>
          <p:cNvPr id="592900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592901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2902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2903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59290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590800"/>
            <a:ext cx="5932488" cy="1541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43BBB28-E991-4FBB-949B-960A9BF46570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593922" name="Line 2"/>
          <p:cNvSpPr>
            <a:spLocks noChangeShapeType="1"/>
          </p:cNvSpPr>
          <p:nvPr/>
        </p:nvSpPr>
        <p:spPr bwMode="auto">
          <a:xfrm>
            <a:off x="43815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3923" name="Line 3"/>
          <p:cNvSpPr>
            <a:spLocks noChangeShapeType="1"/>
          </p:cNvSpPr>
          <p:nvPr/>
        </p:nvSpPr>
        <p:spPr bwMode="auto">
          <a:xfrm>
            <a:off x="439738" y="3276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3924" name="Rectangle 4"/>
          <p:cNvSpPr>
            <a:spLocks noChangeArrowheads="1"/>
          </p:cNvSpPr>
          <p:nvPr/>
        </p:nvSpPr>
        <p:spPr bwMode="auto">
          <a:xfrm>
            <a:off x="476250" y="2759075"/>
            <a:ext cx="8077200" cy="4572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/>
              <a:t>The operand of a prefix expression must be a variable.</a:t>
            </a:r>
          </a:p>
        </p:txBody>
      </p:sp>
      <p:sp>
        <p:nvSpPr>
          <p:cNvPr id="593925" name="Text Box 5"/>
          <p:cNvSpPr txBox="1">
            <a:spLocks noChangeArrowheads="1"/>
          </p:cNvSpPr>
          <p:nvPr/>
        </p:nvSpPr>
        <p:spPr bwMode="auto">
          <a:xfrm>
            <a:off x="457200" y="2133600"/>
            <a:ext cx="8747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800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Note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1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DB2C073-1C19-4E8B-9114-9B4D50F3FB51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594946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947" name="Rectangle 3"/>
          <p:cNvSpPr>
            <a:spLocks noChangeArrowheads="1"/>
          </p:cNvSpPr>
          <p:nvPr/>
        </p:nvSpPr>
        <p:spPr bwMode="auto">
          <a:xfrm>
            <a:off x="211138" y="5791200"/>
            <a:ext cx="51990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en-US" sz="2000">
                <a:solidFill>
                  <a:schemeClr val="folHlink"/>
                </a:solidFill>
              </a:rPr>
              <a:t>FIGURE 3-5</a:t>
            </a:r>
            <a:r>
              <a:rPr lang="en-US" altLang="en-US" sz="2000"/>
              <a:t>  Result of Prefix ++a</a:t>
            </a:r>
          </a:p>
        </p:txBody>
      </p:sp>
      <p:grpSp>
        <p:nvGrpSpPr>
          <p:cNvPr id="594948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594949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950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951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594953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05000"/>
            <a:ext cx="8848725" cy="306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72562A4-6ED0-4B0F-8941-AE08F839B0DE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596994" name="Line 2"/>
          <p:cNvSpPr>
            <a:spLocks noChangeShapeType="1"/>
          </p:cNvSpPr>
          <p:nvPr/>
        </p:nvSpPr>
        <p:spPr bwMode="auto">
          <a:xfrm>
            <a:off x="43815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6995" name="Line 3"/>
          <p:cNvSpPr>
            <a:spLocks noChangeShapeType="1"/>
          </p:cNvSpPr>
          <p:nvPr/>
        </p:nvSpPr>
        <p:spPr bwMode="auto">
          <a:xfrm>
            <a:off x="439738" y="3276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6996" name="Rectangle 4"/>
          <p:cNvSpPr>
            <a:spLocks noChangeArrowheads="1"/>
          </p:cNvSpPr>
          <p:nvPr/>
        </p:nvSpPr>
        <p:spPr bwMode="auto">
          <a:xfrm>
            <a:off x="476250" y="2759075"/>
            <a:ext cx="8077200" cy="4572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dirty="0"/>
              <a:t>(++a) has the same effect as (a = a + 1)</a:t>
            </a:r>
          </a:p>
        </p:txBody>
      </p:sp>
      <p:sp>
        <p:nvSpPr>
          <p:cNvPr id="596997" name="Text Box 5"/>
          <p:cNvSpPr txBox="1">
            <a:spLocks noChangeArrowheads="1"/>
          </p:cNvSpPr>
          <p:nvPr/>
        </p:nvSpPr>
        <p:spPr bwMode="auto">
          <a:xfrm>
            <a:off x="457200" y="2133600"/>
            <a:ext cx="8747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800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Note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EE5349-CC1F-4ECF-8526-798443EF54FB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598018" name="Text Box 2"/>
          <p:cNvSpPr txBox="1">
            <a:spLocks noChangeArrowheads="1"/>
          </p:cNvSpPr>
          <p:nvPr/>
        </p:nvSpPr>
        <p:spPr bwMode="auto">
          <a:xfrm>
            <a:off x="530225" y="212725"/>
            <a:ext cx="19272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000">
                <a:solidFill>
                  <a:schemeClr val="folHlink"/>
                </a:solidFill>
              </a:rPr>
              <a:t>PROGRAM 3-2</a:t>
            </a:r>
          </a:p>
        </p:txBody>
      </p:sp>
      <p:sp>
        <p:nvSpPr>
          <p:cNvPr id="598019" name="Text Box 3"/>
          <p:cNvSpPr txBox="1">
            <a:spLocks noChangeArrowheads="1"/>
          </p:cNvSpPr>
          <p:nvPr/>
        </p:nvSpPr>
        <p:spPr bwMode="auto">
          <a:xfrm>
            <a:off x="2447925" y="212725"/>
            <a:ext cx="34956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000"/>
              <a:t>Demonstrate Prefix Increment</a:t>
            </a:r>
          </a:p>
        </p:txBody>
      </p:sp>
      <p:pic>
        <p:nvPicPr>
          <p:cNvPr id="598024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" y="609600"/>
            <a:ext cx="8318500" cy="73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98025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" y="1295400"/>
            <a:ext cx="8345488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5E95EA1-5519-4830-8EE5-124F67900B9A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638978" name="Text Box 2"/>
          <p:cNvSpPr txBox="1">
            <a:spLocks noChangeArrowheads="1"/>
          </p:cNvSpPr>
          <p:nvPr/>
        </p:nvSpPr>
        <p:spPr bwMode="auto">
          <a:xfrm>
            <a:off x="258763" y="152400"/>
            <a:ext cx="19272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000">
                <a:solidFill>
                  <a:schemeClr val="folHlink"/>
                </a:solidFill>
              </a:rPr>
              <a:t>PROGRAM 3-2</a:t>
            </a:r>
          </a:p>
        </p:txBody>
      </p:sp>
      <p:sp>
        <p:nvSpPr>
          <p:cNvPr id="638979" name="Text Box 3"/>
          <p:cNvSpPr txBox="1">
            <a:spLocks noChangeArrowheads="1"/>
          </p:cNvSpPr>
          <p:nvPr/>
        </p:nvSpPr>
        <p:spPr bwMode="auto">
          <a:xfrm>
            <a:off x="2193925" y="152400"/>
            <a:ext cx="4799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000"/>
              <a:t>Demonstrate Prefix Increment </a:t>
            </a:r>
            <a:r>
              <a:rPr lang="en-US" altLang="en-US" sz="2000">
                <a:solidFill>
                  <a:schemeClr val="folHlink"/>
                </a:solidFill>
              </a:rPr>
              <a:t>(continued)</a:t>
            </a:r>
          </a:p>
        </p:txBody>
      </p:sp>
      <p:pic>
        <p:nvPicPr>
          <p:cNvPr id="63898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8" y="636588"/>
            <a:ext cx="8291512" cy="1497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0133BEF-E406-4EF8-81FC-96924EB3BB89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599042" name="Line 2"/>
          <p:cNvSpPr>
            <a:spLocks noChangeShapeType="1"/>
          </p:cNvSpPr>
          <p:nvPr/>
        </p:nvSpPr>
        <p:spPr bwMode="auto">
          <a:xfrm>
            <a:off x="438150" y="2362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9043" name="Line 3"/>
          <p:cNvSpPr>
            <a:spLocks noChangeShapeType="1"/>
          </p:cNvSpPr>
          <p:nvPr/>
        </p:nvSpPr>
        <p:spPr bwMode="auto">
          <a:xfrm>
            <a:off x="439738" y="4419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9044" name="Rectangle 4"/>
          <p:cNvSpPr>
            <a:spLocks noChangeArrowheads="1"/>
          </p:cNvSpPr>
          <p:nvPr/>
        </p:nvSpPr>
        <p:spPr bwMode="auto">
          <a:xfrm>
            <a:off x="476250" y="2454275"/>
            <a:ext cx="8077200" cy="1938992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dirty="0"/>
              <a:t>If ++ is after the operand, as in a++, the increment takes place after the expression is evaluated. </a:t>
            </a:r>
            <a:endParaRPr lang="en-US" altLang="en-US" dirty="0" smtClean="0"/>
          </a:p>
          <a:p>
            <a:pPr algn="ctr"/>
            <a:endParaRPr lang="en-US" altLang="en-US" dirty="0"/>
          </a:p>
          <a:p>
            <a:pPr algn="ctr"/>
            <a:r>
              <a:rPr lang="en-US" altLang="en-US" dirty="0"/>
              <a:t>If ++ is before the operand, as in ++a, the increment</a:t>
            </a:r>
          </a:p>
          <a:p>
            <a:pPr algn="ctr"/>
            <a:r>
              <a:rPr lang="en-US" altLang="en-US" dirty="0"/>
              <a:t>takes place before the expression is evaluated</a:t>
            </a:r>
            <a:r>
              <a:rPr lang="en-US" altLang="en-US" dirty="0" smtClean="0"/>
              <a:t>.</a:t>
            </a:r>
          </a:p>
        </p:txBody>
      </p:sp>
      <p:sp>
        <p:nvSpPr>
          <p:cNvPr id="599045" name="Text Box 5"/>
          <p:cNvSpPr txBox="1">
            <a:spLocks noChangeArrowheads="1"/>
          </p:cNvSpPr>
          <p:nvPr/>
        </p:nvSpPr>
        <p:spPr bwMode="auto">
          <a:xfrm>
            <a:off x="457200" y="1828800"/>
            <a:ext cx="8747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800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Note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1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2E2FAF-C60A-496F-991A-FEEC88C0E3DE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600066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0067" name="Rectangle 3"/>
          <p:cNvSpPr>
            <a:spLocks noChangeArrowheads="1"/>
          </p:cNvSpPr>
          <p:nvPr/>
        </p:nvSpPr>
        <p:spPr bwMode="auto">
          <a:xfrm>
            <a:off x="211138" y="5791200"/>
            <a:ext cx="51990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en-US" sz="2000">
                <a:solidFill>
                  <a:schemeClr val="folHlink"/>
                </a:solidFill>
              </a:rPr>
              <a:t>FIGURE 3-6</a:t>
            </a:r>
            <a:r>
              <a:rPr lang="en-US" altLang="en-US" sz="2000"/>
              <a:t>  Unary Expressions</a:t>
            </a:r>
          </a:p>
        </p:txBody>
      </p:sp>
      <p:grpSp>
        <p:nvGrpSpPr>
          <p:cNvPr id="600068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600069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0070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0071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600074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537122"/>
            <a:ext cx="6635750" cy="1477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253753" y="1676400"/>
            <a:ext cx="873601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b="0" dirty="0" smtClean="0">
                <a:solidFill>
                  <a:srgbClr val="333333"/>
                </a:solidFill>
                <a:latin typeface="inter-regular"/>
              </a:rPr>
              <a:t>-A </a:t>
            </a:r>
            <a:r>
              <a:rPr lang="en-US" b="0" dirty="0">
                <a:solidFill>
                  <a:srgbClr val="333333"/>
                </a:solidFill>
                <a:latin typeface="inter-regular"/>
              </a:rPr>
              <a:t>unary operator is an operator used to operate on a single operand to return a new value. </a:t>
            </a:r>
            <a:endParaRPr lang="en-US" b="0" dirty="0" smtClean="0">
              <a:solidFill>
                <a:srgbClr val="333333"/>
              </a:solidFill>
              <a:latin typeface="inter-regular"/>
            </a:endParaRPr>
          </a:p>
          <a:p>
            <a:pPr algn="l"/>
            <a:r>
              <a:rPr lang="en-US" b="0" dirty="0" smtClean="0">
                <a:solidFill>
                  <a:srgbClr val="333333"/>
                </a:solidFill>
                <a:latin typeface="inter-regular"/>
              </a:rPr>
              <a:t>-In </a:t>
            </a:r>
            <a:r>
              <a:rPr lang="en-US" b="0" dirty="0">
                <a:solidFill>
                  <a:srgbClr val="333333"/>
                </a:solidFill>
                <a:latin typeface="inter-regular"/>
              </a:rPr>
              <a:t>other words, it is an operator that updates the value of an operand or expression's value by using the appropriate unary operators. </a:t>
            </a:r>
            <a:r>
              <a:rPr lang="en-US" b="0" dirty="0" smtClean="0">
                <a:solidFill>
                  <a:srgbClr val="333333"/>
                </a:solidFill>
                <a:latin typeface="inter-regular"/>
              </a:rPr>
              <a:t>1-10, ++,--,,,,a=10, a--, a, a&lt;1</a:t>
            </a:r>
            <a:endParaRPr lang="en-US" b="0" dirty="0" smtClean="0">
              <a:solidFill>
                <a:srgbClr val="333333"/>
              </a:solidFill>
              <a:latin typeface="inter-regular"/>
            </a:endParaRPr>
          </a:p>
          <a:p>
            <a:pPr algn="l"/>
            <a:r>
              <a:rPr lang="en-US" b="0" dirty="0">
                <a:solidFill>
                  <a:srgbClr val="333333"/>
                </a:solidFill>
                <a:latin typeface="inter-regular"/>
              </a:rPr>
              <a:t>-</a:t>
            </a:r>
            <a:r>
              <a:rPr lang="en-US" b="0" dirty="0" smtClean="0">
                <a:solidFill>
                  <a:srgbClr val="333333"/>
                </a:solidFill>
                <a:latin typeface="inter-regular"/>
              </a:rPr>
              <a:t>In </a:t>
            </a:r>
            <a:r>
              <a:rPr lang="en-US" b="0" dirty="0">
                <a:solidFill>
                  <a:srgbClr val="333333"/>
                </a:solidFill>
                <a:latin typeface="inter-regular"/>
              </a:rPr>
              <a:t>Unary Operator, operators have equal priority from right to left side associativity</a:t>
            </a:r>
            <a:r>
              <a:rPr lang="en-US" b="0" dirty="0" smtClean="0">
                <a:solidFill>
                  <a:srgbClr val="333333"/>
                </a:solidFill>
                <a:latin typeface="inter-regular"/>
              </a:rPr>
              <a:t>. </a:t>
            </a:r>
          </a:p>
          <a:p>
            <a:pPr algn="l"/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552395" y="3904666"/>
            <a:ext cx="375340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+mj-lt"/>
              <a:buAutoNum type="arabicPeriod"/>
            </a:pPr>
            <a:r>
              <a:rPr lang="en-US" b="0" dirty="0">
                <a:solidFill>
                  <a:srgbClr val="000000"/>
                </a:solidFill>
                <a:latin typeface="inter-regular"/>
              </a:rPr>
              <a:t>Unary Minus (-)</a:t>
            </a:r>
          </a:p>
          <a:p>
            <a:pPr algn="just">
              <a:buFont typeface="+mj-lt"/>
              <a:buAutoNum type="arabicPeriod"/>
            </a:pPr>
            <a:r>
              <a:rPr lang="en-US" b="0" dirty="0">
                <a:solidFill>
                  <a:srgbClr val="000000"/>
                </a:solidFill>
                <a:latin typeface="inter-regular"/>
              </a:rPr>
              <a:t>Unary Plus (+)</a:t>
            </a:r>
          </a:p>
          <a:p>
            <a:pPr algn="just">
              <a:buFont typeface="+mj-lt"/>
              <a:buAutoNum type="arabicPeriod"/>
            </a:pPr>
            <a:r>
              <a:rPr lang="en-US" b="0" dirty="0">
                <a:solidFill>
                  <a:srgbClr val="000000"/>
                </a:solidFill>
                <a:latin typeface="inter-regular"/>
              </a:rPr>
              <a:t>Increment (++)</a:t>
            </a:r>
          </a:p>
          <a:p>
            <a:pPr algn="just">
              <a:buFont typeface="+mj-lt"/>
              <a:buAutoNum type="arabicPeriod"/>
            </a:pPr>
            <a:r>
              <a:rPr lang="en-US" b="0" dirty="0">
                <a:solidFill>
                  <a:srgbClr val="000000"/>
                </a:solidFill>
                <a:latin typeface="inter-regular"/>
              </a:rPr>
              <a:t>Decrement (--)</a:t>
            </a:r>
          </a:p>
          <a:p>
            <a:pPr algn="just">
              <a:buFont typeface="+mj-lt"/>
              <a:buAutoNum type="arabicPeriod"/>
            </a:pPr>
            <a:r>
              <a:rPr lang="en-US" b="0" dirty="0">
                <a:solidFill>
                  <a:srgbClr val="000000"/>
                </a:solidFill>
                <a:latin typeface="inter-regular"/>
              </a:rPr>
              <a:t>Logical Negation (!)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E01A85-EE7A-4F23-A0E2-0C55C06D79E3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562178" name="Text Box 2"/>
          <p:cNvSpPr txBox="1">
            <a:spLocks noChangeArrowheads="1"/>
          </p:cNvSpPr>
          <p:nvPr/>
        </p:nvSpPr>
        <p:spPr bwMode="auto">
          <a:xfrm>
            <a:off x="152400" y="4327525"/>
            <a:ext cx="1270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000" dirty="0">
                <a:solidFill>
                  <a:schemeClr val="folHlink"/>
                </a:solidFill>
              </a:rPr>
              <a:t>Table  3-1</a:t>
            </a:r>
          </a:p>
        </p:txBody>
      </p:sp>
      <p:sp>
        <p:nvSpPr>
          <p:cNvPr id="562179" name="Text Box 3"/>
          <p:cNvSpPr txBox="1">
            <a:spLocks noChangeArrowheads="1"/>
          </p:cNvSpPr>
          <p:nvPr/>
        </p:nvSpPr>
        <p:spPr bwMode="auto">
          <a:xfrm>
            <a:off x="1371600" y="4327525"/>
            <a:ext cx="54451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000"/>
              <a:t>Examples of Unary Plus And Minus Expressions</a:t>
            </a:r>
          </a:p>
        </p:txBody>
      </p:sp>
      <p:pic>
        <p:nvPicPr>
          <p:cNvPr id="56218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389063"/>
            <a:ext cx="8802687" cy="293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1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12E815-59A0-402D-8059-006A453BB9C4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602114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2115" name="Rectangle 3"/>
          <p:cNvSpPr>
            <a:spLocks noChangeArrowheads="1"/>
          </p:cNvSpPr>
          <p:nvPr/>
        </p:nvSpPr>
        <p:spPr bwMode="auto">
          <a:xfrm>
            <a:off x="211138" y="5791200"/>
            <a:ext cx="51990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en-US" sz="2000" dirty="0">
                <a:solidFill>
                  <a:schemeClr val="folHlink"/>
                </a:solidFill>
              </a:rPr>
              <a:t>FIGURE 3-7</a:t>
            </a:r>
            <a:r>
              <a:rPr lang="en-US" altLang="en-US" sz="2000" dirty="0"/>
              <a:t>  Binary Expressions</a:t>
            </a:r>
          </a:p>
        </p:txBody>
      </p:sp>
      <p:grpSp>
        <p:nvGrpSpPr>
          <p:cNvPr id="602116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602117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2118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2119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602121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19200"/>
            <a:ext cx="4184650" cy="1339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4267200" y="268218"/>
            <a:ext cx="485312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b="0" dirty="0"/>
              <a:t>Bitwise operators are those binary operators in C that are used to manipulate bits in different ways. They are equivalent to how we use mathematical operations like (+, -, /, *) among numbers, similarly, we use bitwise operators like </a:t>
            </a:r>
            <a:r>
              <a:rPr lang="en-US" b="0" dirty="0" smtClean="0"/>
              <a:t>(||, </a:t>
            </a:r>
            <a:r>
              <a:rPr lang="en-US" b="0" dirty="0"/>
              <a:t>&amp;, ^, &lt;&lt;, &gt;&gt;, ~) among bits</a:t>
            </a:r>
            <a:r>
              <a:rPr lang="en-US" b="0" dirty="0" smtClean="0"/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2209800" y="3733930"/>
            <a:ext cx="6858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4D5156"/>
                </a:solidFill>
                <a:latin typeface="Google Sans"/>
              </a:rPr>
              <a:t>For example, a common binary expression would be </a:t>
            </a:r>
            <a:r>
              <a:rPr lang="en-US" b="0" dirty="0">
                <a:solidFill>
                  <a:srgbClr val="040C28"/>
                </a:solidFill>
                <a:latin typeface="Google Sans"/>
              </a:rPr>
              <a:t>a + b</a:t>
            </a:r>
            <a:r>
              <a:rPr lang="en-US" b="0" dirty="0">
                <a:solidFill>
                  <a:srgbClr val="4D5156"/>
                </a:solidFill>
                <a:latin typeface="Google Sans"/>
              </a:rPr>
              <a:t>—the addition operator (+) surrounded by two operands. The binary operators are further subdivided into arithmetic, relational, logical, and assignment operators.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319BCD-1780-45DA-867C-2ACE590F84E9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604162" name="Line 2"/>
          <p:cNvSpPr>
            <a:spLocks noChangeShapeType="1"/>
          </p:cNvSpPr>
          <p:nvPr/>
        </p:nvSpPr>
        <p:spPr bwMode="auto">
          <a:xfrm>
            <a:off x="438150" y="2362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163" name="Line 3"/>
          <p:cNvSpPr>
            <a:spLocks noChangeShapeType="1"/>
          </p:cNvSpPr>
          <p:nvPr/>
        </p:nvSpPr>
        <p:spPr bwMode="auto">
          <a:xfrm>
            <a:off x="439738" y="3352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164" name="Rectangle 4"/>
          <p:cNvSpPr>
            <a:spLocks noChangeArrowheads="1"/>
          </p:cNvSpPr>
          <p:nvPr/>
        </p:nvSpPr>
        <p:spPr bwMode="auto">
          <a:xfrm>
            <a:off x="476250" y="2454275"/>
            <a:ext cx="8077200" cy="830997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dirty="0"/>
              <a:t>Both operands of the modulo operator (%) must </a:t>
            </a:r>
            <a:br>
              <a:rPr lang="en-US" altLang="en-US" dirty="0"/>
            </a:br>
            <a:r>
              <a:rPr lang="en-US" altLang="en-US" dirty="0"/>
              <a:t>be integral </a:t>
            </a:r>
            <a:r>
              <a:rPr lang="en-US" altLang="en-US"/>
              <a:t>types</a:t>
            </a:r>
            <a:r>
              <a:rPr lang="en-US" altLang="en-US" smtClean="0"/>
              <a:t>.</a:t>
            </a:r>
            <a:endParaRPr lang="en-US" altLang="en-US" dirty="0" smtClean="0"/>
          </a:p>
        </p:txBody>
      </p:sp>
      <p:sp>
        <p:nvSpPr>
          <p:cNvPr id="604165" name="Text Box 5"/>
          <p:cNvSpPr txBox="1">
            <a:spLocks noChangeArrowheads="1"/>
          </p:cNvSpPr>
          <p:nvPr/>
        </p:nvSpPr>
        <p:spPr bwMode="auto">
          <a:xfrm>
            <a:off x="457200" y="1828800"/>
            <a:ext cx="8747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800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Note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1B521D0-2C04-4A15-A419-0E9C2E16C29E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605186" name="Text Box 2"/>
          <p:cNvSpPr txBox="1">
            <a:spLocks noChangeArrowheads="1"/>
          </p:cNvSpPr>
          <p:nvPr/>
        </p:nvSpPr>
        <p:spPr bwMode="auto">
          <a:xfrm>
            <a:off x="228600" y="212725"/>
            <a:ext cx="19272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000">
                <a:solidFill>
                  <a:schemeClr val="folHlink"/>
                </a:solidFill>
              </a:rPr>
              <a:t>PROGRAM 3-3</a:t>
            </a:r>
          </a:p>
        </p:txBody>
      </p:sp>
      <p:sp>
        <p:nvSpPr>
          <p:cNvPr id="605187" name="Text Box 3"/>
          <p:cNvSpPr txBox="1">
            <a:spLocks noChangeArrowheads="1"/>
          </p:cNvSpPr>
          <p:nvPr/>
        </p:nvSpPr>
        <p:spPr bwMode="auto">
          <a:xfrm>
            <a:off x="2286000" y="212725"/>
            <a:ext cx="22923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000"/>
              <a:t>Binary Expressions</a:t>
            </a:r>
          </a:p>
        </p:txBody>
      </p:sp>
      <p:pic>
        <p:nvPicPr>
          <p:cNvPr id="60519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13" y="615950"/>
            <a:ext cx="8802687" cy="517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7721841-CCF4-4380-8DE8-A95FDB42D315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640002" name="Text Box 2"/>
          <p:cNvSpPr txBox="1">
            <a:spLocks noChangeArrowheads="1"/>
          </p:cNvSpPr>
          <p:nvPr/>
        </p:nvSpPr>
        <p:spPr bwMode="auto">
          <a:xfrm>
            <a:off x="228600" y="212725"/>
            <a:ext cx="19272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000">
                <a:solidFill>
                  <a:schemeClr val="folHlink"/>
                </a:solidFill>
              </a:rPr>
              <a:t>PROGRAM 3-3</a:t>
            </a:r>
          </a:p>
        </p:txBody>
      </p:sp>
      <p:sp>
        <p:nvSpPr>
          <p:cNvPr id="640003" name="Text Box 3"/>
          <p:cNvSpPr txBox="1">
            <a:spLocks noChangeArrowheads="1"/>
          </p:cNvSpPr>
          <p:nvPr/>
        </p:nvSpPr>
        <p:spPr bwMode="auto">
          <a:xfrm>
            <a:off x="2195513" y="228600"/>
            <a:ext cx="35956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000"/>
              <a:t>Binary Expressions </a:t>
            </a:r>
            <a:r>
              <a:rPr lang="en-US" altLang="en-US" sz="2000">
                <a:solidFill>
                  <a:schemeClr val="folHlink"/>
                </a:solidFill>
              </a:rPr>
              <a:t>(continued)</a:t>
            </a:r>
          </a:p>
        </p:txBody>
      </p:sp>
      <p:pic>
        <p:nvPicPr>
          <p:cNvPr id="640008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685800"/>
            <a:ext cx="8902700" cy="257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40009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13" y="2209800"/>
            <a:ext cx="8866187" cy="1865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7AE60AC-2237-4F3B-8F5C-BE1A1CDF8AB6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641026" name="Text Box 2"/>
          <p:cNvSpPr txBox="1">
            <a:spLocks noChangeArrowheads="1"/>
          </p:cNvSpPr>
          <p:nvPr/>
        </p:nvSpPr>
        <p:spPr bwMode="auto">
          <a:xfrm>
            <a:off x="228600" y="212725"/>
            <a:ext cx="19272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000">
                <a:solidFill>
                  <a:schemeClr val="folHlink"/>
                </a:solidFill>
              </a:rPr>
              <a:t>PROGRAM 3-3</a:t>
            </a:r>
          </a:p>
        </p:txBody>
      </p:sp>
      <p:sp>
        <p:nvSpPr>
          <p:cNvPr id="641027" name="Text Box 3"/>
          <p:cNvSpPr txBox="1">
            <a:spLocks noChangeArrowheads="1"/>
          </p:cNvSpPr>
          <p:nvPr/>
        </p:nvSpPr>
        <p:spPr bwMode="auto">
          <a:xfrm>
            <a:off x="2168525" y="212725"/>
            <a:ext cx="35956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000"/>
              <a:t>Binary Expressions </a:t>
            </a:r>
            <a:r>
              <a:rPr lang="en-US" altLang="en-US" sz="2000">
                <a:solidFill>
                  <a:schemeClr val="folHlink"/>
                </a:solidFill>
              </a:rPr>
              <a:t>(continued)</a:t>
            </a:r>
          </a:p>
        </p:txBody>
      </p:sp>
      <p:pic>
        <p:nvPicPr>
          <p:cNvPr id="64103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13" y="609600"/>
            <a:ext cx="8802687" cy="4402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C6297C-C327-431E-BB4A-C9E8FD98AB02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606210" name="Line 2"/>
          <p:cNvSpPr>
            <a:spLocks noChangeShapeType="1"/>
          </p:cNvSpPr>
          <p:nvPr/>
        </p:nvSpPr>
        <p:spPr bwMode="auto">
          <a:xfrm>
            <a:off x="438150" y="2362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6211" name="Line 3"/>
          <p:cNvSpPr>
            <a:spLocks noChangeShapeType="1"/>
          </p:cNvSpPr>
          <p:nvPr/>
        </p:nvSpPr>
        <p:spPr bwMode="auto">
          <a:xfrm>
            <a:off x="439738" y="3352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6212" name="Rectangle 4"/>
          <p:cNvSpPr>
            <a:spLocks noChangeArrowheads="1"/>
          </p:cNvSpPr>
          <p:nvPr/>
        </p:nvSpPr>
        <p:spPr bwMode="auto">
          <a:xfrm>
            <a:off x="476250" y="2454275"/>
            <a:ext cx="8077200" cy="1200329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dirty="0"/>
              <a:t>The left operand in an assignment expression must be a single variable</a:t>
            </a:r>
            <a:r>
              <a:rPr lang="en-US" altLang="en-US" dirty="0" smtClean="0"/>
              <a:t>.</a:t>
            </a:r>
          </a:p>
          <a:p>
            <a:pPr algn="ctr"/>
            <a:endParaRPr lang="en-US" altLang="en-US" dirty="0" smtClean="0"/>
          </a:p>
        </p:txBody>
      </p:sp>
      <p:sp>
        <p:nvSpPr>
          <p:cNvPr id="606213" name="Text Box 5"/>
          <p:cNvSpPr txBox="1">
            <a:spLocks noChangeArrowheads="1"/>
          </p:cNvSpPr>
          <p:nvPr/>
        </p:nvSpPr>
        <p:spPr bwMode="auto">
          <a:xfrm>
            <a:off x="457200" y="1828800"/>
            <a:ext cx="8747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800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Note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819349-4140-4894-9C91-F314588E6CD2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607234" name="Text Box 2"/>
          <p:cNvSpPr txBox="1">
            <a:spLocks noChangeArrowheads="1"/>
          </p:cNvSpPr>
          <p:nvPr/>
        </p:nvSpPr>
        <p:spPr bwMode="auto">
          <a:xfrm>
            <a:off x="152400" y="4327525"/>
            <a:ext cx="1270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000">
                <a:solidFill>
                  <a:schemeClr val="folHlink"/>
                </a:solidFill>
              </a:rPr>
              <a:t>Table  3-2</a:t>
            </a:r>
          </a:p>
        </p:txBody>
      </p:sp>
      <p:sp>
        <p:nvSpPr>
          <p:cNvPr id="607235" name="Text Box 3"/>
          <p:cNvSpPr txBox="1">
            <a:spLocks noChangeArrowheads="1"/>
          </p:cNvSpPr>
          <p:nvPr/>
        </p:nvSpPr>
        <p:spPr bwMode="auto">
          <a:xfrm>
            <a:off x="1404646" y="4327525"/>
            <a:ext cx="427572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000" dirty="0"/>
              <a:t>Expansion of Compound </a:t>
            </a:r>
            <a:r>
              <a:rPr lang="en-US" altLang="en-US" sz="2000" dirty="0" smtClean="0"/>
              <a:t>Expressions</a:t>
            </a:r>
          </a:p>
          <a:p>
            <a:pPr algn="ctr"/>
            <a:endParaRPr lang="en-US" altLang="en-US" sz="2000" dirty="0"/>
          </a:p>
        </p:txBody>
      </p:sp>
      <p:pic>
        <p:nvPicPr>
          <p:cNvPr id="60723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633538"/>
            <a:ext cx="8866188" cy="2709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3D9A9A-B34A-4394-895A-DA03F00CF229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608258" name="Text Box 2"/>
          <p:cNvSpPr txBox="1">
            <a:spLocks noChangeArrowheads="1"/>
          </p:cNvSpPr>
          <p:nvPr/>
        </p:nvSpPr>
        <p:spPr bwMode="auto">
          <a:xfrm>
            <a:off x="228600" y="212725"/>
            <a:ext cx="19272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000">
                <a:solidFill>
                  <a:schemeClr val="folHlink"/>
                </a:solidFill>
              </a:rPr>
              <a:t>PROGRAM 3-4</a:t>
            </a:r>
          </a:p>
        </p:txBody>
      </p:sp>
      <p:sp>
        <p:nvSpPr>
          <p:cNvPr id="608259" name="Text Box 3"/>
          <p:cNvSpPr txBox="1">
            <a:spLocks noChangeArrowheads="1"/>
          </p:cNvSpPr>
          <p:nvPr/>
        </p:nvSpPr>
        <p:spPr bwMode="auto">
          <a:xfrm>
            <a:off x="2133600" y="212725"/>
            <a:ext cx="47879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000"/>
              <a:t>Demonstration of Compound Assignments</a:t>
            </a:r>
          </a:p>
        </p:txBody>
      </p:sp>
      <p:pic>
        <p:nvPicPr>
          <p:cNvPr id="60826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" y="635000"/>
            <a:ext cx="8775700" cy="515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11FD81-A59A-428C-B0F6-4A465F61D905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642050" name="Text Box 2"/>
          <p:cNvSpPr txBox="1">
            <a:spLocks noChangeArrowheads="1"/>
          </p:cNvSpPr>
          <p:nvPr/>
        </p:nvSpPr>
        <p:spPr bwMode="auto">
          <a:xfrm>
            <a:off x="228600" y="212725"/>
            <a:ext cx="19272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000">
                <a:solidFill>
                  <a:schemeClr val="folHlink"/>
                </a:solidFill>
              </a:rPr>
              <a:t>PROGRAM 3-4</a:t>
            </a:r>
          </a:p>
        </p:txBody>
      </p:sp>
      <p:sp>
        <p:nvSpPr>
          <p:cNvPr id="642051" name="Text Box 3"/>
          <p:cNvSpPr txBox="1">
            <a:spLocks noChangeArrowheads="1"/>
          </p:cNvSpPr>
          <p:nvPr/>
        </p:nvSpPr>
        <p:spPr bwMode="auto">
          <a:xfrm>
            <a:off x="2133600" y="212725"/>
            <a:ext cx="47879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000"/>
              <a:t>Demonstration of Compound Assignments</a:t>
            </a:r>
          </a:p>
        </p:txBody>
      </p:sp>
      <p:pic>
        <p:nvPicPr>
          <p:cNvPr id="6420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13" y="685800"/>
            <a:ext cx="8802687" cy="5214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E77665D-C465-43D5-B78F-87171EC27D6E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643074" name="Text Box 2"/>
          <p:cNvSpPr txBox="1">
            <a:spLocks noChangeArrowheads="1"/>
          </p:cNvSpPr>
          <p:nvPr/>
        </p:nvSpPr>
        <p:spPr bwMode="auto">
          <a:xfrm>
            <a:off x="228600" y="212725"/>
            <a:ext cx="19272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000">
                <a:solidFill>
                  <a:schemeClr val="folHlink"/>
                </a:solidFill>
              </a:rPr>
              <a:t>PROGRAM 3-4</a:t>
            </a:r>
          </a:p>
        </p:txBody>
      </p:sp>
      <p:sp>
        <p:nvSpPr>
          <p:cNvPr id="643075" name="Text Box 3"/>
          <p:cNvSpPr txBox="1">
            <a:spLocks noChangeArrowheads="1"/>
          </p:cNvSpPr>
          <p:nvPr/>
        </p:nvSpPr>
        <p:spPr bwMode="auto">
          <a:xfrm>
            <a:off x="2133600" y="212725"/>
            <a:ext cx="47879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000"/>
              <a:t>Demonstration of Compound Assignments</a:t>
            </a:r>
          </a:p>
        </p:txBody>
      </p:sp>
      <p:pic>
        <p:nvPicPr>
          <p:cNvPr id="64307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85800"/>
            <a:ext cx="8839200" cy="158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32E37C7-4BF5-48F7-9F43-B25188DB08BE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609282" name="Rectangle 2"/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609283" name="Text Box 3"/>
          <p:cNvSpPr txBox="1">
            <a:spLocks noChangeArrowheads="1"/>
          </p:cNvSpPr>
          <p:nvPr/>
        </p:nvSpPr>
        <p:spPr bwMode="auto">
          <a:xfrm>
            <a:off x="228600" y="304800"/>
            <a:ext cx="85137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4000">
                <a:latin typeface="Arial" panose="020B0604020202020204" pitchFamily="34" charset="0"/>
              </a:rPr>
              <a:t>3-2   Precedence and Associativity</a:t>
            </a:r>
          </a:p>
        </p:txBody>
      </p:sp>
      <p:sp>
        <p:nvSpPr>
          <p:cNvPr id="609284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endParaRPr lang="en-US" altLang="en-US" sz="1800"/>
          </a:p>
        </p:txBody>
      </p:sp>
      <p:sp>
        <p:nvSpPr>
          <p:cNvPr id="609285" name="Rectangle 5"/>
          <p:cNvSpPr>
            <a:spLocks noChangeArrowheads="1"/>
          </p:cNvSpPr>
          <p:nvPr/>
        </p:nvSpPr>
        <p:spPr bwMode="auto">
          <a:xfrm>
            <a:off x="304800" y="1320349"/>
            <a:ext cx="86106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just" eaLnBrk="1" hangingPunct="1"/>
            <a:r>
              <a:rPr lang="en-US" altLang="en-US" sz="280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Precedence is used to determine the order in which different operators in a complex expression are evaluated. Associativity is used to determine the order in which operators with the same precedence are evaluated in a complex </a:t>
            </a:r>
            <a:r>
              <a:rPr lang="en-US" altLang="en-US" sz="2800" i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expression. BODMAS/PEMDAS </a:t>
            </a:r>
          </a:p>
          <a:p>
            <a:pPr algn="just" eaLnBrk="1" hangingPunct="1"/>
            <a:r>
              <a:rPr lang="en-US" altLang="en-US" sz="2800" i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#include &lt;</a:t>
            </a:r>
            <a:r>
              <a:rPr lang="en-US" altLang="en-US" sz="2800" i="1" dirty="0" err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math.h</a:t>
            </a:r>
            <a:r>
              <a:rPr lang="en-US" altLang="en-US" sz="2800" i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&gt;</a:t>
            </a:r>
            <a:endParaRPr lang="en-US" altLang="en-US" sz="2800" i="1" dirty="0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09286" name="Rectangle 6"/>
          <p:cNvSpPr>
            <a:spLocks noChangeArrowheads="1"/>
          </p:cNvSpPr>
          <p:nvPr/>
        </p:nvSpPr>
        <p:spPr bwMode="auto">
          <a:xfrm>
            <a:off x="304800" y="4648200"/>
            <a:ext cx="5715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chemeClr val="hlink"/>
                </a:solidFill>
              </a:rPr>
              <a:t>Precedence</a:t>
            </a:r>
            <a:endParaRPr lang="fr-FR" altLang="en-US" dirty="0">
              <a:solidFill>
                <a:schemeClr val="hlink"/>
              </a:solidFill>
            </a:endParaRPr>
          </a:p>
          <a:p>
            <a:pPr algn="l">
              <a:buClr>
                <a:schemeClr val="folHlink"/>
              </a:buClr>
              <a:buSzPct val="117000"/>
              <a:buFont typeface="Wingdings" panose="05000000000000000000" pitchFamily="2" charset="2"/>
              <a:buNone/>
            </a:pPr>
            <a:r>
              <a:rPr lang="fr-FR" altLang="en-US" dirty="0" err="1">
                <a:solidFill>
                  <a:schemeClr val="hlink"/>
                </a:solidFill>
              </a:rPr>
              <a:t>Associativity</a:t>
            </a:r>
            <a:endParaRPr lang="en-US" altLang="en-US" dirty="0">
              <a:solidFill>
                <a:schemeClr val="hlink"/>
              </a:solidFill>
            </a:endParaRPr>
          </a:p>
        </p:txBody>
      </p:sp>
      <p:sp>
        <p:nvSpPr>
          <p:cNvPr id="609287" name="Text Box 7"/>
          <p:cNvSpPr txBox="1">
            <a:spLocks noChangeArrowheads="1"/>
          </p:cNvSpPr>
          <p:nvPr/>
        </p:nvSpPr>
        <p:spPr bwMode="auto">
          <a:xfrm>
            <a:off x="317500" y="4114800"/>
            <a:ext cx="48625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800" i="1" u="sng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Topics discussed in this section: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D03C72C-C3C6-40C0-A480-1B8A6712A18C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610306" name="Text Box 2"/>
          <p:cNvSpPr txBox="1">
            <a:spLocks noChangeArrowheads="1"/>
          </p:cNvSpPr>
          <p:nvPr/>
        </p:nvSpPr>
        <p:spPr bwMode="auto">
          <a:xfrm>
            <a:off x="228600" y="212725"/>
            <a:ext cx="19272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000">
                <a:solidFill>
                  <a:schemeClr val="folHlink"/>
                </a:solidFill>
              </a:rPr>
              <a:t>PROGRAM 3-5</a:t>
            </a:r>
          </a:p>
        </p:txBody>
      </p:sp>
      <p:sp>
        <p:nvSpPr>
          <p:cNvPr id="610307" name="Text Box 3"/>
          <p:cNvSpPr txBox="1">
            <a:spLocks noChangeArrowheads="1"/>
          </p:cNvSpPr>
          <p:nvPr/>
        </p:nvSpPr>
        <p:spPr bwMode="auto">
          <a:xfrm>
            <a:off x="2286000" y="212725"/>
            <a:ext cx="1411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000"/>
              <a:t>Precedence</a:t>
            </a:r>
          </a:p>
        </p:txBody>
      </p:sp>
      <p:pic>
        <p:nvPicPr>
          <p:cNvPr id="610309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33400"/>
            <a:ext cx="8474075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0312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3" y="1320800"/>
            <a:ext cx="8574087" cy="50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0313" name="Rectangle 9"/>
          <p:cNvSpPr>
            <a:spLocks noChangeArrowheads="1"/>
          </p:cNvSpPr>
          <p:nvPr/>
        </p:nvSpPr>
        <p:spPr bwMode="auto">
          <a:xfrm>
            <a:off x="228600" y="6324600"/>
            <a:ext cx="8534400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2EB5355-D378-427E-B9C3-022EA3BE4961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645122" name="Text Box 2"/>
          <p:cNvSpPr txBox="1">
            <a:spLocks noChangeArrowheads="1"/>
          </p:cNvSpPr>
          <p:nvPr/>
        </p:nvSpPr>
        <p:spPr bwMode="auto">
          <a:xfrm>
            <a:off x="228600" y="212725"/>
            <a:ext cx="19272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000">
                <a:solidFill>
                  <a:schemeClr val="folHlink"/>
                </a:solidFill>
              </a:rPr>
              <a:t>PROGRAM 3-5</a:t>
            </a:r>
          </a:p>
        </p:txBody>
      </p:sp>
      <p:sp>
        <p:nvSpPr>
          <p:cNvPr id="645123" name="Text Box 3"/>
          <p:cNvSpPr txBox="1">
            <a:spLocks noChangeArrowheads="1"/>
          </p:cNvSpPr>
          <p:nvPr/>
        </p:nvSpPr>
        <p:spPr bwMode="auto">
          <a:xfrm>
            <a:off x="2286000" y="212725"/>
            <a:ext cx="1411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000"/>
              <a:t>Precedence</a:t>
            </a:r>
          </a:p>
        </p:txBody>
      </p:sp>
      <p:sp>
        <p:nvSpPr>
          <p:cNvPr id="645126" name="Rectangle 6"/>
          <p:cNvSpPr>
            <a:spLocks noChangeArrowheads="1"/>
          </p:cNvSpPr>
          <p:nvPr/>
        </p:nvSpPr>
        <p:spPr bwMode="auto">
          <a:xfrm>
            <a:off x="228600" y="6324600"/>
            <a:ext cx="8534400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645127" name="Picture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688975"/>
            <a:ext cx="8483600" cy="121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FEDF0F-60BC-4824-AD12-04C85BFA1BFF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611330" name="Line 2"/>
          <p:cNvSpPr>
            <a:spLocks noChangeShapeType="1"/>
          </p:cNvSpPr>
          <p:nvPr/>
        </p:nvSpPr>
        <p:spPr bwMode="auto">
          <a:xfrm>
            <a:off x="438150" y="2362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1331" name="Line 3"/>
          <p:cNvSpPr>
            <a:spLocks noChangeShapeType="1"/>
          </p:cNvSpPr>
          <p:nvPr/>
        </p:nvSpPr>
        <p:spPr bwMode="auto">
          <a:xfrm>
            <a:off x="439738" y="3886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61133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163" y="2438400"/>
            <a:ext cx="5526087" cy="133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1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851AA6-8C27-439A-BDB6-EAD26288DF0F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612354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2355" name="Rectangle 3"/>
          <p:cNvSpPr>
            <a:spLocks noChangeArrowheads="1"/>
          </p:cNvSpPr>
          <p:nvPr/>
        </p:nvSpPr>
        <p:spPr bwMode="auto">
          <a:xfrm>
            <a:off x="211138" y="5791200"/>
            <a:ext cx="51990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en-US" sz="2000">
                <a:solidFill>
                  <a:schemeClr val="folHlink"/>
                </a:solidFill>
              </a:rPr>
              <a:t>FIGURE 3-8</a:t>
            </a:r>
            <a:r>
              <a:rPr lang="en-US" altLang="en-US" sz="2000"/>
              <a:t>  Left-to-Right Associativity</a:t>
            </a:r>
          </a:p>
        </p:txBody>
      </p:sp>
      <p:grpSp>
        <p:nvGrpSpPr>
          <p:cNvPr id="612356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612357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2358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2359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612361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09800"/>
            <a:ext cx="8053388" cy="185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Computer Science: A Structured Programming Approach Using C</a:t>
            </a:r>
          </a:p>
        </p:txBody>
      </p:sp>
      <p:sp>
        <p:nvSpPr>
          <p:cNvPr id="1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B0F763-991F-4772-ADD2-EC1C0F08C83D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613378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3379" name="Rectangle 3"/>
          <p:cNvSpPr>
            <a:spLocks noChangeArrowheads="1"/>
          </p:cNvSpPr>
          <p:nvPr/>
        </p:nvSpPr>
        <p:spPr bwMode="auto">
          <a:xfrm>
            <a:off x="211138" y="5791200"/>
            <a:ext cx="51990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en-US" sz="2000">
                <a:solidFill>
                  <a:schemeClr val="folHlink"/>
                </a:solidFill>
              </a:rPr>
              <a:t>FIGURE 3-9</a:t>
            </a:r>
            <a:r>
              <a:rPr lang="en-US" altLang="en-US" sz="2000"/>
              <a:t>  Right-to-Left Associativity</a:t>
            </a:r>
          </a:p>
        </p:txBody>
      </p:sp>
      <p:grpSp>
        <p:nvGrpSpPr>
          <p:cNvPr id="613380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613381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3382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3383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613388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13" y="2303463"/>
            <a:ext cx="8994775" cy="225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76200" cap="flat" cmpd="sng" algn="ctr">
          <a:solidFill>
            <a:schemeClr val="folHlink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76200" cap="flat" cmpd="sng" algn="ctr">
          <a:solidFill>
            <a:schemeClr val="folHlink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2884</TotalTime>
  <Words>958</Words>
  <Application>Microsoft Office PowerPoint</Application>
  <PresentationFormat>On-screen Show (4:3)</PresentationFormat>
  <Paragraphs>163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Arial</vt:lpstr>
      <vt:lpstr>Google Sans</vt:lpstr>
      <vt:lpstr>inter-regular</vt:lpstr>
      <vt:lpstr>McGrawHill-Italic</vt:lpstr>
      <vt:lpstr>Tahoma</vt:lpstr>
      <vt:lpstr>Times New Roman</vt:lpstr>
      <vt:lpstr>Wingdings</vt:lpstr>
      <vt:lpstr>Blends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Valued Gateway Client</dc:creator>
  <cp:lastModifiedBy>Administrator</cp:lastModifiedBy>
  <cp:revision>175</cp:revision>
  <dcterms:created xsi:type="dcterms:W3CDTF">2000-01-15T04:50:39Z</dcterms:created>
  <dcterms:modified xsi:type="dcterms:W3CDTF">2024-09-17T08:17:08Z</dcterms:modified>
</cp:coreProperties>
</file>