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0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6" autoAdjust="0"/>
    <p:restoredTop sz="94660"/>
  </p:normalViewPr>
  <p:slideViewPr>
    <p:cSldViewPr snapToGrid="0">
      <p:cViewPr varScale="1">
        <p:scale>
          <a:sx n="89" d="100"/>
          <a:sy n="89" d="100"/>
        </p:scale>
        <p:origin x="86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6C2FE-DCD9-49FD-A768-934456BC73AC}" type="datetimeFigureOut">
              <a:rPr lang="en-US" smtClean="0"/>
              <a:t>02/09/2024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9DA13-635C-42A3-A39E-4FEBC52DC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39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E1BAEB7-A5ED-4D32-B589-A2BC714B47A6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DC10-D885-4C09-8F2E-BF9759D436F9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27B08C-B49B-4A85-BD6B-8510F9C6A25B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D551-88F3-4F48-9DB8-8AFB614A0218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5A6B-6C9D-4A74-815B-D6CFBA4A8B0D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6C4B-4B96-4DD2-80D7-E01F82E898A9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55B67-66FD-443B-9449-EF686213AB33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6FA97B37-199B-42E3-A412-0C476A0E5C27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B911FC9-184E-433C-A882-06D0F38B8622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12C-63D7-4CA2-83E1-C2D5ABC1FB9B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9DE5E-C8D9-4C68-9CCC-F53E0B7F3B75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910D73-585E-464B-883E-3A1EAA3D085A}" type="datetime1">
              <a:rPr lang="en-US" smtClean="0"/>
              <a:t>02/09/2024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Mr. Astone Owino | 0729378167 | aowino@karu.ac.ke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125" y="617838"/>
            <a:ext cx="11598875" cy="5361358"/>
          </a:xfrm>
        </p:spPr>
        <p:txBody>
          <a:bodyPr/>
          <a:lstStyle/>
          <a:p>
            <a:r>
              <a:rPr lang="en-US" sz="6000" dirty="0"/>
              <a:t>Introduction to Computers</a:t>
            </a:r>
            <a:endParaRPr lang="en-CA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0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21976" y="1331726"/>
            <a:ext cx="10623177" cy="3690938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294964" y="2146143"/>
            <a:ext cx="8077200" cy="206210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3200" dirty="0">
                <a:latin typeface="Arial" panose="020B0604020202020204" pitchFamily="34" charset="0"/>
              </a:rPr>
              <a:t>In this chapter, we introduce you to the concepts of computer science,</a:t>
            </a:r>
          </a:p>
          <a:p>
            <a:pPr algn="ctr"/>
            <a:r>
              <a:rPr lang="en-US" altLang="en-US" sz="3200" dirty="0">
                <a:latin typeface="Arial" panose="020B0604020202020204" pitchFamily="34" charset="0"/>
              </a:rPr>
              <a:t>especially as they pertain to computer programming.</a:t>
            </a:r>
            <a:endParaRPr lang="en-US" altLang="en-US" sz="3200" i="0" baseline="0" dirty="0"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96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60" y="345608"/>
            <a:ext cx="7772400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Objectives  </a:t>
            </a:r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96888" y="1107608"/>
            <a:ext cx="10840410" cy="5144027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To review basic computer systems concepts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To be able to understand the different computing environments and </a:t>
            </a:r>
            <a:r>
              <a:rPr lang="en-US" altLang="en-US" sz="3200" dirty="0" smtClean="0">
                <a:solidFill>
                  <a:schemeClr val="tx1"/>
                </a:solidFill>
              </a:rPr>
              <a:t>their components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To review the history of computer languages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To be able to list and describe the classifications of computer languages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To understand the steps in the development of a computer program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To review the system development life cycle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67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30893" y="345608"/>
            <a:ext cx="7772400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Computer Systems  </a:t>
            </a:r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21894" y="1281659"/>
            <a:ext cx="11017771" cy="3935655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schemeClr val="tx1"/>
                </a:solidFill>
              </a:rPr>
              <a:t>Today computer systems are ubiquitous (found everywhere).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A computer is a system made of two major </a:t>
            </a:r>
            <a:r>
              <a:rPr lang="en-US" altLang="en-US" sz="3200" dirty="0" smtClean="0">
                <a:solidFill>
                  <a:schemeClr val="tx1"/>
                </a:solidFill>
              </a:rPr>
              <a:t>components hardware </a:t>
            </a:r>
            <a:r>
              <a:rPr lang="en-US" altLang="en-US" sz="3200" dirty="0">
                <a:solidFill>
                  <a:schemeClr val="tx1"/>
                </a:solidFill>
              </a:rPr>
              <a:t>and </a:t>
            </a:r>
            <a:r>
              <a:rPr lang="en-US" altLang="en-US" sz="3200" dirty="0" smtClean="0">
                <a:solidFill>
                  <a:schemeClr val="tx1"/>
                </a:solidFill>
              </a:rPr>
              <a:t>software.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206" y="3157984"/>
            <a:ext cx="6151588" cy="205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42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30893" y="345608"/>
            <a:ext cx="7772400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Computer Systems  </a:t>
            </a:r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21894" y="1281659"/>
            <a:ext cx="11017771" cy="3935655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485" y="1154519"/>
            <a:ext cx="9323882" cy="509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7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30893" y="345608"/>
            <a:ext cx="7772400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 smtClean="0"/>
              <a:t>Computer Systems  </a:t>
            </a:r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21894" y="1281659"/>
            <a:ext cx="11017771" cy="3935655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04" y="1221699"/>
            <a:ext cx="9930984" cy="473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6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Computing Environments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896888" y="1107608"/>
            <a:ext cx="10840410" cy="5144027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chemeClr val="tx1"/>
                </a:solidFill>
              </a:rPr>
              <a:t>Personal Computing Environment</a:t>
            </a:r>
            <a:r>
              <a:rPr lang="en-US" altLang="en-US" sz="3200" dirty="0">
                <a:solidFill>
                  <a:schemeClr val="tx1"/>
                </a:solidFill>
              </a:rPr>
              <a:t>: </a:t>
            </a:r>
            <a:r>
              <a:rPr lang="en-US" altLang="en-US" sz="3200" dirty="0" smtClean="0">
                <a:solidFill>
                  <a:schemeClr val="tx1"/>
                </a:solidFill>
              </a:rPr>
              <a:t>All </a:t>
            </a:r>
            <a:r>
              <a:rPr lang="en-US" altLang="en-US" sz="3200" dirty="0">
                <a:solidFill>
                  <a:schemeClr val="tx1"/>
                </a:solidFill>
              </a:rPr>
              <a:t>of the computer hardware components are tied together in our personal computer </a:t>
            </a:r>
            <a:r>
              <a:rPr lang="en-US" altLang="en-US" sz="3200" dirty="0" smtClean="0">
                <a:solidFill>
                  <a:schemeClr val="tx1"/>
                </a:solidFill>
              </a:rPr>
              <a:t>(PC).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chemeClr val="tx1"/>
                </a:solidFill>
              </a:rPr>
              <a:t>Time-Sharing Environment</a:t>
            </a:r>
            <a:r>
              <a:rPr lang="en-US" altLang="en-US" sz="3200" dirty="0">
                <a:solidFill>
                  <a:schemeClr val="tx1"/>
                </a:solidFill>
              </a:rPr>
              <a:t>: </a:t>
            </a:r>
            <a:r>
              <a:rPr lang="en-US" altLang="en-US" sz="3200" dirty="0" smtClean="0">
                <a:solidFill>
                  <a:schemeClr val="tx1"/>
                </a:solidFill>
              </a:rPr>
              <a:t>Many </a:t>
            </a:r>
            <a:r>
              <a:rPr lang="en-US" altLang="en-US" sz="3200" dirty="0">
                <a:solidFill>
                  <a:schemeClr val="tx1"/>
                </a:solidFill>
              </a:rPr>
              <a:t>users are connected to one or </a:t>
            </a:r>
            <a:r>
              <a:rPr lang="en-US" altLang="en-US" sz="3200" dirty="0" smtClean="0">
                <a:solidFill>
                  <a:schemeClr val="tx1"/>
                </a:solidFill>
              </a:rPr>
              <a:t>more computers. E.g. employees sharing a printer.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chemeClr val="tx1"/>
                </a:solidFill>
              </a:rPr>
              <a:t>Client/Server </a:t>
            </a:r>
            <a:r>
              <a:rPr lang="en-US" altLang="en-US" sz="3200" b="1" dirty="0" smtClean="0">
                <a:solidFill>
                  <a:schemeClr val="tx1"/>
                </a:solidFill>
              </a:rPr>
              <a:t>Environment</a:t>
            </a:r>
            <a:r>
              <a:rPr lang="en-US" altLang="en-US" sz="3200" dirty="0">
                <a:solidFill>
                  <a:schemeClr val="tx1"/>
                </a:solidFill>
              </a:rPr>
              <a:t>: A client/server computing environment splits the computing </a:t>
            </a:r>
            <a:r>
              <a:rPr lang="en-US" altLang="en-US" sz="3200" dirty="0" smtClean="0">
                <a:solidFill>
                  <a:schemeClr val="tx1"/>
                </a:solidFill>
              </a:rPr>
              <a:t>function between </a:t>
            </a:r>
            <a:r>
              <a:rPr lang="en-US" altLang="en-US" sz="3200" dirty="0">
                <a:solidFill>
                  <a:schemeClr val="tx1"/>
                </a:solidFill>
              </a:rPr>
              <a:t>a central computer and users’ computers. </a:t>
            </a:r>
            <a:endParaRPr lang="en-US" altLang="en-US" sz="3200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b="1" dirty="0" smtClean="0">
                <a:solidFill>
                  <a:schemeClr val="tx1"/>
                </a:solidFill>
              </a:rPr>
              <a:t>Distributed Computing</a:t>
            </a:r>
            <a:r>
              <a:rPr lang="en-US" altLang="en-US" sz="3200" dirty="0">
                <a:solidFill>
                  <a:schemeClr val="tx1"/>
                </a:solidFill>
              </a:rPr>
              <a:t>: A distributed computing environment provides a seamless integration </a:t>
            </a:r>
            <a:r>
              <a:rPr lang="en-US" altLang="en-US" sz="3200" dirty="0" smtClean="0">
                <a:solidFill>
                  <a:schemeClr val="tx1"/>
                </a:solidFill>
              </a:rPr>
              <a:t>of computing functions </a:t>
            </a:r>
            <a:r>
              <a:rPr lang="en-US" altLang="en-US" sz="3200" dirty="0">
                <a:solidFill>
                  <a:schemeClr val="tx1"/>
                </a:solidFill>
              </a:rPr>
              <a:t>between different servers and clients. </a:t>
            </a:r>
            <a:r>
              <a:rPr lang="en-US" altLang="en-US" sz="3200" dirty="0" smtClean="0">
                <a:solidFill>
                  <a:schemeClr val="tx1"/>
                </a:solidFill>
              </a:rPr>
              <a:t>E.g. Internet.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68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31941" y="958097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Computer Languages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75795" y="1956764"/>
            <a:ext cx="10840410" cy="1626433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</a:rPr>
              <a:t>To write a program for a computer, we must use a computer </a:t>
            </a:r>
            <a:r>
              <a:rPr lang="en-US" altLang="en-US" sz="2000" dirty="0" smtClean="0">
                <a:solidFill>
                  <a:schemeClr val="tx1"/>
                </a:solidFill>
              </a:rPr>
              <a:t>language.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tx1"/>
                </a:solidFill>
              </a:rPr>
              <a:t>Over the </a:t>
            </a:r>
            <a:r>
              <a:rPr lang="en-US" altLang="en-US" sz="2000" dirty="0">
                <a:solidFill>
                  <a:schemeClr val="tx1"/>
                </a:solidFill>
              </a:rPr>
              <a:t>years computer languages have evolved from machine languages to </a:t>
            </a:r>
            <a:r>
              <a:rPr lang="en-US" altLang="en-US" sz="2000" dirty="0" smtClean="0">
                <a:solidFill>
                  <a:schemeClr val="tx1"/>
                </a:solidFill>
              </a:rPr>
              <a:t>natural languages.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6750" t="7592" r="10215" b="1227"/>
          <a:stretch/>
        </p:blipFill>
        <p:spPr>
          <a:xfrm>
            <a:off x="2959854" y="3069116"/>
            <a:ext cx="6848006" cy="232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2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Machine Languages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34364" y="1107608"/>
            <a:ext cx="10840410" cy="5144027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Each computer has its own machine </a:t>
            </a:r>
            <a:r>
              <a:rPr lang="en-US" altLang="en-US" sz="3200" dirty="0" smtClean="0">
                <a:solidFill>
                  <a:schemeClr val="tx1"/>
                </a:solidFill>
              </a:rPr>
              <a:t>language, which </a:t>
            </a:r>
            <a:r>
              <a:rPr lang="en-US" altLang="en-US" sz="3200" dirty="0">
                <a:solidFill>
                  <a:schemeClr val="tx1"/>
                </a:solidFill>
              </a:rPr>
              <a:t>is made of streams of </a:t>
            </a:r>
            <a:r>
              <a:rPr lang="en-US" altLang="en-US" sz="3200" dirty="0" smtClean="0">
                <a:solidFill>
                  <a:schemeClr val="tx1"/>
                </a:solidFill>
              </a:rPr>
              <a:t>0s </a:t>
            </a:r>
            <a:r>
              <a:rPr lang="en-US" altLang="en-US" sz="3200" dirty="0">
                <a:solidFill>
                  <a:schemeClr val="tx1"/>
                </a:solidFill>
              </a:rPr>
              <a:t>and </a:t>
            </a:r>
            <a:r>
              <a:rPr lang="en-US" altLang="en-US" sz="3200" dirty="0" smtClean="0">
                <a:solidFill>
                  <a:schemeClr val="tx1"/>
                </a:solidFill>
              </a:rPr>
              <a:t>1s</a:t>
            </a:r>
            <a:r>
              <a:rPr lang="en-US" altLang="en-US" sz="3200" dirty="0">
                <a:solidFill>
                  <a:schemeClr val="tx1"/>
                </a:solidFill>
              </a:rPr>
              <a:t>.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schemeClr val="tx1"/>
                </a:solidFill>
              </a:rPr>
              <a:t>The OFF </a:t>
            </a:r>
            <a:r>
              <a:rPr lang="en-US" altLang="en-US" sz="3200" dirty="0">
                <a:solidFill>
                  <a:schemeClr val="tx1"/>
                </a:solidFill>
              </a:rPr>
              <a:t>state is represented by 0; the </a:t>
            </a:r>
            <a:r>
              <a:rPr lang="en-US" altLang="en-US" sz="3200" dirty="0" smtClean="0">
                <a:solidFill>
                  <a:schemeClr val="tx1"/>
                </a:solidFill>
              </a:rPr>
              <a:t>ON </a:t>
            </a:r>
            <a:r>
              <a:rPr lang="en-US" altLang="en-US" sz="3200" dirty="0">
                <a:solidFill>
                  <a:schemeClr val="tx1"/>
                </a:solidFill>
              </a:rPr>
              <a:t>state is represented by 1.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707" y="2923584"/>
            <a:ext cx="6002854" cy="347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3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Symbolic Languages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17007" y="965202"/>
            <a:ext cx="6241878" cy="5293930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A few programs would be written with machine language.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Symbols</a:t>
            </a:r>
            <a:r>
              <a:rPr lang="en-US" altLang="en-US" sz="2800" dirty="0">
                <a:solidFill>
                  <a:schemeClr val="tx1"/>
                </a:solidFill>
              </a:rPr>
              <a:t>, or mnemonics, to represent the various machine language instructions</a:t>
            </a:r>
            <a:r>
              <a:rPr lang="en-US" altLang="en-US" sz="2800" dirty="0" smtClean="0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Because a computer does not understand symbolic language, it must </a:t>
            </a:r>
            <a:r>
              <a:rPr lang="en-US" altLang="en-US" sz="2800" dirty="0" smtClean="0">
                <a:solidFill>
                  <a:schemeClr val="tx1"/>
                </a:solidFill>
              </a:rPr>
              <a:t>be translated </a:t>
            </a:r>
            <a:r>
              <a:rPr lang="en-US" altLang="en-US" sz="2800" dirty="0">
                <a:solidFill>
                  <a:schemeClr val="tx1"/>
                </a:solidFill>
              </a:rPr>
              <a:t>to the machine </a:t>
            </a:r>
            <a:r>
              <a:rPr lang="en-US" altLang="en-US" sz="2800" dirty="0" smtClean="0">
                <a:solidFill>
                  <a:schemeClr val="tx1"/>
                </a:solidFill>
              </a:rPr>
              <a:t>language.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A special program called an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assembler </a:t>
            </a:r>
            <a:r>
              <a:rPr lang="en-US" altLang="en-US" sz="2800" dirty="0" smtClean="0">
                <a:solidFill>
                  <a:schemeClr val="tx1"/>
                </a:solidFill>
              </a:rPr>
              <a:t>translates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symbolic code into machine </a:t>
            </a:r>
            <a:r>
              <a:rPr lang="en-US" altLang="en-US" sz="2800" dirty="0" smtClean="0">
                <a:solidFill>
                  <a:schemeClr val="tx1"/>
                </a:solidFill>
              </a:rPr>
              <a:t>language, thus </a:t>
            </a:r>
            <a:r>
              <a:rPr lang="en-US" sz="2800" dirty="0"/>
              <a:t>assembly languages.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754" y="1869608"/>
            <a:ext cx="5125451" cy="339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3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High-Level Languages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21741" y="1107608"/>
            <a:ext cx="10559397" cy="5144027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Although symbolic languages greatly improved programming efficiency, </a:t>
            </a:r>
            <a:r>
              <a:rPr lang="en-US" altLang="en-US" sz="2800" dirty="0" smtClean="0">
                <a:solidFill>
                  <a:schemeClr val="tx1"/>
                </a:solidFill>
              </a:rPr>
              <a:t>they still </a:t>
            </a:r>
            <a:r>
              <a:rPr lang="en-US" altLang="en-US" sz="2800" b="1" dirty="0">
                <a:solidFill>
                  <a:schemeClr val="tx1"/>
                </a:solidFill>
              </a:rPr>
              <a:t>required programmers to concentrate on the hardware that they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were using</a:t>
            </a:r>
            <a:r>
              <a:rPr lang="en-US" altLang="en-US" sz="2800" dirty="0" smtClean="0">
                <a:solidFill>
                  <a:schemeClr val="tx1"/>
                </a:solidFill>
              </a:rPr>
              <a:t>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Working with symbolic languages was also </a:t>
            </a:r>
            <a:r>
              <a:rPr lang="en-US" altLang="en-US" sz="2800" b="1" dirty="0">
                <a:solidFill>
                  <a:schemeClr val="tx1"/>
                </a:solidFill>
              </a:rPr>
              <a:t>very tedious </a:t>
            </a:r>
            <a:r>
              <a:rPr lang="en-US" altLang="en-US" sz="2800" dirty="0">
                <a:solidFill>
                  <a:schemeClr val="tx1"/>
                </a:solidFill>
              </a:rPr>
              <a:t>because </a:t>
            </a:r>
            <a:r>
              <a:rPr lang="en-US" altLang="en-US" sz="2800" dirty="0" smtClean="0">
                <a:solidFill>
                  <a:schemeClr val="tx1"/>
                </a:solidFill>
              </a:rPr>
              <a:t>each machine </a:t>
            </a:r>
            <a:r>
              <a:rPr lang="en-US" altLang="en-US" sz="2800" dirty="0">
                <a:solidFill>
                  <a:schemeClr val="tx1"/>
                </a:solidFill>
              </a:rPr>
              <a:t>instruction had to be individually coded. </a:t>
            </a:r>
            <a:endParaRPr lang="en-US" altLang="en-US" sz="2800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High-level languages are portable to many </a:t>
            </a:r>
            <a:r>
              <a:rPr lang="en-US" altLang="en-US" sz="2800" dirty="0" smtClean="0">
                <a:solidFill>
                  <a:schemeClr val="tx1"/>
                </a:solidFill>
              </a:rPr>
              <a:t>different computers</a:t>
            </a:r>
            <a:r>
              <a:rPr lang="en-US" altLang="en-US" sz="2800" dirty="0">
                <a:solidFill>
                  <a:schemeClr val="tx1"/>
                </a:solidFill>
              </a:rPr>
              <a:t>, allowing the programmer to concentrate on the application problem at hand rather than the intricacies of the </a:t>
            </a:r>
            <a:r>
              <a:rPr lang="en-US" altLang="en-US" sz="2800" dirty="0" smtClean="0">
                <a:solidFill>
                  <a:schemeClr val="tx1"/>
                </a:solidFill>
              </a:rPr>
              <a:t>computer.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High-level languages must </a:t>
            </a:r>
            <a:r>
              <a:rPr lang="en-US" altLang="en-US" sz="2800" dirty="0" smtClean="0">
                <a:solidFill>
                  <a:schemeClr val="tx1"/>
                </a:solidFill>
              </a:rPr>
              <a:t>be converted </a:t>
            </a:r>
            <a:r>
              <a:rPr lang="en-US" altLang="en-US" sz="2800" dirty="0">
                <a:solidFill>
                  <a:schemeClr val="tx1"/>
                </a:solidFill>
              </a:rPr>
              <a:t>to machine </a:t>
            </a:r>
            <a:r>
              <a:rPr lang="en-US" altLang="en-US" sz="2800" dirty="0" smtClean="0">
                <a:solidFill>
                  <a:schemeClr val="tx1"/>
                </a:solidFill>
              </a:rPr>
              <a:t>language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2800" dirty="0" smtClean="0">
                <a:solidFill>
                  <a:schemeClr val="tx1"/>
                </a:solidFill>
              </a:rPr>
              <a:t>in a process called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compilation</a:t>
            </a:r>
            <a:r>
              <a:rPr lang="en-US" altLang="en-US" sz="2800" dirty="0" smtClean="0">
                <a:solidFill>
                  <a:schemeClr val="tx1"/>
                </a:solidFill>
              </a:rPr>
              <a:t>. 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6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High-Level </a:t>
            </a:r>
            <a:r>
              <a:rPr lang="en-US" altLang="en-US" dirty="0" smtClean="0"/>
              <a:t>Languages Cont.</a:t>
            </a:r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29236" y="1039199"/>
            <a:ext cx="9828573" cy="5144027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High level languages </a:t>
            </a:r>
            <a:r>
              <a:rPr lang="en-US" altLang="en-US" sz="2800" dirty="0" smtClean="0">
                <a:solidFill>
                  <a:schemeClr val="tx1"/>
                </a:solidFill>
              </a:rPr>
              <a:t>included-FORTRAN, COBOL, etc.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C, with its standard libraries, is considered a high-level language used for </a:t>
            </a:r>
            <a:r>
              <a:rPr lang="en-US" altLang="en-US" sz="2800" dirty="0" smtClean="0">
                <a:solidFill>
                  <a:schemeClr val="tx1"/>
                </a:solidFill>
              </a:rPr>
              <a:t>system </a:t>
            </a:r>
            <a:r>
              <a:rPr lang="en-US" altLang="en-US" sz="2800" dirty="0">
                <a:solidFill>
                  <a:schemeClr val="tx1"/>
                </a:solidFill>
              </a:rPr>
              <a:t>software and new application </a:t>
            </a:r>
            <a:r>
              <a:rPr lang="en-US" altLang="en-US" sz="2800" dirty="0" smtClean="0">
                <a:solidFill>
                  <a:schemeClr val="tx1"/>
                </a:solidFill>
              </a:rPr>
              <a:t>code.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597" y="2570814"/>
            <a:ext cx="7300209" cy="24883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052" y="5059179"/>
            <a:ext cx="7232753" cy="11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294527" y="2204388"/>
            <a:ext cx="9850660" cy="1880431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Creating and Running Programs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58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76968" y="514543"/>
            <a:ext cx="6043558" cy="5144027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A computer hardware understands a program only if it is coded in its machine language.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It </a:t>
            </a:r>
            <a:r>
              <a:rPr lang="en-US" altLang="en-US" sz="2800" dirty="0">
                <a:solidFill>
                  <a:schemeClr val="tx1"/>
                </a:solidFill>
              </a:rPr>
              <a:t>is the job of the programmer to write and test the program. There </a:t>
            </a:r>
            <a:r>
              <a:rPr lang="en-US" altLang="en-US" sz="2800" dirty="0" smtClean="0">
                <a:solidFill>
                  <a:schemeClr val="tx1"/>
                </a:solidFill>
              </a:rPr>
              <a:t>are four </a:t>
            </a:r>
            <a:r>
              <a:rPr lang="en-US" altLang="en-US" sz="2800" dirty="0">
                <a:solidFill>
                  <a:schemeClr val="tx1"/>
                </a:solidFill>
              </a:rPr>
              <a:t>steps in this process</a:t>
            </a:r>
            <a:r>
              <a:rPr lang="en-US" altLang="en-US" sz="2800" dirty="0" smtClean="0">
                <a:solidFill>
                  <a:schemeClr val="tx1"/>
                </a:solidFill>
              </a:rPr>
              <a:t>:</a:t>
            </a:r>
          </a:p>
          <a:p>
            <a:pPr lvl="3">
              <a:lnSpc>
                <a:spcPct val="90000"/>
              </a:lnSpc>
            </a:pPr>
            <a:r>
              <a:rPr lang="en-US" altLang="en-US" sz="2400" dirty="0" smtClean="0">
                <a:solidFill>
                  <a:schemeClr val="tx1"/>
                </a:solidFill>
              </a:rPr>
              <a:t>Writing and editing the program.</a:t>
            </a:r>
          </a:p>
          <a:p>
            <a:pPr lvl="3">
              <a:lnSpc>
                <a:spcPct val="90000"/>
              </a:lnSpc>
            </a:pPr>
            <a:r>
              <a:rPr lang="en-US" altLang="en-US" sz="2400" dirty="0" smtClean="0">
                <a:solidFill>
                  <a:schemeClr val="tx1"/>
                </a:solidFill>
              </a:rPr>
              <a:t>Compiling the program.</a:t>
            </a:r>
          </a:p>
          <a:p>
            <a:pPr lvl="3">
              <a:lnSpc>
                <a:spcPct val="90000"/>
              </a:lnSpc>
            </a:pPr>
            <a:r>
              <a:rPr lang="en-US" altLang="en-US" sz="2400" dirty="0" smtClean="0">
                <a:solidFill>
                  <a:schemeClr val="tx1"/>
                </a:solidFill>
              </a:rPr>
              <a:t>Linking the program with the required library modules. </a:t>
            </a:r>
          </a:p>
          <a:p>
            <a:pPr lvl="3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dirty="0" smtClean="0">
                <a:solidFill>
                  <a:schemeClr val="tx1"/>
                </a:solidFill>
              </a:rPr>
              <a:t>Executing </a:t>
            </a:r>
            <a:r>
              <a:rPr lang="en-US" altLang="en-US" sz="2400" dirty="0">
                <a:solidFill>
                  <a:schemeClr val="tx1"/>
                </a:solidFill>
              </a:rPr>
              <a:t>the program.</a:t>
            </a:r>
            <a:endParaRPr lang="en-US" altLang="en-US" sz="2400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965" y="577249"/>
            <a:ext cx="4876613" cy="47144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2991" y="5617920"/>
            <a:ext cx="21618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Building a C Program</a:t>
            </a:r>
          </a:p>
        </p:txBody>
      </p:sp>
    </p:spTree>
    <p:extLst>
      <p:ext uri="{BB962C8B-B14F-4D97-AF65-F5344CB8AC3E}">
        <p14:creationId xmlns:p14="http://schemas.microsoft.com/office/powerpoint/2010/main" val="398178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46746" y="1573968"/>
            <a:ext cx="10215798" cy="3904937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Text editors are used to write programs.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Programs are written using lines of code.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Some of the features </a:t>
            </a:r>
            <a:r>
              <a:rPr lang="en-US" altLang="en-US" sz="2800" dirty="0" smtClean="0">
                <a:solidFill>
                  <a:schemeClr val="tx1"/>
                </a:solidFill>
              </a:rPr>
              <a:t>you should </a:t>
            </a:r>
            <a:r>
              <a:rPr lang="en-US" altLang="en-US" sz="2800" dirty="0">
                <a:solidFill>
                  <a:schemeClr val="tx1"/>
                </a:solidFill>
              </a:rPr>
              <a:t>look for in your editor are </a:t>
            </a:r>
            <a:r>
              <a:rPr lang="en-US" altLang="en-US" sz="2800" b="1" dirty="0">
                <a:solidFill>
                  <a:schemeClr val="tx1"/>
                </a:solidFill>
              </a:rPr>
              <a:t>search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commands, copy </a:t>
            </a:r>
            <a:r>
              <a:rPr lang="en-US" altLang="en-US" sz="2800" b="1" dirty="0">
                <a:solidFill>
                  <a:schemeClr val="tx1"/>
                </a:solidFill>
              </a:rPr>
              <a:t>and paste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commands</a:t>
            </a:r>
            <a:r>
              <a:rPr lang="en-US" altLang="en-US" sz="2800" dirty="0" smtClean="0">
                <a:solidFill>
                  <a:schemeClr val="tx1"/>
                </a:solidFill>
              </a:rPr>
              <a:t>, </a:t>
            </a:r>
            <a:r>
              <a:rPr lang="en-US" altLang="en-US" sz="2800" dirty="0">
                <a:solidFill>
                  <a:schemeClr val="tx1"/>
                </a:solidFill>
              </a:rPr>
              <a:t>and </a:t>
            </a:r>
            <a:r>
              <a:rPr lang="en-US" altLang="en-US" sz="2800" b="1" dirty="0">
                <a:solidFill>
                  <a:schemeClr val="tx1"/>
                </a:solidFill>
              </a:rPr>
              <a:t>formatting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commands.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After we complete a program, we save our file to disk. T</a:t>
            </a:r>
            <a:r>
              <a:rPr lang="en-US" sz="2800" dirty="0" smtClean="0"/>
              <a:t>his </a:t>
            </a:r>
            <a:r>
              <a:rPr lang="en-US" sz="2800" dirty="0"/>
              <a:t>file will be input to the compiler; it is known as a source file. 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621423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dirty="0"/>
              <a:t>Writing and Editing Programs</a:t>
            </a:r>
          </a:p>
        </p:txBody>
      </p:sp>
    </p:spTree>
    <p:extLst>
      <p:ext uri="{BB962C8B-B14F-4D97-AF65-F5344CB8AC3E}">
        <p14:creationId xmlns:p14="http://schemas.microsoft.com/office/powerpoint/2010/main" val="11004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31756" y="1026827"/>
            <a:ext cx="10118361" cy="5348852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The code in a source file stored on the disk must </a:t>
            </a:r>
            <a:r>
              <a:rPr lang="en-US" altLang="en-US" sz="2800" dirty="0" smtClean="0">
                <a:solidFill>
                  <a:schemeClr val="tx1"/>
                </a:solidFill>
              </a:rPr>
              <a:t>be </a:t>
            </a:r>
            <a:r>
              <a:rPr lang="en-US" altLang="en-US" sz="2800" dirty="0">
                <a:solidFill>
                  <a:schemeClr val="tx1"/>
                </a:solidFill>
              </a:rPr>
              <a:t>translated into </a:t>
            </a:r>
            <a:r>
              <a:rPr lang="en-US" altLang="en-US" sz="2800" dirty="0" smtClean="0">
                <a:solidFill>
                  <a:schemeClr val="tx1"/>
                </a:solidFill>
              </a:rPr>
              <a:t>machine language by a compiler.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 The C compiler is actually </a:t>
            </a:r>
            <a:r>
              <a:rPr lang="en-US" altLang="en-US" sz="2800" dirty="0" smtClean="0">
                <a:solidFill>
                  <a:schemeClr val="tx1"/>
                </a:solidFill>
              </a:rPr>
              <a:t>two separate </a:t>
            </a:r>
            <a:r>
              <a:rPr lang="en-US" altLang="en-US" sz="2800" dirty="0">
                <a:solidFill>
                  <a:schemeClr val="tx1"/>
                </a:solidFill>
              </a:rPr>
              <a:t>programs: the </a:t>
            </a:r>
            <a:r>
              <a:rPr lang="en-US" altLang="en-US" sz="2800" b="1" dirty="0">
                <a:solidFill>
                  <a:schemeClr val="tx1"/>
                </a:solidFill>
              </a:rPr>
              <a:t>preprocessor</a:t>
            </a:r>
            <a:r>
              <a:rPr lang="en-US" altLang="en-US" sz="2800" dirty="0">
                <a:solidFill>
                  <a:schemeClr val="tx1"/>
                </a:solidFill>
              </a:rPr>
              <a:t> and the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translator.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The preprocessor reads the source code and prepares it for the </a:t>
            </a:r>
            <a:r>
              <a:rPr lang="en-US" altLang="en-US" sz="2800" dirty="0" smtClean="0">
                <a:solidFill>
                  <a:schemeClr val="tx1"/>
                </a:solidFill>
              </a:rPr>
              <a:t>translator.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After the preprocessor has prepared the code for compilation, the translator does the actual work of converting the program into machine </a:t>
            </a:r>
            <a:r>
              <a:rPr lang="en-US" altLang="en-US" sz="2800" dirty="0" smtClean="0">
                <a:solidFill>
                  <a:schemeClr val="tx1"/>
                </a:solidFill>
              </a:rPr>
              <a:t>language.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dirty="0">
                <a:solidFill>
                  <a:schemeClr val="tx1"/>
                </a:solidFill>
              </a:rPr>
              <a:t>translator reads the translation unit and writes the resulting </a:t>
            </a:r>
            <a:r>
              <a:rPr lang="en-US" altLang="en-US" sz="2800" b="1" dirty="0">
                <a:solidFill>
                  <a:schemeClr val="tx1"/>
                </a:solidFill>
              </a:rPr>
              <a:t>object module </a:t>
            </a:r>
            <a:r>
              <a:rPr lang="en-US" altLang="en-US" sz="2800" dirty="0" smtClean="0">
                <a:solidFill>
                  <a:schemeClr val="tx1"/>
                </a:solidFill>
              </a:rPr>
              <a:t>to a final program.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An object module is the code in machine </a:t>
            </a:r>
            <a:r>
              <a:rPr lang="en-US" altLang="en-US" sz="2800" dirty="0" smtClean="0">
                <a:solidFill>
                  <a:schemeClr val="tx1"/>
                </a:solidFill>
              </a:rPr>
              <a:t>language.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621423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Compiling Programs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9587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54241" y="1026827"/>
            <a:ext cx="9331379" cy="5348852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Later, we will see that a C program has many functions.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There are other functions such as input/output processes and mathematical library functions that exists elsewhere and must be attached to our program.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The </a:t>
            </a:r>
            <a:r>
              <a:rPr lang="en-US" altLang="en-US" sz="2800" b="1" dirty="0" smtClean="0">
                <a:solidFill>
                  <a:schemeClr val="tx1"/>
                </a:solidFill>
              </a:rPr>
              <a:t>linker</a:t>
            </a:r>
            <a:r>
              <a:rPr lang="en-US" alt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/>
              <a:t>assembles all of these </a:t>
            </a:r>
            <a:r>
              <a:rPr lang="en-US" sz="2800" dirty="0" smtClean="0"/>
              <a:t>functions, ours, and the system’s into our </a:t>
            </a:r>
            <a:r>
              <a:rPr lang="en-US" sz="2800" dirty="0"/>
              <a:t>final executable </a:t>
            </a:r>
            <a:r>
              <a:rPr lang="en-US" sz="2800" dirty="0" smtClean="0"/>
              <a:t>program.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63829" y="361432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Linking Programs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599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47138" y="110760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Once our program has been linked, it is ready for </a:t>
            </a:r>
            <a:r>
              <a:rPr lang="en-US" altLang="en-US" sz="2800" dirty="0" smtClean="0">
                <a:solidFill>
                  <a:schemeClr val="tx1"/>
                </a:solidFill>
              </a:rPr>
              <a:t>execution.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To execute a program, we use an operating system command, such as run, to load the program into primary memory and </a:t>
            </a:r>
            <a:r>
              <a:rPr lang="en-US" altLang="en-US" sz="2800" dirty="0" smtClean="0">
                <a:solidFill>
                  <a:schemeClr val="tx1"/>
                </a:solidFill>
              </a:rPr>
              <a:t>execute it.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Getting the program into </a:t>
            </a:r>
            <a:r>
              <a:rPr lang="en-US" altLang="en-US" sz="2800" dirty="0" smtClean="0">
                <a:solidFill>
                  <a:schemeClr val="tx1"/>
                </a:solidFill>
              </a:rPr>
              <a:t>memory is </a:t>
            </a:r>
            <a:r>
              <a:rPr lang="en-US" altLang="en-US" sz="2800" dirty="0">
                <a:solidFill>
                  <a:schemeClr val="tx1"/>
                </a:solidFill>
              </a:rPr>
              <a:t>the function of an operating system program known as the </a:t>
            </a:r>
            <a:r>
              <a:rPr lang="en-US" altLang="en-US" sz="2800" dirty="0" smtClean="0">
                <a:solidFill>
                  <a:schemeClr val="tx1"/>
                </a:solidFill>
              </a:rPr>
              <a:t>loader.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 smtClean="0">
                <a:solidFill>
                  <a:schemeClr val="tx1"/>
                </a:solidFill>
              </a:rPr>
              <a:t>Loader </a:t>
            </a:r>
            <a:r>
              <a:rPr lang="en-US" altLang="en-US" sz="2800" dirty="0" smtClean="0">
                <a:solidFill>
                  <a:schemeClr val="tx1"/>
                </a:solidFill>
              </a:rPr>
              <a:t>locates </a:t>
            </a:r>
            <a:r>
              <a:rPr lang="en-US" altLang="en-US" sz="2800" dirty="0">
                <a:solidFill>
                  <a:schemeClr val="tx1"/>
                </a:solidFill>
              </a:rPr>
              <a:t>the executable program and reads it into </a:t>
            </a:r>
            <a:r>
              <a:rPr lang="en-US" altLang="en-US" sz="2800" dirty="0" smtClean="0">
                <a:solidFill>
                  <a:schemeClr val="tx1"/>
                </a:solidFill>
              </a:rPr>
              <a:t>memory. When everything is loaded, the program takes control and it begins execution.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In a typical program execution, the program reads data </a:t>
            </a:r>
            <a:r>
              <a:rPr lang="en-US" altLang="en-US" sz="2800" dirty="0" smtClean="0">
                <a:solidFill>
                  <a:schemeClr val="tx1"/>
                </a:solidFill>
              </a:rPr>
              <a:t>for processing, either </a:t>
            </a:r>
            <a:r>
              <a:rPr lang="en-US" altLang="en-US" sz="2800" dirty="0">
                <a:solidFill>
                  <a:schemeClr val="tx1"/>
                </a:solidFill>
              </a:rPr>
              <a:t>from the user or from a file. </a:t>
            </a:r>
            <a:r>
              <a:rPr lang="en-US" altLang="en-US" sz="2800" dirty="0" smtClean="0">
                <a:solidFill>
                  <a:schemeClr val="tx1"/>
                </a:solidFill>
              </a:rPr>
              <a:t> After </a:t>
            </a:r>
            <a:r>
              <a:rPr lang="en-US" altLang="en-US" sz="2800" dirty="0">
                <a:solidFill>
                  <a:schemeClr val="tx1"/>
                </a:solidFill>
              </a:rPr>
              <a:t>the program processes the data, </a:t>
            </a:r>
            <a:r>
              <a:rPr lang="en-US" altLang="en-US" sz="2800" dirty="0" smtClean="0">
                <a:solidFill>
                  <a:schemeClr val="tx1"/>
                </a:solidFill>
              </a:rPr>
              <a:t>it prepares </a:t>
            </a:r>
            <a:r>
              <a:rPr lang="en-US" altLang="en-US" sz="2800" dirty="0">
                <a:solidFill>
                  <a:schemeClr val="tx1"/>
                </a:solidFill>
              </a:rPr>
              <a:t>the output. </a:t>
            </a:r>
            <a:endParaRPr lang="en-US" altLang="en-US" sz="2800" dirty="0" smtClean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solidFill>
                  <a:schemeClr val="tx1"/>
                </a:solidFill>
              </a:rPr>
              <a:t>When </a:t>
            </a:r>
            <a:r>
              <a:rPr lang="en-US" altLang="en-US" sz="2800" dirty="0">
                <a:solidFill>
                  <a:schemeClr val="tx1"/>
                </a:solidFill>
              </a:rPr>
              <a:t>the program has finished its job, it tells the operating system, </a:t>
            </a:r>
            <a:r>
              <a:rPr lang="en-US" altLang="en-US" sz="2800" dirty="0" smtClean="0">
                <a:solidFill>
                  <a:schemeClr val="tx1"/>
                </a:solidFill>
              </a:rPr>
              <a:t>which then </a:t>
            </a:r>
            <a:r>
              <a:rPr lang="en-US" altLang="en-US" sz="2800" dirty="0">
                <a:solidFill>
                  <a:schemeClr val="tx1"/>
                </a:solidFill>
              </a:rPr>
              <a:t>removes the program from memory.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Executing Programs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593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562372" y="3473928"/>
            <a:ext cx="10302343" cy="2979337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r>
              <a:rPr lang="en-US" sz="2800" dirty="0" smtClean="0"/>
              <a:t>-In </a:t>
            </a:r>
            <a:r>
              <a:rPr lang="en-US" sz="2800" dirty="0"/>
              <a:t>this section, we discuss how we go about developing a program. </a:t>
            </a:r>
            <a:endParaRPr lang="en-US" sz="2800" dirty="0" smtClean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 smtClean="0"/>
              <a:t>-This </a:t>
            </a:r>
            <a:r>
              <a:rPr lang="en-US" sz="2800" dirty="0"/>
              <a:t>critical process determines the overall quality and success of our program. </a:t>
            </a:r>
            <a:endParaRPr lang="en-US" sz="2800" dirty="0" smtClean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/>
              <a:t>-</a:t>
            </a:r>
            <a:r>
              <a:rPr lang="en-US" sz="2800" dirty="0" smtClean="0"/>
              <a:t>If </a:t>
            </a:r>
            <a:r>
              <a:rPr lang="en-US" sz="2800" dirty="0"/>
              <a:t>we carefully design each program using good structured development techniques, our programs will be efficient, error-free,  </a:t>
            </a:r>
            <a:r>
              <a:rPr lang="en-US" sz="2800" dirty="0" smtClean="0"/>
              <a:t>and </a:t>
            </a:r>
            <a:r>
              <a:rPr lang="en-US" sz="2800" dirty="0"/>
              <a:t>easy to maintain.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470459" y="2489201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System Development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001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47138" y="110760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Today’s large-scale, modern programming projects are built using a series of interrelated phases commonly referred to as the system development life cycle</a:t>
            </a:r>
            <a:r>
              <a:rPr lang="en-US" sz="2800" dirty="0" smtClean="0"/>
              <a:t>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 smtClean="0"/>
              <a:t>Waterfall model is most commonly used</a:t>
            </a:r>
            <a:r>
              <a:rPr lang="en-US" sz="2800" dirty="0"/>
              <a:t>. </a:t>
            </a:r>
            <a:r>
              <a:rPr lang="en-US" sz="2800" dirty="0" smtClean="0"/>
              <a:t> This </a:t>
            </a:r>
            <a:r>
              <a:rPr lang="en-US" sz="2800" dirty="0"/>
              <a:t>model consists of between five and seven </a:t>
            </a:r>
            <a:r>
              <a:rPr lang="en-US" sz="2800" dirty="0" smtClean="0"/>
              <a:t>phases.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System Development Life Cycle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89" y="3553531"/>
            <a:ext cx="5800591" cy="242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1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47138" y="110760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sz="2800" b="1" dirty="0" smtClean="0"/>
              <a:t>System Requirement</a:t>
            </a:r>
            <a:r>
              <a:rPr lang="en-US" sz="2800" dirty="0"/>
              <a:t>: </a:t>
            </a:r>
            <a:r>
              <a:rPr lang="en-US" sz="2800" dirty="0" smtClean="0"/>
              <a:t>The </a:t>
            </a:r>
            <a:r>
              <a:rPr lang="en-US" sz="2800" dirty="0"/>
              <a:t>systems analyst defines requirements that </a:t>
            </a:r>
            <a:r>
              <a:rPr lang="en-US" sz="2800" dirty="0" smtClean="0"/>
              <a:t>specify </a:t>
            </a:r>
            <a:r>
              <a:rPr lang="en-US" sz="2800" dirty="0"/>
              <a:t>what the proposed system is to accomplish. </a:t>
            </a:r>
            <a:endParaRPr lang="en-US" sz="2800" dirty="0" smtClean="0"/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800" b="1" dirty="0" smtClean="0">
                <a:solidFill>
                  <a:schemeClr val="tx1"/>
                </a:solidFill>
              </a:rPr>
              <a:t>Analysis</a:t>
            </a:r>
            <a:r>
              <a:rPr lang="en-US" altLang="en-US" sz="2800" dirty="0" smtClean="0">
                <a:solidFill>
                  <a:schemeClr val="tx1"/>
                </a:solidFill>
              </a:rPr>
              <a:t>: </a:t>
            </a:r>
            <a:r>
              <a:rPr lang="en-US" altLang="en-US" sz="2800" dirty="0" smtClean="0"/>
              <a:t>L</a:t>
            </a:r>
            <a:r>
              <a:rPr lang="en-US" sz="2800" dirty="0" smtClean="0"/>
              <a:t>ooks </a:t>
            </a:r>
            <a:r>
              <a:rPr lang="en-US" sz="2800" dirty="0"/>
              <a:t>at different alternatives from a system’s point of view</a:t>
            </a:r>
            <a:endParaRPr lang="en-US" altLang="en-US" sz="2800" dirty="0" smtClean="0">
              <a:solidFill>
                <a:schemeClr val="tx1"/>
              </a:solidFill>
            </a:endParaRP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800" b="1" dirty="0" smtClean="0">
                <a:solidFill>
                  <a:schemeClr val="tx1"/>
                </a:solidFill>
              </a:rPr>
              <a:t>Design</a:t>
            </a:r>
            <a:r>
              <a:rPr lang="en-US" altLang="en-US" sz="2800" dirty="0" smtClean="0">
                <a:solidFill>
                  <a:schemeClr val="tx1"/>
                </a:solidFill>
              </a:rPr>
              <a:t>: </a:t>
            </a:r>
            <a:r>
              <a:rPr lang="en-US" altLang="en-US" sz="2800" dirty="0" smtClean="0"/>
              <a:t>D</a:t>
            </a:r>
            <a:r>
              <a:rPr lang="en-US" sz="2800" dirty="0" smtClean="0"/>
              <a:t>etermines </a:t>
            </a:r>
            <a:r>
              <a:rPr lang="en-US" sz="2800" dirty="0"/>
              <a:t>how the system will be built</a:t>
            </a:r>
            <a:endParaRPr lang="en-US" altLang="en-US" sz="2800" dirty="0" smtClean="0">
              <a:solidFill>
                <a:schemeClr val="tx1"/>
              </a:solidFill>
            </a:endParaRP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800" b="1" dirty="0" smtClean="0">
                <a:solidFill>
                  <a:srgbClr val="FF0000"/>
                </a:solidFill>
              </a:rPr>
              <a:t>Code</a:t>
            </a:r>
            <a:r>
              <a:rPr lang="en-US" altLang="en-US" sz="2800" dirty="0" smtClean="0">
                <a:solidFill>
                  <a:srgbClr val="FF0000"/>
                </a:solidFill>
              </a:rPr>
              <a:t>: How we write program (interest of this Unit)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800" b="1" dirty="0" smtClean="0">
                <a:solidFill>
                  <a:schemeClr val="tx1"/>
                </a:solidFill>
              </a:rPr>
              <a:t>System test</a:t>
            </a:r>
            <a:r>
              <a:rPr lang="en-US" altLang="en-US" sz="2800" dirty="0">
                <a:solidFill>
                  <a:schemeClr val="tx1"/>
                </a:solidFill>
              </a:rPr>
              <a:t>: programs </a:t>
            </a:r>
            <a:r>
              <a:rPr lang="en-US" altLang="en-US" sz="2800" dirty="0" smtClean="0">
                <a:solidFill>
                  <a:schemeClr val="tx1"/>
                </a:solidFill>
              </a:rPr>
              <a:t>are tested together to make sure the system works as a whole.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800" b="1" dirty="0" smtClean="0">
                <a:solidFill>
                  <a:schemeClr val="tx1"/>
                </a:solidFill>
              </a:rPr>
              <a:t>Maintenance</a:t>
            </a:r>
            <a:r>
              <a:rPr lang="en-US" altLang="en-US" sz="2800" dirty="0" smtClean="0">
                <a:solidFill>
                  <a:schemeClr val="tx1"/>
                </a:solidFill>
              </a:rPr>
              <a:t>: Keeps </a:t>
            </a:r>
            <a:r>
              <a:rPr lang="en-US" altLang="en-US" sz="2800" dirty="0">
                <a:solidFill>
                  <a:schemeClr val="tx1"/>
                </a:solidFill>
              </a:rPr>
              <a:t>the system </a:t>
            </a:r>
            <a:r>
              <a:rPr lang="en-US" altLang="en-US" sz="2800" dirty="0" smtClean="0">
                <a:solidFill>
                  <a:schemeClr val="tx1"/>
                </a:solidFill>
              </a:rPr>
              <a:t>working once </a:t>
            </a:r>
            <a:r>
              <a:rPr lang="en-US" altLang="en-US" sz="2800" dirty="0">
                <a:solidFill>
                  <a:schemeClr val="tx1"/>
                </a:solidFill>
              </a:rPr>
              <a:t>it has been put into production.</a:t>
            </a:r>
          </a:p>
          <a:p>
            <a:pPr marL="971550" lvl="1" indent="-514350">
              <a:lnSpc>
                <a:spcPct val="90000"/>
              </a:lnSpc>
              <a:buFont typeface="+mj-lt"/>
              <a:buAutoNum type="arabicPeriod"/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System Development Life Cycle</a:t>
            </a:r>
          </a:p>
        </p:txBody>
      </p:sp>
    </p:spTree>
    <p:extLst>
      <p:ext uri="{BB962C8B-B14F-4D97-AF65-F5344CB8AC3E}">
        <p14:creationId xmlns:p14="http://schemas.microsoft.com/office/powerpoint/2010/main" val="119956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47138" y="110760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A </a:t>
            </a:r>
            <a:r>
              <a:rPr lang="en-US" sz="2800" dirty="0"/>
              <a:t>multistep process that requires that we under- stand the problem, develop a solution, write the program, and then test it</a:t>
            </a:r>
            <a:r>
              <a:rPr lang="en-US" sz="2800" dirty="0" smtClean="0"/>
              <a:t>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800" b="1" dirty="0"/>
              <a:t>Program design</a:t>
            </a:r>
            <a:r>
              <a:rPr lang="en-US" sz="2800" dirty="0"/>
              <a:t>-Our job is to determine how </a:t>
            </a:r>
            <a:r>
              <a:rPr lang="en-US" sz="2800" dirty="0" smtClean="0"/>
              <a:t>to take </a:t>
            </a:r>
            <a:r>
              <a:rPr lang="en-US" sz="2800" dirty="0"/>
              <a:t>the inputs we are given and convert them into the outputs that </a:t>
            </a:r>
            <a:r>
              <a:rPr lang="en-US" sz="2800" dirty="0" smtClean="0"/>
              <a:t>have been </a:t>
            </a:r>
            <a:r>
              <a:rPr lang="en-US" sz="2800" dirty="0"/>
              <a:t>specified</a:t>
            </a:r>
            <a:endParaRPr lang="en-US" sz="28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Program Development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057400" y="3746343"/>
            <a:ext cx="8077200" cy="206210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3200" dirty="0">
                <a:latin typeface="Arial" panose="020B0604020202020204" pitchFamily="34" charset="0"/>
              </a:rPr>
              <a:t>To give us an idea of how</a:t>
            </a:r>
          </a:p>
          <a:p>
            <a:pPr algn="ctr"/>
            <a:r>
              <a:rPr lang="en-US" altLang="en-US" sz="3200" dirty="0">
                <a:latin typeface="Arial" panose="020B0604020202020204" pitchFamily="34" charset="0"/>
              </a:rPr>
              <a:t>this process works, </a:t>
            </a:r>
            <a:r>
              <a:rPr lang="en-US" altLang="en-US" sz="3200" dirty="0" smtClean="0">
                <a:latin typeface="Arial" panose="020B0604020202020204" pitchFamily="34" charset="0"/>
              </a:rPr>
              <a:t>let’s </a:t>
            </a:r>
            <a:r>
              <a:rPr lang="en-US" altLang="en-US" sz="3200" dirty="0">
                <a:latin typeface="Arial" panose="020B0604020202020204" pitchFamily="34" charset="0"/>
              </a:rPr>
              <a:t>look at a simple problem: Calculate the square footage of a house. H</a:t>
            </a:r>
            <a:r>
              <a:rPr lang="en-US" altLang="en-US" sz="3200" dirty="0" smtClean="0">
                <a:latin typeface="Arial" panose="020B0604020202020204" pitchFamily="34" charset="0"/>
              </a:rPr>
              <a:t>ow </a:t>
            </a:r>
            <a:r>
              <a:rPr lang="en-US" altLang="en-US" sz="3200" dirty="0">
                <a:latin typeface="Arial" panose="020B0604020202020204" pitchFamily="34" charset="0"/>
              </a:rPr>
              <a:t>do we go about doing this?</a:t>
            </a:r>
          </a:p>
        </p:txBody>
      </p:sp>
    </p:spTree>
    <p:extLst>
      <p:ext uri="{BB962C8B-B14F-4D97-AF65-F5344CB8AC3E}">
        <p14:creationId xmlns:p14="http://schemas.microsoft.com/office/powerpoint/2010/main" val="12251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54758" y="113046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r>
              <a:rPr lang="en-US" sz="2800" b="1" dirty="0" smtClean="0"/>
              <a:t>Step 1</a:t>
            </a:r>
            <a:r>
              <a:rPr lang="en-US" sz="2800" dirty="0" smtClean="0"/>
              <a:t>: Understand the problem- ask several questions such as: What is the definition of square footage.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b="1" dirty="0" smtClean="0"/>
              <a:t>Step 2</a:t>
            </a:r>
            <a:r>
              <a:rPr lang="en-US" sz="2800" dirty="0" smtClean="0"/>
              <a:t>: Developing the solution- We can use tools such as </a:t>
            </a:r>
          </a:p>
          <a:p>
            <a:pPr lvl="3">
              <a:lnSpc>
                <a:spcPct val="90000"/>
              </a:lnSpc>
            </a:pPr>
            <a:r>
              <a:rPr lang="en-US" sz="2400" b="1" dirty="0"/>
              <a:t>Structure Charts- </a:t>
            </a:r>
            <a:r>
              <a:rPr lang="en-US" sz="2400" dirty="0"/>
              <a:t>used to design the whole program</a:t>
            </a:r>
          </a:p>
          <a:p>
            <a:pPr lvl="3">
              <a:lnSpc>
                <a:spcPct val="90000"/>
              </a:lnSpc>
            </a:pPr>
            <a:r>
              <a:rPr lang="en-US" sz="2400" b="1" dirty="0" smtClean="0"/>
              <a:t>Pseudocode, </a:t>
            </a:r>
            <a:r>
              <a:rPr lang="en-US" sz="2400" b="1" dirty="0"/>
              <a:t>and flowcharts- </a:t>
            </a:r>
            <a:r>
              <a:rPr lang="en-US" sz="2400" dirty="0"/>
              <a:t>used to design the individual parts </a:t>
            </a:r>
            <a:r>
              <a:rPr lang="en-US" sz="2400" dirty="0" smtClean="0"/>
              <a:t>of the </a:t>
            </a:r>
            <a:r>
              <a:rPr lang="en-US" sz="2400" dirty="0"/>
              <a:t>program</a:t>
            </a:r>
            <a:endParaRPr lang="en-US" sz="2400" dirty="0" smtClean="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b="1" dirty="0" smtClean="0"/>
              <a:t>Step 3:</a:t>
            </a:r>
            <a:r>
              <a:rPr lang="en-US" sz="2800" dirty="0" smtClean="0"/>
              <a:t> </a:t>
            </a:r>
            <a:r>
              <a:rPr lang="en-US" sz="2800" dirty="0"/>
              <a:t>Write the Program</a:t>
            </a:r>
            <a:endParaRPr lang="en-US" sz="28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Program Development</a:t>
            </a:r>
          </a:p>
        </p:txBody>
      </p:sp>
    </p:spTree>
    <p:extLst>
      <p:ext uri="{BB962C8B-B14F-4D97-AF65-F5344CB8AC3E}">
        <p14:creationId xmlns:p14="http://schemas.microsoft.com/office/powerpoint/2010/main" val="176524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47138" y="110760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r>
              <a:rPr lang="en-US" sz="2800" b="1" dirty="0"/>
              <a:t>Structure </a:t>
            </a:r>
            <a:r>
              <a:rPr lang="en-US" sz="2800" b="1" dirty="0" smtClean="0"/>
              <a:t>Charts</a:t>
            </a:r>
          </a:p>
          <a:p>
            <a:pPr lvl="2">
              <a:lnSpc>
                <a:spcPct val="90000"/>
              </a:lnSpc>
            </a:pPr>
            <a:r>
              <a:rPr lang="en-US" sz="2600" dirty="0" smtClean="0"/>
              <a:t>Also known as </a:t>
            </a:r>
            <a:r>
              <a:rPr lang="en-US" sz="2800" dirty="0"/>
              <a:t>hierarchy </a:t>
            </a:r>
            <a:r>
              <a:rPr lang="en-US" sz="2800" dirty="0" smtClean="0"/>
              <a:t>chart shows the functional flow throughout the program.</a:t>
            </a:r>
          </a:p>
          <a:p>
            <a:pPr lvl="2">
              <a:lnSpc>
                <a:spcPct val="90000"/>
              </a:lnSpc>
            </a:pPr>
            <a:endParaRPr lang="en-US" sz="26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Program Development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1" y="2542242"/>
            <a:ext cx="5989320" cy="340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0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47138" y="110760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r>
              <a:rPr lang="en-US" sz="2800" b="1" dirty="0" smtClean="0"/>
              <a:t>Pseudocode</a:t>
            </a:r>
          </a:p>
          <a:p>
            <a:pPr lvl="2">
              <a:lnSpc>
                <a:spcPct val="90000"/>
              </a:lnSpc>
            </a:pPr>
            <a:r>
              <a:rPr lang="en-US" sz="2600" dirty="0"/>
              <a:t>Pseudocode is part English, part program logic. Its purpose is to describe, </a:t>
            </a:r>
            <a:r>
              <a:rPr lang="en-US" sz="2600" dirty="0" smtClean="0"/>
              <a:t>in precise </a:t>
            </a:r>
            <a:r>
              <a:rPr lang="en-US" sz="2600" dirty="0"/>
              <a:t>algorithmic detail, what the program being designed is to </a:t>
            </a:r>
            <a:r>
              <a:rPr lang="en-US" sz="2600" dirty="0" smtClean="0"/>
              <a:t>do.</a:t>
            </a:r>
          </a:p>
          <a:p>
            <a:pPr lvl="2">
              <a:lnSpc>
                <a:spcPct val="90000"/>
              </a:lnSpc>
            </a:pPr>
            <a:r>
              <a:rPr lang="en-US" sz="2600" b="1" dirty="0"/>
              <a:t>Def</a:t>
            </a:r>
            <a:r>
              <a:rPr lang="en-US" sz="2600" dirty="0"/>
              <a:t>: English-like statements that follow a loosely defined syntax and are used </a:t>
            </a:r>
            <a:r>
              <a:rPr lang="en-US" sz="2600" dirty="0" smtClean="0"/>
              <a:t>to convey </a:t>
            </a:r>
            <a:r>
              <a:rPr lang="en-US" sz="2600" dirty="0"/>
              <a:t>the design of an algorithm.</a:t>
            </a:r>
            <a:endParaRPr lang="en-US" sz="26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Program Development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095" y="3345103"/>
            <a:ext cx="6354910" cy="293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23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21415" y="110760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r>
              <a:rPr lang="en-US" sz="2800" b="1" dirty="0"/>
              <a:t>Flowchart</a:t>
            </a:r>
            <a:endParaRPr lang="en-US" sz="2800" b="1" dirty="0" smtClean="0"/>
          </a:p>
          <a:p>
            <a:pPr lvl="2">
              <a:lnSpc>
                <a:spcPct val="90000"/>
              </a:lnSpc>
            </a:pPr>
            <a:r>
              <a:rPr lang="en-US" sz="2600" dirty="0"/>
              <a:t>A flowchart is a program design tool in which standard graphical symbols </a:t>
            </a:r>
            <a:r>
              <a:rPr lang="en-US" sz="2600" dirty="0" smtClean="0"/>
              <a:t>are used </a:t>
            </a:r>
            <a:r>
              <a:rPr lang="en-US" sz="2600" dirty="0"/>
              <a:t>to represent the logical flow of data through a function</a:t>
            </a:r>
            <a:r>
              <a:rPr lang="en-US" sz="2600" dirty="0" smtClean="0"/>
              <a:t>.</a:t>
            </a:r>
          </a:p>
          <a:p>
            <a:pPr lvl="2">
              <a:lnSpc>
                <a:spcPct val="90000"/>
              </a:lnSpc>
            </a:pPr>
            <a:endParaRPr lang="en-US" sz="26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Program Development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946" y="2514599"/>
            <a:ext cx="5170314" cy="376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3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8098" y="110760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0000"/>
              </a:lnSpc>
              <a:buNone/>
            </a:pPr>
            <a:r>
              <a:rPr lang="en-US" sz="2800" b="1" dirty="0" smtClean="0"/>
              <a:t>Testing the Program</a:t>
            </a:r>
          </a:p>
          <a:p>
            <a:pPr lvl="2">
              <a:lnSpc>
                <a:spcPct val="90000"/>
              </a:lnSpc>
            </a:pPr>
            <a:r>
              <a:rPr lang="en-US" sz="2600" dirty="0" smtClean="0"/>
              <a:t>Programs are tested for different purposes.</a:t>
            </a:r>
          </a:p>
          <a:p>
            <a:pPr lvl="3">
              <a:lnSpc>
                <a:spcPct val="90000"/>
              </a:lnSpc>
            </a:pPr>
            <a:r>
              <a:rPr lang="en-US" sz="2400" b="1" dirty="0" err="1" smtClean="0"/>
              <a:t>Blackbox</a:t>
            </a:r>
            <a:r>
              <a:rPr lang="en-US" sz="2400" b="1" dirty="0"/>
              <a:t> </a:t>
            </a:r>
            <a:r>
              <a:rPr lang="en-US" sz="2400" b="1" dirty="0" smtClean="0"/>
              <a:t>Testing</a:t>
            </a:r>
            <a:r>
              <a:rPr lang="en-US" sz="2400" dirty="0" smtClean="0"/>
              <a:t>: testing </a:t>
            </a:r>
            <a:r>
              <a:rPr lang="en-US" sz="2400" dirty="0"/>
              <a:t>the program without knowing what is inside it. </a:t>
            </a:r>
            <a:r>
              <a:rPr lang="en-US" sz="2400" dirty="0" smtClean="0"/>
              <a:t>Developed </a:t>
            </a:r>
            <a:r>
              <a:rPr lang="en-US" sz="2400" dirty="0"/>
              <a:t>by looking only at the </a:t>
            </a:r>
            <a:r>
              <a:rPr lang="en-US" sz="2400" dirty="0" smtClean="0"/>
              <a:t>requirements statement </a:t>
            </a:r>
          </a:p>
          <a:p>
            <a:pPr lvl="3">
              <a:lnSpc>
                <a:spcPct val="90000"/>
              </a:lnSpc>
            </a:pPr>
            <a:r>
              <a:rPr lang="en-US" sz="2400" b="1" dirty="0" err="1" smtClean="0"/>
              <a:t>Whitebox</a:t>
            </a:r>
            <a:r>
              <a:rPr lang="en-US" sz="2400" b="1" dirty="0" smtClean="0"/>
              <a:t> Testing</a:t>
            </a:r>
            <a:r>
              <a:rPr lang="en-US" sz="2400" dirty="0" smtClean="0"/>
              <a:t>: Assumes </a:t>
            </a:r>
            <a:r>
              <a:rPr lang="en-US" sz="2400" dirty="0"/>
              <a:t>that the tester knows everything </a:t>
            </a:r>
            <a:r>
              <a:rPr lang="en-US" sz="2400" dirty="0" smtClean="0"/>
              <a:t>about the </a:t>
            </a:r>
            <a:r>
              <a:rPr lang="en-US" sz="2400" dirty="0"/>
              <a:t>program. In this case, the program is like a glass house in which everything is </a:t>
            </a:r>
            <a:r>
              <a:rPr lang="en-US" sz="2400" dirty="0" smtClean="0"/>
              <a:t>visible.</a:t>
            </a:r>
          </a:p>
          <a:p>
            <a:pPr lvl="4">
              <a:lnSpc>
                <a:spcPct val="90000"/>
              </a:lnSpc>
            </a:pPr>
            <a:r>
              <a:rPr lang="en-US" sz="2400" dirty="0" err="1" smtClean="0"/>
              <a:t>Whitebox</a:t>
            </a:r>
            <a:r>
              <a:rPr lang="en-US" sz="2400" dirty="0" smtClean="0"/>
              <a:t> </a:t>
            </a:r>
            <a:r>
              <a:rPr lang="en-US" sz="2400" dirty="0"/>
              <a:t>testing is our responsibility. </a:t>
            </a:r>
            <a:r>
              <a:rPr lang="en-US" sz="2400" dirty="0" smtClean="0"/>
              <a:t> As </a:t>
            </a:r>
            <a:r>
              <a:rPr lang="en-US" sz="2400" dirty="0"/>
              <a:t>the </a:t>
            </a:r>
            <a:r>
              <a:rPr lang="en-US" sz="2400" dirty="0" smtClean="0"/>
              <a:t>programmer.</a:t>
            </a:r>
            <a:endParaRPr lang="en-US" sz="2400" dirty="0"/>
          </a:p>
          <a:p>
            <a:pPr lvl="3">
              <a:lnSpc>
                <a:spcPct val="90000"/>
              </a:lnSpc>
            </a:pPr>
            <a:endParaRPr lang="en-US" sz="2400" dirty="0" smtClean="0"/>
          </a:p>
          <a:p>
            <a:pPr lvl="2">
              <a:lnSpc>
                <a:spcPct val="90000"/>
              </a:lnSpc>
            </a:pPr>
            <a:endParaRPr lang="en-US" sz="26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Program Development</a:t>
            </a:r>
          </a:p>
        </p:txBody>
      </p:sp>
    </p:spTree>
    <p:extLst>
      <p:ext uri="{BB962C8B-B14F-4D97-AF65-F5344CB8AC3E}">
        <p14:creationId xmlns:p14="http://schemas.microsoft.com/office/powerpoint/2010/main" val="207920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463759" y="345608"/>
            <a:ext cx="8583991" cy="1524000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30958" y="1099988"/>
            <a:ext cx="11355052" cy="5521239"/>
          </a:xfrm>
          <a:prstGeom prst="rect">
            <a:avLst/>
          </a:prstGeom>
          <a:noFill/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90000"/>
              </a:lnSpc>
            </a:pPr>
            <a:r>
              <a:rPr lang="en-US" sz="2600" dirty="0"/>
              <a:t>Software engineering is the establishment and use of sound </a:t>
            </a:r>
            <a:r>
              <a:rPr lang="en-US" sz="2600" dirty="0" smtClean="0"/>
              <a:t>engineering methods and principles </a:t>
            </a:r>
            <a:r>
              <a:rPr lang="en-US" sz="2600" dirty="0"/>
              <a:t>to obtain software that is reliable and that works </a:t>
            </a:r>
            <a:r>
              <a:rPr lang="en-US" sz="2600" dirty="0" smtClean="0"/>
              <a:t>on real </a:t>
            </a:r>
            <a:r>
              <a:rPr lang="en-US" sz="2600" dirty="0"/>
              <a:t>machines</a:t>
            </a:r>
            <a:r>
              <a:rPr lang="en-US" sz="2600" dirty="0" smtClean="0"/>
              <a:t>.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sz="26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Mr. </a:t>
            </a:r>
            <a:r>
              <a:rPr lang="en-US" dirty="0" err="1" smtClean="0"/>
              <a:t>Astone</a:t>
            </a:r>
            <a:r>
              <a:rPr lang="en-US" dirty="0" smtClean="0"/>
              <a:t> </a:t>
            </a:r>
            <a:r>
              <a:rPr lang="en-US" dirty="0" err="1" smtClean="0"/>
              <a:t>Owino</a:t>
            </a:r>
            <a:r>
              <a:rPr lang="en-US" dirty="0" smtClean="0"/>
              <a:t> | 0729378167 | aowino@karu.ac.ke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823790" y="345608"/>
            <a:ext cx="9426327" cy="898576"/>
          </a:xfrm>
          <a:prstGeom prst="rect">
            <a:avLst/>
          </a:prstGeom>
          <a:ln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19205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5676</TotalTime>
  <Words>1634</Words>
  <Application>Microsoft Office PowerPoint</Application>
  <PresentationFormat>Widescreen</PresentationFormat>
  <Paragraphs>140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Gill Sans MT</vt:lpstr>
      <vt:lpstr>Impact</vt:lpstr>
      <vt:lpstr>Times New Roman</vt:lpstr>
      <vt:lpstr>Wingdings</vt:lpstr>
      <vt:lpstr>Badge</vt:lpstr>
      <vt:lpstr>Introduction to Computers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ADMS 3930 Management</dc:title>
  <dc:creator>David Weitzner</dc:creator>
  <cp:lastModifiedBy>Administrator</cp:lastModifiedBy>
  <cp:revision>332</cp:revision>
  <dcterms:created xsi:type="dcterms:W3CDTF">2018-08-19T18:02:28Z</dcterms:created>
  <dcterms:modified xsi:type="dcterms:W3CDTF">2024-09-02T09:24:01Z</dcterms:modified>
</cp:coreProperties>
</file>