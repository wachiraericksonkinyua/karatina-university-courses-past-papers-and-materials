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 id="261" r:id="rId3"/>
    <p:sldId id="258" r:id="rId4"/>
    <p:sldId id="262" r:id="rId5"/>
    <p:sldId id="266" r:id="rId6"/>
    <p:sldId id="259" r:id="rId7"/>
    <p:sldId id="265" r:id="rId8"/>
    <p:sldId id="260"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86" d="100"/>
          <a:sy n="86" d="100"/>
        </p:scale>
        <p:origin x="1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10/30/2024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10/30/2024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10/30/2024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10/30/2024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10/30/2024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10/30/2024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10/30/2024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a:t>SHARING AND DEVOLUTION OF POWER</a:t>
            </a:r>
          </a:p>
        </p:txBody>
      </p:sp>
      <p:sp>
        <p:nvSpPr>
          <p:cNvPr id="3" name="Content Placeholder 2"/>
          <p:cNvSpPr>
            <a:spLocks noGrp="1"/>
          </p:cNvSpPr>
          <p:nvPr>
            <p:ph idx="1"/>
          </p:nvPr>
        </p:nvSpPr>
        <p:spPr/>
        <p:txBody>
          <a:bodyPr>
            <a:normAutofit fontScale="77500" lnSpcReduction="20000"/>
          </a:bodyPr>
          <a:lstStyle/>
          <a:p>
            <a:pPr marL="0" indent="0" algn="just">
              <a:buNone/>
            </a:pPr>
            <a:r>
              <a:rPr lang="en-US" dirty="0" smtClean="0"/>
              <a:t>Sharing </a:t>
            </a:r>
            <a:r>
              <a:rPr lang="en-US" dirty="0"/>
              <a:t>of power </a:t>
            </a:r>
          </a:p>
          <a:p>
            <a:pPr algn="just"/>
            <a:r>
              <a:rPr lang="en-US" dirty="0" smtClean="0"/>
              <a:t>Sharing </a:t>
            </a:r>
            <a:r>
              <a:rPr lang="en-US" dirty="0"/>
              <a:t>of power can be defined as a political arrangement in which opposing groups in a society participate in </a:t>
            </a:r>
            <a:r>
              <a:rPr lang="en-US" dirty="0" smtClean="0"/>
              <a:t>government.</a:t>
            </a:r>
          </a:p>
          <a:p>
            <a:pPr algn="just"/>
            <a:r>
              <a:rPr lang="en-US" dirty="0" smtClean="0"/>
              <a:t>In </a:t>
            </a:r>
            <a:r>
              <a:rPr lang="en-US" dirty="0"/>
              <a:t>Kenya, the concept of sharing of power is a key flagship of the Constitution as espoused in Chapter </a:t>
            </a:r>
          </a:p>
          <a:p>
            <a:pPr algn="just"/>
            <a:r>
              <a:rPr lang="en-US" dirty="0" smtClean="0"/>
              <a:t> </a:t>
            </a:r>
            <a:r>
              <a:rPr lang="en-US" dirty="0"/>
              <a:t>It’s a political arrangement that involves the two levels of government i.e. one (1) National and forty-seven (47) County governments. </a:t>
            </a:r>
          </a:p>
          <a:p>
            <a:pPr algn="just"/>
            <a:r>
              <a:rPr lang="en-US" dirty="0" smtClean="0"/>
              <a:t>The </a:t>
            </a:r>
            <a:r>
              <a:rPr lang="en-US" dirty="0"/>
              <a:t>goal of power sharing is the arrangement of political institutions to prevent the monopoly (permanent or temporary) of executive, legislative, judicial, military or cultural power. Any system that seeks to share resources between different groups in a society will have power at its center because without power, there can be no power sharing. </a:t>
            </a:r>
            <a:endParaRPr lang="en-US" dirty="0" smtClean="0"/>
          </a:p>
          <a:p>
            <a:pPr algn="just"/>
            <a:r>
              <a:rPr lang="en-US" dirty="0" smtClean="0"/>
              <a:t> </a:t>
            </a:r>
            <a:r>
              <a:rPr lang="en-US" dirty="0"/>
              <a:t>Sharing of power requires that the authority of the state be administered jointly, and not by only one narrow group. It requires the consent of a broad representation of groups in a given system. </a:t>
            </a:r>
          </a:p>
          <a:p>
            <a:pPr algn="just"/>
            <a:r>
              <a:rPr lang="en-US" dirty="0" smtClean="0"/>
              <a:t>It’s </a:t>
            </a:r>
            <a:r>
              <a:rPr lang="en-US" dirty="0"/>
              <a:t>also used to describe a system of governance in which all significant segments or identity groups of society are provided a permanent share of power in terms of representation and decision making on common issues and a degree of autonomy over issues of importance</a:t>
            </a:r>
            <a:r>
              <a:rPr lang="en-US" dirty="0" smtClean="0"/>
              <a:t>.</a:t>
            </a:r>
            <a:endParaRPr lang="en-US" dirty="0"/>
          </a:p>
        </p:txBody>
      </p:sp>
    </p:spTree>
    <p:extLst>
      <p:ext uri="{BB962C8B-B14F-4D97-AF65-F5344CB8AC3E}">
        <p14:creationId xmlns:p14="http://schemas.microsoft.com/office/powerpoint/2010/main" val="2269834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Sharing and devolution of power</a:t>
            </a:r>
          </a:p>
        </p:txBody>
      </p:sp>
      <p:sp>
        <p:nvSpPr>
          <p:cNvPr id="3" name="Content Placeholder 2"/>
          <p:cNvSpPr>
            <a:spLocks noGrp="1"/>
          </p:cNvSpPr>
          <p:nvPr>
            <p:ph idx="1"/>
          </p:nvPr>
        </p:nvSpPr>
        <p:spPr/>
        <p:txBody>
          <a:bodyPr>
            <a:normAutofit lnSpcReduction="10000"/>
          </a:bodyPr>
          <a:lstStyle/>
          <a:p>
            <a:pPr algn="just">
              <a:buFont typeface="Wingdings" panose="05000000000000000000" pitchFamily="2" charset="2"/>
              <a:buChar char="ü"/>
            </a:pPr>
            <a:r>
              <a:rPr lang="en-US" dirty="0" smtClean="0"/>
              <a:t>Sharing </a:t>
            </a:r>
            <a:r>
              <a:rPr lang="en-US" dirty="0"/>
              <a:t>and devolution of power refers to ―a governance system in which power, political, economic and social resources are distributed between the national and county levels of government and which empowers people at the grassroots to make decisions on matters that affect them. </a:t>
            </a:r>
            <a:endParaRPr lang="en-US" dirty="0" smtClean="0"/>
          </a:p>
          <a:p>
            <a:pPr algn="just">
              <a:buFont typeface="Wingdings" panose="05000000000000000000" pitchFamily="2" charset="2"/>
              <a:buChar char="ü"/>
            </a:pPr>
            <a:r>
              <a:rPr lang="en-US" dirty="0" smtClean="0"/>
              <a:t> </a:t>
            </a:r>
            <a:r>
              <a:rPr lang="en-US" dirty="0"/>
              <a:t>Kenyan’s persistent demands by the repressed political opposition and a robust civil society for a return to political pluralism as a means of fostering greater government accountability, along with global liberalizing pressure, led to the reintroduction of political pluralism in December, 1991. </a:t>
            </a:r>
            <a:endParaRPr lang="en-US" dirty="0" smtClean="0"/>
          </a:p>
          <a:p>
            <a:pPr algn="just">
              <a:buFont typeface="Wingdings" panose="05000000000000000000" pitchFamily="2" charset="2"/>
              <a:buChar char="ü"/>
            </a:pPr>
            <a:r>
              <a:rPr lang="en-US" dirty="0" smtClean="0"/>
              <a:t> </a:t>
            </a:r>
            <a:r>
              <a:rPr lang="en-US" dirty="0"/>
              <a:t>The demands for extensive constitutional reforms, nevertheless, notably incorporating the devolution of government to sub-national agencies, were eventually realized on 27th August, 2010 when Kenya adopted a new Constitution 23 with far-reaching provisions for democratization, including the devolution of power from the Central Government to the forty seven (47) county Governments</a:t>
            </a:r>
          </a:p>
        </p:txBody>
      </p:sp>
    </p:spTree>
    <p:extLst>
      <p:ext uri="{BB962C8B-B14F-4D97-AF65-F5344CB8AC3E}">
        <p14:creationId xmlns:p14="http://schemas.microsoft.com/office/powerpoint/2010/main" val="2749949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of sharing and devolution of power</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smtClean="0"/>
              <a:t>Article </a:t>
            </a:r>
            <a:r>
              <a:rPr lang="en-US" dirty="0"/>
              <a:t>174 of the Constitution states the following as the objectives of devolution are to: </a:t>
            </a:r>
            <a:r>
              <a:rPr lang="en-US" dirty="0" smtClean="0"/>
              <a:t></a:t>
            </a:r>
          </a:p>
          <a:p>
            <a:r>
              <a:rPr lang="en-US" dirty="0" smtClean="0"/>
              <a:t> </a:t>
            </a:r>
            <a:r>
              <a:rPr lang="en-US" dirty="0"/>
              <a:t>Promote democratic and accountable exercise of power; </a:t>
            </a:r>
            <a:endParaRPr lang="en-US" dirty="0" smtClean="0"/>
          </a:p>
          <a:p>
            <a:r>
              <a:rPr lang="en-US" dirty="0" smtClean="0"/>
              <a:t> </a:t>
            </a:r>
            <a:r>
              <a:rPr lang="en-US" dirty="0"/>
              <a:t>Foster national unity by recognizing diversity; </a:t>
            </a:r>
          </a:p>
          <a:p>
            <a:r>
              <a:rPr lang="en-US" dirty="0" smtClean="0"/>
              <a:t>Give </a:t>
            </a:r>
            <a:r>
              <a:rPr lang="en-US" dirty="0"/>
              <a:t>powers of self- governance to the people and enhance the participation of the people in the exercise of the powers of the State and in making decisions affecting them; </a:t>
            </a:r>
            <a:endParaRPr lang="en-US" dirty="0" smtClean="0"/>
          </a:p>
          <a:p>
            <a:r>
              <a:rPr lang="en-US" dirty="0" smtClean="0"/>
              <a:t> </a:t>
            </a:r>
            <a:r>
              <a:rPr lang="en-US" dirty="0"/>
              <a:t>Recognize the right of communities to manage their own affairs and to further their development; </a:t>
            </a:r>
            <a:endParaRPr lang="en-US" dirty="0" smtClean="0"/>
          </a:p>
          <a:p>
            <a:r>
              <a:rPr lang="en-US" dirty="0" smtClean="0"/>
              <a:t> </a:t>
            </a:r>
            <a:r>
              <a:rPr lang="en-US" dirty="0"/>
              <a:t>Protect and promote the interests and rights of minorities and the marginalized communities; </a:t>
            </a:r>
          </a:p>
          <a:p>
            <a:r>
              <a:rPr lang="en-US" dirty="0" smtClean="0"/>
              <a:t>Promote </a:t>
            </a:r>
            <a:r>
              <a:rPr lang="en-US" dirty="0"/>
              <a:t>social and economic development and the provision of proximate, easily accessible services throughout Kenya; </a:t>
            </a:r>
            <a:endParaRPr lang="en-US" dirty="0" smtClean="0"/>
          </a:p>
          <a:p>
            <a:r>
              <a:rPr lang="en-US" dirty="0" smtClean="0"/>
              <a:t> </a:t>
            </a:r>
            <a:r>
              <a:rPr lang="en-US" dirty="0"/>
              <a:t>Ensure equitable sharing of national and local resources throughout Kenya; </a:t>
            </a:r>
            <a:endParaRPr lang="en-US" dirty="0" smtClean="0"/>
          </a:p>
          <a:p>
            <a:r>
              <a:rPr lang="en-US" dirty="0" smtClean="0"/>
              <a:t> </a:t>
            </a:r>
            <a:r>
              <a:rPr lang="en-US" dirty="0"/>
              <a:t>Facilitate the decentralization of State organs, their functions and services, from the capital of Kenya; and </a:t>
            </a:r>
          </a:p>
          <a:p>
            <a:r>
              <a:rPr lang="en-US" dirty="0" smtClean="0"/>
              <a:t> </a:t>
            </a:r>
            <a:r>
              <a:rPr lang="en-US" dirty="0"/>
              <a:t>Enhance checks and balances and the separation of powers. </a:t>
            </a:r>
          </a:p>
        </p:txBody>
      </p:sp>
    </p:spTree>
    <p:extLst>
      <p:ext uri="{BB962C8B-B14F-4D97-AF65-F5344CB8AC3E}">
        <p14:creationId xmlns:p14="http://schemas.microsoft.com/office/powerpoint/2010/main" val="2006181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r>
              <a:rPr lang="en-US" dirty="0"/>
              <a:t>Benefits of sharing and devolution of </a:t>
            </a:r>
            <a:r>
              <a:rPr lang="en-US" dirty="0" smtClean="0"/>
              <a:t>power </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marL="0" indent="0" algn="just">
              <a:buNone/>
            </a:pPr>
            <a:r>
              <a:rPr lang="en-US" dirty="0"/>
              <a:t>Political benefits </a:t>
            </a:r>
            <a:endParaRPr lang="en-US" dirty="0" smtClean="0"/>
          </a:p>
          <a:p>
            <a:pPr algn="just"/>
            <a:r>
              <a:rPr lang="en-US" dirty="0" smtClean="0"/>
              <a:t> </a:t>
            </a:r>
            <a:r>
              <a:rPr lang="en-US" dirty="0"/>
              <a:t>It promotes democratic and accountable exercise of power. </a:t>
            </a:r>
            <a:endParaRPr lang="en-US" dirty="0" smtClean="0"/>
          </a:p>
          <a:p>
            <a:pPr algn="just"/>
            <a:r>
              <a:rPr lang="en-US" dirty="0" smtClean="0"/>
              <a:t> </a:t>
            </a:r>
            <a:r>
              <a:rPr lang="en-US" dirty="0"/>
              <a:t>It fosters national unity by recognizing diversity; it gives powers of self- governance to the people and enhance the participation of the people in the exercise of the powers of the State and in making decisions affecting them </a:t>
            </a:r>
            <a:endParaRPr lang="en-US" dirty="0" smtClean="0"/>
          </a:p>
          <a:p>
            <a:pPr algn="just"/>
            <a:r>
              <a:rPr lang="en-US" dirty="0" smtClean="0"/>
              <a:t> </a:t>
            </a:r>
            <a:r>
              <a:rPr lang="en-US" dirty="0"/>
              <a:t>It recognizes the right of communities to manage their own affairs and to further their development; </a:t>
            </a:r>
            <a:endParaRPr lang="en-US" dirty="0" smtClean="0"/>
          </a:p>
          <a:p>
            <a:pPr algn="just"/>
            <a:r>
              <a:rPr lang="en-US" dirty="0" smtClean="0"/>
              <a:t> </a:t>
            </a:r>
            <a:r>
              <a:rPr lang="en-US" dirty="0"/>
              <a:t>It protects and promotes the interests and rights of minorities and the marginalized communities; </a:t>
            </a:r>
          </a:p>
          <a:p>
            <a:pPr algn="just"/>
            <a:r>
              <a:rPr lang="en-US" dirty="0" smtClean="0"/>
              <a:t>It </a:t>
            </a:r>
            <a:r>
              <a:rPr lang="en-US" dirty="0"/>
              <a:t>promotes social and economic development and the provision of proximate, easily accessible services throughout Kenya; </a:t>
            </a:r>
            <a:endParaRPr lang="en-US" dirty="0" smtClean="0"/>
          </a:p>
          <a:p>
            <a:pPr algn="just"/>
            <a:r>
              <a:rPr lang="en-US" dirty="0" smtClean="0"/>
              <a:t> </a:t>
            </a:r>
            <a:r>
              <a:rPr lang="en-US" dirty="0"/>
              <a:t>It ensures equitable sharing of national and local resources throughout Kenya; </a:t>
            </a:r>
            <a:endParaRPr lang="en-US" dirty="0" smtClean="0"/>
          </a:p>
          <a:p>
            <a:pPr algn="just"/>
            <a:r>
              <a:rPr lang="en-US" dirty="0" smtClean="0"/>
              <a:t> </a:t>
            </a:r>
            <a:endParaRPr lang="en-US" dirty="0"/>
          </a:p>
        </p:txBody>
      </p:sp>
    </p:spTree>
    <p:extLst>
      <p:ext uri="{BB962C8B-B14F-4D97-AF65-F5344CB8AC3E}">
        <p14:creationId xmlns:p14="http://schemas.microsoft.com/office/powerpoint/2010/main" val="3041088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algn="just"/>
            <a:r>
              <a:rPr lang="en-US" dirty="0"/>
              <a:t>It facilitates the decentralization of State organs, their functions and services, from the capital of Kenya; </a:t>
            </a:r>
          </a:p>
          <a:p>
            <a:pPr algn="just"/>
            <a:r>
              <a:rPr lang="en-US" dirty="0"/>
              <a:t> It enhances checks and balances and the separation of powers. </a:t>
            </a:r>
          </a:p>
          <a:p>
            <a:pPr algn="just"/>
            <a:r>
              <a:rPr lang="en-US" dirty="0"/>
              <a:t> It provides channels for the expression of regional sentiments and encourages national policies to become more sensitive to regional dynamics. </a:t>
            </a:r>
          </a:p>
          <a:p>
            <a:pPr algn="just"/>
            <a:r>
              <a:rPr lang="en-US" dirty="0"/>
              <a:t> It provides the minority parties which have been excluded from political power the opportunity to exercise policy influence. </a:t>
            </a:r>
          </a:p>
          <a:p>
            <a:pPr algn="just"/>
            <a:r>
              <a:rPr lang="en-US" dirty="0"/>
              <a:t> It empowers communities to manage their own resources more effectively and simultaneously strengthens local institutions. </a:t>
            </a:r>
          </a:p>
          <a:p>
            <a:pPr algn="just"/>
            <a:r>
              <a:rPr lang="en-US" dirty="0"/>
              <a:t>It ensures that varying interests of stakeholders are balanced, and that the decisions are made in a rational transformed and transparent manner. The decisions contribute to the overall efficiency and effectiveness of the institutions. </a:t>
            </a:r>
          </a:p>
          <a:p>
            <a:pPr algn="just"/>
            <a:r>
              <a:rPr lang="en-US" dirty="0"/>
              <a:t> It gives the right to communities to manage their own affairs and further their development. </a:t>
            </a:r>
          </a:p>
          <a:p>
            <a:pPr algn="just"/>
            <a:endParaRPr lang="en-US" dirty="0"/>
          </a:p>
          <a:p>
            <a:pPr algn="just"/>
            <a:endParaRPr lang="en-US" dirty="0"/>
          </a:p>
        </p:txBody>
      </p:sp>
    </p:spTree>
    <p:extLst>
      <p:ext uri="{BB962C8B-B14F-4D97-AF65-F5344CB8AC3E}">
        <p14:creationId xmlns:p14="http://schemas.microsoft.com/office/powerpoint/2010/main" val="3814886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marL="0" indent="0" algn="just">
              <a:buNone/>
            </a:pPr>
            <a:r>
              <a:rPr lang="en-US" dirty="0" smtClean="0"/>
              <a:t> </a:t>
            </a:r>
            <a:r>
              <a:rPr lang="en-US" dirty="0"/>
              <a:t>Economic </a:t>
            </a:r>
            <a:r>
              <a:rPr lang="en-US" dirty="0" smtClean="0"/>
              <a:t>benefits</a:t>
            </a:r>
          </a:p>
          <a:p>
            <a:pPr algn="just"/>
            <a:r>
              <a:rPr lang="en-US" dirty="0" smtClean="0"/>
              <a:t>  </a:t>
            </a:r>
            <a:r>
              <a:rPr lang="en-US" dirty="0"/>
              <a:t>Devolved provisions in sub-national entities increase economic welfare of the constituents. This is because the level of welfare is often higher if consumption occurs at each jurisdiction than if any single uniform level of consumption is maintained across all jurisdictions. </a:t>
            </a:r>
          </a:p>
          <a:p>
            <a:pPr algn="just"/>
            <a:r>
              <a:rPr lang="en-US" dirty="0" smtClean="0"/>
              <a:t>Devolution </a:t>
            </a:r>
            <a:r>
              <a:rPr lang="en-US" dirty="0"/>
              <a:t>assists in the reduction of poverty through the provision of a more effective governance structure for advancing pro-poor policies. </a:t>
            </a:r>
            <a:endParaRPr lang="en-US" dirty="0" smtClean="0"/>
          </a:p>
          <a:p>
            <a:pPr algn="just"/>
            <a:r>
              <a:rPr lang="en-US" dirty="0" smtClean="0"/>
              <a:t> </a:t>
            </a:r>
            <a:r>
              <a:rPr lang="en-US" dirty="0"/>
              <a:t>Since sub-national institutions are likely to be more familiar with the local circumstances and cost conditions, they are better equipped to distribute resources more equitably. In so doing, they address poverty more efficiently. </a:t>
            </a:r>
            <a:endParaRPr lang="en-US" dirty="0" smtClean="0"/>
          </a:p>
          <a:p>
            <a:pPr algn="just"/>
            <a:r>
              <a:rPr lang="en-US" dirty="0" smtClean="0"/>
              <a:t> </a:t>
            </a:r>
            <a:r>
              <a:rPr lang="en-US" dirty="0"/>
              <a:t>Devolved governments have the ability to effectively promote productive efficiency in the provision and use of public services and the allocation of resources. The logic is that sub-national entities by their proximity to the beneficiaries of policy outcomes can allocate and extract resources more efficiently than central governments. This is because they have better access to local information, are more directly accountable to local constituents and can more effectively identify and articulate regional needs. </a:t>
            </a:r>
            <a:endParaRPr lang="en-US" dirty="0" smtClean="0"/>
          </a:p>
          <a:p>
            <a:pPr algn="just"/>
            <a:r>
              <a:rPr lang="en-US" dirty="0" smtClean="0"/>
              <a:t> </a:t>
            </a:r>
            <a:r>
              <a:rPr lang="en-US" dirty="0"/>
              <a:t>Devolution may reduce opportunities for bribery and rent seeking by introduction of inter-jurisdictional competition. Such opportunities are often created by the lack of competition that the central government monopoly supply of public goods and services present. </a:t>
            </a:r>
          </a:p>
          <a:p>
            <a:pPr marL="0" indent="0" algn="just">
              <a:buNone/>
            </a:pPr>
            <a:r>
              <a:rPr lang="en-US" dirty="0" smtClean="0"/>
              <a:t> </a:t>
            </a:r>
            <a:endParaRPr lang="en-US" dirty="0"/>
          </a:p>
        </p:txBody>
      </p:sp>
    </p:spTree>
    <p:extLst>
      <p:ext uri="{BB962C8B-B14F-4D97-AF65-F5344CB8AC3E}">
        <p14:creationId xmlns:p14="http://schemas.microsoft.com/office/powerpoint/2010/main" val="3759061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just">
              <a:buNone/>
            </a:pPr>
            <a:r>
              <a:rPr lang="en-US" dirty="0"/>
              <a:t>Social benefits </a:t>
            </a:r>
          </a:p>
          <a:p>
            <a:pPr algn="just">
              <a:buFont typeface="Wingdings" panose="05000000000000000000" pitchFamily="2" charset="2"/>
              <a:buChar char="ü"/>
            </a:pPr>
            <a:r>
              <a:rPr lang="en-US" dirty="0"/>
              <a:t> It gives the people a sense of identity and self-empowerment. They will feel recognized in their contribution to the growth of their own county. </a:t>
            </a:r>
          </a:p>
          <a:p>
            <a:pPr algn="just">
              <a:buFont typeface="Wingdings" panose="05000000000000000000" pitchFamily="2" charset="2"/>
              <a:buChar char="ü"/>
            </a:pPr>
            <a:r>
              <a:rPr lang="en-US" dirty="0"/>
              <a:t> Devolution often creates new motivation on the local level for the citizens to commit and invest its engagement for local public interest. Thus, it helps to integrate citizens and to enhance nation building. </a:t>
            </a:r>
          </a:p>
          <a:p>
            <a:pPr algn="just">
              <a:buFont typeface="Wingdings" panose="05000000000000000000" pitchFamily="2" charset="2"/>
              <a:buChar char="ü"/>
            </a:pPr>
            <a:r>
              <a:rPr lang="en-US" dirty="0"/>
              <a:t> Devolution ensures gender equity. The Constitution of Kenya stipulates that not more than two-thirds of the members of any county assembly or county executive shall be of the same gender. This gives room for women to be considered in both local and national appointments either through competitive processes or by taking affirmative action</a:t>
            </a:r>
          </a:p>
          <a:p>
            <a:pPr algn="just"/>
            <a:endParaRPr lang="en-US" dirty="0"/>
          </a:p>
        </p:txBody>
      </p:sp>
    </p:spTree>
    <p:extLst>
      <p:ext uri="{BB962C8B-B14F-4D97-AF65-F5344CB8AC3E}">
        <p14:creationId xmlns:p14="http://schemas.microsoft.com/office/powerpoint/2010/main" val="792713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to sharing and devolution of power</a:t>
            </a:r>
          </a:p>
        </p:txBody>
      </p:sp>
      <p:sp>
        <p:nvSpPr>
          <p:cNvPr id="3" name="Content Placeholder 2"/>
          <p:cNvSpPr>
            <a:spLocks noGrp="1"/>
          </p:cNvSpPr>
          <p:nvPr>
            <p:ph idx="1"/>
          </p:nvPr>
        </p:nvSpPr>
        <p:spPr/>
        <p:txBody>
          <a:bodyPr>
            <a:normAutofit fontScale="70000" lnSpcReduction="20000"/>
          </a:bodyPr>
          <a:lstStyle/>
          <a:p>
            <a:pPr marL="0" indent="0" algn="just">
              <a:buNone/>
            </a:pPr>
            <a:r>
              <a:rPr lang="en-US" dirty="0" smtClean="0"/>
              <a:t> </a:t>
            </a:r>
            <a:r>
              <a:rPr lang="en-US" dirty="0"/>
              <a:t>Political challenges: </a:t>
            </a:r>
            <a:endParaRPr lang="en-US" dirty="0" smtClean="0"/>
          </a:p>
          <a:p>
            <a:pPr algn="just"/>
            <a:r>
              <a:rPr lang="en-US" dirty="0" smtClean="0"/>
              <a:t> </a:t>
            </a:r>
            <a:r>
              <a:rPr lang="en-US" dirty="0"/>
              <a:t>If not properly designed and implemented, devolution may facilitate emergence of weak institutions based on patron-client relations, and increase the risk of local politicians at the local level to use resources at their disposal to perpetuate themselves in power. They achieve this by skewing allocations in </a:t>
            </a:r>
            <a:r>
              <a:rPr lang="en-US" dirty="0" err="1"/>
              <a:t>favour</a:t>
            </a:r>
            <a:r>
              <a:rPr lang="en-US" dirty="0"/>
              <a:t> of their kinsmen, supporters and sycophants to purchase political loyalty. </a:t>
            </a:r>
            <a:endParaRPr lang="en-US" dirty="0" smtClean="0"/>
          </a:p>
          <a:p>
            <a:pPr algn="just"/>
            <a:r>
              <a:rPr lang="en-US" dirty="0" smtClean="0"/>
              <a:t> </a:t>
            </a:r>
            <a:r>
              <a:rPr lang="en-US" dirty="0"/>
              <a:t>People power- control or participation: The demands of people power could be about controlling government without necessarily having an alternative slate of more efficacious development priorities or interventions, or even commitment to participation as an ideology. </a:t>
            </a:r>
            <a:endParaRPr lang="en-US" dirty="0" smtClean="0"/>
          </a:p>
          <a:p>
            <a:pPr algn="just"/>
            <a:r>
              <a:rPr lang="en-US" dirty="0" smtClean="0"/>
              <a:t> </a:t>
            </a:r>
            <a:r>
              <a:rPr lang="en-US" dirty="0"/>
              <a:t>Non-existent or weak sub-national institutions: The heritages of nature and/ or “bad ‘governance” may result in glaring regional inequalities in capacities to manage devolved responsibilities often forming one basis of the demand for devolution. The dilemma is that decentralizing reform in the face of such initial inequalities could either deepen the inequalities or lead to a suboptimal operation of the chosen devolution framework. </a:t>
            </a:r>
            <a:endParaRPr lang="en-US" dirty="0" smtClean="0"/>
          </a:p>
          <a:p>
            <a:pPr algn="just"/>
            <a:r>
              <a:rPr lang="en-US" dirty="0" smtClean="0"/>
              <a:t> </a:t>
            </a:r>
            <a:r>
              <a:rPr lang="en-US" dirty="0"/>
              <a:t>Transfer of inefficiency: Where the cause of poor service delivery is unclear, devolution is unlikely to be the solution since national level bottlenecks are replicable at sub-national levels. There must, for instance, be concern not to transfer national level corruption to sub-national levels. </a:t>
            </a:r>
            <a:endParaRPr lang="en-US" dirty="0" smtClean="0"/>
          </a:p>
          <a:p>
            <a:pPr algn="just"/>
            <a:r>
              <a:rPr lang="en-US" dirty="0" smtClean="0"/>
              <a:t> </a:t>
            </a:r>
            <a:r>
              <a:rPr lang="en-US" dirty="0"/>
              <a:t>Elite capture is a phenomenon where resources transferred for the benefit of the masses `are usurped by few individuals, usually politically or economically powerful groups. This impacts on the socio-economic development and provision of quality services at all levels of government. </a:t>
            </a:r>
          </a:p>
        </p:txBody>
      </p:sp>
    </p:spTree>
    <p:extLst>
      <p:ext uri="{BB962C8B-B14F-4D97-AF65-F5344CB8AC3E}">
        <p14:creationId xmlns:p14="http://schemas.microsoft.com/office/powerpoint/2010/main" val="1057538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65357"/>
            <a:ext cx="8596668" cy="293649"/>
          </a:xfrm>
        </p:spPr>
        <p:txBody>
          <a:bodyPr>
            <a:normAutofit fontScale="90000"/>
          </a:bodyPr>
          <a:lstStyle/>
          <a:p>
            <a:endParaRPr lang="en-US" dirty="0"/>
          </a:p>
        </p:txBody>
      </p:sp>
      <p:sp>
        <p:nvSpPr>
          <p:cNvPr id="3" name="Content Placeholder 2"/>
          <p:cNvSpPr>
            <a:spLocks noGrp="1"/>
          </p:cNvSpPr>
          <p:nvPr>
            <p:ph idx="1"/>
          </p:nvPr>
        </p:nvSpPr>
        <p:spPr>
          <a:xfrm>
            <a:off x="677334" y="1025913"/>
            <a:ext cx="8596668" cy="5015450"/>
          </a:xfrm>
        </p:spPr>
        <p:txBody>
          <a:bodyPr>
            <a:noAutofit/>
          </a:bodyPr>
          <a:lstStyle/>
          <a:p>
            <a:pPr marL="0" indent="0" algn="just">
              <a:buNone/>
            </a:pPr>
            <a:r>
              <a:rPr lang="en-US" sz="1200" dirty="0" smtClean="0"/>
              <a:t> </a:t>
            </a:r>
            <a:r>
              <a:rPr lang="en-US" sz="1200" b="1" dirty="0"/>
              <a:t>Economic challenges </a:t>
            </a:r>
            <a:endParaRPr lang="en-US" sz="1200" b="1" dirty="0" smtClean="0"/>
          </a:p>
          <a:p>
            <a:pPr algn="just"/>
            <a:r>
              <a:rPr lang="en-US" sz="1200" dirty="0" smtClean="0"/>
              <a:t> </a:t>
            </a:r>
            <a:r>
              <a:rPr lang="en-US" sz="1400" dirty="0"/>
              <a:t>It might lead to excessive taxation. The Constitution provides for taxation and also gives County Governments power to generate revenue. The County Government may impose property rates, entertainment taxes and any other tax that it is </a:t>
            </a:r>
            <a:r>
              <a:rPr lang="en-US" sz="1400" dirty="0" err="1"/>
              <a:t>authorised</a:t>
            </a:r>
            <a:r>
              <a:rPr lang="en-US" sz="1400" dirty="0"/>
              <a:t> to impose by an Act of Parliament. </a:t>
            </a:r>
            <a:endParaRPr lang="en-US" sz="1400" dirty="0" smtClean="0"/>
          </a:p>
          <a:p>
            <a:pPr algn="just"/>
            <a:r>
              <a:rPr lang="en-US" sz="1400" dirty="0" smtClean="0"/>
              <a:t> </a:t>
            </a:r>
            <a:r>
              <a:rPr lang="en-US" sz="1400" dirty="0"/>
              <a:t>Devolution risks allowing greater levels of corruption and mismanagement of economic resources when a decision is moved further from local levels. It is evidenced where community members lack awareness as to their roles and capacity to execute them. For instance, </a:t>
            </a:r>
            <a:r>
              <a:rPr lang="en-US" sz="1400" dirty="0" smtClean="0"/>
              <a:t>corruption </a:t>
            </a:r>
            <a:r>
              <a:rPr lang="en-US" sz="1400" dirty="0"/>
              <a:t>is higher in the absence of structures to enable the community effectively monitor and evaluate usage of funds. </a:t>
            </a:r>
            <a:endParaRPr lang="en-US" sz="1400" dirty="0" smtClean="0"/>
          </a:p>
          <a:p>
            <a:pPr algn="just"/>
            <a:r>
              <a:rPr lang="en-US" sz="1400" dirty="0" smtClean="0"/>
              <a:t> </a:t>
            </a:r>
            <a:r>
              <a:rPr lang="en-US" sz="1400" dirty="0"/>
              <a:t>Devolution may also ―diminish the power and value of the national government to redistribute resources which creates a drawback to the less developed units. This may result in dependency and eventually instability where dependency is chronic. </a:t>
            </a:r>
          </a:p>
          <a:p>
            <a:pPr marL="0" indent="0" algn="just">
              <a:buNone/>
            </a:pPr>
            <a:r>
              <a:rPr lang="en-US" sz="1400" dirty="0" smtClean="0"/>
              <a:t> </a:t>
            </a:r>
            <a:r>
              <a:rPr lang="en-US" sz="1400" b="1" dirty="0"/>
              <a:t>Social challenges </a:t>
            </a:r>
          </a:p>
          <a:p>
            <a:pPr algn="just"/>
            <a:r>
              <a:rPr lang="en-US" sz="1400" dirty="0" smtClean="0"/>
              <a:t>Devolution </a:t>
            </a:r>
            <a:r>
              <a:rPr lang="en-US" sz="1400" dirty="0"/>
              <a:t>if inappropriately applied can undermine national unity and inflate ethnic, religious and cultural tensions. It has the potential to lead to even greater </a:t>
            </a:r>
            <a:r>
              <a:rPr lang="en-US" sz="1400" dirty="0" err="1"/>
              <a:t>marginalisation</a:t>
            </a:r>
            <a:r>
              <a:rPr lang="en-US" sz="1400" dirty="0"/>
              <a:t> and discrimination of minorities and minorities within minorities especially in county level decision making and resource allocation. </a:t>
            </a:r>
            <a:endParaRPr lang="en-US" sz="1400" dirty="0" smtClean="0"/>
          </a:p>
          <a:p>
            <a:pPr algn="just"/>
            <a:r>
              <a:rPr lang="en-US" sz="1400" dirty="0" smtClean="0"/>
              <a:t> </a:t>
            </a:r>
            <a:r>
              <a:rPr lang="en-US" sz="1400" dirty="0" err="1"/>
              <a:t>Decentralisation</a:t>
            </a:r>
            <a:r>
              <a:rPr lang="en-US" sz="1400" dirty="0"/>
              <a:t> may bring development prioritization nearer prospective beneficiaries who are assumed to know that may inflame tensions and ultimately violence and thus hamper service delivery to the citizens.  Deepening of Inequalities: Poorly applied devolution could create socio- economic and political inequality and hence feelings of discrimination and </a:t>
            </a:r>
            <a:r>
              <a:rPr lang="en-US" sz="1400" dirty="0" err="1"/>
              <a:t>marginalisation</a:t>
            </a:r>
            <a:r>
              <a:rPr lang="en-US" sz="1400" dirty="0"/>
              <a:t>. This is one of the drivers of conflicts and violence. </a:t>
            </a:r>
          </a:p>
          <a:p>
            <a:pPr marL="0" indent="0" algn="just">
              <a:buNone/>
            </a:pPr>
            <a:r>
              <a:rPr lang="en-US" sz="1400" dirty="0" smtClean="0"/>
              <a:t>.</a:t>
            </a:r>
            <a:endParaRPr lang="en-US" sz="1400" dirty="0"/>
          </a:p>
          <a:p>
            <a:pPr algn="just"/>
            <a:endParaRPr lang="en-US" sz="1200" dirty="0"/>
          </a:p>
        </p:txBody>
      </p:sp>
    </p:spTree>
    <p:extLst>
      <p:ext uri="{BB962C8B-B14F-4D97-AF65-F5344CB8AC3E}">
        <p14:creationId xmlns:p14="http://schemas.microsoft.com/office/powerpoint/2010/main" val="3387212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marL="0" indent="0" algn="just">
              <a:buNone/>
            </a:pPr>
            <a:r>
              <a:rPr lang="en-US" b="1" dirty="0"/>
              <a:t>Technological challenges </a:t>
            </a:r>
          </a:p>
          <a:p>
            <a:pPr algn="just"/>
            <a:r>
              <a:rPr lang="en-US" dirty="0"/>
              <a:t> Where devolution creates inequalities among counties or institutions that are not equipped with infrastructure and technological facilities.</a:t>
            </a:r>
          </a:p>
          <a:p>
            <a:pPr algn="just"/>
            <a:r>
              <a:rPr lang="en-US" dirty="0"/>
              <a:t>Lack of technological capacity. iii. Manipulation of technology for personal gain. </a:t>
            </a:r>
          </a:p>
          <a:p>
            <a:pPr marL="0" indent="0" algn="just">
              <a:buNone/>
            </a:pPr>
            <a:r>
              <a:rPr lang="en-US" dirty="0"/>
              <a:t> </a:t>
            </a:r>
            <a:r>
              <a:rPr lang="en-US" b="1" dirty="0"/>
              <a:t>Legal challenges </a:t>
            </a:r>
          </a:p>
          <a:p>
            <a:pPr algn="just"/>
            <a:r>
              <a:rPr lang="en-US" dirty="0"/>
              <a:t>. Lack of capacity to formulate legislations. </a:t>
            </a:r>
          </a:p>
          <a:p>
            <a:pPr algn="just"/>
            <a:r>
              <a:rPr lang="en-US" dirty="0"/>
              <a:t>Conflicting and </a:t>
            </a:r>
            <a:r>
              <a:rPr lang="en-US" dirty="0" err="1"/>
              <a:t>unharmonised</a:t>
            </a:r>
            <a:r>
              <a:rPr lang="en-US" dirty="0"/>
              <a:t> legislation. </a:t>
            </a:r>
          </a:p>
          <a:p>
            <a:pPr algn="just"/>
            <a:r>
              <a:rPr lang="en-US" dirty="0"/>
              <a:t> Lack of participatory decision making. </a:t>
            </a:r>
          </a:p>
          <a:p>
            <a:pPr marL="0" indent="0" algn="just">
              <a:buNone/>
            </a:pPr>
            <a:r>
              <a:rPr lang="en-US" dirty="0"/>
              <a:t> </a:t>
            </a:r>
            <a:r>
              <a:rPr lang="en-US" b="1" dirty="0"/>
              <a:t>Ecological challenges </a:t>
            </a:r>
          </a:p>
          <a:p>
            <a:pPr algn="just"/>
            <a:r>
              <a:rPr lang="en-US" dirty="0"/>
              <a:t>Competition for resources within and across counties </a:t>
            </a:r>
          </a:p>
          <a:p>
            <a:pPr algn="just"/>
            <a:r>
              <a:rPr lang="en-US" dirty="0"/>
              <a:t> Pollution due to proliferation iii. Deforestation </a:t>
            </a:r>
          </a:p>
          <a:p>
            <a:pPr algn="just"/>
            <a:r>
              <a:rPr lang="en-US" dirty="0"/>
              <a:t> Human-wildlife conflicts </a:t>
            </a:r>
          </a:p>
          <a:p>
            <a:pPr algn="just"/>
            <a:r>
              <a:rPr lang="en-US" dirty="0"/>
              <a:t>Lack of adherence to institutional and legal frameworks to ensure environmental protection</a:t>
            </a:r>
          </a:p>
        </p:txBody>
      </p:sp>
    </p:spTree>
    <p:extLst>
      <p:ext uri="{BB962C8B-B14F-4D97-AF65-F5344CB8AC3E}">
        <p14:creationId xmlns:p14="http://schemas.microsoft.com/office/powerpoint/2010/main" val="287627045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45</TotalTime>
  <Words>1802</Words>
  <Application>Microsoft Office PowerPoint</Application>
  <PresentationFormat>Widescreen</PresentationFormat>
  <Paragraphs>77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Trebuchet MS</vt:lpstr>
      <vt:lpstr>Wingdings</vt:lpstr>
      <vt:lpstr>Wingdings 3</vt:lpstr>
      <vt:lpstr>Facet</vt:lpstr>
      <vt:lpstr>  SHARING AND DEVOLUTION OF POWER</vt:lpstr>
      <vt:lpstr>Sharing and devolution of power</vt:lpstr>
      <vt:lpstr>Objectives of sharing and devolution of power</vt:lpstr>
      <vt:lpstr> Benefits of sharing and devolution of power  </vt:lpstr>
      <vt:lpstr>PowerPoint Presentation</vt:lpstr>
      <vt:lpstr>PowerPoint Presentation</vt:lpstr>
      <vt:lpstr>PowerPoint Presentation</vt:lpstr>
      <vt:lpstr>Challenges to sharing and devolution of power</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PC</cp:lastModifiedBy>
  <cp:revision>6</cp:revision>
  <dcterms:created xsi:type="dcterms:W3CDTF">2024-10-29T07:34:33Z</dcterms:created>
  <dcterms:modified xsi:type="dcterms:W3CDTF">2024-10-30T07:54:18Z</dcterms:modified>
</cp:coreProperties>
</file>