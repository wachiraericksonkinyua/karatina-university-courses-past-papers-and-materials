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69" r:id="rId3"/>
    <p:sldId id="258" r:id="rId4"/>
    <p:sldId id="261" r:id="rId5"/>
    <p:sldId id="262" r:id="rId6"/>
    <p:sldId id="263" r:id="rId7"/>
    <p:sldId id="264" r:id="rId8"/>
    <p:sldId id="265" r:id="rId9"/>
    <p:sldId id="266" r:id="rId10"/>
    <p:sldId id="267"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91" d="100"/>
          <a:sy n="91" d="100"/>
        </p:scale>
        <p:origin x="-126" y="-12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207FAE2-507F-4AAC-88A6-21E77C521DD8}" type="datetimeFigureOut">
              <a:rPr lang="en-US" smtClean="0"/>
              <a:t>9/17/2024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FA79B-415B-45F6-9FE1-D0BB0B543731}" type="slidenum">
              <a:rPr lang="en-US" smtClean="0"/>
              <a:t>‹#›</a:t>
            </a:fld>
            <a:endParaRPr lang="en-US"/>
          </a:p>
        </p:txBody>
      </p:sp>
    </p:spTree>
    <p:extLst>
      <p:ext uri="{BB962C8B-B14F-4D97-AF65-F5344CB8AC3E}">
        <p14:creationId xmlns:p14="http://schemas.microsoft.com/office/powerpoint/2010/main" val="2795221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207FAE2-507F-4AAC-88A6-21E77C521DD8}" type="datetimeFigureOut">
              <a:rPr lang="en-US" smtClean="0"/>
              <a:t>9/17/2024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FA79B-415B-45F6-9FE1-D0BB0B543731}" type="slidenum">
              <a:rPr lang="en-US" smtClean="0"/>
              <a:t>‹#›</a:t>
            </a:fld>
            <a:endParaRPr lang="en-US"/>
          </a:p>
        </p:txBody>
      </p:sp>
    </p:spTree>
    <p:extLst>
      <p:ext uri="{BB962C8B-B14F-4D97-AF65-F5344CB8AC3E}">
        <p14:creationId xmlns:p14="http://schemas.microsoft.com/office/powerpoint/2010/main" val="7995199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207FAE2-507F-4AAC-88A6-21E77C521DD8}" type="datetimeFigureOut">
              <a:rPr lang="en-US" smtClean="0"/>
              <a:t>9/17/2024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FA79B-415B-45F6-9FE1-D0BB0B543731}" type="slidenum">
              <a:rPr lang="en-US" smtClean="0"/>
              <a:t>‹#›</a:t>
            </a:fld>
            <a:endParaRPr lang="en-US"/>
          </a:p>
        </p:txBody>
      </p:sp>
    </p:spTree>
    <p:extLst>
      <p:ext uri="{BB962C8B-B14F-4D97-AF65-F5344CB8AC3E}">
        <p14:creationId xmlns:p14="http://schemas.microsoft.com/office/powerpoint/2010/main" val="1350228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207FAE2-507F-4AAC-88A6-21E77C521DD8}" type="datetimeFigureOut">
              <a:rPr lang="en-US" smtClean="0"/>
              <a:t>9/17/2024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FA79B-415B-45F6-9FE1-D0BB0B543731}" type="slidenum">
              <a:rPr lang="en-US" smtClean="0"/>
              <a:t>‹#›</a:t>
            </a:fld>
            <a:endParaRPr lang="en-US"/>
          </a:p>
        </p:txBody>
      </p:sp>
    </p:spTree>
    <p:extLst>
      <p:ext uri="{BB962C8B-B14F-4D97-AF65-F5344CB8AC3E}">
        <p14:creationId xmlns:p14="http://schemas.microsoft.com/office/powerpoint/2010/main" val="541595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207FAE2-507F-4AAC-88A6-21E77C521DD8}" type="datetimeFigureOut">
              <a:rPr lang="en-US" smtClean="0"/>
              <a:t>9/17/2024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FFA79B-415B-45F6-9FE1-D0BB0B543731}" type="slidenum">
              <a:rPr lang="en-US" smtClean="0"/>
              <a:t>‹#›</a:t>
            </a:fld>
            <a:endParaRPr lang="en-US"/>
          </a:p>
        </p:txBody>
      </p:sp>
    </p:spTree>
    <p:extLst>
      <p:ext uri="{BB962C8B-B14F-4D97-AF65-F5344CB8AC3E}">
        <p14:creationId xmlns:p14="http://schemas.microsoft.com/office/powerpoint/2010/main" val="2224411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207FAE2-507F-4AAC-88A6-21E77C521DD8}" type="datetimeFigureOut">
              <a:rPr lang="en-US" smtClean="0"/>
              <a:t>9/17/2024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FFA79B-415B-45F6-9FE1-D0BB0B543731}" type="slidenum">
              <a:rPr lang="en-US" smtClean="0"/>
              <a:t>‹#›</a:t>
            </a:fld>
            <a:endParaRPr lang="en-US"/>
          </a:p>
        </p:txBody>
      </p:sp>
    </p:spTree>
    <p:extLst>
      <p:ext uri="{BB962C8B-B14F-4D97-AF65-F5344CB8AC3E}">
        <p14:creationId xmlns:p14="http://schemas.microsoft.com/office/powerpoint/2010/main" val="36249934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07FAE2-507F-4AAC-88A6-21E77C521DD8}" type="datetimeFigureOut">
              <a:rPr lang="en-US" smtClean="0"/>
              <a:t>9/17/2024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FFA79B-415B-45F6-9FE1-D0BB0B543731}" type="slidenum">
              <a:rPr lang="en-US" smtClean="0"/>
              <a:t>‹#›</a:t>
            </a:fld>
            <a:endParaRPr lang="en-US"/>
          </a:p>
        </p:txBody>
      </p:sp>
    </p:spTree>
    <p:extLst>
      <p:ext uri="{BB962C8B-B14F-4D97-AF65-F5344CB8AC3E}">
        <p14:creationId xmlns:p14="http://schemas.microsoft.com/office/powerpoint/2010/main" val="22621561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207FAE2-507F-4AAC-88A6-21E77C521DD8}" type="datetimeFigureOut">
              <a:rPr lang="en-US" smtClean="0"/>
              <a:t>9/17/2024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FA79B-415B-45F6-9FE1-D0BB0B543731}" type="slidenum">
              <a:rPr lang="en-US" smtClean="0"/>
              <a:t>‹#›</a:t>
            </a:fld>
            <a:endParaRPr lang="en-US"/>
          </a:p>
        </p:txBody>
      </p:sp>
    </p:spTree>
    <p:extLst>
      <p:ext uri="{BB962C8B-B14F-4D97-AF65-F5344CB8AC3E}">
        <p14:creationId xmlns:p14="http://schemas.microsoft.com/office/powerpoint/2010/main" val="5759905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207FAE2-507F-4AAC-88A6-21E77C521DD8}" type="datetimeFigureOut">
              <a:rPr lang="en-US" smtClean="0"/>
              <a:t>9/17/2024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FA79B-415B-45F6-9FE1-D0BB0B543731}" type="slidenum">
              <a:rPr lang="en-US" smtClean="0"/>
              <a:t>‹#›</a:t>
            </a:fld>
            <a:endParaRPr lang="en-US"/>
          </a:p>
        </p:txBody>
      </p:sp>
    </p:spTree>
    <p:extLst>
      <p:ext uri="{BB962C8B-B14F-4D97-AF65-F5344CB8AC3E}">
        <p14:creationId xmlns:p14="http://schemas.microsoft.com/office/powerpoint/2010/main" val="4435233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207FAE2-507F-4AAC-88A6-21E77C521DD8}" type="datetimeFigureOut">
              <a:rPr lang="en-US" smtClean="0"/>
              <a:t>9/17/2024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FA79B-415B-45F6-9FE1-D0BB0B543731}" type="slidenum">
              <a:rPr lang="en-US" smtClean="0"/>
              <a:t>‹#›</a:t>
            </a:fld>
            <a:endParaRPr lang="en-US"/>
          </a:p>
        </p:txBody>
      </p:sp>
    </p:spTree>
    <p:extLst>
      <p:ext uri="{BB962C8B-B14F-4D97-AF65-F5344CB8AC3E}">
        <p14:creationId xmlns:p14="http://schemas.microsoft.com/office/powerpoint/2010/main" val="9275291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207FAE2-507F-4AAC-88A6-21E77C521DD8}" type="datetimeFigureOut">
              <a:rPr lang="en-US" smtClean="0"/>
              <a:t>9/17/2024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FA79B-415B-45F6-9FE1-D0BB0B543731}"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8548778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207FAE2-507F-4AAC-88A6-21E77C521DD8}" type="datetimeFigureOut">
              <a:rPr lang="en-US" smtClean="0"/>
              <a:t>9/17/2024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FA79B-415B-45F6-9FE1-D0BB0B543731}" type="slidenum">
              <a:rPr lang="en-US" smtClean="0"/>
              <a:t>‹#›</a:t>
            </a:fld>
            <a:endParaRPr lang="en-US"/>
          </a:p>
        </p:txBody>
      </p:sp>
    </p:spTree>
    <p:extLst>
      <p:ext uri="{BB962C8B-B14F-4D97-AF65-F5344CB8AC3E}">
        <p14:creationId xmlns:p14="http://schemas.microsoft.com/office/powerpoint/2010/main" val="19715445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207FAE2-507F-4AAC-88A6-21E77C521DD8}" type="datetimeFigureOut">
              <a:rPr lang="en-US" smtClean="0"/>
              <a:t>9/17/2024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FA79B-415B-45F6-9FE1-D0BB0B543731}"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1452229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207FAE2-507F-4AAC-88A6-21E77C521DD8}" type="datetimeFigureOut">
              <a:rPr lang="en-US" smtClean="0"/>
              <a:t>9/17/2024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FA79B-415B-45F6-9FE1-D0BB0B543731}" type="slidenum">
              <a:rPr lang="en-US" smtClean="0"/>
              <a:t>‹#›</a:t>
            </a:fld>
            <a:endParaRPr lang="en-US"/>
          </a:p>
        </p:txBody>
      </p:sp>
    </p:spTree>
    <p:extLst>
      <p:ext uri="{BB962C8B-B14F-4D97-AF65-F5344CB8AC3E}">
        <p14:creationId xmlns:p14="http://schemas.microsoft.com/office/powerpoint/2010/main" val="12939736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207FAE2-507F-4AAC-88A6-21E77C521DD8}" type="datetimeFigureOut">
              <a:rPr lang="en-US" smtClean="0"/>
              <a:t>9/17/2024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FA79B-415B-45F6-9FE1-D0BB0B543731}" type="slidenum">
              <a:rPr lang="en-US" smtClean="0"/>
              <a:t>‹#›</a:t>
            </a:fld>
            <a:endParaRPr lang="en-US"/>
          </a:p>
        </p:txBody>
      </p:sp>
    </p:spTree>
    <p:extLst>
      <p:ext uri="{BB962C8B-B14F-4D97-AF65-F5344CB8AC3E}">
        <p14:creationId xmlns:p14="http://schemas.microsoft.com/office/powerpoint/2010/main" val="42761430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207FAE2-507F-4AAC-88A6-21E77C521DD8}" type="datetimeFigureOut">
              <a:rPr lang="en-US" smtClean="0"/>
              <a:t>9/17/2024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FA79B-415B-45F6-9FE1-D0BB0B543731}" type="slidenum">
              <a:rPr lang="en-US" smtClean="0"/>
              <a:t>‹#›</a:t>
            </a:fld>
            <a:endParaRPr lang="en-US"/>
          </a:p>
        </p:txBody>
      </p:sp>
    </p:spTree>
    <p:extLst>
      <p:ext uri="{BB962C8B-B14F-4D97-AF65-F5344CB8AC3E}">
        <p14:creationId xmlns:p14="http://schemas.microsoft.com/office/powerpoint/2010/main" val="1842192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207FAE2-507F-4AAC-88A6-21E77C521DD8}" type="datetimeFigureOut">
              <a:rPr lang="en-US" smtClean="0"/>
              <a:t>9/17/2024</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EFFA79B-415B-45F6-9FE1-D0BB0B543731}" type="slidenum">
              <a:rPr lang="en-US" smtClean="0"/>
              <a:t>‹#›</a:t>
            </a:fld>
            <a:endParaRPr lang="en-US"/>
          </a:p>
        </p:txBody>
      </p:sp>
    </p:spTree>
    <p:extLst>
      <p:ext uri="{BB962C8B-B14F-4D97-AF65-F5344CB8AC3E}">
        <p14:creationId xmlns:p14="http://schemas.microsoft.com/office/powerpoint/2010/main" val="3339002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Governance and National Cohesion</a:t>
            </a:r>
            <a:endParaRPr lang="en-US" dirty="0"/>
          </a:p>
        </p:txBody>
      </p:sp>
      <p:sp>
        <p:nvSpPr>
          <p:cNvPr id="3" name="Content Placeholder 2"/>
          <p:cNvSpPr>
            <a:spLocks noGrp="1"/>
          </p:cNvSpPr>
          <p:nvPr>
            <p:ph idx="1"/>
          </p:nvPr>
        </p:nvSpPr>
        <p:spPr/>
        <p:txBody>
          <a:bodyPr>
            <a:normAutofit/>
          </a:bodyPr>
          <a:lstStyle/>
          <a:p>
            <a:pPr marL="0" indent="0" algn="just">
              <a:buNone/>
            </a:pPr>
            <a:r>
              <a:rPr lang="en-US" dirty="0" smtClean="0"/>
              <a:t> Governance: is the act of setting goals and mobilizing resources to achieve these goals. </a:t>
            </a:r>
          </a:p>
          <a:p>
            <a:pPr marL="0" indent="0" algn="just">
              <a:buNone/>
            </a:pPr>
            <a:r>
              <a:rPr lang="en-US" dirty="0" smtClean="0"/>
              <a:t>This may take place at any level, such as family, community organization, or at a higher and more complex level such as a corporation, country, district, province or country. </a:t>
            </a:r>
          </a:p>
          <a:p>
            <a:pPr marL="0" indent="0" algn="just">
              <a:buNone/>
            </a:pPr>
            <a:r>
              <a:rPr lang="en-US" dirty="0" smtClean="0"/>
              <a:t>Governance entails the processes, mechanisms and institutions through which citizens and groups articulate their interests, mediate their differences and exercise their legal rights and obligations. </a:t>
            </a:r>
            <a:endParaRPr lang="en-US" dirty="0"/>
          </a:p>
        </p:txBody>
      </p:sp>
    </p:spTree>
    <p:extLst>
      <p:ext uri="{BB962C8B-B14F-4D97-AF65-F5344CB8AC3E}">
        <p14:creationId xmlns:p14="http://schemas.microsoft.com/office/powerpoint/2010/main" val="9484773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en-US" dirty="0" smtClean="0"/>
              <a:t>National Values and Principles of Governance are the fundamental norms and beliefs of Kenyans that guide choices, actions, relations and behaviors of citizens.  </a:t>
            </a:r>
          </a:p>
          <a:p>
            <a:pPr algn="just"/>
            <a:r>
              <a:rPr lang="en-US" dirty="0" smtClean="0"/>
              <a:t>Values influence the way individuals relate with one another, how communities engage, and how citizens and government interact in promoting national cohesion, integration, peace and development.</a:t>
            </a:r>
          </a:p>
          <a:p>
            <a:pPr algn="just"/>
            <a:r>
              <a:rPr lang="en-US" dirty="0" smtClean="0"/>
              <a:t> Cohesion is defined as a conscious desire for diverse groups of people to belong together and affirm the condition of mutual dependence. </a:t>
            </a:r>
          </a:p>
          <a:p>
            <a:pPr algn="just"/>
            <a:r>
              <a:rPr lang="en-US" dirty="0" smtClean="0"/>
              <a:t> It encompasses the values of unity, equity, freedom, democracy, peace, social justice and rule of law.   </a:t>
            </a:r>
          </a:p>
          <a:p>
            <a:endParaRPr lang="en-US" dirty="0"/>
          </a:p>
        </p:txBody>
      </p:sp>
    </p:spTree>
    <p:extLst>
      <p:ext uri="{BB962C8B-B14F-4D97-AF65-F5344CB8AC3E}">
        <p14:creationId xmlns:p14="http://schemas.microsoft.com/office/powerpoint/2010/main" val="28014840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en-US" dirty="0" smtClean="0"/>
              <a:t>National cohesion and integration is a process and an outcome of instilling and enabling all citizens in the country to have a sense as well as a feeling that they are members of the same country, community and institution.</a:t>
            </a:r>
          </a:p>
          <a:p>
            <a:pPr algn="just"/>
            <a:r>
              <a:rPr lang="en-US" dirty="0" smtClean="0"/>
              <a:t> These members engage in a common enterprise and face shared challenges. </a:t>
            </a:r>
          </a:p>
          <a:p>
            <a:pPr algn="just"/>
            <a:r>
              <a:rPr lang="en-US" dirty="0" smtClean="0"/>
              <a:t>This is realized through the regulation and reconciliation of differences, competing interests and demands in a society.</a:t>
            </a:r>
          </a:p>
          <a:p>
            <a:pPr algn="just"/>
            <a:r>
              <a:rPr lang="en-US" dirty="0" smtClean="0"/>
              <a:t>It is based on the fact that societies and individuals can only achieve their full potential when living and working together </a:t>
            </a:r>
            <a:endParaRPr lang="en-US" dirty="0"/>
          </a:p>
        </p:txBody>
      </p:sp>
    </p:spTree>
    <p:extLst>
      <p:ext uri="{BB962C8B-B14F-4D97-AF65-F5344CB8AC3E}">
        <p14:creationId xmlns:p14="http://schemas.microsoft.com/office/powerpoint/2010/main" val="1537850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Indicators Of A Cohesive Society</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ü"/>
            </a:pPr>
            <a:r>
              <a:rPr lang="en-US" dirty="0" smtClean="0"/>
              <a:t> Common vision and sense of belonging; </a:t>
            </a:r>
          </a:p>
          <a:p>
            <a:pPr>
              <a:buFont typeface="Wingdings" panose="05000000000000000000" pitchFamily="2" charset="2"/>
              <a:buChar char="ü"/>
            </a:pPr>
            <a:r>
              <a:rPr lang="en-US" dirty="0" smtClean="0"/>
              <a:t> Peaceful co-existence among all members; </a:t>
            </a:r>
          </a:p>
          <a:p>
            <a:pPr>
              <a:buFont typeface="Wingdings" panose="05000000000000000000" pitchFamily="2" charset="2"/>
              <a:buChar char="ü"/>
            </a:pPr>
            <a:r>
              <a:rPr lang="en-US" dirty="0" smtClean="0"/>
              <a:t> Appreciation and value for people’s diverse backgrounds and circumstances; </a:t>
            </a:r>
          </a:p>
          <a:p>
            <a:pPr>
              <a:buFont typeface="Wingdings" panose="05000000000000000000" pitchFamily="2" charset="2"/>
              <a:buChar char="ü"/>
            </a:pPr>
            <a:r>
              <a:rPr lang="en-US" dirty="0" smtClean="0"/>
              <a:t>Similar life opportunities for those from different backgrounds; </a:t>
            </a:r>
          </a:p>
          <a:p>
            <a:pPr>
              <a:buFont typeface="Wingdings" panose="05000000000000000000" pitchFamily="2" charset="2"/>
              <a:buChar char="ü"/>
            </a:pPr>
            <a:r>
              <a:rPr lang="en-US" dirty="0" smtClean="0"/>
              <a:t> Strong and positive relationships developed between people from different backgrounds.</a:t>
            </a:r>
            <a:endParaRPr lang="en-US" dirty="0"/>
          </a:p>
        </p:txBody>
      </p:sp>
    </p:spTree>
    <p:extLst>
      <p:ext uri="{BB962C8B-B14F-4D97-AF65-F5344CB8AC3E}">
        <p14:creationId xmlns:p14="http://schemas.microsoft.com/office/powerpoint/2010/main" val="4032323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Challenges to Nurturing National Cohesion and National Values</a:t>
            </a:r>
            <a:endParaRPr lang="en-US" dirty="0"/>
          </a:p>
        </p:txBody>
      </p:sp>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ü"/>
            </a:pPr>
            <a:r>
              <a:rPr lang="en-US" dirty="0" smtClean="0"/>
              <a:t> Divisive ideologies; </a:t>
            </a:r>
          </a:p>
          <a:p>
            <a:pPr>
              <a:buFont typeface="Wingdings" panose="05000000000000000000" pitchFamily="2" charset="2"/>
              <a:buChar char="ü"/>
            </a:pPr>
            <a:r>
              <a:rPr lang="en-US" dirty="0" smtClean="0"/>
              <a:t>Deteriorating morals and values; </a:t>
            </a:r>
          </a:p>
          <a:p>
            <a:pPr>
              <a:buFont typeface="Wingdings" panose="05000000000000000000" pitchFamily="2" charset="2"/>
              <a:buChar char="ü"/>
            </a:pPr>
            <a:r>
              <a:rPr lang="en-US" dirty="0" smtClean="0"/>
              <a:t> Culture of greed and selfishness; </a:t>
            </a:r>
          </a:p>
          <a:p>
            <a:pPr>
              <a:buFont typeface="Wingdings" panose="05000000000000000000" pitchFamily="2" charset="2"/>
              <a:buChar char="ü"/>
            </a:pPr>
            <a:r>
              <a:rPr lang="en-US" dirty="0" smtClean="0"/>
              <a:t>Community superiority/inferiority; </a:t>
            </a:r>
          </a:p>
          <a:p>
            <a:pPr>
              <a:buFont typeface="Wingdings" panose="05000000000000000000" pitchFamily="2" charset="2"/>
              <a:buChar char="ü"/>
            </a:pPr>
            <a:r>
              <a:rPr lang="en-US" dirty="0" smtClean="0"/>
              <a:t>Negative ethnicity/ Tribalism </a:t>
            </a:r>
          </a:p>
          <a:p>
            <a:pPr>
              <a:buFont typeface="Wingdings" panose="05000000000000000000" pitchFamily="2" charset="2"/>
              <a:buChar char="ü"/>
            </a:pPr>
            <a:r>
              <a:rPr lang="en-US" dirty="0" smtClean="0"/>
              <a:t> Negative cultural practices e.g. disregard for women. </a:t>
            </a:r>
            <a:endParaRPr lang="en-US" dirty="0"/>
          </a:p>
          <a:p>
            <a:pPr>
              <a:buFont typeface="Wingdings" panose="05000000000000000000" pitchFamily="2" charset="2"/>
              <a:buChar char="ü"/>
            </a:pPr>
            <a:r>
              <a:rPr lang="en-US" dirty="0" smtClean="0"/>
              <a:t>Weakening of the family unity </a:t>
            </a:r>
          </a:p>
          <a:p>
            <a:pPr>
              <a:buFont typeface="Wingdings" panose="05000000000000000000" pitchFamily="2" charset="2"/>
              <a:buChar char="ü"/>
            </a:pPr>
            <a:r>
              <a:rPr lang="en-US" dirty="0" smtClean="0"/>
              <a:t> Wealth worship </a:t>
            </a:r>
          </a:p>
          <a:p>
            <a:pPr>
              <a:buFont typeface="Wingdings" panose="05000000000000000000" pitchFamily="2" charset="2"/>
              <a:buChar char="ü"/>
            </a:pPr>
            <a:r>
              <a:rPr lang="en-US" dirty="0" smtClean="0"/>
              <a:t> Corruption in high offices </a:t>
            </a:r>
          </a:p>
          <a:p>
            <a:pPr>
              <a:buFont typeface="Wingdings" panose="05000000000000000000" pitchFamily="2" charset="2"/>
              <a:buChar char="ü"/>
            </a:pPr>
            <a:r>
              <a:rPr lang="en-US" dirty="0" smtClean="0"/>
              <a:t>Suppressing the poor and disadvantaged</a:t>
            </a:r>
            <a:endParaRPr lang="en-US" dirty="0"/>
          </a:p>
        </p:txBody>
      </p:sp>
    </p:spTree>
    <p:extLst>
      <p:ext uri="{BB962C8B-B14F-4D97-AF65-F5344CB8AC3E}">
        <p14:creationId xmlns:p14="http://schemas.microsoft.com/office/powerpoint/2010/main" val="1669312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Approaches for Fostering Institutional Cohesion</a:t>
            </a:r>
            <a:endParaRPr lang="en-US" dirty="0"/>
          </a:p>
        </p:txBody>
      </p:sp>
      <p:sp>
        <p:nvSpPr>
          <p:cNvPr id="3" name="Content Placeholder 2"/>
          <p:cNvSpPr>
            <a:spLocks noGrp="1"/>
          </p:cNvSpPr>
          <p:nvPr>
            <p:ph idx="1"/>
          </p:nvPr>
        </p:nvSpPr>
        <p:spPr/>
        <p:txBody>
          <a:bodyPr>
            <a:normAutofit/>
          </a:bodyPr>
          <a:lstStyle/>
          <a:p>
            <a:r>
              <a:rPr lang="en-US" dirty="0" smtClean="0"/>
              <a:t>Sharing and devolution of power;</a:t>
            </a:r>
          </a:p>
          <a:p>
            <a:r>
              <a:rPr lang="en-US" dirty="0" smtClean="0"/>
              <a:t> The rule of Law; </a:t>
            </a:r>
          </a:p>
          <a:p>
            <a:r>
              <a:rPr lang="en-US" dirty="0" smtClean="0"/>
              <a:t> Democracy and participation of the people;</a:t>
            </a:r>
          </a:p>
          <a:p>
            <a:r>
              <a:rPr lang="en-US" dirty="0" smtClean="0"/>
              <a:t> Human dignity; </a:t>
            </a:r>
          </a:p>
          <a:p>
            <a:r>
              <a:rPr lang="en-US" dirty="0" smtClean="0"/>
              <a:t> Equity; </a:t>
            </a:r>
          </a:p>
          <a:p>
            <a:r>
              <a:rPr lang="en-US" dirty="0" smtClean="0"/>
              <a:t> Inclusiveness and non-discrimination; </a:t>
            </a:r>
          </a:p>
          <a:p>
            <a:r>
              <a:rPr lang="en-US" dirty="0" smtClean="0"/>
              <a:t> Good governance; </a:t>
            </a:r>
          </a:p>
          <a:p>
            <a:r>
              <a:rPr lang="en-US" dirty="0" smtClean="0"/>
              <a:t> Integrity; </a:t>
            </a:r>
          </a:p>
          <a:p>
            <a:r>
              <a:rPr lang="en-US" dirty="0" smtClean="0"/>
              <a:t> Transparency and accountability. </a:t>
            </a:r>
            <a:endParaRPr lang="en-US" dirty="0"/>
          </a:p>
        </p:txBody>
      </p:sp>
    </p:spTree>
    <p:extLst>
      <p:ext uri="{BB962C8B-B14F-4D97-AF65-F5344CB8AC3E}">
        <p14:creationId xmlns:p14="http://schemas.microsoft.com/office/powerpoint/2010/main" val="3387745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Benefits of </a:t>
            </a:r>
            <a:r>
              <a:rPr lang="en-US" dirty="0"/>
              <a:t>a</a:t>
            </a:r>
            <a:r>
              <a:rPr lang="en-US" dirty="0" smtClean="0"/>
              <a:t> Cohesive And Integrated Nation</a:t>
            </a:r>
            <a:endParaRPr lang="en-US" dirty="0"/>
          </a:p>
        </p:txBody>
      </p:sp>
      <p:sp>
        <p:nvSpPr>
          <p:cNvPr id="3" name="Content Placeholder 2"/>
          <p:cNvSpPr>
            <a:spLocks noGrp="1"/>
          </p:cNvSpPr>
          <p:nvPr>
            <p:ph idx="1"/>
          </p:nvPr>
        </p:nvSpPr>
        <p:spPr/>
        <p:txBody>
          <a:bodyPr/>
          <a:lstStyle/>
          <a:p>
            <a:r>
              <a:rPr lang="en-US" dirty="0" smtClean="0"/>
              <a:t> Institutional solidarity (togetherness); </a:t>
            </a:r>
          </a:p>
          <a:p>
            <a:r>
              <a:rPr lang="en-US" dirty="0" smtClean="0"/>
              <a:t> Unity and harmony;</a:t>
            </a:r>
          </a:p>
          <a:p>
            <a:r>
              <a:rPr lang="en-US" dirty="0" smtClean="0"/>
              <a:t> Unified approach in confronting external threats; </a:t>
            </a:r>
          </a:p>
          <a:p>
            <a:r>
              <a:rPr lang="en-US" dirty="0" smtClean="0"/>
              <a:t> Commitment to institutional ideals; </a:t>
            </a:r>
          </a:p>
          <a:p>
            <a:r>
              <a:rPr lang="en-US" dirty="0" smtClean="0"/>
              <a:t> Improved performance and well-being;</a:t>
            </a:r>
          </a:p>
          <a:p>
            <a:r>
              <a:rPr lang="en-US" dirty="0" smtClean="0"/>
              <a:t> Promotion of equity in the sharing of available resources; </a:t>
            </a:r>
          </a:p>
          <a:p>
            <a:r>
              <a:rPr lang="en-US" dirty="0" smtClean="0"/>
              <a:t> Building of a strong institutional identity. </a:t>
            </a:r>
            <a:endParaRPr lang="en-US" dirty="0"/>
          </a:p>
        </p:txBody>
      </p:sp>
    </p:spTree>
    <p:extLst>
      <p:ext uri="{BB962C8B-B14F-4D97-AF65-F5344CB8AC3E}">
        <p14:creationId xmlns:p14="http://schemas.microsoft.com/office/powerpoint/2010/main" val="23657354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Tools and Processes for Achieving National Cohesion</a:t>
            </a:r>
            <a:endParaRPr lang="en-US" dirty="0"/>
          </a:p>
        </p:txBody>
      </p:sp>
      <p:sp>
        <p:nvSpPr>
          <p:cNvPr id="3" name="Content Placeholder 2"/>
          <p:cNvSpPr>
            <a:spLocks noGrp="1"/>
          </p:cNvSpPr>
          <p:nvPr>
            <p:ph idx="1"/>
          </p:nvPr>
        </p:nvSpPr>
        <p:spPr/>
        <p:txBody>
          <a:bodyPr/>
          <a:lstStyle/>
          <a:p>
            <a:r>
              <a:rPr lang="en-US" dirty="0" smtClean="0"/>
              <a:t>Good governance</a:t>
            </a:r>
          </a:p>
          <a:p>
            <a:r>
              <a:rPr lang="en-US" dirty="0" smtClean="0"/>
              <a:t> Instituting non-discriminatory practices</a:t>
            </a:r>
          </a:p>
          <a:p>
            <a:r>
              <a:rPr lang="en-US" dirty="0" smtClean="0"/>
              <a:t> Reducing disparities in wealth and income across citizens</a:t>
            </a:r>
          </a:p>
          <a:p>
            <a:r>
              <a:rPr lang="en-US" dirty="0" smtClean="0"/>
              <a:t> Embracing and implementing Kenya’s national values and principles of governance. </a:t>
            </a:r>
            <a:endParaRPr lang="en-US" dirty="0"/>
          </a:p>
        </p:txBody>
      </p:sp>
    </p:spTree>
    <p:extLst>
      <p:ext uri="{BB962C8B-B14F-4D97-AF65-F5344CB8AC3E}">
        <p14:creationId xmlns:p14="http://schemas.microsoft.com/office/powerpoint/2010/main" val="12789590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 National values and principles of governance  </a:t>
            </a:r>
            <a:endParaRPr lang="en-US" dirty="0"/>
          </a:p>
        </p:txBody>
      </p:sp>
      <p:sp>
        <p:nvSpPr>
          <p:cNvPr id="3" name="Content Placeholder 2"/>
          <p:cNvSpPr>
            <a:spLocks noGrp="1"/>
          </p:cNvSpPr>
          <p:nvPr>
            <p:ph idx="1"/>
          </p:nvPr>
        </p:nvSpPr>
        <p:spPr/>
        <p:txBody>
          <a:bodyPr>
            <a:normAutofit/>
          </a:bodyPr>
          <a:lstStyle/>
          <a:p>
            <a:pPr algn="just"/>
            <a:r>
              <a:rPr lang="en-US" dirty="0" smtClean="0"/>
              <a:t>A value is a good thing or a quality that is continually desired and cherished, either by an individual or a society.</a:t>
            </a:r>
          </a:p>
          <a:p>
            <a:pPr algn="just"/>
            <a:r>
              <a:rPr lang="en-US" dirty="0" smtClean="0"/>
              <a:t> It is a conception of how a thing or reality or the state of affairs ought to be. </a:t>
            </a:r>
          </a:p>
          <a:p>
            <a:pPr algn="just"/>
            <a:r>
              <a:rPr lang="en-US" dirty="0" smtClean="0"/>
              <a:t>It is the basis for the choice of subjective goals, the means to achieve these goals and activities performed in order to achieve them.</a:t>
            </a:r>
          </a:p>
          <a:p>
            <a:pPr algn="just"/>
            <a:r>
              <a:rPr lang="en-US" dirty="0" smtClean="0"/>
              <a:t> A value is therefore an attitude toward reality that shows human beings their true wellbeing and the possibility of a life that can bring them the greatest and most sustainable happiness. </a:t>
            </a:r>
            <a:endParaRPr lang="en-US" dirty="0"/>
          </a:p>
        </p:txBody>
      </p:sp>
    </p:spTree>
    <p:extLst>
      <p:ext uri="{BB962C8B-B14F-4D97-AF65-F5344CB8AC3E}">
        <p14:creationId xmlns:p14="http://schemas.microsoft.com/office/powerpoint/2010/main" val="19761819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smtClean="0"/>
              <a:t> It indicates to human beings the value of life. Since a value is the conception of how things ought to be, it also implies the conception of how things ought not to be. </a:t>
            </a:r>
          </a:p>
          <a:p>
            <a:pPr algn="just"/>
            <a:r>
              <a:rPr lang="en-US" dirty="0" smtClean="0"/>
              <a:t> Values guide human conduct and efforts to improve life. As such values arise from conceptions of the kind of life or society that would be considered most worthwhile by and for its members.</a:t>
            </a:r>
          </a:p>
          <a:p>
            <a:endParaRPr lang="en-US" dirty="0"/>
          </a:p>
        </p:txBody>
      </p:sp>
    </p:spTree>
    <p:extLst>
      <p:ext uri="{BB962C8B-B14F-4D97-AF65-F5344CB8AC3E}">
        <p14:creationId xmlns:p14="http://schemas.microsoft.com/office/powerpoint/2010/main" val="41915929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smtClean="0"/>
              <a:t>They entail the kinds of behavior patterns or attitudes expected of each member of society in order to realize the most desirable life for its members and the continuous existence of society. </a:t>
            </a:r>
          </a:p>
          <a:p>
            <a:pPr algn="just"/>
            <a:r>
              <a:rPr lang="en-US" dirty="0" smtClean="0"/>
              <a:t> A society or a country needs to embrace and/or cherish certain fundamental values that would guarantee a happy life for its members and the sustenance of a country</a:t>
            </a:r>
            <a:endParaRPr lang="en-US" dirty="0"/>
          </a:p>
        </p:txBody>
      </p:sp>
    </p:spTree>
    <p:extLst>
      <p:ext uri="{BB962C8B-B14F-4D97-AF65-F5344CB8AC3E}">
        <p14:creationId xmlns:p14="http://schemas.microsoft.com/office/powerpoint/2010/main" val="280753085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141</TotalTime>
  <Words>780</Words>
  <Application>Microsoft Office PowerPoint</Application>
  <PresentationFormat>Custom</PresentationFormat>
  <Paragraphs>61</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Facet</vt:lpstr>
      <vt:lpstr>Governance and National Cohesion</vt:lpstr>
      <vt:lpstr>PowerPoint Presentation</vt:lpstr>
      <vt:lpstr>PowerPoint Presentation</vt:lpstr>
      <vt:lpstr>Indicators Of A Cohesive Society</vt:lpstr>
      <vt:lpstr>Challenges to Nurturing National Cohesion and National Values</vt:lpstr>
      <vt:lpstr> Approaches for Fostering Institutional Cohesion</vt:lpstr>
      <vt:lpstr>Benefits of a Cohesive And Integrated Nation</vt:lpstr>
      <vt:lpstr>Tools and Processes for Achieving National Cohesion</vt:lpstr>
      <vt:lpstr> National values and principles of governance  </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Governance and national cohesion</dc:title>
  <dc:creator>User</dc:creator>
  <cp:lastModifiedBy>MULTIPLE DIGITAL</cp:lastModifiedBy>
  <cp:revision>12</cp:revision>
  <dcterms:created xsi:type="dcterms:W3CDTF">2022-10-11T05:52:33Z</dcterms:created>
  <dcterms:modified xsi:type="dcterms:W3CDTF">2024-09-17T07:34:47Z</dcterms:modified>
</cp:coreProperties>
</file>