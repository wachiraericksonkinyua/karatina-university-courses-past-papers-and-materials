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>
        <p:scale>
          <a:sx n="89" d="100"/>
          <a:sy n="89" d="100"/>
        </p:scale>
        <p:origin x="-126" y="-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6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78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43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6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1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2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0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9891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13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1724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61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07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4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C15AA-CC05-420E-8DC0-F21C411D19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E0754BF-4727-4E0C-9FA1-28E04B942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5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Definition Of Key Concepts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smtClean="0"/>
              <a:t>Government</a:t>
            </a:r>
            <a:endParaRPr lang="en-US" sz="1400" b="1" dirty="0"/>
          </a:p>
          <a:p>
            <a:pPr algn="just"/>
            <a:r>
              <a:rPr lang="en-US" sz="1400" dirty="0"/>
              <a:t>The term government is a broad concept. It refers to “the group of people who control and </a:t>
            </a:r>
            <a:r>
              <a:rPr lang="en-US" sz="1400" dirty="0" smtClean="0"/>
              <a:t>make decisions </a:t>
            </a:r>
            <a:r>
              <a:rPr lang="en-US" sz="1400" dirty="0"/>
              <a:t>for a country, state, </a:t>
            </a:r>
            <a:r>
              <a:rPr lang="en-US" sz="1400" dirty="0" err="1"/>
              <a:t>etc</a:t>
            </a:r>
            <a:r>
              <a:rPr lang="en-US" sz="1400" dirty="0"/>
              <a:t>” or “a particular system used for controlling a country, </a:t>
            </a:r>
            <a:r>
              <a:rPr lang="en-US" sz="1400" dirty="0" smtClean="0"/>
              <a:t>state, </a:t>
            </a:r>
            <a:r>
              <a:rPr lang="en-US" sz="1400" dirty="0" err="1" smtClean="0"/>
              <a:t>etc</a:t>
            </a:r>
            <a:r>
              <a:rPr lang="en-US" sz="1400" dirty="0"/>
              <a:t>” or the 'the process or manner of controlling a country, state, etc.' In general, the </a:t>
            </a:r>
            <a:r>
              <a:rPr lang="en-US" sz="1400" dirty="0" smtClean="0"/>
              <a:t>government is </a:t>
            </a:r>
            <a:r>
              <a:rPr lang="en-US" sz="1400" dirty="0"/>
              <a:t>'responsible primarily for making public policy for an entire society.' The government </a:t>
            </a:r>
            <a:r>
              <a:rPr lang="en-US" sz="1400" dirty="0" smtClean="0"/>
              <a:t>forms the </a:t>
            </a:r>
            <a:r>
              <a:rPr lang="en-US" sz="1400" dirty="0"/>
              <a:t>policies that keep a particular society heading in the right direction</a:t>
            </a:r>
            <a:r>
              <a:rPr lang="en-US" sz="1400" dirty="0" smtClean="0"/>
              <a:t>.</a:t>
            </a:r>
          </a:p>
          <a:p>
            <a:pPr algn="just"/>
            <a:r>
              <a:rPr lang="en-US" sz="1400" dirty="0" smtClean="0"/>
              <a:t> </a:t>
            </a:r>
            <a:r>
              <a:rPr lang="en-US" sz="1400" dirty="0"/>
              <a:t>Institutions of </a:t>
            </a:r>
            <a:r>
              <a:rPr lang="en-US" sz="1400" dirty="0" smtClean="0"/>
              <a:t>the government </a:t>
            </a:r>
            <a:r>
              <a:rPr lang="en-US" sz="1400" dirty="0"/>
              <a:t>'regulate the relationships among members of a society and between the society </a:t>
            </a:r>
            <a:r>
              <a:rPr lang="en-US" sz="1400" dirty="0" smtClean="0"/>
              <a:t>and outsiders</a:t>
            </a:r>
            <a:r>
              <a:rPr lang="en-US" sz="1400" dirty="0"/>
              <a:t>' and that they 'have the authority to make decisions for the society' to meet goals </a:t>
            </a:r>
            <a:r>
              <a:rPr lang="en-US" sz="1400" dirty="0" smtClean="0"/>
              <a:t>and maintain </a:t>
            </a:r>
            <a:r>
              <a:rPr lang="en-US" sz="1400" dirty="0"/>
              <a:t>order.</a:t>
            </a:r>
          </a:p>
          <a:p>
            <a:pPr algn="just"/>
            <a:r>
              <a:rPr lang="en-US" sz="1400" dirty="0"/>
              <a:t>Whatever the case, whether referring to the system or institutions in operation, the group </a:t>
            </a:r>
            <a:r>
              <a:rPr lang="en-US" sz="1400" dirty="0" smtClean="0"/>
              <a:t>of people </a:t>
            </a:r>
            <a:r>
              <a:rPr lang="en-US" sz="1400" dirty="0"/>
              <a:t>in charge, or the process in use, is the authority that sets rules for a society, helps </a:t>
            </a:r>
            <a:r>
              <a:rPr lang="en-US" sz="1400" dirty="0" smtClean="0"/>
              <a:t>its members </a:t>
            </a:r>
            <a:r>
              <a:rPr lang="en-US" sz="1400" dirty="0"/>
              <a:t>relate to one another and </a:t>
            </a:r>
            <a:r>
              <a:rPr lang="en-US" sz="1400" dirty="0" smtClean="0"/>
              <a:t>with </a:t>
            </a:r>
            <a:r>
              <a:rPr lang="en-US" sz="1400" dirty="0"/>
              <a:t>others, and keeps it running smoothly, securely, </a:t>
            </a:r>
            <a:r>
              <a:rPr lang="en-US" sz="1400" dirty="0" smtClean="0"/>
              <a:t>and peacefully</a:t>
            </a:r>
            <a:r>
              <a:rPr lang="en-US" sz="1400" dirty="0"/>
              <a:t>. There are various forms of government ranging from liberal multi-party </a:t>
            </a:r>
            <a:r>
              <a:rPr lang="en-US" sz="1400" dirty="0" err="1" smtClean="0"/>
              <a:t>democracies,monarchy</a:t>
            </a:r>
            <a:r>
              <a:rPr lang="en-US" sz="1400" dirty="0"/>
              <a:t>, one party system, authoritarian/dictatorship, military, theocracy, etc. Kenya has </a:t>
            </a:r>
            <a:r>
              <a:rPr lang="en-US" sz="1400" dirty="0" smtClean="0"/>
              <a:t>a democratic </a:t>
            </a:r>
            <a:r>
              <a:rPr lang="en-US" sz="1400" dirty="0"/>
              <a:t>form of government where citizens elect the government every five years.</a:t>
            </a:r>
          </a:p>
        </p:txBody>
      </p:sp>
    </p:spTree>
    <p:extLst>
      <p:ext uri="{BB962C8B-B14F-4D97-AF65-F5344CB8AC3E}">
        <p14:creationId xmlns:p14="http://schemas.microsoft.com/office/powerpoint/2010/main" val="1513624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331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104900"/>
            <a:ext cx="8915400" cy="4806322"/>
          </a:xfrm>
        </p:spPr>
        <p:txBody>
          <a:bodyPr>
            <a:noAutofit/>
          </a:bodyPr>
          <a:lstStyle/>
          <a:p>
            <a:pPr marL="914400" lvl="2" indent="0" algn="just">
              <a:buNone/>
            </a:pPr>
            <a:r>
              <a:rPr lang="en-US" sz="1200" dirty="0"/>
              <a:t>A state may be defined as a politically organized body of people inhabiting a </a:t>
            </a:r>
            <a:r>
              <a:rPr lang="en-US" sz="1200" dirty="0" smtClean="0"/>
              <a:t>defined geographical </a:t>
            </a:r>
            <a:r>
              <a:rPr lang="en-US" sz="1200" dirty="0"/>
              <a:t>entity with an organized legitimate government. A state must be free from all </a:t>
            </a:r>
            <a:r>
              <a:rPr lang="en-US" sz="1200" dirty="0" smtClean="0"/>
              <a:t>forms of </a:t>
            </a:r>
            <a:r>
              <a:rPr lang="en-US" sz="1200" dirty="0"/>
              <a:t>external control to exercise its sovereignty within its area of jurisdiction. A </a:t>
            </a:r>
            <a:r>
              <a:rPr lang="en-US" sz="1200" dirty="0" smtClean="0"/>
              <a:t>properly constituted </a:t>
            </a:r>
            <a:r>
              <a:rPr lang="en-US" sz="1200" dirty="0"/>
              <a:t>state has the following features.</a:t>
            </a:r>
          </a:p>
          <a:p>
            <a:pPr marL="0" indent="0" algn="just">
              <a:buNone/>
            </a:pPr>
            <a:r>
              <a:rPr lang="en-US" sz="1200" dirty="0"/>
              <a:t>1. </a:t>
            </a:r>
            <a:r>
              <a:rPr lang="en-US" sz="1200" b="1" dirty="0"/>
              <a:t>Population: </a:t>
            </a:r>
            <a:r>
              <a:rPr lang="en-US" sz="1200" dirty="0"/>
              <a:t>The most obvious essential feature of a state is its people. “States where </a:t>
            </a:r>
            <a:r>
              <a:rPr lang="en-US" sz="1200" dirty="0" smtClean="0"/>
              <a:t>the population </a:t>
            </a:r>
            <a:r>
              <a:rPr lang="en-US" sz="1200" dirty="0"/>
              <a:t>shares a general political and social consensus (an agreement) about </a:t>
            </a:r>
            <a:r>
              <a:rPr lang="en-US" sz="1200" dirty="0" smtClean="0"/>
              <a:t>basic beliefs</a:t>
            </a:r>
            <a:r>
              <a:rPr lang="en-US" sz="1200" dirty="0"/>
              <a:t>, have the most stable governments.”</a:t>
            </a:r>
          </a:p>
          <a:p>
            <a:pPr marL="0" indent="0" algn="just">
              <a:buNone/>
            </a:pPr>
            <a:r>
              <a:rPr lang="en-US" sz="1200" dirty="0"/>
              <a:t>2. </a:t>
            </a:r>
            <a:r>
              <a:rPr lang="en-US" sz="1200" b="1" dirty="0"/>
              <a:t>Territory: </a:t>
            </a:r>
            <a:r>
              <a:rPr lang="en-US" sz="1200" dirty="0"/>
              <a:t>A state or country or city has certain boundaries. Conflicts can arise </a:t>
            </a:r>
            <a:r>
              <a:rPr lang="en-US" sz="1200" dirty="0" smtClean="0"/>
              <a:t>between states </a:t>
            </a:r>
            <a:r>
              <a:rPr lang="en-US" sz="1200" dirty="0"/>
              <a:t>and countries over where borders should be placed. Boundaries can also </a:t>
            </a:r>
            <a:r>
              <a:rPr lang="en-US" sz="1200" dirty="0" smtClean="0"/>
              <a:t>be changed </a:t>
            </a:r>
            <a:r>
              <a:rPr lang="en-US" sz="1200" dirty="0"/>
              <a:t>due to war, purchase or territory, or negotiations between governments.</a:t>
            </a:r>
          </a:p>
          <a:p>
            <a:pPr marL="0" indent="0" algn="just">
              <a:buNone/>
            </a:pPr>
            <a:r>
              <a:rPr lang="en-US" sz="1200" dirty="0"/>
              <a:t>3. </a:t>
            </a:r>
            <a:r>
              <a:rPr lang="en-US" sz="1200" b="1" dirty="0"/>
              <a:t>Sovereignty: </a:t>
            </a:r>
            <a:r>
              <a:rPr lang="en-US" sz="1200" dirty="0"/>
              <a:t>Political sovereignty means the state has absolute supreme authority </a:t>
            </a:r>
            <a:r>
              <a:rPr lang="en-US" sz="1200" dirty="0" smtClean="0"/>
              <a:t>within the </a:t>
            </a:r>
            <a:r>
              <a:rPr lang="en-US" sz="1200" dirty="0"/>
              <a:t>boundary of its territory. It can make laws, shape foreign policy, and make its </a:t>
            </a:r>
            <a:r>
              <a:rPr lang="en-US" sz="1200" dirty="0" smtClean="0"/>
              <a:t>own actions </a:t>
            </a:r>
            <a:r>
              <a:rPr lang="en-US" sz="1200" dirty="0"/>
              <a:t>without the approval of a higher authority.</a:t>
            </a:r>
          </a:p>
          <a:p>
            <a:pPr marL="0" indent="0" algn="just">
              <a:buNone/>
            </a:pPr>
            <a:r>
              <a:rPr lang="en-US" sz="1200" dirty="0"/>
              <a:t>4. </a:t>
            </a:r>
            <a:r>
              <a:rPr lang="en-US" sz="1200" b="1" dirty="0"/>
              <a:t>Government: </a:t>
            </a:r>
            <a:r>
              <a:rPr lang="en-US" sz="1200" dirty="0"/>
              <a:t>A government “is the institution through which the state maintains </a:t>
            </a:r>
            <a:r>
              <a:rPr lang="en-US" sz="1200" dirty="0" smtClean="0"/>
              <a:t>social order</a:t>
            </a:r>
            <a:r>
              <a:rPr lang="en-US" sz="1200" dirty="0"/>
              <a:t>, provides public services, and enforces decisions that are binding on its citizens.”</a:t>
            </a:r>
          </a:p>
          <a:p>
            <a:pPr marL="0" indent="0" algn="just">
              <a:buNone/>
            </a:pPr>
            <a:r>
              <a:rPr lang="en-US" sz="1200" dirty="0"/>
              <a:t>5. </a:t>
            </a:r>
            <a:r>
              <a:rPr lang="en-US" sz="1200" b="1" dirty="0"/>
              <a:t>Permanence: </a:t>
            </a:r>
            <a:r>
              <a:rPr lang="en-US" sz="1200" dirty="0"/>
              <a:t>A state must be relatively permanent, unlike the government </a:t>
            </a:r>
            <a:r>
              <a:rPr lang="en-US" sz="1200" dirty="0" smtClean="0"/>
              <a:t>which changes </a:t>
            </a:r>
            <a:r>
              <a:rPr lang="en-US" sz="1200" dirty="0"/>
              <a:t>from time to time. This permanence makes it possible for a state to develop as </a:t>
            </a:r>
            <a:r>
              <a:rPr lang="en-US" sz="1200" dirty="0" smtClean="0"/>
              <a:t>it should</a:t>
            </a:r>
            <a:r>
              <a:rPr lang="en-US" sz="1200" dirty="0"/>
              <a:t>.</a:t>
            </a:r>
          </a:p>
          <a:p>
            <a:pPr marL="0" indent="0" algn="just">
              <a:buNone/>
            </a:pPr>
            <a:r>
              <a:rPr lang="en-US" sz="1200" dirty="0"/>
              <a:t>6. </a:t>
            </a:r>
            <a:r>
              <a:rPr lang="en-US" sz="1200" b="1" dirty="0"/>
              <a:t>Recognition: </a:t>
            </a:r>
            <a:r>
              <a:rPr lang="en-US" sz="1200" dirty="0"/>
              <a:t>For a territory to be called a state, it must be recognized by other states </a:t>
            </a:r>
            <a:r>
              <a:rPr lang="en-US" sz="1200" dirty="0" smtClean="0"/>
              <a:t>and international </a:t>
            </a:r>
            <a:r>
              <a:rPr lang="en-US" sz="1200" dirty="0"/>
              <a:t>organizations that surrounds it. This recognition will hinder any form </a:t>
            </a:r>
            <a:r>
              <a:rPr lang="en-US" sz="1200" dirty="0" smtClean="0"/>
              <a:t>of violence </a:t>
            </a:r>
            <a:r>
              <a:rPr lang="en-US" sz="1200" dirty="0"/>
              <a:t>or war for boundaries and the likes. In the sphere of international relations </a:t>
            </a:r>
            <a:r>
              <a:rPr lang="en-US" sz="1200" dirty="0" smtClean="0"/>
              <a:t>its four </a:t>
            </a:r>
            <a:r>
              <a:rPr lang="en-US" sz="1200" dirty="0"/>
              <a:t>basic credentials nationalism, territorial integrity, sovereignty and legal equality </a:t>
            </a:r>
            <a:r>
              <a:rPr lang="en-US" sz="1200" dirty="0" smtClean="0"/>
              <a:t>are fully </a:t>
            </a:r>
            <a:r>
              <a:rPr lang="en-US" sz="1200" dirty="0"/>
              <a:t>recognized.</a:t>
            </a:r>
          </a:p>
        </p:txBody>
      </p:sp>
    </p:spTree>
    <p:extLst>
      <p:ext uri="{BB962C8B-B14F-4D97-AF65-F5344CB8AC3E}">
        <p14:creationId xmlns:p14="http://schemas.microsoft.com/office/powerpoint/2010/main" val="4044653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57325"/>
            <a:ext cx="8915400" cy="445389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 smtClean="0"/>
              <a:t>A </a:t>
            </a:r>
            <a:r>
              <a:rPr lang="en-US" dirty="0"/>
              <a:t>nation can be defined as : ‘a human group conscious of forming a community, sharing </a:t>
            </a:r>
            <a:r>
              <a:rPr lang="en-US" dirty="0" smtClean="0"/>
              <a:t>a common culture</a:t>
            </a:r>
            <a:r>
              <a:rPr lang="en-US" dirty="0"/>
              <a:t>, attached to a clearly demarcated territory, having a common past and </a:t>
            </a:r>
            <a:r>
              <a:rPr lang="en-US" dirty="0" smtClean="0"/>
              <a:t>a common </a:t>
            </a:r>
            <a:r>
              <a:rPr lang="en-US" dirty="0"/>
              <a:t>project for the future and claiming the right to rule itself</a:t>
            </a:r>
            <a:r>
              <a:rPr lang="en-US" dirty="0" smtClean="0"/>
              <a:t>.’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/>
              <a:t>A nation can </a:t>
            </a:r>
            <a:r>
              <a:rPr lang="en-US" i="1" dirty="0"/>
              <a:t>objectively </a:t>
            </a:r>
            <a:r>
              <a:rPr lang="en-US" dirty="0" smtClean="0"/>
              <a:t>be defined </a:t>
            </a:r>
            <a:r>
              <a:rPr lang="en-US" dirty="0"/>
              <a:t>as a group of people which possesses a shared and distinct, historically persistent </a:t>
            </a:r>
            <a:r>
              <a:rPr lang="en-US" dirty="0" smtClean="0"/>
              <a:t>cultural identity</a:t>
            </a:r>
            <a:r>
              <a:rPr lang="en-US" dirty="0"/>
              <a:t>, and which makes up a majority within a given territorial area.</a:t>
            </a:r>
          </a:p>
          <a:p>
            <a:pPr marL="0" indent="0" algn="just">
              <a:buNone/>
            </a:pPr>
            <a:r>
              <a:rPr lang="en-US" b="1" dirty="0" smtClean="0"/>
              <a:t>Characteristics Of a Nation</a:t>
            </a:r>
          </a:p>
          <a:p>
            <a:pPr marL="0" indent="0" algn="just">
              <a:buNone/>
            </a:pPr>
            <a:r>
              <a:rPr lang="en-US" dirty="0" smtClean="0"/>
              <a:t> </a:t>
            </a:r>
            <a:r>
              <a:rPr lang="en-US" dirty="0"/>
              <a:t>It is descended from one ancestor/founder. Others may be occasionally grafted on </a:t>
            </a:r>
            <a:r>
              <a:rPr lang="en-US" dirty="0" smtClean="0"/>
              <a:t>the original stock </a:t>
            </a:r>
            <a:r>
              <a:rPr lang="en-US" dirty="0"/>
              <a:t>by intermarriage.</a:t>
            </a:r>
          </a:p>
          <a:p>
            <a:pPr marL="0" indent="0" algn="just">
              <a:buNone/>
            </a:pPr>
            <a:r>
              <a:rPr lang="en-US" dirty="0"/>
              <a:t> A nation has a country or "land" which it calls its own e.g. Israel/Jews.</a:t>
            </a:r>
          </a:p>
          <a:p>
            <a:pPr marL="0" indent="0" algn="just">
              <a:buNone/>
            </a:pPr>
            <a:r>
              <a:rPr lang="en-US" dirty="0"/>
              <a:t> A nation has its own "language." This constitutes at once its unity in itself and </a:t>
            </a:r>
            <a:r>
              <a:rPr lang="en-US" dirty="0" smtClean="0"/>
              <a:t>its separation </a:t>
            </a:r>
            <a:r>
              <a:rPr lang="en-US" dirty="0"/>
              <a:t>from others.</a:t>
            </a:r>
          </a:p>
          <a:p>
            <a:pPr marL="0" indent="0" algn="just">
              <a:buNone/>
            </a:pPr>
            <a:r>
              <a:rPr lang="en-US" dirty="0"/>
              <a:t> A nation is composed of many "families," clans, or tribes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05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Ethnicity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1037" y="1304925"/>
            <a:ext cx="8915400" cy="4301497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US" sz="5600" dirty="0" smtClean="0"/>
              <a:t>An </a:t>
            </a:r>
            <a:r>
              <a:rPr lang="en-US" sz="5600" dirty="0"/>
              <a:t>‘ethnic group’ can be defined as a group that regards itself or is regarded by others as </a:t>
            </a:r>
            <a:r>
              <a:rPr lang="en-US" sz="5600" dirty="0" smtClean="0"/>
              <a:t>a distinct </a:t>
            </a:r>
            <a:r>
              <a:rPr lang="en-US" sz="5600" dirty="0"/>
              <a:t>community by virtue of certain characteristics that will help to distinguish the </a:t>
            </a:r>
            <a:r>
              <a:rPr lang="en-US" sz="5600" dirty="0" smtClean="0"/>
              <a:t>group from </a:t>
            </a:r>
            <a:r>
              <a:rPr lang="en-US" sz="5600" dirty="0"/>
              <a:t>the surrounding community. Thus group share a similar culture (beliefs, values, </a:t>
            </a:r>
            <a:r>
              <a:rPr lang="en-US" sz="5600" dirty="0" smtClean="0"/>
              <a:t>and behaviors</a:t>
            </a:r>
            <a:r>
              <a:rPr lang="en-US" sz="5600" dirty="0"/>
              <a:t>, traditions), language, religion, ancestry/common origin or other characteristic that </a:t>
            </a:r>
            <a:r>
              <a:rPr lang="en-US" sz="5600" dirty="0" smtClean="0"/>
              <a:t>is often </a:t>
            </a:r>
            <a:r>
              <a:rPr lang="en-US" sz="5600" dirty="0"/>
              <a:t>handed down from one generation to the next. </a:t>
            </a:r>
            <a:endParaRPr lang="en-US" sz="5600" dirty="0" smtClean="0"/>
          </a:p>
          <a:p>
            <a:pPr marL="0" indent="0" algn="just">
              <a:buNone/>
            </a:pPr>
            <a:r>
              <a:rPr lang="en-US" sz="5600" dirty="0" smtClean="0"/>
              <a:t>They </a:t>
            </a:r>
            <a:r>
              <a:rPr lang="en-US" sz="5600" dirty="0"/>
              <a:t>may come from the same country </a:t>
            </a:r>
            <a:r>
              <a:rPr lang="en-US" sz="5600" dirty="0" smtClean="0"/>
              <a:t>or live </a:t>
            </a:r>
            <a:r>
              <a:rPr lang="en-US" sz="5600" dirty="0"/>
              <a:t>together in the same area. Such traits contribute to a person or group’s identity.</a:t>
            </a:r>
          </a:p>
          <a:p>
            <a:pPr marL="0" indent="0" algn="just">
              <a:buNone/>
            </a:pPr>
            <a:r>
              <a:rPr lang="en-US" sz="5600" dirty="0"/>
              <a:t>Ethnicity has been described as based on:</a:t>
            </a:r>
          </a:p>
          <a:p>
            <a:pPr marL="0" indent="0" algn="just">
              <a:buNone/>
            </a:pPr>
            <a:r>
              <a:rPr lang="en-US" sz="5600" b="1" dirty="0"/>
              <a:t>• </a:t>
            </a:r>
            <a:r>
              <a:rPr lang="en-US" sz="5600" dirty="0"/>
              <a:t>The belief by members of a social group that they are culturally distinctive and different </a:t>
            </a:r>
            <a:r>
              <a:rPr lang="en-US" sz="5600" dirty="0" smtClean="0"/>
              <a:t>to outsiders</a:t>
            </a:r>
            <a:r>
              <a:rPr lang="en-US" sz="5600" dirty="0"/>
              <a:t>.</a:t>
            </a:r>
          </a:p>
          <a:p>
            <a:pPr marL="0" indent="0" algn="just">
              <a:buNone/>
            </a:pPr>
            <a:r>
              <a:rPr lang="en-US" sz="5600" b="1" dirty="0"/>
              <a:t>• </a:t>
            </a:r>
            <a:r>
              <a:rPr lang="en-US" sz="5600" dirty="0"/>
              <a:t>Their willingness to find symbolic markers of that difference (food habits, religion, </a:t>
            </a:r>
            <a:r>
              <a:rPr lang="en-US" sz="5600" dirty="0" smtClean="0"/>
              <a:t>mode of dressing, </a:t>
            </a:r>
            <a:r>
              <a:rPr lang="en-US" sz="5600" dirty="0"/>
              <a:t>language) and to emphasize their significance.</a:t>
            </a:r>
          </a:p>
          <a:p>
            <a:pPr marL="0" indent="0" algn="just">
              <a:buNone/>
            </a:pPr>
            <a:r>
              <a:rPr lang="en-US" sz="5600" b="1" dirty="0"/>
              <a:t>• </a:t>
            </a:r>
            <a:r>
              <a:rPr lang="en-US" sz="5600" dirty="0"/>
              <a:t>Their willingness to organize relationships with outsiders so that a kind of ‘group boundary’ </a:t>
            </a:r>
            <a:r>
              <a:rPr lang="en-US" sz="5600" dirty="0" smtClean="0"/>
              <a:t>is preserved </a:t>
            </a:r>
            <a:r>
              <a:rPr lang="en-US" sz="5600" dirty="0"/>
              <a:t>and reproduced –i.e.” </a:t>
            </a:r>
            <a:r>
              <a:rPr lang="en-US" sz="5600" dirty="0" err="1"/>
              <a:t>ingroup-outgroup</a:t>
            </a:r>
            <a:r>
              <a:rPr lang="en-US" sz="5600" dirty="0"/>
              <a:t>” dichotomy or “us-them” distinction.</a:t>
            </a:r>
          </a:p>
          <a:p>
            <a:pPr marL="0" indent="0" algn="just">
              <a:buNone/>
            </a:pPr>
            <a:r>
              <a:rPr lang="en-US" sz="5600" dirty="0"/>
              <a:t>Ethnicity is not necessarily genetic. An individual might describe themselves by an </a:t>
            </a:r>
            <a:r>
              <a:rPr lang="en-US" sz="5600" dirty="0" smtClean="0"/>
              <a:t>ethnicity different </a:t>
            </a:r>
            <a:r>
              <a:rPr lang="en-US" sz="5600" dirty="0"/>
              <a:t>to their birth identity if they reside for a considerable time in a different area and </a:t>
            </a:r>
            <a:r>
              <a:rPr lang="en-US" sz="5600" dirty="0" smtClean="0"/>
              <a:t>they decide </a:t>
            </a:r>
            <a:r>
              <a:rPr lang="en-US" sz="5600" dirty="0"/>
              <a:t>to adopt the culture, symbols and relationships of their new community. </a:t>
            </a:r>
            <a:endParaRPr lang="en-US" sz="5600" dirty="0" smtClean="0"/>
          </a:p>
          <a:p>
            <a:pPr marL="0" indent="0" algn="just">
              <a:buNone/>
            </a:pPr>
            <a:r>
              <a:rPr lang="en-US" sz="5600" dirty="0" smtClean="0"/>
              <a:t>Ethnicity </a:t>
            </a:r>
            <a:r>
              <a:rPr lang="en-US" sz="5600" dirty="0"/>
              <a:t>is </a:t>
            </a:r>
            <a:r>
              <a:rPr lang="en-US" sz="5600" dirty="0" smtClean="0"/>
              <a:t>also a </a:t>
            </a:r>
            <a:r>
              <a:rPr lang="en-US" sz="5600" dirty="0"/>
              <a:t>preferential term to describe the difference between humans rather than ‘race’. This is </a:t>
            </a:r>
            <a:r>
              <a:rPr lang="en-US" sz="5600" dirty="0" err="1" smtClean="0"/>
              <a:t>because‘race</a:t>
            </a:r>
            <a:r>
              <a:rPr lang="en-US" sz="5600" dirty="0"/>
              <a:t>’ is a genetically identical</a:t>
            </a:r>
            <a:r>
              <a:rPr lang="en-US" sz="5600" dirty="0" smtClean="0"/>
              <a:t>.</a:t>
            </a:r>
            <a:endParaRPr lang="en-US" sz="5600" dirty="0"/>
          </a:p>
        </p:txBody>
      </p:sp>
    </p:spTree>
    <p:extLst>
      <p:ext uri="{BB962C8B-B14F-4D97-AF65-F5344CB8AC3E}">
        <p14:creationId xmlns:p14="http://schemas.microsoft.com/office/powerpoint/2010/main" val="128439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9504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987" y="1000125"/>
            <a:ext cx="8915400" cy="539115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Negative ethnicity (tribalism) is a major challenge in many African countries in many </a:t>
            </a:r>
            <a:r>
              <a:rPr lang="en-US" dirty="0" smtClean="0"/>
              <a:t>African countries</a:t>
            </a:r>
            <a:r>
              <a:rPr lang="en-US" dirty="0"/>
              <a:t>, including Kenya. Negative ethnicity refers to a situation where members of a </a:t>
            </a:r>
            <a:r>
              <a:rPr lang="en-US" dirty="0" smtClean="0"/>
              <a:t>given group </a:t>
            </a:r>
            <a:r>
              <a:rPr lang="en-US" dirty="0"/>
              <a:t>are proud of their ethnic group identity and culture while they look down upon </a:t>
            </a:r>
            <a:r>
              <a:rPr lang="en-US" dirty="0" smtClean="0"/>
              <a:t>other ethnic </a:t>
            </a:r>
            <a:r>
              <a:rPr lang="en-US" dirty="0"/>
              <a:t>groups.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They </a:t>
            </a:r>
            <a:r>
              <a:rPr lang="en-US" dirty="0"/>
              <a:t>consider their group as the best and others as useless. Positive ethnicity </a:t>
            </a:r>
            <a:r>
              <a:rPr lang="en-US" dirty="0" smtClean="0"/>
              <a:t>is where </a:t>
            </a:r>
            <a:r>
              <a:rPr lang="en-US" dirty="0"/>
              <a:t>people are proud and value their culture, traditions, history </a:t>
            </a:r>
            <a:r>
              <a:rPr lang="en-US" dirty="0" err="1"/>
              <a:t>etc</a:t>
            </a:r>
            <a:r>
              <a:rPr lang="en-US" dirty="0"/>
              <a:t> but still respecting </a:t>
            </a:r>
            <a:r>
              <a:rPr lang="en-US" dirty="0" smtClean="0"/>
              <a:t>other groups </a:t>
            </a:r>
            <a:r>
              <a:rPr lang="en-US" dirty="0"/>
              <a:t>and cultures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/>
              <a:t>Negative ethnicity or its perception brings about marginalization, </a:t>
            </a:r>
            <a:r>
              <a:rPr lang="en-US" dirty="0" smtClean="0"/>
              <a:t>distrust and </a:t>
            </a:r>
            <a:r>
              <a:rPr lang="en-US" dirty="0"/>
              <a:t>heightens ethnic tensions and this can eventually leads to conflict or post-election </a:t>
            </a:r>
            <a:r>
              <a:rPr lang="en-US" dirty="0" smtClean="0"/>
              <a:t>violence over </a:t>
            </a:r>
            <a:r>
              <a:rPr lang="en-US" dirty="0"/>
              <a:t>the sharing and allocation of power and national resources.</a:t>
            </a:r>
          </a:p>
          <a:p>
            <a:pPr marL="0" indent="0" algn="just">
              <a:buNone/>
            </a:pPr>
            <a:r>
              <a:rPr lang="en-US" dirty="0"/>
              <a:t>Negative ethnicity refers to the deep-seated tensions between ethnic groups. It’s ethnicity </a:t>
            </a:r>
            <a:r>
              <a:rPr lang="en-US" dirty="0" smtClean="0"/>
              <a:t>that can </a:t>
            </a:r>
            <a:r>
              <a:rPr lang="en-US" dirty="0"/>
              <a:t>used to injure, frustrate, ridicule and demean one ethnic group against another.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dirty="0" smtClean="0"/>
              <a:t>also when </a:t>
            </a:r>
            <a:r>
              <a:rPr lang="en-US" dirty="0"/>
              <a:t>one ethnic group engages in negative competition with another ethnic group with an aim </a:t>
            </a:r>
            <a:r>
              <a:rPr lang="en-US" dirty="0" smtClean="0"/>
              <a:t>of either </a:t>
            </a:r>
            <a:r>
              <a:rPr lang="en-US" dirty="0"/>
              <a:t>suppressing the other or painting the wrong image of the other through </a:t>
            </a:r>
            <a:r>
              <a:rPr lang="en-US" dirty="0" smtClean="0"/>
              <a:t>stereotyping, discriminating </a:t>
            </a:r>
            <a:r>
              <a:rPr lang="en-US" dirty="0"/>
              <a:t>or ignoring them through little or none inclusivity.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 </a:t>
            </a:r>
            <a:r>
              <a:rPr lang="en-US" dirty="0"/>
              <a:t>effective </a:t>
            </a:r>
            <a:r>
              <a:rPr lang="en-US" dirty="0" smtClean="0"/>
              <a:t>inter-ethnic cooperation </a:t>
            </a:r>
            <a:r>
              <a:rPr lang="en-US" dirty="0"/>
              <a:t>or positive relationship can take place where there is negative ethnicity.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23868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496</TotalTime>
  <Words>1196</Words>
  <Application>Microsoft Office PowerPoint</Application>
  <PresentationFormat>Custom</PresentationFormat>
  <Paragraphs>36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Wisp</vt:lpstr>
      <vt:lpstr> Definition Of Key Concepts</vt:lpstr>
      <vt:lpstr>State</vt:lpstr>
      <vt:lpstr>Nation</vt:lpstr>
      <vt:lpstr>Ethnicity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Definition Of Key Concepts</dc:title>
  <dc:creator>DEAN-SOB</dc:creator>
  <cp:lastModifiedBy>MULTIPLE DIGITAL</cp:lastModifiedBy>
  <cp:revision>11</cp:revision>
  <dcterms:created xsi:type="dcterms:W3CDTF">2022-09-12T12:33:47Z</dcterms:created>
  <dcterms:modified xsi:type="dcterms:W3CDTF">2024-09-04T08:27:46Z</dcterms:modified>
</cp:coreProperties>
</file>