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71" r:id="rId7"/>
    <p:sldId id="263" r:id="rId8"/>
    <p:sldId id="267" r:id="rId9"/>
    <p:sldId id="264" r:id="rId10"/>
    <p:sldId id="272" r:id="rId11"/>
    <p:sldId id="288" r:id="rId12"/>
    <p:sldId id="273" r:id="rId13"/>
    <p:sldId id="289" r:id="rId14"/>
    <p:sldId id="274" r:id="rId15"/>
    <p:sldId id="290" r:id="rId16"/>
    <p:sldId id="275" r:id="rId17"/>
    <p:sldId id="283" r:id="rId18"/>
    <p:sldId id="276" r:id="rId19"/>
    <p:sldId id="284" r:id="rId20"/>
    <p:sldId id="277" r:id="rId21"/>
    <p:sldId id="278" r:id="rId22"/>
    <p:sldId id="279" r:id="rId23"/>
    <p:sldId id="285" r:id="rId24"/>
    <p:sldId id="286" r:id="rId25"/>
    <p:sldId id="287" r:id="rId26"/>
    <p:sldId id="291" r:id="rId27"/>
    <p:sldId id="297" r:id="rId28"/>
    <p:sldId id="292" r:id="rId29"/>
    <p:sldId id="293" r:id="rId30"/>
    <p:sldId id="298" r:id="rId31"/>
    <p:sldId id="294" r:id="rId32"/>
    <p:sldId id="299" r:id="rId33"/>
    <p:sldId id="300" r:id="rId34"/>
    <p:sldId id="295" r:id="rId35"/>
    <p:sldId id="29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2909005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237424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4200985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B2A497B-E904-489E-8961-85D12580F3CA}"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99942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2A497B-E904-489E-8961-85D12580F3CA}"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78648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B2A497B-E904-489E-8961-85D12580F3CA}"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864040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2A497B-E904-489E-8961-85D12580F3CA}" type="datetimeFigureOut">
              <a:rPr lang="en-US" smtClean="0"/>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2567964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2A497B-E904-489E-8961-85D12580F3CA}"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255491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B2A497B-E904-489E-8961-85D12580F3CA}"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3374743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31249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023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2408420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14961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3325734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672505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B2A497B-E904-489E-8961-85D12580F3CA}"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BD5520-4ABB-4E27-BA00-EEAA341EB4EF}" type="slidenum">
              <a:rPr lang="en-US" smtClean="0"/>
              <a:t>‹#›</a:t>
            </a:fld>
            <a:endParaRPr lang="en-US"/>
          </a:p>
        </p:txBody>
      </p:sp>
    </p:spTree>
    <p:extLst>
      <p:ext uri="{BB962C8B-B14F-4D97-AF65-F5344CB8AC3E}">
        <p14:creationId xmlns:p14="http://schemas.microsoft.com/office/powerpoint/2010/main" val="108577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B2A497B-E904-489E-8961-85D12580F3CA}" type="datetimeFigureOut">
              <a:rPr lang="en-US" smtClean="0"/>
              <a:t>10/15/2024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BD5520-4ABB-4E27-BA00-EEAA341EB4EF}" type="slidenum">
              <a:rPr lang="en-US" smtClean="0"/>
              <a:t>‹#›</a:t>
            </a:fld>
            <a:endParaRPr lang="en-US"/>
          </a:p>
        </p:txBody>
      </p:sp>
    </p:spTree>
    <p:extLst>
      <p:ext uri="{BB962C8B-B14F-4D97-AF65-F5344CB8AC3E}">
        <p14:creationId xmlns:p14="http://schemas.microsoft.com/office/powerpoint/2010/main" val="1646905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that undermine national unity</a:t>
            </a:r>
            <a:endParaRPr lang="en-US" dirty="0"/>
          </a:p>
        </p:txBody>
      </p:sp>
      <p:sp>
        <p:nvSpPr>
          <p:cNvPr id="3" name="Content Placeholder 2"/>
          <p:cNvSpPr>
            <a:spLocks noGrp="1"/>
          </p:cNvSpPr>
          <p:nvPr>
            <p:ph idx="1"/>
          </p:nvPr>
        </p:nvSpPr>
        <p:spPr/>
        <p:txBody>
          <a:bodyPr/>
          <a:lstStyle/>
          <a:p>
            <a:pPr algn="just">
              <a:buFont typeface="Wingdings" panose="05000000000000000000" pitchFamily="2" charset="2"/>
              <a:buChar char="ü"/>
            </a:pPr>
            <a:r>
              <a:rPr lang="en-US" dirty="0" smtClean="0"/>
              <a:t> Bad leadership: when leaders misuse their positions, they cause divisions among the people. For instance if a leader or the government openly shows </a:t>
            </a:r>
            <a:r>
              <a:rPr lang="en-US" dirty="0" err="1" smtClean="0"/>
              <a:t>favourism</a:t>
            </a:r>
            <a:r>
              <a:rPr lang="en-US" dirty="0" smtClean="0"/>
              <a:t> to certain group of people, it causes hatred among people thus undermining unity.</a:t>
            </a:r>
          </a:p>
          <a:p>
            <a:pPr algn="just">
              <a:buFont typeface="Wingdings" panose="05000000000000000000" pitchFamily="2" charset="2"/>
              <a:buChar char="ü"/>
            </a:pPr>
            <a:r>
              <a:rPr lang="en-US" dirty="0" smtClean="0"/>
              <a:t>  Power struggle: when there is power struggles between two individuals or two groups of people, it causes division in the society</a:t>
            </a:r>
            <a:endParaRPr lang="en-US" dirty="0"/>
          </a:p>
        </p:txBody>
      </p:sp>
    </p:spTree>
    <p:extLst>
      <p:ext uri="{BB962C8B-B14F-4D97-AF65-F5344CB8AC3E}">
        <p14:creationId xmlns:p14="http://schemas.microsoft.com/office/powerpoint/2010/main" val="3827911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677334" y="563881"/>
            <a:ext cx="8596668" cy="45719"/>
          </a:xfrm>
        </p:spPr>
        <p:txBody>
          <a:bodyPr>
            <a:normAutofit fontScale="90000"/>
          </a:bodyPr>
          <a:lstStyle/>
          <a:p>
            <a:endParaRPr lang="en-US" dirty="0"/>
          </a:p>
        </p:txBody>
      </p:sp>
      <p:sp>
        <p:nvSpPr>
          <p:cNvPr id="3" name="Content Placeholder 2"/>
          <p:cNvSpPr>
            <a:spLocks noGrp="1"/>
          </p:cNvSpPr>
          <p:nvPr>
            <p:ph idx="1"/>
          </p:nvPr>
        </p:nvSpPr>
        <p:spPr>
          <a:xfrm>
            <a:off x="158697" y="1003549"/>
            <a:ext cx="9353439" cy="4149381"/>
          </a:xfrm>
        </p:spPr>
        <p:txBody>
          <a:bodyPr>
            <a:normAutofit/>
          </a:bodyPr>
          <a:lstStyle/>
          <a:p>
            <a:pPr algn="just">
              <a:buFont typeface="Wingdings" panose="05000000000000000000" pitchFamily="2" charset="2"/>
              <a:buChar char="ü"/>
            </a:pPr>
            <a:r>
              <a:rPr lang="en-US" dirty="0" smtClean="0"/>
              <a:t>Racism: in a country where people belong to two or more races, </a:t>
            </a:r>
          </a:p>
          <a:p>
            <a:pPr algn="just">
              <a:buFont typeface="Wingdings" panose="05000000000000000000" pitchFamily="2" charset="2"/>
              <a:buChar char="ü"/>
            </a:pPr>
            <a:r>
              <a:rPr lang="en-US" dirty="0" smtClean="0"/>
              <a:t>it is important to avoid discrimination and treat all the races equally in provision of services and distribution of resources. This is in order to avoid suspicion and hatred and for the country to remain united.</a:t>
            </a:r>
          </a:p>
          <a:p>
            <a:pPr algn="just">
              <a:buFont typeface="Wingdings" panose="05000000000000000000" pitchFamily="2" charset="2"/>
              <a:buChar char="ü"/>
            </a:pPr>
            <a:r>
              <a:rPr lang="en-US" dirty="0" smtClean="0"/>
              <a:t> Tribalism and nepotism: when people have strong loyalty to their ethnic, family or regional identity, it causes hatred between members of different regions or groups. This is because people tend to </a:t>
            </a:r>
            <a:r>
              <a:rPr lang="en-US" dirty="0" err="1" smtClean="0"/>
              <a:t>favour</a:t>
            </a:r>
            <a:r>
              <a:rPr lang="en-US" dirty="0" smtClean="0"/>
              <a:t> their own when giving services and allocating resources. </a:t>
            </a:r>
            <a:endParaRPr lang="en-US" dirty="0"/>
          </a:p>
        </p:txBody>
      </p:sp>
    </p:spTree>
    <p:extLst>
      <p:ext uri="{BB962C8B-B14F-4D97-AF65-F5344CB8AC3E}">
        <p14:creationId xmlns:p14="http://schemas.microsoft.com/office/powerpoint/2010/main" val="201050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90330"/>
          </a:xfrm>
        </p:spPr>
        <p:txBody>
          <a:bodyPr>
            <a:normAutofit fontScale="90000"/>
          </a:bodyPr>
          <a:lstStyle/>
          <a:p>
            <a:endParaRPr lang="en-US" dirty="0"/>
          </a:p>
        </p:txBody>
      </p:sp>
      <p:sp>
        <p:nvSpPr>
          <p:cNvPr id="3" name="Content Placeholder 2"/>
          <p:cNvSpPr>
            <a:spLocks noGrp="1"/>
          </p:cNvSpPr>
          <p:nvPr>
            <p:ph idx="1"/>
          </p:nvPr>
        </p:nvSpPr>
        <p:spPr>
          <a:xfrm>
            <a:off x="677334" y="1457739"/>
            <a:ext cx="8596668" cy="4583624"/>
          </a:xfrm>
        </p:spPr>
        <p:txBody>
          <a:bodyPr/>
          <a:lstStyle/>
          <a:p>
            <a:pPr algn="just">
              <a:buFont typeface="Wingdings" panose="05000000000000000000" pitchFamily="2" charset="2"/>
              <a:buChar char="ü"/>
            </a:pPr>
            <a:r>
              <a:rPr lang="en-US" dirty="0" smtClean="0"/>
              <a:t>Scarcity of resources: if the resources that people depend on are in short supply, people compete for little that is available and this may lead to hatred and disunity. If resources are not equally distributed, there develops hatred and insecurity and lack of respect for one another all of which hinder unity. </a:t>
            </a:r>
          </a:p>
          <a:p>
            <a:pPr algn="just">
              <a:buFont typeface="Wingdings" panose="05000000000000000000" pitchFamily="2" charset="2"/>
              <a:buChar char="ü"/>
            </a:pPr>
            <a:r>
              <a:rPr lang="en-US" dirty="0" smtClean="0"/>
              <a:t> Differences in religious beliefs: if people within a country have conflicting religious beliefs, it is important for them to respect one another’s beliefs and opinion without which there would be no national unity.</a:t>
            </a:r>
          </a:p>
          <a:p>
            <a:endParaRPr lang="en-US" dirty="0"/>
          </a:p>
        </p:txBody>
      </p:sp>
    </p:spTree>
    <p:extLst>
      <p:ext uri="{BB962C8B-B14F-4D97-AF65-F5344CB8AC3E}">
        <p14:creationId xmlns:p14="http://schemas.microsoft.com/office/powerpoint/2010/main" val="24003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national unity</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dirty="0" smtClean="0"/>
              <a:t>It promotes peace as people rarely engage in wars or conflicts with one another. This enables a country to prosper as resources are not wasted in settling disputes but are used for development purposes. </a:t>
            </a:r>
          </a:p>
          <a:p>
            <a:pPr algn="just">
              <a:buFont typeface="Wingdings" panose="05000000000000000000" pitchFamily="2" charset="2"/>
              <a:buChar char="ü"/>
            </a:pPr>
            <a:r>
              <a:rPr lang="en-US" dirty="0" smtClean="0"/>
              <a:t> It promotes political stability and guarantees security as people have no suspicion towards one another. For instance, people may hold different political ideologies without hatred among them as political differences are not extended to other aspects of life. </a:t>
            </a:r>
            <a:endParaRPr lang="en-US" dirty="0"/>
          </a:p>
          <a:p>
            <a:pPr algn="just">
              <a:buFont typeface="Wingdings" panose="05000000000000000000" pitchFamily="2" charset="2"/>
              <a:buChar char="ü"/>
            </a:pPr>
            <a:r>
              <a:rPr lang="en-US" dirty="0" smtClean="0"/>
              <a:t>National unity drives people towards a common goal for the good of all</a:t>
            </a:r>
            <a:endParaRPr lang="en-US" dirty="0"/>
          </a:p>
        </p:txBody>
      </p:sp>
    </p:spTree>
    <p:extLst>
      <p:ext uri="{BB962C8B-B14F-4D97-AF65-F5344CB8AC3E}">
        <p14:creationId xmlns:p14="http://schemas.microsoft.com/office/powerpoint/2010/main" val="2219478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6017"/>
          </a:xfrm>
        </p:spPr>
        <p:txBody>
          <a:bodyPr>
            <a:normAutofit fontScale="90000"/>
          </a:bodyPr>
          <a:lstStyle/>
          <a:p>
            <a:endParaRPr lang="en-US" dirty="0"/>
          </a:p>
        </p:txBody>
      </p:sp>
      <p:sp>
        <p:nvSpPr>
          <p:cNvPr id="3" name="Content Placeholder 2"/>
          <p:cNvSpPr>
            <a:spLocks noGrp="1"/>
          </p:cNvSpPr>
          <p:nvPr>
            <p:ph idx="1"/>
          </p:nvPr>
        </p:nvSpPr>
        <p:spPr>
          <a:xfrm>
            <a:off x="677334" y="980661"/>
            <a:ext cx="8596668" cy="5060701"/>
          </a:xfrm>
        </p:spPr>
        <p:txBody>
          <a:bodyPr>
            <a:normAutofit/>
          </a:bodyPr>
          <a:lstStyle/>
          <a:p>
            <a:pPr algn="just">
              <a:buFont typeface="Wingdings" panose="05000000000000000000" pitchFamily="2" charset="2"/>
              <a:buChar char="ü"/>
            </a:pPr>
            <a:r>
              <a:rPr lang="en-US" dirty="0" smtClean="0"/>
              <a:t> It promotes growth. If and when the country is attacked from outside, all the people fight together to defend the country. </a:t>
            </a:r>
          </a:p>
          <a:p>
            <a:pPr algn="just">
              <a:buFont typeface="Wingdings" panose="05000000000000000000" pitchFamily="2" charset="2"/>
              <a:buChar char="ü"/>
            </a:pPr>
            <a:r>
              <a:rPr lang="en-US" dirty="0" smtClean="0"/>
              <a:t> National unity encourages freedom of movement, freedom to own property in any part of the country and freedom to interact with one another through intermarriages, trade and political activities. Such interaction promotes social, political and economic development. </a:t>
            </a:r>
          </a:p>
          <a:p>
            <a:pPr algn="just">
              <a:buFont typeface="Wingdings" panose="05000000000000000000" pitchFamily="2" charset="2"/>
              <a:buChar char="ü"/>
            </a:pPr>
            <a:r>
              <a:rPr lang="en-US" dirty="0" smtClean="0"/>
              <a:t> National unity enables the government to serve people more effectively. People stand to benefit equally. </a:t>
            </a:r>
          </a:p>
          <a:p>
            <a:pPr algn="just">
              <a:buFont typeface="Wingdings" panose="05000000000000000000" pitchFamily="2" charset="2"/>
              <a:buChar char="ü"/>
            </a:pPr>
            <a:r>
              <a:rPr lang="en-US" dirty="0" smtClean="0"/>
              <a:t> National unity promotes patriotism among Kenyans. It promotes cooperation among Kenyans regardless of their differences. </a:t>
            </a:r>
          </a:p>
          <a:p>
            <a:pPr algn="just">
              <a:buFont typeface="Wingdings" panose="05000000000000000000" pitchFamily="2" charset="2"/>
              <a:buChar char="ü"/>
            </a:pPr>
            <a:r>
              <a:rPr lang="en-US" dirty="0" smtClean="0"/>
              <a:t> National Unity reduces chances of people discriminating one another according to tribe. People appreciate one another in the spirit of brotherhood.</a:t>
            </a:r>
            <a:endParaRPr lang="en-US" dirty="0"/>
          </a:p>
        </p:txBody>
      </p:sp>
    </p:spTree>
    <p:extLst>
      <p:ext uri="{BB962C8B-B14F-4D97-AF65-F5344CB8AC3E}">
        <p14:creationId xmlns:p14="http://schemas.microsoft.com/office/powerpoint/2010/main" val="377653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Patriotism</a:t>
            </a:r>
          </a:p>
        </p:txBody>
      </p:sp>
      <p:sp>
        <p:nvSpPr>
          <p:cNvPr id="3" name="Content Placeholder 2"/>
          <p:cNvSpPr>
            <a:spLocks noGrp="1"/>
          </p:cNvSpPr>
          <p:nvPr>
            <p:ph idx="1"/>
          </p:nvPr>
        </p:nvSpPr>
        <p:spPr/>
        <p:txBody>
          <a:bodyPr/>
          <a:lstStyle/>
          <a:p>
            <a:pPr algn="just"/>
            <a:r>
              <a:rPr lang="en-US" dirty="0"/>
              <a:t>Patriotism refers to loyalty to, love for, selfless service for, sacrifice for, devotion for, sense of belonging to, dedication to, sense of pride in, protection of one ‘s own nation. This is a major challenge in Africa in general. Africans prefer running away from their countries to more developed countries:</a:t>
            </a:r>
          </a:p>
          <a:p>
            <a:endParaRPr lang="en-US" dirty="0"/>
          </a:p>
        </p:txBody>
      </p:sp>
    </p:spTree>
    <p:extLst>
      <p:ext uri="{BB962C8B-B14F-4D97-AF65-F5344CB8AC3E}">
        <p14:creationId xmlns:p14="http://schemas.microsoft.com/office/powerpoint/2010/main" val="276719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Indicators of </a:t>
            </a:r>
            <a:r>
              <a:rPr lang="en-US" dirty="0" smtClean="0"/>
              <a:t>patriotism</a:t>
            </a:r>
            <a:r>
              <a:rPr lang="en-US" dirty="0"/>
              <a:t/>
            </a:r>
            <a:br>
              <a:rPr lang="en-US" dirty="0"/>
            </a:br>
            <a:endParaRPr lang="en-US" dirty="0"/>
          </a:p>
        </p:txBody>
      </p:sp>
      <p:sp>
        <p:nvSpPr>
          <p:cNvPr id="3" name="Content Placeholder 2"/>
          <p:cNvSpPr>
            <a:spLocks noGrp="1"/>
          </p:cNvSpPr>
          <p:nvPr>
            <p:ph idx="1"/>
          </p:nvPr>
        </p:nvSpPr>
        <p:spPr>
          <a:xfrm>
            <a:off x="677334" y="1815549"/>
            <a:ext cx="8596668" cy="4225814"/>
          </a:xfrm>
        </p:spPr>
        <p:txBody>
          <a:bodyPr/>
          <a:lstStyle/>
          <a:p>
            <a:pPr>
              <a:buFont typeface="Wingdings" panose="05000000000000000000" pitchFamily="2" charset="2"/>
              <a:buChar char="ü"/>
            </a:pPr>
            <a:r>
              <a:rPr lang="en-US" dirty="0" smtClean="0"/>
              <a:t>Loyalty </a:t>
            </a:r>
            <a:r>
              <a:rPr lang="en-US" dirty="0"/>
              <a:t>to the Presidency as a unifying factor</a:t>
            </a:r>
            <a:r>
              <a:rPr lang="en-US" dirty="0" smtClean="0"/>
              <a:t>;</a:t>
            </a:r>
            <a:endParaRPr lang="en-US" dirty="0"/>
          </a:p>
          <a:p>
            <a:pPr>
              <a:buFont typeface="Wingdings" panose="05000000000000000000" pitchFamily="2" charset="2"/>
              <a:buChar char="ü"/>
            </a:pPr>
            <a:r>
              <a:rPr lang="en-US" dirty="0" smtClean="0"/>
              <a:t> Readiness to defend the Republic of Kenya; </a:t>
            </a:r>
          </a:p>
          <a:p>
            <a:pPr>
              <a:buFont typeface="Wingdings" panose="05000000000000000000" pitchFamily="2" charset="2"/>
              <a:buChar char="ü"/>
            </a:pPr>
            <a:r>
              <a:rPr lang="en-US" dirty="0" smtClean="0"/>
              <a:t> Respect for the supremacy of the Constitution; </a:t>
            </a:r>
          </a:p>
          <a:p>
            <a:pPr>
              <a:buFont typeface="Wingdings" panose="05000000000000000000" pitchFamily="2" charset="2"/>
              <a:buChar char="ü"/>
            </a:pPr>
            <a:r>
              <a:rPr lang="en-US" dirty="0" smtClean="0"/>
              <a:t> Appreciation to national symbols e.g. coat of arms and national flag;  </a:t>
            </a:r>
          </a:p>
          <a:p>
            <a:pPr>
              <a:buFont typeface="Wingdings" panose="05000000000000000000" pitchFamily="2" charset="2"/>
              <a:buChar char="ü"/>
            </a:pPr>
            <a:r>
              <a:rPr lang="en-US" dirty="0" smtClean="0"/>
              <a:t>Spirit of volunteerism. </a:t>
            </a:r>
            <a:endParaRPr lang="en-US" dirty="0"/>
          </a:p>
        </p:txBody>
      </p:sp>
    </p:spTree>
    <p:extLst>
      <p:ext uri="{BB962C8B-B14F-4D97-AF65-F5344CB8AC3E}">
        <p14:creationId xmlns:p14="http://schemas.microsoft.com/office/powerpoint/2010/main" val="4086987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Challenges </a:t>
            </a:r>
            <a:r>
              <a:rPr lang="en-US" dirty="0"/>
              <a:t>to national </a:t>
            </a:r>
            <a:r>
              <a:rPr lang="en-US" dirty="0" smtClean="0"/>
              <a:t>unity</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a:t>Failure to address historical injustices; </a:t>
            </a:r>
            <a:endParaRPr lang="en-US" dirty="0" smtClean="0"/>
          </a:p>
          <a:p>
            <a:pPr>
              <a:buFont typeface="Wingdings" panose="05000000000000000000" pitchFamily="2" charset="2"/>
              <a:buChar char="ü"/>
            </a:pPr>
            <a:r>
              <a:rPr lang="en-US" dirty="0" smtClean="0"/>
              <a:t> Complexity</a:t>
            </a:r>
            <a:r>
              <a:rPr lang="en-US" dirty="0"/>
              <a:t> </a:t>
            </a:r>
            <a:r>
              <a:rPr lang="en-US" dirty="0" smtClean="0"/>
              <a:t>Polarization </a:t>
            </a:r>
            <a:r>
              <a:rPr lang="en-US" dirty="0"/>
              <a:t>and division of the country along ethnic lines; </a:t>
            </a:r>
          </a:p>
          <a:p>
            <a:pPr>
              <a:buFont typeface="Wingdings" panose="05000000000000000000" pitchFamily="2" charset="2"/>
              <a:buChar char="ü"/>
            </a:pPr>
            <a:r>
              <a:rPr lang="en-US" dirty="0" smtClean="0"/>
              <a:t>Unfair </a:t>
            </a:r>
            <a:r>
              <a:rPr lang="en-US" dirty="0"/>
              <a:t>distribution of national resources; </a:t>
            </a:r>
          </a:p>
          <a:p>
            <a:pPr>
              <a:buFont typeface="Wingdings" panose="05000000000000000000" pitchFamily="2" charset="2"/>
              <a:buChar char="ü"/>
            </a:pPr>
            <a:r>
              <a:rPr lang="en-US" dirty="0" smtClean="0"/>
              <a:t> </a:t>
            </a:r>
            <a:r>
              <a:rPr lang="en-US" dirty="0"/>
              <a:t>Proliferation of organized gangs and militia; </a:t>
            </a:r>
            <a:endParaRPr lang="en-US" dirty="0" smtClean="0"/>
          </a:p>
          <a:p>
            <a:pPr>
              <a:buFont typeface="Wingdings" panose="05000000000000000000" pitchFamily="2" charset="2"/>
              <a:buChar char="ü"/>
            </a:pPr>
            <a:r>
              <a:rPr lang="en-US" dirty="0" smtClean="0"/>
              <a:t> </a:t>
            </a:r>
            <a:r>
              <a:rPr lang="en-US" dirty="0"/>
              <a:t>Control of land, capital, technology and communication by the </a:t>
            </a:r>
            <a:r>
              <a:rPr lang="en-US" dirty="0" smtClean="0"/>
              <a:t>elites </a:t>
            </a:r>
          </a:p>
          <a:p>
            <a:pPr>
              <a:buFont typeface="Wingdings" panose="05000000000000000000" pitchFamily="2" charset="2"/>
              <a:buChar char="ü"/>
            </a:pPr>
            <a:r>
              <a:rPr lang="en-US" dirty="0" smtClean="0"/>
              <a:t>Undermined </a:t>
            </a:r>
            <a:r>
              <a:rPr lang="en-US" dirty="0"/>
              <a:t>national interests. Undermined national interests; </a:t>
            </a:r>
          </a:p>
          <a:p>
            <a:pPr>
              <a:buFont typeface="Wingdings" panose="05000000000000000000" pitchFamily="2" charset="2"/>
              <a:buChar char="ü"/>
            </a:pPr>
            <a:r>
              <a:rPr lang="en-US" dirty="0" smtClean="0"/>
              <a:t> </a:t>
            </a:r>
            <a:r>
              <a:rPr lang="en-US" dirty="0"/>
              <a:t>Deteriorating morals and values </a:t>
            </a:r>
            <a:r>
              <a:rPr lang="en-US" dirty="0" smtClean="0"/>
              <a:t>– </a:t>
            </a:r>
          </a:p>
          <a:p>
            <a:pPr>
              <a:buFont typeface="Wingdings" panose="05000000000000000000" pitchFamily="2" charset="2"/>
              <a:buChar char="ü"/>
            </a:pPr>
            <a:r>
              <a:rPr lang="en-US" dirty="0" smtClean="0"/>
              <a:t>higher </a:t>
            </a:r>
            <a:r>
              <a:rPr lang="en-US" dirty="0"/>
              <a:t>levels of crime, fear of crime and anti-social behavior. </a:t>
            </a:r>
            <a:r>
              <a:rPr lang="en-US" dirty="0" smtClean="0"/>
              <a:t>challenges </a:t>
            </a:r>
            <a:r>
              <a:rPr lang="en-US" dirty="0"/>
              <a:t>and opportunities; </a:t>
            </a:r>
          </a:p>
        </p:txBody>
      </p:sp>
    </p:spTree>
    <p:extLst>
      <p:ext uri="{BB962C8B-B14F-4D97-AF65-F5344CB8AC3E}">
        <p14:creationId xmlns:p14="http://schemas.microsoft.com/office/powerpoint/2010/main" val="115674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to patriotism</a:t>
            </a:r>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Ineffective leadership; </a:t>
            </a:r>
            <a:endParaRPr lang="en-US" dirty="0"/>
          </a:p>
          <a:p>
            <a:pPr>
              <a:buFont typeface="Wingdings" panose="05000000000000000000" pitchFamily="2" charset="2"/>
              <a:buChar char="ü"/>
            </a:pPr>
            <a:r>
              <a:rPr lang="en-US" dirty="0" smtClean="0"/>
              <a:t>Marginalization; </a:t>
            </a:r>
          </a:p>
          <a:p>
            <a:pPr>
              <a:buFont typeface="Wingdings" panose="05000000000000000000" pitchFamily="2" charset="2"/>
              <a:buChar char="ü"/>
            </a:pPr>
            <a:r>
              <a:rPr lang="en-US" dirty="0" smtClean="0"/>
              <a:t> Increasing levels of corruption; </a:t>
            </a:r>
          </a:p>
          <a:p>
            <a:pPr>
              <a:buFont typeface="Wingdings" panose="05000000000000000000" pitchFamily="2" charset="2"/>
              <a:buChar char="ü"/>
            </a:pPr>
            <a:r>
              <a:rPr lang="en-US" dirty="0" smtClean="0"/>
              <a:t> Impunity and lack of accountability; </a:t>
            </a:r>
          </a:p>
          <a:p>
            <a:pPr>
              <a:buFont typeface="Wingdings" panose="05000000000000000000" pitchFamily="2" charset="2"/>
              <a:buChar char="ü"/>
            </a:pPr>
            <a:r>
              <a:rPr lang="en-US" dirty="0" smtClean="0"/>
              <a:t> Low social, political and economic development;</a:t>
            </a:r>
          </a:p>
          <a:p>
            <a:endParaRPr lang="en-US" dirty="0" smtClean="0"/>
          </a:p>
          <a:p>
            <a:endParaRPr lang="en-US" dirty="0"/>
          </a:p>
        </p:txBody>
      </p:sp>
    </p:spTree>
    <p:extLst>
      <p:ext uri="{BB962C8B-B14F-4D97-AF65-F5344CB8AC3E}">
        <p14:creationId xmlns:p14="http://schemas.microsoft.com/office/powerpoint/2010/main" val="3485866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of power</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 </a:t>
            </a:r>
            <a:r>
              <a:rPr lang="en-US" dirty="0"/>
              <a:t>Sharing of power can be defined as a political arrangement in which opposing groups in a society participate in government. In Kenya, the concept of sharing of power is a key flagship of the </a:t>
            </a:r>
            <a:r>
              <a:rPr lang="en-US" dirty="0" smtClean="0"/>
              <a:t>Constitution. </a:t>
            </a:r>
            <a:endParaRPr lang="en-US" dirty="0"/>
          </a:p>
          <a:p>
            <a:pPr marL="0" indent="0" algn="just">
              <a:buNone/>
            </a:pPr>
            <a:r>
              <a:rPr lang="en-US" dirty="0" smtClean="0"/>
              <a:t>It’s </a:t>
            </a:r>
            <a:r>
              <a:rPr lang="en-US" dirty="0"/>
              <a:t>a political arrangement that involves the two levels of government i.e. one (1) National and forty-seven (47) County governments. </a:t>
            </a:r>
            <a:endParaRPr lang="en-US" dirty="0" smtClean="0"/>
          </a:p>
          <a:p>
            <a:pPr marL="0" indent="0" algn="just">
              <a:buNone/>
            </a:pPr>
            <a:r>
              <a:rPr lang="en-US" dirty="0" smtClean="0"/>
              <a:t> </a:t>
            </a:r>
            <a:r>
              <a:rPr lang="en-US" dirty="0"/>
              <a:t>The goal of power sharing is the arrangement of political institutions to prevent the monopoly (permanent or temporary) of executive, legislative, judicial, military or cultural power. Any system that seeks to share resources between different groups in a society will have power at its center because without power, there can be no power sharing. </a:t>
            </a:r>
            <a:endParaRPr lang="en-US" dirty="0" smtClean="0"/>
          </a:p>
          <a:p>
            <a:pPr marL="0" indent="0" algn="just">
              <a:buNone/>
            </a:pPr>
            <a:r>
              <a:rPr lang="en-US" dirty="0" smtClean="0"/>
              <a:t> </a:t>
            </a:r>
            <a:r>
              <a:rPr lang="en-US" dirty="0"/>
              <a:t>Sharing of power requires that the authority of the state be administered jointly, and not by only one narrow group. It requires the consent of a broad representation of groups in a given system. </a:t>
            </a:r>
            <a:endParaRPr lang="en-US" dirty="0" smtClean="0"/>
          </a:p>
          <a:p>
            <a:pPr marL="0" indent="0" algn="just">
              <a:buNone/>
            </a:pPr>
            <a:r>
              <a:rPr lang="en-US" dirty="0" smtClean="0"/>
              <a:t> </a:t>
            </a:r>
            <a:endParaRPr lang="en-US" dirty="0"/>
          </a:p>
        </p:txBody>
      </p:sp>
    </p:spTree>
    <p:extLst>
      <p:ext uri="{BB962C8B-B14F-4D97-AF65-F5344CB8AC3E}">
        <p14:creationId xmlns:p14="http://schemas.microsoft.com/office/powerpoint/2010/main" val="1609404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04800"/>
          </a:xfrm>
        </p:spPr>
        <p:txBody>
          <a:bodyPr>
            <a:normAutofit fontScale="90000"/>
          </a:bodyPr>
          <a:lstStyle/>
          <a:p>
            <a:endParaRPr lang="en-US" dirty="0"/>
          </a:p>
        </p:txBody>
      </p:sp>
      <p:sp>
        <p:nvSpPr>
          <p:cNvPr id="3" name="Content Placeholder 2"/>
          <p:cNvSpPr>
            <a:spLocks noGrp="1"/>
          </p:cNvSpPr>
          <p:nvPr>
            <p:ph idx="1"/>
          </p:nvPr>
        </p:nvSpPr>
        <p:spPr>
          <a:xfrm>
            <a:off x="677334" y="1021279"/>
            <a:ext cx="8596668" cy="5020084"/>
          </a:xfrm>
        </p:spPr>
        <p:txBody>
          <a:bodyPr>
            <a:normAutofit/>
          </a:bodyPr>
          <a:lstStyle/>
          <a:p>
            <a:pPr marL="0" indent="0" algn="just">
              <a:buNone/>
            </a:pPr>
            <a:r>
              <a:rPr lang="en-US" dirty="0"/>
              <a:t>It’s also used to describe a system of governance in which all significant segments or identity groups of society are provided a permanent share of power in terms of representation and decision making on common issues and a degree of autonomy over issues of </a:t>
            </a:r>
            <a:r>
              <a:rPr lang="en-US" dirty="0" smtClean="0"/>
              <a:t>importance</a:t>
            </a:r>
            <a:endParaRPr lang="en-US" dirty="0"/>
          </a:p>
          <a:p>
            <a:pPr marL="0" indent="0" algn="just">
              <a:buNone/>
            </a:pPr>
            <a:r>
              <a:rPr lang="en-US" dirty="0"/>
              <a:t> Sharing and devolution of power refers to ―a governance system in which power, political, economic and social resources are distributed between the national and county levels of government and which empowers people at the grassroots to make decisions on matters that affect them. </a:t>
            </a:r>
          </a:p>
          <a:p>
            <a:pPr marL="0" indent="0" algn="just">
              <a:buNone/>
            </a:pPr>
            <a:r>
              <a:rPr lang="en-US" dirty="0"/>
              <a:t> </a:t>
            </a:r>
          </a:p>
        </p:txBody>
      </p:sp>
    </p:spTree>
    <p:extLst>
      <p:ext uri="{BB962C8B-B14F-4D97-AF65-F5344CB8AC3E}">
        <p14:creationId xmlns:p14="http://schemas.microsoft.com/office/powerpoint/2010/main" val="2533039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04800"/>
          </a:xfrm>
        </p:spPr>
        <p:txBody>
          <a:bodyPr>
            <a:normAutofit fontScale="90000"/>
          </a:bodyPr>
          <a:lstStyle/>
          <a:p>
            <a:endParaRPr lang="en-US" dirty="0"/>
          </a:p>
        </p:txBody>
      </p:sp>
      <p:sp>
        <p:nvSpPr>
          <p:cNvPr id="3" name="Content Placeholder 2"/>
          <p:cNvSpPr>
            <a:spLocks noGrp="1"/>
          </p:cNvSpPr>
          <p:nvPr>
            <p:ph idx="1"/>
          </p:nvPr>
        </p:nvSpPr>
        <p:spPr>
          <a:xfrm>
            <a:off x="677334" y="1151907"/>
            <a:ext cx="8596668" cy="4889456"/>
          </a:xfrm>
        </p:spPr>
        <p:txBody>
          <a:bodyPr>
            <a:normAutofit/>
          </a:bodyPr>
          <a:lstStyle/>
          <a:p>
            <a:pPr algn="just"/>
            <a:r>
              <a:rPr lang="en-US" dirty="0" smtClean="0"/>
              <a:t>The </a:t>
            </a:r>
            <a:r>
              <a:rPr lang="en-US" dirty="0"/>
              <a:t>demands for extensive </a:t>
            </a:r>
            <a:r>
              <a:rPr lang="en-US" dirty="0" smtClean="0"/>
              <a:t>constitutional </a:t>
            </a:r>
            <a:r>
              <a:rPr lang="en-US" dirty="0"/>
              <a:t>reforms, nevertheless, notably incorporating the devolution of government to sub-national agencies, were eventually realized on 27th August, 2010 when Kenya adopted a new Constitution </a:t>
            </a:r>
            <a:r>
              <a:rPr lang="en-US" dirty="0" smtClean="0"/>
              <a:t>with </a:t>
            </a:r>
            <a:r>
              <a:rPr lang="en-US" dirty="0"/>
              <a:t>far-reaching provisions for democratization, including the devolution of power from the Central Government to the forty seven (47) county Governments. </a:t>
            </a:r>
            <a:r>
              <a:rPr lang="en-US" dirty="0" smtClean="0"/>
              <a:t> </a:t>
            </a:r>
            <a:r>
              <a:rPr lang="en-US" dirty="0"/>
              <a:t>Objectives of sharing and devolution of power Article 174 of the Constitution states the following as the objectives of devolution are to: </a:t>
            </a:r>
            <a:endParaRPr lang="en-US" dirty="0" smtClean="0"/>
          </a:p>
          <a:p>
            <a:pPr algn="just">
              <a:buFont typeface="Wingdings" panose="05000000000000000000" pitchFamily="2" charset="2"/>
              <a:buChar char="ü"/>
            </a:pPr>
            <a:r>
              <a:rPr lang="en-US" dirty="0" smtClean="0"/>
              <a:t> </a:t>
            </a:r>
            <a:r>
              <a:rPr lang="en-US" dirty="0"/>
              <a:t>Promote democratic and accountable exercise of power; </a:t>
            </a:r>
            <a:endParaRPr lang="en-US" dirty="0" smtClean="0"/>
          </a:p>
          <a:p>
            <a:pPr algn="just">
              <a:buFont typeface="Wingdings" panose="05000000000000000000" pitchFamily="2" charset="2"/>
              <a:buChar char="ü"/>
            </a:pPr>
            <a:r>
              <a:rPr lang="en-US" dirty="0" smtClean="0"/>
              <a:t> </a:t>
            </a:r>
            <a:r>
              <a:rPr lang="en-US" dirty="0"/>
              <a:t>Foster national unity by recognizing diversity; </a:t>
            </a:r>
            <a:endParaRPr lang="en-US" dirty="0" smtClean="0"/>
          </a:p>
          <a:p>
            <a:pPr algn="just">
              <a:buFont typeface="Wingdings" panose="05000000000000000000" pitchFamily="2" charset="2"/>
              <a:buChar char="ü"/>
            </a:pPr>
            <a:r>
              <a:rPr lang="en-US" dirty="0" smtClean="0"/>
              <a:t> </a:t>
            </a:r>
            <a:r>
              <a:rPr lang="en-US" dirty="0"/>
              <a:t>Give powers of self- governance to the people and enhance the participation of the people in the exercise of the powers of the State and in making decisions affecting them; </a:t>
            </a:r>
            <a:endParaRPr lang="en-US" dirty="0" smtClean="0"/>
          </a:p>
          <a:p>
            <a:pPr algn="just">
              <a:buFont typeface="Wingdings" panose="05000000000000000000" pitchFamily="2" charset="2"/>
              <a:buChar char="ü"/>
            </a:pPr>
            <a:r>
              <a:rPr lang="en-US" dirty="0" smtClean="0"/>
              <a:t> </a:t>
            </a:r>
            <a:endParaRPr lang="en-US" dirty="0"/>
          </a:p>
        </p:txBody>
      </p:sp>
    </p:spTree>
    <p:extLst>
      <p:ext uri="{BB962C8B-B14F-4D97-AF65-F5344CB8AC3E}">
        <p14:creationId xmlns:p14="http://schemas.microsoft.com/office/powerpoint/2010/main" val="25919926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45719"/>
          </a:xfrm>
        </p:spPr>
        <p:txBody>
          <a:bodyPr>
            <a:normAutofit fontScale="90000"/>
          </a:bodyPr>
          <a:lstStyle/>
          <a:p>
            <a:endParaRPr lang="en-US" dirty="0"/>
          </a:p>
        </p:txBody>
      </p:sp>
      <p:sp>
        <p:nvSpPr>
          <p:cNvPr id="3" name="Content Placeholder 2"/>
          <p:cNvSpPr>
            <a:spLocks noGrp="1"/>
          </p:cNvSpPr>
          <p:nvPr>
            <p:ph idx="1"/>
          </p:nvPr>
        </p:nvSpPr>
        <p:spPr>
          <a:xfrm>
            <a:off x="677334" y="1175657"/>
            <a:ext cx="8596668" cy="4865705"/>
          </a:xfrm>
        </p:spPr>
        <p:txBody>
          <a:bodyPr/>
          <a:lstStyle/>
          <a:p>
            <a:pPr algn="just">
              <a:buFont typeface="Wingdings" panose="05000000000000000000" pitchFamily="2" charset="2"/>
              <a:buChar char="ü"/>
            </a:pPr>
            <a:r>
              <a:rPr lang="en-US" dirty="0"/>
              <a:t>Recognize the right of communities to manage their own affairs and to further their development; </a:t>
            </a:r>
          </a:p>
          <a:p>
            <a:pPr algn="just">
              <a:buFont typeface="Wingdings" panose="05000000000000000000" pitchFamily="2" charset="2"/>
              <a:buChar char="ü"/>
            </a:pPr>
            <a:r>
              <a:rPr lang="en-US" dirty="0"/>
              <a:t>Protect and promote the interests and rights of minorities and the marginalized communities; </a:t>
            </a:r>
            <a:endParaRPr lang="en-US" dirty="0" smtClean="0"/>
          </a:p>
          <a:p>
            <a:pPr algn="just">
              <a:buFont typeface="Wingdings" panose="05000000000000000000" pitchFamily="2" charset="2"/>
              <a:buChar char="ü"/>
            </a:pPr>
            <a:r>
              <a:rPr lang="en-US" dirty="0" smtClean="0"/>
              <a:t> </a:t>
            </a:r>
            <a:r>
              <a:rPr lang="en-US" dirty="0"/>
              <a:t>Promote social and economic development and the provision of proximate, easily accessible services throughout Kenya; </a:t>
            </a:r>
          </a:p>
          <a:p>
            <a:pPr algn="just">
              <a:buFont typeface="Wingdings" panose="05000000000000000000" pitchFamily="2" charset="2"/>
              <a:buChar char="ü"/>
            </a:pPr>
            <a:r>
              <a:rPr lang="en-US" dirty="0"/>
              <a:t> Ensure equitable sharing of national and local resources throughout Kenya; </a:t>
            </a:r>
          </a:p>
          <a:p>
            <a:pPr algn="just">
              <a:buFont typeface="Wingdings" panose="05000000000000000000" pitchFamily="2" charset="2"/>
              <a:buChar char="ü"/>
            </a:pPr>
            <a:r>
              <a:rPr lang="en-US" dirty="0"/>
              <a:t> Facilitate the decentralization of State organs, their functions and services, from the capital of Kenya; and </a:t>
            </a:r>
            <a:r>
              <a:rPr lang="en-US" dirty="0" smtClean="0"/>
              <a:t> moved to county levels.</a:t>
            </a:r>
            <a:endParaRPr lang="en-US" dirty="0"/>
          </a:p>
          <a:p>
            <a:pPr algn="just">
              <a:buFont typeface="Wingdings" panose="05000000000000000000" pitchFamily="2" charset="2"/>
              <a:buChar char="ü"/>
            </a:pPr>
            <a:r>
              <a:rPr lang="en-US" dirty="0"/>
              <a:t>Enhance checks and balances and the separation of powers. </a:t>
            </a:r>
          </a:p>
          <a:p>
            <a:endParaRPr lang="en-US" dirty="0"/>
          </a:p>
        </p:txBody>
      </p:sp>
    </p:spTree>
    <p:extLst>
      <p:ext uri="{BB962C8B-B14F-4D97-AF65-F5344CB8AC3E}">
        <p14:creationId xmlns:p14="http://schemas.microsoft.com/office/powerpoint/2010/main" val="3355039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t> </a:t>
            </a:r>
            <a:r>
              <a:rPr lang="en-US" dirty="0"/>
              <a:t>Benefits of sharing and devolution of </a:t>
            </a:r>
            <a:r>
              <a:rPr lang="en-US" dirty="0" smtClean="0"/>
              <a:t>power</a:t>
            </a:r>
            <a:r>
              <a:rPr lang="en-US" dirty="0"/>
              <a:t/>
            </a:r>
            <a:br>
              <a:rPr lang="en-US" dirty="0"/>
            </a:br>
            <a:r>
              <a:rPr lang="en-US" dirty="0"/>
              <a:t>Political benefits</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dirty="0" smtClean="0"/>
              <a:t>It </a:t>
            </a:r>
            <a:r>
              <a:rPr lang="en-US" dirty="0"/>
              <a:t>promotes democratic and accountable exercise of power. </a:t>
            </a:r>
            <a:endParaRPr lang="en-US" dirty="0" smtClean="0"/>
          </a:p>
          <a:p>
            <a:pPr algn="just">
              <a:buFont typeface="Wingdings" panose="05000000000000000000" pitchFamily="2" charset="2"/>
              <a:buChar char="ü"/>
            </a:pPr>
            <a:r>
              <a:rPr lang="en-US" dirty="0" smtClean="0"/>
              <a:t> </a:t>
            </a:r>
            <a:r>
              <a:rPr lang="en-US" dirty="0"/>
              <a:t>It fosters national unity by recognizing diversity; it gives powers of self- governance to the people and enhance the participation of the people in the exercise of the powers of the State and in making decisions affecting them </a:t>
            </a:r>
            <a:endParaRPr lang="en-US" dirty="0" smtClean="0"/>
          </a:p>
          <a:p>
            <a:pPr algn="just">
              <a:buFont typeface="Wingdings" panose="05000000000000000000" pitchFamily="2" charset="2"/>
              <a:buChar char="ü"/>
            </a:pPr>
            <a:r>
              <a:rPr lang="en-US" dirty="0" smtClean="0"/>
              <a:t> </a:t>
            </a:r>
            <a:r>
              <a:rPr lang="en-US" dirty="0"/>
              <a:t>It recognizes the right of communities to manage their own affairs and to further their development; </a:t>
            </a:r>
            <a:endParaRPr lang="en-US" dirty="0" smtClean="0"/>
          </a:p>
          <a:p>
            <a:pPr algn="just">
              <a:buFont typeface="Wingdings" panose="05000000000000000000" pitchFamily="2" charset="2"/>
              <a:buChar char="ü"/>
            </a:pPr>
            <a:r>
              <a:rPr lang="en-US" dirty="0" smtClean="0"/>
              <a:t> </a:t>
            </a:r>
            <a:r>
              <a:rPr lang="en-US" dirty="0"/>
              <a:t>It protects and promotes the interests and rights of minorities and the marginalized communities;  It promotes social and economic development and the provision of proximate, easily accessible services throughout Kenya; </a:t>
            </a:r>
            <a:endParaRPr lang="en-US" dirty="0" smtClean="0"/>
          </a:p>
          <a:p>
            <a:pPr algn="just">
              <a:buFont typeface="Wingdings" panose="05000000000000000000" pitchFamily="2" charset="2"/>
              <a:buChar char="ü"/>
            </a:pPr>
            <a:r>
              <a:rPr lang="en-US" dirty="0" smtClean="0"/>
              <a:t> </a:t>
            </a:r>
            <a:endParaRPr lang="en-US" dirty="0"/>
          </a:p>
        </p:txBody>
      </p:sp>
    </p:spTree>
    <p:extLst>
      <p:ext uri="{BB962C8B-B14F-4D97-AF65-F5344CB8AC3E}">
        <p14:creationId xmlns:p14="http://schemas.microsoft.com/office/powerpoint/2010/main" val="2190111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76052"/>
          </a:xfrm>
        </p:spPr>
        <p:txBody>
          <a:bodyPr>
            <a:normAutofit fontScale="90000"/>
          </a:bodyPr>
          <a:lstStyle/>
          <a:p>
            <a:endParaRPr lang="en-US" dirty="0"/>
          </a:p>
        </p:txBody>
      </p:sp>
      <p:sp>
        <p:nvSpPr>
          <p:cNvPr id="3" name="Content Placeholder 2"/>
          <p:cNvSpPr>
            <a:spLocks noGrp="1"/>
          </p:cNvSpPr>
          <p:nvPr>
            <p:ph idx="1"/>
          </p:nvPr>
        </p:nvSpPr>
        <p:spPr>
          <a:xfrm>
            <a:off x="677334" y="1104405"/>
            <a:ext cx="8596668" cy="4936957"/>
          </a:xfrm>
        </p:spPr>
        <p:txBody>
          <a:bodyPr/>
          <a:lstStyle/>
          <a:p>
            <a:pPr algn="just">
              <a:buFont typeface="Wingdings" panose="05000000000000000000" pitchFamily="2" charset="2"/>
              <a:buChar char="ü"/>
            </a:pPr>
            <a:r>
              <a:rPr lang="en-US" dirty="0"/>
              <a:t>It ensures equitable sharing of national and local resources throughout Kenya;  It facilitates the decentralization of State organs, their functions and services, from the capital of Kenya;  It enhances checks and balances and the separation of powers. </a:t>
            </a:r>
          </a:p>
          <a:p>
            <a:pPr algn="just">
              <a:buFont typeface="Wingdings" panose="05000000000000000000" pitchFamily="2" charset="2"/>
              <a:buChar char="ü"/>
            </a:pPr>
            <a:r>
              <a:rPr lang="en-US" dirty="0"/>
              <a:t> It provides channels for the expression of regional sentiments and encourages national policies to become more sensitive to regional dynamics. </a:t>
            </a:r>
          </a:p>
          <a:p>
            <a:pPr algn="just">
              <a:buFont typeface="Wingdings" panose="05000000000000000000" pitchFamily="2" charset="2"/>
              <a:buChar char="ü"/>
            </a:pPr>
            <a:r>
              <a:rPr lang="en-US" dirty="0"/>
              <a:t> It provides the minority parties which have been excluded from political power the opportunity to exercise policy influence. </a:t>
            </a:r>
          </a:p>
          <a:p>
            <a:pPr algn="just">
              <a:buFont typeface="Wingdings" panose="05000000000000000000" pitchFamily="2" charset="2"/>
              <a:buChar char="ü"/>
            </a:pPr>
            <a:r>
              <a:rPr lang="en-US" dirty="0"/>
              <a:t> It empowers communities to manage their own resources more effectively and simultaneously strengthens local institutions. </a:t>
            </a:r>
          </a:p>
          <a:p>
            <a:endParaRPr lang="en-US" dirty="0"/>
          </a:p>
        </p:txBody>
      </p:sp>
    </p:spTree>
    <p:extLst>
      <p:ext uri="{BB962C8B-B14F-4D97-AF65-F5344CB8AC3E}">
        <p14:creationId xmlns:p14="http://schemas.microsoft.com/office/powerpoint/2010/main" val="3037368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376052"/>
          </a:xfrm>
        </p:spPr>
        <p:txBody>
          <a:bodyPr>
            <a:normAutofit fontScale="90000"/>
          </a:bodyPr>
          <a:lstStyle/>
          <a:p>
            <a:endParaRPr lang="en-US" dirty="0"/>
          </a:p>
        </p:txBody>
      </p:sp>
      <p:sp>
        <p:nvSpPr>
          <p:cNvPr id="3" name="Content Placeholder 2"/>
          <p:cNvSpPr>
            <a:spLocks noGrp="1"/>
          </p:cNvSpPr>
          <p:nvPr>
            <p:ph idx="1"/>
          </p:nvPr>
        </p:nvSpPr>
        <p:spPr>
          <a:xfrm>
            <a:off x="677334" y="1199409"/>
            <a:ext cx="8596668" cy="4841954"/>
          </a:xfrm>
        </p:spPr>
        <p:txBody>
          <a:bodyPr>
            <a:normAutofit/>
          </a:bodyPr>
          <a:lstStyle/>
          <a:p>
            <a:pPr algn="just">
              <a:buFont typeface="Wingdings" panose="05000000000000000000" pitchFamily="2" charset="2"/>
              <a:buChar char="ü"/>
            </a:pPr>
            <a:r>
              <a:rPr lang="en-US" dirty="0" smtClean="0"/>
              <a:t> </a:t>
            </a:r>
            <a:r>
              <a:rPr lang="en-US" dirty="0"/>
              <a:t>It ensures that varying interests of stakeholders are balanced, and that the decisions are made in a rational transformed and transparent manner. The decisions contribute to the overall efficiency and effectiveness of the institutions. </a:t>
            </a:r>
            <a:endParaRPr lang="en-US" dirty="0" smtClean="0"/>
          </a:p>
          <a:p>
            <a:pPr algn="just">
              <a:buFont typeface="Wingdings" panose="05000000000000000000" pitchFamily="2" charset="2"/>
              <a:buChar char="ü"/>
            </a:pPr>
            <a:r>
              <a:rPr lang="en-US" dirty="0" smtClean="0"/>
              <a:t> </a:t>
            </a:r>
            <a:r>
              <a:rPr lang="en-US" dirty="0"/>
              <a:t>It gives the right to communities to manage their own affairs and further their development. </a:t>
            </a:r>
          </a:p>
        </p:txBody>
      </p:sp>
    </p:spTree>
    <p:extLst>
      <p:ext uri="{BB962C8B-B14F-4D97-AF65-F5344CB8AC3E}">
        <p14:creationId xmlns:p14="http://schemas.microsoft.com/office/powerpoint/2010/main" val="2489949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a:t>
            </a:r>
            <a:r>
              <a:rPr lang="en-US" b="1" dirty="0"/>
              <a:t>benefits</a:t>
            </a:r>
            <a:endParaRPr lang="en-US" dirty="0"/>
          </a:p>
        </p:txBody>
      </p:sp>
      <p:sp>
        <p:nvSpPr>
          <p:cNvPr id="3" name="Content Placeholder 2"/>
          <p:cNvSpPr>
            <a:spLocks noGrp="1"/>
          </p:cNvSpPr>
          <p:nvPr>
            <p:ph idx="1"/>
          </p:nvPr>
        </p:nvSpPr>
        <p:spPr/>
        <p:txBody>
          <a:bodyPr/>
          <a:lstStyle/>
          <a:p>
            <a:pPr algn="just">
              <a:buFont typeface="Wingdings" panose="05000000000000000000" pitchFamily="2" charset="2"/>
              <a:buChar char="ü"/>
            </a:pPr>
            <a:r>
              <a:rPr lang="en-US" b="1" dirty="0" smtClean="0"/>
              <a:t>Devolved </a:t>
            </a:r>
            <a:r>
              <a:rPr lang="en-US" b="1" dirty="0"/>
              <a:t>provisions in sub-national entities increase </a:t>
            </a:r>
            <a:r>
              <a:rPr lang="en-US" dirty="0"/>
              <a:t>economic welfare of the constituents. This is because the level of welfare is often higher if consumption occurs at each jurisdiction than if any single uniform level of consumption is maintained across all jurisdictions. </a:t>
            </a:r>
          </a:p>
          <a:p>
            <a:pPr algn="just">
              <a:buFont typeface="Wingdings" panose="05000000000000000000" pitchFamily="2" charset="2"/>
              <a:buChar char="ü"/>
            </a:pPr>
            <a:r>
              <a:rPr lang="en-US" dirty="0" smtClean="0"/>
              <a:t>Devolution </a:t>
            </a:r>
            <a:r>
              <a:rPr lang="en-US" dirty="0"/>
              <a:t>assists in the reduction of poverty through the provision of a more effective governance structure for advancing pro-poor policies. </a:t>
            </a:r>
            <a:endParaRPr lang="en-US" dirty="0" smtClean="0"/>
          </a:p>
          <a:p>
            <a:pPr algn="just">
              <a:buFont typeface="Wingdings" panose="05000000000000000000" pitchFamily="2" charset="2"/>
              <a:buChar char="ü"/>
            </a:pPr>
            <a:r>
              <a:rPr lang="en-US" dirty="0" smtClean="0"/>
              <a:t> </a:t>
            </a:r>
            <a:r>
              <a:rPr lang="en-US" dirty="0"/>
              <a:t>Since sub-national institutions are likely to be more familiar with the local circumstances and cost conditions, they are better equipped to distribute resources more equitably. In so doing, they address poverty more efficiently. </a:t>
            </a:r>
            <a:endParaRPr lang="en-US" dirty="0" smtClean="0"/>
          </a:p>
          <a:p>
            <a:pPr algn="just">
              <a:buFont typeface="Wingdings" panose="05000000000000000000" pitchFamily="2" charset="2"/>
              <a:buChar char="ü"/>
            </a:pPr>
            <a:r>
              <a:rPr lang="en-US" dirty="0" smtClean="0"/>
              <a:t> </a:t>
            </a:r>
            <a:r>
              <a:rPr lang="en-US" dirty="0"/>
              <a:t>Devolved governments have the ability to effectively promote productive efficiency in the provision and use of public services and the allocation of resources. The logic is that</a:t>
            </a:r>
          </a:p>
          <a:p>
            <a:pPr algn="just"/>
            <a:endParaRPr lang="en-US" dirty="0"/>
          </a:p>
        </p:txBody>
      </p:sp>
    </p:spTree>
    <p:extLst>
      <p:ext uri="{BB962C8B-B14F-4D97-AF65-F5344CB8AC3E}">
        <p14:creationId xmlns:p14="http://schemas.microsoft.com/office/powerpoint/2010/main" val="335441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257299"/>
          </a:xfrm>
        </p:spPr>
        <p:txBody>
          <a:bodyPr>
            <a:normAutofit fontScale="90000"/>
          </a:bodyPr>
          <a:lstStyle/>
          <a:p>
            <a:endParaRPr lang="en-US" dirty="0"/>
          </a:p>
        </p:txBody>
      </p:sp>
      <p:sp>
        <p:nvSpPr>
          <p:cNvPr id="3" name="Content Placeholder 2"/>
          <p:cNvSpPr>
            <a:spLocks noGrp="1"/>
          </p:cNvSpPr>
          <p:nvPr>
            <p:ph idx="1"/>
          </p:nvPr>
        </p:nvSpPr>
        <p:spPr>
          <a:xfrm>
            <a:off x="677334" y="1116281"/>
            <a:ext cx="8596668" cy="4925081"/>
          </a:xfrm>
        </p:spPr>
        <p:txBody>
          <a:bodyPr>
            <a:normAutofit/>
          </a:bodyPr>
          <a:lstStyle/>
          <a:p>
            <a:pPr algn="just">
              <a:buFont typeface="Wingdings" panose="05000000000000000000" pitchFamily="2" charset="2"/>
              <a:buChar char="ü"/>
            </a:pPr>
            <a:r>
              <a:rPr lang="en-US" dirty="0"/>
              <a:t>sub-national entities by their proximity to the beneficiaries of policy outcomes can allocate and extract resources more efficiently than central governments. This is because they have better access to local information, are more directly accountable to local constituents and can more effectively identify and articulate regional needs. </a:t>
            </a:r>
            <a:endParaRPr lang="en-US" dirty="0" smtClean="0"/>
          </a:p>
          <a:p>
            <a:pPr algn="just">
              <a:buFont typeface="Wingdings" panose="05000000000000000000" pitchFamily="2" charset="2"/>
              <a:buChar char="ü"/>
            </a:pPr>
            <a:r>
              <a:rPr lang="en-US" dirty="0" smtClean="0"/>
              <a:t> </a:t>
            </a:r>
            <a:r>
              <a:rPr lang="en-US" dirty="0"/>
              <a:t>Devolution may reduce opportunities for bribery and rent seeking by introduction of inter-jurisdictional competition. Such opportunities are often created by the lack of competition that the central government monopoly supply of public goods and services present. </a:t>
            </a:r>
          </a:p>
          <a:p>
            <a:endParaRPr lang="en-US" dirty="0"/>
          </a:p>
        </p:txBody>
      </p:sp>
    </p:spTree>
    <p:extLst>
      <p:ext uri="{BB962C8B-B14F-4D97-AF65-F5344CB8AC3E}">
        <p14:creationId xmlns:p14="http://schemas.microsoft.com/office/powerpoint/2010/main" val="4180358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Social benefits</a:t>
            </a:r>
          </a:p>
        </p:txBody>
      </p:sp>
      <p:sp>
        <p:nvSpPr>
          <p:cNvPr id="3" name="Content Placeholder 2"/>
          <p:cNvSpPr>
            <a:spLocks noGrp="1"/>
          </p:cNvSpPr>
          <p:nvPr>
            <p:ph idx="1"/>
          </p:nvPr>
        </p:nvSpPr>
        <p:spPr/>
        <p:txBody>
          <a:bodyPr/>
          <a:lstStyle/>
          <a:p>
            <a:pPr algn="just">
              <a:buFont typeface="Wingdings" panose="05000000000000000000" pitchFamily="2" charset="2"/>
              <a:buChar char="ü"/>
            </a:pPr>
            <a:r>
              <a:rPr lang="en-US" dirty="0" smtClean="0"/>
              <a:t>It </a:t>
            </a:r>
            <a:r>
              <a:rPr lang="en-US" dirty="0"/>
              <a:t>gives the people a sense of identity and self-empowerment. They will feel recognized in their contribution to the growth of their own county. </a:t>
            </a:r>
          </a:p>
          <a:p>
            <a:pPr algn="just">
              <a:buFont typeface="Wingdings" panose="05000000000000000000" pitchFamily="2" charset="2"/>
              <a:buChar char="ü"/>
            </a:pPr>
            <a:r>
              <a:rPr lang="en-US" dirty="0" smtClean="0"/>
              <a:t> </a:t>
            </a:r>
            <a:r>
              <a:rPr lang="en-US" dirty="0"/>
              <a:t>Devolution often creates new motivation on the local level for the citizens to commit and invest its engagement for local public interest. Thus, it helps to integrate citizens and to enhance nation building. </a:t>
            </a:r>
          </a:p>
          <a:p>
            <a:pPr algn="just">
              <a:buFont typeface="Wingdings" panose="05000000000000000000" pitchFamily="2" charset="2"/>
              <a:buChar char="ü"/>
            </a:pPr>
            <a:r>
              <a:rPr lang="en-US" dirty="0" smtClean="0"/>
              <a:t> </a:t>
            </a:r>
            <a:r>
              <a:rPr lang="en-US" dirty="0"/>
              <a:t>Devolution ensures gender equity. The Constitution of Kenya stipulates that not more than two-thirds of the members of any county assembly or county executive shall be of the same gender. This gives room for women to be considered in both local and national appointments either through competitive processes or by taking affirmative action. </a:t>
            </a:r>
          </a:p>
        </p:txBody>
      </p:sp>
    </p:spTree>
    <p:extLst>
      <p:ext uri="{BB962C8B-B14F-4D97-AF65-F5344CB8AC3E}">
        <p14:creationId xmlns:p14="http://schemas.microsoft.com/office/powerpoint/2010/main" val="951863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 </a:t>
            </a:r>
            <a:r>
              <a:rPr lang="en-US" sz="2400" dirty="0"/>
              <a:t>Challenges to sharing and devolution of power</a:t>
            </a:r>
            <a:br>
              <a:rPr lang="en-US" sz="2400" dirty="0"/>
            </a:br>
            <a:r>
              <a:rPr lang="en-US" sz="2400" dirty="0"/>
              <a:t>Political challenges:</a:t>
            </a:r>
          </a:p>
        </p:txBody>
      </p:sp>
      <p:sp>
        <p:nvSpPr>
          <p:cNvPr id="3" name="Content Placeholder 2"/>
          <p:cNvSpPr>
            <a:spLocks noGrp="1"/>
          </p:cNvSpPr>
          <p:nvPr>
            <p:ph idx="1"/>
          </p:nvPr>
        </p:nvSpPr>
        <p:spPr/>
        <p:txBody>
          <a:bodyPr>
            <a:normAutofit fontScale="92500" lnSpcReduction="10000"/>
          </a:bodyPr>
          <a:lstStyle/>
          <a:p>
            <a:pPr algn="just">
              <a:buFont typeface="Wingdings" panose="05000000000000000000" pitchFamily="2" charset="2"/>
              <a:buChar char="ü"/>
            </a:pPr>
            <a:r>
              <a:rPr lang="en-US" dirty="0" smtClean="0"/>
              <a:t> </a:t>
            </a:r>
            <a:r>
              <a:rPr lang="en-US" dirty="0"/>
              <a:t>If not properly designed and implemented, devolution may facilitate emergence of weak institutions based on patron-client relations, and increase the risk of local politicians at the local level to use resources at their disposal to perpetuate themselves in power. They achieve this by skewing allocations in </a:t>
            </a:r>
            <a:r>
              <a:rPr lang="en-US" dirty="0" err="1"/>
              <a:t>favour</a:t>
            </a:r>
            <a:r>
              <a:rPr lang="en-US" dirty="0"/>
              <a:t> of their kinsmen, supporters and sycophants to purchase political loyalty. </a:t>
            </a:r>
            <a:endParaRPr lang="en-US" dirty="0" smtClean="0"/>
          </a:p>
          <a:p>
            <a:pPr algn="just">
              <a:buFont typeface="Wingdings" panose="05000000000000000000" pitchFamily="2" charset="2"/>
              <a:buChar char="ü"/>
            </a:pPr>
            <a:r>
              <a:rPr lang="en-US" dirty="0" smtClean="0"/>
              <a:t> </a:t>
            </a:r>
            <a:r>
              <a:rPr lang="en-US" dirty="0"/>
              <a:t>People power- control or participation: The demands of people power could be about controlling government without necessarily having an alternative slate of more efficacious development priorities or interventions, or even commitment to participation as an ideology. </a:t>
            </a:r>
            <a:endParaRPr lang="en-US" dirty="0" smtClean="0"/>
          </a:p>
          <a:p>
            <a:pPr algn="just">
              <a:buFont typeface="Wingdings" panose="05000000000000000000" pitchFamily="2" charset="2"/>
              <a:buChar char="ü"/>
            </a:pPr>
            <a:r>
              <a:rPr lang="en-US" dirty="0" smtClean="0"/>
              <a:t> </a:t>
            </a:r>
            <a:r>
              <a:rPr lang="en-US" dirty="0"/>
              <a:t>Non-existent or weak sub-national institutions: The heritages of nature and/ or “bad ‘governance” may result in glaring regional inequalities in capacities to manage devolved responsibilities often forming one basis of the demand for devolution. The dilemma is that decentralizing reform in the face of such initial inequalities could either deepen the inequalities or lead to a suboptimal operation of the chosen devolution framework. </a:t>
            </a:r>
          </a:p>
        </p:txBody>
      </p:sp>
    </p:spTree>
    <p:extLst>
      <p:ext uri="{BB962C8B-B14F-4D97-AF65-F5344CB8AC3E}">
        <p14:creationId xmlns:p14="http://schemas.microsoft.com/office/powerpoint/2010/main" val="24277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62099"/>
            <a:ext cx="8596668" cy="126670"/>
          </a:xfrm>
        </p:spPr>
        <p:txBody>
          <a:bodyPr>
            <a:normAutofit fontScale="90000"/>
          </a:bodyPr>
          <a:lstStyle/>
          <a:p>
            <a:endParaRPr lang="en-US"/>
          </a:p>
        </p:txBody>
      </p:sp>
      <p:sp>
        <p:nvSpPr>
          <p:cNvPr id="3" name="Content Placeholder 2"/>
          <p:cNvSpPr>
            <a:spLocks noGrp="1"/>
          </p:cNvSpPr>
          <p:nvPr>
            <p:ph idx="1"/>
          </p:nvPr>
        </p:nvSpPr>
        <p:spPr>
          <a:xfrm>
            <a:off x="677334" y="1140031"/>
            <a:ext cx="8596668" cy="4901331"/>
          </a:xfrm>
        </p:spPr>
        <p:txBody>
          <a:bodyPr>
            <a:normAutofit/>
          </a:bodyPr>
          <a:lstStyle/>
          <a:p>
            <a:pPr marL="0" indent="0">
              <a:buNone/>
            </a:pPr>
            <a:endParaRPr lang="en-US" dirty="0"/>
          </a:p>
          <a:p>
            <a:pPr algn="just">
              <a:buFont typeface="Wingdings" panose="05000000000000000000" pitchFamily="2" charset="2"/>
              <a:buChar char="ü"/>
            </a:pPr>
            <a:r>
              <a:rPr lang="en-US" dirty="0" smtClean="0"/>
              <a:t> </a:t>
            </a:r>
            <a:r>
              <a:rPr lang="en-US" dirty="0"/>
              <a:t>Transfer of inefficiency: Where the cause of poor service delivery is unclear, devolution is unlikely to be the solution since national level bottlenecks are replicable at sub-national levels. There must, for instance, be concern not to transfer national level corruption to sub-national levels. </a:t>
            </a:r>
            <a:endParaRPr lang="en-US" dirty="0" smtClean="0"/>
          </a:p>
          <a:p>
            <a:pPr algn="just">
              <a:buFont typeface="Wingdings" panose="05000000000000000000" pitchFamily="2" charset="2"/>
              <a:buChar char="ü"/>
            </a:pPr>
            <a:r>
              <a:rPr lang="en-US" dirty="0" smtClean="0"/>
              <a:t> </a:t>
            </a:r>
            <a:r>
              <a:rPr lang="en-US" dirty="0"/>
              <a:t>Elite capture is a phenomenon where resources transferred for the benefit of the masses `are usurped by few individuals, usually politically or economically powerful groups. This impacts on the socio-economic development and provision of quality services at all levels of government. </a:t>
            </a:r>
          </a:p>
        </p:txBody>
      </p:sp>
    </p:spTree>
    <p:extLst>
      <p:ext uri="{BB962C8B-B14F-4D97-AF65-F5344CB8AC3E}">
        <p14:creationId xmlns:p14="http://schemas.microsoft.com/office/powerpoint/2010/main" val="1197986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7938"/>
          </a:xfrm>
        </p:spPr>
        <p:txBody>
          <a:bodyPr>
            <a:normAutofit/>
          </a:bodyPr>
          <a:lstStyle/>
          <a:p>
            <a:r>
              <a:rPr lang="en-US" dirty="0" smtClean="0"/>
              <a:t>Economic challenges</a:t>
            </a:r>
            <a:endParaRPr lang="en-US" dirty="0"/>
          </a:p>
        </p:txBody>
      </p:sp>
      <p:sp>
        <p:nvSpPr>
          <p:cNvPr id="3" name="Content Placeholder 2"/>
          <p:cNvSpPr>
            <a:spLocks noGrp="1"/>
          </p:cNvSpPr>
          <p:nvPr>
            <p:ph idx="1"/>
          </p:nvPr>
        </p:nvSpPr>
        <p:spPr>
          <a:xfrm>
            <a:off x="677334" y="1460665"/>
            <a:ext cx="8596668" cy="4580697"/>
          </a:xfrm>
        </p:spPr>
        <p:txBody>
          <a:bodyPr>
            <a:normAutofit/>
          </a:bodyPr>
          <a:lstStyle/>
          <a:p>
            <a:pPr algn="just">
              <a:buFont typeface="Wingdings" panose="05000000000000000000" pitchFamily="2" charset="2"/>
              <a:buChar char="ü"/>
            </a:pPr>
            <a:r>
              <a:rPr lang="en-US" dirty="0" smtClean="0"/>
              <a:t> </a:t>
            </a:r>
            <a:r>
              <a:rPr lang="en-US" dirty="0"/>
              <a:t>It might lead to excessive taxation. The Constitution provides for taxation and also gives County </a:t>
            </a:r>
            <a:r>
              <a:rPr lang="en-US" dirty="0" smtClean="0"/>
              <a:t>The </a:t>
            </a:r>
            <a:r>
              <a:rPr lang="en-US" dirty="0"/>
              <a:t>County Government may impose property rates, entertainment taxes and any other tax that it is </a:t>
            </a:r>
            <a:r>
              <a:rPr lang="en-US" dirty="0" err="1"/>
              <a:t>authorised</a:t>
            </a:r>
            <a:r>
              <a:rPr lang="en-US" dirty="0"/>
              <a:t> to impose by an Act of Parliament. </a:t>
            </a:r>
          </a:p>
          <a:p>
            <a:pPr algn="just">
              <a:buFont typeface="Wingdings" panose="05000000000000000000" pitchFamily="2" charset="2"/>
              <a:buChar char="ü"/>
            </a:pPr>
            <a:r>
              <a:rPr lang="en-US" dirty="0" smtClean="0"/>
              <a:t>Devolution </a:t>
            </a:r>
            <a:r>
              <a:rPr lang="en-US" dirty="0"/>
              <a:t>risks allowing greater levels of corruption and mismanagement of economic resources when a decision is moved further from local levels. It is evidenced where community members lack awareness as to their roles and capacity to execute them. For instance, corruption is higher in the absence of structures to enable the community effectively monitor and evaluate usage of funds. </a:t>
            </a:r>
          </a:p>
          <a:p>
            <a:pPr algn="just">
              <a:buFont typeface="Wingdings" panose="05000000000000000000" pitchFamily="2" charset="2"/>
              <a:buChar char="ü"/>
            </a:pPr>
            <a:r>
              <a:rPr lang="en-US" dirty="0" smtClean="0"/>
              <a:t>Devolution </a:t>
            </a:r>
            <a:r>
              <a:rPr lang="en-US" dirty="0"/>
              <a:t>may also ―diminish the power and value of the national government to redistribute resources which creates a drawback to the less developed units. This may result in dependency and eventually instability where dependency is </a:t>
            </a:r>
            <a:r>
              <a:rPr lang="en-US" dirty="0" smtClean="0"/>
              <a:t>chronic</a:t>
            </a:r>
            <a:endParaRPr lang="en-US" dirty="0"/>
          </a:p>
        </p:txBody>
      </p:sp>
    </p:spTree>
    <p:extLst>
      <p:ext uri="{BB962C8B-B14F-4D97-AF65-F5344CB8AC3E}">
        <p14:creationId xmlns:p14="http://schemas.microsoft.com/office/powerpoint/2010/main" val="608514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54182"/>
          </a:xfrm>
        </p:spPr>
        <p:txBody>
          <a:bodyPr>
            <a:normAutofit fontScale="90000"/>
          </a:bodyPr>
          <a:lstStyle/>
          <a:p>
            <a:r>
              <a:rPr lang="en-US" dirty="0" smtClean="0"/>
              <a:t> </a:t>
            </a:r>
            <a:r>
              <a:rPr lang="en-US" dirty="0"/>
              <a:t>Social challenges</a:t>
            </a:r>
          </a:p>
        </p:txBody>
      </p:sp>
      <p:sp>
        <p:nvSpPr>
          <p:cNvPr id="3" name="Content Placeholder 2"/>
          <p:cNvSpPr>
            <a:spLocks noGrp="1"/>
          </p:cNvSpPr>
          <p:nvPr>
            <p:ph idx="1"/>
          </p:nvPr>
        </p:nvSpPr>
        <p:spPr>
          <a:xfrm>
            <a:off x="677334" y="1068779"/>
            <a:ext cx="8596668" cy="4936957"/>
          </a:xfrm>
        </p:spPr>
        <p:txBody>
          <a:bodyPr>
            <a:normAutofit/>
          </a:bodyPr>
          <a:lstStyle/>
          <a:p>
            <a:pPr algn="just">
              <a:buFont typeface="Wingdings" panose="05000000000000000000" pitchFamily="2" charset="2"/>
              <a:buChar char="ü"/>
            </a:pPr>
            <a:r>
              <a:rPr lang="en-US" dirty="0" smtClean="0"/>
              <a:t>Devolution </a:t>
            </a:r>
            <a:r>
              <a:rPr lang="en-US" dirty="0"/>
              <a:t>if inappropriately applied can undermine national unity and inflate ethnic, religious and cultural tensions. It has the potential to lead to even greater </a:t>
            </a:r>
            <a:r>
              <a:rPr lang="en-US" dirty="0" err="1"/>
              <a:t>marginalisation</a:t>
            </a:r>
            <a:r>
              <a:rPr lang="en-US" dirty="0"/>
              <a:t> and discrimination of minorities and minorities within minorities especially in county level decision making and resource allocation.  </a:t>
            </a:r>
            <a:r>
              <a:rPr lang="en-US" dirty="0" err="1"/>
              <a:t>Decentralisation</a:t>
            </a:r>
            <a:r>
              <a:rPr lang="en-US" dirty="0"/>
              <a:t> may bring development prioritization nearer prospective beneficiaries who are assumed to know that may inflame tensions and ultimately violence and thus hamper service delivery to the citizens. </a:t>
            </a:r>
            <a:endParaRPr lang="en-US" dirty="0" smtClean="0"/>
          </a:p>
          <a:p>
            <a:pPr algn="just">
              <a:buFont typeface="Wingdings" panose="05000000000000000000" pitchFamily="2" charset="2"/>
              <a:buChar char="ü"/>
            </a:pPr>
            <a:r>
              <a:rPr lang="en-US" dirty="0" smtClean="0"/>
              <a:t> </a:t>
            </a:r>
            <a:r>
              <a:rPr lang="en-US" dirty="0"/>
              <a:t>Deepening of Inequalities: Poorly applied devolution could create socio- economic and political inequality and hence feelings of discrimination and </a:t>
            </a:r>
            <a:r>
              <a:rPr lang="en-US" dirty="0" err="1"/>
              <a:t>marginalisation</a:t>
            </a:r>
            <a:r>
              <a:rPr lang="en-US" dirty="0"/>
              <a:t>. This is one of the drivers of conflicts and violence. </a:t>
            </a:r>
          </a:p>
          <a:p>
            <a:endParaRPr lang="en-US" dirty="0"/>
          </a:p>
        </p:txBody>
      </p:sp>
    </p:spTree>
    <p:extLst>
      <p:ext uri="{BB962C8B-B14F-4D97-AF65-F5344CB8AC3E}">
        <p14:creationId xmlns:p14="http://schemas.microsoft.com/office/powerpoint/2010/main" val="2472690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t>
            </a:r>
            <a:r>
              <a:rPr lang="en-US" dirty="0"/>
              <a:t>Technological challenges</a:t>
            </a:r>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 </a:t>
            </a:r>
            <a:r>
              <a:rPr lang="en-US" dirty="0"/>
              <a:t>Where devolution creates inequalities among counties or institutions that are not equipped with infrastructure and technological facilities. </a:t>
            </a:r>
          </a:p>
          <a:p>
            <a:pPr>
              <a:buFont typeface="Wingdings" panose="05000000000000000000" pitchFamily="2" charset="2"/>
              <a:buChar char="ü"/>
            </a:pPr>
            <a:r>
              <a:rPr lang="en-US" dirty="0" smtClean="0"/>
              <a:t> </a:t>
            </a:r>
            <a:r>
              <a:rPr lang="en-US" dirty="0"/>
              <a:t>Lack of technological capacity</a:t>
            </a:r>
            <a:r>
              <a:rPr lang="en-US"/>
              <a:t>. </a:t>
            </a:r>
          </a:p>
          <a:p>
            <a:pPr>
              <a:buFont typeface="Wingdings" panose="05000000000000000000" pitchFamily="2" charset="2"/>
              <a:buChar char="ü"/>
            </a:pPr>
            <a:r>
              <a:rPr lang="en-US" smtClean="0"/>
              <a:t> </a:t>
            </a:r>
            <a:r>
              <a:rPr lang="en-US" dirty="0"/>
              <a:t>Manipulation of technology for personal gain. </a:t>
            </a:r>
          </a:p>
        </p:txBody>
      </p:sp>
    </p:spTree>
    <p:extLst>
      <p:ext uri="{BB962C8B-B14F-4D97-AF65-F5344CB8AC3E}">
        <p14:creationId xmlns:p14="http://schemas.microsoft.com/office/powerpoint/2010/main" val="652019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Legal challenges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ü"/>
            </a:pPr>
            <a:r>
              <a:rPr lang="en-US" dirty="0" smtClean="0"/>
              <a:t>Lack </a:t>
            </a:r>
            <a:r>
              <a:rPr lang="en-US" dirty="0"/>
              <a:t>of capacity to formulate legislations. </a:t>
            </a:r>
          </a:p>
          <a:p>
            <a:pPr>
              <a:buFont typeface="Wingdings" panose="05000000000000000000" pitchFamily="2" charset="2"/>
              <a:buChar char="ü"/>
            </a:pPr>
            <a:r>
              <a:rPr lang="en-US" dirty="0" smtClean="0"/>
              <a:t> </a:t>
            </a:r>
            <a:r>
              <a:rPr lang="en-US" dirty="0"/>
              <a:t>Conflicting and </a:t>
            </a:r>
            <a:r>
              <a:rPr lang="en-US" dirty="0" err="1"/>
              <a:t>unharmonised</a:t>
            </a:r>
            <a:r>
              <a:rPr lang="en-US" dirty="0"/>
              <a:t> legislation. </a:t>
            </a:r>
          </a:p>
          <a:p>
            <a:pPr>
              <a:buFont typeface="Wingdings" panose="05000000000000000000" pitchFamily="2" charset="2"/>
              <a:buChar char="ü"/>
            </a:pPr>
            <a:r>
              <a:rPr lang="en-US" dirty="0" smtClean="0"/>
              <a:t> </a:t>
            </a:r>
            <a:r>
              <a:rPr lang="en-US" dirty="0"/>
              <a:t>Lack of participatory decision making. </a:t>
            </a:r>
          </a:p>
          <a:p>
            <a:pPr marL="0" indent="0">
              <a:buNone/>
            </a:pPr>
            <a:r>
              <a:rPr lang="en-US" dirty="0" smtClean="0"/>
              <a:t> </a:t>
            </a:r>
            <a:r>
              <a:rPr lang="en-US" dirty="0"/>
              <a:t>Ecological challenges </a:t>
            </a:r>
          </a:p>
          <a:p>
            <a:pPr>
              <a:buFont typeface="Wingdings" panose="05000000000000000000" pitchFamily="2" charset="2"/>
              <a:buChar char="ü"/>
            </a:pPr>
            <a:r>
              <a:rPr lang="en-US" dirty="0" smtClean="0"/>
              <a:t>Competition </a:t>
            </a:r>
            <a:r>
              <a:rPr lang="en-US" dirty="0"/>
              <a:t>for resources within and across counties </a:t>
            </a:r>
          </a:p>
          <a:p>
            <a:pPr>
              <a:buFont typeface="Wingdings" panose="05000000000000000000" pitchFamily="2" charset="2"/>
              <a:buChar char="ü"/>
            </a:pPr>
            <a:r>
              <a:rPr lang="en-US" dirty="0" smtClean="0"/>
              <a:t> </a:t>
            </a:r>
            <a:r>
              <a:rPr lang="en-US" dirty="0"/>
              <a:t>Pollution due to proliferation iii. Deforestation </a:t>
            </a:r>
          </a:p>
          <a:p>
            <a:pPr>
              <a:buFont typeface="Wingdings" panose="05000000000000000000" pitchFamily="2" charset="2"/>
              <a:buChar char="ü"/>
            </a:pPr>
            <a:r>
              <a:rPr lang="en-US" dirty="0" smtClean="0"/>
              <a:t>Human-wildlife </a:t>
            </a:r>
            <a:r>
              <a:rPr lang="en-US" dirty="0"/>
              <a:t>conflicts </a:t>
            </a:r>
          </a:p>
          <a:p>
            <a:pPr>
              <a:buFont typeface="Wingdings" panose="05000000000000000000" pitchFamily="2" charset="2"/>
              <a:buChar char="ü"/>
            </a:pPr>
            <a:r>
              <a:rPr lang="en-US" dirty="0" smtClean="0"/>
              <a:t> </a:t>
            </a:r>
            <a:r>
              <a:rPr lang="en-US" dirty="0"/>
              <a:t>Lack of adherence to institutional and legal frameworks to ensure environmental protection. </a:t>
            </a:r>
          </a:p>
          <a:p>
            <a:endParaRPr lang="en-US" dirty="0"/>
          </a:p>
        </p:txBody>
      </p:sp>
    </p:spTree>
    <p:extLst>
      <p:ext uri="{BB962C8B-B14F-4D97-AF65-F5344CB8AC3E}">
        <p14:creationId xmlns:p14="http://schemas.microsoft.com/office/powerpoint/2010/main" val="2879529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Democracy and participation of the people</a:t>
            </a:r>
          </a:p>
        </p:txBody>
      </p:sp>
      <p:sp>
        <p:nvSpPr>
          <p:cNvPr id="3" name="Content Placeholder 2"/>
          <p:cNvSpPr>
            <a:spLocks noGrp="1"/>
          </p:cNvSpPr>
          <p:nvPr>
            <p:ph idx="1"/>
          </p:nvPr>
        </p:nvSpPr>
        <p:spPr/>
        <p:txBody>
          <a:bodyPr>
            <a:normAutofit/>
          </a:bodyPr>
          <a:lstStyle/>
          <a:p>
            <a:pPr marL="0" indent="0" algn="just">
              <a:buNone/>
            </a:pPr>
            <a:r>
              <a:rPr lang="en-US" dirty="0" smtClean="0"/>
              <a:t> </a:t>
            </a:r>
            <a:r>
              <a:rPr lang="en-US" dirty="0"/>
              <a:t>Democracy and participation of the people refers to a political culture of involving people at all levels of decision making; where everyone is equally bestowed with the powers to exercise personal skills, access information, utilize opportunities, elect their representatives, express their views, and participate in governance without prohibition. </a:t>
            </a:r>
            <a:endParaRPr lang="en-US" dirty="0" smtClean="0"/>
          </a:p>
          <a:p>
            <a:pPr marL="0" indent="0" algn="just">
              <a:buNone/>
            </a:pPr>
            <a:r>
              <a:rPr lang="en-US" dirty="0" smtClean="0"/>
              <a:t> </a:t>
            </a:r>
            <a:r>
              <a:rPr lang="en-US" dirty="0"/>
              <a:t>It also refers to the right to contribute to societal and national issues particularly in reference to leadership and governance.  </a:t>
            </a:r>
            <a:endParaRPr lang="en-US" dirty="0" smtClean="0"/>
          </a:p>
          <a:p>
            <a:pPr marL="0" indent="0" algn="just">
              <a:buNone/>
            </a:pPr>
            <a:r>
              <a:rPr lang="en-US" dirty="0" smtClean="0"/>
              <a:t> </a:t>
            </a:r>
            <a:r>
              <a:rPr lang="en-US" dirty="0"/>
              <a:t>Democracy and participation of the people go hand in hand. The key role of citizens in a democracy is to participate in public life.  Citizen participation is one of the key building blocks of sustainable democracy. </a:t>
            </a:r>
          </a:p>
        </p:txBody>
      </p:sp>
    </p:spTree>
    <p:extLst>
      <p:ext uri="{BB962C8B-B14F-4D97-AF65-F5344CB8AC3E}">
        <p14:creationId xmlns:p14="http://schemas.microsoft.com/office/powerpoint/2010/main" val="3945259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smtClean="0"/>
              <a:t>Citizens </a:t>
            </a:r>
            <a:r>
              <a:rPr lang="en-US" dirty="0"/>
              <a:t>have the right to be informed about public issues, to watch carefully how their political leaders and representatives use their powers, and to express their own opinions and interests. </a:t>
            </a:r>
          </a:p>
          <a:p>
            <a:pPr marL="0" indent="0" algn="just">
              <a:buNone/>
            </a:pPr>
            <a:r>
              <a:rPr lang="en-US" dirty="0" smtClean="0"/>
              <a:t>It </a:t>
            </a:r>
            <a:r>
              <a:rPr lang="en-US" dirty="0"/>
              <a:t>is widely </a:t>
            </a:r>
            <a:r>
              <a:rPr lang="en-US" dirty="0" err="1"/>
              <a:t>recognised</a:t>
            </a:r>
            <a:r>
              <a:rPr lang="en-US" dirty="0"/>
              <a:t> that the active and meaningful participation of citizens in public affairs is the distinguishing feature of democratic societies.  </a:t>
            </a:r>
          </a:p>
          <a:p>
            <a:pPr marL="0" indent="0" algn="just">
              <a:buNone/>
            </a:pPr>
            <a:r>
              <a:rPr lang="en-US" dirty="0" smtClean="0"/>
              <a:t> </a:t>
            </a:r>
            <a:r>
              <a:rPr lang="en-US" dirty="0"/>
              <a:t>Types of democracy There are two main types of democracy, namely: </a:t>
            </a:r>
            <a:r>
              <a:rPr lang="en-US" dirty="0" err="1"/>
              <a:t>i</a:t>
            </a:r>
            <a:r>
              <a:rPr lang="en-US" dirty="0"/>
              <a:t>. Direct democracy ii. Representative democracy. a. Direct democracy </a:t>
            </a:r>
            <a:endParaRPr lang="en-US" dirty="0" smtClean="0"/>
          </a:p>
          <a:p>
            <a:pPr marL="0" indent="0" algn="just">
              <a:buNone/>
            </a:pPr>
            <a:r>
              <a:rPr lang="en-US" dirty="0" smtClean="0"/>
              <a:t> </a:t>
            </a:r>
            <a:r>
              <a:rPr lang="en-US" dirty="0"/>
              <a:t>Direct Democracy is a system where the people make the key political decisions by themselves. This abolishes any distinction between the state and the citizens as it is a form of self-government. </a:t>
            </a:r>
            <a:endParaRPr lang="en-US" dirty="0" smtClean="0"/>
          </a:p>
          <a:p>
            <a:pPr marL="0" indent="0" algn="just">
              <a:buNone/>
            </a:pPr>
            <a:r>
              <a:rPr lang="en-US" dirty="0" smtClean="0"/>
              <a:t> </a:t>
            </a:r>
            <a:r>
              <a:rPr lang="en-US" dirty="0"/>
              <a:t>The effectiveness of this model of democracy is directly proportional to the extent of popular participation. In a direct democracy, the people’s influence on the state is not limited to electing representatives to the parliament or government. </a:t>
            </a:r>
            <a:endParaRPr lang="en-US" dirty="0" smtClean="0"/>
          </a:p>
          <a:p>
            <a:pPr marL="0" indent="0" algn="just">
              <a:buNone/>
            </a:pPr>
            <a:r>
              <a:rPr lang="en-US" dirty="0" smtClean="0"/>
              <a:t> </a:t>
            </a:r>
            <a:r>
              <a:rPr lang="en-US" dirty="0"/>
              <a:t>Citizens can express their views and intervene directly on their representatives’ activities through a popular initiative and/or referendum. </a:t>
            </a:r>
          </a:p>
          <a:p>
            <a:pPr algn="just"/>
            <a:r>
              <a:rPr lang="en-US" dirty="0"/>
              <a:t> </a:t>
            </a:r>
          </a:p>
          <a:p>
            <a:endParaRPr lang="en-US" dirty="0"/>
          </a:p>
        </p:txBody>
      </p:sp>
    </p:spTree>
    <p:extLst>
      <p:ext uri="{BB962C8B-B14F-4D97-AF65-F5344CB8AC3E}">
        <p14:creationId xmlns:p14="http://schemas.microsoft.com/office/powerpoint/2010/main" val="3884894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Representative democracy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endParaRPr lang="en-US" dirty="0"/>
          </a:p>
          <a:p>
            <a:pPr marL="0" indent="0" algn="just">
              <a:buNone/>
            </a:pPr>
            <a:r>
              <a:rPr lang="en-US" dirty="0" smtClean="0"/>
              <a:t> </a:t>
            </a:r>
            <a:r>
              <a:rPr lang="en-US" dirty="0"/>
              <a:t>Representative democracy is a form of indirect democracy in which professional politicians act for or on behalf of the people. </a:t>
            </a:r>
            <a:endParaRPr lang="en-US" dirty="0" smtClean="0"/>
          </a:p>
          <a:p>
            <a:pPr marL="0" indent="0" algn="just">
              <a:buNone/>
            </a:pPr>
            <a:r>
              <a:rPr lang="en-US" dirty="0" smtClean="0"/>
              <a:t> </a:t>
            </a:r>
            <a:r>
              <a:rPr lang="en-US" dirty="0"/>
              <a:t>This is typically expressed through a system of regular and democratic elections which enable politicians to be removed and made publicly accountable. </a:t>
            </a:r>
          </a:p>
          <a:p>
            <a:pPr marL="0" indent="0" algn="just">
              <a:buNone/>
            </a:pPr>
            <a:r>
              <a:rPr lang="en-US" dirty="0" smtClean="0"/>
              <a:t>It </a:t>
            </a:r>
            <a:r>
              <a:rPr lang="en-US" dirty="0"/>
              <a:t>seeks to ensure that government and parliament reflect and respect the opinions of the people. Politicians seek legitimacy from elections. </a:t>
            </a:r>
          </a:p>
          <a:p>
            <a:pPr marL="0" indent="0" algn="just">
              <a:buNone/>
            </a:pPr>
            <a:r>
              <a:rPr lang="en-US" dirty="0" smtClean="0"/>
              <a:t>Representative </a:t>
            </a:r>
            <a:r>
              <a:rPr lang="en-US" dirty="0"/>
              <a:t>democracy is the most prevalent form of democracy in the world today. </a:t>
            </a:r>
          </a:p>
          <a:p>
            <a:pPr marL="0" indent="0" algn="just">
              <a:buNone/>
            </a:pPr>
            <a:r>
              <a:rPr lang="en-US" dirty="0" smtClean="0"/>
              <a:t> </a:t>
            </a:r>
            <a:r>
              <a:rPr lang="en-US" dirty="0"/>
              <a:t>Elements of democracy </a:t>
            </a:r>
            <a:r>
              <a:rPr lang="en-US" dirty="0" err="1"/>
              <a:t>Democracy</a:t>
            </a:r>
            <a:r>
              <a:rPr lang="en-US" dirty="0"/>
              <a:t> as a system of government has four key elements namely</a:t>
            </a:r>
            <a:r>
              <a:rPr lang="en-US" dirty="0" smtClean="0"/>
              <a:t>:</a:t>
            </a:r>
          </a:p>
          <a:p>
            <a:pPr marL="0" indent="0" algn="just">
              <a:buNone/>
            </a:pPr>
            <a:r>
              <a:rPr lang="en-US" dirty="0" smtClean="0"/>
              <a:t> </a:t>
            </a:r>
            <a:r>
              <a:rPr lang="en-US" dirty="0" err="1"/>
              <a:t>i.A</a:t>
            </a:r>
            <a:r>
              <a:rPr lang="en-US" dirty="0"/>
              <a:t> political system for choosing and replacing the government through free and fair elections; </a:t>
            </a:r>
            <a:r>
              <a:rPr lang="en-US" dirty="0" err="1"/>
              <a:t>ii.The</a:t>
            </a:r>
            <a:r>
              <a:rPr lang="en-US" dirty="0"/>
              <a:t> active participation of the people as citizens in politics and civic life; </a:t>
            </a:r>
            <a:r>
              <a:rPr lang="en-US" dirty="0" err="1"/>
              <a:t>iii.Protection</a:t>
            </a:r>
            <a:r>
              <a:rPr lang="en-US" dirty="0"/>
              <a:t> of the human rights of all citizens; and   </a:t>
            </a:r>
            <a:r>
              <a:rPr lang="en-US" dirty="0" err="1"/>
              <a:t>iv.A</a:t>
            </a:r>
            <a:r>
              <a:rPr lang="en-US" dirty="0"/>
              <a:t> rule of law, in which the laws and procedures apply equally to all citizens.  </a:t>
            </a:r>
          </a:p>
          <a:p>
            <a:pPr algn="just"/>
            <a:r>
              <a:rPr lang="en-US" dirty="0"/>
              <a:t> </a:t>
            </a:r>
          </a:p>
        </p:txBody>
      </p:sp>
    </p:spTree>
    <p:extLst>
      <p:ext uri="{BB962C8B-B14F-4D97-AF65-F5344CB8AC3E}">
        <p14:creationId xmlns:p14="http://schemas.microsoft.com/office/powerpoint/2010/main" val="1136558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9.5.1 Indicators of democracy and participation of the people </a:t>
            </a:r>
            <a:br>
              <a:rPr lang="en-US" dirty="0"/>
            </a:br>
            <a:r>
              <a:rPr lang="en-US" dirty="0"/>
              <a:t> </a:t>
            </a:r>
            <a:br>
              <a:rPr lang="en-US" dirty="0"/>
            </a:b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t>Good </a:t>
            </a:r>
            <a:r>
              <a:rPr lang="en-US" dirty="0"/>
              <a:t>governance;  Regular, free and fair elections;  Participation of the people in elections and public decision making; </a:t>
            </a:r>
          </a:p>
          <a:p>
            <a:pPr marL="0" indent="0" algn="just">
              <a:buNone/>
            </a:pPr>
            <a:r>
              <a:rPr lang="en-US" dirty="0" smtClean="0"/>
              <a:t>Adherence </a:t>
            </a:r>
            <a:r>
              <a:rPr lang="en-US" dirty="0"/>
              <a:t>to the rule of law; </a:t>
            </a:r>
          </a:p>
          <a:p>
            <a:pPr marL="0" indent="0" algn="just">
              <a:buNone/>
            </a:pPr>
            <a:r>
              <a:rPr lang="en-US" dirty="0" smtClean="0"/>
              <a:t> </a:t>
            </a:r>
            <a:r>
              <a:rPr lang="en-US" dirty="0"/>
              <a:t>Protection of fundamental freedoms and rights; </a:t>
            </a:r>
            <a:endParaRPr lang="en-US" dirty="0" smtClean="0"/>
          </a:p>
          <a:p>
            <a:pPr marL="0" indent="0" algn="just">
              <a:buNone/>
            </a:pPr>
            <a:r>
              <a:rPr lang="en-US" dirty="0" smtClean="0"/>
              <a:t>Improved </a:t>
            </a:r>
            <a:r>
              <a:rPr lang="en-US" dirty="0"/>
              <a:t>welfare of the citizens; </a:t>
            </a:r>
          </a:p>
          <a:p>
            <a:pPr marL="0" indent="0" algn="just">
              <a:buNone/>
            </a:pPr>
            <a:r>
              <a:rPr lang="en-US" dirty="0" smtClean="0"/>
              <a:t>Freedom </a:t>
            </a:r>
            <a:r>
              <a:rPr lang="en-US" dirty="0"/>
              <a:t>of assembly, demonstration, and open public discussion on all issues;  </a:t>
            </a:r>
            <a:endParaRPr lang="en-US" dirty="0" smtClean="0"/>
          </a:p>
          <a:p>
            <a:pPr marL="0" indent="0" algn="just">
              <a:buNone/>
            </a:pPr>
            <a:r>
              <a:rPr lang="en-US" dirty="0" smtClean="0"/>
              <a:t> </a:t>
            </a:r>
            <a:r>
              <a:rPr lang="en-US" dirty="0"/>
              <a:t>Majority rule and respect of the rights of the minorities;   Respect of human dignity and sanctity of life.   </a:t>
            </a:r>
          </a:p>
        </p:txBody>
      </p:sp>
    </p:spTree>
    <p:extLst>
      <p:ext uri="{BB962C8B-B14F-4D97-AF65-F5344CB8AC3E}">
        <p14:creationId xmlns:p14="http://schemas.microsoft.com/office/powerpoint/2010/main" val="25866665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of citizen participation </a:t>
            </a:r>
          </a:p>
        </p:txBody>
      </p:sp>
      <p:sp>
        <p:nvSpPr>
          <p:cNvPr id="3" name="Content Placeholder 2"/>
          <p:cNvSpPr>
            <a:spLocks noGrp="1"/>
          </p:cNvSpPr>
          <p:nvPr>
            <p:ph idx="1"/>
          </p:nvPr>
        </p:nvSpPr>
        <p:spPr/>
        <p:txBody>
          <a:bodyPr>
            <a:normAutofit/>
          </a:bodyPr>
          <a:lstStyle/>
          <a:p>
            <a:pPr algn="just"/>
            <a:r>
              <a:rPr lang="en-US" dirty="0"/>
              <a:t> </a:t>
            </a:r>
            <a:r>
              <a:rPr lang="en-US" dirty="0" smtClean="0"/>
              <a:t>  </a:t>
            </a:r>
            <a:r>
              <a:rPr lang="en-US" dirty="0"/>
              <a:t>Participation of the people in voting during elections. </a:t>
            </a:r>
          </a:p>
          <a:p>
            <a:pPr algn="just"/>
            <a:r>
              <a:rPr lang="en-US" dirty="0" smtClean="0"/>
              <a:t>Offering </a:t>
            </a:r>
            <a:r>
              <a:rPr lang="en-US" dirty="0"/>
              <a:t>oneself as a candidate for political office. </a:t>
            </a:r>
            <a:endParaRPr lang="en-US" dirty="0" smtClean="0"/>
          </a:p>
          <a:p>
            <a:pPr algn="just"/>
            <a:r>
              <a:rPr lang="en-US" dirty="0" smtClean="0"/>
              <a:t> </a:t>
            </a:r>
            <a:r>
              <a:rPr lang="en-US" dirty="0"/>
              <a:t>Debating public issues.  Attending community meetings.  Petitioning the government and even protesting. </a:t>
            </a:r>
            <a:endParaRPr lang="en-US" dirty="0" smtClean="0"/>
          </a:p>
          <a:p>
            <a:pPr algn="just"/>
            <a:r>
              <a:rPr lang="en-US" dirty="0" smtClean="0"/>
              <a:t> </a:t>
            </a:r>
            <a:r>
              <a:rPr lang="en-US" dirty="0"/>
              <a:t>Active membership in independent non-governmental organizations or civil Societies.  </a:t>
            </a:r>
            <a:endParaRPr lang="en-US" dirty="0" smtClean="0"/>
          </a:p>
          <a:p>
            <a:pPr algn="just"/>
            <a:r>
              <a:rPr lang="en-US" dirty="0" smtClean="0"/>
              <a:t> </a:t>
            </a:r>
            <a:r>
              <a:rPr lang="en-US" dirty="0"/>
              <a:t>Paying of taxes by the citizens. </a:t>
            </a:r>
            <a:endParaRPr lang="en-US" dirty="0" smtClean="0"/>
          </a:p>
          <a:p>
            <a:pPr algn="just"/>
            <a:r>
              <a:rPr lang="en-US" dirty="0" smtClean="0"/>
              <a:t> </a:t>
            </a:r>
            <a:r>
              <a:rPr lang="en-US" dirty="0"/>
              <a:t>Monitoring and evaluation of governance processes and activities including legislations, policy development, implementation and interpretation. </a:t>
            </a:r>
          </a:p>
          <a:p>
            <a:pPr marL="0" indent="0" algn="just">
              <a:buNone/>
            </a:pPr>
            <a:r>
              <a:rPr lang="en-US" dirty="0"/>
              <a:t> </a:t>
            </a:r>
          </a:p>
          <a:p>
            <a:pPr marL="0" indent="0" algn="just">
              <a:buNone/>
            </a:pPr>
            <a:endParaRPr lang="en-US" dirty="0"/>
          </a:p>
          <a:p>
            <a:endParaRPr lang="en-US" dirty="0"/>
          </a:p>
        </p:txBody>
      </p:sp>
    </p:spTree>
    <p:extLst>
      <p:ext uri="{BB962C8B-B14F-4D97-AF65-F5344CB8AC3E}">
        <p14:creationId xmlns:p14="http://schemas.microsoft.com/office/powerpoint/2010/main" val="2471006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a:t>
            </a:r>
            <a:r>
              <a:rPr lang="en-US" dirty="0"/>
              <a:t>of democracy and participation of the people </a:t>
            </a:r>
            <a:br>
              <a:rPr lang="en-US" dirty="0"/>
            </a:br>
            <a:r>
              <a:rPr lang="en-US" dirty="0"/>
              <a:t> </a:t>
            </a:r>
          </a:p>
        </p:txBody>
      </p:sp>
      <p:sp>
        <p:nvSpPr>
          <p:cNvPr id="3" name="Content Placeholder 2"/>
          <p:cNvSpPr>
            <a:spLocks noGrp="1"/>
          </p:cNvSpPr>
          <p:nvPr>
            <p:ph idx="1"/>
          </p:nvPr>
        </p:nvSpPr>
        <p:spPr/>
        <p:txBody>
          <a:bodyPr>
            <a:normAutofit/>
          </a:bodyPr>
          <a:lstStyle/>
          <a:p>
            <a:pPr algn="just"/>
            <a:r>
              <a:rPr lang="en-US" dirty="0" smtClean="0"/>
              <a:t>Increased </a:t>
            </a:r>
            <a:r>
              <a:rPr lang="en-US" dirty="0"/>
              <a:t>citizen participation in local governance which leads to improved service delivery. </a:t>
            </a:r>
            <a:endParaRPr lang="en-US" dirty="0" smtClean="0"/>
          </a:p>
          <a:p>
            <a:pPr algn="just"/>
            <a:r>
              <a:rPr lang="en-US" dirty="0" smtClean="0"/>
              <a:t> </a:t>
            </a:r>
            <a:r>
              <a:rPr lang="en-US" dirty="0"/>
              <a:t>Democracy gives citizens a guarantee that the will of everyone in the community shall be duly considered and that no one shall be neglected by the government.  </a:t>
            </a:r>
            <a:endParaRPr lang="en-US" dirty="0" smtClean="0"/>
          </a:p>
          <a:p>
            <a:pPr algn="just"/>
            <a:r>
              <a:rPr lang="en-US" dirty="0" smtClean="0"/>
              <a:t> </a:t>
            </a:r>
            <a:r>
              <a:rPr lang="en-US" dirty="0"/>
              <a:t>Democracy is an avenue for public education, stimulates interest and it provides a platform for information sharing. </a:t>
            </a:r>
            <a:endParaRPr lang="en-US" dirty="0" smtClean="0"/>
          </a:p>
          <a:p>
            <a:pPr algn="just"/>
            <a:r>
              <a:rPr lang="en-US" dirty="0" smtClean="0"/>
              <a:t> </a:t>
            </a:r>
            <a:r>
              <a:rPr lang="en-US" dirty="0"/>
              <a:t>Participation promotes ownership of the decisions made.  </a:t>
            </a:r>
            <a:endParaRPr lang="en-US" dirty="0" smtClean="0"/>
          </a:p>
          <a:p>
            <a:pPr algn="just"/>
            <a:r>
              <a:rPr lang="en-US" dirty="0" smtClean="0"/>
              <a:t> </a:t>
            </a:r>
            <a:r>
              <a:rPr lang="en-US" dirty="0"/>
              <a:t>Participation promotes transparency by enabling checks and balances that guard against abuse of office by public servants and political leaders.  </a:t>
            </a:r>
          </a:p>
          <a:p>
            <a:pPr algn="just"/>
            <a:endParaRPr lang="en-US" dirty="0"/>
          </a:p>
        </p:txBody>
      </p:sp>
    </p:spTree>
    <p:extLst>
      <p:ext uri="{BB962C8B-B14F-4D97-AF65-F5344CB8AC3E}">
        <p14:creationId xmlns:p14="http://schemas.microsoft.com/office/powerpoint/2010/main" val="1997946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 </a:t>
            </a:r>
            <a:r>
              <a:rPr lang="en-US" dirty="0"/>
              <a:t>Public participation bridges the gap between state actors and non-state actors such as the civil society, private sector and the general public. </a:t>
            </a:r>
          </a:p>
          <a:p>
            <a:pPr algn="just"/>
            <a:r>
              <a:rPr lang="en-US" dirty="0" smtClean="0"/>
              <a:t>Public </a:t>
            </a:r>
            <a:r>
              <a:rPr lang="en-US" dirty="0"/>
              <a:t>participation encourages civic and community responsibility. </a:t>
            </a:r>
          </a:p>
          <a:p>
            <a:pPr algn="just"/>
            <a:r>
              <a:rPr lang="en-US" dirty="0" smtClean="0"/>
              <a:t>Democracy </a:t>
            </a:r>
            <a:r>
              <a:rPr lang="en-US" dirty="0"/>
              <a:t>and participation of the people empowers vulnerable groups to demand and exercise their rights. </a:t>
            </a:r>
          </a:p>
          <a:p>
            <a:pPr algn="just"/>
            <a:r>
              <a:rPr lang="en-US" dirty="0" smtClean="0"/>
              <a:t>It </a:t>
            </a:r>
            <a:r>
              <a:rPr lang="en-US" dirty="0"/>
              <a:t>is essential for good governance as it improves information flow, accountability, due process, and gives greater voice to those most directly affected by public policy. </a:t>
            </a:r>
          </a:p>
        </p:txBody>
      </p:sp>
    </p:spTree>
    <p:extLst>
      <p:ext uri="{BB962C8B-B14F-4D97-AF65-F5344CB8AC3E}">
        <p14:creationId xmlns:p14="http://schemas.microsoft.com/office/powerpoint/2010/main" val="334808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to the principle of democracy and citizen participation</a:t>
            </a:r>
          </a:p>
        </p:txBody>
      </p:sp>
      <p:sp>
        <p:nvSpPr>
          <p:cNvPr id="3" name="Content Placeholder 2"/>
          <p:cNvSpPr>
            <a:spLocks noGrp="1"/>
          </p:cNvSpPr>
          <p:nvPr>
            <p:ph idx="1"/>
          </p:nvPr>
        </p:nvSpPr>
        <p:spPr/>
        <p:txBody>
          <a:bodyPr/>
          <a:lstStyle/>
          <a:p>
            <a:pPr algn="just"/>
            <a:r>
              <a:rPr lang="en-US" dirty="0" smtClean="0"/>
              <a:t> </a:t>
            </a:r>
            <a:r>
              <a:rPr lang="en-US" dirty="0"/>
              <a:t>Inadequate and inappropriate international approaches in supporting democratic development. The delivery of international support is not always compatible with the national values of democracy. </a:t>
            </a:r>
            <a:endParaRPr lang="en-US" dirty="0" smtClean="0"/>
          </a:p>
          <a:p>
            <a:pPr algn="just"/>
            <a:r>
              <a:rPr lang="en-US" dirty="0" smtClean="0"/>
              <a:t> </a:t>
            </a:r>
            <a:r>
              <a:rPr lang="en-US" dirty="0"/>
              <a:t>Inability to establish and in some cases re-establish, the political infrastructures and ideologies that support sustainable democracy and participation of the people; </a:t>
            </a:r>
            <a:endParaRPr lang="en-US" dirty="0" smtClean="0"/>
          </a:p>
          <a:p>
            <a:pPr algn="just"/>
            <a:r>
              <a:rPr lang="en-US" dirty="0" smtClean="0"/>
              <a:t> </a:t>
            </a:r>
            <a:r>
              <a:rPr lang="en-US" dirty="0"/>
              <a:t>Inability by some democratic countries to enhance a self-nourishing relationship between authority, accountability and responsibility. </a:t>
            </a:r>
          </a:p>
          <a:p>
            <a:endParaRPr lang="en-US" dirty="0"/>
          </a:p>
          <a:p>
            <a:endParaRPr lang="en-US" dirty="0"/>
          </a:p>
          <a:p>
            <a:endParaRPr lang="en-US" dirty="0"/>
          </a:p>
        </p:txBody>
      </p:sp>
    </p:spTree>
    <p:extLst>
      <p:ext uri="{BB962C8B-B14F-4D97-AF65-F5344CB8AC3E}">
        <p14:creationId xmlns:p14="http://schemas.microsoft.com/office/powerpoint/2010/main" val="1715857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a:r>
              <a:rPr lang="en-US" dirty="0" smtClean="0"/>
              <a:t> </a:t>
            </a:r>
            <a:r>
              <a:rPr lang="en-US" dirty="0"/>
              <a:t>Electoral conflicts and political violence that reflect the problems of transition to democracy associated with managing elections and building institutions of competition that are widely accepted by winners and losers. </a:t>
            </a:r>
            <a:endParaRPr lang="en-US" dirty="0" smtClean="0"/>
          </a:p>
          <a:p>
            <a:pPr algn="just"/>
            <a:r>
              <a:rPr lang="en-US" dirty="0" smtClean="0"/>
              <a:t> </a:t>
            </a:r>
            <a:r>
              <a:rPr lang="en-US" dirty="0"/>
              <a:t>Political parties that have weak internal processes and lack internal democratic system and acrimonious inter-party relations and weak civil society involvement in the electoral cycle. </a:t>
            </a:r>
            <a:endParaRPr lang="en-US" dirty="0" smtClean="0"/>
          </a:p>
          <a:p>
            <a:pPr algn="just"/>
            <a:r>
              <a:rPr lang="en-US" dirty="0" smtClean="0"/>
              <a:t> </a:t>
            </a:r>
            <a:r>
              <a:rPr lang="en-US" dirty="0"/>
              <a:t>In some democratic societies, institutions that get involved in elections and other political processes exhibit weaknesses, for example, election management bodies that appear to lack capacity, public trust and in some cases legitimacy. </a:t>
            </a:r>
            <a:endParaRPr lang="en-US" dirty="0" smtClean="0"/>
          </a:p>
          <a:p>
            <a:pPr algn="just"/>
            <a:r>
              <a:rPr lang="en-US" dirty="0" smtClean="0"/>
              <a:t> </a:t>
            </a:r>
            <a:r>
              <a:rPr lang="en-US" dirty="0"/>
              <a:t>Poor political leadership resulting from disrespect for the constitution. </a:t>
            </a:r>
            <a:endParaRPr lang="en-US" dirty="0" smtClean="0"/>
          </a:p>
          <a:p>
            <a:pPr algn="just"/>
            <a:r>
              <a:rPr lang="en-US" dirty="0" smtClean="0"/>
              <a:t> </a:t>
            </a:r>
            <a:r>
              <a:rPr lang="en-US" dirty="0"/>
              <a:t>The lack of resolve by the democratic countries to empower important social economic actors that could mitigate against economic conditions such as the abject poverty, illiteracy, deprivation and hunger shocks. </a:t>
            </a:r>
          </a:p>
        </p:txBody>
      </p:sp>
    </p:spTree>
    <p:extLst>
      <p:ext uri="{BB962C8B-B14F-4D97-AF65-F5344CB8AC3E}">
        <p14:creationId xmlns:p14="http://schemas.microsoft.com/office/powerpoint/2010/main" val="3607011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err="1"/>
              <a:t>Democratisation</a:t>
            </a:r>
            <a:r>
              <a:rPr lang="en-US" dirty="0"/>
              <a:t> takes place in often still authoritarian environments that resist change, in countries with weak states that provide insufficient security to their </a:t>
            </a:r>
            <a:r>
              <a:rPr lang="en-US" dirty="0" smtClean="0"/>
              <a:t>citizens</a:t>
            </a:r>
            <a:r>
              <a:rPr lang="en-US" dirty="0"/>
              <a:t>, in countries with incomplete processes of nation-building, and in countries with poorly developed or skewed economies. </a:t>
            </a:r>
            <a:endParaRPr lang="en-US" dirty="0" smtClean="0"/>
          </a:p>
          <a:p>
            <a:pPr algn="just"/>
            <a:r>
              <a:rPr lang="en-US" dirty="0" smtClean="0"/>
              <a:t> </a:t>
            </a:r>
            <a:r>
              <a:rPr lang="en-US" dirty="0"/>
              <a:t>Lack of sufficient attention to the non-existent or poor economic and social infrastructure including the building of roads, railways, </a:t>
            </a:r>
            <a:r>
              <a:rPr lang="en-US" dirty="0" err="1"/>
              <a:t>harbours</a:t>
            </a:r>
            <a:r>
              <a:rPr lang="en-US" dirty="0"/>
              <a:t> and communication systems.  </a:t>
            </a:r>
            <a:endParaRPr lang="en-US" dirty="0" smtClean="0"/>
          </a:p>
          <a:p>
            <a:pPr algn="just"/>
            <a:r>
              <a:rPr lang="en-US" dirty="0" smtClean="0"/>
              <a:t> </a:t>
            </a:r>
            <a:r>
              <a:rPr lang="en-US" dirty="0"/>
              <a:t>Inability by the democratic countries to achieve economic self-reliance and independence as a result of internal and external mismanagement of the economy.  </a:t>
            </a:r>
          </a:p>
        </p:txBody>
      </p:sp>
    </p:spTree>
    <p:extLst>
      <p:ext uri="{BB962C8B-B14F-4D97-AF65-F5344CB8AC3E}">
        <p14:creationId xmlns:p14="http://schemas.microsoft.com/office/powerpoint/2010/main" val="8783026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5081</TotalTime>
  <Words>3567</Words>
  <Application>Microsoft Office PowerPoint</Application>
  <PresentationFormat>Widescreen</PresentationFormat>
  <Paragraphs>168</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Trebuchet MS</vt:lpstr>
      <vt:lpstr>Wingdings</vt:lpstr>
      <vt:lpstr>Wingdings 3</vt:lpstr>
      <vt:lpstr>Facet</vt:lpstr>
      <vt:lpstr>Factors that undermine national unity</vt:lpstr>
      <vt:lpstr>PowerPoint Presentation</vt:lpstr>
      <vt:lpstr>PowerPoint Presentation</vt:lpstr>
      <vt:lpstr>Importance of national unity</vt:lpstr>
      <vt:lpstr>PowerPoint Presentation</vt:lpstr>
      <vt:lpstr>Patriotism</vt:lpstr>
      <vt:lpstr>Indicators of patriotism </vt:lpstr>
      <vt:lpstr>Challenges to national unity</vt:lpstr>
      <vt:lpstr>Challenges to patriotism</vt:lpstr>
      <vt:lpstr>Sharing of power</vt:lpstr>
      <vt:lpstr>PowerPoint Presentation</vt:lpstr>
      <vt:lpstr>PowerPoint Presentation</vt:lpstr>
      <vt:lpstr>PowerPoint Presentation</vt:lpstr>
      <vt:lpstr> Benefits of sharing and devolution of power Political benefits</vt:lpstr>
      <vt:lpstr>PowerPoint Presentation</vt:lpstr>
      <vt:lpstr>PowerPoint Presentation</vt:lpstr>
      <vt:lpstr>Economic benefits</vt:lpstr>
      <vt:lpstr>PowerPoint Presentation</vt:lpstr>
      <vt:lpstr>Social benefits</vt:lpstr>
      <vt:lpstr> Challenges to sharing and devolution of power Political challenges:</vt:lpstr>
      <vt:lpstr>PowerPoint Presentation</vt:lpstr>
      <vt:lpstr>Economic challenges</vt:lpstr>
      <vt:lpstr> Social challenges</vt:lpstr>
      <vt:lpstr>4 Technological challenges</vt:lpstr>
      <vt:lpstr>Legal challenges</vt:lpstr>
      <vt:lpstr>Democracy and participation of the people</vt:lpstr>
      <vt:lpstr>PowerPoint Presentation</vt:lpstr>
      <vt:lpstr>Representative democracy  </vt:lpstr>
      <vt:lpstr>9.5.1 Indicators of democracy and participation of the people    </vt:lpstr>
      <vt:lpstr>Methods of citizen participation </vt:lpstr>
      <vt:lpstr>Benefits of democracy and participation of the people   </vt:lpstr>
      <vt:lpstr>PowerPoint Presentation</vt:lpstr>
      <vt:lpstr>Challenges to the principle of democracy and citizen participation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PC</cp:lastModifiedBy>
  <cp:revision>26</cp:revision>
  <dcterms:created xsi:type="dcterms:W3CDTF">2022-10-31T09:40:20Z</dcterms:created>
  <dcterms:modified xsi:type="dcterms:W3CDTF">2024-10-15T10:59:07Z</dcterms:modified>
</cp:coreProperties>
</file>