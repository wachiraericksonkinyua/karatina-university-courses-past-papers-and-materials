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60" r:id="rId4"/>
    <p:sldId id="267" r:id="rId5"/>
    <p:sldId id="261" r:id="rId6"/>
    <p:sldId id="266"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p:scale>
          <a:sx n="50" d="100"/>
          <a:sy n="50" d="100"/>
        </p:scale>
        <p:origin x="-1686" y="-10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4BB492F-5508-46BF-9537-924BE7FEBEDC}" type="datetimeFigureOut">
              <a:rPr lang="en-US" smtClean="0"/>
              <a:t>9/17/2024</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B86BF393-F4EB-40EE-A77B-FA2A0F7664F4}" type="slidenum">
              <a:rPr lang="en-US" smtClean="0"/>
              <a:t>‹#›</a:t>
            </a:fld>
            <a:endParaRPr lang="en-US"/>
          </a:p>
        </p:txBody>
      </p:sp>
    </p:spTree>
    <p:extLst>
      <p:ext uri="{BB962C8B-B14F-4D97-AF65-F5344CB8AC3E}">
        <p14:creationId xmlns:p14="http://schemas.microsoft.com/office/powerpoint/2010/main" val="1649150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4BB492F-5508-46BF-9537-924BE7FEBEDC}" type="datetimeFigureOut">
              <a:rPr lang="en-US" smtClean="0"/>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B86BF393-F4EB-40EE-A77B-FA2A0F7664F4}" type="slidenum">
              <a:rPr lang="en-US" smtClean="0"/>
              <a:t>‹#›</a:t>
            </a:fld>
            <a:endParaRPr lang="en-US"/>
          </a:p>
        </p:txBody>
      </p:sp>
    </p:spTree>
    <p:extLst>
      <p:ext uri="{BB962C8B-B14F-4D97-AF65-F5344CB8AC3E}">
        <p14:creationId xmlns:p14="http://schemas.microsoft.com/office/powerpoint/2010/main" val="2395759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4BB492F-5508-46BF-9537-924BE7FEBEDC}" type="datetimeFigureOut">
              <a:rPr lang="en-US" smtClean="0"/>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6BF393-F4EB-40EE-A77B-FA2A0F7664F4}" type="slidenum">
              <a:rPr lang="en-US" smtClean="0"/>
              <a:t>‹#›</a:t>
            </a:fld>
            <a:endParaRPr lang="en-US"/>
          </a:p>
        </p:txBody>
      </p:sp>
    </p:spTree>
    <p:extLst>
      <p:ext uri="{BB962C8B-B14F-4D97-AF65-F5344CB8AC3E}">
        <p14:creationId xmlns:p14="http://schemas.microsoft.com/office/powerpoint/2010/main" val="912724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4BB492F-5508-46BF-9537-924BE7FEBEDC}" type="datetimeFigureOut">
              <a:rPr lang="en-US" smtClean="0"/>
              <a:t>9/17/2024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6BF393-F4EB-40EE-A77B-FA2A0F7664F4}" type="slidenum">
              <a:rPr lang="en-US" smtClean="0"/>
              <a:t>‹#›</a:t>
            </a:fld>
            <a:endParaRPr lang="en-US"/>
          </a:p>
        </p:txBody>
      </p:sp>
    </p:spTree>
    <p:extLst>
      <p:ext uri="{BB962C8B-B14F-4D97-AF65-F5344CB8AC3E}">
        <p14:creationId xmlns:p14="http://schemas.microsoft.com/office/powerpoint/2010/main" val="6899650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4BB492F-5508-46BF-9537-924BE7FEBEDC}" type="datetimeFigureOut">
              <a:rPr lang="en-US" smtClean="0"/>
              <a:t>9/17/2024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6BF393-F4EB-40EE-A77B-FA2A0F7664F4}" type="slidenum">
              <a:rPr lang="en-US" smtClean="0"/>
              <a:t>‹#›</a:t>
            </a:fld>
            <a:endParaRPr lang="en-US"/>
          </a:p>
        </p:txBody>
      </p:sp>
    </p:spTree>
    <p:extLst>
      <p:ext uri="{BB962C8B-B14F-4D97-AF65-F5344CB8AC3E}">
        <p14:creationId xmlns:p14="http://schemas.microsoft.com/office/powerpoint/2010/main" val="30362682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4BB492F-5508-46BF-9537-924BE7FEBEDC}" type="datetimeFigureOut">
              <a:rPr lang="en-US" smtClean="0"/>
              <a:t>9/17/2024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6BF393-F4EB-40EE-A77B-FA2A0F7664F4}" type="slidenum">
              <a:rPr lang="en-US" smtClean="0"/>
              <a:t>‹#›</a:t>
            </a:fld>
            <a:endParaRPr lang="en-US"/>
          </a:p>
        </p:txBody>
      </p:sp>
    </p:spTree>
    <p:extLst>
      <p:ext uri="{BB962C8B-B14F-4D97-AF65-F5344CB8AC3E}">
        <p14:creationId xmlns:p14="http://schemas.microsoft.com/office/powerpoint/2010/main" val="13028969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B492F-5508-46BF-9537-924BE7FEBEDC}" type="datetimeFigureOut">
              <a:rPr lang="en-US" smtClean="0"/>
              <a:t>9/17/2024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6BF393-F4EB-40EE-A77B-FA2A0F7664F4}" type="slidenum">
              <a:rPr lang="en-US" smtClean="0"/>
              <a:t>‹#›</a:t>
            </a:fld>
            <a:endParaRPr lang="en-US"/>
          </a:p>
        </p:txBody>
      </p:sp>
    </p:spTree>
    <p:extLst>
      <p:ext uri="{BB962C8B-B14F-4D97-AF65-F5344CB8AC3E}">
        <p14:creationId xmlns:p14="http://schemas.microsoft.com/office/powerpoint/2010/main" val="4031541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84BB492F-5508-46BF-9537-924BE7FEBEDC}" type="datetimeFigureOut">
              <a:rPr lang="en-US" smtClean="0"/>
              <a:t>9/17/2024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6BF393-F4EB-40EE-A77B-FA2A0F7664F4}" type="slidenum">
              <a:rPr lang="en-US" smtClean="0"/>
              <a:t>‹#›</a:t>
            </a:fld>
            <a:endParaRPr lang="en-US"/>
          </a:p>
        </p:txBody>
      </p:sp>
    </p:spTree>
    <p:extLst>
      <p:ext uri="{BB962C8B-B14F-4D97-AF65-F5344CB8AC3E}">
        <p14:creationId xmlns:p14="http://schemas.microsoft.com/office/powerpoint/2010/main" val="2220091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84BB492F-5508-46BF-9537-924BE7FEBEDC}" type="datetimeFigureOut">
              <a:rPr lang="en-US" smtClean="0"/>
              <a:t>9/17/2024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6BF393-F4EB-40EE-A77B-FA2A0F7664F4}" type="slidenum">
              <a:rPr lang="en-US" smtClean="0"/>
              <a:t>‹#›</a:t>
            </a:fld>
            <a:endParaRPr lang="en-US"/>
          </a:p>
        </p:txBody>
      </p:sp>
    </p:spTree>
    <p:extLst>
      <p:ext uri="{BB962C8B-B14F-4D97-AF65-F5344CB8AC3E}">
        <p14:creationId xmlns:p14="http://schemas.microsoft.com/office/powerpoint/2010/main" val="3847033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84BB492F-5508-46BF-9537-924BE7FEBEDC}" type="datetimeFigureOut">
              <a:rPr lang="en-US" smtClean="0"/>
              <a:t>9/17/2024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6BF393-F4EB-40EE-A77B-FA2A0F7664F4}" type="slidenum">
              <a:rPr lang="en-US" smtClean="0"/>
              <a:t>‹#›</a:t>
            </a:fld>
            <a:endParaRPr lang="en-US"/>
          </a:p>
        </p:txBody>
      </p:sp>
    </p:spTree>
    <p:extLst>
      <p:ext uri="{BB962C8B-B14F-4D97-AF65-F5344CB8AC3E}">
        <p14:creationId xmlns:p14="http://schemas.microsoft.com/office/powerpoint/2010/main" val="24747308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4BB492F-5508-46BF-9537-924BE7FEBEDC}" type="datetimeFigureOut">
              <a:rPr lang="en-US" smtClean="0"/>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6BF393-F4EB-40EE-A77B-FA2A0F7664F4}" type="slidenum">
              <a:rPr lang="en-US" smtClean="0"/>
              <a:t>‹#›</a:t>
            </a:fld>
            <a:endParaRPr lang="en-US"/>
          </a:p>
        </p:txBody>
      </p:sp>
    </p:spTree>
    <p:extLst>
      <p:ext uri="{BB962C8B-B14F-4D97-AF65-F5344CB8AC3E}">
        <p14:creationId xmlns:p14="http://schemas.microsoft.com/office/powerpoint/2010/main" val="19974137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4BB492F-5508-46BF-9537-924BE7FEBEDC}" type="datetimeFigureOut">
              <a:rPr lang="en-US" smtClean="0"/>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6BF393-F4EB-40EE-A77B-FA2A0F7664F4}" type="slidenum">
              <a:rPr lang="en-US" smtClean="0"/>
              <a:t>‹#›</a:t>
            </a:fld>
            <a:endParaRPr lang="en-US"/>
          </a:p>
        </p:txBody>
      </p:sp>
    </p:spTree>
    <p:extLst>
      <p:ext uri="{BB962C8B-B14F-4D97-AF65-F5344CB8AC3E}">
        <p14:creationId xmlns:p14="http://schemas.microsoft.com/office/powerpoint/2010/main" val="41680725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4BB492F-5508-46BF-9537-924BE7FEBEDC}" type="datetimeFigureOut">
              <a:rPr lang="en-US" smtClean="0"/>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6BF393-F4EB-40EE-A77B-FA2A0F7664F4}" type="slidenum">
              <a:rPr lang="en-US" smtClean="0"/>
              <a:t>‹#›</a:t>
            </a:fld>
            <a:endParaRPr lang="en-US"/>
          </a:p>
        </p:txBody>
      </p:sp>
    </p:spTree>
    <p:extLst>
      <p:ext uri="{BB962C8B-B14F-4D97-AF65-F5344CB8AC3E}">
        <p14:creationId xmlns:p14="http://schemas.microsoft.com/office/powerpoint/2010/main" val="35736980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4BB492F-5508-46BF-9537-924BE7FEBEDC}" type="datetimeFigureOut">
              <a:rPr lang="en-US" smtClean="0"/>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6BF393-F4EB-40EE-A77B-FA2A0F7664F4}" type="slidenum">
              <a:rPr lang="en-US" smtClean="0"/>
              <a:t>‹#›</a:t>
            </a:fld>
            <a:endParaRPr lang="en-US"/>
          </a:p>
        </p:txBody>
      </p:sp>
    </p:spTree>
    <p:extLst>
      <p:ext uri="{BB962C8B-B14F-4D97-AF65-F5344CB8AC3E}">
        <p14:creationId xmlns:p14="http://schemas.microsoft.com/office/powerpoint/2010/main" val="18260091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4BB492F-5508-46BF-9537-924BE7FEBEDC}" type="datetimeFigureOut">
              <a:rPr lang="en-US" smtClean="0"/>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6BF393-F4EB-40EE-A77B-FA2A0F7664F4}" type="slidenum">
              <a:rPr lang="en-US" smtClean="0"/>
              <a:t>‹#›</a:t>
            </a:fld>
            <a:endParaRPr lang="en-US"/>
          </a:p>
        </p:txBody>
      </p:sp>
    </p:spTree>
    <p:extLst>
      <p:ext uri="{BB962C8B-B14F-4D97-AF65-F5344CB8AC3E}">
        <p14:creationId xmlns:p14="http://schemas.microsoft.com/office/powerpoint/2010/main" val="17348389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4BB492F-5508-46BF-9537-924BE7FEBEDC}" type="datetimeFigureOut">
              <a:rPr lang="en-US" smtClean="0"/>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6BF393-F4EB-40EE-A77B-FA2A0F7664F4}" type="slidenum">
              <a:rPr lang="en-US" smtClean="0"/>
              <a:t>‹#›</a:t>
            </a:fld>
            <a:endParaRPr lang="en-US"/>
          </a:p>
        </p:txBody>
      </p:sp>
    </p:spTree>
    <p:extLst>
      <p:ext uri="{BB962C8B-B14F-4D97-AF65-F5344CB8AC3E}">
        <p14:creationId xmlns:p14="http://schemas.microsoft.com/office/powerpoint/2010/main" val="14151835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4BB492F-5508-46BF-9537-924BE7FEBEDC}" type="datetimeFigureOut">
              <a:rPr lang="en-US" smtClean="0"/>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6BF393-F4EB-40EE-A77B-FA2A0F7664F4}" type="slidenum">
              <a:rPr lang="en-US" smtClean="0"/>
              <a:t>‹#›</a:t>
            </a:fld>
            <a:endParaRPr lang="en-US"/>
          </a:p>
        </p:txBody>
      </p:sp>
    </p:spTree>
    <p:extLst>
      <p:ext uri="{BB962C8B-B14F-4D97-AF65-F5344CB8AC3E}">
        <p14:creationId xmlns:p14="http://schemas.microsoft.com/office/powerpoint/2010/main" val="2562061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4BB492F-5508-46BF-9537-924BE7FEBEDC}" type="datetimeFigureOut">
              <a:rPr lang="en-US" smtClean="0"/>
              <a:t>9/17/2024</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86BF393-F4EB-40EE-A77B-FA2A0F7664F4}" type="slidenum">
              <a:rPr lang="en-US" smtClean="0"/>
              <a:t>‹#›</a:t>
            </a:fld>
            <a:endParaRPr lang="en-US"/>
          </a:p>
        </p:txBody>
      </p:sp>
    </p:spTree>
    <p:extLst>
      <p:ext uri="{BB962C8B-B14F-4D97-AF65-F5344CB8AC3E}">
        <p14:creationId xmlns:p14="http://schemas.microsoft.com/office/powerpoint/2010/main" val="36653312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Structure of the Government of Kenya</a:t>
            </a:r>
            <a:endParaRPr lang="en-US" b="1" dirty="0"/>
          </a:p>
        </p:txBody>
      </p:sp>
      <p:sp>
        <p:nvSpPr>
          <p:cNvPr id="3" name="Content Placeholder 2"/>
          <p:cNvSpPr>
            <a:spLocks noGrp="1"/>
          </p:cNvSpPr>
          <p:nvPr>
            <p:ph idx="1"/>
          </p:nvPr>
        </p:nvSpPr>
        <p:spPr>
          <a:xfrm>
            <a:off x="1484310" y="1924051"/>
            <a:ext cx="10018713" cy="3867150"/>
          </a:xfrm>
        </p:spPr>
        <p:txBody>
          <a:bodyPr>
            <a:normAutofit fontScale="85000" lnSpcReduction="10000"/>
          </a:bodyPr>
          <a:lstStyle/>
          <a:p>
            <a:pPr marL="0" indent="0" algn="just">
              <a:buNone/>
            </a:pPr>
            <a:r>
              <a:rPr lang="en-US" dirty="0" smtClean="0"/>
              <a:t>Kenya currently has a pure presidential system of government.</a:t>
            </a:r>
          </a:p>
          <a:p>
            <a:pPr marL="0" indent="0" algn="just">
              <a:buNone/>
            </a:pPr>
            <a:r>
              <a:rPr lang="en-US" dirty="0" smtClean="0"/>
              <a:t> There are three arms of government, each with distinct functions and membership. These are: The Executive, Legislature and Judiciary.</a:t>
            </a:r>
          </a:p>
          <a:p>
            <a:pPr marL="0" indent="0" algn="just">
              <a:buNone/>
            </a:pPr>
            <a:r>
              <a:rPr lang="en-US" dirty="0" smtClean="0"/>
              <a:t> In addition there are independent Constitutional commissions. Functions that are not devolved include: National Security; Education and National Assets. </a:t>
            </a:r>
          </a:p>
          <a:p>
            <a:pPr marL="0" indent="0" algn="just">
              <a:buNone/>
            </a:pPr>
            <a:r>
              <a:rPr lang="en-US" dirty="0" smtClean="0"/>
              <a:t>The three main organs of government – the Legislature (Parliament), Executive and Judiciary - operate independently of one another. To protect individual liberty and enhance efficiency, they each ensure that none has excessive power in carrying out its functions.</a:t>
            </a:r>
          </a:p>
          <a:p>
            <a:pPr marL="0" indent="0" algn="just">
              <a:buNone/>
            </a:pPr>
            <a:r>
              <a:rPr lang="en-US" dirty="0" smtClean="0"/>
              <a:t> Separating the functions of Parliament and the Executive means that neither Parliament nor the executive can act on its own. If the President intends to implement a particular policy, the approval of Parliament is necessary to ensure checks and balances.</a:t>
            </a:r>
            <a:endParaRPr lang="en-US" dirty="0"/>
          </a:p>
        </p:txBody>
      </p:sp>
    </p:spTree>
    <p:extLst>
      <p:ext uri="{BB962C8B-B14F-4D97-AF65-F5344CB8AC3E}">
        <p14:creationId xmlns:p14="http://schemas.microsoft.com/office/powerpoint/2010/main" val="2783436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1"/>
            <a:ext cx="10018713" cy="1066800"/>
          </a:xfrm>
        </p:spPr>
        <p:txBody>
          <a:bodyPr/>
          <a:lstStyle/>
          <a:p>
            <a:r>
              <a:rPr lang="en-US" dirty="0" smtClean="0"/>
              <a:t>The Executive</a:t>
            </a:r>
            <a:endParaRPr lang="en-US" dirty="0"/>
          </a:p>
        </p:txBody>
      </p:sp>
      <p:sp>
        <p:nvSpPr>
          <p:cNvPr id="3" name="Content Placeholder 2"/>
          <p:cNvSpPr>
            <a:spLocks noGrp="1"/>
          </p:cNvSpPr>
          <p:nvPr>
            <p:ph idx="1"/>
          </p:nvPr>
        </p:nvSpPr>
        <p:spPr>
          <a:xfrm>
            <a:off x="1484310" y="1752601"/>
            <a:ext cx="10018713" cy="4038599"/>
          </a:xfrm>
        </p:spPr>
        <p:txBody>
          <a:bodyPr>
            <a:normAutofit fontScale="92500" lnSpcReduction="20000"/>
          </a:bodyPr>
          <a:lstStyle/>
          <a:p>
            <a:pPr marL="0" indent="0" algn="just">
              <a:buNone/>
            </a:pPr>
            <a:r>
              <a:rPr lang="en-US" dirty="0" smtClean="0"/>
              <a:t> The Executive Comprising the Presidency, Cabinet and civil service. Kenya has a two-tier government structure with national and devolved government headed by County Governors. </a:t>
            </a:r>
          </a:p>
          <a:p>
            <a:pPr marL="0" indent="0" algn="just">
              <a:buNone/>
            </a:pPr>
            <a:r>
              <a:rPr lang="en-US" dirty="0" smtClean="0"/>
              <a:t>This is the arm of government that implements Government Laws and Policies. The executive exists at both the National Government and County Government levels. </a:t>
            </a:r>
          </a:p>
          <a:p>
            <a:pPr marL="0" indent="0" algn="just">
              <a:buNone/>
            </a:pPr>
            <a:r>
              <a:rPr lang="en-US" dirty="0" smtClean="0"/>
              <a:t>The National Executive comprises the President, the Deputy President, the Attorney General, Cabinet Secretaries, Principal Secretaries and the entire National Civil Service. At the county level, it shall comprise of the Governor, Deputy Governor and the entire Public Service.</a:t>
            </a:r>
          </a:p>
          <a:p>
            <a:pPr marL="0" indent="0" algn="just">
              <a:buNone/>
            </a:pPr>
            <a:r>
              <a:rPr lang="en-US" dirty="0" smtClean="0"/>
              <a:t> The cabinet size is limited for both National Government and County Government. The Executive is distinct from the legislature. President’s power as Chief Executive is limited and “checked” e.g. senior Presidential appointments are vetted and approved by the National Assembly</a:t>
            </a:r>
            <a:endParaRPr lang="en-US" dirty="0"/>
          </a:p>
        </p:txBody>
      </p:sp>
    </p:spTree>
    <p:extLst>
      <p:ext uri="{BB962C8B-B14F-4D97-AF65-F5344CB8AC3E}">
        <p14:creationId xmlns:p14="http://schemas.microsoft.com/office/powerpoint/2010/main" val="11905469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152525"/>
          </a:xfrm>
        </p:spPr>
        <p:txBody>
          <a:bodyPr/>
          <a:lstStyle/>
          <a:p>
            <a:r>
              <a:rPr lang="en-US" dirty="0" smtClean="0"/>
              <a:t>The Judiciary</a:t>
            </a:r>
            <a:endParaRPr lang="en-US" dirty="0"/>
          </a:p>
        </p:txBody>
      </p:sp>
      <p:sp>
        <p:nvSpPr>
          <p:cNvPr id="3" name="Content Placeholder 2"/>
          <p:cNvSpPr>
            <a:spLocks noGrp="1"/>
          </p:cNvSpPr>
          <p:nvPr>
            <p:ph idx="1"/>
          </p:nvPr>
        </p:nvSpPr>
        <p:spPr>
          <a:xfrm>
            <a:off x="1484310" y="1524001"/>
            <a:ext cx="10018713" cy="4267200"/>
          </a:xfrm>
        </p:spPr>
        <p:txBody>
          <a:bodyPr>
            <a:normAutofit fontScale="70000" lnSpcReduction="20000"/>
          </a:bodyPr>
          <a:lstStyle/>
          <a:p>
            <a:pPr marL="0" indent="0" algn="just">
              <a:buNone/>
            </a:pPr>
            <a:r>
              <a:rPr lang="en-US" dirty="0" smtClean="0"/>
              <a:t> The Judiciary The Judiciary is not devolved i.e. the County Governments do not have a distinct judiciary. A four tier structure is created at the top of which is the Supreme Court followed by Court of Appeal, High Court and last Magistrate Courts.</a:t>
            </a:r>
          </a:p>
          <a:p>
            <a:pPr marL="0" indent="0" algn="just">
              <a:buNone/>
            </a:pPr>
            <a:r>
              <a:rPr lang="en-US" dirty="0" smtClean="0"/>
              <a:t> A Judicial Service Commission has been created and is key to most judicial appointments. The Judiciary is headed by the Chief Justice who is the President of the Supreme Court. Other Courts include Court Martials (which handles cases involving military personnel), </a:t>
            </a:r>
            <a:r>
              <a:rPr lang="en-US" dirty="0" err="1" smtClean="0"/>
              <a:t>Kadhis</a:t>
            </a:r>
            <a:r>
              <a:rPr lang="en-US" dirty="0" smtClean="0"/>
              <a:t> Courts (which handles civil cases where litigants are Muslims). </a:t>
            </a:r>
          </a:p>
          <a:p>
            <a:pPr marL="0" indent="0" algn="just">
              <a:buNone/>
            </a:pPr>
            <a:r>
              <a:rPr lang="en-US" dirty="0" smtClean="0"/>
              <a:t>The Judiciary provides a check because it scrutinizes the actions of the executive and any laws passed by Parliament to see that they are constitutional. If they are not, the courts will declare them illegal. </a:t>
            </a:r>
          </a:p>
          <a:p>
            <a:pPr marL="0" indent="0" algn="just">
              <a:buNone/>
            </a:pPr>
            <a:r>
              <a:rPr lang="en-US" dirty="0" smtClean="0"/>
              <a:t>Other checks include regular elections, term limits and devolved governments. Devolved government means that executive power is shared between the national and devolved governments and requiring the National Assembly to approve senior government appointments. </a:t>
            </a:r>
          </a:p>
          <a:p>
            <a:pPr marL="0" indent="0" algn="just">
              <a:buNone/>
            </a:pPr>
            <a:r>
              <a:rPr lang="en-US" dirty="0" smtClean="0"/>
              <a:t>In addition, the National Assembly‘s power to dismiss Cabinet Secretaries is a check because cabinet members must have the support of the National Assembly and they face dismissal if they do not obey the law.</a:t>
            </a:r>
            <a:endParaRPr lang="en-US" dirty="0"/>
          </a:p>
        </p:txBody>
      </p:sp>
    </p:spTree>
    <p:extLst>
      <p:ext uri="{BB962C8B-B14F-4D97-AF65-F5344CB8AC3E}">
        <p14:creationId xmlns:p14="http://schemas.microsoft.com/office/powerpoint/2010/main" val="290087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1"/>
            <a:ext cx="10018713" cy="990600"/>
          </a:xfrm>
        </p:spPr>
        <p:txBody>
          <a:bodyPr/>
          <a:lstStyle/>
          <a:p>
            <a:r>
              <a:rPr lang="en-US" dirty="0" smtClean="0"/>
              <a:t>The Legislature</a:t>
            </a:r>
            <a:endParaRPr lang="en-US" dirty="0"/>
          </a:p>
        </p:txBody>
      </p:sp>
      <p:sp>
        <p:nvSpPr>
          <p:cNvPr id="3" name="Content Placeholder 2"/>
          <p:cNvSpPr>
            <a:spLocks noGrp="1"/>
          </p:cNvSpPr>
          <p:nvPr>
            <p:ph idx="1"/>
          </p:nvPr>
        </p:nvSpPr>
        <p:spPr>
          <a:xfrm>
            <a:off x="1484310" y="1676401"/>
            <a:ext cx="10018713" cy="4114799"/>
          </a:xfrm>
        </p:spPr>
        <p:txBody>
          <a:bodyPr>
            <a:normAutofit lnSpcReduction="10000"/>
          </a:bodyPr>
          <a:lstStyle/>
          <a:p>
            <a:pPr algn="just"/>
            <a:r>
              <a:rPr lang="en-US" dirty="0" smtClean="0"/>
              <a:t>The Constitution of Kenya 2010 establishes a legislature that is fundamentally different (in terms of structure, membership and powers) from the old constitution. </a:t>
            </a:r>
          </a:p>
          <a:p>
            <a:pPr algn="just"/>
            <a:r>
              <a:rPr lang="en-US" dirty="0" smtClean="0"/>
              <a:t>The legislature exists at both the national and county level. At the national level, there is established a two-chamber Parliament consisting of the National Assembly and the Senate. </a:t>
            </a:r>
          </a:p>
          <a:p>
            <a:pPr algn="just"/>
            <a:r>
              <a:rPr lang="en-US" dirty="0" smtClean="0"/>
              <a:t>Members of the Cabinet are now to be drawn from outside the legislature. There is significant increase in the total number of legislators through the introduction of special seats for women, persons with disabilities and the youth. It also has increased powers to approve key appointments to state offices as well as provision for the impeachment of the President</a:t>
            </a:r>
            <a:endParaRPr lang="en-US" dirty="0"/>
          </a:p>
        </p:txBody>
      </p:sp>
    </p:spTree>
    <p:extLst>
      <p:ext uri="{BB962C8B-B14F-4D97-AF65-F5344CB8AC3E}">
        <p14:creationId xmlns:p14="http://schemas.microsoft.com/office/powerpoint/2010/main" val="10277921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1"/>
            <a:ext cx="10018713" cy="628650"/>
          </a:xfrm>
        </p:spPr>
        <p:txBody>
          <a:bodyPr>
            <a:normAutofit fontScale="90000"/>
          </a:bodyPr>
          <a:lstStyle/>
          <a:p>
            <a:r>
              <a:rPr lang="en-US" dirty="0" smtClean="0"/>
              <a:t>Power sharing and devolution</a:t>
            </a:r>
            <a:endParaRPr lang="en-US" dirty="0"/>
          </a:p>
        </p:txBody>
      </p:sp>
      <p:sp>
        <p:nvSpPr>
          <p:cNvPr id="3" name="Content Placeholder 2"/>
          <p:cNvSpPr>
            <a:spLocks noGrp="1"/>
          </p:cNvSpPr>
          <p:nvPr>
            <p:ph idx="1"/>
          </p:nvPr>
        </p:nvSpPr>
        <p:spPr>
          <a:xfrm>
            <a:off x="1484310" y="1314451"/>
            <a:ext cx="10018713" cy="4476749"/>
          </a:xfrm>
        </p:spPr>
        <p:txBody>
          <a:bodyPr>
            <a:normAutofit fontScale="62500" lnSpcReduction="20000"/>
          </a:bodyPr>
          <a:lstStyle/>
          <a:p>
            <a:pPr marL="0" indent="0" algn="just">
              <a:buNone/>
            </a:pPr>
            <a:r>
              <a:rPr lang="en-US" dirty="0" smtClean="0"/>
              <a:t> The Kenya Constitution provides a two-tier system of government at both the National and the County level. </a:t>
            </a:r>
          </a:p>
          <a:p>
            <a:pPr marL="0" indent="0" algn="just">
              <a:buNone/>
            </a:pPr>
            <a:r>
              <a:rPr lang="en-US" dirty="0" smtClean="0"/>
              <a:t>• Sharing of power can be defined as a political arrangement in which opposing groups in a society participate in government. This is the political arrangement that involves the two levels of government.</a:t>
            </a:r>
          </a:p>
          <a:p>
            <a:pPr marL="0" indent="0" algn="just">
              <a:buNone/>
            </a:pPr>
            <a:r>
              <a:rPr lang="en-US" dirty="0" smtClean="0"/>
              <a:t> • Sharing of power describe a system of governance in which all significant segments or identity groups of society are provided a permanent share of power in terms of representation and decision making on common issues and a degree of autonomy over issues of importance.</a:t>
            </a:r>
          </a:p>
          <a:p>
            <a:pPr marL="0" indent="0" algn="just">
              <a:buNone/>
            </a:pPr>
            <a:endParaRPr lang="en-US" dirty="0"/>
          </a:p>
          <a:p>
            <a:pPr marL="0" indent="0" algn="just">
              <a:buNone/>
            </a:pPr>
            <a:r>
              <a:rPr lang="en-US" dirty="0" smtClean="0"/>
              <a:t> • Sharing and devolution of power refers to ―a governance system in which power, political, economic and social resources are distributed between the national and county levels of government and which empowers people at the grassroots to make decisions on matters that affect them. </a:t>
            </a:r>
          </a:p>
          <a:p>
            <a:pPr marL="0" indent="0" algn="just">
              <a:buNone/>
            </a:pPr>
            <a:r>
              <a:rPr lang="en-US" dirty="0" smtClean="0"/>
              <a:t>• There are 47 county governments each consisting of a County Assembly and a County Executive. The County Assembly comprises (a) one elected member for each ward (b) the number of special seat members necessary to ensure that no more than two thirds of the membership of the assembly are of the same gender (c) the number of members of marginalized groups, including persons with disabilities and the youth and (d) the speaker, who shall be an ex officio member. </a:t>
            </a:r>
          </a:p>
          <a:p>
            <a:pPr marL="0" indent="0" algn="just">
              <a:buNone/>
            </a:pPr>
            <a:r>
              <a:rPr lang="en-US" dirty="0" smtClean="0"/>
              <a:t>The County Executive consists of the governor, deputy governor and a maximum 10- member County Executive Committee that is appointed by the governor and approved by the County Assembly. Like the national president, a county governor can serve only two terms of five years each, and can be removed from office for serious misconduct, or incapacity.</a:t>
            </a:r>
          </a:p>
          <a:p>
            <a:pPr marL="0" indent="0" algn="just">
              <a:buNone/>
            </a:pPr>
            <a:endParaRPr lang="en-US" dirty="0"/>
          </a:p>
        </p:txBody>
      </p:sp>
    </p:spTree>
    <p:extLst>
      <p:ext uri="{BB962C8B-B14F-4D97-AF65-F5344CB8AC3E}">
        <p14:creationId xmlns:p14="http://schemas.microsoft.com/office/powerpoint/2010/main" val="22055564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657225"/>
          </a:xfrm>
        </p:spPr>
        <p:txBody>
          <a:bodyPr>
            <a:normAutofit fontScale="90000"/>
          </a:bodyPr>
          <a:lstStyle/>
          <a:p>
            <a:r>
              <a:rPr lang="en-US" dirty="0" smtClean="0"/>
              <a:t>The mandates of County Governments</a:t>
            </a:r>
            <a:endParaRPr lang="en-US" dirty="0"/>
          </a:p>
        </p:txBody>
      </p:sp>
      <p:sp>
        <p:nvSpPr>
          <p:cNvPr id="3" name="Content Placeholder 2"/>
          <p:cNvSpPr>
            <a:spLocks noGrp="1"/>
          </p:cNvSpPr>
          <p:nvPr>
            <p:ph idx="1"/>
          </p:nvPr>
        </p:nvSpPr>
        <p:spPr>
          <a:xfrm>
            <a:off x="1484310" y="1495425"/>
            <a:ext cx="10018713" cy="4295775"/>
          </a:xfrm>
        </p:spPr>
        <p:txBody>
          <a:bodyPr>
            <a:normAutofit fontScale="70000" lnSpcReduction="20000"/>
          </a:bodyPr>
          <a:lstStyle/>
          <a:p>
            <a:pPr marL="0" indent="0" algn="just">
              <a:buNone/>
            </a:pPr>
            <a:r>
              <a:rPr lang="en-US" dirty="0" smtClean="0"/>
              <a:t>The mandates of County Governments include to:</a:t>
            </a:r>
          </a:p>
          <a:p>
            <a:pPr marL="0" indent="0" algn="just">
              <a:buNone/>
            </a:pPr>
            <a:endParaRPr lang="en-US" dirty="0"/>
          </a:p>
          <a:p>
            <a:pPr algn="just">
              <a:buFont typeface="Wingdings" panose="05000000000000000000" pitchFamily="2" charset="2"/>
              <a:buChar char="ü"/>
            </a:pPr>
            <a:r>
              <a:rPr lang="en-US" dirty="0" smtClean="0"/>
              <a:t>Promote democratic and accountable exercise of power.  Foster national unity by </a:t>
            </a:r>
            <a:r>
              <a:rPr lang="en-US" dirty="0" err="1" smtClean="0"/>
              <a:t>recognising</a:t>
            </a:r>
            <a:r>
              <a:rPr lang="en-US" dirty="0" smtClean="0"/>
              <a:t> diversity. </a:t>
            </a:r>
          </a:p>
          <a:p>
            <a:pPr algn="just">
              <a:buFont typeface="Wingdings" panose="05000000000000000000" pitchFamily="2" charset="2"/>
              <a:buChar char="ü"/>
            </a:pPr>
            <a:r>
              <a:rPr lang="en-US" dirty="0" smtClean="0"/>
              <a:t> Give powers of self-governance to the people and enhance the participation of the people in the exercise of the powers of the State and in making decisions affecting them.</a:t>
            </a:r>
          </a:p>
          <a:p>
            <a:pPr algn="just">
              <a:buFont typeface="Wingdings" panose="05000000000000000000" pitchFamily="2" charset="2"/>
              <a:buChar char="ü"/>
            </a:pPr>
            <a:r>
              <a:rPr lang="en-US" dirty="0" err="1" smtClean="0"/>
              <a:t>Recognise</a:t>
            </a:r>
            <a:r>
              <a:rPr lang="en-US" dirty="0" smtClean="0"/>
              <a:t> the right of communities to manage their own affairs and to further their development. </a:t>
            </a:r>
          </a:p>
          <a:p>
            <a:pPr algn="just">
              <a:buFont typeface="Wingdings" panose="05000000000000000000" pitchFamily="2" charset="2"/>
              <a:buChar char="ü"/>
            </a:pPr>
            <a:r>
              <a:rPr lang="en-US" dirty="0" smtClean="0"/>
              <a:t> Protect and promote the interests and rights of minorities and </a:t>
            </a:r>
            <a:r>
              <a:rPr lang="en-US" dirty="0" err="1" smtClean="0"/>
              <a:t>marginalised</a:t>
            </a:r>
            <a:r>
              <a:rPr lang="en-US" dirty="0" smtClean="0"/>
              <a:t> communities.</a:t>
            </a:r>
          </a:p>
          <a:p>
            <a:pPr algn="just">
              <a:buFont typeface="Wingdings" panose="05000000000000000000" pitchFamily="2" charset="2"/>
              <a:buChar char="ü"/>
            </a:pPr>
            <a:r>
              <a:rPr lang="en-US" dirty="0" smtClean="0"/>
              <a:t>  Promote social and economic development and the provision of proximate, easily accessible services throughout Kenya. </a:t>
            </a:r>
            <a:endParaRPr lang="en-US" dirty="0"/>
          </a:p>
          <a:p>
            <a:pPr algn="just">
              <a:buFont typeface="Wingdings" panose="05000000000000000000" pitchFamily="2" charset="2"/>
              <a:buChar char="ü"/>
            </a:pPr>
            <a:r>
              <a:rPr lang="en-US" dirty="0" smtClean="0"/>
              <a:t>Ensure equitable sharing of national and local resources throughout Kenya. </a:t>
            </a:r>
          </a:p>
          <a:p>
            <a:pPr algn="just">
              <a:buFont typeface="Wingdings" panose="05000000000000000000" pitchFamily="2" charset="2"/>
              <a:buChar char="ü"/>
            </a:pPr>
            <a:r>
              <a:rPr lang="en-US" dirty="0" smtClean="0"/>
              <a:t> Facilitate the </a:t>
            </a:r>
            <a:r>
              <a:rPr lang="en-US" dirty="0" err="1" smtClean="0"/>
              <a:t>decentralisation</a:t>
            </a:r>
            <a:r>
              <a:rPr lang="en-US" dirty="0" smtClean="0"/>
              <a:t> of State organs, their functions and services, from the capital of Kenya. </a:t>
            </a:r>
          </a:p>
          <a:p>
            <a:pPr algn="just">
              <a:buFont typeface="Wingdings" panose="05000000000000000000" pitchFamily="2" charset="2"/>
              <a:buChar char="ü"/>
            </a:pPr>
            <a:r>
              <a:rPr lang="en-US" dirty="0" smtClean="0"/>
              <a:t> Enhance checks and balances and the separation of powers. </a:t>
            </a:r>
          </a:p>
          <a:p>
            <a:pPr algn="just">
              <a:buFont typeface="Wingdings" panose="05000000000000000000" pitchFamily="2" charset="2"/>
              <a:buChar char="ü"/>
            </a:pPr>
            <a:r>
              <a:rPr lang="en-US" dirty="0" smtClean="0"/>
              <a:t> Promote social and economic development and the provision of proximate; ensure equitable sharing of national and local resources throughout Kenya. </a:t>
            </a:r>
            <a:endParaRPr lang="en-US" dirty="0"/>
          </a:p>
        </p:txBody>
      </p:sp>
    </p:spTree>
    <p:extLst>
      <p:ext uri="{BB962C8B-B14F-4D97-AF65-F5344CB8AC3E}">
        <p14:creationId xmlns:p14="http://schemas.microsoft.com/office/powerpoint/2010/main" val="1779975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771525"/>
          </a:xfrm>
        </p:spPr>
        <p:txBody>
          <a:bodyPr/>
          <a:lstStyle/>
          <a:p>
            <a:r>
              <a:rPr lang="en-US" dirty="0" smtClean="0"/>
              <a:t>KENYA’S SOCIALIZATION STRUCTURES</a:t>
            </a:r>
            <a:endParaRPr lang="en-US" dirty="0"/>
          </a:p>
        </p:txBody>
      </p:sp>
      <p:sp>
        <p:nvSpPr>
          <p:cNvPr id="3" name="Content Placeholder 2"/>
          <p:cNvSpPr>
            <a:spLocks noGrp="1"/>
          </p:cNvSpPr>
          <p:nvPr>
            <p:ph idx="1"/>
          </p:nvPr>
        </p:nvSpPr>
        <p:spPr>
          <a:xfrm>
            <a:off x="1484310" y="1638300"/>
            <a:ext cx="10018713" cy="4162425"/>
          </a:xfrm>
        </p:spPr>
        <p:txBody>
          <a:bodyPr>
            <a:normAutofit fontScale="70000" lnSpcReduction="20000"/>
          </a:bodyPr>
          <a:lstStyle/>
          <a:p>
            <a:pPr marL="0" indent="0" algn="just">
              <a:buNone/>
            </a:pPr>
            <a:r>
              <a:rPr lang="en-US" dirty="0" smtClean="0"/>
              <a:t> Socialization is the process through which people learn the expectations of society. It’s a life-long process with consequences that affect how one behaves towards others and what one thinks of themselves. </a:t>
            </a:r>
          </a:p>
          <a:p>
            <a:pPr algn="just">
              <a:buFont typeface="Wingdings" panose="05000000000000000000" pitchFamily="2" charset="2"/>
              <a:buChar char="ü"/>
            </a:pPr>
            <a:r>
              <a:rPr lang="en-US" dirty="0" smtClean="0"/>
              <a:t> It establishes self-concepts in terms of how one thinks of themselves being as a result of the socialization experiences one accumulates over time. One’s self-esteem and identity are established through socialization experiences. </a:t>
            </a:r>
          </a:p>
          <a:p>
            <a:pPr algn="just">
              <a:buFont typeface="Wingdings" panose="05000000000000000000" pitchFamily="2" charset="2"/>
              <a:buChar char="ü"/>
            </a:pPr>
            <a:r>
              <a:rPr lang="en-US" dirty="0" smtClean="0"/>
              <a:t> It creates the capacity for role taking which refers to socialization being fundamentally reflective by involving self-conscious human beings seeing and reacting to the expectations of others. </a:t>
            </a:r>
          </a:p>
          <a:p>
            <a:pPr algn="just">
              <a:buFont typeface="Wingdings" panose="05000000000000000000" pitchFamily="2" charset="2"/>
              <a:buChar char="ü"/>
            </a:pPr>
            <a:r>
              <a:rPr lang="en-US" dirty="0" smtClean="0"/>
              <a:t> It creates the tendency for people to act socially accepted ways. Through socialization people learn the normative expectations attached to social situations and the expectations of society in general. </a:t>
            </a:r>
          </a:p>
          <a:p>
            <a:pPr algn="just">
              <a:buFont typeface="Wingdings" panose="05000000000000000000" pitchFamily="2" charset="2"/>
              <a:buChar char="ü"/>
            </a:pPr>
            <a:r>
              <a:rPr lang="en-US" dirty="0" smtClean="0"/>
              <a:t> Socialization creates some predictability in human </a:t>
            </a:r>
            <a:r>
              <a:rPr lang="en-US" dirty="0" err="1" smtClean="0"/>
              <a:t>behaviours</a:t>
            </a:r>
            <a:r>
              <a:rPr lang="en-US" dirty="0" smtClean="0"/>
              <a:t> and brings to some order to what might otherwise be social chaos. </a:t>
            </a:r>
            <a:endParaRPr lang="en-US" dirty="0"/>
          </a:p>
          <a:p>
            <a:pPr algn="just">
              <a:buFont typeface="Wingdings" panose="05000000000000000000" pitchFamily="2" charset="2"/>
              <a:buChar char="ü"/>
            </a:pPr>
            <a:r>
              <a:rPr lang="en-US" dirty="0" smtClean="0"/>
              <a:t> It makes people bearers of culture. This because it is the process by which people learn and internalize the attitudes, beliefs and </a:t>
            </a:r>
            <a:r>
              <a:rPr lang="en-US" dirty="0" err="1" smtClean="0"/>
              <a:t>behaviours</a:t>
            </a:r>
            <a:r>
              <a:rPr lang="en-US" dirty="0" smtClean="0"/>
              <a:t> of their culture. </a:t>
            </a:r>
            <a:endParaRPr lang="en-US" dirty="0"/>
          </a:p>
        </p:txBody>
      </p:sp>
    </p:spTree>
    <p:extLst>
      <p:ext uri="{BB962C8B-B14F-4D97-AF65-F5344CB8AC3E}">
        <p14:creationId xmlns:p14="http://schemas.microsoft.com/office/powerpoint/2010/main" val="1664174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31709"/>
          </a:xfrm>
        </p:spPr>
        <p:txBody>
          <a:bodyPr>
            <a:normAutofit fontScale="90000"/>
          </a:bodyPr>
          <a:lstStyle/>
          <a:p>
            <a:endParaRPr lang="en-US" dirty="0"/>
          </a:p>
        </p:txBody>
      </p:sp>
      <p:sp>
        <p:nvSpPr>
          <p:cNvPr id="3" name="Content Placeholder 2"/>
          <p:cNvSpPr>
            <a:spLocks noGrp="1"/>
          </p:cNvSpPr>
          <p:nvPr>
            <p:ph idx="1"/>
          </p:nvPr>
        </p:nvSpPr>
        <p:spPr>
          <a:xfrm>
            <a:off x="838200" y="1084217"/>
            <a:ext cx="10515600" cy="5092746"/>
          </a:xfrm>
        </p:spPr>
        <p:txBody>
          <a:bodyPr>
            <a:normAutofit fontScale="85000" lnSpcReduction="20000"/>
          </a:bodyPr>
          <a:lstStyle/>
          <a:p>
            <a:pPr algn="just">
              <a:buFont typeface="Wingdings" panose="05000000000000000000" pitchFamily="2" charset="2"/>
              <a:buChar char="ü"/>
            </a:pPr>
            <a:r>
              <a:rPr lang="en-US" dirty="0" smtClean="0"/>
              <a:t> It is a two-way process in that persons not only are recipients of culture but also is the creator of culture who passes cultural expectations on to others. </a:t>
            </a:r>
            <a:endParaRPr lang="en-US" dirty="0"/>
          </a:p>
          <a:p>
            <a:pPr algn="just">
              <a:buFont typeface="Wingdings" panose="05000000000000000000" pitchFamily="2" charset="2"/>
              <a:buChar char="ü"/>
            </a:pPr>
            <a:r>
              <a:rPr lang="en-US" dirty="0" smtClean="0"/>
              <a:t>The main product of socialization then is society itself. By </a:t>
            </a:r>
            <a:r>
              <a:rPr lang="en-US" dirty="0" err="1" smtClean="0"/>
              <a:t>moulding</a:t>
            </a:r>
            <a:r>
              <a:rPr lang="en-US" dirty="0" smtClean="0"/>
              <a:t> an individual, socialization forces perpetuates the society into which individuals are born.</a:t>
            </a:r>
          </a:p>
          <a:p>
            <a:pPr algn="just">
              <a:buFont typeface="Wingdings" panose="05000000000000000000" pitchFamily="2" charset="2"/>
              <a:buChar char="ü"/>
            </a:pPr>
            <a:r>
              <a:rPr lang="en-US" dirty="0" smtClean="0"/>
              <a:t>Beginning at childhood, socialization contributes to the formation of a self, the self learns roles and rules and thus outfitted, the self becomes a bearer of culture, passing on all that it has acquired. </a:t>
            </a:r>
            <a:endParaRPr lang="en-US" dirty="0"/>
          </a:p>
          <a:p>
            <a:pPr algn="just">
              <a:buFont typeface="Wingdings" panose="05000000000000000000" pitchFamily="2" charset="2"/>
              <a:buChar char="ü"/>
            </a:pPr>
            <a:r>
              <a:rPr lang="en-US" dirty="0" smtClean="0"/>
              <a:t>Westernization, industrialization and modernization and social mobility across the life course has changed the traditional socialization process. </a:t>
            </a:r>
          </a:p>
          <a:p>
            <a:pPr algn="just">
              <a:buFont typeface="Wingdings" panose="05000000000000000000" pitchFamily="2" charset="2"/>
              <a:buChar char="ü"/>
            </a:pPr>
            <a:r>
              <a:rPr lang="en-US" dirty="0" smtClean="0"/>
              <a:t> Therefore socialization in the family may not be sufficient anymore for preparing for a flexible life course which consist of self-monitored learning and acting that depends on the person’s initiative and competence to select between new locations, networks, social and organizational environment. </a:t>
            </a:r>
            <a:endParaRPr lang="en-US" dirty="0"/>
          </a:p>
          <a:p>
            <a:pPr algn="just">
              <a:buFont typeface="Wingdings" panose="05000000000000000000" pitchFamily="2" charset="2"/>
              <a:buChar char="ü"/>
            </a:pPr>
            <a:r>
              <a:rPr lang="en-US" dirty="0" smtClean="0"/>
              <a:t>Though the family is still the primary context for socialization, peer-groups, social networks and organizations in pre-schools, </a:t>
            </a:r>
            <a:r>
              <a:rPr lang="en-US" dirty="0" err="1" smtClean="0"/>
              <a:t>neighbourhoods</a:t>
            </a:r>
            <a:r>
              <a:rPr lang="en-US" dirty="0" smtClean="0"/>
              <a:t> and work setting are field of interaction that provide experiences and challenges for social identity formation.</a:t>
            </a:r>
          </a:p>
          <a:p>
            <a:endParaRPr lang="en-US" dirty="0"/>
          </a:p>
        </p:txBody>
      </p:sp>
    </p:spTree>
    <p:extLst>
      <p:ext uri="{BB962C8B-B14F-4D97-AF65-F5344CB8AC3E}">
        <p14:creationId xmlns:p14="http://schemas.microsoft.com/office/powerpoint/2010/main" val="41116375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xmlns=""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54</TotalTime>
  <Words>1508</Words>
  <Application>Microsoft Office PowerPoint</Application>
  <PresentationFormat>Custom</PresentationFormat>
  <Paragraphs>54</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Parallax</vt:lpstr>
      <vt:lpstr>The Structure of the Government of Kenya</vt:lpstr>
      <vt:lpstr>The Executive</vt:lpstr>
      <vt:lpstr>The Judiciary</vt:lpstr>
      <vt:lpstr>The Legislature</vt:lpstr>
      <vt:lpstr>Power sharing and devolution</vt:lpstr>
      <vt:lpstr>The mandates of County Governments</vt:lpstr>
      <vt:lpstr>KENYA’S SOCIALIZATION STRUCTURES</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MULTIPLE DIGITAL</cp:lastModifiedBy>
  <cp:revision>9</cp:revision>
  <dcterms:created xsi:type="dcterms:W3CDTF">2022-09-26T08:39:26Z</dcterms:created>
  <dcterms:modified xsi:type="dcterms:W3CDTF">2024-09-17T07:33:53Z</dcterms:modified>
</cp:coreProperties>
</file>