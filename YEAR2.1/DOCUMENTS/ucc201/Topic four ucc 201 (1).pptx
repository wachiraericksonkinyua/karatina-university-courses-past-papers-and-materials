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4" autoAdjust="0"/>
    <p:restoredTop sz="9466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B69572D-F29C-4596-B1B1-6FC501AA44D1}"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1710644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B69572D-F29C-4596-B1B1-6FC501AA44D1}"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4076300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69572D-F29C-4596-B1B1-6FC501AA44D1}"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332077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B69572D-F29C-4596-B1B1-6FC501AA44D1}" type="datetimeFigureOut">
              <a:rPr lang="en-US" smtClean="0"/>
              <a:t>10/15/2023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1239099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B69572D-F29C-4596-B1B1-6FC501AA44D1}" type="datetimeFigureOut">
              <a:rPr lang="en-US" smtClean="0"/>
              <a:t>10/15/2023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1793343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B69572D-F29C-4596-B1B1-6FC501AA44D1}" type="datetimeFigureOut">
              <a:rPr lang="en-US" smtClean="0"/>
              <a:t>10/15/2023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269141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9572D-F29C-4596-B1B1-6FC501AA44D1}" type="datetimeFigureOut">
              <a:rPr lang="en-US" smtClean="0"/>
              <a:t>10/15/2023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110084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B69572D-F29C-4596-B1B1-6FC501AA44D1}" type="datetimeFigureOut">
              <a:rPr lang="en-US" smtClean="0"/>
              <a:t>10/15/2023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3708111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B69572D-F29C-4596-B1B1-6FC501AA44D1}" type="datetimeFigureOut">
              <a:rPr lang="en-US" smtClean="0"/>
              <a:t>10/15/2023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2035383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69572D-F29C-4596-B1B1-6FC501AA44D1}"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1937035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69572D-F29C-4596-B1B1-6FC501AA44D1}"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DAB177-7911-4620-8421-7FD5BA0273C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53068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69572D-F29C-4596-B1B1-6FC501AA44D1}"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19919526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69572D-F29C-4596-B1B1-6FC501AA44D1}"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DAB177-7911-4620-8421-7FD5BA0273C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50617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69572D-F29C-4596-B1B1-6FC501AA44D1}"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8520560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B69572D-F29C-4596-B1B1-6FC501AA44D1}"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23063807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B69572D-F29C-4596-B1B1-6FC501AA44D1}"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DAB177-7911-4620-8421-7FD5BA0273C3}" type="slidenum">
              <a:rPr lang="en-US" smtClean="0"/>
              <a:t>‹#›</a:t>
            </a:fld>
            <a:endParaRPr lang="en-US"/>
          </a:p>
        </p:txBody>
      </p:sp>
    </p:spTree>
    <p:extLst>
      <p:ext uri="{BB962C8B-B14F-4D97-AF65-F5344CB8AC3E}">
        <p14:creationId xmlns:p14="http://schemas.microsoft.com/office/powerpoint/2010/main" val="3407517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B69572D-F29C-4596-B1B1-6FC501AA44D1}" type="datetimeFigureOut">
              <a:rPr lang="en-US" smtClean="0"/>
              <a:t>10/15/2023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9DAB177-7911-4620-8421-7FD5BA0273C3}" type="slidenum">
              <a:rPr lang="en-US" smtClean="0"/>
              <a:t>‹#›</a:t>
            </a:fld>
            <a:endParaRPr lang="en-US"/>
          </a:p>
        </p:txBody>
      </p:sp>
    </p:spTree>
    <p:extLst>
      <p:ext uri="{BB962C8B-B14F-4D97-AF65-F5344CB8AC3E}">
        <p14:creationId xmlns:p14="http://schemas.microsoft.com/office/powerpoint/2010/main" val="41641389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National Values and Principles of Governance</a:t>
            </a:r>
            <a:endParaRPr lang="en-US" dirty="0"/>
          </a:p>
        </p:txBody>
      </p:sp>
      <p:sp>
        <p:nvSpPr>
          <p:cNvPr id="3" name="Content Placeholder 2"/>
          <p:cNvSpPr>
            <a:spLocks noGrp="1"/>
          </p:cNvSpPr>
          <p:nvPr>
            <p:ph idx="1"/>
          </p:nvPr>
        </p:nvSpPr>
        <p:spPr/>
        <p:txBody>
          <a:bodyPr>
            <a:normAutofit/>
          </a:bodyPr>
          <a:lstStyle/>
          <a:p>
            <a:pPr marL="0" indent="0" algn="just">
              <a:buNone/>
            </a:pPr>
            <a:r>
              <a:rPr lang="en-US" sz="2000" dirty="0" smtClean="0"/>
              <a:t>National Values and Principles of Governance are fundamental beliefs or ideals that guide the choices, actions and behavior of a nation. </a:t>
            </a:r>
          </a:p>
          <a:p>
            <a:pPr marL="0" indent="0" algn="just">
              <a:buNone/>
            </a:pPr>
            <a:r>
              <a:rPr lang="en-US" sz="2000" dirty="0" smtClean="0"/>
              <a:t>They are critical in building national identity and national character that guides the realization of national development. </a:t>
            </a:r>
          </a:p>
          <a:p>
            <a:pPr marL="0" indent="0" algn="just">
              <a:buNone/>
            </a:pPr>
            <a:r>
              <a:rPr lang="en-US" sz="2000" dirty="0" smtClean="0"/>
              <a:t>They can exert influence on the way individuals relate with one another, how communities engage one another and how citizens and government interact to promote peace, national unity and cohesion. </a:t>
            </a:r>
            <a:endParaRPr lang="en-US" sz="2000" dirty="0"/>
          </a:p>
        </p:txBody>
      </p:sp>
    </p:spTree>
    <p:extLst>
      <p:ext uri="{BB962C8B-B14F-4D97-AF65-F5344CB8AC3E}">
        <p14:creationId xmlns:p14="http://schemas.microsoft.com/office/powerpoint/2010/main" val="1953844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The National Values and Principles of Governance espoused in Article 10 of the Constitution are: </a:t>
            </a:r>
          </a:p>
          <a:p>
            <a:pPr>
              <a:buFont typeface="Wingdings" panose="05000000000000000000" pitchFamily="2" charset="2"/>
              <a:buChar char="ü"/>
            </a:pPr>
            <a:r>
              <a:rPr lang="en-US" dirty="0" smtClean="0"/>
              <a:t> Patriotism, </a:t>
            </a:r>
          </a:p>
          <a:p>
            <a:pPr>
              <a:buFont typeface="Wingdings" panose="05000000000000000000" pitchFamily="2" charset="2"/>
              <a:buChar char="ü"/>
            </a:pPr>
            <a:r>
              <a:rPr lang="en-US" dirty="0" smtClean="0"/>
              <a:t>National unity </a:t>
            </a:r>
          </a:p>
          <a:p>
            <a:pPr>
              <a:buFont typeface="Wingdings" panose="05000000000000000000" pitchFamily="2" charset="2"/>
              <a:buChar char="ü"/>
            </a:pPr>
            <a:r>
              <a:rPr lang="en-US" dirty="0" smtClean="0"/>
              <a:t> Sharing and devolution of power </a:t>
            </a:r>
          </a:p>
          <a:p>
            <a:pPr>
              <a:buFont typeface="Wingdings" panose="05000000000000000000" pitchFamily="2" charset="2"/>
              <a:buChar char="ü"/>
            </a:pPr>
            <a:r>
              <a:rPr lang="en-US" dirty="0" smtClean="0"/>
              <a:t> The rule of law</a:t>
            </a:r>
          </a:p>
          <a:p>
            <a:pPr marL="0" indent="0">
              <a:buNone/>
            </a:pPr>
            <a:endParaRPr lang="en-US" dirty="0"/>
          </a:p>
        </p:txBody>
      </p:sp>
    </p:spTree>
    <p:extLst>
      <p:ext uri="{BB962C8B-B14F-4D97-AF65-F5344CB8AC3E}">
        <p14:creationId xmlns:p14="http://schemas.microsoft.com/office/powerpoint/2010/main" val="4169114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ü"/>
            </a:pPr>
            <a:r>
              <a:rPr lang="en-US" dirty="0" smtClean="0"/>
              <a:t> Democracy and participation of the people </a:t>
            </a:r>
          </a:p>
          <a:p>
            <a:pPr>
              <a:buFont typeface="Wingdings" panose="05000000000000000000" pitchFamily="2" charset="2"/>
              <a:buChar char="ü"/>
            </a:pPr>
            <a:r>
              <a:rPr lang="en-US" dirty="0" smtClean="0"/>
              <a:t> Human dignity </a:t>
            </a:r>
          </a:p>
          <a:p>
            <a:pPr>
              <a:buFont typeface="Wingdings" panose="05000000000000000000" pitchFamily="2" charset="2"/>
              <a:buChar char="ü"/>
            </a:pPr>
            <a:r>
              <a:rPr lang="en-US" dirty="0" smtClean="0"/>
              <a:t>Equity </a:t>
            </a:r>
          </a:p>
          <a:p>
            <a:pPr>
              <a:buFont typeface="Wingdings" panose="05000000000000000000" pitchFamily="2" charset="2"/>
              <a:buChar char="ü"/>
            </a:pPr>
            <a:r>
              <a:rPr lang="en-US" dirty="0" smtClean="0"/>
              <a:t> Social justice </a:t>
            </a:r>
          </a:p>
          <a:p>
            <a:pPr>
              <a:buFont typeface="Wingdings" panose="05000000000000000000" pitchFamily="2" charset="2"/>
              <a:buChar char="ü"/>
            </a:pPr>
            <a:r>
              <a:rPr lang="en-US" dirty="0" smtClean="0"/>
              <a:t> Inclusiveness </a:t>
            </a:r>
          </a:p>
          <a:p>
            <a:pPr>
              <a:buFont typeface="Wingdings" panose="05000000000000000000" pitchFamily="2" charset="2"/>
              <a:buChar char="ü"/>
            </a:pPr>
            <a:r>
              <a:rPr lang="en-US" dirty="0" smtClean="0"/>
              <a:t> Equality </a:t>
            </a:r>
          </a:p>
          <a:p>
            <a:pPr>
              <a:buFont typeface="Wingdings" panose="05000000000000000000" pitchFamily="2" charset="2"/>
              <a:buChar char="ü"/>
            </a:pPr>
            <a:r>
              <a:rPr lang="en-US" dirty="0" smtClean="0"/>
              <a:t> Human rights </a:t>
            </a:r>
          </a:p>
          <a:p>
            <a:pPr>
              <a:buFont typeface="Wingdings" panose="05000000000000000000" pitchFamily="2" charset="2"/>
              <a:buChar char="ü"/>
            </a:pPr>
            <a:r>
              <a:rPr lang="en-US" dirty="0" smtClean="0"/>
              <a:t> Non-discrimination and protection of the marginalized </a:t>
            </a:r>
          </a:p>
          <a:p>
            <a:pPr>
              <a:buFont typeface="Wingdings" panose="05000000000000000000" pitchFamily="2" charset="2"/>
              <a:buChar char="ü"/>
            </a:pPr>
            <a:r>
              <a:rPr lang="en-US" dirty="0" smtClean="0"/>
              <a:t> Good governance </a:t>
            </a:r>
          </a:p>
          <a:p>
            <a:pPr>
              <a:buFont typeface="Wingdings" panose="05000000000000000000" pitchFamily="2" charset="2"/>
              <a:buChar char="ü"/>
            </a:pPr>
            <a:r>
              <a:rPr lang="en-US" dirty="0" smtClean="0"/>
              <a:t>Integrity, transparency and accountability </a:t>
            </a:r>
          </a:p>
          <a:p>
            <a:pPr>
              <a:buFont typeface="Wingdings" panose="05000000000000000000" pitchFamily="2" charset="2"/>
              <a:buChar char="ü"/>
            </a:pPr>
            <a:r>
              <a:rPr lang="en-US" dirty="0" smtClean="0"/>
              <a:t> Sustainable development.</a:t>
            </a:r>
            <a:endParaRPr lang="en-US" dirty="0"/>
          </a:p>
        </p:txBody>
      </p:sp>
    </p:spTree>
    <p:extLst>
      <p:ext uri="{BB962C8B-B14F-4D97-AF65-F5344CB8AC3E}">
        <p14:creationId xmlns:p14="http://schemas.microsoft.com/office/powerpoint/2010/main" val="2741507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Core values  as derived from African cultures and traditions</a:t>
            </a:r>
            <a:endParaRPr lang="en-US" sz="3200"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smtClean="0"/>
              <a:t>Hospitality </a:t>
            </a:r>
          </a:p>
          <a:p>
            <a:pPr>
              <a:buFont typeface="Wingdings" panose="05000000000000000000" pitchFamily="2" charset="2"/>
              <a:buChar char="ü"/>
            </a:pPr>
            <a:r>
              <a:rPr lang="en-US" dirty="0" smtClean="0"/>
              <a:t>Generosity to others </a:t>
            </a:r>
          </a:p>
          <a:p>
            <a:pPr>
              <a:buFont typeface="Wingdings" panose="05000000000000000000" pitchFamily="2" charset="2"/>
              <a:buChar char="ü"/>
            </a:pPr>
            <a:r>
              <a:rPr lang="en-US" dirty="0" smtClean="0"/>
              <a:t>Truthfulness and honesty in public and private lives </a:t>
            </a:r>
          </a:p>
          <a:p>
            <a:pPr>
              <a:buFont typeface="Wingdings" panose="05000000000000000000" pitchFamily="2" charset="2"/>
              <a:buChar char="ü"/>
            </a:pPr>
            <a:r>
              <a:rPr lang="en-US" dirty="0" smtClean="0"/>
              <a:t>Parenthood or full family life </a:t>
            </a:r>
          </a:p>
          <a:p>
            <a:pPr>
              <a:buFont typeface="Wingdings" panose="05000000000000000000" pitchFamily="2" charset="2"/>
              <a:buChar char="ü"/>
            </a:pPr>
            <a:r>
              <a:rPr lang="en-US" dirty="0" smtClean="0"/>
              <a:t> Love for children  </a:t>
            </a:r>
          </a:p>
          <a:p>
            <a:pPr>
              <a:buFont typeface="Wingdings" panose="05000000000000000000" pitchFamily="2" charset="2"/>
              <a:buChar char="ü"/>
            </a:pPr>
            <a:r>
              <a:rPr lang="en-US" dirty="0" smtClean="0"/>
              <a:t>Respect for the elderly </a:t>
            </a:r>
          </a:p>
          <a:p>
            <a:pPr>
              <a:buFont typeface="Wingdings" panose="05000000000000000000" pitchFamily="2" charset="2"/>
              <a:buChar char="ü"/>
            </a:pPr>
            <a:r>
              <a:rPr lang="en-US" dirty="0" smtClean="0"/>
              <a:t>Respect for women </a:t>
            </a:r>
          </a:p>
          <a:p>
            <a:pPr>
              <a:buFont typeface="Wingdings" panose="05000000000000000000" pitchFamily="2" charset="2"/>
              <a:buChar char="ü"/>
            </a:pPr>
            <a:r>
              <a:rPr lang="en-US" dirty="0" smtClean="0"/>
              <a:t> Wealth creation </a:t>
            </a:r>
          </a:p>
          <a:p>
            <a:pPr>
              <a:buFont typeface="Wingdings" panose="05000000000000000000" pitchFamily="2" charset="2"/>
              <a:buChar char="ü"/>
            </a:pPr>
            <a:r>
              <a:rPr lang="en-US" dirty="0" smtClean="0"/>
              <a:t> Working hard</a:t>
            </a:r>
            <a:endParaRPr lang="en-US" dirty="0"/>
          </a:p>
        </p:txBody>
      </p:sp>
    </p:spTree>
    <p:extLst>
      <p:ext uri="{BB962C8B-B14F-4D97-AF65-F5344CB8AC3E}">
        <p14:creationId xmlns:p14="http://schemas.microsoft.com/office/powerpoint/2010/main" val="1227745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Core values as derived from Sessional Paper No. 10 of 1965</a:t>
            </a:r>
            <a:endParaRPr lang="en-US" sz="3200"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smtClean="0"/>
              <a:t> Social justice </a:t>
            </a:r>
          </a:p>
          <a:p>
            <a:pPr>
              <a:buFont typeface="Wingdings" panose="05000000000000000000" pitchFamily="2" charset="2"/>
              <a:buChar char="ü"/>
            </a:pPr>
            <a:r>
              <a:rPr lang="en-US" dirty="0" smtClean="0"/>
              <a:t> Equitable distribution of national resources </a:t>
            </a:r>
          </a:p>
          <a:p>
            <a:pPr>
              <a:buFont typeface="Wingdings" panose="05000000000000000000" pitchFamily="2" charset="2"/>
              <a:buChar char="ü"/>
            </a:pPr>
            <a:r>
              <a:rPr lang="en-US" dirty="0" smtClean="0"/>
              <a:t> Equality irrespective of race, </a:t>
            </a:r>
            <a:r>
              <a:rPr lang="en-US" dirty="0" err="1" smtClean="0"/>
              <a:t>colour</a:t>
            </a:r>
            <a:r>
              <a:rPr lang="en-US" dirty="0" smtClean="0"/>
              <a:t>, religion or creed </a:t>
            </a:r>
          </a:p>
          <a:p>
            <a:pPr>
              <a:buFont typeface="Wingdings" panose="05000000000000000000" pitchFamily="2" charset="2"/>
              <a:buChar char="ü"/>
            </a:pPr>
            <a:r>
              <a:rPr lang="en-US" dirty="0" smtClean="0"/>
              <a:t>Human dignity to live a full, satisfying and respectable life </a:t>
            </a:r>
          </a:p>
          <a:p>
            <a:pPr>
              <a:buFont typeface="Wingdings" panose="05000000000000000000" pitchFamily="2" charset="2"/>
              <a:buChar char="ü"/>
            </a:pPr>
            <a:r>
              <a:rPr lang="en-US" dirty="0" smtClean="0"/>
              <a:t> Absence of poverty and deprivation </a:t>
            </a:r>
          </a:p>
          <a:p>
            <a:pPr>
              <a:buFont typeface="Wingdings" panose="05000000000000000000" pitchFamily="2" charset="2"/>
              <a:buChar char="ü"/>
            </a:pPr>
            <a:r>
              <a:rPr lang="en-US" dirty="0" smtClean="0"/>
              <a:t>Nation building </a:t>
            </a:r>
          </a:p>
          <a:p>
            <a:pPr>
              <a:buFont typeface="Wingdings" panose="05000000000000000000" pitchFamily="2" charset="2"/>
              <a:buChar char="ü"/>
            </a:pPr>
            <a:r>
              <a:rPr lang="en-US" dirty="0" smtClean="0"/>
              <a:t>Unity in diversity </a:t>
            </a:r>
          </a:p>
          <a:p>
            <a:pPr>
              <a:buFont typeface="Wingdings" panose="05000000000000000000" pitchFamily="2" charset="2"/>
              <a:buChar char="ü"/>
            </a:pPr>
            <a:r>
              <a:rPr lang="en-US" dirty="0" smtClean="0"/>
              <a:t> Mutual social responsibility </a:t>
            </a:r>
          </a:p>
          <a:p>
            <a:pPr>
              <a:buFont typeface="Wingdings" panose="05000000000000000000" pitchFamily="2" charset="2"/>
              <a:buChar char="ü"/>
            </a:pPr>
            <a:r>
              <a:rPr lang="en-US" dirty="0" smtClean="0"/>
              <a:t> Self –reliance</a:t>
            </a:r>
            <a:endParaRPr lang="en-US" dirty="0"/>
          </a:p>
        </p:txBody>
      </p:sp>
    </p:spTree>
    <p:extLst>
      <p:ext uri="{BB962C8B-B14F-4D97-AF65-F5344CB8AC3E}">
        <p14:creationId xmlns:p14="http://schemas.microsoft.com/office/powerpoint/2010/main" val="551576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Nation building</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smtClean="0"/>
              <a:t> Nation-building is constructing or structuring a national identity using the powers of the state. </a:t>
            </a:r>
            <a:endParaRPr lang="en-US" dirty="0"/>
          </a:p>
          <a:p>
            <a:pPr algn="just">
              <a:buFont typeface="Wingdings" panose="05000000000000000000" pitchFamily="2" charset="2"/>
              <a:buChar char="ü"/>
            </a:pPr>
            <a:r>
              <a:rPr lang="en-US" dirty="0" smtClean="0"/>
              <a:t>Nation building aims at the unification of the people within the state so that it remains politically stable and viable in the long run. </a:t>
            </a:r>
          </a:p>
          <a:p>
            <a:pPr algn="just">
              <a:buFont typeface="Wingdings" panose="05000000000000000000" pitchFamily="2" charset="2"/>
              <a:buChar char="ü"/>
            </a:pPr>
            <a:r>
              <a:rPr lang="en-US" dirty="0" smtClean="0"/>
              <a:t> Nation-building includes the creation of national paraphernalia such as flags, anthems, national days, national stadiums, national airlines, national languages and national myths. </a:t>
            </a:r>
          </a:p>
          <a:p>
            <a:pPr algn="just">
              <a:buFont typeface="Wingdings" panose="05000000000000000000" pitchFamily="2" charset="2"/>
              <a:buChar char="ü"/>
            </a:pPr>
            <a:r>
              <a:rPr lang="en-US" dirty="0" smtClean="0"/>
              <a:t> At a deeper level, national identity needed to be deliberately constructed by </a:t>
            </a:r>
            <a:r>
              <a:rPr lang="en-US" dirty="0" err="1" smtClean="0"/>
              <a:t>moulding</a:t>
            </a:r>
            <a:r>
              <a:rPr lang="en-US" dirty="0" smtClean="0"/>
              <a:t> different ethnic groups into a nation, especially since in many newly established states colonial practices of divide and rule had resulted in ethnically heterogeneous population</a:t>
            </a:r>
            <a:endParaRPr lang="en-US" dirty="0"/>
          </a:p>
        </p:txBody>
      </p:sp>
    </p:spTree>
    <p:extLst>
      <p:ext uri="{BB962C8B-B14F-4D97-AF65-F5344CB8AC3E}">
        <p14:creationId xmlns:p14="http://schemas.microsoft.com/office/powerpoint/2010/main" val="1046685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Symbols of national unity</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smtClean="0"/>
              <a:t>The National Anthem; this song is a prayer for Kenya. It expresses the hopes and wishes of Kenyans. </a:t>
            </a:r>
          </a:p>
          <a:p>
            <a:pPr>
              <a:buFont typeface="Wingdings" panose="05000000000000000000" pitchFamily="2" charset="2"/>
              <a:buChar char="ü"/>
            </a:pPr>
            <a:r>
              <a:rPr lang="en-US" dirty="0" smtClean="0"/>
              <a:t> The National flag: Kenya’s national flag has four </a:t>
            </a:r>
            <a:r>
              <a:rPr lang="en-US" dirty="0" err="1" smtClean="0"/>
              <a:t>colours</a:t>
            </a:r>
            <a:r>
              <a:rPr lang="en-US" dirty="0" smtClean="0"/>
              <a:t>. Black represents the </a:t>
            </a:r>
            <a:r>
              <a:rPr lang="en-US" dirty="0" err="1" smtClean="0"/>
              <a:t>colour</a:t>
            </a:r>
            <a:r>
              <a:rPr lang="en-US" dirty="0" smtClean="0"/>
              <a:t> of the people of Kenya. Red represent the blood shed during the fight for independence. Green is the </a:t>
            </a:r>
            <a:r>
              <a:rPr lang="en-US" dirty="0" err="1" smtClean="0"/>
              <a:t>colour</a:t>
            </a:r>
            <a:r>
              <a:rPr lang="en-US" dirty="0" smtClean="0"/>
              <a:t> of our natural environment. White represent peace. </a:t>
            </a:r>
          </a:p>
          <a:p>
            <a:pPr>
              <a:buFont typeface="Wingdings" panose="05000000000000000000" pitchFamily="2" charset="2"/>
              <a:buChar char="ü"/>
            </a:pPr>
            <a:r>
              <a:rPr lang="en-US" dirty="0" smtClean="0"/>
              <a:t> The Loyalty pledge: it expresses our loyalty and faithfulness to the country. </a:t>
            </a:r>
            <a:endParaRPr lang="en-US" dirty="0"/>
          </a:p>
          <a:p>
            <a:pPr>
              <a:buFont typeface="Wingdings" panose="05000000000000000000" pitchFamily="2" charset="2"/>
              <a:buChar char="ü"/>
            </a:pPr>
            <a:r>
              <a:rPr lang="en-US" dirty="0" smtClean="0"/>
              <a:t>The Presidency: the position held by the president who is elected by the people to represent them. </a:t>
            </a:r>
          </a:p>
          <a:p>
            <a:pPr>
              <a:buFont typeface="Wingdings" panose="05000000000000000000" pitchFamily="2" charset="2"/>
              <a:buChar char="ü"/>
            </a:pPr>
            <a:r>
              <a:rPr lang="en-US" dirty="0" smtClean="0"/>
              <a:t> The National currency: our currency is the </a:t>
            </a:r>
            <a:r>
              <a:rPr lang="en-US" dirty="0" smtClean="0"/>
              <a:t>shilling. </a:t>
            </a:r>
            <a:r>
              <a:rPr lang="en-US" dirty="0" smtClean="0"/>
              <a:t>It is unique and can only be used to buy and sell goods within the country. </a:t>
            </a:r>
            <a:endParaRPr lang="en-US" dirty="0"/>
          </a:p>
        </p:txBody>
      </p:sp>
    </p:spTree>
    <p:extLst>
      <p:ext uri="{BB962C8B-B14F-4D97-AF65-F5344CB8AC3E}">
        <p14:creationId xmlns:p14="http://schemas.microsoft.com/office/powerpoint/2010/main" val="3830626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81043"/>
            <a:ext cx="10515600" cy="4351338"/>
          </a:xfrm>
        </p:spPr>
        <p:txBody>
          <a:bodyPr>
            <a:normAutofit/>
          </a:bodyPr>
          <a:lstStyle/>
          <a:p>
            <a:pPr>
              <a:buFont typeface="Wingdings" panose="05000000000000000000" pitchFamily="2" charset="2"/>
              <a:buChar char="ü"/>
            </a:pPr>
            <a:r>
              <a:rPr lang="en-US" dirty="0" smtClean="0"/>
              <a:t> National holidays: Special days when Kenyans come together to celebrate and commemorate on the country’s achievements and the contribution of great people to the country. </a:t>
            </a:r>
            <a:endParaRPr lang="en-US" dirty="0"/>
          </a:p>
          <a:p>
            <a:pPr>
              <a:buFont typeface="Wingdings" panose="05000000000000000000" pitchFamily="2" charset="2"/>
              <a:buChar char="ü"/>
            </a:pPr>
            <a:r>
              <a:rPr lang="en-US" dirty="0" smtClean="0"/>
              <a:t>The Coat of Arms: it is a badge for national identity. It contains the following </a:t>
            </a:r>
          </a:p>
          <a:p>
            <a:pPr marL="571500" indent="-571500">
              <a:buFont typeface="+mj-lt"/>
              <a:buAutoNum type="romanLcPeriod"/>
            </a:pPr>
            <a:r>
              <a:rPr lang="en-US" dirty="0" smtClean="0"/>
              <a:t>Shield and two spears: shows Kenyans are ready to defend their country. </a:t>
            </a:r>
            <a:endParaRPr lang="en-US" dirty="0"/>
          </a:p>
          <a:p>
            <a:pPr marL="571500" indent="-571500">
              <a:buFont typeface="+mj-lt"/>
              <a:buAutoNum type="romanLcPeriod"/>
            </a:pPr>
            <a:r>
              <a:rPr lang="en-US" dirty="0" smtClean="0"/>
              <a:t>Two lions: our strength as a nation </a:t>
            </a:r>
          </a:p>
          <a:p>
            <a:pPr marL="571500" indent="-571500">
              <a:buFont typeface="+mj-lt"/>
              <a:buAutoNum type="romanLcPeriod"/>
            </a:pPr>
            <a:r>
              <a:rPr lang="en-US" dirty="0" smtClean="0"/>
              <a:t> A cockerel holding an axe: the first party that formed the government of Kenya after independence and our ability to work for the nation. </a:t>
            </a:r>
          </a:p>
          <a:p>
            <a:pPr marL="571500" indent="-571500">
              <a:buFont typeface="+mj-lt"/>
              <a:buAutoNum type="romanLcPeriod"/>
            </a:pPr>
            <a:r>
              <a:rPr lang="en-US" dirty="0" smtClean="0"/>
              <a:t> Agricultural crops: the agricultural wealth of our country and the ability of the Kenyans to feed for themselves. </a:t>
            </a:r>
            <a:endParaRPr lang="en-US" dirty="0"/>
          </a:p>
          <a:p>
            <a:pPr marL="571500" indent="-571500">
              <a:buFont typeface="+mj-lt"/>
              <a:buAutoNum type="romanLcPeriod"/>
            </a:pPr>
            <a:r>
              <a:rPr lang="en-US" dirty="0" err="1" smtClean="0"/>
              <a:t>Harambee</a:t>
            </a:r>
            <a:r>
              <a:rPr lang="en-US" dirty="0" smtClean="0"/>
              <a:t>: Kenya’s motto. It means working together</a:t>
            </a:r>
          </a:p>
          <a:p>
            <a:endParaRPr lang="en-US" dirty="0"/>
          </a:p>
        </p:txBody>
      </p:sp>
    </p:spTree>
    <p:extLst>
      <p:ext uri="{BB962C8B-B14F-4D97-AF65-F5344CB8AC3E}">
        <p14:creationId xmlns:p14="http://schemas.microsoft.com/office/powerpoint/2010/main" val="834126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Outside Kenya,</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a:t>T</a:t>
            </a:r>
            <a:r>
              <a:rPr lang="en-US" dirty="0" smtClean="0"/>
              <a:t>he Kenyan Flag is flown at the following places; </a:t>
            </a:r>
          </a:p>
          <a:p>
            <a:pPr>
              <a:buFont typeface="Wingdings" panose="05000000000000000000" pitchFamily="2" charset="2"/>
              <a:buChar char="ü"/>
            </a:pPr>
            <a:r>
              <a:rPr lang="en-US" dirty="0" smtClean="0"/>
              <a:t> Kenyan High Commission or embassy offices and Embassies. </a:t>
            </a:r>
            <a:endParaRPr lang="en-US" dirty="0"/>
          </a:p>
          <a:p>
            <a:pPr>
              <a:buFont typeface="Wingdings" panose="05000000000000000000" pitchFamily="2" charset="2"/>
              <a:buChar char="ü"/>
            </a:pPr>
            <a:r>
              <a:rPr lang="en-US" dirty="0" smtClean="0"/>
              <a:t>Cars carrying Kenyan Ambassadors. </a:t>
            </a:r>
          </a:p>
          <a:p>
            <a:pPr>
              <a:buFont typeface="Wingdings" panose="05000000000000000000" pitchFamily="2" charset="2"/>
              <a:buChar char="ü"/>
            </a:pPr>
            <a:r>
              <a:rPr lang="en-US" dirty="0" smtClean="0"/>
              <a:t> When National sportsmen and women win international sporting events. </a:t>
            </a:r>
          </a:p>
          <a:p>
            <a:pPr>
              <a:buFont typeface="Wingdings" panose="05000000000000000000" pitchFamily="2" charset="2"/>
              <a:buChar char="ü"/>
            </a:pPr>
            <a:r>
              <a:rPr lang="en-US" dirty="0" smtClean="0"/>
              <a:t> Outside UN Headquarters in New York. </a:t>
            </a:r>
          </a:p>
          <a:p>
            <a:pPr>
              <a:buFont typeface="Wingdings" panose="05000000000000000000" pitchFamily="2" charset="2"/>
              <a:buChar char="ü"/>
            </a:pPr>
            <a:r>
              <a:rPr lang="en-US" dirty="0" smtClean="0"/>
              <a:t> When the Kenyan Head of states is visiting another country. </a:t>
            </a:r>
          </a:p>
          <a:p>
            <a:pPr>
              <a:buFont typeface="Wingdings" panose="05000000000000000000" pitchFamily="2" charset="2"/>
              <a:buChar char="ü"/>
            </a:pPr>
            <a:r>
              <a:rPr lang="en-US" dirty="0" smtClean="0"/>
              <a:t> It flies half-mast when a Head of state or prominent Kenyan dies. </a:t>
            </a:r>
            <a:endParaRPr lang="en-US" dirty="0"/>
          </a:p>
        </p:txBody>
      </p:sp>
    </p:spTree>
    <p:extLst>
      <p:ext uri="{BB962C8B-B14F-4D97-AF65-F5344CB8AC3E}">
        <p14:creationId xmlns:p14="http://schemas.microsoft.com/office/powerpoint/2010/main" val="2479380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Factors that promote national unity</a:t>
            </a:r>
            <a:endParaRPr lang="en-US" dirty="0"/>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ü"/>
            </a:pPr>
            <a:r>
              <a:rPr lang="en-US" dirty="0" smtClean="0"/>
              <a:t> A national language: a common language spoken by all the people living in one country helps to unite them. People speaking different ethnic dialects cannot easily unite if they cannot understand each other. </a:t>
            </a:r>
          </a:p>
          <a:p>
            <a:pPr algn="just">
              <a:buFont typeface="Wingdings" panose="05000000000000000000" pitchFamily="2" charset="2"/>
              <a:buChar char="ü"/>
            </a:pPr>
            <a:r>
              <a:rPr lang="en-US" dirty="0" smtClean="0"/>
              <a:t> Education: while in school, children learn about their common history and culture. They learn about different parts of the country which exposes them to the beliefs of other communities as well as their way of life. This fosters unity. </a:t>
            </a:r>
          </a:p>
          <a:p>
            <a:pPr algn="just">
              <a:buFont typeface="Wingdings" panose="05000000000000000000" pitchFamily="2" charset="2"/>
              <a:buChar char="ü"/>
            </a:pPr>
            <a:r>
              <a:rPr lang="en-US" dirty="0" smtClean="0"/>
              <a:t> Economic and social interaction: during economic and social activities like trade, sports and games, different communities are exposed to one another. This interaction helps foster a sense of unity. Games and sports helps to develop team among players. </a:t>
            </a:r>
            <a:endParaRPr lang="en-US" dirty="0"/>
          </a:p>
        </p:txBody>
      </p:sp>
    </p:spTree>
    <p:extLst>
      <p:ext uri="{BB962C8B-B14F-4D97-AF65-F5344CB8AC3E}">
        <p14:creationId xmlns:p14="http://schemas.microsoft.com/office/powerpoint/2010/main" val="994564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buFont typeface="Wingdings" panose="05000000000000000000" pitchFamily="2" charset="2"/>
              <a:buChar char="ü"/>
            </a:pPr>
            <a:r>
              <a:rPr lang="en-US" dirty="0" smtClean="0"/>
              <a:t> The use of a single currency: this is a unifying factor, interaction takes place during trade as people exchange various commodities with money. </a:t>
            </a:r>
          </a:p>
          <a:p>
            <a:pPr algn="just">
              <a:buFont typeface="Wingdings" panose="05000000000000000000" pitchFamily="2" charset="2"/>
              <a:buChar char="ü"/>
            </a:pPr>
            <a:r>
              <a:rPr lang="en-US" dirty="0" smtClean="0"/>
              <a:t>Development of towns and urban </a:t>
            </a:r>
            <a:r>
              <a:rPr lang="en-US" dirty="0" err="1" smtClean="0"/>
              <a:t>centres</a:t>
            </a:r>
            <a:r>
              <a:rPr lang="en-US" dirty="0" smtClean="0"/>
              <a:t> brings together people from different communities. </a:t>
            </a:r>
            <a:endParaRPr lang="en-US" dirty="0"/>
          </a:p>
          <a:p>
            <a:pPr algn="just">
              <a:buFont typeface="Wingdings" panose="05000000000000000000" pitchFamily="2" charset="2"/>
              <a:buChar char="ü"/>
            </a:pPr>
            <a:r>
              <a:rPr lang="en-US" dirty="0" smtClean="0"/>
              <a:t>The constitution: the constitution of Kenya is another symbol of unity. Within it, Kenyans have basic rights. Within it also, they pledge to build the nation together. </a:t>
            </a:r>
            <a:endParaRPr lang="en-US" dirty="0"/>
          </a:p>
          <a:p>
            <a:pPr algn="just">
              <a:buFont typeface="Wingdings" panose="05000000000000000000" pitchFamily="2" charset="2"/>
              <a:buChar char="ü"/>
            </a:pPr>
            <a:r>
              <a:rPr lang="en-US" dirty="0" smtClean="0"/>
              <a:t>National assembly: this brings together Members of Parliament from every constituency in the country. This means that within the house the views of every adult Kenyans are represented through the people they elected</a:t>
            </a:r>
          </a:p>
          <a:p>
            <a:pPr algn="just">
              <a:buFont typeface="Wingdings" panose="05000000000000000000" pitchFamily="2" charset="2"/>
              <a:buChar char="ü"/>
            </a:pPr>
            <a:r>
              <a:rPr lang="en-US" dirty="0" smtClean="0"/>
              <a:t> Participation in national events. </a:t>
            </a:r>
            <a:endParaRPr lang="en-US" dirty="0"/>
          </a:p>
          <a:p>
            <a:pPr algn="just">
              <a:buFont typeface="Wingdings" panose="05000000000000000000" pitchFamily="2" charset="2"/>
              <a:buChar char="ü"/>
            </a:pPr>
            <a:r>
              <a:rPr lang="en-US" dirty="0" smtClean="0"/>
              <a:t>Freedom of movement </a:t>
            </a:r>
          </a:p>
          <a:p>
            <a:pPr algn="just">
              <a:buFont typeface="Wingdings" panose="05000000000000000000" pitchFamily="2" charset="2"/>
              <a:buChar char="ü"/>
            </a:pPr>
            <a:r>
              <a:rPr lang="en-US" dirty="0" smtClean="0"/>
              <a:t>Equal distribution of national resources </a:t>
            </a:r>
          </a:p>
          <a:p>
            <a:pPr algn="just">
              <a:buFont typeface="Wingdings" panose="05000000000000000000" pitchFamily="2" charset="2"/>
              <a:buChar char="ü"/>
            </a:pPr>
            <a:r>
              <a:rPr lang="en-US" dirty="0"/>
              <a:t>T</a:t>
            </a:r>
            <a:r>
              <a:rPr lang="en-US" dirty="0" smtClean="0"/>
              <a:t>he rule of law.</a:t>
            </a:r>
          </a:p>
          <a:p>
            <a:endParaRPr lang="en-US" dirty="0"/>
          </a:p>
        </p:txBody>
      </p:sp>
    </p:spTree>
    <p:extLst>
      <p:ext uri="{BB962C8B-B14F-4D97-AF65-F5344CB8AC3E}">
        <p14:creationId xmlns:p14="http://schemas.microsoft.com/office/powerpoint/2010/main" val="375883578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1453</TotalTime>
  <Words>959</Words>
  <Application>Microsoft Office PowerPoint</Application>
  <PresentationFormat>Widescreen</PresentationFormat>
  <Paragraphs>78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Trebuchet MS</vt:lpstr>
      <vt:lpstr>Wingdings</vt:lpstr>
      <vt:lpstr>Wingdings 3</vt:lpstr>
      <vt:lpstr>Facet</vt:lpstr>
      <vt:lpstr>National Values and Principles of Governance</vt:lpstr>
      <vt:lpstr>PowerPoint Presentation</vt:lpstr>
      <vt:lpstr>PowerPoint Presentation</vt:lpstr>
      <vt:lpstr>Core values  as derived from African cultures and traditions</vt:lpstr>
      <vt:lpstr>Core values as derived from Sessional Paper No. 10 of 1965</vt:lpstr>
      <vt:lpstr>Nation building</vt:lpstr>
      <vt:lpstr>Symbols of national unity</vt:lpstr>
      <vt:lpstr>PowerPoint Presentation</vt:lpstr>
      <vt:lpstr>Outside Kenya,</vt:lpstr>
      <vt:lpstr>Factors that promote national unity</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PC</cp:lastModifiedBy>
  <cp:revision>10</cp:revision>
  <dcterms:created xsi:type="dcterms:W3CDTF">2022-10-20T08:56:53Z</dcterms:created>
  <dcterms:modified xsi:type="dcterms:W3CDTF">2023-10-16T06:15:46Z</dcterms:modified>
</cp:coreProperties>
</file>