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3"/>
    <p:sldId id="259" r:id="rId4"/>
    <p:sldId id="260" r:id="rId5"/>
    <p:sldId id="258" r:id="rId6"/>
    <p:sldId id="262" r:id="rId7"/>
    <p:sldId id="261"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3" autoAdjust="0"/>
    <p:restoredTop sz="94660"/>
  </p:normalViewPr>
  <p:slideViewPr>
    <p:cSldViewPr snapToGrid="0">
      <p:cViewPr varScale="1">
        <p:scale>
          <a:sx n="86" d="100"/>
          <a:sy n="86" d="100"/>
        </p:scale>
        <p:origin x="13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42A54C80-263E-416B-A8E0-580EDEADCBDC}"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smtClean="0"/>
              <a:t>Good Governance</a:t>
            </a:r>
            <a:endParaRPr lang="en-US" dirty="0"/>
          </a:p>
        </p:txBody>
      </p:sp>
      <p:sp>
        <p:nvSpPr>
          <p:cNvPr id="3" name="Content Placeholder 2"/>
          <p:cNvSpPr>
            <a:spLocks noGrp="1"/>
          </p:cNvSpPr>
          <p:nvPr>
            <p:ph idx="1"/>
          </p:nvPr>
        </p:nvSpPr>
        <p:spPr>
          <a:xfrm>
            <a:off x="677334" y="2160589"/>
            <a:ext cx="8596668" cy="3880773"/>
          </a:xfrm>
        </p:spPr>
        <p:txBody>
          <a:bodyPr>
            <a:normAutofit lnSpcReduction="10000"/>
          </a:bodyPr>
          <a:lstStyle/>
          <a:p>
            <a:pPr algn="just"/>
            <a:r>
              <a:rPr lang="en-US" dirty="0" smtClean="0"/>
              <a:t>Governance is a process in which societies or organizations make their important decisions, determine whom to involve in the process and how to render them accountable. </a:t>
            </a:r>
            <a:endParaRPr lang="en-US" dirty="0" smtClean="0"/>
          </a:p>
          <a:p>
            <a:pPr algn="just"/>
            <a:r>
              <a:rPr lang="en-US" dirty="0" smtClean="0"/>
              <a:t>It is about how governments and other social organizations interact, how they relate with citizens and how decisions are taken and implemented. </a:t>
            </a:r>
            <a:endParaRPr lang="en-US" dirty="0" smtClean="0"/>
          </a:p>
          <a:p>
            <a:pPr algn="just"/>
            <a:r>
              <a:rPr lang="en-US" dirty="0" smtClean="0"/>
              <a:t>A legitimate state is founded on separation of powers, checks and balances and participation of citizens in political processes.  </a:t>
            </a:r>
            <a:endParaRPr lang="en-US" dirty="0"/>
          </a:p>
          <a:p>
            <a:pPr algn="just"/>
            <a:r>
              <a:rPr lang="en-US" dirty="0" smtClean="0"/>
              <a:t>Good governance involves transparent and accountable management of human, natural, economic and financial resources for the purposes of equitable and sustainable development. </a:t>
            </a:r>
            <a:endParaRPr lang="en-US" dirty="0" smtClean="0"/>
          </a:p>
          <a:p>
            <a:pPr algn="just"/>
            <a:r>
              <a:rPr lang="en-US" dirty="0" smtClean="0"/>
              <a:t>It is also the process and behaviors that ensure an organization performs by achieving its intended purpose and conforms to all relevant laws, agreements and directions, and meets the expectations of the society.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t>Good governance ensures that the processes for the identification and delivery of goods and services are concrete in terms of being;  </a:t>
            </a:r>
            <a:endParaRPr lang="en-US" dirty="0" smtClean="0"/>
          </a:p>
          <a:p>
            <a:pPr marL="400050" indent="-400050" algn="just">
              <a:buFont typeface="+mj-lt"/>
              <a:buAutoNum type="romanLcPeriod"/>
            </a:pPr>
            <a:r>
              <a:rPr lang="en-US" dirty="0" smtClean="0"/>
              <a:t>Responsive </a:t>
            </a:r>
            <a:r>
              <a:rPr lang="en-US" dirty="0"/>
              <a:t>to public needs and demands; </a:t>
            </a:r>
            <a:endParaRPr lang="en-US" dirty="0"/>
          </a:p>
          <a:p>
            <a:pPr marL="400050" indent="-400050" algn="just">
              <a:buFont typeface="+mj-lt"/>
              <a:buAutoNum type="romanLcPeriod"/>
            </a:pPr>
            <a:r>
              <a:rPr lang="en-US" dirty="0" smtClean="0"/>
              <a:t> </a:t>
            </a:r>
            <a:r>
              <a:rPr lang="en-US" dirty="0"/>
              <a:t>Transparent in the allocation of resources; </a:t>
            </a:r>
            <a:endParaRPr lang="en-US" dirty="0"/>
          </a:p>
          <a:p>
            <a:pPr marL="400050" indent="-400050" algn="just">
              <a:buFont typeface="+mj-lt"/>
              <a:buAutoNum type="romanLcPeriod"/>
            </a:pPr>
            <a:r>
              <a:rPr lang="en-US" dirty="0" smtClean="0"/>
              <a:t> </a:t>
            </a:r>
            <a:r>
              <a:rPr lang="en-US" dirty="0"/>
              <a:t>Equitable in the distribution of goods and services;  </a:t>
            </a:r>
            <a:endParaRPr lang="en-US" dirty="0"/>
          </a:p>
          <a:p>
            <a:pPr marL="400050" indent="-400050" algn="just">
              <a:buFont typeface="+mj-lt"/>
              <a:buAutoNum type="romanLcPeriod"/>
            </a:pPr>
            <a:r>
              <a:rPr lang="en-US" dirty="0" smtClean="0"/>
              <a:t> </a:t>
            </a:r>
            <a:r>
              <a:rPr lang="en-US" dirty="0"/>
              <a:t>Sustainable in exploitation of natural resources and opportunities; </a:t>
            </a:r>
            <a:endParaRPr lang="en-US" dirty="0"/>
          </a:p>
          <a:p>
            <a:pPr marL="400050" indent="-400050" algn="just">
              <a:buFont typeface="+mj-lt"/>
              <a:buAutoNum type="romanLcPeriod"/>
            </a:pPr>
            <a:r>
              <a:rPr lang="en-US" dirty="0" smtClean="0"/>
              <a:t> </a:t>
            </a:r>
            <a:r>
              <a:rPr lang="en-US" dirty="0"/>
              <a:t>Public participation and accountability; </a:t>
            </a:r>
            <a:endParaRPr lang="en-US" dirty="0"/>
          </a:p>
          <a:p>
            <a:pPr marL="400050" indent="-400050" algn="just">
              <a:buFont typeface="+mj-lt"/>
              <a:buAutoNum type="romanLcPeriod"/>
            </a:pPr>
            <a:r>
              <a:rPr lang="en-US" dirty="0" smtClean="0"/>
              <a:t> </a:t>
            </a:r>
            <a:r>
              <a:rPr lang="en-US" dirty="0"/>
              <a:t>Political stability and absence of violence; </a:t>
            </a:r>
            <a:endParaRPr lang="en-US" dirty="0"/>
          </a:p>
          <a:p>
            <a:pPr marL="400050" indent="-400050" algn="just">
              <a:buFont typeface="+mj-lt"/>
              <a:buAutoNum type="romanLcPeriod"/>
            </a:pPr>
            <a:r>
              <a:rPr lang="en-US" dirty="0" smtClean="0"/>
              <a:t> </a:t>
            </a:r>
            <a:r>
              <a:rPr lang="en-US" dirty="0"/>
              <a:t>Control of corruption.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Integrity</a:t>
            </a:r>
            <a:endParaRPr lang="en-US" dirty="0"/>
          </a:p>
        </p:txBody>
      </p:sp>
      <p:sp>
        <p:nvSpPr>
          <p:cNvPr id="3" name="Content Placeholder 2"/>
          <p:cNvSpPr>
            <a:spLocks noGrp="1"/>
          </p:cNvSpPr>
          <p:nvPr>
            <p:ph idx="1"/>
          </p:nvPr>
        </p:nvSpPr>
        <p:spPr/>
        <p:txBody>
          <a:bodyPr/>
          <a:lstStyle/>
          <a:p>
            <a:pPr marL="0" indent="0" algn="just">
              <a:buNone/>
            </a:pPr>
            <a:r>
              <a:rPr lang="en-US" dirty="0" smtClean="0"/>
              <a:t>The </a:t>
            </a:r>
            <a:r>
              <a:rPr lang="en-US" dirty="0"/>
              <a:t>word integrity is derived from the Latin ―</a:t>
            </a:r>
            <a:r>
              <a:rPr lang="en-US" dirty="0" err="1"/>
              <a:t>integritas</a:t>
            </a:r>
            <a:r>
              <a:rPr lang="en-US" dirty="0"/>
              <a:t> which literally means wholeness, soundness, oneness, completeness, uprightness etc. When applied in reference to human attributes, it refers to honesty, moral uprightness, purity, incorruptibility, goodness, sincerity, virtue and decency. </a:t>
            </a:r>
            <a:endParaRPr lang="en-US" dirty="0" smtClean="0"/>
          </a:p>
          <a:p>
            <a:pPr marL="0" indent="0" algn="just">
              <a:buNone/>
            </a:pPr>
            <a:r>
              <a:rPr lang="en-US" dirty="0" smtClean="0"/>
              <a:t> </a:t>
            </a:r>
            <a:r>
              <a:rPr lang="en-US" dirty="0"/>
              <a:t>Integrity is the consistency between one’s values, words and action and includes soundness of moral principles and character, as shown by a person’s dealing with others.</a:t>
            </a:r>
            <a:endParaRPr lang="en-US" dirty="0"/>
          </a:p>
          <a:p>
            <a:pPr marL="0" indent="0" algn="just">
              <a:buNone/>
            </a:pPr>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smtClean="0"/>
              <a:t>Integrity </a:t>
            </a:r>
            <a:r>
              <a:rPr lang="en-US" dirty="0"/>
              <a:t>could also be defined as the quality that enables a person to do the right thing at all times even when he is not being watched i.e. the quality of being honest and having strong moral principles … the condition of being whole and not divided. </a:t>
            </a:r>
            <a:endParaRPr lang="en-US" dirty="0" smtClean="0"/>
          </a:p>
          <a:p>
            <a:pPr algn="just"/>
            <a:r>
              <a:rPr lang="en-US" dirty="0" smtClean="0"/>
              <a:t> </a:t>
            </a:r>
            <a:r>
              <a:rPr lang="en-US" dirty="0"/>
              <a:t>Public sector integrity encompasses among  others,  pursuing wider moral principles in the public interest, such as justice, fairness, individual rights, equity, respect for human dignity, and pursuit of the common good.' Without this underlying moral purpose, integrity remain a nonstarter. </a:t>
            </a:r>
            <a:r>
              <a:rPr lang="en-US" dirty="0" smtClean="0"/>
              <a:t>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algn="just"/>
            <a:r>
              <a:rPr lang="en-US" dirty="0"/>
              <a:t>Qualities of a person of integrity According to General Leadership and Integrity Code set out under part II of the Leadership and Integrity Act, 2012, </a:t>
            </a:r>
            <a:r>
              <a:rPr lang="en-US" dirty="0" smtClean="0"/>
              <a:t>a </a:t>
            </a:r>
            <a:r>
              <a:rPr lang="en-US" dirty="0"/>
              <a:t>person of integrity: </a:t>
            </a:r>
            <a:endParaRPr lang="en-US" dirty="0"/>
          </a:p>
          <a:p>
            <a:pPr algn="just">
              <a:buFont typeface="Wingdings" panose="05000000000000000000" pitchFamily="2" charset="2"/>
              <a:buChar char="ü"/>
            </a:pPr>
            <a:r>
              <a:rPr lang="en-US" dirty="0" smtClean="0"/>
              <a:t> </a:t>
            </a:r>
            <a:r>
              <a:rPr lang="en-US" dirty="0"/>
              <a:t>Observes the rule of law; </a:t>
            </a:r>
            <a:endParaRPr lang="en-US" dirty="0" smtClean="0"/>
          </a:p>
          <a:p>
            <a:pPr algn="just">
              <a:buFont typeface="Wingdings" panose="05000000000000000000" pitchFamily="2" charset="2"/>
              <a:buChar char="ü"/>
            </a:pPr>
            <a:r>
              <a:rPr lang="en-US" dirty="0" smtClean="0"/>
              <a:t> </a:t>
            </a:r>
            <a:r>
              <a:rPr lang="en-US" dirty="0"/>
              <a:t>Promotes public interest at all times; </a:t>
            </a:r>
            <a:endParaRPr lang="en-US" dirty="0"/>
          </a:p>
          <a:p>
            <a:pPr algn="just">
              <a:buFont typeface="Wingdings" panose="05000000000000000000" pitchFamily="2" charset="2"/>
              <a:buChar char="ü"/>
            </a:pPr>
            <a:r>
              <a:rPr lang="en-US" dirty="0" smtClean="0"/>
              <a:t>Takes </a:t>
            </a:r>
            <a:r>
              <a:rPr lang="en-US" dirty="0"/>
              <a:t>personal responsibility for their actions and omissions; </a:t>
            </a:r>
            <a:endParaRPr lang="en-US" dirty="0"/>
          </a:p>
          <a:p>
            <a:pPr algn="just">
              <a:buFont typeface="Wingdings" panose="05000000000000000000" pitchFamily="2" charset="2"/>
              <a:buChar char="ü"/>
            </a:pPr>
            <a:r>
              <a:rPr lang="en-US" dirty="0" smtClean="0"/>
              <a:t>Accountable </a:t>
            </a:r>
            <a:r>
              <a:rPr lang="en-US" dirty="0"/>
              <a:t>and transparent in the discharge of duties; </a:t>
            </a:r>
            <a:endParaRPr lang="en-US" dirty="0"/>
          </a:p>
          <a:p>
            <a:pPr algn="just">
              <a:buFont typeface="Wingdings" panose="05000000000000000000" pitchFamily="2" charset="2"/>
              <a:buChar char="ü"/>
            </a:pPr>
            <a:r>
              <a:rPr lang="en-US" dirty="0" smtClean="0"/>
              <a:t>Efficient </a:t>
            </a:r>
            <a:r>
              <a:rPr lang="en-US" dirty="0"/>
              <a:t>and effective in their work; </a:t>
            </a:r>
            <a:endParaRPr lang="en-US" dirty="0" smtClean="0"/>
          </a:p>
          <a:p>
            <a:pPr algn="just">
              <a:buFont typeface="Wingdings" panose="05000000000000000000" pitchFamily="2" charset="2"/>
              <a:buChar char="ü"/>
            </a:pPr>
            <a:r>
              <a:rPr lang="en-US" dirty="0" smtClean="0"/>
              <a:t>  </a:t>
            </a:r>
            <a:r>
              <a:rPr lang="en-US" dirty="0"/>
              <a:t>Maintains high standards of professionalism; </a:t>
            </a:r>
            <a:endParaRPr lang="en-US" dirty="0" smtClean="0"/>
          </a:p>
          <a:p>
            <a:pPr algn="just">
              <a:buFont typeface="Wingdings" panose="05000000000000000000" pitchFamily="2" charset="2"/>
              <a:buChar char="ü"/>
            </a:pPr>
            <a:r>
              <a:rPr lang="en-US" dirty="0" smtClean="0"/>
              <a:t> </a:t>
            </a:r>
            <a:r>
              <a:rPr lang="en-US" dirty="0"/>
              <a:t>Upholds high moral and ethical standards;  </a:t>
            </a:r>
            <a:endParaRPr lang="en-US" dirty="0" smtClean="0"/>
          </a:p>
          <a:p>
            <a:pPr algn="just">
              <a:buFont typeface="Wingdings" panose="05000000000000000000" pitchFamily="2" charset="2"/>
              <a:buChar char="ü"/>
            </a:pPr>
            <a:r>
              <a:rPr lang="en-US" dirty="0" smtClean="0"/>
              <a:t> </a:t>
            </a:r>
            <a:r>
              <a:rPr lang="en-US" dirty="0"/>
              <a:t>Take care of public property in their custody or possession; </a:t>
            </a:r>
            <a:endParaRPr lang="en-US" dirty="0"/>
          </a:p>
          <a:p>
            <a:pPr algn="just">
              <a:buFont typeface="Wingdings" panose="05000000000000000000" pitchFamily="2" charset="2"/>
              <a:buChar char="ü"/>
            </a:pPr>
            <a:r>
              <a:rPr lang="en-US" dirty="0" smtClean="0"/>
              <a:t>Impartiality </a:t>
            </a:r>
            <a:r>
              <a:rPr lang="en-US" dirty="0"/>
              <a:t>and objectivity in the discharge of duties; </a:t>
            </a:r>
            <a:endParaRPr lang="en-US" dirty="0"/>
          </a:p>
          <a:p>
            <a:pPr algn="just">
              <a:buFont typeface="Wingdings" panose="05000000000000000000" pitchFamily="2" charset="2"/>
              <a:buChar char="ü"/>
            </a:pPr>
            <a:r>
              <a:rPr lang="en-US" dirty="0" smtClean="0"/>
              <a:t>Gives </a:t>
            </a:r>
            <a:r>
              <a:rPr lang="en-US" dirty="0"/>
              <a:t>honest, accurate and impartial advice; </a:t>
            </a:r>
            <a:endParaRPr lang="en-US" dirty="0"/>
          </a:p>
          <a:p>
            <a:pPr algn="just">
              <a:buFont typeface="Wingdings" panose="05000000000000000000" pitchFamily="2" charset="2"/>
              <a:buChar char="ü"/>
            </a:pPr>
            <a:r>
              <a:rPr lang="en-US" dirty="0" smtClean="0"/>
              <a:t>Conducts </a:t>
            </a:r>
            <a:r>
              <a:rPr lang="en-US" dirty="0"/>
              <a:t>private affairs in a manner that maintains public confidence;  </a:t>
            </a:r>
            <a:endParaRPr lang="en-US" dirty="0"/>
          </a:p>
          <a:p>
            <a:pPr algn="just">
              <a:buFont typeface="Wingdings" panose="05000000000000000000" pitchFamily="2" charset="2"/>
              <a:buChar char="ü"/>
            </a:pPr>
            <a:r>
              <a:rPr lang="en-US" dirty="0" smtClean="0"/>
              <a:t>Does </a:t>
            </a:r>
            <a:r>
              <a:rPr lang="en-US" dirty="0"/>
              <a:t>not engage in conflict of interest;  Maintains accurate records; </a:t>
            </a:r>
            <a:endParaRPr lang="en-US" dirty="0"/>
          </a:p>
          <a:p>
            <a:pPr algn="just">
              <a:buFont typeface="Wingdings" panose="05000000000000000000" pitchFamily="2" charset="2"/>
              <a:buChar char="ü"/>
            </a:pPr>
            <a:r>
              <a:rPr lang="en-US" dirty="0" smtClean="0"/>
              <a:t> </a:t>
            </a:r>
            <a:r>
              <a:rPr lang="en-US" dirty="0"/>
              <a:t>Does not compel or coerce others to act wrongly or unlawfully. </a:t>
            </a:r>
            <a:endParaRPr lang="en-US"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Principles of Good Governance and Integrity</a:t>
            </a:r>
            <a:endParaRPr lang="en-US" dirty="0"/>
          </a:p>
        </p:txBody>
      </p:sp>
      <p:sp>
        <p:nvSpPr>
          <p:cNvPr id="3" name="Content Placeholder 2"/>
          <p:cNvSpPr>
            <a:spLocks noGrp="1"/>
          </p:cNvSpPr>
          <p:nvPr>
            <p:ph idx="1"/>
          </p:nvPr>
        </p:nvSpPr>
        <p:spPr/>
        <p:txBody>
          <a:bodyPr>
            <a:normAutofit fontScale="92500"/>
          </a:bodyPr>
          <a:lstStyle/>
          <a:p>
            <a:pPr marL="400050" indent="-400050" algn="just">
              <a:buFont typeface="+mj-lt"/>
              <a:buAutoNum type="romanLcPeriod"/>
            </a:pPr>
            <a:r>
              <a:rPr lang="en-US" dirty="0" smtClean="0"/>
              <a:t> </a:t>
            </a:r>
            <a:r>
              <a:rPr lang="en-US" dirty="0"/>
              <a:t>Openness: strengthening and liberalizing communication policies to facilitate accessibility of the general public to the decisions of the government; </a:t>
            </a:r>
            <a:endParaRPr lang="en-US" dirty="0" smtClean="0"/>
          </a:p>
          <a:p>
            <a:pPr marL="400050" indent="-400050" algn="just">
              <a:buFont typeface="+mj-lt"/>
              <a:buAutoNum type="romanLcPeriod"/>
            </a:pPr>
            <a:r>
              <a:rPr lang="en-US" dirty="0" smtClean="0"/>
              <a:t> </a:t>
            </a:r>
            <a:r>
              <a:rPr lang="en-US" dirty="0"/>
              <a:t>Participation: involvement and ownership by stakeholders – citizens, parliament, private sector, vulnerable groups, national and county governments, faith based organizations, community based organizations, civil society Organizations and media; </a:t>
            </a:r>
            <a:endParaRPr lang="en-US" dirty="0" smtClean="0"/>
          </a:p>
          <a:p>
            <a:pPr marL="400050" indent="-400050" algn="just">
              <a:buFont typeface="+mj-lt"/>
              <a:buAutoNum type="romanLcPeriod"/>
            </a:pPr>
            <a:r>
              <a:rPr lang="en-US" dirty="0" smtClean="0"/>
              <a:t> </a:t>
            </a:r>
            <a:r>
              <a:rPr lang="en-US" dirty="0"/>
              <a:t>Fairness: all men and women have equal opportunities to improve or maintain their well- being; </a:t>
            </a:r>
            <a:endParaRPr lang="en-US" dirty="0"/>
          </a:p>
          <a:p>
            <a:pPr marL="400050" indent="-400050" algn="just">
              <a:buFont typeface="+mj-lt"/>
              <a:buAutoNum type="romanLcPeriod"/>
            </a:pPr>
            <a:r>
              <a:rPr lang="en-US" dirty="0" smtClean="0"/>
              <a:t>Decency</a:t>
            </a:r>
            <a:r>
              <a:rPr lang="en-US" dirty="0"/>
              <a:t>: rules are implemented without harming people; </a:t>
            </a:r>
            <a:endParaRPr lang="en-US" dirty="0" smtClean="0"/>
          </a:p>
          <a:p>
            <a:pPr marL="400050" indent="-400050" algn="just">
              <a:buFont typeface="+mj-lt"/>
              <a:buAutoNum type="romanLcPeriod"/>
            </a:pPr>
            <a:r>
              <a:rPr lang="en-US" dirty="0" smtClean="0"/>
              <a:t> </a:t>
            </a:r>
            <a:r>
              <a:rPr lang="en-US" dirty="0"/>
              <a:t>Accountability: political actors are responsible for actions to the electorates; and  </a:t>
            </a:r>
            <a:endParaRPr lang="en-US" dirty="0" smtClean="0"/>
          </a:p>
          <a:p>
            <a:pPr marL="400050" indent="-400050" algn="just">
              <a:buFont typeface="+mj-lt"/>
              <a:buAutoNum type="romanLcPeriod"/>
            </a:pPr>
            <a:r>
              <a:rPr lang="en-US" dirty="0" smtClean="0"/>
              <a:t> </a:t>
            </a:r>
            <a:r>
              <a:rPr lang="en-US" dirty="0"/>
              <a:t>Efficiency: use of limited resources for greatest outputs and for public good.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 Benefits of Good Governance and Integrity</a:t>
            </a:r>
            <a:endParaRPr lang="en-US" dirty="0"/>
          </a:p>
        </p:txBody>
      </p:sp>
      <p:sp>
        <p:nvSpPr>
          <p:cNvPr id="3" name="Content Placeholder 2"/>
          <p:cNvSpPr>
            <a:spLocks noGrp="1"/>
          </p:cNvSpPr>
          <p:nvPr>
            <p:ph idx="1"/>
          </p:nvPr>
        </p:nvSpPr>
        <p:spPr/>
        <p:txBody>
          <a:bodyPr>
            <a:normAutofit/>
          </a:bodyPr>
          <a:lstStyle/>
          <a:p>
            <a:pPr marL="400050" indent="-400050" algn="just">
              <a:buFont typeface="+mj-lt"/>
              <a:buAutoNum type="romanLcPeriod"/>
            </a:pPr>
            <a:r>
              <a:rPr lang="en-US" dirty="0" smtClean="0"/>
              <a:t>Promotes </a:t>
            </a:r>
            <a:r>
              <a:rPr lang="en-US" dirty="0"/>
              <a:t>community confidence People are more likely to have confidence in their organization/government if decisions are made in a transparent and accountable way. This helps people feel that their organization/government will act in their interests, regardless of differing opinions. </a:t>
            </a:r>
            <a:endParaRPr lang="en-US" dirty="0" smtClean="0"/>
          </a:p>
          <a:p>
            <a:pPr marL="400050" indent="-400050" algn="just">
              <a:buFont typeface="+mj-lt"/>
              <a:buAutoNum type="romanLcPeriod"/>
            </a:pPr>
            <a:r>
              <a:rPr lang="en-US" dirty="0" smtClean="0"/>
              <a:t>It </a:t>
            </a:r>
            <a:r>
              <a:rPr lang="en-US" dirty="0"/>
              <a:t>also encourages governments to remember that they are acting on behalf of their community and helps them to understand the importance of having open and ethical processes which adhere to the law and stand up to </a:t>
            </a:r>
            <a:r>
              <a:rPr lang="en-US" dirty="0" smtClean="0"/>
              <a:t>scrutiny</a:t>
            </a:r>
            <a:endParaRPr lang="en-US" dirty="0"/>
          </a:p>
          <a:p>
            <a:pPr marL="400050" indent="-400050" algn="just">
              <a:buFont typeface="+mj-lt"/>
              <a:buAutoNum type="romanLcPeriod"/>
            </a:pPr>
            <a:r>
              <a:rPr lang="en-US" dirty="0" smtClean="0"/>
              <a:t> </a:t>
            </a:r>
            <a:r>
              <a:rPr lang="en-US" dirty="0"/>
              <a:t>Leads to inclusive decisions </a:t>
            </a:r>
            <a:r>
              <a:rPr lang="en-US" dirty="0" err="1"/>
              <a:t>Decisions</a:t>
            </a:r>
            <a:r>
              <a:rPr lang="en-US" dirty="0"/>
              <a:t> informed by participation, openness, fairness decency, accountability and efficiency will generally reflect the broad interests of the community. This will be achieved through sharing of information and data which enables stakeholders to have an open and honest debate before a decision is </a:t>
            </a:r>
            <a:r>
              <a:rPr lang="en-US" dirty="0" smtClean="0"/>
              <a:t>made</a:t>
            </a:r>
            <a:endParaRPr lang="en-US" dirty="0"/>
          </a:p>
          <a:p>
            <a:endParaRPr lang="en-US" dirty="0"/>
          </a:p>
          <a:p>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lgn="just">
              <a:buNone/>
            </a:pPr>
            <a:r>
              <a:rPr lang="en-US" dirty="0" smtClean="0"/>
              <a:t> </a:t>
            </a:r>
            <a:r>
              <a:rPr lang="en-US" dirty="0"/>
              <a:t>iii. Helps organizations meet their legislative responsibilities If decision-making process is guided by principles of good governance, it is more likely that organizations will comply with the relevant legal requirements.  </a:t>
            </a:r>
            <a:endParaRPr lang="en-US" dirty="0" smtClean="0"/>
          </a:p>
          <a:p>
            <a:pPr marL="0" indent="0" algn="just">
              <a:buNone/>
            </a:pPr>
            <a:r>
              <a:rPr lang="en-US" dirty="0" smtClean="0"/>
              <a:t>iv</a:t>
            </a:r>
            <a:r>
              <a:rPr lang="en-US" dirty="0"/>
              <a:t>. Supports ethical decision making Good governance creates an environment where leaders ask themselves “what is the right thing to do” when making decisions? Making choices and having to account for them in an open and transparent way encourages honest consideration of the choices facing those in the governance process. This is the case even when differing moral frameworks between individuals means that the answer to “what is the right thing to do” is not always the same. </a:t>
            </a:r>
            <a:endParaRPr lang="en-US" dirty="0" smtClean="0"/>
          </a:p>
          <a:p>
            <a:pPr marL="0" indent="0" algn="just">
              <a:buNone/>
            </a:pPr>
            <a:r>
              <a:rPr lang="en-US" dirty="0" smtClean="0"/>
              <a:t>v</a:t>
            </a:r>
            <a:r>
              <a:rPr lang="en-US" dirty="0"/>
              <a:t>. Other benefits of good governance include: Enhanced social economic development; reduced crime rate; political and social stability; increased investor confidence and lower cost of living.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t>Challenges to </a:t>
            </a:r>
            <a:r>
              <a:rPr lang="en-US" dirty="0"/>
              <a:t>t</a:t>
            </a:r>
            <a:r>
              <a:rPr lang="en-US" dirty="0" smtClean="0"/>
              <a:t>he Realization of Good Governance And Integrity</a:t>
            </a:r>
            <a:br>
              <a:rPr lang="en-US" dirty="0" smtClean="0"/>
            </a:br>
            <a:endParaRPr lang="en-US" dirty="0"/>
          </a:p>
        </p:txBody>
      </p:sp>
      <p:sp>
        <p:nvSpPr>
          <p:cNvPr id="3" name="Content Placeholder 2"/>
          <p:cNvSpPr>
            <a:spLocks noGrp="1"/>
          </p:cNvSpPr>
          <p:nvPr>
            <p:ph idx="1"/>
          </p:nvPr>
        </p:nvSpPr>
        <p:spPr/>
        <p:txBody>
          <a:bodyPr/>
          <a:lstStyle/>
          <a:p>
            <a:pPr marL="400050" indent="-400050">
              <a:buFont typeface="+mj-lt"/>
              <a:buAutoNum type="romanLcPeriod"/>
            </a:pPr>
            <a:r>
              <a:rPr lang="en-US" dirty="0" smtClean="0"/>
              <a:t>Weak </a:t>
            </a:r>
            <a:r>
              <a:rPr lang="en-US" dirty="0"/>
              <a:t>policy, legal and institutional frameworks; </a:t>
            </a:r>
            <a:endParaRPr lang="en-US" dirty="0"/>
          </a:p>
          <a:p>
            <a:pPr marL="400050" indent="-400050">
              <a:buFont typeface="+mj-lt"/>
              <a:buAutoNum type="romanLcPeriod"/>
            </a:pPr>
            <a:r>
              <a:rPr lang="en-US" dirty="0" smtClean="0"/>
              <a:t>Corruption</a:t>
            </a:r>
            <a:r>
              <a:rPr lang="en-US" dirty="0"/>
              <a:t>; </a:t>
            </a:r>
            <a:endParaRPr lang="en-US" dirty="0" smtClean="0"/>
          </a:p>
          <a:p>
            <a:pPr marL="400050" indent="-400050">
              <a:buFont typeface="+mj-lt"/>
              <a:buAutoNum type="romanLcPeriod"/>
            </a:pPr>
            <a:r>
              <a:rPr lang="en-US" dirty="0" smtClean="0"/>
              <a:t> </a:t>
            </a:r>
            <a:r>
              <a:rPr lang="en-US" dirty="0"/>
              <a:t>Lack of visionary and ethical leadership;  Impunity; </a:t>
            </a:r>
            <a:endParaRPr lang="en-US" dirty="0" smtClean="0"/>
          </a:p>
          <a:p>
            <a:pPr marL="400050" indent="-400050">
              <a:buFont typeface="+mj-lt"/>
              <a:buAutoNum type="romanLcPeriod"/>
            </a:pPr>
            <a:r>
              <a:rPr lang="en-US" dirty="0" smtClean="0"/>
              <a:t> </a:t>
            </a:r>
            <a:r>
              <a:rPr lang="en-US" dirty="0"/>
              <a:t>Political patronage; </a:t>
            </a:r>
            <a:endParaRPr lang="en-US" dirty="0" smtClean="0"/>
          </a:p>
          <a:p>
            <a:pPr marL="400050" indent="-400050">
              <a:buFont typeface="+mj-lt"/>
              <a:buAutoNum type="romanLcPeriod"/>
            </a:pPr>
            <a:r>
              <a:rPr lang="en-US" dirty="0" smtClean="0"/>
              <a:t> </a:t>
            </a:r>
            <a:r>
              <a:rPr lang="en-US" dirty="0"/>
              <a:t>Inadequate political will; </a:t>
            </a:r>
            <a:endParaRPr lang="en-US" dirty="0"/>
          </a:p>
          <a:p>
            <a:pPr marL="400050" indent="-400050">
              <a:buFont typeface="+mj-lt"/>
              <a:buAutoNum type="romanLcPeriod"/>
            </a:pPr>
            <a:r>
              <a:rPr lang="en-US" dirty="0" smtClean="0"/>
              <a:t>Breakdown/erosion/perversion </a:t>
            </a:r>
            <a:r>
              <a:rPr lang="en-US" dirty="0"/>
              <a:t>of societal values and norms; </a:t>
            </a:r>
            <a:endParaRPr lang="en-US" dirty="0" smtClean="0"/>
          </a:p>
          <a:p>
            <a:pPr marL="400050" indent="-400050">
              <a:buFont typeface="+mj-lt"/>
              <a:buAutoNum type="romanLcPeriod"/>
            </a:pPr>
            <a:r>
              <a:rPr lang="en-US" dirty="0" smtClean="0"/>
              <a:t> </a:t>
            </a:r>
            <a:r>
              <a:rPr lang="en-US" dirty="0"/>
              <a:t>Tribalism, favoritism, nepotism and cronyism; </a:t>
            </a:r>
            <a:r>
              <a:rPr lang="en-US" dirty="0" smtClean="0"/>
              <a:t> </a:t>
            </a:r>
            <a:r>
              <a:rPr lang="en-US" dirty="0"/>
              <a:t>Misuse of discretionary power vested in individuals or offices; </a:t>
            </a:r>
            <a:endParaRPr lang="en-US" dirty="0"/>
          </a:p>
          <a:p>
            <a:pPr marL="400050" indent="-400050">
              <a:buFont typeface="+mj-lt"/>
              <a:buAutoNum type="romanLcPeriod"/>
            </a:pPr>
            <a:r>
              <a:rPr lang="en-US" dirty="0" smtClean="0"/>
              <a:t> </a:t>
            </a:r>
            <a:r>
              <a:rPr lang="en-US" dirty="0"/>
              <a:t>Weak civil society and public apathy. </a:t>
            </a:r>
            <a:endParaRPr lang="en-US" dirty="0"/>
          </a:p>
          <a:p>
            <a:endParaRPr lang="en-US"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6167</Words>
  <Application>WPS Presentation</Application>
  <PresentationFormat>Widescreen</PresentationFormat>
  <Paragraphs>77</Paragraphs>
  <Slides>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Arial</vt:lpstr>
      <vt:lpstr>SimSun</vt:lpstr>
      <vt:lpstr>Wingdings</vt:lpstr>
      <vt:lpstr>Wingdings 3</vt:lpstr>
      <vt:lpstr>Arial</vt:lpstr>
      <vt:lpstr>Trebuchet MS</vt:lpstr>
      <vt:lpstr>Microsoft YaHei</vt:lpstr>
      <vt:lpstr>Arial Unicode MS</vt:lpstr>
      <vt:lpstr>Calibri</vt:lpstr>
      <vt:lpstr>Facet</vt:lpstr>
      <vt:lpstr>Good Governance</vt:lpstr>
      <vt:lpstr>PowerPoint 演示文稿</vt:lpstr>
      <vt:lpstr>Integrity</vt:lpstr>
      <vt:lpstr>PowerPoint 演示文稿</vt:lpstr>
      <vt:lpstr>PowerPoint 演示文稿</vt:lpstr>
      <vt:lpstr>Principles of Good Governance and Integrity</vt:lpstr>
      <vt:lpstr> Benefits of Good Governance and Integrity</vt:lpstr>
      <vt:lpstr>PowerPoint 演示文稿</vt:lpstr>
      <vt:lpstr>Challenges to the Realization of Good Governance And Integrity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Good Governance</dc:title>
  <dc:creator>PC</dc:creator>
  <cp:lastModifiedBy>Erickson K Rome</cp:lastModifiedBy>
  <cp:revision>5</cp:revision>
  <dcterms:created xsi:type="dcterms:W3CDTF">2023-11-06T09:19:00Z</dcterms:created>
  <dcterms:modified xsi:type="dcterms:W3CDTF">2024-12-10T18:11:00Z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01001A63E39F4695B41911B4D9BE8836_12</vt:lpwstr>
  </property>
  <property fmtid="{D5CDD505-2E9C-101B-9397-08002B2CF9AE}" pid="3" name="KSOProductBuildVer">
    <vt:lpwstr>2057-12.2.0.17562</vt:lpwstr>
  </property>
</Properties>
</file>