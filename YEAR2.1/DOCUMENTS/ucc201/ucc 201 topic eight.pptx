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67" r:id="rId4"/>
    <p:sldId id="268" r:id="rId5"/>
    <p:sldId id="270" r:id="rId6"/>
    <p:sldId id="273" r:id="rId7"/>
    <p:sldId id="266" r:id="rId8"/>
    <p:sldId id="274" r:id="rId9"/>
    <p:sldId id="271" r:id="rId10"/>
    <p:sldId id="269" r:id="rId11"/>
    <p:sldId id="272" r:id="rId12"/>
    <p:sldId id="275" r:id="rId13"/>
    <p:sldId id="259" r:id="rId14"/>
    <p:sldId id="27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1" autoAdjust="0"/>
    <p:restoredTop sz="94660"/>
  </p:normalViewPr>
  <p:slideViewPr>
    <p:cSldViewPr snapToGrid="0">
      <p:cViewPr>
        <p:scale>
          <a:sx n="100" d="100"/>
          <a:sy n="100" d="100"/>
        </p:scale>
        <p:origin x="7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12/3/2024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057275"/>
          </a:xfrm>
        </p:spPr>
        <p:txBody>
          <a:bodyPr>
            <a:normAutofit fontScale="90000"/>
          </a:bodyPr>
          <a:lstStyle/>
          <a:p>
            <a:r>
              <a:rPr lang="en-US" dirty="0"/>
              <a:t>EQUITY, EQUALITY, SOCIAL JUSTICE AND INCLUSIVENESS</a:t>
            </a:r>
          </a:p>
        </p:txBody>
      </p:sp>
      <p:sp>
        <p:nvSpPr>
          <p:cNvPr id="3" name="Content Placeholder 2"/>
          <p:cNvSpPr>
            <a:spLocks noGrp="1"/>
          </p:cNvSpPr>
          <p:nvPr>
            <p:ph idx="1"/>
          </p:nvPr>
        </p:nvSpPr>
        <p:spPr>
          <a:xfrm>
            <a:off x="677334" y="1666875"/>
            <a:ext cx="8596668" cy="4374487"/>
          </a:xfrm>
        </p:spPr>
        <p:txBody>
          <a:bodyPr>
            <a:normAutofit fontScale="85000" lnSpcReduction="10000"/>
          </a:bodyPr>
          <a:lstStyle/>
          <a:p>
            <a:pPr algn="just">
              <a:buFont typeface="Wingdings" panose="05000000000000000000" pitchFamily="2" charset="2"/>
              <a:buChar char="ü"/>
            </a:pPr>
            <a:r>
              <a:rPr lang="en-US" dirty="0" smtClean="0"/>
              <a:t> Equity refers to the quality of being fair and impartial and has attributes such as fairness, justice, impartiality and egalitarianism. </a:t>
            </a:r>
          </a:p>
          <a:p>
            <a:pPr algn="just">
              <a:buFont typeface="Wingdings" panose="05000000000000000000" pitchFamily="2" charset="2"/>
              <a:buChar char="ü"/>
            </a:pPr>
            <a:r>
              <a:rPr lang="en-US" dirty="0" smtClean="0"/>
              <a:t> It is the quality of being reasonable and fair in all decisions and actions. In law, it is about natural justice and fair conduct. It detects biasness, favoritism and unjustified preference. </a:t>
            </a:r>
          </a:p>
          <a:p>
            <a:pPr algn="just">
              <a:buFont typeface="Wingdings" panose="05000000000000000000" pitchFamily="2" charset="2"/>
              <a:buChar char="ü"/>
            </a:pPr>
            <a:r>
              <a:rPr lang="en-US" dirty="0" smtClean="0"/>
              <a:t> Equity is not always about treating everyone in the same way; it’s about treating people in such a way that the outcome for each person can be the same. </a:t>
            </a:r>
          </a:p>
          <a:p>
            <a:pPr algn="just">
              <a:buFont typeface="Wingdings" panose="05000000000000000000" pitchFamily="2" charset="2"/>
              <a:buChar char="ü"/>
            </a:pPr>
            <a:r>
              <a:rPr lang="en-US" dirty="0" smtClean="0"/>
              <a:t> This means putting measures in place to support people achieve similar outcomes. Quality of outcome can be achieved by ensuring that everyone has access to resources and decision making and at the same time be recognized, valued and respected. </a:t>
            </a:r>
          </a:p>
          <a:p>
            <a:pPr marL="0" indent="0" algn="just">
              <a:buNone/>
            </a:pPr>
            <a:r>
              <a:rPr lang="en-US" dirty="0" smtClean="0"/>
              <a:t> </a:t>
            </a:r>
            <a:r>
              <a:rPr lang="en-US" b="1" dirty="0" smtClean="0"/>
              <a:t>Indicators of equity </a:t>
            </a:r>
          </a:p>
          <a:p>
            <a:pPr algn="just">
              <a:buFont typeface="Wingdings" panose="05000000000000000000" pitchFamily="2" charset="2"/>
              <a:buChar char="ü"/>
            </a:pPr>
            <a:r>
              <a:rPr lang="en-US" dirty="0" smtClean="0"/>
              <a:t>Reduced disparities in wage and incomes. </a:t>
            </a:r>
            <a:endParaRPr lang="en-US" dirty="0"/>
          </a:p>
          <a:p>
            <a:pPr algn="just">
              <a:buFont typeface="Wingdings" panose="05000000000000000000" pitchFamily="2" charset="2"/>
              <a:buChar char="ü"/>
            </a:pPr>
            <a:r>
              <a:rPr lang="en-US" dirty="0" smtClean="0"/>
              <a:t>Comparable development in all regions. </a:t>
            </a:r>
          </a:p>
          <a:p>
            <a:pPr algn="just">
              <a:buFont typeface="Wingdings" panose="05000000000000000000" pitchFamily="2" charset="2"/>
              <a:buChar char="ü"/>
            </a:pPr>
            <a:r>
              <a:rPr lang="en-US" dirty="0" smtClean="0"/>
              <a:t> Fair distribution of infrastructure among groups. </a:t>
            </a:r>
          </a:p>
          <a:p>
            <a:pPr algn="just">
              <a:buFont typeface="Wingdings" panose="05000000000000000000" pitchFamily="2" charset="2"/>
              <a:buChar char="ü"/>
            </a:pPr>
            <a:r>
              <a:rPr lang="en-US" dirty="0" smtClean="0"/>
              <a:t> Social cohesion and harmony. </a:t>
            </a:r>
          </a:p>
          <a:p>
            <a:pPr algn="just">
              <a:buFont typeface="Wingdings" panose="05000000000000000000" pitchFamily="2" charset="2"/>
              <a:buChar char="ü"/>
            </a:pPr>
            <a:r>
              <a:rPr lang="en-US" dirty="0" smtClean="0"/>
              <a:t> Fair distribution of resources.  Good governance. </a:t>
            </a:r>
            <a:endParaRPr lang="en-US" dirty="0"/>
          </a:p>
        </p:txBody>
      </p:sp>
    </p:spTree>
    <p:extLst>
      <p:ext uri="{BB962C8B-B14F-4D97-AF65-F5344CB8AC3E}">
        <p14:creationId xmlns:p14="http://schemas.microsoft.com/office/powerpoint/2010/main" val="2816856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a:t>Benefits of equity</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ü"/>
            </a:pPr>
            <a:r>
              <a:rPr lang="en-US" dirty="0" smtClean="0"/>
              <a:t> </a:t>
            </a:r>
            <a:r>
              <a:rPr lang="en-US" dirty="0"/>
              <a:t>Poverty reduction; </a:t>
            </a:r>
          </a:p>
          <a:p>
            <a:pPr>
              <a:buFont typeface="Wingdings" panose="05000000000000000000" pitchFamily="2" charset="2"/>
              <a:buChar char="ü"/>
            </a:pPr>
            <a:r>
              <a:rPr lang="en-US" dirty="0" smtClean="0"/>
              <a:t>Reduced </a:t>
            </a:r>
            <a:r>
              <a:rPr lang="en-US" dirty="0"/>
              <a:t>cases of marginalization; </a:t>
            </a:r>
          </a:p>
          <a:p>
            <a:pPr>
              <a:buFont typeface="Wingdings" panose="05000000000000000000" pitchFamily="2" charset="2"/>
              <a:buChar char="ü"/>
            </a:pPr>
            <a:r>
              <a:rPr lang="en-US" dirty="0" smtClean="0"/>
              <a:t>Improved </a:t>
            </a:r>
            <a:r>
              <a:rPr lang="en-US" dirty="0"/>
              <a:t>self-esteem; </a:t>
            </a:r>
          </a:p>
          <a:p>
            <a:pPr>
              <a:buFont typeface="Wingdings" panose="05000000000000000000" pitchFamily="2" charset="2"/>
              <a:buChar char="ü"/>
            </a:pPr>
            <a:r>
              <a:rPr lang="en-US" dirty="0" smtClean="0"/>
              <a:t>Balanced </a:t>
            </a:r>
            <a:r>
              <a:rPr lang="en-US" dirty="0"/>
              <a:t>economic growth; </a:t>
            </a:r>
            <a:endParaRPr lang="en-US" dirty="0" smtClean="0"/>
          </a:p>
          <a:p>
            <a:pPr>
              <a:buFont typeface="Wingdings" panose="05000000000000000000" pitchFamily="2" charset="2"/>
              <a:buChar char="ü"/>
            </a:pPr>
            <a:r>
              <a:rPr lang="en-US" dirty="0" smtClean="0"/>
              <a:t> </a:t>
            </a:r>
            <a:r>
              <a:rPr lang="en-US" dirty="0"/>
              <a:t>Efficient and effective utilization of resources amongst others</a:t>
            </a:r>
            <a:r>
              <a:rPr lang="en-US" dirty="0" smtClean="0"/>
              <a:t>;</a:t>
            </a:r>
          </a:p>
          <a:p>
            <a:pPr>
              <a:buFont typeface="Wingdings" panose="05000000000000000000" pitchFamily="2" charset="2"/>
              <a:buChar char="ü"/>
            </a:pPr>
            <a:r>
              <a:rPr lang="en-US" dirty="0" smtClean="0"/>
              <a:t> </a:t>
            </a:r>
            <a:r>
              <a:rPr lang="en-US" dirty="0"/>
              <a:t>Social cohesion and harmony; and  Enhanced gender balance</a:t>
            </a:r>
            <a:r>
              <a:rPr lang="en-US" dirty="0" smtClean="0"/>
              <a:t>.</a:t>
            </a:r>
          </a:p>
          <a:p>
            <a:pPr marL="0" indent="0">
              <a:buNone/>
            </a:pPr>
            <a:r>
              <a:rPr lang="en-US" dirty="0" smtClean="0"/>
              <a:t> </a:t>
            </a:r>
            <a:r>
              <a:rPr lang="en-US" b="1" dirty="0"/>
              <a:t>Challenges to achievement of equity </a:t>
            </a:r>
            <a:endParaRPr lang="en-US" b="1" dirty="0" smtClean="0"/>
          </a:p>
          <a:p>
            <a:pPr>
              <a:buFont typeface="Wingdings" panose="05000000000000000000" pitchFamily="2" charset="2"/>
              <a:buChar char="ü"/>
            </a:pPr>
            <a:r>
              <a:rPr lang="en-US" dirty="0" smtClean="0"/>
              <a:t> </a:t>
            </a:r>
            <a:r>
              <a:rPr lang="en-US" dirty="0"/>
              <a:t>Bad governance. </a:t>
            </a:r>
          </a:p>
          <a:p>
            <a:pPr>
              <a:buFont typeface="Wingdings" panose="05000000000000000000" pitchFamily="2" charset="2"/>
              <a:buChar char="ü"/>
            </a:pPr>
            <a:r>
              <a:rPr lang="en-US" dirty="0" smtClean="0"/>
              <a:t>Corruption </a:t>
            </a:r>
            <a:r>
              <a:rPr lang="en-US" dirty="0"/>
              <a:t>and unethical behavior. </a:t>
            </a:r>
          </a:p>
          <a:p>
            <a:pPr>
              <a:buFont typeface="Wingdings" panose="05000000000000000000" pitchFamily="2" charset="2"/>
              <a:buChar char="ü"/>
            </a:pPr>
            <a:r>
              <a:rPr lang="en-US" dirty="0" smtClean="0"/>
              <a:t> </a:t>
            </a:r>
            <a:r>
              <a:rPr lang="en-US" dirty="0"/>
              <a:t>Ignorance on issues of equity.  Limited resources. </a:t>
            </a:r>
            <a:endParaRPr lang="en-US" dirty="0" smtClean="0"/>
          </a:p>
        </p:txBody>
      </p:sp>
    </p:spTree>
    <p:extLst>
      <p:ext uri="{BB962C8B-B14F-4D97-AF65-F5344CB8AC3E}">
        <p14:creationId xmlns:p14="http://schemas.microsoft.com/office/powerpoint/2010/main" val="4249290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Equality </a:t>
            </a:r>
            <a:br>
              <a:rPr lang="en-US" dirty="0"/>
            </a:br>
            <a:endParaRPr lang="en-US" dirty="0"/>
          </a:p>
        </p:txBody>
      </p:sp>
      <p:sp>
        <p:nvSpPr>
          <p:cNvPr id="3" name="Content Placeholder 2"/>
          <p:cNvSpPr>
            <a:spLocks noGrp="1"/>
          </p:cNvSpPr>
          <p:nvPr>
            <p:ph idx="1"/>
          </p:nvPr>
        </p:nvSpPr>
        <p:spPr/>
        <p:txBody>
          <a:bodyPr>
            <a:normAutofit fontScale="92500"/>
          </a:bodyPr>
          <a:lstStyle/>
          <a:p>
            <a:pPr>
              <a:buFont typeface="Wingdings" panose="05000000000000000000" pitchFamily="2" charset="2"/>
              <a:buChar char="ü"/>
            </a:pPr>
            <a:r>
              <a:rPr lang="en-US" dirty="0" smtClean="0"/>
              <a:t>Equality </a:t>
            </a:r>
            <a:r>
              <a:rPr lang="en-US" dirty="0"/>
              <a:t>exists where all people within a group have the same status in a certain respect. It includes equal rights under the law such as right to security and voting, freedom of speech, access to education, health care and other social securities.  It also includes equal opportunities and obligations. </a:t>
            </a:r>
            <a:endParaRPr lang="en-US" dirty="0" smtClean="0"/>
          </a:p>
          <a:p>
            <a:pPr>
              <a:buFont typeface="Wingdings" panose="05000000000000000000" pitchFamily="2" charset="2"/>
              <a:buChar char="ü"/>
            </a:pPr>
            <a:r>
              <a:rPr lang="en-US" dirty="0" smtClean="0"/>
              <a:t> </a:t>
            </a:r>
            <a:r>
              <a:rPr lang="en-US" dirty="0"/>
              <a:t>Equality implies absence of social class or caste boundaries and the lack of unjustified discrimination motivated by an inalienable part of a person's identity. For example, gender, age, origin, caste or class, income or property, language, religion, convictions, opinions, health or disability must not result in unequal treatment under the law and should not reduce opportunities unjustifiably. </a:t>
            </a:r>
            <a:endParaRPr lang="en-US" dirty="0" smtClean="0"/>
          </a:p>
          <a:p>
            <a:pPr>
              <a:buFont typeface="Wingdings" panose="05000000000000000000" pitchFamily="2" charset="2"/>
              <a:buChar char="ü"/>
            </a:pPr>
            <a:r>
              <a:rPr lang="en-US" dirty="0" smtClean="0"/>
              <a:t> </a:t>
            </a:r>
            <a:r>
              <a:rPr lang="en-US" dirty="0"/>
              <a:t>Equality is ensuring individuals or groups of individuals are treated fairly and equally and no less </a:t>
            </a:r>
            <a:r>
              <a:rPr lang="en-US" dirty="0" err="1"/>
              <a:t>favourably</a:t>
            </a:r>
            <a:r>
              <a:rPr lang="en-US" dirty="0"/>
              <a:t>. </a:t>
            </a:r>
          </a:p>
          <a:p>
            <a:pPr>
              <a:buFont typeface="Wingdings" panose="05000000000000000000" pitchFamily="2" charset="2"/>
              <a:buChar char="ü"/>
            </a:pPr>
            <a:r>
              <a:rPr lang="en-US" dirty="0" smtClean="0"/>
              <a:t>Equality </a:t>
            </a:r>
            <a:r>
              <a:rPr lang="en-US" dirty="0"/>
              <a:t>as a national value represents a common national interest in an equal society. </a:t>
            </a:r>
          </a:p>
        </p:txBody>
      </p:sp>
    </p:spTree>
    <p:extLst>
      <p:ext uri="{BB962C8B-B14F-4D97-AF65-F5344CB8AC3E}">
        <p14:creationId xmlns:p14="http://schemas.microsoft.com/office/powerpoint/2010/main" val="2716231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Indicators of equality</a:t>
            </a:r>
          </a:p>
        </p:txBody>
      </p:sp>
      <p:sp>
        <p:nvSpPr>
          <p:cNvPr id="3" name="Content Placeholder 2"/>
          <p:cNvSpPr>
            <a:spLocks noGrp="1"/>
          </p:cNvSpPr>
          <p:nvPr>
            <p:ph idx="1"/>
          </p:nvPr>
        </p:nvSpPr>
        <p:spPr>
          <a:xfrm>
            <a:off x="677334" y="2160589"/>
            <a:ext cx="8596668" cy="4592636"/>
          </a:xfrm>
        </p:spPr>
        <p:txBody>
          <a:bodyPr>
            <a:normAutofit/>
          </a:bodyPr>
          <a:lstStyle/>
          <a:p>
            <a:pPr>
              <a:buFont typeface="Wingdings" panose="05000000000000000000" pitchFamily="2" charset="2"/>
              <a:buChar char="ü"/>
            </a:pPr>
            <a:r>
              <a:rPr lang="en-US" dirty="0" smtClean="0"/>
              <a:t> </a:t>
            </a:r>
            <a:r>
              <a:rPr lang="en-US" dirty="0"/>
              <a:t>Equal access to opportunities and resources; </a:t>
            </a:r>
            <a:endParaRPr lang="en-US" dirty="0" smtClean="0"/>
          </a:p>
          <a:p>
            <a:pPr>
              <a:buFont typeface="Wingdings" panose="05000000000000000000" pitchFamily="2" charset="2"/>
              <a:buChar char="ü"/>
            </a:pPr>
            <a:r>
              <a:rPr lang="en-US" dirty="0" smtClean="0"/>
              <a:t> </a:t>
            </a:r>
            <a:r>
              <a:rPr lang="en-US" dirty="0"/>
              <a:t>Equal treatment of citizens; </a:t>
            </a:r>
            <a:endParaRPr lang="en-US" dirty="0" smtClean="0"/>
          </a:p>
          <a:p>
            <a:pPr>
              <a:buFont typeface="Wingdings" panose="05000000000000000000" pitchFamily="2" charset="2"/>
              <a:buChar char="ü"/>
            </a:pPr>
            <a:r>
              <a:rPr lang="en-US" dirty="0" smtClean="0"/>
              <a:t> </a:t>
            </a:r>
            <a:r>
              <a:rPr lang="en-US" dirty="0"/>
              <a:t>Equal opportunities in employment; </a:t>
            </a:r>
            <a:endParaRPr lang="en-US" dirty="0" smtClean="0"/>
          </a:p>
          <a:p>
            <a:pPr>
              <a:buFont typeface="Wingdings" panose="05000000000000000000" pitchFamily="2" charset="2"/>
              <a:buChar char="ü"/>
            </a:pPr>
            <a:r>
              <a:rPr lang="en-US" dirty="0" smtClean="0"/>
              <a:t> </a:t>
            </a:r>
            <a:r>
              <a:rPr lang="en-US" dirty="0"/>
              <a:t>Involvement of all in decision making; </a:t>
            </a:r>
          </a:p>
          <a:p>
            <a:pPr>
              <a:buFont typeface="Wingdings" panose="05000000000000000000" pitchFamily="2" charset="2"/>
              <a:buChar char="ü"/>
            </a:pPr>
            <a:r>
              <a:rPr lang="en-US" dirty="0" smtClean="0"/>
              <a:t>Inclusiveness </a:t>
            </a:r>
            <a:r>
              <a:rPr lang="en-US" dirty="0"/>
              <a:t>in the society; </a:t>
            </a:r>
            <a:endParaRPr lang="en-US" dirty="0" smtClean="0"/>
          </a:p>
          <a:p>
            <a:pPr>
              <a:buFont typeface="Wingdings" panose="05000000000000000000" pitchFamily="2" charset="2"/>
              <a:buChar char="ü"/>
            </a:pPr>
            <a:r>
              <a:rPr lang="en-US" dirty="0" smtClean="0"/>
              <a:t> </a:t>
            </a:r>
            <a:r>
              <a:rPr lang="en-US" dirty="0"/>
              <a:t>Balanced socio-economic development across regions; and </a:t>
            </a:r>
          </a:p>
          <a:p>
            <a:pPr>
              <a:buFont typeface="Wingdings" panose="05000000000000000000" pitchFamily="2" charset="2"/>
              <a:buChar char="ü"/>
            </a:pPr>
            <a:r>
              <a:rPr lang="en-US" dirty="0" smtClean="0"/>
              <a:t>Equal </a:t>
            </a:r>
            <a:r>
              <a:rPr lang="en-US" dirty="0"/>
              <a:t>representation at all levels of governance</a:t>
            </a:r>
            <a:r>
              <a:rPr lang="en-US" dirty="0" smtClean="0"/>
              <a:t>.</a:t>
            </a:r>
          </a:p>
        </p:txBody>
      </p:sp>
    </p:spTree>
    <p:extLst>
      <p:ext uri="{BB962C8B-B14F-4D97-AF65-F5344CB8AC3E}">
        <p14:creationId xmlns:p14="http://schemas.microsoft.com/office/powerpoint/2010/main" val="963298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equality </a:t>
            </a:r>
            <a:br>
              <a:rPr lang="en-US" dirty="0"/>
            </a:b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US" dirty="0" smtClean="0"/>
              <a:t>Fostering </a:t>
            </a:r>
            <a:r>
              <a:rPr lang="en-US" dirty="0"/>
              <a:t>nationalism/ patriotism and the enhancement national unity; </a:t>
            </a:r>
          </a:p>
          <a:p>
            <a:pPr>
              <a:buFont typeface="Wingdings" panose="05000000000000000000" pitchFamily="2" charset="2"/>
              <a:buChar char="ü"/>
            </a:pPr>
            <a:r>
              <a:rPr lang="en-US" dirty="0"/>
              <a:t> Social economic, technological and </a:t>
            </a:r>
          </a:p>
          <a:p>
            <a:pPr>
              <a:buFont typeface="Wingdings" panose="05000000000000000000" pitchFamily="2" charset="2"/>
              <a:buChar char="ü"/>
            </a:pPr>
            <a:r>
              <a:rPr lang="en-US" dirty="0"/>
              <a:t> industrial development; </a:t>
            </a:r>
          </a:p>
          <a:p>
            <a:pPr>
              <a:buFont typeface="Wingdings" panose="05000000000000000000" pitchFamily="2" charset="2"/>
              <a:buChar char="ü"/>
            </a:pPr>
            <a:r>
              <a:rPr lang="en-US" dirty="0"/>
              <a:t>Individual development and self-fulfillment; </a:t>
            </a:r>
          </a:p>
          <a:p>
            <a:pPr>
              <a:buFont typeface="Wingdings" panose="05000000000000000000" pitchFamily="2" charset="2"/>
              <a:buChar char="ü"/>
            </a:pPr>
            <a:r>
              <a:rPr lang="en-US" dirty="0"/>
              <a:t> Social equality and responsibility; </a:t>
            </a:r>
          </a:p>
          <a:p>
            <a:pPr>
              <a:buFont typeface="Wingdings" panose="05000000000000000000" pitchFamily="2" charset="2"/>
              <a:buChar char="ü"/>
            </a:pPr>
            <a:r>
              <a:rPr lang="en-US" dirty="0"/>
              <a:t> Improved service delivery; </a:t>
            </a:r>
          </a:p>
          <a:p>
            <a:pPr>
              <a:buFont typeface="Wingdings" panose="05000000000000000000" pitchFamily="2" charset="2"/>
              <a:buChar char="ü"/>
            </a:pPr>
            <a:r>
              <a:rPr lang="en-US" dirty="0"/>
              <a:t> Improved standards of living  Reduced levels of crime and improved security</a:t>
            </a:r>
            <a:r>
              <a:rPr lang="en-US" dirty="0" smtClean="0"/>
              <a:t>.</a:t>
            </a:r>
            <a:endParaRPr lang="en-US" dirty="0"/>
          </a:p>
        </p:txBody>
      </p:sp>
    </p:spTree>
    <p:extLst>
      <p:ext uri="{BB962C8B-B14F-4D97-AF65-F5344CB8AC3E}">
        <p14:creationId xmlns:p14="http://schemas.microsoft.com/office/powerpoint/2010/main" val="3870644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to achieving equality</a:t>
            </a:r>
          </a:p>
        </p:txBody>
      </p:sp>
      <p:sp>
        <p:nvSpPr>
          <p:cNvPr id="3" name="Content Placeholder 2"/>
          <p:cNvSpPr>
            <a:spLocks noGrp="1"/>
          </p:cNvSpPr>
          <p:nvPr>
            <p:ph idx="1"/>
          </p:nvPr>
        </p:nvSpPr>
        <p:spPr/>
        <p:txBody>
          <a:bodyPr/>
          <a:lstStyle/>
          <a:p>
            <a:pPr marL="0" indent="0">
              <a:buNone/>
            </a:pPr>
            <a:r>
              <a:rPr lang="en-US" dirty="0"/>
              <a:t> </a:t>
            </a:r>
          </a:p>
          <a:p>
            <a:pPr>
              <a:buFont typeface="Wingdings" panose="05000000000000000000" pitchFamily="2" charset="2"/>
              <a:buChar char="ü"/>
            </a:pPr>
            <a:r>
              <a:rPr lang="en-US" dirty="0"/>
              <a:t> Inadequate financial and human resources; </a:t>
            </a:r>
          </a:p>
          <a:p>
            <a:pPr>
              <a:buFont typeface="Wingdings" panose="05000000000000000000" pitchFamily="2" charset="2"/>
              <a:buChar char="ü"/>
            </a:pPr>
            <a:r>
              <a:rPr lang="en-US" dirty="0"/>
              <a:t> Lack of political goodwill; </a:t>
            </a:r>
          </a:p>
          <a:p>
            <a:pPr>
              <a:buFont typeface="Wingdings" panose="05000000000000000000" pitchFamily="2" charset="2"/>
              <a:buChar char="ü"/>
            </a:pPr>
            <a:r>
              <a:rPr lang="en-US" dirty="0"/>
              <a:t>Corruption and unethical behavior; </a:t>
            </a:r>
          </a:p>
          <a:p>
            <a:pPr>
              <a:buFont typeface="Wingdings" panose="05000000000000000000" pitchFamily="2" charset="2"/>
              <a:buChar char="ü"/>
            </a:pPr>
            <a:r>
              <a:rPr lang="en-US" dirty="0"/>
              <a:t> Nepotism and tribalism; </a:t>
            </a:r>
          </a:p>
          <a:p>
            <a:pPr>
              <a:buFont typeface="Wingdings" panose="05000000000000000000" pitchFamily="2" charset="2"/>
              <a:buChar char="ü"/>
            </a:pPr>
            <a:r>
              <a:rPr lang="en-US" dirty="0"/>
              <a:t> Ignorance on the provisions of law; </a:t>
            </a:r>
          </a:p>
          <a:p>
            <a:pPr>
              <a:buFont typeface="Wingdings" panose="05000000000000000000" pitchFamily="2" charset="2"/>
              <a:buChar char="ü"/>
            </a:pPr>
            <a:r>
              <a:rPr lang="en-US" dirty="0"/>
              <a:t> Cultural/ religious barriers</a:t>
            </a:r>
          </a:p>
          <a:p>
            <a:pPr>
              <a:buFont typeface="Wingdings" panose="05000000000000000000" pitchFamily="2" charset="2"/>
              <a:buChar char="ü"/>
            </a:pPr>
            <a:r>
              <a:rPr lang="en-US" dirty="0"/>
              <a:t> Ethnic conflicts and tensions</a:t>
            </a:r>
          </a:p>
        </p:txBody>
      </p:sp>
    </p:spTree>
    <p:extLst>
      <p:ext uri="{BB962C8B-B14F-4D97-AF65-F5344CB8AC3E}">
        <p14:creationId xmlns:p14="http://schemas.microsoft.com/office/powerpoint/2010/main" val="939438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justice</a:t>
            </a:r>
          </a:p>
        </p:txBody>
      </p:sp>
      <p:sp>
        <p:nvSpPr>
          <p:cNvPr id="3" name="Content Placeholder 2"/>
          <p:cNvSpPr>
            <a:spLocks noGrp="1"/>
          </p:cNvSpPr>
          <p:nvPr>
            <p:ph idx="1"/>
          </p:nvPr>
        </p:nvSpPr>
        <p:spPr/>
        <p:txBody>
          <a:bodyPr>
            <a:normAutofit fontScale="92500"/>
          </a:bodyPr>
          <a:lstStyle/>
          <a:p>
            <a:pPr>
              <a:buFont typeface="Wingdings" panose="05000000000000000000" pitchFamily="2" charset="2"/>
              <a:buChar char="ü"/>
            </a:pPr>
            <a:r>
              <a:rPr lang="en-US" dirty="0" smtClean="0"/>
              <a:t> </a:t>
            </a:r>
            <a:r>
              <a:rPr lang="en-US" dirty="0"/>
              <a:t>Social justice refers to creating a society that is based on the principle of equality, where human rights and the dignity of every citizen are recognized. </a:t>
            </a:r>
            <a:endParaRPr lang="en-US" dirty="0" smtClean="0"/>
          </a:p>
          <a:p>
            <a:pPr>
              <a:buFont typeface="Wingdings" panose="05000000000000000000" pitchFamily="2" charset="2"/>
              <a:buChar char="ü"/>
            </a:pPr>
            <a:r>
              <a:rPr lang="en-US" dirty="0" smtClean="0"/>
              <a:t> </a:t>
            </a:r>
            <a:r>
              <a:rPr lang="en-US" dirty="0"/>
              <a:t>It’s about a society which gives individuals fair treatment and a just share of the benefits of society. This includes access to education, health care, social security, </a:t>
            </a:r>
            <a:r>
              <a:rPr lang="en-US" dirty="0" err="1"/>
              <a:t>labour</a:t>
            </a:r>
            <a:r>
              <a:rPr lang="en-US" dirty="0"/>
              <a:t> rights, as well as a broader system of public services, progressive taxation, control of monopoly, encouragement of competition and regulation of markets to ensure fair distribution of wealth and equality of opportunity. </a:t>
            </a:r>
            <a:endParaRPr lang="en-US" dirty="0" smtClean="0"/>
          </a:p>
          <a:p>
            <a:pPr>
              <a:buFont typeface="Wingdings" panose="05000000000000000000" pitchFamily="2" charset="2"/>
              <a:buChar char="ü"/>
            </a:pPr>
            <a:r>
              <a:rPr lang="en-US" dirty="0" smtClean="0"/>
              <a:t> </a:t>
            </a:r>
            <a:r>
              <a:rPr lang="en-US" dirty="0"/>
              <a:t>It also denotes the enjoyment of the rights that enhance the well-being of an individual in all aspects of their interaction with one another and promotes solidarity.  It also refers to philanthropy and other initiatives to address injustice and poverty. </a:t>
            </a:r>
            <a:endParaRPr lang="en-US" dirty="0" smtClean="0"/>
          </a:p>
          <a:p>
            <a:pPr>
              <a:buFont typeface="Wingdings" panose="05000000000000000000" pitchFamily="2" charset="2"/>
              <a:buChar char="ü"/>
            </a:pPr>
            <a:r>
              <a:rPr lang="en-US" dirty="0" smtClean="0"/>
              <a:t> </a:t>
            </a:r>
            <a:r>
              <a:rPr lang="en-US" dirty="0"/>
              <a:t>It enables people to lead fulfilling lives and actively contribute to the development of their community. </a:t>
            </a:r>
            <a:endParaRPr lang="en-US" dirty="0" smtClean="0"/>
          </a:p>
        </p:txBody>
      </p:sp>
    </p:spTree>
    <p:extLst>
      <p:ext uri="{BB962C8B-B14F-4D97-AF65-F5344CB8AC3E}">
        <p14:creationId xmlns:p14="http://schemas.microsoft.com/office/powerpoint/2010/main" val="2707398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Indicators of the </a:t>
            </a:r>
            <a:r>
              <a:rPr lang="en-US" dirty="0" err="1"/>
              <a:t>realisation</a:t>
            </a:r>
            <a:r>
              <a:rPr lang="en-US" dirty="0"/>
              <a:t> of social justice </a:t>
            </a:r>
            <a:br>
              <a:rPr lang="en-US" dirty="0"/>
            </a:b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US" dirty="0" smtClean="0"/>
              <a:t>Empowered </a:t>
            </a:r>
            <a:r>
              <a:rPr lang="en-US" dirty="0"/>
              <a:t>citizens who can earn their own living; </a:t>
            </a:r>
          </a:p>
          <a:p>
            <a:pPr>
              <a:buFont typeface="Wingdings" panose="05000000000000000000" pitchFamily="2" charset="2"/>
              <a:buChar char="ü"/>
            </a:pPr>
            <a:r>
              <a:rPr lang="en-US" dirty="0"/>
              <a:t> A wage system that enables employees to afford a decent living; </a:t>
            </a:r>
          </a:p>
          <a:p>
            <a:pPr>
              <a:buFont typeface="Wingdings" panose="05000000000000000000" pitchFamily="2" charset="2"/>
              <a:buChar char="ü"/>
            </a:pPr>
            <a:r>
              <a:rPr lang="en-US" dirty="0"/>
              <a:t>Fair distribution of tax burden; </a:t>
            </a:r>
          </a:p>
          <a:p>
            <a:pPr>
              <a:buFont typeface="Wingdings" panose="05000000000000000000" pitchFamily="2" charset="2"/>
              <a:buChar char="ü"/>
            </a:pPr>
            <a:r>
              <a:rPr lang="en-US" dirty="0"/>
              <a:t> Subsidies on basic goods and services; </a:t>
            </a:r>
          </a:p>
          <a:p>
            <a:pPr>
              <a:buFont typeface="Wingdings" panose="05000000000000000000" pitchFamily="2" charset="2"/>
              <a:buChar char="ü"/>
            </a:pPr>
            <a:r>
              <a:rPr lang="en-US" dirty="0"/>
              <a:t> Enjoyment of public services for example health, education and infrastructure; </a:t>
            </a:r>
          </a:p>
          <a:p>
            <a:pPr>
              <a:buFont typeface="Wingdings" panose="05000000000000000000" pitchFamily="2" charset="2"/>
              <a:buChar char="ü"/>
            </a:pPr>
            <a:r>
              <a:rPr lang="en-US" dirty="0"/>
              <a:t> Support to the vulnerable members of the society such as the aged, persons living with disability and orphans among others; and </a:t>
            </a:r>
          </a:p>
          <a:p>
            <a:pPr>
              <a:buFont typeface="Wingdings" panose="05000000000000000000" pitchFamily="2" charset="2"/>
              <a:buChar char="ü"/>
            </a:pPr>
            <a:r>
              <a:rPr lang="en-US" dirty="0"/>
              <a:t> Empowerment of segments of society such as hawkers, pastoralists, artisans among others.</a:t>
            </a:r>
          </a:p>
          <a:p>
            <a:endParaRPr lang="en-US" dirty="0"/>
          </a:p>
        </p:txBody>
      </p:sp>
    </p:spTree>
    <p:extLst>
      <p:ext uri="{BB962C8B-B14F-4D97-AF65-F5344CB8AC3E}">
        <p14:creationId xmlns:p14="http://schemas.microsoft.com/office/powerpoint/2010/main" val="637596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Benefits of social justice </a:t>
            </a:r>
            <a:endParaRPr lang="en-US" dirty="0"/>
          </a:p>
        </p:txBody>
      </p:sp>
      <p:sp>
        <p:nvSpPr>
          <p:cNvPr id="3" name="Content Placeholder 2"/>
          <p:cNvSpPr>
            <a:spLocks noGrp="1"/>
          </p:cNvSpPr>
          <p:nvPr>
            <p:ph idx="1"/>
          </p:nvPr>
        </p:nvSpPr>
        <p:spPr/>
        <p:txBody>
          <a:bodyPr/>
          <a:lstStyle/>
          <a:p>
            <a:pPr marL="0" indent="0">
              <a:buNone/>
            </a:pPr>
            <a:r>
              <a:rPr lang="en-US" dirty="0" smtClean="0"/>
              <a:t>Enhanced </a:t>
            </a:r>
            <a:r>
              <a:rPr lang="en-US" dirty="0"/>
              <a:t>social cohesion; </a:t>
            </a:r>
          </a:p>
          <a:p>
            <a:pPr>
              <a:buFont typeface="Wingdings" panose="05000000000000000000" pitchFamily="2" charset="2"/>
              <a:buChar char="ü"/>
            </a:pPr>
            <a:r>
              <a:rPr lang="en-US" dirty="0"/>
              <a:t> Reduced political conflicts; </a:t>
            </a:r>
          </a:p>
          <a:p>
            <a:pPr>
              <a:buFont typeface="Wingdings" panose="05000000000000000000" pitchFamily="2" charset="2"/>
              <a:buChar char="ü"/>
            </a:pPr>
            <a:r>
              <a:rPr lang="en-US" dirty="0"/>
              <a:t>Improved living standards of individuals and communities; </a:t>
            </a:r>
          </a:p>
          <a:p>
            <a:pPr>
              <a:buFont typeface="Wingdings" panose="05000000000000000000" pitchFamily="2" charset="2"/>
              <a:buChar char="ü"/>
            </a:pPr>
            <a:r>
              <a:rPr lang="en-US" dirty="0"/>
              <a:t> Improved public confidence in the state; and </a:t>
            </a:r>
          </a:p>
          <a:p>
            <a:pPr>
              <a:buFont typeface="Wingdings" panose="05000000000000000000" pitchFamily="2" charset="2"/>
              <a:buChar char="ü"/>
            </a:pPr>
            <a:r>
              <a:rPr lang="en-US" dirty="0"/>
              <a:t> Sustainable national development. </a:t>
            </a:r>
          </a:p>
          <a:p>
            <a:endParaRPr lang="en-US" dirty="0"/>
          </a:p>
        </p:txBody>
      </p:sp>
    </p:spTree>
    <p:extLst>
      <p:ext uri="{BB962C8B-B14F-4D97-AF65-F5344CB8AC3E}">
        <p14:creationId xmlns:p14="http://schemas.microsoft.com/office/powerpoint/2010/main" val="1064885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Challenges </a:t>
            </a:r>
            <a:r>
              <a:rPr lang="en-US" dirty="0"/>
              <a:t>to achieving social justice </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US" dirty="0" smtClean="0"/>
              <a:t> </a:t>
            </a:r>
            <a:r>
              <a:rPr lang="en-US" dirty="0"/>
              <a:t>Political differences and competition; </a:t>
            </a:r>
            <a:endParaRPr lang="en-US" dirty="0" smtClean="0"/>
          </a:p>
          <a:p>
            <a:pPr>
              <a:buFont typeface="Wingdings" panose="05000000000000000000" pitchFamily="2" charset="2"/>
              <a:buChar char="ü"/>
            </a:pPr>
            <a:r>
              <a:rPr lang="en-US" dirty="0" smtClean="0"/>
              <a:t> </a:t>
            </a:r>
            <a:r>
              <a:rPr lang="en-US" dirty="0"/>
              <a:t>Legal impediments and challenges; </a:t>
            </a:r>
            <a:endParaRPr lang="en-US" dirty="0" smtClean="0"/>
          </a:p>
          <a:p>
            <a:pPr>
              <a:buFont typeface="Wingdings" panose="05000000000000000000" pitchFamily="2" charset="2"/>
              <a:buChar char="ü"/>
            </a:pPr>
            <a:r>
              <a:rPr lang="en-US" dirty="0" smtClean="0"/>
              <a:t> </a:t>
            </a:r>
            <a:r>
              <a:rPr lang="en-US" dirty="0"/>
              <a:t>Limited resources; </a:t>
            </a:r>
          </a:p>
          <a:p>
            <a:pPr>
              <a:buFont typeface="Wingdings" panose="05000000000000000000" pitchFamily="2" charset="2"/>
              <a:buChar char="ü"/>
            </a:pPr>
            <a:r>
              <a:rPr lang="en-US" dirty="0" smtClean="0"/>
              <a:t>Corruption </a:t>
            </a:r>
            <a:r>
              <a:rPr lang="en-US" dirty="0"/>
              <a:t>and unethical behavior; </a:t>
            </a:r>
            <a:endParaRPr lang="en-US" dirty="0" smtClean="0"/>
          </a:p>
          <a:p>
            <a:pPr>
              <a:buFont typeface="Wingdings" panose="05000000000000000000" pitchFamily="2" charset="2"/>
              <a:buChar char="ü"/>
            </a:pPr>
            <a:r>
              <a:rPr lang="en-US" dirty="0" smtClean="0"/>
              <a:t> </a:t>
            </a:r>
            <a:r>
              <a:rPr lang="en-US" dirty="0"/>
              <a:t>Ignorance to the provisions of the law; </a:t>
            </a:r>
          </a:p>
          <a:p>
            <a:pPr>
              <a:buFont typeface="Wingdings" panose="05000000000000000000" pitchFamily="2" charset="2"/>
              <a:buChar char="ü"/>
            </a:pPr>
            <a:r>
              <a:rPr lang="en-US" dirty="0" smtClean="0"/>
              <a:t> </a:t>
            </a:r>
            <a:r>
              <a:rPr lang="en-US" dirty="0"/>
              <a:t>Poor governance and practices</a:t>
            </a:r>
            <a:r>
              <a:rPr lang="en-US" dirty="0" smtClean="0"/>
              <a:t>.</a:t>
            </a:r>
          </a:p>
          <a:p>
            <a:endParaRPr lang="en-US" dirty="0"/>
          </a:p>
        </p:txBody>
      </p:sp>
    </p:spTree>
    <p:extLst>
      <p:ext uri="{BB962C8B-B14F-4D97-AF65-F5344CB8AC3E}">
        <p14:creationId xmlns:p14="http://schemas.microsoft.com/office/powerpoint/2010/main" val="3210176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Inclusiveness </a:t>
            </a:r>
            <a:br>
              <a:rPr lang="en-US" dirty="0"/>
            </a:b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US" dirty="0" smtClean="0"/>
              <a:t>Inclusiveness </a:t>
            </a:r>
            <a:r>
              <a:rPr lang="en-US" dirty="0"/>
              <a:t>refers to affording all people an opportunity to participate in activities that affect their lives including decision making. </a:t>
            </a:r>
          </a:p>
          <a:p>
            <a:pPr>
              <a:buFont typeface="Wingdings" panose="05000000000000000000" pitchFamily="2" charset="2"/>
              <a:buChar char="ü"/>
            </a:pPr>
            <a:r>
              <a:rPr lang="en-US" dirty="0"/>
              <a:t> It is a sense of belonging and feeling respected and valued for who one is. It engages each individual and makes him or her feel valued and is essential to the success of a group, an organization or a country. </a:t>
            </a:r>
          </a:p>
          <a:p>
            <a:pPr>
              <a:buFont typeface="Wingdings" panose="05000000000000000000" pitchFamily="2" charset="2"/>
              <a:buChar char="ü"/>
            </a:pPr>
            <a:r>
              <a:rPr lang="en-US" dirty="0"/>
              <a:t> Inclusiveness therefore means that every person has an opportunity to make his or her contribution to the society’s development agenda. </a:t>
            </a:r>
          </a:p>
          <a:p>
            <a:pPr>
              <a:buFont typeface="Wingdings" panose="05000000000000000000" pitchFamily="2" charset="2"/>
              <a:buChar char="ü"/>
            </a:pPr>
            <a:r>
              <a:rPr lang="en-US" dirty="0"/>
              <a:t> The process of inclusiveness engages each individual and makes people feel valued and essential to the success of a group or an organization.  In a society where there is inclusiveness, individuals’ function at full capacity, feel valued and included in the general mission of their society</a:t>
            </a:r>
            <a:r>
              <a:rPr lang="en-US" dirty="0" smtClean="0"/>
              <a:t>.</a:t>
            </a:r>
            <a:endParaRPr lang="en-US" dirty="0"/>
          </a:p>
        </p:txBody>
      </p:sp>
    </p:spTree>
    <p:extLst>
      <p:ext uri="{BB962C8B-B14F-4D97-AF65-F5344CB8AC3E}">
        <p14:creationId xmlns:p14="http://schemas.microsoft.com/office/powerpoint/2010/main" val="82146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Indicators of inclusiveness</a:t>
            </a:r>
          </a:p>
        </p:txBody>
      </p:sp>
      <p:sp>
        <p:nvSpPr>
          <p:cNvPr id="3" name="Content Placeholder 2"/>
          <p:cNvSpPr>
            <a:spLocks noGrp="1"/>
          </p:cNvSpPr>
          <p:nvPr>
            <p:ph idx="1"/>
          </p:nvPr>
        </p:nvSpPr>
        <p:spPr/>
        <p:txBody>
          <a:bodyPr/>
          <a:lstStyle/>
          <a:p>
            <a:pPr marL="0" indent="0">
              <a:buNone/>
            </a:pPr>
            <a:r>
              <a:rPr lang="en-US" dirty="0"/>
              <a:t> </a:t>
            </a:r>
          </a:p>
          <a:p>
            <a:pPr>
              <a:buFont typeface="Wingdings" panose="05000000000000000000" pitchFamily="2" charset="2"/>
              <a:buChar char="ü"/>
            </a:pPr>
            <a:r>
              <a:rPr lang="en-US" dirty="0"/>
              <a:t> Involvement of all stakeholders in decision making. </a:t>
            </a:r>
          </a:p>
          <a:p>
            <a:pPr>
              <a:buFont typeface="Wingdings" panose="05000000000000000000" pitchFamily="2" charset="2"/>
              <a:buChar char="ü"/>
            </a:pPr>
            <a:r>
              <a:rPr lang="en-US" dirty="0"/>
              <a:t> Citizen participation in political processes. </a:t>
            </a:r>
          </a:p>
          <a:p>
            <a:pPr>
              <a:buFont typeface="Wingdings" panose="05000000000000000000" pitchFamily="2" charset="2"/>
              <a:buChar char="ü"/>
            </a:pPr>
            <a:r>
              <a:rPr lang="en-US" dirty="0"/>
              <a:t> Reduced feelings of marginalization among citizenry. </a:t>
            </a:r>
          </a:p>
          <a:p>
            <a:pPr>
              <a:buFont typeface="Wingdings" panose="05000000000000000000" pitchFamily="2" charset="2"/>
              <a:buChar char="ü"/>
            </a:pPr>
            <a:r>
              <a:rPr lang="en-US" dirty="0"/>
              <a:t> Enjoyment of public services by all citizens. </a:t>
            </a:r>
          </a:p>
          <a:p>
            <a:pPr>
              <a:buFont typeface="Wingdings" panose="05000000000000000000" pitchFamily="2" charset="2"/>
              <a:buChar char="ü"/>
            </a:pPr>
            <a:r>
              <a:rPr lang="en-US" dirty="0"/>
              <a:t> Balanced development across regions and groups. </a:t>
            </a:r>
          </a:p>
          <a:p>
            <a:endParaRPr lang="en-US" dirty="0"/>
          </a:p>
        </p:txBody>
      </p:sp>
    </p:spTree>
    <p:extLst>
      <p:ext uri="{BB962C8B-B14F-4D97-AF65-F5344CB8AC3E}">
        <p14:creationId xmlns:p14="http://schemas.microsoft.com/office/powerpoint/2010/main" val="3402737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Inclusiveness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US" dirty="0" smtClean="0"/>
              <a:t> </a:t>
            </a:r>
            <a:r>
              <a:rPr lang="en-US" dirty="0"/>
              <a:t>Creation of investor confidence; </a:t>
            </a:r>
            <a:endParaRPr lang="en-US" dirty="0" smtClean="0"/>
          </a:p>
          <a:p>
            <a:pPr>
              <a:buFont typeface="Wingdings" panose="05000000000000000000" pitchFamily="2" charset="2"/>
              <a:buChar char="ü"/>
            </a:pPr>
            <a:r>
              <a:rPr lang="en-US" dirty="0" smtClean="0"/>
              <a:t> </a:t>
            </a:r>
            <a:r>
              <a:rPr lang="en-US" dirty="0"/>
              <a:t>Promotion of human capital that is necessary for socio-economic development; </a:t>
            </a:r>
          </a:p>
          <a:p>
            <a:pPr>
              <a:buFont typeface="Wingdings" panose="05000000000000000000" pitchFamily="2" charset="2"/>
              <a:buChar char="ü"/>
            </a:pPr>
            <a:r>
              <a:rPr lang="en-US" dirty="0" smtClean="0"/>
              <a:t>Boosting </a:t>
            </a:r>
            <a:r>
              <a:rPr lang="en-US" dirty="0"/>
              <a:t>of self-esteem and self-confidence in individuals; </a:t>
            </a:r>
            <a:endParaRPr lang="en-US" dirty="0" smtClean="0"/>
          </a:p>
          <a:p>
            <a:pPr>
              <a:buFont typeface="Wingdings" panose="05000000000000000000" pitchFamily="2" charset="2"/>
              <a:buChar char="ü"/>
            </a:pPr>
            <a:r>
              <a:rPr lang="en-US" dirty="0" smtClean="0"/>
              <a:t> </a:t>
            </a:r>
            <a:r>
              <a:rPr lang="en-US" dirty="0"/>
              <a:t>Promotion of equitable distribution of resources; </a:t>
            </a:r>
            <a:endParaRPr lang="en-US" dirty="0" smtClean="0"/>
          </a:p>
          <a:p>
            <a:pPr>
              <a:buFont typeface="Wingdings" panose="05000000000000000000" pitchFamily="2" charset="2"/>
              <a:buChar char="ü"/>
            </a:pPr>
            <a:r>
              <a:rPr lang="en-US" dirty="0" smtClean="0"/>
              <a:t> </a:t>
            </a:r>
            <a:r>
              <a:rPr lang="en-US" dirty="0"/>
              <a:t>Enhancement of cohesion and social harmony; </a:t>
            </a:r>
            <a:endParaRPr lang="en-US" dirty="0" smtClean="0"/>
          </a:p>
          <a:p>
            <a:pPr>
              <a:buFont typeface="Wingdings" panose="05000000000000000000" pitchFamily="2" charset="2"/>
              <a:buChar char="ü"/>
            </a:pPr>
            <a:r>
              <a:rPr lang="en-US" dirty="0" smtClean="0"/>
              <a:t> </a:t>
            </a:r>
            <a:r>
              <a:rPr lang="en-US" dirty="0"/>
              <a:t>Promotion of public participation on national issues; </a:t>
            </a:r>
            <a:endParaRPr lang="en-US" dirty="0" smtClean="0"/>
          </a:p>
          <a:p>
            <a:pPr>
              <a:buFont typeface="Wingdings" panose="05000000000000000000" pitchFamily="2" charset="2"/>
              <a:buChar char="ü"/>
            </a:pPr>
            <a:r>
              <a:rPr lang="en-US" dirty="0" smtClean="0"/>
              <a:t> </a:t>
            </a:r>
            <a:r>
              <a:rPr lang="en-US" dirty="0"/>
              <a:t>Promotion of sustainable development; and </a:t>
            </a:r>
            <a:r>
              <a:rPr lang="en-US" dirty="0" smtClean="0"/>
              <a:t> </a:t>
            </a:r>
            <a:r>
              <a:rPr lang="en-US" dirty="0"/>
              <a:t>Reduction on the levels of crime. </a:t>
            </a:r>
            <a:endParaRPr lang="en-US" dirty="0" smtClean="0"/>
          </a:p>
          <a:p>
            <a:pPr marL="0" indent="0">
              <a:buNone/>
            </a:pPr>
            <a:r>
              <a:rPr lang="en-US" dirty="0" smtClean="0"/>
              <a:t>. </a:t>
            </a:r>
          </a:p>
        </p:txBody>
      </p:sp>
    </p:spTree>
    <p:extLst>
      <p:ext uri="{BB962C8B-B14F-4D97-AF65-F5344CB8AC3E}">
        <p14:creationId xmlns:p14="http://schemas.microsoft.com/office/powerpoint/2010/main" val="2971125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to achieving Inclusiveness </a:t>
            </a:r>
            <a:br>
              <a:rPr lang="en-US" dirty="0"/>
            </a:b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ü"/>
            </a:pPr>
            <a:r>
              <a:rPr lang="en-US" dirty="0" smtClean="0"/>
              <a:t>Corruption </a:t>
            </a:r>
            <a:r>
              <a:rPr lang="en-US" dirty="0"/>
              <a:t>and unethical behavior; </a:t>
            </a:r>
          </a:p>
          <a:p>
            <a:pPr>
              <a:buFont typeface="Wingdings" panose="05000000000000000000" pitchFamily="2" charset="2"/>
              <a:buChar char="ü"/>
            </a:pPr>
            <a:r>
              <a:rPr lang="en-US" dirty="0"/>
              <a:t> Misplaced priorities of </a:t>
            </a:r>
            <a:r>
              <a:rPr lang="en-US" dirty="0" err="1"/>
              <a:t>programmes</a:t>
            </a:r>
            <a:r>
              <a:rPr lang="en-US" dirty="0"/>
              <a:t>, projects and activities; </a:t>
            </a:r>
          </a:p>
          <a:p>
            <a:pPr>
              <a:buFont typeface="Wingdings" panose="05000000000000000000" pitchFamily="2" charset="2"/>
              <a:buChar char="ü"/>
            </a:pPr>
            <a:r>
              <a:rPr lang="en-US" dirty="0"/>
              <a:t> Nepotism and tribalism; </a:t>
            </a:r>
          </a:p>
          <a:p>
            <a:pPr>
              <a:buFont typeface="Wingdings" panose="05000000000000000000" pitchFamily="2" charset="2"/>
              <a:buChar char="ü"/>
            </a:pPr>
            <a:r>
              <a:rPr lang="en-US" dirty="0"/>
              <a:t> Limited financial and human resources; </a:t>
            </a:r>
          </a:p>
          <a:p>
            <a:pPr>
              <a:buFont typeface="Wingdings" panose="05000000000000000000" pitchFamily="2" charset="2"/>
              <a:buChar char="ü"/>
            </a:pPr>
            <a:r>
              <a:rPr lang="en-US" dirty="0"/>
              <a:t> Lack of political goodwill</a:t>
            </a:r>
            <a:r>
              <a:rPr lang="en-US"/>
              <a:t>; </a:t>
            </a:r>
            <a:endParaRPr lang="en-US"/>
          </a:p>
          <a:p>
            <a:pPr>
              <a:buFont typeface="Wingdings" panose="05000000000000000000" pitchFamily="2" charset="2"/>
              <a:buChar char="ü"/>
            </a:pPr>
            <a:r>
              <a:rPr lang="en-US" smtClean="0"/>
              <a:t>Poor </a:t>
            </a:r>
            <a:r>
              <a:rPr lang="en-US" dirty="0"/>
              <a:t>communication;</a:t>
            </a:r>
          </a:p>
          <a:p>
            <a:pPr>
              <a:buFont typeface="Wingdings" panose="05000000000000000000" pitchFamily="2" charset="2"/>
              <a:buChar char="ü"/>
            </a:pPr>
            <a:r>
              <a:rPr lang="en-US" dirty="0"/>
              <a:t>  Exclusion at societal, cultural, geographical, economic and political arena</a:t>
            </a:r>
          </a:p>
        </p:txBody>
      </p:sp>
    </p:spTree>
    <p:extLst>
      <p:ext uri="{BB962C8B-B14F-4D97-AF65-F5344CB8AC3E}">
        <p14:creationId xmlns:p14="http://schemas.microsoft.com/office/powerpoint/2010/main" val="224946834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49</TotalTime>
  <Words>1208</Words>
  <Application>Microsoft Office PowerPoint</Application>
  <PresentationFormat>Widescreen</PresentationFormat>
  <Paragraphs>107</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Trebuchet MS</vt:lpstr>
      <vt:lpstr>Wingdings</vt:lpstr>
      <vt:lpstr>Wingdings 3</vt:lpstr>
      <vt:lpstr>Facet</vt:lpstr>
      <vt:lpstr>EQUITY, EQUALITY, SOCIAL JUSTICE AND INCLUSIVENESS</vt:lpstr>
      <vt:lpstr> Benefits of equity</vt:lpstr>
      <vt:lpstr>Equality  </vt:lpstr>
      <vt:lpstr>Indicators of equality</vt:lpstr>
      <vt:lpstr>Benefits of equality  </vt:lpstr>
      <vt:lpstr>Challenges to achieving equality</vt:lpstr>
      <vt:lpstr>Social justice</vt:lpstr>
      <vt:lpstr>Indicators of the realisation of social justice  </vt:lpstr>
      <vt:lpstr>Benefits of social justice </vt:lpstr>
      <vt:lpstr> Challenges to achieving social justice </vt:lpstr>
      <vt:lpstr>Inclusiveness  </vt:lpstr>
      <vt:lpstr>Indicators of inclusiveness</vt:lpstr>
      <vt:lpstr>Benefits of Inclusiveness</vt:lpstr>
      <vt:lpstr>Challenges to achieving Inclusiveness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PC</cp:lastModifiedBy>
  <cp:revision>6</cp:revision>
  <dcterms:created xsi:type="dcterms:W3CDTF">2024-12-03T07:20:57Z</dcterms:created>
  <dcterms:modified xsi:type="dcterms:W3CDTF">2024-12-03T08:10:12Z</dcterms:modified>
</cp:coreProperties>
</file>